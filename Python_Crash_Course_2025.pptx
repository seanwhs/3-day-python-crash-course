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6"/>
  </p:notesMasterIdLst>
  <p:sldIdLst>
    <p:sldId id="424" r:id="rId2"/>
    <p:sldId id="425" r:id="rId3"/>
    <p:sldId id="426" r:id="rId4"/>
    <p:sldId id="257" r:id="rId5"/>
    <p:sldId id="427" r:id="rId6"/>
    <p:sldId id="428" r:id="rId7"/>
    <p:sldId id="501" r:id="rId8"/>
    <p:sldId id="493" r:id="rId9"/>
    <p:sldId id="258" r:id="rId10"/>
    <p:sldId id="429" r:id="rId11"/>
    <p:sldId id="430" r:id="rId12"/>
    <p:sldId id="259" r:id="rId13"/>
    <p:sldId id="307" r:id="rId14"/>
    <p:sldId id="260" r:id="rId15"/>
    <p:sldId id="309" r:id="rId16"/>
    <p:sldId id="431" r:id="rId17"/>
    <p:sldId id="321" r:id="rId18"/>
    <p:sldId id="322" r:id="rId19"/>
    <p:sldId id="310" r:id="rId20"/>
    <p:sldId id="267" r:id="rId21"/>
    <p:sldId id="311" r:id="rId22"/>
    <p:sldId id="432" r:id="rId23"/>
    <p:sldId id="312" r:id="rId24"/>
    <p:sldId id="456" r:id="rId25"/>
    <p:sldId id="457" r:id="rId26"/>
    <p:sldId id="502" r:id="rId27"/>
    <p:sldId id="458" r:id="rId28"/>
    <p:sldId id="459" r:id="rId29"/>
    <p:sldId id="460" r:id="rId30"/>
    <p:sldId id="461" r:id="rId31"/>
    <p:sldId id="503" r:id="rId32"/>
    <p:sldId id="462" r:id="rId33"/>
    <p:sldId id="463" r:id="rId34"/>
    <p:sldId id="464" r:id="rId35"/>
    <p:sldId id="465" r:id="rId36"/>
    <p:sldId id="466" r:id="rId37"/>
    <p:sldId id="467" r:id="rId38"/>
    <p:sldId id="468" r:id="rId39"/>
    <p:sldId id="469" r:id="rId40"/>
    <p:sldId id="470" r:id="rId41"/>
    <p:sldId id="471" r:id="rId42"/>
    <p:sldId id="472" r:id="rId43"/>
    <p:sldId id="473" r:id="rId44"/>
    <p:sldId id="474" r:id="rId45"/>
    <p:sldId id="262" r:id="rId46"/>
    <p:sldId id="378" r:id="rId47"/>
    <p:sldId id="379" r:id="rId48"/>
    <p:sldId id="270" r:id="rId49"/>
    <p:sldId id="380" r:id="rId50"/>
    <p:sldId id="381" r:id="rId51"/>
    <p:sldId id="382" r:id="rId52"/>
    <p:sldId id="383" r:id="rId53"/>
    <p:sldId id="384" r:id="rId54"/>
    <p:sldId id="385" r:id="rId55"/>
    <p:sldId id="386" r:id="rId56"/>
    <p:sldId id="387" r:id="rId57"/>
    <p:sldId id="388" r:id="rId58"/>
    <p:sldId id="389" r:id="rId59"/>
    <p:sldId id="390" r:id="rId60"/>
    <p:sldId id="392" r:id="rId61"/>
    <p:sldId id="391" r:id="rId62"/>
    <p:sldId id="393" r:id="rId63"/>
    <p:sldId id="263" r:id="rId64"/>
    <p:sldId id="394" r:id="rId65"/>
    <p:sldId id="395" r:id="rId66"/>
    <p:sldId id="396" r:id="rId67"/>
    <p:sldId id="397" r:id="rId68"/>
    <p:sldId id="433" r:id="rId69"/>
    <p:sldId id="398" r:id="rId70"/>
    <p:sldId id="399" r:id="rId71"/>
    <p:sldId id="400" r:id="rId72"/>
    <p:sldId id="401" r:id="rId73"/>
    <p:sldId id="504" r:id="rId74"/>
    <p:sldId id="402" r:id="rId75"/>
    <p:sldId id="403" r:id="rId76"/>
    <p:sldId id="404" r:id="rId77"/>
    <p:sldId id="405" r:id="rId78"/>
    <p:sldId id="407" r:id="rId79"/>
    <p:sldId id="494" r:id="rId80"/>
    <p:sldId id="408" r:id="rId81"/>
    <p:sldId id="409" r:id="rId82"/>
    <p:sldId id="406" r:id="rId83"/>
    <p:sldId id="264" r:id="rId84"/>
    <p:sldId id="495" r:id="rId85"/>
    <p:sldId id="410" r:id="rId86"/>
    <p:sldId id="411" r:id="rId87"/>
    <p:sldId id="412" r:id="rId88"/>
    <p:sldId id="413" r:id="rId89"/>
    <p:sldId id="434" r:id="rId90"/>
    <p:sldId id="415" r:id="rId91"/>
    <p:sldId id="416" r:id="rId92"/>
    <p:sldId id="417" r:id="rId93"/>
    <p:sldId id="418" r:id="rId94"/>
    <p:sldId id="419" r:id="rId95"/>
    <p:sldId id="420" r:id="rId96"/>
    <p:sldId id="421" r:id="rId97"/>
    <p:sldId id="422" r:id="rId98"/>
    <p:sldId id="423" r:id="rId99"/>
    <p:sldId id="265" r:id="rId100"/>
    <p:sldId id="313" r:id="rId101"/>
    <p:sldId id="314" r:id="rId102"/>
    <p:sldId id="315" r:id="rId103"/>
    <p:sldId id="316" r:id="rId104"/>
    <p:sldId id="317" r:id="rId105"/>
    <p:sldId id="318" r:id="rId106"/>
    <p:sldId id="319" r:id="rId107"/>
    <p:sldId id="320" r:id="rId108"/>
    <p:sldId id="323" r:id="rId109"/>
    <p:sldId id="324" r:id="rId110"/>
    <p:sldId id="325" r:id="rId111"/>
    <p:sldId id="326" r:id="rId112"/>
    <p:sldId id="566" r:id="rId113"/>
    <p:sldId id="567" r:id="rId114"/>
    <p:sldId id="568" r:id="rId115"/>
    <p:sldId id="569" r:id="rId116"/>
    <p:sldId id="581" r:id="rId117"/>
    <p:sldId id="582" r:id="rId118"/>
    <p:sldId id="570" r:id="rId119"/>
    <p:sldId id="571" r:id="rId120"/>
    <p:sldId id="583" r:id="rId121"/>
    <p:sldId id="584" r:id="rId122"/>
    <p:sldId id="572" r:id="rId123"/>
    <p:sldId id="573" r:id="rId124"/>
    <p:sldId id="585" r:id="rId125"/>
    <p:sldId id="608" r:id="rId126"/>
    <p:sldId id="609" r:id="rId127"/>
    <p:sldId id="610" r:id="rId128"/>
    <p:sldId id="611" r:id="rId129"/>
    <p:sldId id="587" r:id="rId130"/>
    <p:sldId id="574" r:id="rId131"/>
    <p:sldId id="575" r:id="rId132"/>
    <p:sldId id="588" r:id="rId133"/>
    <p:sldId id="589" r:id="rId134"/>
    <p:sldId id="576" r:id="rId135"/>
    <p:sldId id="590" r:id="rId136"/>
    <p:sldId id="591" r:id="rId137"/>
    <p:sldId id="578" r:id="rId138"/>
    <p:sldId id="592" r:id="rId139"/>
    <p:sldId id="593" r:id="rId140"/>
    <p:sldId id="579" r:id="rId141"/>
    <p:sldId id="594" r:id="rId142"/>
    <p:sldId id="580" r:id="rId143"/>
    <p:sldId id="595" r:id="rId144"/>
    <p:sldId id="596" r:id="rId145"/>
    <p:sldId id="597" r:id="rId146"/>
    <p:sldId id="598" r:id="rId147"/>
    <p:sldId id="599" r:id="rId148"/>
    <p:sldId id="600" r:id="rId149"/>
    <p:sldId id="601" r:id="rId150"/>
    <p:sldId id="602" r:id="rId151"/>
    <p:sldId id="603" r:id="rId152"/>
    <p:sldId id="604" r:id="rId153"/>
    <p:sldId id="605" r:id="rId154"/>
    <p:sldId id="606" r:id="rId155"/>
    <p:sldId id="607" r:id="rId156"/>
    <p:sldId id="435" r:id="rId157"/>
    <p:sldId id="328" r:id="rId158"/>
    <p:sldId id="329" r:id="rId159"/>
    <p:sldId id="330" r:id="rId160"/>
    <p:sldId id="331" r:id="rId161"/>
    <p:sldId id="332" r:id="rId162"/>
    <p:sldId id="333" r:id="rId163"/>
    <p:sldId id="475" r:id="rId164"/>
    <p:sldId id="476" r:id="rId165"/>
    <p:sldId id="505" r:id="rId166"/>
    <p:sldId id="477" r:id="rId167"/>
    <p:sldId id="478" r:id="rId168"/>
    <p:sldId id="479" r:id="rId169"/>
    <p:sldId id="480" r:id="rId170"/>
    <p:sldId id="481" r:id="rId171"/>
    <p:sldId id="482" r:id="rId172"/>
    <p:sldId id="483" r:id="rId173"/>
    <p:sldId id="484" r:id="rId174"/>
    <p:sldId id="485" r:id="rId175"/>
    <p:sldId id="486" r:id="rId176"/>
    <p:sldId id="487" r:id="rId177"/>
    <p:sldId id="488" r:id="rId178"/>
    <p:sldId id="489" r:id="rId179"/>
    <p:sldId id="490" r:id="rId180"/>
    <p:sldId id="491" r:id="rId181"/>
    <p:sldId id="492" r:id="rId182"/>
    <p:sldId id="266" r:id="rId183"/>
    <p:sldId id="344" r:id="rId184"/>
    <p:sldId id="345" r:id="rId185"/>
    <p:sldId id="346" r:id="rId186"/>
    <p:sldId id="347" r:id="rId187"/>
    <p:sldId id="348" r:id="rId188"/>
    <p:sldId id="349" r:id="rId189"/>
    <p:sldId id="350" r:id="rId190"/>
    <p:sldId id="351" r:id="rId191"/>
    <p:sldId id="352" r:id="rId192"/>
    <p:sldId id="436" r:id="rId193"/>
    <p:sldId id="334" r:id="rId194"/>
    <p:sldId id="335" r:id="rId195"/>
    <p:sldId id="336" r:id="rId196"/>
    <p:sldId id="337" r:id="rId197"/>
    <p:sldId id="338" r:id="rId198"/>
    <p:sldId id="339" r:id="rId199"/>
    <p:sldId id="340" r:id="rId200"/>
    <p:sldId id="341" r:id="rId201"/>
    <p:sldId id="342" r:id="rId202"/>
    <p:sldId id="343" r:id="rId203"/>
    <p:sldId id="268" r:id="rId204"/>
    <p:sldId id="353" r:id="rId205"/>
    <p:sldId id="354" r:id="rId206"/>
    <p:sldId id="269" r:id="rId207"/>
    <p:sldId id="355" r:id="rId208"/>
    <p:sldId id="356" r:id="rId209"/>
    <p:sldId id="506" r:id="rId210"/>
    <p:sldId id="357" r:id="rId211"/>
    <p:sldId id="358" r:id="rId212"/>
    <p:sldId id="359" r:id="rId213"/>
    <p:sldId id="360" r:id="rId214"/>
    <p:sldId id="362" r:id="rId215"/>
    <p:sldId id="361" r:id="rId216"/>
    <p:sldId id="363" r:id="rId217"/>
    <p:sldId id="496" r:id="rId218"/>
    <p:sldId id="364" r:id="rId219"/>
    <p:sldId id="365" r:id="rId220"/>
    <p:sldId id="370" r:id="rId221"/>
    <p:sldId id="371" r:id="rId222"/>
    <p:sldId id="372" r:id="rId223"/>
    <p:sldId id="373" r:id="rId224"/>
    <p:sldId id="374" r:id="rId225"/>
    <p:sldId id="375" r:id="rId226"/>
    <p:sldId id="376" r:id="rId227"/>
    <p:sldId id="366" r:id="rId228"/>
    <p:sldId id="367" r:id="rId229"/>
    <p:sldId id="368" r:id="rId230"/>
    <p:sldId id="369" r:id="rId231"/>
    <p:sldId id="271" r:id="rId232"/>
    <p:sldId id="272" r:id="rId233"/>
    <p:sldId id="273" r:id="rId234"/>
    <p:sldId id="553" r:id="rId235"/>
    <p:sldId id="554" r:id="rId236"/>
    <p:sldId id="555" r:id="rId237"/>
    <p:sldId id="556" r:id="rId238"/>
    <p:sldId id="557" r:id="rId239"/>
    <p:sldId id="558" r:id="rId240"/>
    <p:sldId id="559" r:id="rId241"/>
    <p:sldId id="560" r:id="rId242"/>
    <p:sldId id="561" r:id="rId243"/>
    <p:sldId id="563" r:id="rId244"/>
    <p:sldId id="564" r:id="rId245"/>
    <p:sldId id="565" r:id="rId246"/>
    <p:sldId id="274" r:id="rId247"/>
    <p:sldId id="541" r:id="rId248"/>
    <p:sldId id="542" r:id="rId249"/>
    <p:sldId id="543" r:id="rId250"/>
    <p:sldId id="544" r:id="rId251"/>
    <p:sldId id="545" r:id="rId252"/>
    <p:sldId id="546" r:id="rId253"/>
    <p:sldId id="547" r:id="rId254"/>
    <p:sldId id="548" r:id="rId255"/>
    <p:sldId id="549" r:id="rId256"/>
    <p:sldId id="550" r:id="rId257"/>
    <p:sldId id="551" r:id="rId258"/>
    <p:sldId id="552" r:id="rId259"/>
    <p:sldId id="275" r:id="rId260"/>
    <p:sldId id="437" r:id="rId261"/>
    <p:sldId id="507" r:id="rId262"/>
    <p:sldId id="497" r:id="rId263"/>
    <p:sldId id="438" r:id="rId264"/>
    <p:sldId id="508" r:id="rId265"/>
    <p:sldId id="439" r:id="rId266"/>
    <p:sldId id="276" r:id="rId267"/>
    <p:sldId id="440" r:id="rId268"/>
    <p:sldId id="277" r:id="rId269"/>
    <p:sldId id="509" r:id="rId270"/>
    <p:sldId id="441" r:id="rId271"/>
    <p:sldId id="510" r:id="rId272"/>
    <p:sldId id="278" r:id="rId273"/>
    <p:sldId id="279" r:id="rId274"/>
    <p:sldId id="442" r:id="rId275"/>
    <p:sldId id="280" r:id="rId276"/>
    <p:sldId id="443" r:id="rId277"/>
    <p:sldId id="281" r:id="rId278"/>
    <p:sldId id="282" r:id="rId279"/>
    <p:sldId id="444" r:id="rId280"/>
    <p:sldId id="283" r:id="rId281"/>
    <p:sldId id="511" r:id="rId282"/>
    <p:sldId id="500" r:id="rId283"/>
    <p:sldId id="517" r:id="rId284"/>
    <p:sldId id="525" r:id="rId285"/>
    <p:sldId id="533" r:id="rId286"/>
    <p:sldId id="518" r:id="rId287"/>
    <p:sldId id="534" r:id="rId288"/>
    <p:sldId id="535" r:id="rId289"/>
    <p:sldId id="519" r:id="rId290"/>
    <p:sldId id="520" r:id="rId291"/>
    <p:sldId id="526" r:id="rId292"/>
    <p:sldId id="527" r:id="rId293"/>
    <p:sldId id="537" r:id="rId294"/>
    <p:sldId id="521" r:id="rId295"/>
    <p:sldId id="522" r:id="rId296"/>
    <p:sldId id="528" r:id="rId297"/>
    <p:sldId id="529" r:id="rId298"/>
    <p:sldId id="530" r:id="rId299"/>
    <p:sldId id="531" r:id="rId300"/>
    <p:sldId id="532" r:id="rId301"/>
    <p:sldId id="523" r:id="rId302"/>
    <p:sldId id="445" r:id="rId303"/>
    <p:sldId id="284" r:id="rId304"/>
    <p:sldId id="285" r:id="rId305"/>
    <p:sldId id="286" r:id="rId306"/>
    <p:sldId id="513" r:id="rId307"/>
    <p:sldId id="287" r:id="rId308"/>
    <p:sldId id="446" r:id="rId309"/>
    <p:sldId id="498" r:id="rId310"/>
    <p:sldId id="516" r:id="rId311"/>
    <p:sldId id="538" r:id="rId312"/>
    <p:sldId id="447" r:id="rId313"/>
    <p:sldId id="288" r:id="rId314"/>
    <p:sldId id="289" r:id="rId315"/>
    <p:sldId id="290" r:id="rId316"/>
    <p:sldId id="448" r:id="rId317"/>
    <p:sldId id="291" r:id="rId318"/>
    <p:sldId id="292" r:id="rId319"/>
    <p:sldId id="539" r:id="rId320"/>
    <p:sldId id="449" r:id="rId321"/>
    <p:sldId id="294" r:id="rId322"/>
    <p:sldId id="295" r:id="rId323"/>
    <p:sldId id="451" r:id="rId324"/>
    <p:sldId id="296" r:id="rId325"/>
    <p:sldId id="297" r:id="rId326"/>
    <p:sldId id="499" r:id="rId327"/>
    <p:sldId id="450" r:id="rId328"/>
    <p:sldId id="514" r:id="rId329"/>
    <p:sldId id="298" r:id="rId330"/>
    <p:sldId id="299" r:id="rId331"/>
    <p:sldId id="293" r:id="rId332"/>
    <p:sldId id="300" r:id="rId333"/>
    <p:sldId id="301" r:id="rId334"/>
    <p:sldId id="302" r:id="rId335"/>
    <p:sldId id="303" r:id="rId336"/>
    <p:sldId id="304" r:id="rId337"/>
    <p:sldId id="305" r:id="rId338"/>
    <p:sldId id="306" r:id="rId339"/>
    <p:sldId id="540" r:id="rId340"/>
    <p:sldId id="515" r:id="rId341"/>
    <p:sldId id="452" r:id="rId342"/>
    <p:sldId id="453" r:id="rId343"/>
    <p:sldId id="454" r:id="rId344"/>
    <p:sldId id="455" r:id="rId34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57" autoAdjust="0"/>
  </p:normalViewPr>
  <p:slideViewPr>
    <p:cSldViewPr snapToGrid="0" snapToObjects="1">
      <p:cViewPr varScale="1">
        <p:scale>
          <a:sx n="50" d="100"/>
          <a:sy n="50" d="100"/>
        </p:scale>
        <p:origin x="1260" y="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notesMaster" Target="notesMasters/notesMaster1.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viewProps" Target="viewProps.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theme" Target="theme/theme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tableStyles" Target="tableStyles.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presProps" Target="presProps.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19/12/2025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12</a:t>
            </a:fld>
            <a:endParaRPr lang="en-SG"/>
          </a:p>
        </p:txBody>
      </p:sp>
    </p:spTree>
    <p:extLst>
      <p:ext uri="{BB962C8B-B14F-4D97-AF65-F5344CB8AC3E}">
        <p14:creationId xmlns:p14="http://schemas.microsoft.com/office/powerpoint/2010/main" val="1732500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"Everything is an Object" Principle</a:t>
            </a:r>
          </a:p>
          <a:p>
            <a:r>
              <a:rPr lang="en-US" dirty="0"/>
              <a:t>In Python, variables are not "boxes" that hold data; they are </a:t>
            </a:r>
            <a:r>
              <a:rPr lang="en-US" b="1" dirty="0"/>
              <a:t>labels (references)</a:t>
            </a:r>
            <a:r>
              <a:rPr lang="en-US" dirty="0"/>
              <a:t> bound to objects in memory.</a:t>
            </a:r>
          </a:p>
          <a:p>
            <a:r>
              <a:rPr lang="en-US" b="1" dirty="0"/>
              <a:t>Variable Binding:</a:t>
            </a:r>
            <a:r>
              <a:rPr lang="en-US" dirty="0"/>
              <a:t> Assigning </a:t>
            </a:r>
            <a:r>
              <a:rPr lang="en-US" sz="1200" kern="1200" dirty="0">
                <a:solidFill>
                  <a:schemeClr val="tx1"/>
                </a:solidFill>
                <a:latin typeface="+mn-lt"/>
                <a:ea typeface="+mn-ea"/>
                <a:cs typeface="+mn-cs"/>
              </a:rPr>
              <a:t>x = 10</a:t>
            </a:r>
            <a:r>
              <a:rPr lang="en-US" dirty="0"/>
              <a:t> tells Python to create an integer object </a:t>
            </a:r>
            <a:r>
              <a:rPr lang="en-US" sz="1200" kern="1200" dirty="0">
                <a:solidFill>
                  <a:schemeClr val="tx1"/>
                </a:solidFill>
                <a:latin typeface="+mn-lt"/>
                <a:ea typeface="+mn-ea"/>
                <a:cs typeface="+mn-cs"/>
              </a:rPr>
              <a:t>10</a:t>
            </a:r>
            <a:r>
              <a:rPr lang="en-US" dirty="0"/>
              <a:t> and point the name </a:t>
            </a:r>
            <a:r>
              <a:rPr lang="en-US" sz="1200" kern="1200" dirty="0">
                <a:solidFill>
                  <a:schemeClr val="tx1"/>
                </a:solidFill>
                <a:latin typeface="+mn-lt"/>
                <a:ea typeface="+mn-ea"/>
                <a:cs typeface="+mn-cs"/>
              </a:rPr>
              <a:t>x</a:t>
            </a:r>
            <a:r>
              <a:rPr lang="en-US" dirty="0"/>
              <a:t> to it.</a:t>
            </a:r>
          </a:p>
          <a:p>
            <a:r>
              <a:rPr lang="en-US" b="1" dirty="0"/>
              <a:t>Memory Addresses:</a:t>
            </a:r>
            <a:r>
              <a:rPr lang="en-US" dirty="0"/>
              <a:t> Use the </a:t>
            </a:r>
            <a:r>
              <a:rPr lang="en-US" sz="1200" kern="1200" dirty="0">
                <a:solidFill>
                  <a:schemeClr val="tx1"/>
                </a:solidFill>
                <a:latin typeface="+mn-lt"/>
                <a:ea typeface="+mn-ea"/>
                <a:cs typeface="+mn-cs"/>
              </a:rPr>
              <a:t>id()</a:t>
            </a:r>
            <a:r>
              <a:rPr lang="en-US" dirty="0"/>
              <a:t> function to see exactly where an object lives in memory.</a:t>
            </a:r>
          </a:p>
          <a:p>
            <a:r>
              <a:rPr lang="en-US" b="1" dirty="0"/>
              <a:t>Identity vs. Equality:</a:t>
            </a:r>
            <a:r>
              <a:rPr lang="en-US" dirty="0"/>
              <a:t> </a:t>
            </a:r>
            <a:r>
              <a:rPr lang="en-US" sz="1200" kern="1200" dirty="0">
                <a:solidFill>
                  <a:schemeClr val="tx1"/>
                </a:solidFill>
                <a:latin typeface="+mn-lt"/>
                <a:ea typeface="+mn-ea"/>
                <a:cs typeface="+mn-cs"/>
              </a:rPr>
              <a:t>==</a:t>
            </a:r>
            <a:r>
              <a:rPr lang="en-US" dirty="0"/>
              <a:t> checks if values are the same; </a:t>
            </a:r>
            <a:r>
              <a:rPr lang="en-US" sz="1200" kern="1200" dirty="0">
                <a:solidFill>
                  <a:schemeClr val="tx1"/>
                </a:solidFill>
                <a:latin typeface="+mn-lt"/>
                <a:ea typeface="+mn-ea"/>
                <a:cs typeface="+mn-cs"/>
              </a:rPr>
              <a:t>is</a:t>
            </a:r>
            <a:r>
              <a:rPr lang="en-US" dirty="0"/>
              <a:t> checks if the variables point to the exact same object in memory.</a:t>
            </a:r>
          </a:p>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15</a:t>
            </a:fld>
            <a:endParaRPr lang="en-SG"/>
          </a:p>
        </p:txBody>
      </p:sp>
    </p:spTree>
    <p:extLst>
      <p:ext uri="{BB962C8B-B14F-4D97-AF65-F5344CB8AC3E}">
        <p14:creationId xmlns:p14="http://schemas.microsoft.com/office/powerpoint/2010/main" val="37211328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16</a:t>
            </a:fld>
            <a:endParaRPr lang="en-SG"/>
          </a:p>
        </p:txBody>
      </p:sp>
    </p:spTree>
    <p:extLst>
      <p:ext uri="{BB962C8B-B14F-4D97-AF65-F5344CB8AC3E}">
        <p14:creationId xmlns:p14="http://schemas.microsoft.com/office/powerpoint/2010/main" val="30517048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Mutability and Shared References</a:t>
            </a:r>
          </a:p>
          <a:p>
            <a:r>
              <a:rPr lang="en-US" dirty="0"/>
              <a:t>Understanding mutability is critical for avoiding "mystery" bugs in large engineering projects.</a:t>
            </a:r>
          </a:p>
          <a:p>
            <a:r>
              <a:rPr lang="en-US" b="1" dirty="0"/>
              <a:t>Immutable Types (int, str, tuple):</a:t>
            </a:r>
            <a:r>
              <a:rPr lang="en-US" dirty="0"/>
              <a:t> These objects cannot be changed in place. "Changing" a string creates a brand-new object in memory.</a:t>
            </a:r>
          </a:p>
          <a:p>
            <a:r>
              <a:rPr lang="en-US" b="1" dirty="0"/>
              <a:t>Mutable Types (list, </a:t>
            </a:r>
            <a:r>
              <a:rPr lang="en-US" b="1" dirty="0" err="1"/>
              <a:t>dict</a:t>
            </a:r>
            <a:r>
              <a:rPr lang="en-US" b="1" dirty="0"/>
              <a:t>, set):</a:t>
            </a:r>
            <a:r>
              <a:rPr lang="en-US" dirty="0"/>
              <a:t> These can be modified in place. If two variables point to the same list, changing one changes both.</a:t>
            </a:r>
          </a:p>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20</a:t>
            </a:fld>
            <a:endParaRPr lang="en-SG"/>
          </a:p>
        </p:txBody>
      </p:sp>
    </p:spTree>
    <p:extLst>
      <p:ext uri="{BB962C8B-B14F-4D97-AF65-F5344CB8AC3E}">
        <p14:creationId xmlns:p14="http://schemas.microsoft.com/office/powerpoint/2010/main" val="42493535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Engineering with Strings &amp; Lists</a:t>
            </a:r>
          </a:p>
          <a:p>
            <a:r>
              <a:rPr lang="en-US" sz="1200" b="1" kern="1200" dirty="0">
                <a:solidFill>
                  <a:schemeClr val="tx1"/>
                </a:solidFill>
                <a:effectLst/>
                <a:latin typeface="+mn-lt"/>
                <a:ea typeface="+mn-ea"/>
                <a:cs typeface="+mn-cs"/>
              </a:rPr>
              <a:t>Sanitizing Data:</a:t>
            </a:r>
            <a:r>
              <a:rPr lang="en-US" sz="1200" kern="1200" dirty="0">
                <a:solidFill>
                  <a:schemeClr val="tx1"/>
                </a:solidFill>
                <a:effectLst/>
                <a:latin typeface="+mn-lt"/>
                <a:ea typeface="+mn-ea"/>
                <a:cs typeface="+mn-cs"/>
              </a:rPr>
              <a:t> Professional pipelines often involve cleaning user input strings</a:t>
            </a:r>
            <a:r>
              <a:rPr lang="en-US" sz="1200" kern="1200" baseline="30000" dirty="0">
                <a:solidFill>
                  <a:schemeClr val="tx1"/>
                </a:solidFill>
                <a:effectLst/>
                <a:latin typeface="+mn-lt"/>
                <a:ea typeface="+mn-ea"/>
                <a:cs typeface="+mn-cs"/>
              </a:rPr>
              <a:t>11</a:t>
            </a:r>
            <a:r>
              <a:rPr lang="en-US" sz="1200" kern="1200" dirty="0">
                <a:solidFill>
                  <a:schemeClr val="tx1"/>
                </a:solidFill>
                <a:effectLst/>
                <a:latin typeface="+mn-lt"/>
                <a:ea typeface="+mn-ea"/>
                <a:cs typeface="+mn-cs"/>
              </a:rPr>
              <a:t>.</a:t>
            </a:r>
          </a:p>
          <a:p>
            <a:pPr lvl="1"/>
            <a:r>
              <a:rPr lang="en-US" sz="1200" kern="1200" dirty="0">
                <a:solidFill>
                  <a:schemeClr val="tx1"/>
                </a:solidFill>
                <a:effectLst/>
                <a:latin typeface="+mn-lt"/>
                <a:ea typeface="+mn-ea"/>
                <a:cs typeface="+mn-cs"/>
              </a:rPr>
              <a:t>.strip(): Removes leading/trailing whitespace</a:t>
            </a:r>
            <a:r>
              <a:rPr lang="en-US" sz="1200" kern="1200" baseline="30000" dirty="0">
                <a:solidFill>
                  <a:schemeClr val="tx1"/>
                </a:solidFill>
                <a:effectLst/>
                <a:latin typeface="+mn-lt"/>
                <a:ea typeface="+mn-ea"/>
                <a:cs typeface="+mn-cs"/>
              </a:rPr>
              <a:t>12</a:t>
            </a:r>
            <a:r>
              <a:rPr lang="en-US" sz="1200" kern="1200" dirty="0">
                <a:solidFill>
                  <a:schemeClr val="tx1"/>
                </a:solidFill>
                <a:effectLst/>
                <a:latin typeface="+mn-lt"/>
                <a:ea typeface="+mn-ea"/>
                <a:cs typeface="+mn-cs"/>
              </a:rPr>
              <a:t>.</a:t>
            </a:r>
          </a:p>
          <a:p>
            <a:pPr lvl="1"/>
            <a:r>
              <a:rPr lang="en-US" sz="1200" kern="1200" dirty="0">
                <a:solidFill>
                  <a:schemeClr val="tx1"/>
                </a:solidFill>
                <a:effectLst/>
                <a:latin typeface="+mn-lt"/>
                <a:ea typeface="+mn-ea"/>
                <a:cs typeface="+mn-cs"/>
              </a:rPr>
              <a:t>.capitalize(): Uppercases only the very first character of the string</a:t>
            </a:r>
            <a:r>
              <a:rPr lang="en-US" sz="1200" kern="1200" baseline="30000" dirty="0">
                <a:solidFill>
                  <a:schemeClr val="tx1"/>
                </a:solidFill>
                <a:effectLst/>
                <a:latin typeface="+mn-lt"/>
                <a:ea typeface="+mn-ea"/>
                <a:cs typeface="+mn-cs"/>
              </a:rPr>
              <a:t>13</a:t>
            </a:r>
            <a:r>
              <a:rPr lang="en-US" sz="1200" kern="1200" dirty="0">
                <a:solidFill>
                  <a:schemeClr val="tx1"/>
                </a:solidFill>
                <a:effectLst/>
                <a:latin typeface="+mn-lt"/>
                <a:ea typeface="+mn-ea"/>
                <a:cs typeface="+mn-cs"/>
              </a:rPr>
              <a:t>.</a:t>
            </a:r>
          </a:p>
          <a:p>
            <a:pPr lvl="1"/>
            <a:r>
              <a:rPr lang="en-US" sz="1200" kern="1200" dirty="0">
                <a:solidFill>
                  <a:schemeClr val="tx1"/>
                </a:solidFill>
                <a:effectLst/>
                <a:latin typeface="+mn-lt"/>
                <a:ea typeface="+mn-ea"/>
                <a:cs typeface="+mn-cs"/>
              </a:rPr>
              <a:t>.title(): Uppercases the first letter of </a:t>
            </a:r>
            <a:r>
              <a:rPr lang="en-US" sz="1200" i="1" kern="1200" dirty="0">
                <a:solidFill>
                  <a:schemeClr val="tx1"/>
                </a:solidFill>
                <a:effectLst/>
                <a:latin typeface="+mn-lt"/>
                <a:ea typeface="+mn-ea"/>
                <a:cs typeface="+mn-cs"/>
              </a:rPr>
              <a:t>every</a:t>
            </a:r>
            <a:r>
              <a:rPr lang="en-US" sz="1200" kern="1200" dirty="0">
                <a:solidFill>
                  <a:schemeClr val="tx1"/>
                </a:solidFill>
                <a:effectLst/>
                <a:latin typeface="+mn-lt"/>
                <a:ea typeface="+mn-ea"/>
                <a:cs typeface="+mn-cs"/>
              </a:rPr>
              <a:t> word (ideal for names like "</a:t>
            </a:r>
            <a:r>
              <a:rPr lang="en-US" sz="1200" kern="1200" dirty="0" err="1">
                <a:solidFill>
                  <a:schemeClr val="tx1"/>
                </a:solidFill>
                <a:effectLst/>
                <a:latin typeface="+mn-lt"/>
                <a:ea typeface="+mn-ea"/>
                <a:cs typeface="+mn-cs"/>
              </a:rPr>
              <a:t>sarah</a:t>
            </a:r>
            <a:r>
              <a:rPr lang="en-US" sz="1200" kern="1200" dirty="0">
                <a:solidFill>
                  <a:schemeClr val="tx1"/>
                </a:solidFill>
                <a:effectLst/>
                <a:latin typeface="+mn-lt"/>
                <a:ea typeface="+mn-ea"/>
                <a:cs typeface="+mn-cs"/>
              </a:rPr>
              <a:t> smith")</a:t>
            </a:r>
            <a:r>
              <a:rPr lang="en-US" sz="1200" kern="1200" baseline="30000" dirty="0">
                <a:solidFill>
                  <a:schemeClr val="tx1"/>
                </a:solidFill>
                <a:effectLst/>
                <a:latin typeface="+mn-lt"/>
                <a:ea typeface="+mn-ea"/>
                <a:cs typeface="+mn-cs"/>
              </a:rPr>
              <a:t>14</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Efficient Collections:</a:t>
            </a:r>
            <a:endParaRPr lang="en-US" sz="1200" kern="1200" dirty="0">
              <a:solidFill>
                <a:schemeClr val="tx1"/>
              </a:solidFill>
              <a:effectLst/>
              <a:latin typeface="+mn-lt"/>
              <a:ea typeface="+mn-ea"/>
              <a:cs typeface="+mn-cs"/>
            </a:endParaRPr>
          </a:p>
          <a:p>
            <a:pPr lvl="1"/>
            <a:r>
              <a:rPr lang="en-US" sz="1200" b="1" kern="1200" dirty="0">
                <a:solidFill>
                  <a:schemeClr val="tx1"/>
                </a:solidFill>
                <a:effectLst/>
                <a:latin typeface="+mn-lt"/>
                <a:ea typeface="+mn-ea"/>
                <a:cs typeface="+mn-cs"/>
              </a:rPr>
              <a:t>Lists []:</a:t>
            </a:r>
            <a:r>
              <a:rPr lang="en-US" sz="1200" kern="1200" dirty="0">
                <a:solidFill>
                  <a:schemeClr val="tx1"/>
                </a:solidFill>
                <a:effectLst/>
                <a:latin typeface="+mn-lt"/>
                <a:ea typeface="+mn-ea"/>
                <a:cs typeface="+mn-cs"/>
              </a:rPr>
              <a:t> Best for ordered sequences where duplicates are allowed</a:t>
            </a:r>
            <a:r>
              <a:rPr lang="en-US" sz="1200" kern="1200" baseline="30000" dirty="0">
                <a:solidFill>
                  <a:schemeClr val="tx1"/>
                </a:solidFill>
                <a:effectLst/>
                <a:latin typeface="+mn-lt"/>
                <a:ea typeface="+mn-ea"/>
                <a:cs typeface="+mn-cs"/>
              </a:rPr>
              <a:t>15</a:t>
            </a:r>
            <a:r>
              <a:rPr lang="en-US" sz="1200" kern="1200" dirty="0">
                <a:solidFill>
                  <a:schemeClr val="tx1"/>
                </a:solidFill>
                <a:effectLst/>
                <a:latin typeface="+mn-lt"/>
                <a:ea typeface="+mn-ea"/>
                <a:cs typeface="+mn-cs"/>
              </a:rPr>
              <a:t>.</a:t>
            </a:r>
          </a:p>
          <a:p>
            <a:pPr lvl="1"/>
            <a:r>
              <a:rPr lang="en-US" sz="1200" b="1" kern="1200" dirty="0">
                <a:solidFill>
                  <a:schemeClr val="tx1"/>
                </a:solidFill>
                <a:effectLst/>
                <a:latin typeface="+mn-lt"/>
                <a:ea typeface="+mn-ea"/>
                <a:cs typeface="+mn-cs"/>
              </a:rPr>
              <a:t>Sets {}:</a:t>
            </a:r>
            <a:r>
              <a:rPr lang="en-US" sz="1200" kern="1200" dirty="0">
                <a:solidFill>
                  <a:schemeClr val="tx1"/>
                </a:solidFill>
                <a:effectLst/>
                <a:latin typeface="+mn-lt"/>
                <a:ea typeface="+mn-ea"/>
                <a:cs typeface="+mn-cs"/>
              </a:rPr>
              <a:t> Optimized for membership testing ($O(1)$ lookup) and unique values</a:t>
            </a:r>
            <a:r>
              <a:rPr lang="en-US" sz="1200" kern="1200" baseline="30000" dirty="0">
                <a:solidFill>
                  <a:schemeClr val="tx1"/>
                </a:solidFill>
                <a:effectLst/>
                <a:latin typeface="+mn-lt"/>
                <a:ea typeface="+mn-ea"/>
                <a:cs typeface="+mn-cs"/>
              </a:rPr>
              <a:t>16</a:t>
            </a:r>
            <a:r>
              <a:rPr lang="en-US" sz="1200" kern="1200" dirty="0">
                <a:solidFill>
                  <a:schemeClr val="tx1"/>
                </a:solidFill>
                <a:effectLst/>
                <a:latin typeface="+mn-lt"/>
                <a:ea typeface="+mn-ea"/>
                <a:cs typeface="+mn-cs"/>
              </a:rPr>
              <a:t>.</a:t>
            </a:r>
          </a:p>
          <a:p>
            <a:pPr lvl="1"/>
            <a:r>
              <a:rPr lang="en-US" sz="1200" b="1" kern="1200" dirty="0">
                <a:solidFill>
                  <a:schemeClr val="tx1"/>
                </a:solidFill>
                <a:effectLst/>
                <a:latin typeface="+mn-lt"/>
                <a:ea typeface="+mn-ea"/>
                <a:cs typeface="+mn-cs"/>
              </a:rPr>
              <a:t>Tuples ():</a:t>
            </a:r>
            <a:r>
              <a:rPr lang="en-US" sz="1200" kern="1200" dirty="0">
                <a:solidFill>
                  <a:schemeClr val="tx1"/>
                </a:solidFill>
                <a:effectLst/>
                <a:latin typeface="+mn-lt"/>
                <a:ea typeface="+mn-ea"/>
                <a:cs typeface="+mn-cs"/>
              </a:rPr>
              <a:t> Use for fixed records or to prevent accidental modification (immutability)</a:t>
            </a:r>
            <a:r>
              <a:rPr lang="en-US" sz="1200" kern="1200" baseline="30000" dirty="0">
                <a:solidFill>
                  <a:schemeClr val="tx1"/>
                </a:solidFill>
                <a:effectLst/>
                <a:latin typeface="+mn-lt"/>
                <a:ea typeface="+mn-ea"/>
                <a:cs typeface="+mn-cs"/>
              </a:rPr>
              <a:t>17</a:t>
            </a:r>
            <a:endParaRPr lang="en-US" sz="1200" kern="1200" dirty="0">
              <a:solidFill>
                <a:schemeClr val="tx1"/>
              </a:solidFill>
              <a:effectLst/>
              <a:latin typeface="+mn-lt"/>
              <a:ea typeface="+mn-ea"/>
              <a:cs typeface="+mn-cs"/>
            </a:endParaRPr>
          </a:p>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63</a:t>
            </a:fld>
            <a:endParaRPr lang="en-SG"/>
          </a:p>
        </p:txBody>
      </p:sp>
    </p:spTree>
    <p:extLst>
      <p:ext uri="{BB962C8B-B14F-4D97-AF65-F5344CB8AC3E}">
        <p14:creationId xmlns:p14="http://schemas.microsoft.com/office/powerpoint/2010/main" val="861393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161</a:t>
            </a:fld>
            <a:endParaRPr lang="en-SG"/>
          </a:p>
        </p:txBody>
      </p:sp>
    </p:spTree>
    <p:extLst>
      <p:ext uri="{BB962C8B-B14F-4D97-AF65-F5344CB8AC3E}">
        <p14:creationId xmlns:p14="http://schemas.microsoft.com/office/powerpoint/2010/main" val="32219066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53B0-D229-1441-D3CB-89F197CDB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D59E0-E54D-2E4C-9B24-04C919908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8636-9AC4-3128-F747-BEE07DB461D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521A5A7-A5AB-1FAE-A33C-C11BA5A948A0}"/>
              </a:ext>
            </a:extLst>
          </p:cNvPr>
          <p:cNvSpPr>
            <a:spLocks noGrp="1"/>
          </p:cNvSpPr>
          <p:nvPr>
            <p:ph type="sldNum" sz="quarter" idx="5"/>
          </p:nvPr>
        </p:nvSpPr>
        <p:spPr/>
        <p:txBody>
          <a:bodyPr/>
          <a:lstStyle/>
          <a:p>
            <a:fld id="{4F57C094-21CE-47C2-B85E-15CC2B32E4F0}" type="slidenum">
              <a:rPr lang="en-SG" smtClean="0"/>
              <a:t>162</a:t>
            </a:fld>
            <a:endParaRPr lang="en-SG"/>
          </a:p>
        </p:txBody>
      </p:sp>
    </p:spTree>
    <p:extLst>
      <p:ext uri="{BB962C8B-B14F-4D97-AF65-F5344CB8AC3E}">
        <p14:creationId xmlns:p14="http://schemas.microsoft.com/office/powerpoint/2010/main" val="3004334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7E50B-7E5A-D15B-B59A-E94E31D28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BE1BD-7349-8537-4DD7-8802A35BF3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485DAB-303C-A164-3AFE-9CE37EE9A8C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62F506D-1A6A-5EA4-BD36-FC588DE2C457}"/>
              </a:ext>
            </a:extLst>
          </p:cNvPr>
          <p:cNvSpPr>
            <a:spLocks noGrp="1"/>
          </p:cNvSpPr>
          <p:nvPr>
            <p:ph type="sldNum" sz="quarter" idx="5"/>
          </p:nvPr>
        </p:nvSpPr>
        <p:spPr/>
        <p:txBody>
          <a:bodyPr/>
          <a:lstStyle/>
          <a:p>
            <a:fld id="{4F57C094-21CE-47C2-B85E-15CC2B32E4F0}" type="slidenum">
              <a:rPr lang="en-SG" smtClean="0"/>
              <a:t>164</a:t>
            </a:fld>
            <a:endParaRPr lang="en-SG"/>
          </a:p>
        </p:txBody>
      </p:sp>
    </p:spTree>
    <p:extLst>
      <p:ext uri="{BB962C8B-B14F-4D97-AF65-F5344CB8AC3E}">
        <p14:creationId xmlns:p14="http://schemas.microsoft.com/office/powerpoint/2010/main" val="28308437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DECBB-AEEF-E7DD-183B-FC74619EA0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2385D-8E77-32FB-F45B-0310DD65E4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FC6DCA-11CA-E1A0-23E8-612AD78F6F8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86F0090-3024-495D-A2F9-E1F299B79FE7}"/>
              </a:ext>
            </a:extLst>
          </p:cNvPr>
          <p:cNvSpPr>
            <a:spLocks noGrp="1"/>
          </p:cNvSpPr>
          <p:nvPr>
            <p:ph type="sldNum" sz="quarter" idx="5"/>
          </p:nvPr>
        </p:nvSpPr>
        <p:spPr/>
        <p:txBody>
          <a:bodyPr/>
          <a:lstStyle/>
          <a:p>
            <a:fld id="{4F57C094-21CE-47C2-B85E-15CC2B32E4F0}" type="slidenum">
              <a:rPr lang="en-SG" smtClean="0"/>
              <a:t>166</a:t>
            </a:fld>
            <a:endParaRPr lang="en-SG"/>
          </a:p>
        </p:txBody>
      </p:sp>
    </p:spTree>
    <p:extLst>
      <p:ext uri="{BB962C8B-B14F-4D97-AF65-F5344CB8AC3E}">
        <p14:creationId xmlns:p14="http://schemas.microsoft.com/office/powerpoint/2010/main" val="24854148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62D5E-F4D1-8D0E-8E9D-071892431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ABAC4-A52F-DCE4-23F0-36C92C1E0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7EE85-B256-45BD-7796-3055F6FA36E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0A62A8F-6A45-5B57-8150-9F1C8DDB0153}"/>
              </a:ext>
            </a:extLst>
          </p:cNvPr>
          <p:cNvSpPr>
            <a:spLocks noGrp="1"/>
          </p:cNvSpPr>
          <p:nvPr>
            <p:ph type="sldNum" sz="quarter" idx="5"/>
          </p:nvPr>
        </p:nvSpPr>
        <p:spPr/>
        <p:txBody>
          <a:bodyPr/>
          <a:lstStyle/>
          <a:p>
            <a:fld id="{4F57C094-21CE-47C2-B85E-15CC2B32E4F0}" type="slidenum">
              <a:rPr lang="en-SG" smtClean="0"/>
              <a:t>167</a:t>
            </a:fld>
            <a:endParaRPr lang="en-SG"/>
          </a:p>
        </p:txBody>
      </p:sp>
    </p:spTree>
    <p:extLst>
      <p:ext uri="{BB962C8B-B14F-4D97-AF65-F5344CB8AC3E}">
        <p14:creationId xmlns:p14="http://schemas.microsoft.com/office/powerpoint/2010/main" val="1733111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AFD15-381B-80D9-C9AF-8C6DA1342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52A6E-EF27-60EB-1521-3954D0EDD8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83BCD-BD33-937F-1D49-E339A8B94F4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D812A42-FB51-BCFB-BC8C-AFDD06CF2812}"/>
              </a:ext>
            </a:extLst>
          </p:cNvPr>
          <p:cNvSpPr>
            <a:spLocks noGrp="1"/>
          </p:cNvSpPr>
          <p:nvPr>
            <p:ph type="sldNum" sz="quarter" idx="5"/>
          </p:nvPr>
        </p:nvSpPr>
        <p:spPr/>
        <p:txBody>
          <a:bodyPr/>
          <a:lstStyle/>
          <a:p>
            <a:fld id="{4F57C094-21CE-47C2-B85E-15CC2B32E4F0}" type="slidenum">
              <a:rPr lang="en-SG" smtClean="0"/>
              <a:t>168</a:t>
            </a:fld>
            <a:endParaRPr lang="en-SG"/>
          </a:p>
        </p:txBody>
      </p:sp>
    </p:spTree>
    <p:extLst>
      <p:ext uri="{BB962C8B-B14F-4D97-AF65-F5344CB8AC3E}">
        <p14:creationId xmlns:p14="http://schemas.microsoft.com/office/powerpoint/2010/main" val="41405158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2D8BD-A46A-90A4-AA7A-4F4A904D55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153A85-76D0-7312-A5D0-F9FC74B618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09948-7E28-2EEE-2C8A-F6974352BFD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4DD62D-5218-92AD-417D-5C753D5813C0}"/>
              </a:ext>
            </a:extLst>
          </p:cNvPr>
          <p:cNvSpPr>
            <a:spLocks noGrp="1"/>
          </p:cNvSpPr>
          <p:nvPr>
            <p:ph type="sldNum" sz="quarter" idx="5"/>
          </p:nvPr>
        </p:nvSpPr>
        <p:spPr/>
        <p:txBody>
          <a:bodyPr/>
          <a:lstStyle/>
          <a:p>
            <a:fld id="{4F57C094-21CE-47C2-B85E-15CC2B32E4F0}" type="slidenum">
              <a:rPr lang="en-SG" smtClean="0"/>
              <a:t>169</a:t>
            </a:fld>
            <a:endParaRPr lang="en-SG"/>
          </a:p>
        </p:txBody>
      </p:sp>
    </p:spTree>
    <p:extLst>
      <p:ext uri="{BB962C8B-B14F-4D97-AF65-F5344CB8AC3E}">
        <p14:creationId xmlns:p14="http://schemas.microsoft.com/office/powerpoint/2010/main" val="26441559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CE43E-4985-4E3A-333F-39CB8E1BAF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BFC4E4-513A-E5BB-8CFA-0EE6B6B92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E9F54-56E3-EC8F-6266-78E58BD88B9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4A2EEA2-103D-5DAB-D18F-84AF83FB77E1}"/>
              </a:ext>
            </a:extLst>
          </p:cNvPr>
          <p:cNvSpPr>
            <a:spLocks noGrp="1"/>
          </p:cNvSpPr>
          <p:nvPr>
            <p:ph type="sldNum" sz="quarter" idx="5"/>
          </p:nvPr>
        </p:nvSpPr>
        <p:spPr/>
        <p:txBody>
          <a:bodyPr/>
          <a:lstStyle/>
          <a:p>
            <a:fld id="{4F57C094-21CE-47C2-B85E-15CC2B32E4F0}" type="slidenum">
              <a:rPr lang="en-SG" smtClean="0"/>
              <a:t>170</a:t>
            </a:fld>
            <a:endParaRPr lang="en-SG"/>
          </a:p>
        </p:txBody>
      </p:sp>
    </p:spTree>
    <p:extLst>
      <p:ext uri="{BB962C8B-B14F-4D97-AF65-F5344CB8AC3E}">
        <p14:creationId xmlns:p14="http://schemas.microsoft.com/office/powerpoint/2010/main" val="32359638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426A3-BAD0-4003-8EF8-A23FB827D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92D99-F63E-177A-D63F-0D4CFAFDDC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539C18-3262-4406-F9E1-F4897D8173C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3577C11-B98E-1A1B-A428-EE567A203A6B}"/>
              </a:ext>
            </a:extLst>
          </p:cNvPr>
          <p:cNvSpPr>
            <a:spLocks noGrp="1"/>
          </p:cNvSpPr>
          <p:nvPr>
            <p:ph type="sldNum" sz="quarter" idx="5"/>
          </p:nvPr>
        </p:nvSpPr>
        <p:spPr/>
        <p:txBody>
          <a:bodyPr/>
          <a:lstStyle/>
          <a:p>
            <a:fld id="{4F57C094-21CE-47C2-B85E-15CC2B32E4F0}" type="slidenum">
              <a:rPr lang="en-SG" smtClean="0"/>
              <a:t>171</a:t>
            </a:fld>
            <a:endParaRPr lang="en-SG"/>
          </a:p>
        </p:txBody>
      </p:sp>
    </p:spTree>
    <p:extLst>
      <p:ext uri="{BB962C8B-B14F-4D97-AF65-F5344CB8AC3E}">
        <p14:creationId xmlns:p14="http://schemas.microsoft.com/office/powerpoint/2010/main" val="33018086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5AF3-9142-3F7D-3418-3C991BAF23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9FA16-1540-C504-43FF-B72F36659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2C4D-3EFA-5424-EFF0-F2000623C7A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F9D6527-1B11-B518-8432-2D340E295550}"/>
              </a:ext>
            </a:extLst>
          </p:cNvPr>
          <p:cNvSpPr>
            <a:spLocks noGrp="1"/>
          </p:cNvSpPr>
          <p:nvPr>
            <p:ph type="sldNum" sz="quarter" idx="5"/>
          </p:nvPr>
        </p:nvSpPr>
        <p:spPr/>
        <p:txBody>
          <a:bodyPr/>
          <a:lstStyle/>
          <a:p>
            <a:fld id="{4F57C094-21CE-47C2-B85E-15CC2B32E4F0}" type="slidenum">
              <a:rPr lang="en-SG" smtClean="0"/>
              <a:t>172</a:t>
            </a:fld>
            <a:endParaRPr lang="en-SG"/>
          </a:p>
        </p:txBody>
      </p:sp>
    </p:spTree>
    <p:extLst>
      <p:ext uri="{BB962C8B-B14F-4D97-AF65-F5344CB8AC3E}">
        <p14:creationId xmlns:p14="http://schemas.microsoft.com/office/powerpoint/2010/main" val="4784775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42853-7923-C338-DEC2-1ECC25EE2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DEB496-2093-EDD8-FE8F-60A204C0C0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69314-C697-3DDF-B64B-2D99FB0E2F34}"/>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4F9BE31-BD2C-8E3B-DAC7-E8DA1527BD47}"/>
              </a:ext>
            </a:extLst>
          </p:cNvPr>
          <p:cNvSpPr>
            <a:spLocks noGrp="1"/>
          </p:cNvSpPr>
          <p:nvPr>
            <p:ph type="sldNum" sz="quarter" idx="5"/>
          </p:nvPr>
        </p:nvSpPr>
        <p:spPr/>
        <p:txBody>
          <a:bodyPr/>
          <a:lstStyle/>
          <a:p>
            <a:fld id="{4F57C094-21CE-47C2-B85E-15CC2B32E4F0}" type="slidenum">
              <a:rPr lang="en-SG" smtClean="0"/>
              <a:t>173</a:t>
            </a:fld>
            <a:endParaRPr lang="en-SG"/>
          </a:p>
        </p:txBody>
      </p:sp>
    </p:spTree>
    <p:extLst>
      <p:ext uri="{BB962C8B-B14F-4D97-AF65-F5344CB8AC3E}">
        <p14:creationId xmlns:p14="http://schemas.microsoft.com/office/powerpoint/2010/main" val="23143295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4984-723A-8463-9262-FA3B75B1E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F9968-7331-39AF-7B52-2E6A10BCB9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FB1876-4273-4F09-C719-97FE65E17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1296972-6713-6A27-B3A7-FB4B35F03C30}"/>
              </a:ext>
            </a:extLst>
          </p:cNvPr>
          <p:cNvSpPr>
            <a:spLocks noGrp="1"/>
          </p:cNvSpPr>
          <p:nvPr>
            <p:ph type="sldNum" sz="quarter" idx="5"/>
          </p:nvPr>
        </p:nvSpPr>
        <p:spPr/>
        <p:txBody>
          <a:bodyPr/>
          <a:lstStyle/>
          <a:p>
            <a:fld id="{4F57C094-21CE-47C2-B85E-15CC2B32E4F0}" type="slidenum">
              <a:rPr lang="en-SG" smtClean="0"/>
              <a:t>175</a:t>
            </a:fld>
            <a:endParaRPr lang="en-SG"/>
          </a:p>
        </p:txBody>
      </p:sp>
    </p:spTree>
    <p:extLst>
      <p:ext uri="{BB962C8B-B14F-4D97-AF65-F5344CB8AC3E}">
        <p14:creationId xmlns:p14="http://schemas.microsoft.com/office/powerpoint/2010/main" val="23690416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1725F-836A-060E-BFB6-1F4F04DDC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15E54-805D-9E60-9438-4E77E4A6C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E96F9F-700C-9156-04D4-68833EB8DD3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B7FB651-D9A8-0289-0A3E-2D82D9830132}"/>
              </a:ext>
            </a:extLst>
          </p:cNvPr>
          <p:cNvSpPr>
            <a:spLocks noGrp="1"/>
          </p:cNvSpPr>
          <p:nvPr>
            <p:ph type="sldNum" sz="quarter" idx="5"/>
          </p:nvPr>
        </p:nvSpPr>
        <p:spPr/>
        <p:txBody>
          <a:bodyPr/>
          <a:lstStyle/>
          <a:p>
            <a:fld id="{4F57C094-21CE-47C2-B85E-15CC2B32E4F0}" type="slidenum">
              <a:rPr lang="en-SG" smtClean="0"/>
              <a:t>184</a:t>
            </a:fld>
            <a:endParaRPr lang="en-SG"/>
          </a:p>
        </p:txBody>
      </p:sp>
    </p:spTree>
    <p:extLst>
      <p:ext uri="{BB962C8B-B14F-4D97-AF65-F5344CB8AC3E}">
        <p14:creationId xmlns:p14="http://schemas.microsoft.com/office/powerpoint/2010/main" val="41277831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BD563-23DC-D4FF-D080-93B15EE7A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F4651-359E-3981-0C4F-A5708A831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5B7E35-C0F4-9B7A-E72C-8021E97D6D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DF7F3BD-F8BF-9FD0-C605-18C940493D9A}"/>
              </a:ext>
            </a:extLst>
          </p:cNvPr>
          <p:cNvSpPr>
            <a:spLocks noGrp="1"/>
          </p:cNvSpPr>
          <p:nvPr>
            <p:ph type="sldNum" sz="quarter" idx="5"/>
          </p:nvPr>
        </p:nvSpPr>
        <p:spPr/>
        <p:txBody>
          <a:bodyPr/>
          <a:lstStyle/>
          <a:p>
            <a:fld id="{4F57C094-21CE-47C2-B85E-15CC2B32E4F0}" type="slidenum">
              <a:rPr lang="en-SG" smtClean="0"/>
              <a:t>185</a:t>
            </a:fld>
            <a:endParaRPr lang="en-SG"/>
          </a:p>
        </p:txBody>
      </p:sp>
    </p:spTree>
    <p:extLst>
      <p:ext uri="{BB962C8B-B14F-4D97-AF65-F5344CB8AC3E}">
        <p14:creationId xmlns:p14="http://schemas.microsoft.com/office/powerpoint/2010/main" val="2674415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86C9-D0DE-C449-E394-FF86DB87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E7A182-AE34-5AAF-923C-AED111617D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41809-51C9-7634-2A25-4E0FE4366F0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3DDA498-440B-5478-8295-205B2BB12201}"/>
              </a:ext>
            </a:extLst>
          </p:cNvPr>
          <p:cNvSpPr>
            <a:spLocks noGrp="1"/>
          </p:cNvSpPr>
          <p:nvPr>
            <p:ph type="sldNum" sz="quarter" idx="5"/>
          </p:nvPr>
        </p:nvSpPr>
        <p:spPr/>
        <p:txBody>
          <a:bodyPr/>
          <a:lstStyle/>
          <a:p>
            <a:fld id="{4F57C094-21CE-47C2-B85E-15CC2B32E4F0}" type="slidenum">
              <a:rPr lang="en-SG" smtClean="0"/>
              <a:t>186</a:t>
            </a:fld>
            <a:endParaRPr lang="en-SG"/>
          </a:p>
        </p:txBody>
      </p:sp>
    </p:spTree>
    <p:extLst>
      <p:ext uri="{BB962C8B-B14F-4D97-AF65-F5344CB8AC3E}">
        <p14:creationId xmlns:p14="http://schemas.microsoft.com/office/powerpoint/2010/main" val="244875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0C23B-CF57-F971-A3E2-FA91D9407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92111-C9CB-0330-C9C9-78498709A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5F4D-9C64-B3D6-450A-A113597D594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869E19A-B909-281D-CEF7-73182D4D195E}"/>
              </a:ext>
            </a:extLst>
          </p:cNvPr>
          <p:cNvSpPr>
            <a:spLocks noGrp="1"/>
          </p:cNvSpPr>
          <p:nvPr>
            <p:ph type="sldNum" sz="quarter" idx="5"/>
          </p:nvPr>
        </p:nvSpPr>
        <p:spPr/>
        <p:txBody>
          <a:bodyPr/>
          <a:lstStyle/>
          <a:p>
            <a:fld id="{4F57C094-21CE-47C2-B85E-15CC2B32E4F0}" type="slidenum">
              <a:rPr lang="en-SG" smtClean="0"/>
              <a:t>187</a:t>
            </a:fld>
            <a:endParaRPr lang="en-SG"/>
          </a:p>
        </p:txBody>
      </p:sp>
    </p:spTree>
    <p:extLst>
      <p:ext uri="{BB962C8B-B14F-4D97-AF65-F5344CB8AC3E}">
        <p14:creationId xmlns:p14="http://schemas.microsoft.com/office/powerpoint/2010/main" val="42159191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481F-DF8B-5F1D-618C-587B1D336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1F19B-D02F-6DE5-4CA1-FF2669D1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010F8-C3AB-6C31-56D0-B908BCA0369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4D708F7-5634-E3A4-E2A1-08658D746FA5}"/>
              </a:ext>
            </a:extLst>
          </p:cNvPr>
          <p:cNvSpPr>
            <a:spLocks noGrp="1"/>
          </p:cNvSpPr>
          <p:nvPr>
            <p:ph type="sldNum" sz="quarter" idx="5"/>
          </p:nvPr>
        </p:nvSpPr>
        <p:spPr/>
        <p:txBody>
          <a:bodyPr/>
          <a:lstStyle/>
          <a:p>
            <a:fld id="{4F57C094-21CE-47C2-B85E-15CC2B32E4F0}" type="slidenum">
              <a:rPr lang="en-SG" smtClean="0"/>
              <a:t>188</a:t>
            </a:fld>
            <a:endParaRPr lang="en-SG"/>
          </a:p>
        </p:txBody>
      </p:sp>
    </p:spTree>
    <p:extLst>
      <p:ext uri="{BB962C8B-B14F-4D97-AF65-F5344CB8AC3E}">
        <p14:creationId xmlns:p14="http://schemas.microsoft.com/office/powerpoint/2010/main" val="2373556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5068-DA73-AB27-8634-D333E6F58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6A6B5D-BE7B-240E-E882-9C2C00DCA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148ED-3F87-A508-269C-DE3AEE8CD86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E572950-7BF9-96C5-D0F1-0645EF7433D1}"/>
              </a:ext>
            </a:extLst>
          </p:cNvPr>
          <p:cNvSpPr>
            <a:spLocks noGrp="1"/>
          </p:cNvSpPr>
          <p:nvPr>
            <p:ph type="sldNum" sz="quarter" idx="5"/>
          </p:nvPr>
        </p:nvSpPr>
        <p:spPr/>
        <p:txBody>
          <a:bodyPr/>
          <a:lstStyle/>
          <a:p>
            <a:fld id="{4F57C094-21CE-47C2-B85E-15CC2B32E4F0}" type="slidenum">
              <a:rPr lang="en-SG" smtClean="0"/>
              <a:t>193</a:t>
            </a:fld>
            <a:endParaRPr lang="en-SG"/>
          </a:p>
        </p:txBody>
      </p:sp>
    </p:spTree>
    <p:extLst>
      <p:ext uri="{BB962C8B-B14F-4D97-AF65-F5344CB8AC3E}">
        <p14:creationId xmlns:p14="http://schemas.microsoft.com/office/powerpoint/2010/main" val="26346666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7FA06-8C96-6D2C-855C-DE73EF0CD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D1D36-CE97-3F63-A78F-2CB5F479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EA971-B4BD-6E28-239D-3C64ABEBDEA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900478B-9C97-98D3-EDF3-4DE080907EBB}"/>
              </a:ext>
            </a:extLst>
          </p:cNvPr>
          <p:cNvSpPr>
            <a:spLocks noGrp="1"/>
          </p:cNvSpPr>
          <p:nvPr>
            <p:ph type="sldNum" sz="quarter" idx="5"/>
          </p:nvPr>
        </p:nvSpPr>
        <p:spPr/>
        <p:txBody>
          <a:bodyPr/>
          <a:lstStyle/>
          <a:p>
            <a:fld id="{4F57C094-21CE-47C2-B85E-15CC2B32E4F0}" type="slidenum">
              <a:rPr lang="en-SG" smtClean="0"/>
              <a:t>195</a:t>
            </a:fld>
            <a:endParaRPr lang="en-SG"/>
          </a:p>
        </p:txBody>
      </p:sp>
    </p:spTree>
    <p:extLst>
      <p:ext uri="{BB962C8B-B14F-4D97-AF65-F5344CB8AC3E}">
        <p14:creationId xmlns:p14="http://schemas.microsoft.com/office/powerpoint/2010/main" val="31810867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66E5-08BB-AFAA-6D43-830DAC5C9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C90FC-9E8C-71DC-39B5-1AD97AC7E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4B824E-90A5-3E23-2DDD-CC31B82A491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DF8BFA4-761F-65B7-5034-F48FC020C51D}"/>
              </a:ext>
            </a:extLst>
          </p:cNvPr>
          <p:cNvSpPr>
            <a:spLocks noGrp="1"/>
          </p:cNvSpPr>
          <p:nvPr>
            <p:ph type="sldNum" sz="quarter" idx="5"/>
          </p:nvPr>
        </p:nvSpPr>
        <p:spPr/>
        <p:txBody>
          <a:bodyPr/>
          <a:lstStyle/>
          <a:p>
            <a:fld id="{4F57C094-21CE-47C2-B85E-15CC2B32E4F0}" type="slidenum">
              <a:rPr lang="en-SG" smtClean="0"/>
              <a:t>196</a:t>
            </a:fld>
            <a:endParaRPr lang="en-SG"/>
          </a:p>
        </p:txBody>
      </p:sp>
    </p:spTree>
    <p:extLst>
      <p:ext uri="{BB962C8B-B14F-4D97-AF65-F5344CB8AC3E}">
        <p14:creationId xmlns:p14="http://schemas.microsoft.com/office/powerpoint/2010/main" val="12296518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8A6E7-CF09-B97F-4F6D-4463E494F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51C9A-21ED-7BA2-870D-E1A6C743E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E6F92-151D-DC56-02C2-287C5DC35219}"/>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4461FFE-FB84-7607-982E-6FDC97982AD5}"/>
              </a:ext>
            </a:extLst>
          </p:cNvPr>
          <p:cNvSpPr>
            <a:spLocks noGrp="1"/>
          </p:cNvSpPr>
          <p:nvPr>
            <p:ph type="sldNum" sz="quarter" idx="5"/>
          </p:nvPr>
        </p:nvSpPr>
        <p:spPr/>
        <p:txBody>
          <a:bodyPr/>
          <a:lstStyle/>
          <a:p>
            <a:fld id="{4F57C094-21CE-47C2-B85E-15CC2B32E4F0}" type="slidenum">
              <a:rPr lang="en-SG" smtClean="0"/>
              <a:t>197</a:t>
            </a:fld>
            <a:endParaRPr lang="en-SG"/>
          </a:p>
        </p:txBody>
      </p:sp>
    </p:spTree>
    <p:extLst>
      <p:ext uri="{BB962C8B-B14F-4D97-AF65-F5344CB8AC3E}">
        <p14:creationId xmlns:p14="http://schemas.microsoft.com/office/powerpoint/2010/main" val="8893835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B4694-0409-B936-ECBA-DB77E6539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1B97-FD59-DE37-40FF-0969BAEA0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9D10F-A148-A94B-D527-3808A3075D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DA341BF-5D61-B7B9-3C59-1547CF59BCE2}"/>
              </a:ext>
            </a:extLst>
          </p:cNvPr>
          <p:cNvSpPr>
            <a:spLocks noGrp="1"/>
          </p:cNvSpPr>
          <p:nvPr>
            <p:ph type="sldNum" sz="quarter" idx="5"/>
          </p:nvPr>
        </p:nvSpPr>
        <p:spPr/>
        <p:txBody>
          <a:bodyPr/>
          <a:lstStyle/>
          <a:p>
            <a:fld id="{4F57C094-21CE-47C2-B85E-15CC2B32E4F0}" type="slidenum">
              <a:rPr lang="en-SG" smtClean="0"/>
              <a:t>210</a:t>
            </a:fld>
            <a:endParaRPr lang="en-SG"/>
          </a:p>
        </p:txBody>
      </p:sp>
    </p:spTree>
    <p:extLst>
      <p:ext uri="{BB962C8B-B14F-4D97-AF65-F5344CB8AC3E}">
        <p14:creationId xmlns:p14="http://schemas.microsoft.com/office/powerpoint/2010/main" val="12279692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70403-DEA8-A4EF-F14F-A35569434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8353D-9437-0172-75BF-4CD0FABDD2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7E79A-ABD5-0A4A-CBF4-493A0D26EE6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F0EE3DF-A15F-CE9E-D70C-55429DCD2F02}"/>
              </a:ext>
            </a:extLst>
          </p:cNvPr>
          <p:cNvSpPr>
            <a:spLocks noGrp="1"/>
          </p:cNvSpPr>
          <p:nvPr>
            <p:ph type="sldNum" sz="quarter" idx="5"/>
          </p:nvPr>
        </p:nvSpPr>
        <p:spPr/>
        <p:txBody>
          <a:bodyPr/>
          <a:lstStyle/>
          <a:p>
            <a:fld id="{4F57C094-21CE-47C2-B85E-15CC2B32E4F0}" type="slidenum">
              <a:rPr lang="en-SG" smtClean="0"/>
              <a:t>211</a:t>
            </a:fld>
            <a:endParaRPr lang="en-SG"/>
          </a:p>
        </p:txBody>
      </p:sp>
    </p:spTree>
    <p:extLst>
      <p:ext uri="{BB962C8B-B14F-4D97-AF65-F5344CB8AC3E}">
        <p14:creationId xmlns:p14="http://schemas.microsoft.com/office/powerpoint/2010/main" val="196806825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AFB-30FE-C368-29FE-D9358E299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75504-001B-857B-F1CF-5AAB441D92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BB1F7-4D01-451B-08FB-F996907035B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0F8D0E1-8D4D-300A-C1E1-51450EE925F8}"/>
              </a:ext>
            </a:extLst>
          </p:cNvPr>
          <p:cNvSpPr>
            <a:spLocks noGrp="1"/>
          </p:cNvSpPr>
          <p:nvPr>
            <p:ph type="sldNum" sz="quarter" idx="5"/>
          </p:nvPr>
        </p:nvSpPr>
        <p:spPr/>
        <p:txBody>
          <a:bodyPr/>
          <a:lstStyle/>
          <a:p>
            <a:fld id="{4F57C094-21CE-47C2-B85E-15CC2B32E4F0}" type="slidenum">
              <a:rPr lang="en-SG" smtClean="0"/>
              <a:t>212</a:t>
            </a:fld>
            <a:endParaRPr lang="en-SG"/>
          </a:p>
        </p:txBody>
      </p:sp>
    </p:spTree>
    <p:extLst>
      <p:ext uri="{BB962C8B-B14F-4D97-AF65-F5344CB8AC3E}">
        <p14:creationId xmlns:p14="http://schemas.microsoft.com/office/powerpoint/2010/main" val="2357945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AB75-50B5-2459-9B63-DFAF0A1FE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DFB8F6-8891-89E0-37D6-B1FCB86C6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FB3CE-DEE9-B900-6BB5-553C89969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C771511-4FE3-B5EB-5009-A142CC0EBBC7}"/>
              </a:ext>
            </a:extLst>
          </p:cNvPr>
          <p:cNvSpPr>
            <a:spLocks noGrp="1"/>
          </p:cNvSpPr>
          <p:nvPr>
            <p:ph type="sldNum" sz="quarter" idx="5"/>
          </p:nvPr>
        </p:nvSpPr>
        <p:spPr/>
        <p:txBody>
          <a:bodyPr/>
          <a:lstStyle/>
          <a:p>
            <a:fld id="{4F57C094-21CE-47C2-B85E-15CC2B32E4F0}" type="slidenum">
              <a:rPr lang="en-SG" smtClean="0"/>
              <a:t>213</a:t>
            </a:fld>
            <a:endParaRPr lang="en-SG"/>
          </a:p>
        </p:txBody>
      </p:sp>
    </p:spTree>
    <p:extLst>
      <p:ext uri="{BB962C8B-B14F-4D97-AF65-F5344CB8AC3E}">
        <p14:creationId xmlns:p14="http://schemas.microsoft.com/office/powerpoint/2010/main" val="25836034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F937B-CC13-3BEC-2CBF-50058D708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51EA1C-C900-3D69-42C9-DD4A28A7FC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4DB573-F15D-6146-12FF-23892E494DC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9A1539-90E3-8B1C-088A-7323A1B6B79F}"/>
              </a:ext>
            </a:extLst>
          </p:cNvPr>
          <p:cNvSpPr>
            <a:spLocks noGrp="1"/>
          </p:cNvSpPr>
          <p:nvPr>
            <p:ph type="sldNum" sz="quarter" idx="5"/>
          </p:nvPr>
        </p:nvSpPr>
        <p:spPr/>
        <p:txBody>
          <a:bodyPr/>
          <a:lstStyle/>
          <a:p>
            <a:fld id="{4F57C094-21CE-47C2-B85E-15CC2B32E4F0}" type="slidenum">
              <a:rPr lang="en-SG" smtClean="0"/>
              <a:t>215</a:t>
            </a:fld>
            <a:endParaRPr lang="en-SG"/>
          </a:p>
        </p:txBody>
      </p:sp>
    </p:spTree>
    <p:extLst>
      <p:ext uri="{BB962C8B-B14F-4D97-AF65-F5344CB8AC3E}">
        <p14:creationId xmlns:p14="http://schemas.microsoft.com/office/powerpoint/2010/main" val="37950584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7327-E9DD-38E8-5C38-8C50BBE3E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6CC2F5-8C16-6BB8-4D5E-6DBDC2CE3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B4E26-DD08-6B54-2530-7AEA184C6F7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C781286-22BC-B9DE-767A-E55798EDA9AB}"/>
              </a:ext>
            </a:extLst>
          </p:cNvPr>
          <p:cNvSpPr>
            <a:spLocks noGrp="1"/>
          </p:cNvSpPr>
          <p:nvPr>
            <p:ph type="sldNum" sz="quarter" idx="5"/>
          </p:nvPr>
        </p:nvSpPr>
        <p:spPr/>
        <p:txBody>
          <a:bodyPr/>
          <a:lstStyle/>
          <a:p>
            <a:fld id="{4F57C094-21CE-47C2-B85E-15CC2B32E4F0}" type="slidenum">
              <a:rPr lang="en-SG" smtClean="0"/>
              <a:t>216</a:t>
            </a:fld>
            <a:endParaRPr lang="en-SG"/>
          </a:p>
        </p:txBody>
      </p:sp>
    </p:spTree>
    <p:extLst>
      <p:ext uri="{BB962C8B-B14F-4D97-AF65-F5344CB8AC3E}">
        <p14:creationId xmlns:p14="http://schemas.microsoft.com/office/powerpoint/2010/main" val="6270092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19E66-71D7-1AEC-2AD0-99A2C0DEB3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99FC3-33A8-B568-78FC-EB84A3A79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B1A82-3BE2-074A-C42F-89BAC9DE79E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04ACED71-9206-7FCB-CAF8-92808C16FF22}"/>
              </a:ext>
            </a:extLst>
          </p:cNvPr>
          <p:cNvSpPr>
            <a:spLocks noGrp="1"/>
          </p:cNvSpPr>
          <p:nvPr>
            <p:ph type="sldNum" sz="quarter" idx="5"/>
          </p:nvPr>
        </p:nvSpPr>
        <p:spPr/>
        <p:txBody>
          <a:bodyPr/>
          <a:lstStyle/>
          <a:p>
            <a:fld id="{4F57C094-21CE-47C2-B85E-15CC2B32E4F0}" type="slidenum">
              <a:rPr lang="en-SG" smtClean="0"/>
              <a:t>218</a:t>
            </a:fld>
            <a:endParaRPr lang="en-SG"/>
          </a:p>
        </p:txBody>
      </p:sp>
    </p:spTree>
    <p:extLst>
      <p:ext uri="{BB962C8B-B14F-4D97-AF65-F5344CB8AC3E}">
        <p14:creationId xmlns:p14="http://schemas.microsoft.com/office/powerpoint/2010/main" val="29391619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E3C0B-37E3-8A85-024E-2252024100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EB4D7-7305-B403-6746-29D497AFA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9ED1B-2698-6F2D-9B1D-A07AB2C15B9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DFA0989-2172-8DB8-AE3D-7A383178BD12}"/>
              </a:ext>
            </a:extLst>
          </p:cNvPr>
          <p:cNvSpPr>
            <a:spLocks noGrp="1"/>
          </p:cNvSpPr>
          <p:nvPr>
            <p:ph type="sldNum" sz="quarter" idx="5"/>
          </p:nvPr>
        </p:nvSpPr>
        <p:spPr/>
        <p:txBody>
          <a:bodyPr/>
          <a:lstStyle/>
          <a:p>
            <a:fld id="{4F57C094-21CE-47C2-B85E-15CC2B32E4F0}" type="slidenum">
              <a:rPr lang="en-SG" smtClean="0"/>
              <a:t>219</a:t>
            </a:fld>
            <a:endParaRPr lang="en-SG"/>
          </a:p>
        </p:txBody>
      </p:sp>
    </p:spTree>
    <p:extLst>
      <p:ext uri="{BB962C8B-B14F-4D97-AF65-F5344CB8AC3E}">
        <p14:creationId xmlns:p14="http://schemas.microsoft.com/office/powerpoint/2010/main" val="16127284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3E77C-0231-B711-2B55-28E5685CE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2D90A-2638-73F8-202C-E2491BB9E3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D2BD7B-3DA2-A820-2905-5243BCF5146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DAFB366E-7084-981E-358E-4DF5EFB35B35}"/>
              </a:ext>
            </a:extLst>
          </p:cNvPr>
          <p:cNvSpPr>
            <a:spLocks noGrp="1"/>
          </p:cNvSpPr>
          <p:nvPr>
            <p:ph type="sldNum" sz="quarter" idx="5"/>
          </p:nvPr>
        </p:nvSpPr>
        <p:spPr/>
        <p:txBody>
          <a:bodyPr/>
          <a:lstStyle/>
          <a:p>
            <a:fld id="{4F57C094-21CE-47C2-B85E-15CC2B32E4F0}" type="slidenum">
              <a:rPr lang="en-SG" smtClean="0"/>
              <a:t>221</a:t>
            </a:fld>
            <a:endParaRPr lang="en-SG"/>
          </a:p>
        </p:txBody>
      </p:sp>
    </p:spTree>
    <p:extLst>
      <p:ext uri="{BB962C8B-B14F-4D97-AF65-F5344CB8AC3E}">
        <p14:creationId xmlns:p14="http://schemas.microsoft.com/office/powerpoint/2010/main" val="3925089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43F7-0DBA-9C31-0B9D-132E59236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458D4F-B14E-8F7D-78CF-2A6EFF834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C51EE-2BFD-6FE3-A4BD-9C2901650E8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B1DB36D-F112-9DEA-F1A4-73ED73F41A10}"/>
              </a:ext>
            </a:extLst>
          </p:cNvPr>
          <p:cNvSpPr>
            <a:spLocks noGrp="1"/>
          </p:cNvSpPr>
          <p:nvPr>
            <p:ph type="sldNum" sz="quarter" idx="5"/>
          </p:nvPr>
        </p:nvSpPr>
        <p:spPr/>
        <p:txBody>
          <a:bodyPr/>
          <a:lstStyle/>
          <a:p>
            <a:fld id="{4F57C094-21CE-47C2-B85E-15CC2B32E4F0}" type="slidenum">
              <a:rPr lang="en-SG" smtClean="0"/>
              <a:t>222</a:t>
            </a:fld>
            <a:endParaRPr lang="en-SG"/>
          </a:p>
        </p:txBody>
      </p:sp>
    </p:spTree>
    <p:extLst>
      <p:ext uri="{BB962C8B-B14F-4D97-AF65-F5344CB8AC3E}">
        <p14:creationId xmlns:p14="http://schemas.microsoft.com/office/powerpoint/2010/main" val="6474347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4E4BF-FCD2-A670-2F11-05B4E6535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F1735-3805-E213-F358-EEAAFA9EE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45D16-E0F4-A6C0-F7B2-743236DA62E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D576525-0CA9-94FD-8EC7-4E3BECAC5296}"/>
              </a:ext>
            </a:extLst>
          </p:cNvPr>
          <p:cNvSpPr>
            <a:spLocks noGrp="1"/>
          </p:cNvSpPr>
          <p:nvPr>
            <p:ph type="sldNum" sz="quarter" idx="5"/>
          </p:nvPr>
        </p:nvSpPr>
        <p:spPr/>
        <p:txBody>
          <a:bodyPr/>
          <a:lstStyle/>
          <a:p>
            <a:fld id="{4F57C094-21CE-47C2-B85E-15CC2B32E4F0}" type="slidenum">
              <a:rPr lang="en-SG" smtClean="0"/>
              <a:t>223</a:t>
            </a:fld>
            <a:endParaRPr lang="en-SG"/>
          </a:p>
        </p:txBody>
      </p:sp>
    </p:spTree>
    <p:extLst>
      <p:ext uri="{BB962C8B-B14F-4D97-AF65-F5344CB8AC3E}">
        <p14:creationId xmlns:p14="http://schemas.microsoft.com/office/powerpoint/2010/main" val="303955996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0E917-B92F-F2F3-3E25-78CD6A19C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44CDC-FD55-0810-DB7B-11E708D0E3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B31B0-9E52-715B-FBE7-6A24D2515A7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D328ACB-2853-CCC0-F61C-0A2B6FE1EFF4}"/>
              </a:ext>
            </a:extLst>
          </p:cNvPr>
          <p:cNvSpPr>
            <a:spLocks noGrp="1"/>
          </p:cNvSpPr>
          <p:nvPr>
            <p:ph type="sldNum" sz="quarter" idx="5"/>
          </p:nvPr>
        </p:nvSpPr>
        <p:spPr/>
        <p:txBody>
          <a:bodyPr/>
          <a:lstStyle/>
          <a:p>
            <a:fld id="{4F57C094-21CE-47C2-B85E-15CC2B32E4F0}" type="slidenum">
              <a:rPr lang="en-SG" smtClean="0"/>
              <a:t>236</a:t>
            </a:fld>
            <a:endParaRPr lang="en-SG"/>
          </a:p>
        </p:txBody>
      </p:sp>
    </p:spTree>
    <p:extLst>
      <p:ext uri="{BB962C8B-B14F-4D97-AF65-F5344CB8AC3E}">
        <p14:creationId xmlns:p14="http://schemas.microsoft.com/office/powerpoint/2010/main" val="29772079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A4FEC-27C1-230E-2EA8-3AE1329D6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5B0-2D7C-2D53-EC7D-8CA349990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B5D3E-A53D-98DB-E3E5-8325EFF7280D}"/>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AB20166-6EC4-BEF7-1B2D-167E17AFDDB4}"/>
              </a:ext>
            </a:extLst>
          </p:cNvPr>
          <p:cNvSpPr>
            <a:spLocks noGrp="1"/>
          </p:cNvSpPr>
          <p:nvPr>
            <p:ph type="sldNum" sz="quarter" idx="5"/>
          </p:nvPr>
        </p:nvSpPr>
        <p:spPr/>
        <p:txBody>
          <a:bodyPr/>
          <a:lstStyle/>
          <a:p>
            <a:fld id="{4F57C094-21CE-47C2-B85E-15CC2B32E4F0}" type="slidenum">
              <a:rPr lang="en-SG" smtClean="0"/>
              <a:t>237</a:t>
            </a:fld>
            <a:endParaRPr lang="en-SG"/>
          </a:p>
        </p:txBody>
      </p:sp>
    </p:spTree>
    <p:extLst>
      <p:ext uri="{BB962C8B-B14F-4D97-AF65-F5344CB8AC3E}">
        <p14:creationId xmlns:p14="http://schemas.microsoft.com/office/powerpoint/2010/main" val="28252237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4CAEE-EA6B-9518-0D11-74C3C3E85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6FB7B-DCFF-4710-05EA-EE09DDB9F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E6AC4B-6160-3E28-C4F5-AD13676280F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7C93671-E2ED-D925-BE59-A7E26712B12E}"/>
              </a:ext>
            </a:extLst>
          </p:cNvPr>
          <p:cNvSpPr>
            <a:spLocks noGrp="1"/>
          </p:cNvSpPr>
          <p:nvPr>
            <p:ph type="sldNum" sz="quarter" idx="5"/>
          </p:nvPr>
        </p:nvSpPr>
        <p:spPr/>
        <p:txBody>
          <a:bodyPr/>
          <a:lstStyle/>
          <a:p>
            <a:fld id="{4F57C094-21CE-47C2-B85E-15CC2B32E4F0}" type="slidenum">
              <a:rPr lang="en-SG" smtClean="0"/>
              <a:t>238</a:t>
            </a:fld>
            <a:endParaRPr lang="en-SG"/>
          </a:p>
        </p:txBody>
      </p:sp>
    </p:spTree>
    <p:extLst>
      <p:ext uri="{BB962C8B-B14F-4D97-AF65-F5344CB8AC3E}">
        <p14:creationId xmlns:p14="http://schemas.microsoft.com/office/powerpoint/2010/main" val="32375119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D4278-28CA-62FD-89E2-4842FE6EF8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949ADC-F530-A930-56BB-6EC55FE0DD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30ADE-E9A1-757F-23D2-E1A2ED66930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BE69D1C7-E74A-AD72-28D6-7EAD40D5CECA}"/>
              </a:ext>
            </a:extLst>
          </p:cNvPr>
          <p:cNvSpPr>
            <a:spLocks noGrp="1"/>
          </p:cNvSpPr>
          <p:nvPr>
            <p:ph type="sldNum" sz="quarter" idx="5"/>
          </p:nvPr>
        </p:nvSpPr>
        <p:spPr/>
        <p:txBody>
          <a:bodyPr/>
          <a:lstStyle/>
          <a:p>
            <a:fld id="{4F57C094-21CE-47C2-B85E-15CC2B32E4F0}" type="slidenum">
              <a:rPr lang="en-SG" smtClean="0"/>
              <a:t>239</a:t>
            </a:fld>
            <a:endParaRPr lang="en-SG"/>
          </a:p>
        </p:txBody>
      </p:sp>
    </p:spTree>
    <p:extLst>
      <p:ext uri="{BB962C8B-B14F-4D97-AF65-F5344CB8AC3E}">
        <p14:creationId xmlns:p14="http://schemas.microsoft.com/office/powerpoint/2010/main" val="35066446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42E1D-E328-4123-8454-0EF607E63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F553EE-30F4-945A-77FE-2DD26BAD7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38A6B-6F10-D20B-B7BC-13D112D5CB5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BAF98A4-AA5E-DA9B-F4F4-DB99BD9A8C36}"/>
              </a:ext>
            </a:extLst>
          </p:cNvPr>
          <p:cNvSpPr>
            <a:spLocks noGrp="1"/>
          </p:cNvSpPr>
          <p:nvPr>
            <p:ph type="sldNum" sz="quarter" idx="5"/>
          </p:nvPr>
        </p:nvSpPr>
        <p:spPr/>
        <p:txBody>
          <a:bodyPr/>
          <a:lstStyle/>
          <a:p>
            <a:fld id="{4F57C094-21CE-47C2-B85E-15CC2B32E4F0}" type="slidenum">
              <a:rPr lang="en-SG" smtClean="0"/>
              <a:t>243</a:t>
            </a:fld>
            <a:endParaRPr lang="en-SG"/>
          </a:p>
        </p:txBody>
      </p:sp>
    </p:spTree>
    <p:extLst>
      <p:ext uri="{BB962C8B-B14F-4D97-AF65-F5344CB8AC3E}">
        <p14:creationId xmlns:p14="http://schemas.microsoft.com/office/powerpoint/2010/main" val="16496126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602EF-1694-2E43-005F-25A4DEF25C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37F2EA-5B38-57F1-58D6-36D755A49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67B254-C091-776B-32AA-BD41169F42C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63C847-7B67-5FC9-347A-9DF8D29A673D}"/>
              </a:ext>
            </a:extLst>
          </p:cNvPr>
          <p:cNvSpPr>
            <a:spLocks noGrp="1"/>
          </p:cNvSpPr>
          <p:nvPr>
            <p:ph type="sldNum" sz="quarter" idx="5"/>
          </p:nvPr>
        </p:nvSpPr>
        <p:spPr/>
        <p:txBody>
          <a:bodyPr/>
          <a:lstStyle/>
          <a:p>
            <a:fld id="{4F57C094-21CE-47C2-B85E-15CC2B32E4F0}" type="slidenum">
              <a:rPr lang="en-SG" smtClean="0"/>
              <a:t>249</a:t>
            </a:fld>
            <a:endParaRPr lang="en-SG"/>
          </a:p>
        </p:txBody>
      </p:sp>
    </p:spTree>
    <p:extLst>
      <p:ext uri="{BB962C8B-B14F-4D97-AF65-F5344CB8AC3E}">
        <p14:creationId xmlns:p14="http://schemas.microsoft.com/office/powerpoint/2010/main" val="3021329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82860-AE90-59FC-863C-F5C38EBC55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6738A-95AA-3750-1245-03AB273303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65C73F-9356-A1D4-FF70-AB0D67A9907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4D92FB9-21C2-32F4-6340-D7D749500703}"/>
              </a:ext>
            </a:extLst>
          </p:cNvPr>
          <p:cNvSpPr>
            <a:spLocks noGrp="1"/>
          </p:cNvSpPr>
          <p:nvPr>
            <p:ph type="sldNum" sz="quarter" idx="5"/>
          </p:nvPr>
        </p:nvSpPr>
        <p:spPr/>
        <p:txBody>
          <a:bodyPr/>
          <a:lstStyle/>
          <a:p>
            <a:fld id="{4F57C094-21CE-47C2-B85E-15CC2B32E4F0}" type="slidenum">
              <a:rPr lang="en-SG" smtClean="0"/>
              <a:t>252</a:t>
            </a:fld>
            <a:endParaRPr lang="en-SG"/>
          </a:p>
        </p:txBody>
      </p:sp>
    </p:spTree>
    <p:extLst>
      <p:ext uri="{BB962C8B-B14F-4D97-AF65-F5344CB8AC3E}">
        <p14:creationId xmlns:p14="http://schemas.microsoft.com/office/powerpoint/2010/main" val="39234743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261</a:t>
            </a:fld>
            <a:endParaRPr lang="en-SG"/>
          </a:p>
        </p:txBody>
      </p:sp>
    </p:spTree>
    <p:extLst>
      <p:ext uri="{BB962C8B-B14F-4D97-AF65-F5344CB8AC3E}">
        <p14:creationId xmlns:p14="http://schemas.microsoft.com/office/powerpoint/2010/main" val="1677635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Python Crash Course 2025</a:t>
            </a:r>
          </a:p>
        </p:txBody>
      </p:sp>
      <p:sp>
        <p:nvSpPr>
          <p:cNvPr id="3" name="Subtitle 2"/>
          <p:cNvSpPr>
            <a:spLocks noGrp="1"/>
          </p:cNvSpPr>
          <p:nvPr>
            <p:ph type="subTitle" idx="1"/>
          </p:nvPr>
        </p:nvSpPr>
        <p:spPr>
          <a:xfrm>
            <a:off x="1371600" y="4902200"/>
            <a:ext cx="6400800" cy="736600"/>
          </a:xfrm>
        </p:spPr>
        <p:txBody>
          <a:bodyPr/>
          <a:lstStyle/>
          <a:p>
            <a:r>
              <a:rPr dirty="0"/>
              <a:t>Instructor: Sean Wong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Overview</a:t>
            </a:r>
          </a:p>
        </p:txBody>
      </p:sp>
      <p:sp>
        <p:nvSpPr>
          <p:cNvPr id="3" name="Content Placeholder 2"/>
          <p:cNvSpPr>
            <a:spLocks noGrp="1"/>
          </p:cNvSpPr>
          <p:nvPr>
            <p:ph idx="1"/>
          </p:nvPr>
        </p:nvSpPr>
        <p:spPr>
          <a:xfrm>
            <a:off x="457200" y="1600200"/>
            <a:ext cx="9080500" cy="4525963"/>
          </a:xfrm>
        </p:spPr>
        <p:txBody>
          <a:bodyPr/>
          <a:lstStyle/>
          <a:p>
            <a:r>
              <a:rPr dirty="0"/>
              <a:t>Hands-on, example-driven Python training</a:t>
            </a:r>
          </a:p>
          <a:p>
            <a:r>
              <a:rPr dirty="0"/>
              <a:t>Focus on real mental models, not just syntax</a:t>
            </a:r>
          </a:p>
          <a:p>
            <a:r>
              <a:rPr dirty="0"/>
              <a:t>Build confidence from beginner to advanced topics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Roadmap</a:t>
            </a:r>
          </a:p>
        </p:txBody>
      </p:sp>
      <p:sp>
        <p:nvSpPr>
          <p:cNvPr id="3" name="Content Placeholder 2"/>
          <p:cNvSpPr>
            <a:spLocks noGrp="1"/>
          </p:cNvSpPr>
          <p:nvPr>
            <p:ph idx="1"/>
          </p:nvPr>
        </p:nvSpPr>
        <p:spPr>
          <a:xfrm>
            <a:off x="457200" y="1600200"/>
            <a:ext cx="9880600" cy="4525963"/>
          </a:xfrm>
        </p:spPr>
        <p:txBody>
          <a:bodyPr/>
          <a:lstStyle/>
          <a:p>
            <a:r>
              <a:rPr dirty="0"/>
              <a:t>Module 1 – Foundations: Core language &amp; thinking in Python</a:t>
            </a:r>
          </a:p>
          <a:p>
            <a:r>
              <a:rPr dirty="0"/>
              <a:t>Module 2 – Intermediate: OOP, modules, files, structure</a:t>
            </a:r>
          </a:p>
          <a:p>
            <a:r>
              <a:rPr dirty="0"/>
              <a:t>Module 3 – Advanced: Performance, async, tooling</a:t>
            </a:r>
          </a:p>
          <a:p>
            <a:r>
              <a:rPr dirty="0"/>
              <a:t>Appendix – Ecosystem &amp; next steps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Module 1  FOUNDATION</a:t>
            </a:r>
            <a:r>
              <a:rPr lang="en-SG" dirty="0"/>
              <a:t>S</a:t>
            </a:r>
            <a:endParaRPr dirty="0"/>
          </a:p>
        </p:txBody>
      </p:sp>
      <p:sp>
        <p:nvSpPr>
          <p:cNvPr id="3" name="Subtitle 2"/>
          <p:cNvSpPr>
            <a:spLocks noGrp="1"/>
          </p:cNvSpPr>
          <p:nvPr>
            <p:ph type="subTitle" idx="1"/>
          </p:nvPr>
        </p:nvSpPr>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1 — Foundations</a:t>
            </a:r>
          </a:p>
        </p:txBody>
      </p:sp>
      <p:sp>
        <p:nvSpPr>
          <p:cNvPr id="3" name="Content Placeholder 2"/>
          <p:cNvSpPr>
            <a:spLocks noGrp="1"/>
          </p:cNvSpPr>
          <p:nvPr>
            <p:ph idx="1"/>
          </p:nvPr>
        </p:nvSpPr>
        <p:spPr/>
        <p:txBody>
          <a:bodyPr/>
          <a:lstStyle/>
          <a:p>
            <a:r>
              <a:t>Understand how Python executes code</a:t>
            </a:r>
          </a:p>
          <a:p>
            <a:r>
              <a:t>Learn core syntax and built-in types</a:t>
            </a:r>
          </a:p>
          <a:p>
            <a:r>
              <a:t>Build correct mental models early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Python?</a:t>
            </a:r>
          </a:p>
        </p:txBody>
      </p:sp>
      <p:sp>
        <p:nvSpPr>
          <p:cNvPr id="3" name="Content Placeholder 2"/>
          <p:cNvSpPr>
            <a:spLocks noGrp="1"/>
          </p:cNvSpPr>
          <p:nvPr>
            <p:ph idx="1"/>
          </p:nvPr>
        </p:nvSpPr>
        <p:spPr/>
        <p:txBody>
          <a:bodyPr/>
          <a:lstStyle/>
          <a:p>
            <a:r>
              <a:t>High-level, interpreted programming language</a:t>
            </a:r>
          </a:p>
          <a:p>
            <a:r>
              <a:t>Executed at runtime by the Python interpreter</a:t>
            </a:r>
          </a:p>
          <a:p>
            <a:r>
              <a:t>Designed for readability and productivity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11650-6BF8-66F2-B486-E0858DDD5B45}"/>
              </a:ext>
            </a:extLst>
          </p:cNvPr>
          <p:cNvSpPr>
            <a:spLocks noGrp="1"/>
          </p:cNvSpPr>
          <p:nvPr>
            <p:ph type="title"/>
          </p:nvPr>
        </p:nvSpPr>
        <p:spPr/>
        <p:txBody>
          <a:bodyPr>
            <a:normAutofit/>
          </a:bodyPr>
          <a:lstStyle/>
          <a:p>
            <a:r>
              <a:rPr lang="en-US" dirty="0"/>
              <a:t>How Python Really Runs</a:t>
            </a:r>
            <a:endParaRPr lang="en-SG" dirty="0"/>
          </a:p>
        </p:txBody>
      </p:sp>
      <p:sp>
        <p:nvSpPr>
          <p:cNvPr id="3" name="Content Placeholder 2">
            <a:extLst>
              <a:ext uri="{FF2B5EF4-FFF2-40B4-BE49-F238E27FC236}">
                <a16:creationId xmlns:a16="http://schemas.microsoft.com/office/drawing/2014/main" id="{3EAEEAA0-5B6B-EC0F-FE8C-076B7BF5907C}"/>
              </a:ext>
            </a:extLst>
          </p:cNvPr>
          <p:cNvSpPr>
            <a:spLocks noGrp="1"/>
          </p:cNvSpPr>
          <p:nvPr>
            <p:ph idx="1"/>
          </p:nvPr>
        </p:nvSpPr>
        <p:spPr>
          <a:xfrm>
            <a:off x="457200" y="1600200"/>
            <a:ext cx="11239500" cy="4525963"/>
          </a:xfrm>
        </p:spPr>
        <p:txBody>
          <a:bodyPr>
            <a:normAutofit/>
          </a:bodyPr>
          <a:lstStyle/>
          <a:p>
            <a:r>
              <a:rPr lang="en-US" dirty="0"/>
              <a:t>Source code is compiled to </a:t>
            </a:r>
            <a:r>
              <a:rPr lang="en-US" b="1" dirty="0"/>
              <a:t>bytecode</a:t>
            </a:r>
            <a:endParaRPr lang="en-US" dirty="0"/>
          </a:p>
          <a:p>
            <a:r>
              <a:rPr lang="en-US" dirty="0"/>
              <a:t>Bytecode runs on the </a:t>
            </a:r>
            <a:r>
              <a:rPr lang="en-US" b="1" dirty="0"/>
              <a:t>Python Virtual Machine (PVM)</a:t>
            </a:r>
          </a:p>
          <a:p>
            <a:pPr marL="0" indent="0">
              <a:buNone/>
            </a:pPr>
            <a:r>
              <a:rPr lang="en-US" dirty="0"/>
              <a:t>Source → bytecode → Python Virtual Machine</a:t>
            </a:r>
          </a:p>
          <a:p>
            <a:r>
              <a:rPr lang="en-US" dirty="0"/>
              <a:t>Everything is an object; variables are references</a:t>
            </a:r>
          </a:p>
          <a:p>
            <a:r>
              <a:rPr lang="en-US" dirty="0"/>
              <a:t>Execution is </a:t>
            </a:r>
            <a:r>
              <a:rPr lang="en-US" b="1" dirty="0"/>
              <a:t>top-down, explicit, and predictable</a:t>
            </a:r>
            <a:endParaRPr lang="en-US" dirty="0"/>
          </a:p>
          <a:p>
            <a:r>
              <a:rPr lang="en-US" dirty="0"/>
              <a:t>Performance issues come from </a:t>
            </a:r>
            <a:r>
              <a:rPr lang="en-US" b="1" dirty="0"/>
              <a:t>design choices</a:t>
            </a:r>
            <a:r>
              <a:rPr lang="en-US" dirty="0"/>
              <a:t>, not syntax</a:t>
            </a:r>
          </a:p>
          <a:p>
            <a:r>
              <a:rPr lang="en-US" b="1" dirty="0"/>
              <a:t>Mental model:</a:t>
            </a:r>
            <a:r>
              <a:rPr lang="en-US" dirty="0"/>
              <a:t> Python is </a:t>
            </a:r>
            <a:r>
              <a:rPr lang="en-US" i="1" dirty="0"/>
              <a:t>interpreted</a:t>
            </a:r>
            <a:r>
              <a:rPr lang="en-US" dirty="0"/>
              <a:t>, but not </a:t>
            </a:r>
            <a:r>
              <a:rPr lang="en-US" i="1" dirty="0"/>
              <a:t>uncompiled</a:t>
            </a:r>
            <a:endParaRPr lang="en-US" dirty="0"/>
          </a:p>
          <a:p>
            <a:endParaRPr lang="en-SG" dirty="0"/>
          </a:p>
        </p:txBody>
      </p:sp>
    </p:spTree>
    <p:extLst>
      <p:ext uri="{BB962C8B-B14F-4D97-AF65-F5344CB8AC3E}">
        <p14:creationId xmlns:p14="http://schemas.microsoft.com/office/powerpoint/2010/main" val="19177088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E06CD-12B8-DB88-8753-84AF54434805}"/>
              </a:ext>
            </a:extLst>
          </p:cNvPr>
          <p:cNvSpPr>
            <a:spLocks noGrp="1"/>
          </p:cNvSpPr>
          <p:nvPr>
            <p:ph type="title"/>
          </p:nvPr>
        </p:nvSpPr>
        <p:spPr/>
        <p:txBody>
          <a:bodyPr/>
          <a:lstStyle/>
          <a:p>
            <a:r>
              <a:rPr lang="en-US" b="1" dirty="0"/>
              <a:t>The Pythonic Philosophy</a:t>
            </a:r>
            <a:endParaRPr lang="en-SG" dirty="0"/>
          </a:p>
        </p:txBody>
      </p:sp>
      <p:sp>
        <p:nvSpPr>
          <p:cNvPr id="3" name="Content Placeholder 2">
            <a:extLst>
              <a:ext uri="{FF2B5EF4-FFF2-40B4-BE49-F238E27FC236}">
                <a16:creationId xmlns:a16="http://schemas.microsoft.com/office/drawing/2014/main" id="{7DBF055D-5F73-E9B7-4399-E8F1E9E487E7}"/>
              </a:ext>
            </a:extLst>
          </p:cNvPr>
          <p:cNvSpPr>
            <a:spLocks noGrp="1"/>
          </p:cNvSpPr>
          <p:nvPr>
            <p:ph idx="1"/>
          </p:nvPr>
        </p:nvSpPr>
        <p:spPr/>
        <p:txBody>
          <a:bodyPr>
            <a:normAutofit fontScale="92500"/>
          </a:bodyPr>
          <a:lstStyle/>
          <a:p>
            <a:r>
              <a:rPr lang="en-US" b="1" dirty="0"/>
              <a:t>The Zen of Python (PEP 20):</a:t>
            </a:r>
            <a:r>
              <a:rPr lang="en-US" dirty="0"/>
              <a:t> "Explicit is better than implicit" and "Simple is better than complex."</a:t>
            </a:r>
          </a:p>
          <a:p>
            <a:r>
              <a:rPr lang="en-US" b="1" dirty="0"/>
              <a:t>Interpreted Nature:</a:t>
            </a:r>
            <a:r>
              <a:rPr lang="en-US" dirty="0"/>
              <a:t> Python code is compiled into </a:t>
            </a:r>
            <a:r>
              <a:rPr lang="en-US" b="1" dirty="0"/>
              <a:t>bytecode</a:t>
            </a:r>
            <a:r>
              <a:rPr lang="en-US" dirty="0"/>
              <a:t> and executed by the Python Virtual Machine (PVM).</a:t>
            </a:r>
          </a:p>
          <a:p>
            <a:r>
              <a:rPr lang="en-US" b="1" dirty="0"/>
              <a:t>Strong, Dynamic Typing:</a:t>
            </a:r>
            <a:r>
              <a:rPr lang="en-US" dirty="0"/>
              <a:t> Types are enforced at runtime, but variables can change type (though this should be used cautiously in engineering).</a:t>
            </a:r>
          </a:p>
          <a:p>
            <a:endParaRPr lang="en-SG" dirty="0"/>
          </a:p>
        </p:txBody>
      </p:sp>
    </p:spTree>
    <p:extLst>
      <p:ext uri="{BB962C8B-B14F-4D97-AF65-F5344CB8AC3E}">
        <p14:creationId xmlns:p14="http://schemas.microsoft.com/office/powerpoint/2010/main" val="1098652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r>
              <a:rPr lang="en-US" sz="2400" dirty="0"/>
              <a:t>Clean, indentation-based syntax</a:t>
            </a:r>
          </a:p>
          <a:p>
            <a:r>
              <a:rPr lang="en-US" sz="2400" dirty="0"/>
              <a:t>Huge standard library ("batteries included")</a:t>
            </a:r>
          </a:p>
          <a:p>
            <a:r>
              <a:rPr lang="en-US" sz="2400" dirty="0"/>
              <a:t>Massive ecosystem and community</a:t>
            </a:r>
          </a:p>
          <a:p>
            <a:r>
              <a:rPr lang="en-US" sz="2400" dirty="0"/>
              <a:t>Used in web, data, automation, AI, DevOps</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Running Python</a:t>
            </a:r>
          </a:p>
        </p:txBody>
      </p:sp>
      <p:sp>
        <p:nvSpPr>
          <p:cNvPr id="3" name="Content Placeholder 2"/>
          <p:cNvSpPr>
            <a:spLocks noGrp="1"/>
          </p:cNvSpPr>
          <p:nvPr>
            <p:ph idx="1"/>
          </p:nvPr>
        </p:nvSpPr>
        <p:spPr/>
        <p:txBody>
          <a:bodyPr/>
          <a:lstStyle/>
          <a:p>
            <a:r>
              <a:t>Interactive mode (REPL) for experimentation</a:t>
            </a:r>
          </a:p>
          <a:p>
            <a:r>
              <a:t>Script mode for real programs</a:t>
            </a:r>
          </a:p>
          <a:p>
            <a:r>
              <a:t>Python files use the .py extension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Your First Program</a:t>
            </a:r>
          </a:p>
        </p:txBody>
      </p:sp>
      <p:sp>
        <p:nvSpPr>
          <p:cNvPr id="3" name="Content Placeholder 2"/>
          <p:cNvSpPr>
            <a:spLocks noGrp="1"/>
          </p:cNvSpPr>
          <p:nvPr>
            <p:ph idx="1"/>
          </p:nvPr>
        </p:nvSpPr>
        <p:spPr/>
        <p:txBody>
          <a:bodyPr/>
          <a:lstStyle/>
          <a:p>
            <a:r>
              <a:t>print() outputs text to the console</a:t>
            </a:r>
          </a:p>
          <a:p>
            <a:r>
              <a:t>Python is case-sensitive</a:t>
            </a:r>
          </a:p>
          <a:p>
            <a:r>
              <a:t>Programs execute top to bottom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2116886"/>
            <a:ext cx="4965700" cy="2419124"/>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2800" dirty="0"/>
              <a:t>No type declarations required</a:t>
            </a:r>
          </a:p>
          <a:p>
            <a:r>
              <a:rPr lang="en-US" sz="2800" dirty="0"/>
              <a:t>Variables bind names to objects</a:t>
            </a:r>
          </a:p>
          <a:p>
            <a:r>
              <a:rPr lang="en-US" sz="2800" dirty="0"/>
              <a:t>Type belongs to the object, not the variable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24041"/>
            <a:ext cx="5524500" cy="1348061"/>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Variables do not store values</a:t>
            </a:r>
          </a:p>
          <a:p>
            <a:r>
              <a:rPr lang="en-US" sz="2400" dirty="0"/>
              <a:t>They refer to objects in memory</a:t>
            </a:r>
          </a:p>
          <a:p>
            <a:r>
              <a:rPr lang="en-US" sz="2400" dirty="0"/>
              <a:t>Assignment never copies objects</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094412"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562100" y="3285734"/>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
        <p:nvSpPr>
          <p:cNvPr id="3" name="Rectangle 1">
            <a:extLst>
              <a:ext uri="{FF2B5EF4-FFF2-40B4-BE49-F238E27FC236}">
                <a16:creationId xmlns:a16="http://schemas.microsoft.com/office/drawing/2014/main" id="{9E6EBE4E-876C-A284-C1CA-C8093A30751C}"/>
              </a:ext>
            </a:extLst>
          </p:cNvPr>
          <p:cNvSpPr txBox="1">
            <a:spLocks noChangeArrowheads="1"/>
          </p:cNvSpPr>
          <p:nvPr/>
        </p:nvSpPr>
        <p:spPr bwMode="auto">
          <a:xfrm>
            <a:off x="368299" y="4500075"/>
            <a:ext cx="5524500" cy="1717393"/>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400" b="1" dirty="0"/>
              <a:t>Why this matters</a:t>
            </a:r>
            <a:endParaRPr lang="en-US" sz="2400" dirty="0"/>
          </a:p>
          <a:p>
            <a:r>
              <a:rPr lang="en-US" sz="2400" dirty="0"/>
              <a:t>Shared references cause hidden bugs</a:t>
            </a:r>
          </a:p>
          <a:p>
            <a:r>
              <a:rPr lang="en-US" sz="2400" dirty="0"/>
              <a:t>Mutation vs reassignment is a critical distinction</a:t>
            </a:r>
          </a:p>
        </p:txBody>
      </p:sp>
    </p:spTree>
    <p:extLst>
      <p:ext uri="{BB962C8B-B14F-4D97-AF65-F5344CB8AC3E}">
        <p14:creationId xmlns:p14="http://schemas.microsoft.com/office/powerpoint/2010/main" val="12834070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Mutation vs Reassignment</a:t>
            </a:r>
          </a:p>
        </p:txBody>
      </p:sp>
      <p:sp>
        <p:nvSpPr>
          <p:cNvPr id="3" name="Content Placeholder 2"/>
          <p:cNvSpPr>
            <a:spLocks noGrp="1"/>
          </p:cNvSpPr>
          <p:nvPr>
            <p:ph idx="1"/>
          </p:nvPr>
        </p:nvSpPr>
        <p:spPr>
          <a:xfrm>
            <a:off x="457200" y="1600200"/>
            <a:ext cx="11188700" cy="4525963"/>
          </a:xfrm>
        </p:spPr>
        <p:txBody>
          <a:bodyPr/>
          <a:lstStyle/>
          <a:p>
            <a:r>
              <a:rPr lang="en-US" b="1" dirty="0"/>
              <a:t>Mutation</a:t>
            </a:r>
            <a:r>
              <a:rPr lang="en-US" dirty="0"/>
              <a:t> changes the object</a:t>
            </a:r>
          </a:p>
          <a:p>
            <a:r>
              <a:rPr lang="en-US" b="1" dirty="0"/>
              <a:t>Reassignment</a:t>
            </a:r>
            <a:r>
              <a:rPr lang="en-US" dirty="0"/>
              <a:t> changes the reference</a:t>
            </a:r>
          </a:p>
          <a:p>
            <a:r>
              <a:rPr lang="en-US" dirty="0"/>
              <a:t>Mutable objects share changes</a:t>
            </a:r>
          </a:p>
          <a:p>
            <a:r>
              <a:rPr lang="en-US" dirty="0"/>
              <a:t>Immutable objects create new ones</a:t>
            </a:r>
          </a:p>
          <a:p>
            <a:pPr marL="0" indent="0">
              <a:buNone/>
            </a:pPr>
            <a:r>
              <a:rPr lang="en-US" b="1" dirty="0"/>
              <a:t>Common pitfall:</a:t>
            </a:r>
            <a:r>
              <a:rPr lang="en-US" dirty="0"/>
              <a:t> unexpected side effects across functions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dirty="0"/>
              <a:t>Contrast with Reassignment</a:t>
            </a:r>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48006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58420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0" y="1687508"/>
            <a:ext cx="8458199" cy="155734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800" dirty="0"/>
              <a:t>Types belong to </a:t>
            </a:r>
            <a:r>
              <a:rPr lang="en-US" sz="2800" b="1" dirty="0"/>
              <a:t>objects</a:t>
            </a:r>
            <a:r>
              <a:rPr lang="en-US" sz="2800" dirty="0"/>
              <a:t>, not variables</a:t>
            </a:r>
          </a:p>
          <a:p>
            <a:r>
              <a:rPr lang="en-US" sz="2800" dirty="0"/>
              <a:t>Variables may rebind to new types</a:t>
            </a:r>
          </a:p>
          <a:p>
            <a:r>
              <a:rPr lang="en-US" sz="2800" dirty="0"/>
              <a:t>Errors appear </a:t>
            </a:r>
            <a:r>
              <a:rPr lang="en-US" sz="2800" b="1" dirty="0"/>
              <a:t>at runtime</a:t>
            </a:r>
            <a:endParaRPr lang="en-US" sz="2800" dirty="0"/>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483725" y="1687508"/>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3" name="Rectangle 1">
            <a:extLst>
              <a:ext uri="{FF2B5EF4-FFF2-40B4-BE49-F238E27FC236}">
                <a16:creationId xmlns:a16="http://schemas.microsoft.com/office/drawing/2014/main" id="{A838CB88-4EC8-AFAC-4E44-11489426397A}"/>
              </a:ext>
            </a:extLst>
          </p:cNvPr>
          <p:cNvSpPr txBox="1">
            <a:spLocks noChangeArrowheads="1"/>
          </p:cNvSpPr>
          <p:nvPr/>
        </p:nvSpPr>
        <p:spPr bwMode="auto">
          <a:xfrm>
            <a:off x="457200" y="3537176"/>
            <a:ext cx="8458199" cy="2074414"/>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b="1" dirty="0"/>
              <a:t>Best practice</a:t>
            </a:r>
            <a:endParaRPr lang="en-US" sz="2800" dirty="0"/>
          </a:p>
          <a:p>
            <a:r>
              <a:rPr lang="en-US" sz="2800" dirty="0"/>
              <a:t>Be consistent</a:t>
            </a:r>
          </a:p>
          <a:p>
            <a:r>
              <a:rPr lang="en-US" sz="2800" dirty="0"/>
              <a:t>Use </a:t>
            </a:r>
            <a:r>
              <a:rPr lang="en-US" sz="2800" b="1" dirty="0"/>
              <a:t>type hints</a:t>
            </a:r>
            <a:r>
              <a:rPr lang="en-US" sz="2800" dirty="0"/>
              <a:t> as projects scale</a:t>
            </a:r>
          </a:p>
          <a:p>
            <a:r>
              <a:rPr lang="en-US" sz="2800" dirty="0"/>
              <a:t>Prefer clarity over cleverness</a:t>
            </a:r>
          </a:p>
        </p:txBody>
      </p:sp>
    </p:spTree>
    <p:extLst>
      <p:ext uri="{BB962C8B-B14F-4D97-AF65-F5344CB8AC3E}">
        <p14:creationId xmlns:p14="http://schemas.microsoft.com/office/powerpoint/2010/main" val="601899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Mutable vs Immutable Types</a:t>
            </a:r>
          </a:p>
        </p:txBody>
      </p:sp>
      <p:sp>
        <p:nvSpPr>
          <p:cNvPr id="3" name="Content Placeholder 2"/>
          <p:cNvSpPr>
            <a:spLocks noGrp="1"/>
          </p:cNvSpPr>
          <p:nvPr>
            <p:ph idx="1"/>
          </p:nvPr>
        </p:nvSpPr>
        <p:spPr/>
        <p:txBody>
          <a:bodyPr/>
          <a:lstStyle/>
          <a:p>
            <a:r>
              <a:rPr dirty="0"/>
              <a:t>Immutable: int, float, str, tuple</a:t>
            </a:r>
          </a:p>
          <a:p>
            <a:r>
              <a:rPr dirty="0"/>
              <a:t>Mutable: list, </a:t>
            </a:r>
            <a:r>
              <a:rPr dirty="0" err="1"/>
              <a:t>dict</a:t>
            </a:r>
            <a:r>
              <a:rPr dirty="0"/>
              <a:t>, set</a:t>
            </a:r>
          </a:p>
          <a:p>
            <a:r>
              <a:rPr dirty="0"/>
              <a:t>Mutability affects shared references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lstStyle/>
          <a:p>
            <a:r>
              <a:rPr lang="en-US" dirty="0"/>
              <a:t>Numbers: int, float, Decimal</a:t>
            </a:r>
          </a:p>
          <a:p>
            <a:r>
              <a:rPr lang="en-US" dirty="0"/>
              <a:t>Text: str</a:t>
            </a:r>
          </a:p>
          <a:p>
            <a:r>
              <a:rPr lang="en-US" dirty="0"/>
              <a:t>Logic: bool, None</a:t>
            </a:r>
          </a:p>
          <a:p>
            <a:r>
              <a:rPr lang="en-US" dirty="0"/>
              <a:t>Collections: list, tuple, </a:t>
            </a:r>
            <a:r>
              <a:rPr lang="en-US" dirty="0" err="1"/>
              <a:t>dict</a:t>
            </a:r>
            <a:r>
              <a:rPr lang="en-US" dirty="0"/>
              <a:t>, set</a:t>
            </a:r>
          </a:p>
          <a:p>
            <a:pPr marL="0" indent="0">
              <a:buNone/>
            </a:pPr>
            <a:r>
              <a:rPr lang="en-US" b="1" dirty="0"/>
              <a:t>Rule:</a:t>
            </a:r>
            <a:r>
              <a:rPr lang="en-US" dirty="0"/>
              <a:t> correct type → correct outcome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7B67E-C0BE-A92A-5F39-3BB0D833BB6D}"/>
              </a:ext>
            </a:extLst>
          </p:cNvPr>
          <p:cNvSpPr>
            <a:spLocks noGrp="1"/>
          </p:cNvSpPr>
          <p:nvPr>
            <p:ph type="title"/>
          </p:nvPr>
        </p:nvSpPr>
        <p:spPr/>
        <p:txBody>
          <a:bodyPr/>
          <a:lstStyle/>
          <a:p>
            <a:r>
              <a:rPr lang="en-US" dirty="0"/>
              <a:t>Python Numbers: Overview</a:t>
            </a:r>
            <a:endParaRPr lang="en-SG" dirty="0"/>
          </a:p>
        </p:txBody>
      </p:sp>
      <p:sp>
        <p:nvSpPr>
          <p:cNvPr id="3" name="Content Placeholder 2">
            <a:extLst>
              <a:ext uri="{FF2B5EF4-FFF2-40B4-BE49-F238E27FC236}">
                <a16:creationId xmlns:a16="http://schemas.microsoft.com/office/drawing/2014/main" id="{F2A281FF-0143-5195-BE93-671B3F2F37A1}"/>
              </a:ext>
            </a:extLst>
          </p:cNvPr>
          <p:cNvSpPr>
            <a:spLocks noGrp="1"/>
          </p:cNvSpPr>
          <p:nvPr>
            <p:ph idx="1"/>
          </p:nvPr>
        </p:nvSpPr>
        <p:spPr/>
        <p:txBody>
          <a:bodyPr>
            <a:normAutofit/>
          </a:bodyPr>
          <a:lstStyle/>
          <a:p>
            <a:r>
              <a:rPr lang="en-US" dirty="0"/>
              <a:t>Numbers represent numeric data in Python</a:t>
            </a:r>
          </a:p>
          <a:p>
            <a:r>
              <a:rPr lang="en-US" dirty="0"/>
              <a:t>Used for calculations, comparisons, and logic</a:t>
            </a:r>
          </a:p>
          <a:p>
            <a:r>
              <a:rPr lang="en-US" dirty="0"/>
              <a:t>Python supports multiple numeric types</a:t>
            </a:r>
            <a:endParaRPr lang="en-US" b="1" dirty="0"/>
          </a:p>
          <a:p>
            <a:r>
              <a:rPr lang="en-US" dirty="0"/>
              <a:t>Correct numeric type = correct results</a:t>
            </a:r>
          </a:p>
          <a:p>
            <a:r>
              <a:rPr lang="en-US" dirty="0"/>
              <a:t>Avoids precision and logic bugs</a:t>
            </a:r>
          </a:p>
          <a:p>
            <a:endParaRPr lang="en-SG" dirty="0"/>
          </a:p>
        </p:txBody>
      </p:sp>
    </p:spTree>
    <p:extLst>
      <p:ext uri="{BB962C8B-B14F-4D97-AF65-F5344CB8AC3E}">
        <p14:creationId xmlns:p14="http://schemas.microsoft.com/office/powerpoint/2010/main" val="3970567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86CEC-1CDA-70C6-F3D3-F6411FEA06A7}"/>
              </a:ext>
            </a:extLst>
          </p:cNvPr>
          <p:cNvSpPr>
            <a:spLocks noGrp="1"/>
          </p:cNvSpPr>
          <p:nvPr>
            <p:ph type="title"/>
          </p:nvPr>
        </p:nvSpPr>
        <p:spPr/>
        <p:txBody>
          <a:bodyPr/>
          <a:lstStyle/>
          <a:p>
            <a:r>
              <a:rPr lang="en-US" dirty="0"/>
              <a:t>Numeric Types in Python</a:t>
            </a:r>
            <a:endParaRPr lang="en-SG" dirty="0"/>
          </a:p>
        </p:txBody>
      </p:sp>
      <p:sp>
        <p:nvSpPr>
          <p:cNvPr id="3" name="Content Placeholder 2">
            <a:extLst>
              <a:ext uri="{FF2B5EF4-FFF2-40B4-BE49-F238E27FC236}">
                <a16:creationId xmlns:a16="http://schemas.microsoft.com/office/drawing/2014/main" id="{63C43032-EB3B-5F48-A314-0A486E916D17}"/>
              </a:ext>
            </a:extLst>
          </p:cNvPr>
          <p:cNvSpPr>
            <a:spLocks noGrp="1"/>
          </p:cNvSpPr>
          <p:nvPr>
            <p:ph idx="1"/>
          </p:nvPr>
        </p:nvSpPr>
        <p:spPr/>
        <p:txBody>
          <a:bodyPr/>
          <a:lstStyle/>
          <a:p>
            <a:r>
              <a:rPr lang="en-US" dirty="0"/>
              <a:t>int – whole numbers</a:t>
            </a:r>
          </a:p>
          <a:p>
            <a:pPr lvl="1"/>
            <a:r>
              <a:rPr lang="en-US" dirty="0"/>
              <a:t>Examples: 0, -42, 1_000_000</a:t>
            </a:r>
          </a:p>
          <a:p>
            <a:endParaRPr lang="en-US" dirty="0"/>
          </a:p>
          <a:p>
            <a:r>
              <a:rPr lang="en-US" dirty="0"/>
              <a:t>float – decimal numbers</a:t>
            </a:r>
          </a:p>
          <a:p>
            <a:pPr lvl="1"/>
            <a:r>
              <a:rPr lang="en-US" dirty="0"/>
              <a:t>Examples: 3.14, 0.5, 6.02e23</a:t>
            </a:r>
          </a:p>
          <a:p>
            <a:endParaRPr lang="en-US" dirty="0"/>
          </a:p>
          <a:p>
            <a:r>
              <a:rPr lang="en-US" dirty="0"/>
              <a:t>complex – real + imaginary</a:t>
            </a:r>
          </a:p>
          <a:p>
            <a:pPr lvl="1"/>
            <a:r>
              <a:rPr lang="en-US" dirty="0"/>
              <a:t>Example: 3 + 4j</a:t>
            </a:r>
          </a:p>
          <a:p>
            <a:endParaRPr lang="en-SG" dirty="0"/>
          </a:p>
        </p:txBody>
      </p:sp>
    </p:spTree>
    <p:extLst>
      <p:ext uri="{BB962C8B-B14F-4D97-AF65-F5344CB8AC3E}">
        <p14:creationId xmlns:p14="http://schemas.microsoft.com/office/powerpoint/2010/main" val="2714362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8D996-FA41-FB72-3484-65ED2FC652F6}"/>
              </a:ext>
            </a:extLst>
          </p:cNvPr>
          <p:cNvSpPr>
            <a:spLocks noGrp="1"/>
          </p:cNvSpPr>
          <p:nvPr>
            <p:ph type="title"/>
          </p:nvPr>
        </p:nvSpPr>
        <p:spPr/>
        <p:txBody>
          <a:bodyPr>
            <a:normAutofit/>
          </a:bodyPr>
          <a:lstStyle/>
          <a:p>
            <a:r>
              <a:rPr lang="en-US" dirty="0"/>
              <a:t>Numbers &amp; Business Impact</a:t>
            </a:r>
            <a:endParaRPr lang="en-SG" dirty="0"/>
          </a:p>
        </p:txBody>
      </p:sp>
      <p:sp>
        <p:nvSpPr>
          <p:cNvPr id="3" name="Content Placeholder 2">
            <a:extLst>
              <a:ext uri="{FF2B5EF4-FFF2-40B4-BE49-F238E27FC236}">
                <a16:creationId xmlns:a16="http://schemas.microsoft.com/office/drawing/2014/main" id="{87870E60-2C51-4F7C-2A36-EADE8B5AE1D1}"/>
              </a:ext>
            </a:extLst>
          </p:cNvPr>
          <p:cNvSpPr>
            <a:spLocks noGrp="1"/>
          </p:cNvSpPr>
          <p:nvPr>
            <p:ph idx="1"/>
          </p:nvPr>
        </p:nvSpPr>
        <p:spPr/>
        <p:txBody>
          <a:bodyPr/>
          <a:lstStyle/>
          <a:p>
            <a:r>
              <a:rPr lang="en-US" dirty="0"/>
              <a:t>int: counts, IDs, indexes</a:t>
            </a:r>
          </a:p>
          <a:p>
            <a:r>
              <a:rPr lang="en-US" dirty="0"/>
              <a:t>float: scientific values (⚠ precision)</a:t>
            </a:r>
          </a:p>
          <a:p>
            <a:r>
              <a:rPr lang="en-US" dirty="0"/>
              <a:t>Decimal: </a:t>
            </a:r>
            <a:r>
              <a:rPr lang="en-US" b="1" dirty="0"/>
              <a:t>money and finance</a:t>
            </a:r>
            <a:endParaRPr lang="en-US" dirty="0"/>
          </a:p>
          <a:p>
            <a:r>
              <a:rPr lang="en-US" b="1" dirty="0"/>
              <a:t>Never</a:t>
            </a:r>
            <a:r>
              <a:rPr lang="en-US" dirty="0"/>
              <a:t> use float for currency</a:t>
            </a:r>
          </a:p>
          <a:p>
            <a:endParaRPr lang="en-SG" dirty="0"/>
          </a:p>
        </p:txBody>
      </p:sp>
    </p:spTree>
    <p:extLst>
      <p:ext uri="{BB962C8B-B14F-4D97-AF65-F5344CB8AC3E}">
        <p14:creationId xmlns:p14="http://schemas.microsoft.com/office/powerpoint/2010/main" val="28469418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FE33-D55D-103B-65B1-9BCCEA079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7C124-CEC1-AE62-849B-F209150D01F9}"/>
              </a:ext>
            </a:extLst>
          </p:cNvPr>
          <p:cNvSpPr>
            <a:spLocks noGrp="1"/>
          </p:cNvSpPr>
          <p:nvPr>
            <p:ph type="title"/>
          </p:nvPr>
        </p:nvSpPr>
        <p:spPr/>
        <p:txBody>
          <a:bodyPr>
            <a:normAutofit/>
          </a:bodyPr>
          <a:lstStyle/>
          <a:p>
            <a:r>
              <a:rPr lang="en-US" dirty="0"/>
              <a:t>Integers (int)</a:t>
            </a:r>
          </a:p>
        </p:txBody>
      </p:sp>
      <p:sp>
        <p:nvSpPr>
          <p:cNvPr id="3" name="Content Placeholder 2">
            <a:extLst>
              <a:ext uri="{FF2B5EF4-FFF2-40B4-BE49-F238E27FC236}">
                <a16:creationId xmlns:a16="http://schemas.microsoft.com/office/drawing/2014/main" id="{4034A20B-BC26-5CB2-D78A-CC992985B34D}"/>
              </a:ext>
            </a:extLst>
          </p:cNvPr>
          <p:cNvSpPr>
            <a:spLocks noGrp="1"/>
          </p:cNvSpPr>
          <p:nvPr>
            <p:ph idx="1"/>
          </p:nvPr>
        </p:nvSpPr>
        <p:spPr>
          <a:xfrm>
            <a:off x="457200" y="1600200"/>
            <a:ext cx="35687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10</a:t>
            </a:r>
          </a:p>
          <a:p>
            <a:pPr marL="0" indent="0">
              <a:buNone/>
            </a:pPr>
            <a:r>
              <a:rPr lang="pt-BR" dirty="0"/>
              <a:t>b = -5</a:t>
            </a:r>
          </a:p>
          <a:p>
            <a:pPr marL="0" indent="0">
              <a:buNone/>
            </a:pPr>
            <a:r>
              <a:rPr lang="pt-BR" dirty="0"/>
              <a:t>c = 1_000_000</a:t>
            </a:r>
          </a:p>
        </p:txBody>
      </p:sp>
      <p:sp>
        <p:nvSpPr>
          <p:cNvPr id="4" name="Content Placeholder 2">
            <a:extLst>
              <a:ext uri="{FF2B5EF4-FFF2-40B4-BE49-F238E27FC236}">
                <a16:creationId xmlns:a16="http://schemas.microsoft.com/office/drawing/2014/main" id="{4B873657-F492-BE3F-F148-A3DFF8A4B192}"/>
              </a:ext>
            </a:extLst>
          </p:cNvPr>
          <p:cNvSpPr txBox="1">
            <a:spLocks/>
          </p:cNvSpPr>
          <p:nvPr/>
        </p:nvSpPr>
        <p:spPr>
          <a:xfrm>
            <a:off x="4648200" y="1587500"/>
            <a:ext cx="6692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Whole numbers only</a:t>
            </a:r>
          </a:p>
          <a:p>
            <a:r>
              <a:rPr lang="en-US" sz="2800" dirty="0"/>
              <a:t>Arbitrary precision</a:t>
            </a:r>
          </a:p>
          <a:p>
            <a:r>
              <a:rPr lang="en-US" sz="2800" dirty="0"/>
              <a:t>Commonly used for counts, indexes, IDs</a:t>
            </a:r>
          </a:p>
        </p:txBody>
      </p:sp>
    </p:spTree>
    <p:extLst>
      <p:ext uri="{BB962C8B-B14F-4D97-AF65-F5344CB8AC3E}">
        <p14:creationId xmlns:p14="http://schemas.microsoft.com/office/powerpoint/2010/main" val="15169000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3B04-4A3E-95DF-F903-C13F1E2E9A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6D2DE-7265-4C8B-218D-10EBF9B98D49}"/>
              </a:ext>
            </a:extLst>
          </p:cNvPr>
          <p:cNvSpPr>
            <a:spLocks noGrp="1"/>
          </p:cNvSpPr>
          <p:nvPr>
            <p:ph type="title"/>
          </p:nvPr>
        </p:nvSpPr>
        <p:spPr/>
        <p:txBody>
          <a:bodyPr>
            <a:normAutofit/>
          </a:bodyPr>
          <a:lstStyle/>
          <a:p>
            <a:r>
              <a:rPr lang="en-US" dirty="0"/>
              <a:t>Floating-Point Numbers (float)</a:t>
            </a:r>
          </a:p>
        </p:txBody>
      </p:sp>
      <p:sp>
        <p:nvSpPr>
          <p:cNvPr id="3" name="Content Placeholder 2">
            <a:extLst>
              <a:ext uri="{FF2B5EF4-FFF2-40B4-BE49-F238E27FC236}">
                <a16:creationId xmlns:a16="http://schemas.microsoft.com/office/drawing/2014/main" id="{985FC629-98E7-4AB4-17D6-0F6025A0A3E7}"/>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price = 19.99</a:t>
            </a:r>
          </a:p>
          <a:p>
            <a:pPr marL="0" indent="0">
              <a:buNone/>
            </a:pPr>
            <a:endParaRPr lang="en-US" dirty="0"/>
          </a:p>
          <a:p>
            <a:pPr marL="0" indent="0">
              <a:buNone/>
            </a:pPr>
            <a:r>
              <a:rPr lang="en-US" dirty="0"/>
              <a:t># 0.30000000000000004</a:t>
            </a:r>
          </a:p>
          <a:p>
            <a:pPr marL="0" indent="0">
              <a:buNone/>
            </a:pPr>
            <a:r>
              <a:rPr lang="en-US" dirty="0"/>
              <a:t>ratio = 0.1 + 0.2   </a:t>
            </a:r>
          </a:p>
          <a:p>
            <a:pPr marL="0" indent="0">
              <a:buNone/>
            </a:pPr>
            <a:endParaRPr lang="en-US" dirty="0"/>
          </a:p>
        </p:txBody>
      </p:sp>
      <p:sp>
        <p:nvSpPr>
          <p:cNvPr id="4" name="Content Placeholder 2">
            <a:extLst>
              <a:ext uri="{FF2B5EF4-FFF2-40B4-BE49-F238E27FC236}">
                <a16:creationId xmlns:a16="http://schemas.microsoft.com/office/drawing/2014/main" id="{B680B099-452E-63CF-59F8-5283C09EDEA0}"/>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Represent decimal values</a:t>
            </a:r>
          </a:p>
          <a:p>
            <a:r>
              <a:rPr lang="en-US" sz="2800" dirty="0"/>
              <a:t>Stored using binary floating-point</a:t>
            </a:r>
          </a:p>
          <a:p>
            <a:r>
              <a:rPr lang="en-US" sz="2800" dirty="0"/>
              <a:t>May introduce rounding errors</a:t>
            </a:r>
          </a:p>
        </p:txBody>
      </p:sp>
    </p:spTree>
    <p:extLst>
      <p:ext uri="{BB962C8B-B14F-4D97-AF65-F5344CB8AC3E}">
        <p14:creationId xmlns:p14="http://schemas.microsoft.com/office/powerpoint/2010/main" val="983726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8E96F-9D53-5220-0CA9-B0C0E5ECB3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7D9F38-9240-547F-38A9-02A6CB08DA61}"/>
              </a:ext>
            </a:extLst>
          </p:cNvPr>
          <p:cNvSpPr>
            <a:spLocks noGrp="1"/>
          </p:cNvSpPr>
          <p:nvPr>
            <p:ph type="title"/>
          </p:nvPr>
        </p:nvSpPr>
        <p:spPr/>
        <p:txBody>
          <a:bodyPr>
            <a:normAutofit/>
          </a:bodyPr>
          <a:lstStyle/>
          <a:p>
            <a:r>
              <a:rPr lang="en-US" dirty="0"/>
              <a:t>Decimal for Precision</a:t>
            </a:r>
          </a:p>
        </p:txBody>
      </p:sp>
      <p:sp>
        <p:nvSpPr>
          <p:cNvPr id="3" name="Content Placeholder 2">
            <a:extLst>
              <a:ext uri="{FF2B5EF4-FFF2-40B4-BE49-F238E27FC236}">
                <a16:creationId xmlns:a16="http://schemas.microsoft.com/office/drawing/2014/main" id="{F6AD3492-C1B7-0279-55FE-3401BAAED6A9}"/>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b="1" dirty="0"/>
              <a:t>from decimal import Decimal</a:t>
            </a:r>
          </a:p>
          <a:p>
            <a:pPr marL="0" indent="0">
              <a:buNone/>
            </a:pPr>
            <a:endParaRPr lang="en-US" dirty="0"/>
          </a:p>
          <a:p>
            <a:pPr marL="0" indent="0">
              <a:buNone/>
            </a:pPr>
            <a:r>
              <a:rPr lang="en-US" dirty="0"/>
              <a:t>price = Decimal("19.99")</a:t>
            </a:r>
          </a:p>
          <a:p>
            <a:pPr marL="0" indent="0">
              <a:buNone/>
            </a:pPr>
            <a:r>
              <a:rPr lang="en-US" dirty="0"/>
              <a:t>tax = price * Decimal("0.07")</a:t>
            </a:r>
          </a:p>
        </p:txBody>
      </p:sp>
      <p:sp>
        <p:nvSpPr>
          <p:cNvPr id="4" name="Content Placeholder 2">
            <a:extLst>
              <a:ext uri="{FF2B5EF4-FFF2-40B4-BE49-F238E27FC236}">
                <a16:creationId xmlns:a16="http://schemas.microsoft.com/office/drawing/2014/main" id="{D6BFA9CB-337B-97A1-64A9-15D43CFDCB29}"/>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Financial calculations</a:t>
            </a:r>
          </a:p>
          <a:p>
            <a:r>
              <a:rPr lang="en-US" sz="2800" dirty="0"/>
              <a:t>Exact decimal precision required</a:t>
            </a:r>
          </a:p>
        </p:txBody>
      </p:sp>
    </p:spTree>
    <p:extLst>
      <p:ext uri="{BB962C8B-B14F-4D97-AF65-F5344CB8AC3E}">
        <p14:creationId xmlns:p14="http://schemas.microsoft.com/office/powerpoint/2010/main" val="12153165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7A398-EDB8-2346-AC5D-EAFC1D8F77BE}"/>
              </a:ext>
            </a:extLst>
          </p:cNvPr>
          <p:cNvSpPr>
            <a:spLocks noGrp="1"/>
          </p:cNvSpPr>
          <p:nvPr>
            <p:ph type="title"/>
          </p:nvPr>
        </p:nvSpPr>
        <p:spPr/>
        <p:txBody>
          <a:bodyPr/>
          <a:lstStyle/>
          <a:p>
            <a:r>
              <a:rPr lang="en-SG" dirty="0"/>
              <a:t>Arithmetic Operators</a:t>
            </a:r>
          </a:p>
        </p:txBody>
      </p:sp>
      <p:graphicFrame>
        <p:nvGraphicFramePr>
          <p:cNvPr id="4" name="Table 3">
            <a:extLst>
              <a:ext uri="{FF2B5EF4-FFF2-40B4-BE49-F238E27FC236}">
                <a16:creationId xmlns:a16="http://schemas.microsoft.com/office/drawing/2014/main" id="{04842946-80E1-2E7D-5D8A-D46DE3DF8787}"/>
              </a:ext>
            </a:extLst>
          </p:cNvPr>
          <p:cNvGraphicFramePr>
            <a:graphicFrameLocks noGrp="1"/>
          </p:cNvGraphicFramePr>
          <p:nvPr>
            <p:extLst>
              <p:ext uri="{D42A27DB-BD31-4B8C-83A1-F6EECF244321}">
                <p14:modId xmlns:p14="http://schemas.microsoft.com/office/powerpoint/2010/main" val="2988513176"/>
              </p:ext>
            </p:extLst>
          </p:nvPr>
        </p:nvGraphicFramePr>
        <p:xfrm>
          <a:off x="1725612" y="1561941"/>
          <a:ext cx="8229600" cy="4632960"/>
        </p:xfrm>
        <a:graphic>
          <a:graphicData uri="http://schemas.openxmlformats.org/drawingml/2006/table">
            <a:tbl>
              <a:tblPr/>
              <a:tblGrid>
                <a:gridCol w="4114800">
                  <a:extLst>
                    <a:ext uri="{9D8B030D-6E8A-4147-A177-3AD203B41FA5}">
                      <a16:colId xmlns:a16="http://schemas.microsoft.com/office/drawing/2014/main" val="4190395564"/>
                    </a:ext>
                  </a:extLst>
                </a:gridCol>
                <a:gridCol w="4114800">
                  <a:extLst>
                    <a:ext uri="{9D8B030D-6E8A-4147-A177-3AD203B41FA5}">
                      <a16:colId xmlns:a16="http://schemas.microsoft.com/office/drawing/2014/main" val="2544141463"/>
                    </a:ext>
                  </a:extLst>
                </a:gridCol>
              </a:tblGrid>
              <a:tr h="0">
                <a:tc>
                  <a:txBody>
                    <a:bodyPr/>
                    <a:lstStyle/>
                    <a:p>
                      <a:pPr>
                        <a:buNone/>
                      </a:pPr>
                      <a:r>
                        <a:rPr lang="en-SG" sz="3200" b="1" dirty="0"/>
                        <a:t>Operator</a:t>
                      </a:r>
                    </a:p>
                  </a:txBody>
                  <a:tcPr anchor="ctr">
                    <a:lnL>
                      <a:noFill/>
                    </a:lnL>
                    <a:lnR>
                      <a:noFill/>
                    </a:lnR>
                    <a:lnT>
                      <a:noFill/>
                    </a:lnT>
                    <a:lnB>
                      <a:noFill/>
                    </a:lnB>
                    <a:noFill/>
                  </a:tcPr>
                </a:tc>
                <a:tc>
                  <a:txBody>
                    <a:bodyPr/>
                    <a:lstStyle/>
                    <a:p>
                      <a:pPr>
                        <a:buNone/>
                      </a:pPr>
                      <a:r>
                        <a:rPr lang="en-SG" sz="3200" b="1" dirty="0"/>
                        <a:t>Meaning</a:t>
                      </a:r>
                    </a:p>
                  </a:txBody>
                  <a:tcPr anchor="ctr">
                    <a:lnL>
                      <a:noFill/>
                    </a:lnL>
                    <a:lnR>
                      <a:noFill/>
                    </a:lnR>
                    <a:lnT>
                      <a:noFill/>
                    </a:lnT>
                    <a:lnB>
                      <a:noFill/>
                    </a:lnB>
                    <a:noFill/>
                  </a:tcPr>
                </a:tc>
                <a:extLst>
                  <a:ext uri="{0D108BD9-81ED-4DB2-BD59-A6C34878D82A}">
                    <a16:rowId xmlns:a16="http://schemas.microsoft.com/office/drawing/2014/main" val="2521506097"/>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Addition</a:t>
                      </a:r>
                    </a:p>
                  </a:txBody>
                  <a:tcPr anchor="ctr">
                    <a:lnL>
                      <a:noFill/>
                    </a:lnL>
                    <a:lnR>
                      <a:noFill/>
                    </a:lnR>
                    <a:lnT>
                      <a:noFill/>
                    </a:lnT>
                    <a:lnB>
                      <a:noFill/>
                    </a:lnB>
                    <a:noFill/>
                  </a:tcPr>
                </a:tc>
                <a:extLst>
                  <a:ext uri="{0D108BD9-81ED-4DB2-BD59-A6C34878D82A}">
                    <a16:rowId xmlns:a16="http://schemas.microsoft.com/office/drawing/2014/main" val="2610393482"/>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Subtraction</a:t>
                      </a:r>
                    </a:p>
                  </a:txBody>
                  <a:tcPr anchor="ctr">
                    <a:lnL>
                      <a:noFill/>
                    </a:lnL>
                    <a:lnR>
                      <a:noFill/>
                    </a:lnR>
                    <a:lnT>
                      <a:noFill/>
                    </a:lnT>
                    <a:lnB>
                      <a:noFill/>
                    </a:lnB>
                    <a:noFill/>
                  </a:tcPr>
                </a:tc>
                <a:extLst>
                  <a:ext uri="{0D108BD9-81ED-4DB2-BD59-A6C34878D82A}">
                    <a16:rowId xmlns:a16="http://schemas.microsoft.com/office/drawing/2014/main" val="2603205561"/>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Multiplication</a:t>
                      </a:r>
                    </a:p>
                  </a:txBody>
                  <a:tcPr anchor="ctr">
                    <a:lnL>
                      <a:noFill/>
                    </a:lnL>
                    <a:lnR>
                      <a:noFill/>
                    </a:lnR>
                    <a:lnT>
                      <a:noFill/>
                    </a:lnT>
                    <a:lnB>
                      <a:noFill/>
                    </a:lnB>
                    <a:noFill/>
                  </a:tcPr>
                </a:tc>
                <a:extLst>
                  <a:ext uri="{0D108BD9-81ED-4DB2-BD59-A6C34878D82A}">
                    <a16:rowId xmlns:a16="http://schemas.microsoft.com/office/drawing/2014/main" val="235469575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True division</a:t>
                      </a:r>
                    </a:p>
                  </a:txBody>
                  <a:tcPr anchor="ctr">
                    <a:lnL>
                      <a:noFill/>
                    </a:lnL>
                    <a:lnR>
                      <a:noFill/>
                    </a:lnR>
                    <a:lnT>
                      <a:noFill/>
                    </a:lnT>
                    <a:lnB>
                      <a:noFill/>
                    </a:lnB>
                    <a:noFill/>
                  </a:tcPr>
                </a:tc>
                <a:extLst>
                  <a:ext uri="{0D108BD9-81ED-4DB2-BD59-A6C34878D82A}">
                    <a16:rowId xmlns:a16="http://schemas.microsoft.com/office/drawing/2014/main" val="389331878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Floor division</a:t>
                      </a:r>
                    </a:p>
                  </a:txBody>
                  <a:tcPr anchor="ctr">
                    <a:lnL>
                      <a:noFill/>
                    </a:lnL>
                    <a:lnR>
                      <a:noFill/>
                    </a:lnR>
                    <a:lnT>
                      <a:noFill/>
                    </a:lnT>
                    <a:lnB>
                      <a:noFill/>
                    </a:lnB>
                    <a:noFill/>
                  </a:tcPr>
                </a:tc>
                <a:extLst>
                  <a:ext uri="{0D108BD9-81ED-4DB2-BD59-A6C34878D82A}">
                    <a16:rowId xmlns:a16="http://schemas.microsoft.com/office/drawing/2014/main" val="3744205803"/>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Modulo (remainder)</a:t>
                      </a:r>
                    </a:p>
                  </a:txBody>
                  <a:tcPr anchor="ctr">
                    <a:lnL>
                      <a:noFill/>
                    </a:lnL>
                    <a:lnR>
                      <a:noFill/>
                    </a:lnR>
                    <a:lnT>
                      <a:noFill/>
                    </a:lnT>
                    <a:lnB>
                      <a:noFill/>
                    </a:lnB>
                    <a:noFill/>
                  </a:tcPr>
                </a:tc>
                <a:extLst>
                  <a:ext uri="{0D108BD9-81ED-4DB2-BD59-A6C34878D82A}">
                    <a16:rowId xmlns:a16="http://schemas.microsoft.com/office/drawing/2014/main" val="2102220020"/>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dirty="0"/>
                        <a:t>Exponentiation</a:t>
                      </a:r>
                    </a:p>
                  </a:txBody>
                  <a:tcPr anchor="ctr">
                    <a:lnL>
                      <a:noFill/>
                    </a:lnL>
                    <a:lnR>
                      <a:noFill/>
                    </a:lnR>
                    <a:lnT>
                      <a:noFill/>
                    </a:lnT>
                    <a:lnB>
                      <a:noFill/>
                    </a:lnB>
                    <a:noFill/>
                  </a:tcPr>
                </a:tc>
                <a:extLst>
                  <a:ext uri="{0D108BD9-81ED-4DB2-BD59-A6C34878D82A}">
                    <a16:rowId xmlns:a16="http://schemas.microsoft.com/office/drawing/2014/main" val="4151499989"/>
                  </a:ext>
                </a:extLst>
              </a:tr>
            </a:tbl>
          </a:graphicData>
        </a:graphic>
      </p:graphicFrame>
    </p:spTree>
    <p:extLst>
      <p:ext uri="{BB962C8B-B14F-4D97-AF65-F5344CB8AC3E}">
        <p14:creationId xmlns:p14="http://schemas.microsoft.com/office/powerpoint/2010/main" val="42815067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FB00A-0287-53B5-222F-C9DD6E7E87C6}"/>
              </a:ext>
            </a:extLst>
          </p:cNvPr>
          <p:cNvSpPr>
            <a:spLocks noGrp="1"/>
          </p:cNvSpPr>
          <p:nvPr>
            <p:ph type="title"/>
          </p:nvPr>
        </p:nvSpPr>
        <p:spPr/>
        <p:txBody>
          <a:bodyPr>
            <a:normAutofit/>
          </a:bodyPr>
          <a:lstStyle/>
          <a:p>
            <a:r>
              <a:rPr lang="en-US" dirty="0"/>
              <a:t>Operators That Matter</a:t>
            </a:r>
            <a:endParaRPr lang="en-SG" dirty="0"/>
          </a:p>
        </p:txBody>
      </p:sp>
      <p:sp>
        <p:nvSpPr>
          <p:cNvPr id="3" name="Content Placeholder 2">
            <a:extLst>
              <a:ext uri="{FF2B5EF4-FFF2-40B4-BE49-F238E27FC236}">
                <a16:creationId xmlns:a16="http://schemas.microsoft.com/office/drawing/2014/main" id="{34BD1336-9F49-ECBE-B8CA-D1480CE78482}"/>
              </a:ext>
            </a:extLst>
          </p:cNvPr>
          <p:cNvSpPr>
            <a:spLocks noGrp="1"/>
          </p:cNvSpPr>
          <p:nvPr>
            <p:ph idx="1"/>
          </p:nvPr>
        </p:nvSpPr>
        <p:spPr/>
        <p:txBody>
          <a:bodyPr/>
          <a:lstStyle/>
          <a:p>
            <a:r>
              <a:rPr lang="en-US" dirty="0"/>
              <a:t>/ vs // vs % → different business logic</a:t>
            </a:r>
          </a:p>
          <a:p>
            <a:r>
              <a:rPr lang="en-US" dirty="0"/>
              <a:t>** → exponentiation, not multiplication</a:t>
            </a:r>
          </a:p>
          <a:p>
            <a:r>
              <a:rPr lang="en-US" dirty="0"/>
              <a:t>Operator choice affects </a:t>
            </a:r>
            <a:r>
              <a:rPr lang="en-US" b="1" dirty="0"/>
              <a:t>correctness</a:t>
            </a:r>
            <a:endParaRPr lang="en-US" dirty="0"/>
          </a:p>
          <a:p>
            <a:endParaRPr lang="en-SG" dirty="0"/>
          </a:p>
        </p:txBody>
      </p:sp>
    </p:spTree>
    <p:extLst>
      <p:ext uri="{BB962C8B-B14F-4D97-AF65-F5344CB8AC3E}">
        <p14:creationId xmlns:p14="http://schemas.microsoft.com/office/powerpoint/2010/main" val="24542527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71BF7-BF83-5AE6-5994-E8BD9D0DF83C}"/>
              </a:ext>
            </a:extLst>
          </p:cNvPr>
          <p:cNvSpPr>
            <a:spLocks noGrp="1"/>
          </p:cNvSpPr>
          <p:nvPr>
            <p:ph type="title"/>
          </p:nvPr>
        </p:nvSpPr>
        <p:spPr/>
        <p:txBody>
          <a:bodyPr/>
          <a:lstStyle/>
          <a:p>
            <a:r>
              <a:rPr lang="en-SG" dirty="0"/>
              <a:t>Division Operators</a:t>
            </a:r>
          </a:p>
        </p:txBody>
      </p:sp>
      <p:sp>
        <p:nvSpPr>
          <p:cNvPr id="3" name="Content Placeholder 2">
            <a:extLst>
              <a:ext uri="{FF2B5EF4-FFF2-40B4-BE49-F238E27FC236}">
                <a16:creationId xmlns:a16="http://schemas.microsoft.com/office/drawing/2014/main" id="{F63B24DE-56A1-B3BA-37D3-B6C90F614357}"/>
              </a:ext>
            </a:extLst>
          </p:cNvPr>
          <p:cNvSpPr>
            <a:spLocks noGrp="1"/>
          </p:cNvSpPr>
          <p:nvPr>
            <p:ph idx="1"/>
          </p:nvPr>
        </p:nvSpPr>
        <p:spPr>
          <a:xfrm>
            <a:off x="457200" y="1600200"/>
            <a:ext cx="10172700" cy="4525963"/>
          </a:xfrm>
        </p:spPr>
        <p:txBody>
          <a:bodyPr>
            <a:normAutofit fontScale="92500"/>
          </a:bodyPr>
          <a:lstStyle/>
          <a:p>
            <a:pPr marL="0" indent="0">
              <a:buNone/>
            </a:pPr>
            <a:r>
              <a:rPr lang="en-SG" dirty="0"/>
              <a:t># Division</a:t>
            </a:r>
          </a:p>
          <a:p>
            <a:pPr marL="0" indent="0">
              <a:buNone/>
            </a:pPr>
            <a:r>
              <a:rPr lang="en-SG" dirty="0"/>
              <a:t>7 / 3     # 2.3333333333333335</a:t>
            </a:r>
          </a:p>
          <a:p>
            <a:pPr marL="0" indent="0">
              <a:buNone/>
            </a:pPr>
            <a:endParaRPr lang="en-SG" dirty="0"/>
          </a:p>
          <a:p>
            <a:pPr marL="0" indent="0">
              <a:buNone/>
            </a:pPr>
            <a:r>
              <a:rPr lang="en-SG" dirty="0"/>
              <a:t># Floor Division</a:t>
            </a:r>
          </a:p>
          <a:p>
            <a:pPr marL="0" indent="0">
              <a:buNone/>
            </a:pPr>
            <a:r>
              <a:rPr lang="en-SG" dirty="0"/>
              <a:t>7 // 3    # 2</a:t>
            </a:r>
          </a:p>
          <a:p>
            <a:pPr marL="0" indent="0">
              <a:buNone/>
            </a:pPr>
            <a:r>
              <a:rPr lang="en-SG" dirty="0"/>
              <a:t>-7 // 3   # -3</a:t>
            </a:r>
          </a:p>
          <a:p>
            <a:pPr marL="0" indent="0">
              <a:buNone/>
            </a:pPr>
            <a:endParaRPr lang="en-SG" dirty="0"/>
          </a:p>
          <a:p>
            <a:r>
              <a:rPr lang="en-SG" dirty="0"/>
              <a:t># </a:t>
            </a:r>
            <a:r>
              <a:rPr lang="en-US" b="1" dirty="0"/>
              <a:t>Key Insight - </a:t>
            </a:r>
            <a:r>
              <a:rPr lang="en-US" dirty="0"/>
              <a:t>Floor division rounds </a:t>
            </a:r>
            <a:r>
              <a:rPr lang="en-US" b="1" dirty="0"/>
              <a:t>down</a:t>
            </a:r>
            <a:r>
              <a:rPr lang="en-US" dirty="0"/>
              <a:t>, not toward zero</a:t>
            </a:r>
          </a:p>
          <a:p>
            <a:pPr marL="0" indent="0">
              <a:buNone/>
            </a:pPr>
            <a:endParaRPr lang="en-SG" dirty="0"/>
          </a:p>
        </p:txBody>
      </p:sp>
    </p:spTree>
    <p:extLst>
      <p:ext uri="{BB962C8B-B14F-4D97-AF65-F5344CB8AC3E}">
        <p14:creationId xmlns:p14="http://schemas.microsoft.com/office/powerpoint/2010/main" val="28725608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2A6B9-3D4B-95DE-E78E-1CF7A58623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2727D3-F936-2285-236C-2763A3DD2AC0}"/>
              </a:ext>
            </a:extLst>
          </p:cNvPr>
          <p:cNvSpPr>
            <a:spLocks noGrp="1"/>
          </p:cNvSpPr>
          <p:nvPr>
            <p:ph type="title"/>
          </p:nvPr>
        </p:nvSpPr>
        <p:spPr/>
        <p:txBody>
          <a:bodyPr>
            <a:normAutofit/>
          </a:bodyPr>
          <a:lstStyle/>
          <a:p>
            <a:r>
              <a:rPr lang="en-SG" dirty="0"/>
              <a:t>Modulo Operator (%)</a:t>
            </a:r>
            <a:endParaRPr lang="en-US" dirty="0"/>
          </a:p>
        </p:txBody>
      </p:sp>
      <p:sp>
        <p:nvSpPr>
          <p:cNvPr id="3" name="Content Placeholder 2">
            <a:extLst>
              <a:ext uri="{FF2B5EF4-FFF2-40B4-BE49-F238E27FC236}">
                <a16:creationId xmlns:a16="http://schemas.microsoft.com/office/drawing/2014/main" id="{167202C2-C3B9-C8B7-C54A-050254CE346F}"/>
              </a:ext>
            </a:extLst>
          </p:cNvPr>
          <p:cNvSpPr>
            <a:spLocks noGrp="1"/>
          </p:cNvSpPr>
          <p:nvPr>
            <p:ph idx="1"/>
          </p:nvPr>
        </p:nvSpPr>
        <p:spPr>
          <a:xfrm>
            <a:off x="457200" y="1600200"/>
            <a:ext cx="41275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7 % 3     # 1</a:t>
            </a:r>
          </a:p>
          <a:p>
            <a:pPr marL="0" indent="0">
              <a:buNone/>
            </a:pPr>
            <a:r>
              <a:rPr lang="en-US" dirty="0"/>
              <a:t>10 % 2    # 0</a:t>
            </a:r>
          </a:p>
        </p:txBody>
      </p:sp>
      <p:sp>
        <p:nvSpPr>
          <p:cNvPr id="4" name="Content Placeholder 2">
            <a:extLst>
              <a:ext uri="{FF2B5EF4-FFF2-40B4-BE49-F238E27FC236}">
                <a16:creationId xmlns:a16="http://schemas.microsoft.com/office/drawing/2014/main" id="{880E34A5-4B5E-07EB-F729-E1C0FD14CF97}"/>
              </a:ext>
            </a:extLst>
          </p:cNvPr>
          <p:cNvSpPr txBox="1">
            <a:spLocks/>
          </p:cNvSpPr>
          <p:nvPr/>
        </p:nvSpPr>
        <p:spPr>
          <a:xfrm>
            <a:off x="4940300" y="1587500"/>
            <a:ext cx="64008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b="1" dirty="0"/>
              <a:t>Purpose</a:t>
            </a:r>
            <a:endParaRPr lang="en-US" sz="2800" dirty="0"/>
          </a:p>
          <a:p>
            <a:pPr lvl="1"/>
            <a:r>
              <a:rPr lang="en-US" sz="2400" dirty="0"/>
              <a:t>Returns the remainder of division</a:t>
            </a:r>
          </a:p>
          <a:p>
            <a:pPr lvl="1"/>
            <a:endParaRPr lang="en-US" sz="2400" dirty="0"/>
          </a:p>
          <a:p>
            <a:r>
              <a:rPr lang="en-US" sz="2800" b="1" dirty="0"/>
              <a:t>Common Uses</a:t>
            </a:r>
            <a:endParaRPr lang="en-US" sz="2800" dirty="0"/>
          </a:p>
          <a:p>
            <a:pPr lvl="1"/>
            <a:r>
              <a:rPr lang="en-US" sz="2400" dirty="0"/>
              <a:t>Even / odd checks</a:t>
            </a:r>
          </a:p>
          <a:p>
            <a:pPr lvl="1"/>
            <a:r>
              <a:rPr lang="en-US" sz="2400" dirty="0"/>
              <a:t>Cycling values</a:t>
            </a:r>
          </a:p>
          <a:p>
            <a:pPr lvl="1"/>
            <a:r>
              <a:rPr lang="en-US" sz="2400" dirty="0"/>
              <a:t>Time and clock arithmetic</a:t>
            </a:r>
          </a:p>
          <a:p>
            <a:endParaRPr lang="en-US" sz="2800" dirty="0"/>
          </a:p>
        </p:txBody>
      </p:sp>
    </p:spTree>
    <p:extLst>
      <p:ext uri="{BB962C8B-B14F-4D97-AF65-F5344CB8AC3E}">
        <p14:creationId xmlns:p14="http://schemas.microsoft.com/office/powerpoint/2010/main" val="35927396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13291-65A7-BA2A-7BE8-262F1F89E68C}"/>
              </a:ext>
            </a:extLst>
          </p:cNvPr>
          <p:cNvSpPr>
            <a:spLocks noGrp="1"/>
          </p:cNvSpPr>
          <p:nvPr>
            <p:ph type="title"/>
          </p:nvPr>
        </p:nvSpPr>
        <p:spPr/>
        <p:txBody>
          <a:bodyPr/>
          <a:lstStyle/>
          <a:p>
            <a:r>
              <a:rPr lang="en-SG" dirty="0"/>
              <a:t>Exponentiation</a:t>
            </a:r>
          </a:p>
        </p:txBody>
      </p:sp>
      <p:sp>
        <p:nvSpPr>
          <p:cNvPr id="3" name="Content Placeholder 2">
            <a:extLst>
              <a:ext uri="{FF2B5EF4-FFF2-40B4-BE49-F238E27FC236}">
                <a16:creationId xmlns:a16="http://schemas.microsoft.com/office/drawing/2014/main" id="{F508C48A-F330-3B83-78F5-8C3E19DA6E3E}"/>
              </a:ext>
            </a:extLst>
          </p:cNvPr>
          <p:cNvSpPr>
            <a:spLocks noGrp="1"/>
          </p:cNvSpPr>
          <p:nvPr>
            <p:ph idx="1"/>
          </p:nvPr>
        </p:nvSpPr>
        <p:spPr/>
        <p:txBody>
          <a:bodyPr/>
          <a:lstStyle/>
          <a:p>
            <a:pPr marL="0" indent="0">
              <a:buNone/>
            </a:pPr>
            <a:r>
              <a:rPr lang="en-SG" dirty="0"/>
              <a:t># Using **</a:t>
            </a:r>
          </a:p>
          <a:p>
            <a:pPr marL="0" indent="0">
              <a:buNone/>
            </a:pPr>
            <a:r>
              <a:rPr lang="en-SG" dirty="0"/>
              <a:t>2 ** 10   # 1024</a:t>
            </a:r>
          </a:p>
          <a:p>
            <a:pPr marL="0" indent="0">
              <a:buNone/>
            </a:pPr>
            <a:endParaRPr lang="en-SG" dirty="0"/>
          </a:p>
          <a:p>
            <a:pPr marL="0" indent="0">
              <a:buNone/>
            </a:pPr>
            <a:r>
              <a:rPr lang="en-SG" dirty="0"/>
              <a:t># Using pow()</a:t>
            </a:r>
          </a:p>
          <a:p>
            <a:pPr marL="0" indent="0">
              <a:buNone/>
            </a:pPr>
            <a:r>
              <a:rPr lang="en-US" dirty="0"/>
              <a:t>pow(2, 10)        # 1024</a:t>
            </a:r>
          </a:p>
          <a:p>
            <a:pPr marL="0" indent="0">
              <a:buNone/>
            </a:pPr>
            <a:r>
              <a:rPr lang="en-US" dirty="0"/>
              <a:t>pow(2, 10, 100)  # 24  (modular exponentiation)</a:t>
            </a:r>
          </a:p>
          <a:p>
            <a:pPr marL="0" indent="0">
              <a:buNone/>
            </a:pPr>
            <a:endParaRPr lang="en-SG" dirty="0"/>
          </a:p>
        </p:txBody>
      </p:sp>
    </p:spTree>
    <p:extLst>
      <p:ext uri="{BB962C8B-B14F-4D97-AF65-F5344CB8AC3E}">
        <p14:creationId xmlns:p14="http://schemas.microsoft.com/office/powerpoint/2010/main" val="3129518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7FC40-69D6-E00E-1FB7-4D0EF823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7366F-4A27-A58E-3EE1-1E6A3F0EACC1}"/>
              </a:ext>
            </a:extLst>
          </p:cNvPr>
          <p:cNvSpPr>
            <a:spLocks noGrp="1"/>
          </p:cNvSpPr>
          <p:nvPr>
            <p:ph type="title"/>
          </p:nvPr>
        </p:nvSpPr>
        <p:spPr/>
        <p:txBody>
          <a:bodyPr/>
          <a:lstStyle/>
          <a:p>
            <a:r>
              <a:rPr lang="en-SG" dirty="0"/>
              <a:t>Assignment Operators</a:t>
            </a:r>
          </a:p>
        </p:txBody>
      </p:sp>
      <p:sp>
        <p:nvSpPr>
          <p:cNvPr id="3" name="Content Placeholder 2">
            <a:extLst>
              <a:ext uri="{FF2B5EF4-FFF2-40B4-BE49-F238E27FC236}">
                <a16:creationId xmlns:a16="http://schemas.microsoft.com/office/drawing/2014/main" id="{C370E644-9C65-A86C-36CB-5626F21D75E8}"/>
              </a:ext>
            </a:extLst>
          </p:cNvPr>
          <p:cNvSpPr>
            <a:spLocks noGrp="1"/>
          </p:cNvSpPr>
          <p:nvPr>
            <p:ph idx="1"/>
          </p:nvPr>
        </p:nvSpPr>
        <p:spPr>
          <a:xfrm>
            <a:off x="457200" y="1600200"/>
            <a:ext cx="9550400" cy="4525963"/>
          </a:xfrm>
        </p:spPr>
        <p:txBody>
          <a:bodyPr>
            <a:normAutofit/>
          </a:bodyPr>
          <a:lstStyle/>
          <a:p>
            <a:pPr marL="0" indent="0">
              <a:buNone/>
            </a:pPr>
            <a:r>
              <a:rPr lang="en-SG" dirty="0"/>
              <a:t>x = 10</a:t>
            </a:r>
          </a:p>
          <a:p>
            <a:pPr marL="0" indent="0">
              <a:buNone/>
            </a:pPr>
            <a:r>
              <a:rPr lang="en-SG" dirty="0"/>
              <a:t>x += 1    # x = x + 1</a:t>
            </a:r>
          </a:p>
          <a:p>
            <a:pPr marL="0" indent="0">
              <a:buNone/>
            </a:pPr>
            <a:r>
              <a:rPr lang="en-SG" dirty="0"/>
              <a:t>x -= 2</a:t>
            </a:r>
          </a:p>
          <a:p>
            <a:pPr marL="0" indent="0">
              <a:buNone/>
            </a:pPr>
            <a:r>
              <a:rPr lang="en-SG" dirty="0"/>
              <a:t>x *= 3</a:t>
            </a:r>
          </a:p>
          <a:p>
            <a:pPr marL="0" indent="0">
              <a:buNone/>
            </a:pPr>
            <a:r>
              <a:rPr lang="en-SG" dirty="0"/>
              <a:t>x //= 2</a:t>
            </a:r>
          </a:p>
          <a:p>
            <a:pPr marL="0" indent="0">
              <a:buNone/>
            </a:pPr>
            <a:endParaRPr lang="en-SG" dirty="0"/>
          </a:p>
          <a:p>
            <a:pPr marL="0" indent="0">
              <a:buNone/>
            </a:pPr>
            <a:r>
              <a:rPr lang="en-SG" dirty="0"/>
              <a:t># </a:t>
            </a:r>
            <a:r>
              <a:rPr lang="en-US" dirty="0"/>
              <a:t>Assignment operators rebind variables to new objects</a:t>
            </a:r>
          </a:p>
          <a:p>
            <a:pPr marL="0" indent="0">
              <a:buNone/>
            </a:pPr>
            <a:endParaRPr lang="en-SG" dirty="0"/>
          </a:p>
        </p:txBody>
      </p:sp>
    </p:spTree>
    <p:extLst>
      <p:ext uri="{BB962C8B-B14F-4D97-AF65-F5344CB8AC3E}">
        <p14:creationId xmlns:p14="http://schemas.microsoft.com/office/powerpoint/2010/main" val="4471376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E7F0F-DDCD-F2EC-F850-8AB2D71BF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B7A6E-8629-EC14-A2BA-B938848B153C}"/>
              </a:ext>
            </a:extLst>
          </p:cNvPr>
          <p:cNvSpPr>
            <a:spLocks noGrp="1"/>
          </p:cNvSpPr>
          <p:nvPr>
            <p:ph type="title"/>
          </p:nvPr>
        </p:nvSpPr>
        <p:spPr/>
        <p:txBody>
          <a:bodyPr>
            <a:normAutofit/>
          </a:bodyPr>
          <a:lstStyle/>
          <a:p>
            <a:r>
              <a:rPr lang="en-US" dirty="0"/>
              <a:t>Operator Precedence</a:t>
            </a:r>
          </a:p>
        </p:txBody>
      </p:sp>
      <p:sp>
        <p:nvSpPr>
          <p:cNvPr id="3" name="Content Placeholder 2">
            <a:extLst>
              <a:ext uri="{FF2B5EF4-FFF2-40B4-BE49-F238E27FC236}">
                <a16:creationId xmlns:a16="http://schemas.microsoft.com/office/drawing/2014/main" id="{A3E05C29-3FBE-7BDF-C881-0BD223C7570C}"/>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result = 2 + 3 * 4   # 14</a:t>
            </a:r>
          </a:p>
        </p:txBody>
      </p:sp>
      <p:sp>
        <p:nvSpPr>
          <p:cNvPr id="4" name="Content Placeholder 2">
            <a:extLst>
              <a:ext uri="{FF2B5EF4-FFF2-40B4-BE49-F238E27FC236}">
                <a16:creationId xmlns:a16="http://schemas.microsoft.com/office/drawing/2014/main" id="{03EA6AD0-F977-1B5D-BDE9-19C332169FD6}"/>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a:t>
            </a:r>
            <a:r>
              <a:rPr lang="en-US" sz="2800" dirty="0"/>
              <a:t> parentheses</a:t>
            </a:r>
          </a:p>
          <a:p>
            <a:r>
              <a:rPr lang="en-US" dirty="0"/>
              <a:t>**</a:t>
            </a:r>
            <a:r>
              <a:rPr lang="en-US" sz="2800" dirty="0"/>
              <a:t> exponentiation</a:t>
            </a:r>
          </a:p>
          <a:p>
            <a:r>
              <a:rPr lang="en-US" dirty="0"/>
              <a:t>* / // %</a:t>
            </a:r>
            <a:endParaRPr lang="en-US" sz="2800" dirty="0"/>
          </a:p>
          <a:p>
            <a:r>
              <a:rPr lang="en-US" dirty="0"/>
              <a:t>+ -</a:t>
            </a:r>
            <a:endParaRPr lang="en-US" sz="2800" dirty="0"/>
          </a:p>
        </p:txBody>
      </p:sp>
    </p:spTree>
    <p:extLst>
      <p:ext uri="{BB962C8B-B14F-4D97-AF65-F5344CB8AC3E}">
        <p14:creationId xmlns:p14="http://schemas.microsoft.com/office/powerpoint/2010/main" val="10629733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CD1DD-F7DB-90E7-41CA-010220643A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1B0E6-0698-8847-8904-A084A75607B9}"/>
              </a:ext>
            </a:extLst>
          </p:cNvPr>
          <p:cNvSpPr>
            <a:spLocks noGrp="1"/>
          </p:cNvSpPr>
          <p:nvPr>
            <p:ph type="title"/>
          </p:nvPr>
        </p:nvSpPr>
        <p:spPr/>
        <p:txBody>
          <a:bodyPr>
            <a:normAutofit/>
          </a:bodyPr>
          <a:lstStyle/>
          <a:p>
            <a:r>
              <a:rPr lang="en-US" dirty="0"/>
              <a:t>Comparing Numbers</a:t>
            </a:r>
          </a:p>
        </p:txBody>
      </p:sp>
      <p:sp>
        <p:nvSpPr>
          <p:cNvPr id="3" name="Content Placeholder 2">
            <a:extLst>
              <a:ext uri="{FF2B5EF4-FFF2-40B4-BE49-F238E27FC236}">
                <a16:creationId xmlns:a16="http://schemas.microsoft.com/office/drawing/2014/main" id="{DE104900-8F50-E0A9-493B-31541B426457}"/>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Comparison Operators</a:t>
            </a:r>
          </a:p>
          <a:p>
            <a:pPr marL="0" indent="0">
              <a:buNone/>
            </a:pPr>
            <a:r>
              <a:rPr lang="en-US" dirty="0"/>
              <a:t>==   !=</a:t>
            </a:r>
          </a:p>
          <a:p>
            <a:pPr marL="0" indent="0">
              <a:buNone/>
            </a:pPr>
            <a:r>
              <a:rPr lang="en-US" dirty="0"/>
              <a:t>&gt;    &lt;</a:t>
            </a:r>
          </a:p>
          <a:p>
            <a:pPr marL="0" indent="0">
              <a:buNone/>
            </a:pPr>
            <a:r>
              <a:rPr lang="en-US" dirty="0"/>
              <a:t>&gt;=   &lt;=</a:t>
            </a:r>
          </a:p>
        </p:txBody>
      </p:sp>
      <p:sp>
        <p:nvSpPr>
          <p:cNvPr id="4" name="Content Placeholder 2">
            <a:extLst>
              <a:ext uri="{FF2B5EF4-FFF2-40B4-BE49-F238E27FC236}">
                <a16:creationId xmlns:a16="http://schemas.microsoft.com/office/drawing/2014/main" id="{62E2DCB9-C381-6C49-693F-0ACFAD14C901}"/>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dirty="0"/>
              <a:t>x = 10</a:t>
            </a:r>
          </a:p>
          <a:p>
            <a:pPr marL="0" indent="0">
              <a:buNone/>
            </a:pPr>
            <a:r>
              <a:rPr lang="en-US" dirty="0"/>
              <a:t>x &gt; 5     # True</a:t>
            </a:r>
          </a:p>
        </p:txBody>
      </p:sp>
    </p:spTree>
    <p:extLst>
      <p:ext uri="{BB962C8B-B14F-4D97-AF65-F5344CB8AC3E}">
        <p14:creationId xmlns:p14="http://schemas.microsoft.com/office/powerpoint/2010/main" val="9745681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AD546-D756-E922-836A-171662F48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2BA85-DB94-C1D8-38B2-0EE127BC0DB9}"/>
              </a:ext>
            </a:extLst>
          </p:cNvPr>
          <p:cNvSpPr>
            <a:spLocks noGrp="1"/>
          </p:cNvSpPr>
          <p:nvPr>
            <p:ph type="title"/>
          </p:nvPr>
        </p:nvSpPr>
        <p:spPr/>
        <p:txBody>
          <a:bodyPr>
            <a:normAutofit/>
          </a:bodyPr>
          <a:lstStyle/>
          <a:p>
            <a:r>
              <a:rPr lang="en-US" dirty="0"/>
              <a:t>Numbers &amp; Boolean Results</a:t>
            </a:r>
          </a:p>
        </p:txBody>
      </p:sp>
      <p:sp>
        <p:nvSpPr>
          <p:cNvPr id="3" name="Content Placeholder 2">
            <a:extLst>
              <a:ext uri="{FF2B5EF4-FFF2-40B4-BE49-F238E27FC236}">
                <a16:creationId xmlns:a16="http://schemas.microsoft.com/office/drawing/2014/main" id="{5AA0564D-84FC-B23E-86FD-DEED9739BB7F}"/>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r>
              <a:rPr lang="en-US" dirty="0"/>
              <a:t>Comparisons Return Booleans</a:t>
            </a:r>
          </a:p>
          <a:p>
            <a:endParaRPr lang="en-US" dirty="0"/>
          </a:p>
          <a:p>
            <a:r>
              <a:rPr lang="en-US" dirty="0"/>
              <a:t>Used in</a:t>
            </a:r>
          </a:p>
          <a:p>
            <a:pPr lvl="1"/>
            <a:r>
              <a:rPr lang="en-US" dirty="0"/>
              <a:t>if statements</a:t>
            </a:r>
          </a:p>
          <a:p>
            <a:pPr lvl="1"/>
            <a:r>
              <a:rPr lang="en-US" dirty="0"/>
              <a:t>loops</a:t>
            </a:r>
          </a:p>
          <a:p>
            <a:pPr lvl="1"/>
            <a:r>
              <a:rPr lang="en-US" dirty="0"/>
              <a:t>conditional expressions</a:t>
            </a:r>
          </a:p>
          <a:p>
            <a:endParaRPr lang="en-US" dirty="0"/>
          </a:p>
        </p:txBody>
      </p:sp>
      <p:sp>
        <p:nvSpPr>
          <p:cNvPr id="4" name="Content Placeholder 2">
            <a:extLst>
              <a:ext uri="{FF2B5EF4-FFF2-40B4-BE49-F238E27FC236}">
                <a16:creationId xmlns:a16="http://schemas.microsoft.com/office/drawing/2014/main" id="{9BA328F4-4CCE-8765-BE89-7FFFE9B4FACA}"/>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da-DK" dirty="0"/>
              <a:t>5 &gt; 3          # True</a:t>
            </a:r>
          </a:p>
          <a:p>
            <a:pPr marL="0" indent="0">
              <a:buNone/>
            </a:pPr>
            <a:r>
              <a:rPr lang="da-DK" dirty="0"/>
              <a:t>10 == 5        # False</a:t>
            </a:r>
          </a:p>
        </p:txBody>
      </p:sp>
    </p:spTree>
    <p:extLst>
      <p:ext uri="{BB962C8B-B14F-4D97-AF65-F5344CB8AC3E}">
        <p14:creationId xmlns:p14="http://schemas.microsoft.com/office/powerpoint/2010/main" val="3461805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9AA33-B2D9-3421-BE7E-D3A6DFC4A4C6}"/>
              </a:ext>
            </a:extLst>
          </p:cNvPr>
          <p:cNvSpPr>
            <a:spLocks noGrp="1"/>
          </p:cNvSpPr>
          <p:nvPr>
            <p:ph type="title"/>
          </p:nvPr>
        </p:nvSpPr>
        <p:spPr/>
        <p:txBody>
          <a:bodyPr/>
          <a:lstStyle/>
          <a:p>
            <a:r>
              <a:rPr lang="en-SG" dirty="0"/>
              <a:t>Type Conversion with Numbers</a:t>
            </a:r>
          </a:p>
        </p:txBody>
      </p:sp>
      <p:sp>
        <p:nvSpPr>
          <p:cNvPr id="3" name="Content Placeholder 2">
            <a:extLst>
              <a:ext uri="{FF2B5EF4-FFF2-40B4-BE49-F238E27FC236}">
                <a16:creationId xmlns:a16="http://schemas.microsoft.com/office/drawing/2014/main" id="{82A75FAB-C388-750F-EF87-4C86AC813260}"/>
              </a:ext>
            </a:extLst>
          </p:cNvPr>
          <p:cNvSpPr>
            <a:spLocks noGrp="1"/>
          </p:cNvSpPr>
          <p:nvPr>
            <p:ph idx="1"/>
          </p:nvPr>
        </p:nvSpPr>
        <p:spPr/>
        <p:txBody>
          <a:bodyPr/>
          <a:lstStyle/>
          <a:p>
            <a:pPr marL="0" indent="0">
              <a:buNone/>
            </a:pPr>
            <a:r>
              <a:rPr lang="en-SG" dirty="0"/>
              <a:t>int("10")      # 10</a:t>
            </a:r>
          </a:p>
          <a:p>
            <a:pPr marL="0" indent="0">
              <a:buNone/>
            </a:pPr>
            <a:r>
              <a:rPr lang="en-SG" dirty="0"/>
              <a:t>float("3.14")  # 3.14</a:t>
            </a:r>
          </a:p>
          <a:p>
            <a:pPr marL="0" indent="0">
              <a:buNone/>
            </a:pPr>
            <a:r>
              <a:rPr lang="en-SG" dirty="0"/>
              <a:t>int(3.9)       # 3</a:t>
            </a:r>
          </a:p>
          <a:p>
            <a:pPr marL="0" indent="0">
              <a:buNone/>
            </a:pPr>
            <a:endParaRPr lang="en-SG" dirty="0"/>
          </a:p>
          <a:p>
            <a:r>
              <a:rPr lang="en-SG" dirty="0"/>
              <a:t># </a:t>
            </a:r>
            <a:r>
              <a:rPr lang="en-US" dirty="0"/>
              <a:t>Casting truncates, not rounds</a:t>
            </a:r>
          </a:p>
          <a:p>
            <a:pPr marL="0" indent="0">
              <a:buNone/>
            </a:pPr>
            <a:endParaRPr lang="en-SG" dirty="0"/>
          </a:p>
        </p:txBody>
      </p:sp>
    </p:spTree>
    <p:extLst>
      <p:ext uri="{BB962C8B-B14F-4D97-AF65-F5344CB8AC3E}">
        <p14:creationId xmlns:p14="http://schemas.microsoft.com/office/powerpoint/2010/main" val="3941521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132CF-4819-C9F5-78E4-201E0348A3D0}"/>
              </a:ext>
            </a:extLst>
          </p:cNvPr>
          <p:cNvSpPr>
            <a:spLocks noGrp="1"/>
          </p:cNvSpPr>
          <p:nvPr>
            <p:ph type="title"/>
          </p:nvPr>
        </p:nvSpPr>
        <p:spPr/>
        <p:txBody>
          <a:bodyPr/>
          <a:lstStyle/>
          <a:p>
            <a:r>
              <a:rPr lang="en-US" dirty="0"/>
              <a:t>Common Numeric Pitfalls</a:t>
            </a:r>
            <a:endParaRPr lang="en-SG" dirty="0"/>
          </a:p>
        </p:txBody>
      </p:sp>
      <p:sp>
        <p:nvSpPr>
          <p:cNvPr id="3" name="Content Placeholder 2">
            <a:extLst>
              <a:ext uri="{FF2B5EF4-FFF2-40B4-BE49-F238E27FC236}">
                <a16:creationId xmlns:a16="http://schemas.microsoft.com/office/drawing/2014/main" id="{E2B33AE8-C5B3-7B88-E836-E7A2AD00E6EC}"/>
              </a:ext>
            </a:extLst>
          </p:cNvPr>
          <p:cNvSpPr>
            <a:spLocks noGrp="1"/>
          </p:cNvSpPr>
          <p:nvPr>
            <p:ph idx="1"/>
          </p:nvPr>
        </p:nvSpPr>
        <p:spPr/>
        <p:txBody>
          <a:bodyPr/>
          <a:lstStyle/>
          <a:p>
            <a:r>
              <a:rPr lang="en-US" dirty="0"/>
              <a:t>Floating-point precision errors</a:t>
            </a:r>
          </a:p>
          <a:p>
            <a:r>
              <a:rPr lang="en-US" dirty="0"/>
              <a:t>Dividing integers expecting integers</a:t>
            </a:r>
          </a:p>
          <a:p>
            <a:r>
              <a:rPr lang="en-US" dirty="0"/>
              <a:t>Using == with floats</a:t>
            </a:r>
          </a:p>
          <a:p>
            <a:r>
              <a:rPr lang="en-US" dirty="0"/>
              <a:t>Floor division with negative numbers</a:t>
            </a:r>
          </a:p>
          <a:p>
            <a:endParaRPr lang="en-SG" dirty="0"/>
          </a:p>
        </p:txBody>
      </p:sp>
    </p:spTree>
    <p:extLst>
      <p:ext uri="{BB962C8B-B14F-4D97-AF65-F5344CB8AC3E}">
        <p14:creationId xmlns:p14="http://schemas.microsoft.com/office/powerpoint/2010/main" val="15421123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63E25-4811-4BBF-74BA-C0EF882BECCE}"/>
              </a:ext>
            </a:extLst>
          </p:cNvPr>
          <p:cNvSpPr>
            <a:spLocks noGrp="1"/>
          </p:cNvSpPr>
          <p:nvPr>
            <p:ph type="title"/>
          </p:nvPr>
        </p:nvSpPr>
        <p:spPr/>
        <p:txBody>
          <a:bodyPr/>
          <a:lstStyle/>
          <a:p>
            <a:r>
              <a:rPr lang="en-SG" dirty="0"/>
              <a:t>Best Practices</a:t>
            </a:r>
          </a:p>
        </p:txBody>
      </p:sp>
      <p:sp>
        <p:nvSpPr>
          <p:cNvPr id="3" name="Content Placeholder 2">
            <a:extLst>
              <a:ext uri="{FF2B5EF4-FFF2-40B4-BE49-F238E27FC236}">
                <a16:creationId xmlns:a16="http://schemas.microsoft.com/office/drawing/2014/main" id="{2285A6F8-D947-3FF2-6A24-B46EB4C20D95}"/>
              </a:ext>
            </a:extLst>
          </p:cNvPr>
          <p:cNvSpPr>
            <a:spLocks noGrp="1"/>
          </p:cNvSpPr>
          <p:nvPr>
            <p:ph idx="1"/>
          </p:nvPr>
        </p:nvSpPr>
        <p:spPr/>
        <p:txBody>
          <a:bodyPr/>
          <a:lstStyle/>
          <a:p>
            <a:r>
              <a:rPr lang="en-US" dirty="0"/>
              <a:t>Use Decimal for money</a:t>
            </a:r>
          </a:p>
          <a:p>
            <a:r>
              <a:rPr lang="en-US" dirty="0"/>
              <a:t>Use integers for counts</a:t>
            </a:r>
          </a:p>
          <a:p>
            <a:r>
              <a:rPr lang="en-US" dirty="0"/>
              <a:t>Use // and % intentionally</a:t>
            </a:r>
          </a:p>
          <a:p>
            <a:r>
              <a:rPr lang="en-US" dirty="0"/>
              <a:t>Group expressions with parentheses</a:t>
            </a:r>
          </a:p>
          <a:p>
            <a:endParaRPr lang="en-SG" dirty="0"/>
          </a:p>
        </p:txBody>
      </p:sp>
    </p:spTree>
    <p:extLst>
      <p:ext uri="{BB962C8B-B14F-4D97-AF65-F5344CB8AC3E}">
        <p14:creationId xmlns:p14="http://schemas.microsoft.com/office/powerpoint/2010/main" val="1250581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BF920-9D3F-421F-0F1A-2CD702CA6688}"/>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D797C996-680F-2593-A35D-380A8967E0E3}"/>
              </a:ext>
            </a:extLst>
          </p:cNvPr>
          <p:cNvSpPr>
            <a:spLocks noGrp="1"/>
          </p:cNvSpPr>
          <p:nvPr>
            <p:ph idx="1"/>
          </p:nvPr>
        </p:nvSpPr>
        <p:spPr/>
        <p:txBody>
          <a:bodyPr/>
          <a:lstStyle/>
          <a:p>
            <a:r>
              <a:rPr lang="en-US" dirty="0"/>
              <a:t>Ask the user for two numbers</a:t>
            </a:r>
          </a:p>
          <a:p>
            <a:endParaRPr lang="en-US" dirty="0"/>
          </a:p>
          <a:p>
            <a:r>
              <a:rPr lang="en-US" dirty="0"/>
              <a:t>Print:</a:t>
            </a:r>
          </a:p>
          <a:p>
            <a:pPr lvl="1"/>
            <a:r>
              <a:rPr lang="en-US" dirty="0"/>
              <a:t>Sum</a:t>
            </a:r>
          </a:p>
          <a:p>
            <a:pPr lvl="1"/>
            <a:r>
              <a:rPr lang="en-US" dirty="0"/>
              <a:t>Difference</a:t>
            </a:r>
          </a:p>
          <a:p>
            <a:pPr lvl="1"/>
            <a:r>
              <a:rPr lang="en-US" dirty="0"/>
              <a:t>Product</a:t>
            </a:r>
          </a:p>
          <a:p>
            <a:pPr lvl="1"/>
            <a:r>
              <a:rPr lang="en-US" dirty="0"/>
              <a:t>Quotient (float)</a:t>
            </a:r>
          </a:p>
          <a:p>
            <a:endParaRPr lang="en-SG" dirty="0"/>
          </a:p>
        </p:txBody>
      </p:sp>
    </p:spTree>
    <p:extLst>
      <p:ext uri="{BB962C8B-B14F-4D97-AF65-F5344CB8AC3E}">
        <p14:creationId xmlns:p14="http://schemas.microsoft.com/office/powerpoint/2010/main" val="41650023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CBBA6-53A4-6534-2C34-5A94061664F5}"/>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8DDEFB3B-326D-B11C-DA90-9312FE9E35D1}"/>
              </a:ext>
            </a:extLst>
          </p:cNvPr>
          <p:cNvSpPr>
            <a:spLocks noGrp="1"/>
          </p:cNvSpPr>
          <p:nvPr>
            <p:ph idx="1"/>
          </p:nvPr>
        </p:nvSpPr>
        <p:spPr/>
        <p:txBody>
          <a:bodyPr/>
          <a:lstStyle/>
          <a:p>
            <a:pPr marL="0" indent="0">
              <a:buNone/>
            </a:pPr>
            <a:r>
              <a:rPr lang="en-US" dirty="0"/>
              <a:t>a = float(input("Enter first number: "))</a:t>
            </a:r>
          </a:p>
          <a:p>
            <a:pPr marL="0" indent="0">
              <a:buNone/>
            </a:pPr>
            <a:r>
              <a:rPr lang="en-US" dirty="0"/>
              <a:t>b = float(input("Enter second number: "))</a:t>
            </a:r>
          </a:p>
          <a:p>
            <a:pPr marL="0" indent="0">
              <a:buNone/>
            </a:pPr>
            <a:endParaRPr lang="en-US" dirty="0"/>
          </a:p>
          <a:p>
            <a:pPr marL="0" indent="0">
              <a:buNone/>
            </a:pPr>
            <a:r>
              <a:rPr lang="en-US" dirty="0"/>
              <a:t>print("Sum:", a + b)</a:t>
            </a:r>
          </a:p>
          <a:p>
            <a:pPr marL="0" indent="0">
              <a:buNone/>
            </a:pPr>
            <a:r>
              <a:rPr lang="en-US" dirty="0"/>
              <a:t>print("Difference:", a - b)</a:t>
            </a:r>
          </a:p>
          <a:p>
            <a:pPr marL="0" indent="0">
              <a:buNone/>
            </a:pPr>
            <a:r>
              <a:rPr lang="en-US" dirty="0"/>
              <a:t>print("Product:", a * b)</a:t>
            </a:r>
          </a:p>
          <a:p>
            <a:pPr marL="0" indent="0">
              <a:buNone/>
            </a:pPr>
            <a:r>
              <a:rPr lang="en-US" dirty="0"/>
              <a:t>print("Quotient:", a / b)</a:t>
            </a:r>
          </a:p>
          <a:p>
            <a:pPr marL="0" indent="0">
              <a:buNone/>
            </a:pPr>
            <a:endParaRPr lang="en-SG" dirty="0"/>
          </a:p>
        </p:txBody>
      </p:sp>
    </p:spTree>
    <p:extLst>
      <p:ext uri="{BB962C8B-B14F-4D97-AF65-F5344CB8AC3E}">
        <p14:creationId xmlns:p14="http://schemas.microsoft.com/office/powerpoint/2010/main" val="36767301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EC874-8C58-E955-9F43-BE98606C8193}"/>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21A9ED1-5A58-F025-D60A-80A827BE713C}"/>
              </a:ext>
            </a:extLst>
          </p:cNvPr>
          <p:cNvSpPr>
            <a:spLocks noGrp="1"/>
          </p:cNvSpPr>
          <p:nvPr>
            <p:ph idx="1"/>
          </p:nvPr>
        </p:nvSpPr>
        <p:spPr/>
        <p:txBody>
          <a:bodyPr/>
          <a:lstStyle/>
          <a:p>
            <a:r>
              <a:rPr lang="en-US" dirty="0"/>
              <a:t>Python supports multiple numeric types</a:t>
            </a:r>
          </a:p>
          <a:p>
            <a:r>
              <a:rPr lang="en-US" dirty="0"/>
              <a:t>Operator choice affects results</a:t>
            </a:r>
          </a:p>
          <a:p>
            <a:r>
              <a:rPr lang="en-US" dirty="0"/>
              <a:t>Floating-point math has limitations</a:t>
            </a:r>
          </a:p>
          <a:p>
            <a:r>
              <a:rPr lang="en-US" dirty="0"/>
              <a:t>Clarity beats cleverness in numeric code</a:t>
            </a:r>
          </a:p>
          <a:p>
            <a:endParaRPr lang="en-SG" dirty="0"/>
          </a:p>
        </p:txBody>
      </p:sp>
    </p:spTree>
    <p:extLst>
      <p:ext uri="{BB962C8B-B14F-4D97-AF65-F5344CB8AC3E}">
        <p14:creationId xmlns:p14="http://schemas.microsoft.com/office/powerpoint/2010/main" val="39148844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7 / 3            # 2.333…  (float)</a:t>
            </a:r>
            <a:br>
              <a:rPr sz="2400" dirty="0"/>
            </a:br>
            <a:r>
              <a:rPr sz="2400" dirty="0"/>
              <a:t>7 // 3           # 2       (floor int)</a:t>
            </a:r>
            <a:br>
              <a:rPr sz="2400" dirty="0"/>
            </a:br>
            <a:r>
              <a:rPr sz="2400" dirty="0"/>
              <a:t>7 % 3            # 1       (modulo)</a:t>
            </a:r>
            <a:br>
              <a:rPr sz="2400" dirty="0"/>
            </a:br>
            <a:r>
              <a:rPr sz="2400" dirty="0" err="1"/>
              <a:t>divmod</a:t>
            </a:r>
            <a:r>
              <a:rPr sz="2400" dirty="0"/>
              <a:t>(7, 3)     # (2, 1)</a:t>
            </a:r>
            <a:br>
              <a:rPr sz="2400" dirty="0"/>
            </a:br>
            <a:br>
              <a:rPr sz="2400" dirty="0"/>
            </a:br>
            <a:r>
              <a:rPr sz="2400" dirty="0"/>
              <a:t>2 ** 10          # 1024</a:t>
            </a:r>
            <a:br>
              <a:rPr sz="2400" dirty="0"/>
            </a:br>
            <a:r>
              <a:rPr sz="2400" dirty="0"/>
              <a:t>pow(2, 10, 100)  # 24  (modular exponentiation)</a:t>
            </a:r>
            <a:br>
              <a:rPr sz="2400" dirty="0"/>
            </a:br>
            <a:br>
              <a:rPr sz="2400" dirty="0"/>
            </a:br>
            <a:r>
              <a:rPr sz="2400" dirty="0"/>
              <a:t>from decimal import Decimal</a:t>
            </a:r>
            <a:br>
              <a:rPr sz="2400" dirty="0"/>
            </a:br>
            <a:r>
              <a:rPr sz="2400" dirty="0"/>
              <a:t>price = Decimal('19.99')</a:t>
            </a:r>
            <a:br>
              <a:rPr sz="2400" dirty="0"/>
            </a:br>
            <a:r>
              <a:rPr sz="2400" dirty="0"/>
              <a:t>tax   = price * Decimal('0.07')</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EDBEF-D376-5E7E-2F51-E597F0E9A040}"/>
              </a:ext>
            </a:extLst>
          </p:cNvPr>
          <p:cNvSpPr>
            <a:spLocks noGrp="1"/>
          </p:cNvSpPr>
          <p:nvPr>
            <p:ph type="title"/>
          </p:nvPr>
        </p:nvSpPr>
        <p:spPr/>
        <p:txBody>
          <a:bodyPr/>
          <a:lstStyle/>
          <a:p>
            <a:r>
              <a:rPr lang="en-SG" dirty="0"/>
              <a:t>Attributes and Methods</a:t>
            </a:r>
          </a:p>
        </p:txBody>
      </p:sp>
      <p:sp>
        <p:nvSpPr>
          <p:cNvPr id="3" name="Content Placeholder 2">
            <a:extLst>
              <a:ext uri="{FF2B5EF4-FFF2-40B4-BE49-F238E27FC236}">
                <a16:creationId xmlns:a16="http://schemas.microsoft.com/office/drawing/2014/main" id="{D400DD97-CB3B-C333-B251-F749C8C26444}"/>
              </a:ext>
            </a:extLst>
          </p:cNvPr>
          <p:cNvSpPr>
            <a:spLocks noGrp="1"/>
          </p:cNvSpPr>
          <p:nvPr>
            <p:ph idx="1"/>
          </p:nvPr>
        </p:nvSpPr>
        <p:spPr/>
        <p:txBody>
          <a:bodyPr/>
          <a:lstStyle/>
          <a:p>
            <a:r>
              <a:rPr lang="en-US" dirty="0"/>
              <a:t>Different data types will have various attributes/methods that are associated with them.</a:t>
            </a:r>
          </a:p>
          <a:p>
            <a:r>
              <a:rPr lang="en-US" dirty="0"/>
              <a:t>We can access these attributes by using a period: [</a:t>
            </a:r>
            <a:r>
              <a:rPr lang="en-US" dirty="0" err="1"/>
              <a:t>var_name</a:t>
            </a:r>
            <a:r>
              <a:rPr lang="en-US" dirty="0"/>
              <a:t>].[attribute]</a:t>
            </a:r>
            <a:endParaRPr lang="en-SG" dirty="0"/>
          </a:p>
        </p:txBody>
      </p:sp>
    </p:spTree>
    <p:extLst>
      <p:ext uri="{BB962C8B-B14F-4D97-AF65-F5344CB8AC3E}">
        <p14:creationId xmlns:p14="http://schemas.microsoft.com/office/powerpoint/2010/main" val="14119773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36BCB-A5CF-82F4-5B90-6E0B4CF53EFE}"/>
              </a:ext>
            </a:extLst>
          </p:cNvPr>
          <p:cNvSpPr>
            <a:spLocks noGrp="1"/>
          </p:cNvSpPr>
          <p:nvPr>
            <p:ph type="title"/>
          </p:nvPr>
        </p:nvSpPr>
        <p:spPr/>
        <p:txBody>
          <a:bodyPr/>
          <a:lstStyle/>
          <a:p>
            <a:r>
              <a:rPr lang="en-SG" dirty="0"/>
              <a:t>Strings</a:t>
            </a:r>
          </a:p>
        </p:txBody>
      </p:sp>
      <p:sp>
        <p:nvSpPr>
          <p:cNvPr id="3" name="Content Placeholder 2">
            <a:extLst>
              <a:ext uri="{FF2B5EF4-FFF2-40B4-BE49-F238E27FC236}">
                <a16:creationId xmlns:a16="http://schemas.microsoft.com/office/drawing/2014/main" id="{1F2E1D83-BFB6-344E-AF06-1EFAA12E572B}"/>
              </a:ext>
            </a:extLst>
          </p:cNvPr>
          <p:cNvSpPr>
            <a:spLocks noGrp="1"/>
          </p:cNvSpPr>
          <p:nvPr>
            <p:ph idx="1"/>
          </p:nvPr>
        </p:nvSpPr>
        <p:spPr>
          <a:xfrm>
            <a:off x="571500" y="1600198"/>
            <a:ext cx="6604000" cy="4525963"/>
          </a:xfrm>
        </p:spPr>
        <p:style>
          <a:lnRef idx="2">
            <a:schemeClr val="dk1"/>
          </a:lnRef>
          <a:fillRef idx="1">
            <a:schemeClr val="lt1"/>
          </a:fillRef>
          <a:effectRef idx="0">
            <a:schemeClr val="dk1"/>
          </a:effectRef>
          <a:fontRef idx="minor">
            <a:schemeClr val="dk1"/>
          </a:fontRef>
        </p:style>
        <p:txBody>
          <a:bodyPr/>
          <a:lstStyle/>
          <a:p>
            <a:r>
              <a:rPr lang="en-US" b="1" dirty="0"/>
              <a:t>Strings: Immutable by Design</a:t>
            </a:r>
          </a:p>
          <a:p>
            <a:pPr lvl="1"/>
            <a:r>
              <a:rPr lang="en-US" dirty="0"/>
              <a:t>Strings cannot change in place</a:t>
            </a:r>
          </a:p>
          <a:p>
            <a:pPr lvl="1"/>
            <a:r>
              <a:rPr lang="en-US" dirty="0"/>
              <a:t>Methods always return </a:t>
            </a:r>
            <a:r>
              <a:rPr lang="en-US" b="1" dirty="0"/>
              <a:t>new strings</a:t>
            </a:r>
            <a:endParaRPr lang="en-US" dirty="0"/>
          </a:p>
          <a:p>
            <a:pPr lvl="1"/>
            <a:r>
              <a:rPr lang="en-US" dirty="0"/>
              <a:t>Use </a:t>
            </a:r>
            <a:r>
              <a:rPr lang="en-US" b="1" dirty="0"/>
              <a:t>f-strings</a:t>
            </a:r>
            <a:r>
              <a:rPr lang="en-US" dirty="0"/>
              <a:t> exclusively</a:t>
            </a:r>
          </a:p>
          <a:p>
            <a:pPr lvl="1"/>
            <a:endParaRPr lang="en-US" dirty="0"/>
          </a:p>
          <a:p>
            <a:r>
              <a:rPr lang="en-US" b="1" dirty="0"/>
              <a:t>Why this matters</a:t>
            </a:r>
            <a:endParaRPr lang="en-US" dirty="0"/>
          </a:p>
          <a:p>
            <a:pPr lvl="1"/>
            <a:r>
              <a:rPr lang="en-US" dirty="0"/>
              <a:t>Prevents accidental side effects</a:t>
            </a:r>
          </a:p>
          <a:p>
            <a:pPr lvl="1"/>
            <a:r>
              <a:rPr lang="en-US" dirty="0"/>
              <a:t>Enables safer text processing</a:t>
            </a:r>
          </a:p>
        </p:txBody>
      </p:sp>
      <p:sp>
        <p:nvSpPr>
          <p:cNvPr id="7" name="Content Placeholder 2">
            <a:extLst>
              <a:ext uri="{FF2B5EF4-FFF2-40B4-BE49-F238E27FC236}">
                <a16:creationId xmlns:a16="http://schemas.microsoft.com/office/drawing/2014/main" id="{B9882589-B8AD-D557-ACA0-1FC895A4A797}"/>
              </a:ext>
            </a:extLst>
          </p:cNvPr>
          <p:cNvSpPr txBox="1">
            <a:spLocks/>
          </p:cNvSpPr>
          <p:nvPr/>
        </p:nvSpPr>
        <p:spPr>
          <a:xfrm>
            <a:off x="7454900" y="1600199"/>
            <a:ext cx="4276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800" dirty="0"/>
              <a:t>#Small example </a:t>
            </a:r>
          </a:p>
          <a:p>
            <a:pPr marL="0" indent="0">
              <a:buNone/>
            </a:pPr>
            <a:r>
              <a:rPr lang="en-US" sz="2800" dirty="0"/>
              <a:t>x = "Hello World!" </a:t>
            </a:r>
          </a:p>
          <a:p>
            <a:pPr marL="0" indent="0">
              <a:buNone/>
            </a:pPr>
            <a:r>
              <a:rPr lang="en-US" sz="2800" dirty="0" err="1"/>
              <a:t>x.split</a:t>
            </a:r>
            <a:r>
              <a:rPr lang="en-US" sz="2800" dirty="0"/>
              <a:t>(" ") </a:t>
            </a:r>
          </a:p>
          <a:p>
            <a:pPr marL="0" indent="0">
              <a:buNone/>
            </a:pPr>
            <a:endParaRPr lang="en-US" sz="2800" dirty="0"/>
          </a:p>
          <a:p>
            <a:pPr marL="0" indent="0">
              <a:buNone/>
            </a:pPr>
            <a:r>
              <a:rPr lang="en-US" sz="2800" dirty="0"/>
              <a:t># Output</a:t>
            </a:r>
          </a:p>
          <a:p>
            <a:pPr marL="0" indent="0">
              <a:buNone/>
            </a:pPr>
            <a:r>
              <a:rPr lang="en-US" sz="2800" dirty="0"/>
              <a:t>"Hello" "World!"</a:t>
            </a:r>
            <a:endParaRPr lang="en-SG" sz="2800" dirty="0"/>
          </a:p>
        </p:txBody>
      </p:sp>
    </p:spTree>
    <p:extLst>
      <p:ext uri="{BB962C8B-B14F-4D97-AF65-F5344CB8AC3E}">
        <p14:creationId xmlns:p14="http://schemas.microsoft.com/office/powerpoint/2010/main" val="1910798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9862"/>
            <a:ext cx="8229600" cy="1143000"/>
          </a:xfrm>
        </p:spPr>
        <p:txBody>
          <a:bodyPr/>
          <a:lstStyle/>
          <a:p>
            <a:r>
              <a:rPr dirty="0"/>
              <a:t>String Methods &amp; Formatting</a:t>
            </a:r>
          </a:p>
        </p:txBody>
      </p:sp>
      <p:sp>
        <p:nvSpPr>
          <p:cNvPr id="3" name="Content Placeholder 2"/>
          <p:cNvSpPr>
            <a:spLocks noGrp="1"/>
          </p:cNvSpPr>
          <p:nvPr>
            <p:ph idx="1"/>
          </p:nvPr>
        </p:nvSpPr>
        <p:spPr>
          <a:xfrm>
            <a:off x="457200" y="973138"/>
            <a:ext cx="11391900" cy="5757862"/>
          </a:xfrm>
        </p:spPr>
        <p:txBody>
          <a:bodyPr>
            <a:normAutofit/>
          </a:bodyPr>
          <a:lstStyle/>
          <a:p>
            <a:r>
              <a:rPr lang="en-US" sz="2400" dirty="0"/>
              <a:t>Case Manipulation:</a:t>
            </a:r>
          </a:p>
          <a:p>
            <a:endParaRPr lang="en-US" sz="2400" dirty="0"/>
          </a:p>
          <a:p>
            <a:pPr lvl="1"/>
            <a:r>
              <a:rPr lang="en-US" sz="2400" dirty="0"/>
              <a:t>.capitalize(): Uppercases only the first character of the entire string.</a:t>
            </a:r>
          </a:p>
          <a:p>
            <a:endParaRPr lang="en-US" sz="2400" dirty="0"/>
          </a:p>
          <a:p>
            <a:pPr lvl="1"/>
            <a:r>
              <a:rPr lang="en-US" sz="2400" dirty="0"/>
              <a:t>.title(): Uppercases the first character of every word (ideal for names).</a:t>
            </a:r>
          </a:p>
          <a:p>
            <a:endParaRPr lang="en-US" sz="2400" dirty="0"/>
          </a:p>
          <a:p>
            <a:pPr lvl="1"/>
            <a:r>
              <a:rPr lang="en-US" sz="2400" dirty="0"/>
              <a:t>.upper() / .lower(): For standardizing data for comparison.</a:t>
            </a:r>
          </a:p>
          <a:p>
            <a:endParaRPr lang="en-US" sz="2400" dirty="0"/>
          </a:p>
          <a:p>
            <a:r>
              <a:rPr lang="en-US" sz="2400" dirty="0"/>
              <a:t>Stripping &amp; Splitting: Use .strip() to remove whitespace and .split() to tokenize strings into lists.</a:t>
            </a:r>
          </a:p>
          <a:p>
            <a:endParaRPr lang="en-US" sz="2400" dirty="0"/>
          </a:p>
          <a:p>
            <a:r>
              <a:rPr lang="en-US" sz="2400" dirty="0"/>
              <a:t>F-Strings (Python 3.6+): The modern standard for string interpolation, allowing embedded expressions: </a:t>
            </a:r>
            <a:r>
              <a:rPr lang="en-US" sz="2400" dirty="0" err="1"/>
              <a:t>f"Result</a:t>
            </a:r>
            <a:r>
              <a:rPr lang="en-US" sz="2400" dirty="0"/>
              <a:t>: {value:.2f}".</a:t>
            </a:r>
            <a:endParaRPr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5B096-4217-FB31-C64B-1FA0E42B6162}"/>
              </a:ext>
            </a:extLst>
          </p:cNvPr>
          <p:cNvSpPr>
            <a:spLocks noGrp="1"/>
          </p:cNvSpPr>
          <p:nvPr>
            <p:ph type="title"/>
          </p:nvPr>
        </p:nvSpPr>
        <p:spPr/>
        <p:txBody>
          <a:bodyPr>
            <a:normAutofit/>
          </a:bodyPr>
          <a:lstStyle/>
          <a:p>
            <a:r>
              <a:rPr lang="en-SG" dirty="0"/>
              <a:t>String Length &amp; Indexing</a:t>
            </a:r>
          </a:p>
        </p:txBody>
      </p:sp>
      <p:sp>
        <p:nvSpPr>
          <p:cNvPr id="3" name="Content Placeholder 2">
            <a:extLst>
              <a:ext uri="{FF2B5EF4-FFF2-40B4-BE49-F238E27FC236}">
                <a16:creationId xmlns:a16="http://schemas.microsoft.com/office/drawing/2014/main" id="{8EC399F5-F139-FEF0-12D5-E3B058FBEDA3}"/>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 = "Python"</a:t>
            </a:r>
          </a:p>
          <a:p>
            <a:pPr marL="0" indent="0">
              <a:buNone/>
            </a:pPr>
            <a:r>
              <a:rPr lang="en-US" dirty="0"/>
              <a:t>print(</a:t>
            </a:r>
            <a:r>
              <a:rPr lang="en-US" dirty="0" err="1"/>
              <a:t>len</a:t>
            </a:r>
            <a:r>
              <a:rPr lang="en-US" dirty="0"/>
              <a:t>(word))</a:t>
            </a:r>
          </a:p>
          <a:p>
            <a:pPr marL="0" indent="0">
              <a:buNone/>
            </a:pPr>
            <a:r>
              <a:rPr lang="en-US" dirty="0"/>
              <a:t>print(word[0])</a:t>
            </a:r>
          </a:p>
          <a:p>
            <a:pPr marL="0" indent="0">
              <a:buNone/>
            </a:pPr>
            <a:r>
              <a:rPr lang="en-US" dirty="0"/>
              <a:t>print(word[-1])</a:t>
            </a:r>
          </a:p>
          <a:p>
            <a:pPr marL="0" indent="0">
              <a:buNone/>
            </a:pPr>
            <a:endParaRPr lang="en-SG" dirty="0"/>
          </a:p>
        </p:txBody>
      </p:sp>
      <p:sp>
        <p:nvSpPr>
          <p:cNvPr id="4" name="Content Placeholder 2">
            <a:extLst>
              <a:ext uri="{FF2B5EF4-FFF2-40B4-BE49-F238E27FC236}">
                <a16:creationId xmlns:a16="http://schemas.microsoft.com/office/drawing/2014/main" id="{0C1A0489-A9EF-D7A9-ABF8-5A6E67046EAE}"/>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Indexing starts at </a:t>
            </a:r>
            <a:r>
              <a:rPr lang="en-US" b="1" dirty="0"/>
              <a:t>0</a:t>
            </a:r>
            <a:endParaRPr lang="en-US" dirty="0"/>
          </a:p>
          <a:p>
            <a:r>
              <a:rPr lang="en-US" dirty="0"/>
              <a:t>Negative indexing counts from the end</a:t>
            </a:r>
          </a:p>
        </p:txBody>
      </p:sp>
    </p:spTree>
    <p:extLst>
      <p:ext uri="{BB962C8B-B14F-4D97-AF65-F5344CB8AC3E}">
        <p14:creationId xmlns:p14="http://schemas.microsoft.com/office/powerpoint/2010/main" val="13869093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5E237-3914-1BB3-6DA9-7B6023E09A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506C1-F2C2-5468-9694-01D2B652D419}"/>
              </a:ext>
            </a:extLst>
          </p:cNvPr>
          <p:cNvSpPr>
            <a:spLocks noGrp="1"/>
          </p:cNvSpPr>
          <p:nvPr>
            <p:ph type="title"/>
          </p:nvPr>
        </p:nvSpPr>
        <p:spPr/>
        <p:txBody>
          <a:bodyPr>
            <a:normAutofit/>
          </a:bodyPr>
          <a:lstStyle/>
          <a:p>
            <a:r>
              <a:rPr lang="en-SG" dirty="0"/>
              <a:t>String Slicing</a:t>
            </a:r>
          </a:p>
        </p:txBody>
      </p:sp>
      <p:sp>
        <p:nvSpPr>
          <p:cNvPr id="3" name="Content Placeholder 2">
            <a:extLst>
              <a:ext uri="{FF2B5EF4-FFF2-40B4-BE49-F238E27FC236}">
                <a16:creationId xmlns:a16="http://schemas.microsoft.com/office/drawing/2014/main" id="{61146DA2-6A56-6A37-4796-D6AC5E99A940}"/>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"Programming"</a:t>
            </a:r>
          </a:p>
          <a:p>
            <a:pPr marL="0" indent="0">
              <a:buNone/>
            </a:pPr>
            <a:r>
              <a:rPr lang="en-US" dirty="0"/>
              <a:t>print(text[0:6])</a:t>
            </a:r>
          </a:p>
          <a:p>
            <a:pPr marL="0" indent="0">
              <a:buNone/>
            </a:pPr>
            <a:r>
              <a:rPr lang="en-US" dirty="0"/>
              <a:t>print(text[:6])</a:t>
            </a:r>
          </a:p>
          <a:p>
            <a:pPr marL="0" indent="0">
              <a:buNone/>
            </a:pPr>
            <a:r>
              <a:rPr lang="en-US" dirty="0"/>
              <a:t>print(text[3:])</a:t>
            </a:r>
          </a:p>
        </p:txBody>
      </p:sp>
      <p:sp>
        <p:nvSpPr>
          <p:cNvPr id="4" name="Content Placeholder 2">
            <a:extLst>
              <a:ext uri="{FF2B5EF4-FFF2-40B4-BE49-F238E27FC236}">
                <a16:creationId xmlns:a16="http://schemas.microsoft.com/office/drawing/2014/main" id="{34AE2250-E4F4-765E-821B-AEB8D93A1EF7}"/>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Extract substrings</a:t>
            </a:r>
          </a:p>
          <a:p>
            <a:r>
              <a:rPr lang="en-US" dirty="0"/>
              <a:t>Start index inclusive, end index exclusive</a:t>
            </a:r>
          </a:p>
        </p:txBody>
      </p:sp>
    </p:spTree>
    <p:extLst>
      <p:ext uri="{BB962C8B-B14F-4D97-AF65-F5344CB8AC3E}">
        <p14:creationId xmlns:p14="http://schemas.microsoft.com/office/powerpoint/2010/main" val="5797259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8F3E-2CC7-17B5-8A4D-87ACC40576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DFA907-D8BD-0499-6A06-18CE497A92F8}"/>
              </a:ext>
            </a:extLst>
          </p:cNvPr>
          <p:cNvSpPr>
            <a:spLocks noGrp="1"/>
          </p:cNvSpPr>
          <p:nvPr>
            <p:ph type="title"/>
          </p:nvPr>
        </p:nvSpPr>
        <p:spPr/>
        <p:txBody>
          <a:bodyPr>
            <a:normAutofit/>
          </a:bodyPr>
          <a:lstStyle/>
          <a:p>
            <a:r>
              <a:rPr lang="en-SG" dirty="0"/>
              <a:t>String Concatenation &amp; Repetition</a:t>
            </a:r>
          </a:p>
        </p:txBody>
      </p:sp>
      <p:sp>
        <p:nvSpPr>
          <p:cNvPr id="3" name="Content Placeholder 2">
            <a:extLst>
              <a:ext uri="{FF2B5EF4-FFF2-40B4-BE49-F238E27FC236}">
                <a16:creationId xmlns:a16="http://schemas.microsoft.com/office/drawing/2014/main" id="{BE653EFF-BECC-FEE5-B6B5-320AE6E9F9F5}"/>
              </a:ext>
            </a:extLst>
          </p:cNvPr>
          <p:cNvSpPr>
            <a:spLocks noGrp="1"/>
          </p:cNvSpPr>
          <p:nvPr>
            <p:ph idx="1"/>
          </p:nvPr>
        </p:nvSpPr>
        <p:spPr>
          <a:xfrm>
            <a:off x="457199" y="1600200"/>
            <a:ext cx="80010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first = "Hello"</a:t>
            </a:r>
          </a:p>
          <a:p>
            <a:pPr marL="0" indent="0">
              <a:buNone/>
            </a:pPr>
            <a:r>
              <a:rPr lang="en-US" dirty="0"/>
              <a:t>second = "World"</a:t>
            </a:r>
          </a:p>
          <a:p>
            <a:pPr marL="0" indent="0">
              <a:buNone/>
            </a:pPr>
            <a:endParaRPr lang="en-US" dirty="0"/>
          </a:p>
          <a:p>
            <a:pPr marL="0" indent="0">
              <a:buNone/>
            </a:pPr>
            <a:r>
              <a:rPr lang="en-US" dirty="0"/>
              <a:t>print(first + " " + second)</a:t>
            </a:r>
          </a:p>
          <a:p>
            <a:pPr marL="0" indent="0">
              <a:buNone/>
            </a:pPr>
            <a:r>
              <a:rPr lang="en-US" dirty="0"/>
              <a:t>print(first * 3)</a:t>
            </a:r>
          </a:p>
        </p:txBody>
      </p:sp>
    </p:spTree>
    <p:extLst>
      <p:ext uri="{BB962C8B-B14F-4D97-AF65-F5344CB8AC3E}">
        <p14:creationId xmlns:p14="http://schemas.microsoft.com/office/powerpoint/2010/main" val="1350195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508C-4832-C0AA-C1C2-72A24A8DF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F64BEC-5503-6AD8-C568-A5189F477DDD}"/>
              </a:ext>
            </a:extLst>
          </p:cNvPr>
          <p:cNvSpPr>
            <a:spLocks noGrp="1"/>
          </p:cNvSpPr>
          <p:nvPr>
            <p:ph type="title"/>
          </p:nvPr>
        </p:nvSpPr>
        <p:spPr/>
        <p:txBody>
          <a:bodyPr>
            <a:normAutofit/>
          </a:bodyPr>
          <a:lstStyle/>
          <a:p>
            <a:r>
              <a:rPr lang="en-SG" dirty="0"/>
              <a:t>Common String Methods</a:t>
            </a:r>
          </a:p>
        </p:txBody>
      </p:sp>
      <p:sp>
        <p:nvSpPr>
          <p:cNvPr id="3" name="Content Placeholder 2">
            <a:extLst>
              <a:ext uri="{FF2B5EF4-FFF2-40B4-BE49-F238E27FC236}">
                <a16:creationId xmlns:a16="http://schemas.microsoft.com/office/drawing/2014/main" id="{7E3822BC-2820-39EA-E2F7-0F1074EB346C}"/>
              </a:ext>
            </a:extLst>
          </p:cNvPr>
          <p:cNvSpPr>
            <a:spLocks noGrp="1"/>
          </p:cNvSpPr>
          <p:nvPr>
            <p:ph idx="1"/>
          </p:nvPr>
        </p:nvSpPr>
        <p:spPr>
          <a:xfrm>
            <a:off x="457199" y="1600200"/>
            <a:ext cx="52959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SG" dirty="0" err="1"/>
              <a:t>msg</a:t>
            </a:r>
            <a:r>
              <a:rPr lang="en-SG" dirty="0"/>
              <a:t> = "python programming"</a:t>
            </a:r>
          </a:p>
          <a:p>
            <a:pPr marL="0" indent="0">
              <a:buNone/>
            </a:pPr>
            <a:endParaRPr lang="en-SG" dirty="0"/>
          </a:p>
          <a:p>
            <a:pPr marL="0" indent="0">
              <a:buNone/>
            </a:pPr>
            <a:r>
              <a:rPr lang="en-SG" dirty="0"/>
              <a:t>print(</a:t>
            </a:r>
            <a:r>
              <a:rPr lang="en-SG" dirty="0" err="1"/>
              <a:t>msg.upper</a:t>
            </a:r>
            <a:r>
              <a:rPr lang="en-SG" dirty="0"/>
              <a:t>())</a:t>
            </a:r>
          </a:p>
          <a:p>
            <a:pPr marL="0" indent="0">
              <a:buNone/>
            </a:pPr>
            <a:r>
              <a:rPr lang="en-SG" dirty="0"/>
              <a:t>print(</a:t>
            </a:r>
            <a:r>
              <a:rPr lang="en-SG" dirty="0" err="1"/>
              <a:t>msg.lower</a:t>
            </a:r>
            <a:r>
              <a:rPr lang="en-SG" dirty="0"/>
              <a:t>())</a:t>
            </a:r>
          </a:p>
          <a:p>
            <a:pPr marL="0" indent="0">
              <a:buNone/>
            </a:pPr>
            <a:r>
              <a:rPr lang="en-SG" dirty="0"/>
              <a:t>print(</a:t>
            </a:r>
            <a:r>
              <a:rPr lang="en-SG" dirty="0" err="1"/>
              <a:t>msg.title</a:t>
            </a:r>
            <a:r>
              <a:rPr lang="en-SG" dirty="0"/>
              <a:t>())</a:t>
            </a:r>
          </a:p>
          <a:p>
            <a:pPr marL="0" indent="0">
              <a:buNone/>
            </a:pPr>
            <a:r>
              <a:rPr lang="en-SG" dirty="0"/>
              <a:t>print(</a:t>
            </a:r>
            <a:r>
              <a:rPr lang="en-SG" dirty="0" err="1"/>
              <a:t>msg.strip</a:t>
            </a:r>
            <a:r>
              <a:rPr lang="en-SG" dirty="0"/>
              <a:t>())</a:t>
            </a:r>
          </a:p>
        </p:txBody>
      </p:sp>
      <p:sp>
        <p:nvSpPr>
          <p:cNvPr id="4" name="Content Placeholder 2">
            <a:extLst>
              <a:ext uri="{FF2B5EF4-FFF2-40B4-BE49-F238E27FC236}">
                <a16:creationId xmlns:a16="http://schemas.microsoft.com/office/drawing/2014/main" id="{479D9F21-99D3-4AC0-2352-FDEBC88FD872}"/>
              </a:ext>
            </a:extLst>
          </p:cNvPr>
          <p:cNvSpPr txBox="1">
            <a:spLocks/>
          </p:cNvSpPr>
          <p:nvPr/>
        </p:nvSpPr>
        <p:spPr>
          <a:xfrm>
            <a:off x="6337300" y="1600199"/>
            <a:ext cx="5575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Methods return </a:t>
            </a:r>
            <a:r>
              <a:rPr lang="en-US" b="1" dirty="0"/>
              <a:t>new strings</a:t>
            </a:r>
            <a:r>
              <a:rPr lang="en-US" dirty="0"/>
              <a:t> (immutability)</a:t>
            </a:r>
          </a:p>
        </p:txBody>
      </p:sp>
    </p:spTree>
    <p:extLst>
      <p:ext uri="{BB962C8B-B14F-4D97-AF65-F5344CB8AC3E}">
        <p14:creationId xmlns:p14="http://schemas.microsoft.com/office/powerpoint/2010/main" val="1341202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62805-1DA4-79CC-278A-7A4975B8E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E00A9-A182-4B8E-8B3B-897A1A472916}"/>
              </a:ext>
            </a:extLst>
          </p:cNvPr>
          <p:cNvSpPr>
            <a:spLocks noGrp="1"/>
          </p:cNvSpPr>
          <p:nvPr>
            <p:ph type="title"/>
          </p:nvPr>
        </p:nvSpPr>
        <p:spPr/>
        <p:txBody>
          <a:bodyPr>
            <a:normAutofit/>
          </a:bodyPr>
          <a:lstStyle/>
          <a:p>
            <a:r>
              <a:rPr lang="en-SG" dirty="0"/>
              <a:t>Searching &amp; Checking Strings</a:t>
            </a:r>
          </a:p>
        </p:txBody>
      </p:sp>
      <p:sp>
        <p:nvSpPr>
          <p:cNvPr id="3" name="Content Placeholder 2">
            <a:extLst>
              <a:ext uri="{FF2B5EF4-FFF2-40B4-BE49-F238E27FC236}">
                <a16:creationId xmlns:a16="http://schemas.microsoft.com/office/drawing/2014/main" id="{758111DC-9291-BACD-8D3B-0EB3DDA0F018}"/>
              </a:ext>
            </a:extLst>
          </p:cNvPr>
          <p:cNvSpPr>
            <a:spLocks noGrp="1"/>
          </p:cNvSpPr>
          <p:nvPr>
            <p:ph idx="1"/>
          </p:nvPr>
        </p:nvSpPr>
        <p:spPr>
          <a:xfrm>
            <a:off x="1320799" y="1587500"/>
            <a:ext cx="67056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"learning python"</a:t>
            </a:r>
          </a:p>
          <a:p>
            <a:pPr marL="0" indent="0">
              <a:buNone/>
            </a:pPr>
            <a:endParaRPr lang="en-US" dirty="0"/>
          </a:p>
          <a:p>
            <a:pPr marL="0" indent="0">
              <a:buNone/>
            </a:pPr>
            <a:r>
              <a:rPr lang="en-US" dirty="0"/>
              <a:t>print("python" in text)</a:t>
            </a:r>
          </a:p>
          <a:p>
            <a:pPr marL="0" indent="0">
              <a:buNone/>
            </a:pPr>
            <a:r>
              <a:rPr lang="en-US" dirty="0"/>
              <a:t>print(</a:t>
            </a:r>
            <a:r>
              <a:rPr lang="en-US" dirty="0" err="1"/>
              <a:t>text.startswith</a:t>
            </a:r>
            <a:r>
              <a:rPr lang="en-US" dirty="0"/>
              <a:t>("learn"))</a:t>
            </a:r>
          </a:p>
          <a:p>
            <a:pPr marL="0" indent="0">
              <a:buNone/>
            </a:pPr>
            <a:r>
              <a:rPr lang="en-US" dirty="0"/>
              <a:t>print(</a:t>
            </a:r>
            <a:r>
              <a:rPr lang="en-US" dirty="0" err="1"/>
              <a:t>text.endswith</a:t>
            </a:r>
            <a:r>
              <a:rPr lang="en-US" dirty="0"/>
              <a:t>("on"))</a:t>
            </a:r>
          </a:p>
        </p:txBody>
      </p:sp>
    </p:spTree>
    <p:extLst>
      <p:ext uri="{BB962C8B-B14F-4D97-AF65-F5344CB8AC3E}">
        <p14:creationId xmlns:p14="http://schemas.microsoft.com/office/powerpoint/2010/main" val="37809180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85A83-8218-208A-47C9-3A6AE267E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6CF148-FD2F-E6DB-6AAF-FECE6271258B}"/>
              </a:ext>
            </a:extLst>
          </p:cNvPr>
          <p:cNvSpPr>
            <a:spLocks noGrp="1"/>
          </p:cNvSpPr>
          <p:nvPr>
            <p:ph type="title"/>
          </p:nvPr>
        </p:nvSpPr>
        <p:spPr/>
        <p:txBody>
          <a:bodyPr>
            <a:normAutofit/>
          </a:bodyPr>
          <a:lstStyle/>
          <a:p>
            <a:r>
              <a:rPr lang="en-SG" dirty="0"/>
              <a:t>Replacing &amp; Splitting Strings</a:t>
            </a:r>
          </a:p>
        </p:txBody>
      </p:sp>
      <p:sp>
        <p:nvSpPr>
          <p:cNvPr id="3" name="Content Placeholder 2">
            <a:extLst>
              <a:ext uri="{FF2B5EF4-FFF2-40B4-BE49-F238E27FC236}">
                <a16:creationId xmlns:a16="http://schemas.microsoft.com/office/drawing/2014/main" id="{BD8BA225-F5BF-B3BA-25D4-E6076B77D900}"/>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"I love Python"</a:t>
            </a:r>
          </a:p>
          <a:p>
            <a:pPr marL="0" indent="0">
              <a:buNone/>
            </a:pPr>
            <a:endParaRPr lang="en-US" dirty="0"/>
          </a:p>
          <a:p>
            <a:pPr marL="0" indent="0">
              <a:buNone/>
            </a:pPr>
            <a:r>
              <a:rPr lang="en-US" dirty="0"/>
              <a:t>print(</a:t>
            </a:r>
            <a:r>
              <a:rPr lang="en-US" dirty="0" err="1"/>
              <a:t>sentence.replace</a:t>
            </a:r>
            <a:r>
              <a:rPr lang="en-US" dirty="0"/>
              <a:t>("love", "enjoy"))</a:t>
            </a:r>
          </a:p>
          <a:p>
            <a:pPr marL="0" indent="0">
              <a:buNone/>
            </a:pPr>
            <a:r>
              <a:rPr lang="en-US" dirty="0"/>
              <a:t>print(</a:t>
            </a:r>
            <a:r>
              <a:rPr lang="en-US" dirty="0" err="1"/>
              <a:t>sentence.split</a:t>
            </a:r>
            <a:r>
              <a:rPr lang="en-US" dirty="0"/>
              <a:t>())</a:t>
            </a:r>
          </a:p>
        </p:txBody>
      </p:sp>
    </p:spTree>
    <p:extLst>
      <p:ext uri="{BB962C8B-B14F-4D97-AF65-F5344CB8AC3E}">
        <p14:creationId xmlns:p14="http://schemas.microsoft.com/office/powerpoint/2010/main" val="39324142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6443B-ED52-A679-F09E-296E11FBA1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44576-DFFF-AE7D-9CA0-55D2EE68A6E5}"/>
              </a:ext>
            </a:extLst>
          </p:cNvPr>
          <p:cNvSpPr>
            <a:spLocks noGrp="1"/>
          </p:cNvSpPr>
          <p:nvPr>
            <p:ph type="title"/>
          </p:nvPr>
        </p:nvSpPr>
        <p:spPr/>
        <p:txBody>
          <a:bodyPr>
            <a:normAutofit/>
          </a:bodyPr>
          <a:lstStyle/>
          <a:p>
            <a:r>
              <a:rPr lang="en-SG" dirty="0"/>
              <a:t>Joining Strings</a:t>
            </a:r>
          </a:p>
        </p:txBody>
      </p:sp>
      <p:sp>
        <p:nvSpPr>
          <p:cNvPr id="3" name="Content Placeholder 2">
            <a:extLst>
              <a:ext uri="{FF2B5EF4-FFF2-40B4-BE49-F238E27FC236}">
                <a16:creationId xmlns:a16="http://schemas.microsoft.com/office/drawing/2014/main" id="{8A9C42D5-6994-85DB-A737-E05A65E2BCA7}"/>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words = ["Python", "is", "fun"]</a:t>
            </a:r>
          </a:p>
          <a:p>
            <a:pPr marL="0" indent="0">
              <a:buNone/>
            </a:pPr>
            <a:r>
              <a:rPr lang="en-US" dirty="0"/>
              <a:t>sentence = " ".join(words)</a:t>
            </a:r>
          </a:p>
          <a:p>
            <a:pPr marL="0" indent="0">
              <a:buNone/>
            </a:pPr>
            <a:r>
              <a:rPr lang="en-US" dirty="0"/>
              <a:t>print(sentence)</a:t>
            </a:r>
          </a:p>
        </p:txBody>
      </p:sp>
    </p:spTree>
    <p:extLst>
      <p:ext uri="{BB962C8B-B14F-4D97-AF65-F5344CB8AC3E}">
        <p14:creationId xmlns:p14="http://schemas.microsoft.com/office/powerpoint/2010/main" val="10023612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5FDCE-89CD-7116-F268-79C51C839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9D1B0-0E93-25CF-A94F-82838D219837}"/>
              </a:ext>
            </a:extLst>
          </p:cNvPr>
          <p:cNvSpPr>
            <a:spLocks noGrp="1"/>
          </p:cNvSpPr>
          <p:nvPr>
            <p:ph type="title"/>
          </p:nvPr>
        </p:nvSpPr>
        <p:spPr/>
        <p:txBody>
          <a:bodyPr>
            <a:normAutofit/>
          </a:bodyPr>
          <a:lstStyle/>
          <a:p>
            <a:r>
              <a:rPr lang="en-SG" dirty="0"/>
              <a:t>String Formatting (f-strings)</a:t>
            </a:r>
          </a:p>
        </p:txBody>
      </p:sp>
      <p:sp>
        <p:nvSpPr>
          <p:cNvPr id="3" name="Content Placeholder 2">
            <a:extLst>
              <a:ext uri="{FF2B5EF4-FFF2-40B4-BE49-F238E27FC236}">
                <a16:creationId xmlns:a16="http://schemas.microsoft.com/office/drawing/2014/main" id="{F055F6D5-79E6-8CF4-3BC4-EDAF57AE84CB}"/>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name = "Alex"</a:t>
            </a:r>
          </a:p>
          <a:p>
            <a:pPr marL="0" indent="0">
              <a:buNone/>
            </a:pPr>
            <a:r>
              <a:rPr lang="en-US" dirty="0"/>
              <a:t>age = 25</a:t>
            </a:r>
          </a:p>
          <a:p>
            <a:pPr marL="0" indent="0">
              <a:buNone/>
            </a:pPr>
            <a:endParaRPr lang="en-US" dirty="0"/>
          </a:p>
          <a:p>
            <a:pPr marL="0" indent="0">
              <a:buNone/>
            </a:pPr>
            <a:r>
              <a:rPr lang="en-US" dirty="0"/>
              <a:t>print(f"{name} is {age} years old")</a:t>
            </a:r>
          </a:p>
        </p:txBody>
      </p:sp>
      <p:sp>
        <p:nvSpPr>
          <p:cNvPr id="4" name="Content Placeholder 2">
            <a:extLst>
              <a:ext uri="{FF2B5EF4-FFF2-40B4-BE49-F238E27FC236}">
                <a16:creationId xmlns:a16="http://schemas.microsoft.com/office/drawing/2014/main" id="{472431FE-D0D2-88C4-FFA7-126534A057B7}"/>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b="1" dirty="0"/>
              <a:t>Why f-strings?</a:t>
            </a:r>
          </a:p>
          <a:p>
            <a:pPr lvl="1"/>
            <a:r>
              <a:rPr lang="en-US" dirty="0"/>
              <a:t>Clean</a:t>
            </a:r>
          </a:p>
          <a:p>
            <a:pPr lvl="1"/>
            <a:r>
              <a:rPr lang="en-US" dirty="0"/>
              <a:t>Readable</a:t>
            </a:r>
          </a:p>
          <a:p>
            <a:pPr lvl="1"/>
            <a:r>
              <a:rPr lang="en-US" dirty="0"/>
              <a:t>Efficient</a:t>
            </a:r>
          </a:p>
        </p:txBody>
      </p:sp>
    </p:spTree>
    <p:extLst>
      <p:ext uri="{BB962C8B-B14F-4D97-AF65-F5344CB8AC3E}">
        <p14:creationId xmlns:p14="http://schemas.microsoft.com/office/powerpoint/2010/main" val="3821208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8324-9E2C-19F3-4AC3-E657CC5F41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24399-F764-A999-6680-DB144714049A}"/>
              </a:ext>
            </a:extLst>
          </p:cNvPr>
          <p:cNvSpPr>
            <a:spLocks noGrp="1"/>
          </p:cNvSpPr>
          <p:nvPr>
            <p:ph type="title"/>
          </p:nvPr>
        </p:nvSpPr>
        <p:spPr/>
        <p:txBody>
          <a:bodyPr>
            <a:normAutofit/>
          </a:bodyPr>
          <a:lstStyle/>
          <a:p>
            <a:r>
              <a:rPr lang="en-SG" dirty="0"/>
              <a:t>Escape Characters</a:t>
            </a:r>
          </a:p>
        </p:txBody>
      </p:sp>
      <p:sp>
        <p:nvSpPr>
          <p:cNvPr id="3" name="Content Placeholder 2">
            <a:extLst>
              <a:ext uri="{FF2B5EF4-FFF2-40B4-BE49-F238E27FC236}">
                <a16:creationId xmlns:a16="http://schemas.microsoft.com/office/drawing/2014/main" id="{ED7DACCD-97D6-F19B-6862-C82A16DE4C42}"/>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print("Line 1\</a:t>
            </a:r>
            <a:r>
              <a:rPr lang="en-US" dirty="0" err="1"/>
              <a:t>nLine</a:t>
            </a:r>
            <a:r>
              <a:rPr lang="en-US" dirty="0"/>
              <a:t> 2")</a:t>
            </a:r>
          </a:p>
          <a:p>
            <a:pPr marL="0" indent="0">
              <a:buNone/>
            </a:pPr>
            <a:r>
              <a:rPr lang="en-US" dirty="0"/>
              <a:t>print("He said, \"Hello\"")</a:t>
            </a:r>
          </a:p>
        </p:txBody>
      </p:sp>
    </p:spTree>
    <p:extLst>
      <p:ext uri="{BB962C8B-B14F-4D97-AF65-F5344CB8AC3E}">
        <p14:creationId xmlns:p14="http://schemas.microsoft.com/office/powerpoint/2010/main" val="12117287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8F92A-D7BE-F963-36FD-FD407B2D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E4EDBD-3D4D-7AD9-C579-4C4961BF2244}"/>
              </a:ext>
            </a:extLst>
          </p:cNvPr>
          <p:cNvSpPr>
            <a:spLocks noGrp="1"/>
          </p:cNvSpPr>
          <p:nvPr>
            <p:ph type="title"/>
          </p:nvPr>
        </p:nvSpPr>
        <p:spPr/>
        <p:txBody>
          <a:bodyPr>
            <a:normAutofit/>
          </a:bodyPr>
          <a:lstStyle/>
          <a:p>
            <a:r>
              <a:rPr lang="en-SG" dirty="0"/>
              <a:t>Strings Are Immutable</a:t>
            </a:r>
          </a:p>
        </p:txBody>
      </p:sp>
      <p:sp>
        <p:nvSpPr>
          <p:cNvPr id="3" name="Content Placeholder 2">
            <a:extLst>
              <a:ext uri="{FF2B5EF4-FFF2-40B4-BE49-F238E27FC236}">
                <a16:creationId xmlns:a16="http://schemas.microsoft.com/office/drawing/2014/main" id="{7508A068-1496-BECB-9FD9-831BDDD9A961}"/>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 = "hello"</a:t>
            </a:r>
          </a:p>
          <a:p>
            <a:pPr marL="0" indent="0">
              <a:buNone/>
            </a:pPr>
            <a:r>
              <a:rPr lang="en-US" dirty="0"/>
              <a:t>s = </a:t>
            </a:r>
            <a:r>
              <a:rPr lang="en-US" dirty="0" err="1"/>
              <a:t>s.upper</a:t>
            </a:r>
            <a:r>
              <a:rPr lang="en-US" dirty="0"/>
              <a:t>()</a:t>
            </a:r>
          </a:p>
          <a:p>
            <a:pPr marL="0" indent="0">
              <a:buNone/>
            </a:pPr>
            <a:r>
              <a:rPr lang="en-US" dirty="0"/>
              <a:t>print(s)</a:t>
            </a:r>
          </a:p>
        </p:txBody>
      </p:sp>
      <p:sp>
        <p:nvSpPr>
          <p:cNvPr id="4" name="Content Placeholder 2">
            <a:extLst>
              <a:ext uri="{FF2B5EF4-FFF2-40B4-BE49-F238E27FC236}">
                <a16:creationId xmlns:a16="http://schemas.microsoft.com/office/drawing/2014/main" id="{ECA001BE-501B-5962-B548-C3D95138369F}"/>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Strings cannot be modified in place</a:t>
            </a:r>
          </a:p>
          <a:p>
            <a:r>
              <a:rPr lang="en-US" dirty="0"/>
              <a:t>Operations create </a:t>
            </a:r>
            <a:r>
              <a:rPr lang="en-US" b="1" dirty="0"/>
              <a:t>new strings</a:t>
            </a:r>
            <a:endParaRPr lang="en-US" dirty="0"/>
          </a:p>
        </p:txBody>
      </p:sp>
    </p:spTree>
    <p:extLst>
      <p:ext uri="{BB962C8B-B14F-4D97-AF65-F5344CB8AC3E}">
        <p14:creationId xmlns:p14="http://schemas.microsoft.com/office/powerpoint/2010/main" val="269926519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6CA45-4DF4-E0AD-6406-128EACBEB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A7A09-472E-ED32-A1F8-1BBF3CB1B870}"/>
              </a:ext>
            </a:extLst>
          </p:cNvPr>
          <p:cNvSpPr>
            <a:spLocks noGrp="1"/>
          </p:cNvSpPr>
          <p:nvPr>
            <p:ph type="title"/>
          </p:nvPr>
        </p:nvSpPr>
        <p:spPr/>
        <p:txBody>
          <a:bodyPr>
            <a:normAutofit/>
          </a:bodyPr>
          <a:lstStyle/>
          <a:p>
            <a:r>
              <a:rPr lang="en-SG" dirty="0"/>
              <a:t>Common Mistakes</a:t>
            </a:r>
          </a:p>
        </p:txBody>
      </p:sp>
      <p:sp>
        <p:nvSpPr>
          <p:cNvPr id="3" name="Content Placeholder 2">
            <a:extLst>
              <a:ext uri="{FF2B5EF4-FFF2-40B4-BE49-F238E27FC236}">
                <a16:creationId xmlns:a16="http://schemas.microsoft.com/office/drawing/2014/main" id="{C8505F7E-F6A5-02BC-F0B3-D4ABFF934996}"/>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Error</a:t>
            </a:r>
          </a:p>
          <a:p>
            <a:pPr marL="0" indent="0">
              <a:buNone/>
            </a:pPr>
            <a:r>
              <a:rPr lang="en-US" dirty="0"/>
              <a:t>"Age: " + 25</a:t>
            </a:r>
          </a:p>
        </p:txBody>
      </p:sp>
      <p:sp>
        <p:nvSpPr>
          <p:cNvPr id="4" name="Content Placeholder 2">
            <a:extLst>
              <a:ext uri="{FF2B5EF4-FFF2-40B4-BE49-F238E27FC236}">
                <a16:creationId xmlns:a16="http://schemas.microsoft.com/office/drawing/2014/main" id="{FC3B14BA-3814-E8BD-A569-D389569CC554}"/>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Index out of range</a:t>
            </a:r>
          </a:p>
          <a:p>
            <a:r>
              <a:rPr lang="en-US" dirty="0"/>
              <a:t>Forgetting strings are immutable</a:t>
            </a:r>
          </a:p>
          <a:p>
            <a:r>
              <a:rPr lang="en-US" dirty="0"/>
              <a:t>Mixing strings and numbers without conversion</a:t>
            </a:r>
          </a:p>
        </p:txBody>
      </p:sp>
    </p:spTree>
    <p:extLst>
      <p:ext uri="{BB962C8B-B14F-4D97-AF65-F5344CB8AC3E}">
        <p14:creationId xmlns:p14="http://schemas.microsoft.com/office/powerpoint/2010/main" val="23643028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5AD84-CEC1-4FF2-344F-0EE5D96621C6}"/>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F821F046-422A-C743-25A1-2C2D54CC5390}"/>
              </a:ext>
            </a:extLst>
          </p:cNvPr>
          <p:cNvSpPr>
            <a:spLocks noGrp="1"/>
          </p:cNvSpPr>
          <p:nvPr>
            <p:ph idx="1"/>
          </p:nvPr>
        </p:nvSpPr>
        <p:spPr/>
        <p:txBody>
          <a:bodyPr/>
          <a:lstStyle/>
          <a:p>
            <a:r>
              <a:rPr lang="en-US" dirty="0"/>
              <a:t>Strings are sequences and immutable</a:t>
            </a:r>
          </a:p>
          <a:p>
            <a:r>
              <a:rPr lang="en-US" dirty="0"/>
              <a:t>Many built-in methods simplify text processing</a:t>
            </a:r>
          </a:p>
          <a:p>
            <a:r>
              <a:rPr lang="en-US" dirty="0"/>
              <a:t>f-strings are the preferred formatting method</a:t>
            </a:r>
          </a:p>
          <a:p>
            <a:endParaRPr lang="en-SG" dirty="0"/>
          </a:p>
        </p:txBody>
      </p:sp>
    </p:spTree>
    <p:extLst>
      <p:ext uri="{BB962C8B-B14F-4D97-AF65-F5344CB8AC3E}">
        <p14:creationId xmlns:p14="http://schemas.microsoft.com/office/powerpoint/2010/main" val="371028635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4C972-34EC-07EF-D1DF-4548E8FCC4EB}"/>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91879F81-7551-89BA-58C4-C175EC54400E}"/>
              </a:ext>
            </a:extLst>
          </p:cNvPr>
          <p:cNvSpPr>
            <a:spLocks noGrp="1"/>
          </p:cNvSpPr>
          <p:nvPr>
            <p:ph idx="1"/>
          </p:nvPr>
        </p:nvSpPr>
        <p:spPr/>
        <p:txBody>
          <a:bodyPr/>
          <a:lstStyle/>
          <a:p>
            <a:r>
              <a:rPr lang="en-US" dirty="0"/>
              <a:t>Ask the user for a sentence</a:t>
            </a:r>
          </a:p>
          <a:p>
            <a:r>
              <a:rPr lang="en-US" dirty="0"/>
              <a:t>Print:</a:t>
            </a:r>
          </a:p>
          <a:p>
            <a:pPr lvl="1"/>
            <a:r>
              <a:rPr lang="en-US" dirty="0"/>
              <a:t>Length of the sentence</a:t>
            </a:r>
          </a:p>
          <a:p>
            <a:pPr lvl="1"/>
            <a:r>
              <a:rPr lang="en-US" dirty="0"/>
              <a:t>Uppercase version</a:t>
            </a:r>
          </a:p>
          <a:p>
            <a:pPr lvl="1"/>
            <a:r>
              <a:rPr lang="en-US" dirty="0"/>
              <a:t>Number of words</a:t>
            </a:r>
          </a:p>
          <a:p>
            <a:endParaRPr lang="en-SG" dirty="0"/>
          </a:p>
        </p:txBody>
      </p:sp>
    </p:spTree>
    <p:extLst>
      <p:ext uri="{BB962C8B-B14F-4D97-AF65-F5344CB8AC3E}">
        <p14:creationId xmlns:p14="http://schemas.microsoft.com/office/powerpoint/2010/main" val="6354800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4080D-8A6A-B3A4-88A5-B78093C2179F}"/>
              </a:ext>
            </a:extLst>
          </p:cNvPr>
          <p:cNvSpPr>
            <a:spLocks noGrp="1"/>
          </p:cNvSpPr>
          <p:nvPr>
            <p:ph type="title"/>
          </p:nvPr>
        </p:nvSpPr>
        <p:spPr>
          <a:xfrm>
            <a:off x="457200" y="-762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3E029F3-8EB0-047B-26AB-9BD1FBD5213A}"/>
              </a:ext>
            </a:extLst>
          </p:cNvPr>
          <p:cNvSpPr>
            <a:spLocks noGrp="1"/>
          </p:cNvSpPr>
          <p:nvPr>
            <p:ph idx="1"/>
          </p:nvPr>
        </p:nvSpPr>
        <p:spPr>
          <a:xfrm>
            <a:off x="292100" y="1066800"/>
            <a:ext cx="6527800" cy="52959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dirty="0"/>
              <a:t>sentence = input("Enter a sentence: ")</a:t>
            </a:r>
          </a:p>
          <a:p>
            <a:pPr marL="0" indent="0">
              <a:buNone/>
            </a:pPr>
            <a:endParaRPr lang="en-US" dirty="0"/>
          </a:p>
          <a:p>
            <a:pPr marL="0" indent="0">
              <a:buNone/>
            </a:pPr>
            <a:r>
              <a:rPr lang="en-US" dirty="0"/>
              <a:t># Length of the sentence</a:t>
            </a:r>
          </a:p>
          <a:p>
            <a:pPr marL="0" indent="0">
              <a:buNone/>
            </a:pPr>
            <a:r>
              <a:rPr lang="en-US" dirty="0"/>
              <a:t>print("Length:", </a:t>
            </a:r>
            <a:r>
              <a:rPr lang="en-US" dirty="0" err="1"/>
              <a:t>len</a:t>
            </a:r>
            <a:r>
              <a:rPr lang="en-US" dirty="0"/>
              <a:t>(sentence))</a:t>
            </a:r>
          </a:p>
          <a:p>
            <a:pPr marL="0" indent="0">
              <a:buNone/>
            </a:pPr>
            <a:endParaRPr lang="en-US" dirty="0"/>
          </a:p>
          <a:p>
            <a:pPr marL="0" indent="0">
              <a:buNone/>
            </a:pPr>
            <a:r>
              <a:rPr lang="en-US" dirty="0"/>
              <a:t># Uppercase version</a:t>
            </a:r>
          </a:p>
          <a:p>
            <a:pPr marL="0" indent="0">
              <a:buNone/>
            </a:pPr>
            <a:r>
              <a:rPr lang="en-US" dirty="0"/>
              <a:t>print("Uppercase:", </a:t>
            </a:r>
            <a:r>
              <a:rPr lang="en-US" dirty="0" err="1"/>
              <a:t>sentence.upper</a:t>
            </a:r>
            <a:r>
              <a:rPr lang="en-US" dirty="0"/>
              <a:t>())</a:t>
            </a:r>
          </a:p>
          <a:p>
            <a:pPr marL="0" indent="0">
              <a:buNone/>
            </a:pPr>
            <a:endParaRPr lang="en-US" dirty="0"/>
          </a:p>
          <a:p>
            <a:pPr marL="0" indent="0">
              <a:buNone/>
            </a:pPr>
            <a:r>
              <a:rPr lang="en-US" dirty="0"/>
              <a:t># Number of words</a:t>
            </a:r>
          </a:p>
          <a:p>
            <a:pPr marL="0" indent="0">
              <a:buNone/>
            </a:pPr>
            <a:r>
              <a:rPr lang="en-US" dirty="0"/>
              <a:t>words = </a:t>
            </a:r>
            <a:r>
              <a:rPr lang="en-US" dirty="0" err="1"/>
              <a:t>sentence.split</a:t>
            </a:r>
            <a:r>
              <a:rPr lang="en-US" dirty="0"/>
              <a:t>()</a:t>
            </a:r>
          </a:p>
          <a:p>
            <a:pPr marL="0" indent="0">
              <a:buNone/>
            </a:pPr>
            <a:r>
              <a:rPr lang="en-US" dirty="0"/>
              <a:t>print("Number of words:", </a:t>
            </a:r>
            <a:r>
              <a:rPr lang="en-US" dirty="0" err="1"/>
              <a:t>len</a:t>
            </a:r>
            <a:r>
              <a:rPr lang="en-US" dirty="0"/>
              <a:t>(words))</a:t>
            </a:r>
          </a:p>
          <a:p>
            <a:pPr marL="0" indent="0">
              <a:buNone/>
            </a:pPr>
            <a:endParaRPr lang="en-SG" dirty="0"/>
          </a:p>
        </p:txBody>
      </p:sp>
      <p:sp>
        <p:nvSpPr>
          <p:cNvPr id="4" name="Content Placeholder 2">
            <a:extLst>
              <a:ext uri="{FF2B5EF4-FFF2-40B4-BE49-F238E27FC236}">
                <a16:creationId xmlns:a16="http://schemas.microsoft.com/office/drawing/2014/main" id="{86FF1BB5-C277-F9BD-9CB4-8C4DAC373758}"/>
              </a:ext>
            </a:extLst>
          </p:cNvPr>
          <p:cNvSpPr txBox="1">
            <a:spLocks/>
          </p:cNvSpPr>
          <p:nvPr/>
        </p:nvSpPr>
        <p:spPr>
          <a:xfrm>
            <a:off x="7086599" y="1054100"/>
            <a:ext cx="4746625"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input() reads the sentence as a </a:t>
            </a:r>
            <a:r>
              <a:rPr lang="en-US" b="1" dirty="0"/>
              <a:t>string</a:t>
            </a:r>
            <a:endParaRPr lang="en-US" dirty="0"/>
          </a:p>
          <a:p>
            <a:r>
              <a:rPr lang="en-US" dirty="0" err="1"/>
              <a:t>len</a:t>
            </a:r>
            <a:r>
              <a:rPr lang="en-US" dirty="0"/>
              <a:t>(sentence) counts </a:t>
            </a:r>
            <a:r>
              <a:rPr lang="en-US" b="1" dirty="0"/>
              <a:t>all characters</a:t>
            </a:r>
            <a:r>
              <a:rPr lang="en-US" dirty="0"/>
              <a:t>, including spaces</a:t>
            </a:r>
          </a:p>
          <a:p>
            <a:r>
              <a:rPr lang="en-US" dirty="0"/>
              <a:t>upper() returns a </a:t>
            </a:r>
            <a:r>
              <a:rPr lang="en-US" b="1" dirty="0"/>
              <a:t>new uppercase string</a:t>
            </a:r>
            <a:endParaRPr lang="en-US" dirty="0"/>
          </a:p>
          <a:p>
            <a:r>
              <a:rPr lang="en-US" dirty="0"/>
              <a:t>split() separates the sentence into words using spaces</a:t>
            </a:r>
          </a:p>
        </p:txBody>
      </p:sp>
    </p:spTree>
    <p:extLst>
      <p:ext uri="{BB962C8B-B14F-4D97-AF65-F5344CB8AC3E}">
        <p14:creationId xmlns:p14="http://schemas.microsoft.com/office/powerpoint/2010/main" val="16340231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29143-C99B-001C-9CA5-3B88F816A4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91E049-DD3F-9F86-23B3-A52F3A7D9AC7}"/>
              </a:ext>
            </a:extLst>
          </p:cNvPr>
          <p:cNvSpPr>
            <a:spLocks noGrp="1"/>
          </p:cNvSpPr>
          <p:nvPr>
            <p:ph type="title"/>
          </p:nvPr>
        </p:nvSpPr>
        <p:spPr>
          <a:xfrm>
            <a:off x="457200" y="-76200"/>
            <a:ext cx="8229600" cy="1143000"/>
          </a:xfrm>
        </p:spPr>
        <p:txBody>
          <a:bodyPr/>
          <a:lstStyle/>
          <a:p>
            <a:r>
              <a:rPr lang="en-SG" dirty="0"/>
              <a:t>What Is a Boolean?</a:t>
            </a:r>
          </a:p>
        </p:txBody>
      </p:sp>
      <p:sp>
        <p:nvSpPr>
          <p:cNvPr id="3" name="Content Placeholder 2">
            <a:extLst>
              <a:ext uri="{FF2B5EF4-FFF2-40B4-BE49-F238E27FC236}">
                <a16:creationId xmlns:a16="http://schemas.microsoft.com/office/drawing/2014/main" id="{719DDE9C-211E-5770-64C8-4CB35ED88FDF}"/>
              </a:ext>
            </a:extLst>
          </p:cNvPr>
          <p:cNvSpPr>
            <a:spLocks noGrp="1"/>
          </p:cNvSpPr>
          <p:nvPr>
            <p:ph idx="1"/>
          </p:nvPr>
        </p:nvSpPr>
        <p:spPr>
          <a:xfrm>
            <a:off x="609600" y="1079500"/>
            <a:ext cx="7035800" cy="5295900"/>
          </a:xfrm>
        </p:spPr>
        <p:style>
          <a:lnRef idx="2">
            <a:schemeClr val="dk1"/>
          </a:lnRef>
          <a:fillRef idx="1">
            <a:schemeClr val="lt1"/>
          </a:fillRef>
          <a:effectRef idx="0">
            <a:schemeClr val="dk1"/>
          </a:effectRef>
          <a:fontRef idx="minor">
            <a:schemeClr val="dk1"/>
          </a:fontRef>
        </p:style>
        <p:txBody>
          <a:bodyPr>
            <a:normAutofit/>
          </a:bodyPr>
          <a:lstStyle/>
          <a:p>
            <a:r>
              <a:rPr lang="en-US" dirty="0"/>
              <a:t>Boolean represents </a:t>
            </a:r>
            <a:r>
              <a:rPr lang="en-US" b="1" dirty="0"/>
              <a:t>True or False</a:t>
            </a:r>
            <a:endParaRPr lang="en-US" dirty="0"/>
          </a:p>
          <a:p>
            <a:r>
              <a:rPr lang="en-US" dirty="0"/>
              <a:t>Result of comparisons and conditions</a:t>
            </a:r>
          </a:p>
          <a:p>
            <a:r>
              <a:rPr lang="en-US" dirty="0"/>
              <a:t>Core to decision-making in Python</a:t>
            </a:r>
          </a:p>
        </p:txBody>
      </p:sp>
      <p:sp>
        <p:nvSpPr>
          <p:cNvPr id="4" name="Content Placeholder 2">
            <a:extLst>
              <a:ext uri="{FF2B5EF4-FFF2-40B4-BE49-F238E27FC236}">
                <a16:creationId xmlns:a16="http://schemas.microsoft.com/office/drawing/2014/main" id="{A7C10B56-194D-997D-5DE6-FB0BB2C2E6C4}"/>
              </a:ext>
            </a:extLst>
          </p:cNvPr>
          <p:cNvSpPr txBox="1">
            <a:spLocks/>
          </p:cNvSpPr>
          <p:nvPr/>
        </p:nvSpPr>
        <p:spPr>
          <a:xfrm>
            <a:off x="7937501" y="1079500"/>
            <a:ext cx="3641724"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is_active</a:t>
            </a:r>
            <a:r>
              <a:rPr lang="en-US" dirty="0"/>
              <a:t> = True</a:t>
            </a:r>
          </a:p>
          <a:p>
            <a:pPr marL="0" indent="0">
              <a:buNone/>
            </a:pPr>
            <a:r>
              <a:rPr lang="en-US" dirty="0" err="1"/>
              <a:t>is_admin</a:t>
            </a:r>
            <a:r>
              <a:rPr lang="en-US" dirty="0"/>
              <a:t> = False</a:t>
            </a:r>
          </a:p>
        </p:txBody>
      </p:sp>
    </p:spTree>
    <p:extLst>
      <p:ext uri="{BB962C8B-B14F-4D97-AF65-F5344CB8AC3E}">
        <p14:creationId xmlns:p14="http://schemas.microsoft.com/office/powerpoint/2010/main" val="38924197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D209F-ACF2-F272-F013-EC25A724A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82CB21-BCCC-F83E-0D7F-EB7CA0880269}"/>
              </a:ext>
            </a:extLst>
          </p:cNvPr>
          <p:cNvSpPr>
            <a:spLocks noGrp="1"/>
          </p:cNvSpPr>
          <p:nvPr>
            <p:ph type="title"/>
          </p:nvPr>
        </p:nvSpPr>
        <p:spPr>
          <a:xfrm>
            <a:off x="457200" y="-76200"/>
            <a:ext cx="8229600" cy="1143000"/>
          </a:xfrm>
        </p:spPr>
        <p:txBody>
          <a:bodyPr/>
          <a:lstStyle/>
          <a:p>
            <a:r>
              <a:rPr lang="en-SG" dirty="0"/>
              <a:t>Boolean Values in Python</a:t>
            </a:r>
          </a:p>
        </p:txBody>
      </p:sp>
      <p:sp>
        <p:nvSpPr>
          <p:cNvPr id="3" name="Content Placeholder 2">
            <a:extLst>
              <a:ext uri="{FF2B5EF4-FFF2-40B4-BE49-F238E27FC236}">
                <a16:creationId xmlns:a16="http://schemas.microsoft.com/office/drawing/2014/main" id="{4E94AE7A-0C57-8845-908E-5AF2D036BE11}"/>
              </a:ext>
            </a:extLst>
          </p:cNvPr>
          <p:cNvSpPr>
            <a:spLocks noGrp="1"/>
          </p:cNvSpPr>
          <p:nvPr>
            <p:ph idx="1"/>
          </p:nvPr>
        </p:nvSpPr>
        <p:spPr>
          <a:xfrm>
            <a:off x="1268412" y="1079500"/>
            <a:ext cx="4826000" cy="5295900"/>
          </a:xfrm>
        </p:spPr>
        <p:style>
          <a:lnRef idx="2">
            <a:schemeClr val="dk1"/>
          </a:lnRef>
          <a:fillRef idx="1">
            <a:schemeClr val="lt1"/>
          </a:fillRef>
          <a:effectRef idx="0">
            <a:schemeClr val="dk1"/>
          </a:effectRef>
          <a:fontRef idx="minor">
            <a:schemeClr val="dk1"/>
          </a:fontRef>
        </p:style>
        <p:txBody>
          <a:bodyPr>
            <a:normAutofit/>
          </a:bodyPr>
          <a:lstStyle/>
          <a:p>
            <a:r>
              <a:rPr lang="en-US" b="1" dirty="0"/>
              <a:t>Two Boolean Literals</a:t>
            </a:r>
          </a:p>
          <a:p>
            <a:pPr lvl="1"/>
            <a:r>
              <a:rPr lang="en-US" dirty="0"/>
              <a:t>True</a:t>
            </a:r>
          </a:p>
          <a:p>
            <a:pPr lvl="1"/>
            <a:r>
              <a:rPr lang="en-US" dirty="0"/>
              <a:t>False</a:t>
            </a:r>
          </a:p>
        </p:txBody>
      </p:sp>
      <p:sp>
        <p:nvSpPr>
          <p:cNvPr id="4" name="Content Placeholder 2">
            <a:extLst>
              <a:ext uri="{FF2B5EF4-FFF2-40B4-BE49-F238E27FC236}">
                <a16:creationId xmlns:a16="http://schemas.microsoft.com/office/drawing/2014/main" id="{CF3E497A-28E9-D532-5855-4EEC81C15214}"/>
              </a:ext>
            </a:extLst>
          </p:cNvPr>
          <p:cNvSpPr txBox="1">
            <a:spLocks/>
          </p:cNvSpPr>
          <p:nvPr/>
        </p:nvSpPr>
        <p:spPr>
          <a:xfrm>
            <a:off x="6524625" y="1079500"/>
            <a:ext cx="4826000"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print(type(True))</a:t>
            </a:r>
          </a:p>
          <a:p>
            <a:pPr marL="0" indent="0">
              <a:buNone/>
            </a:pPr>
            <a:r>
              <a:rPr lang="en-US" dirty="0"/>
              <a:t>print(type(False))</a:t>
            </a:r>
          </a:p>
        </p:txBody>
      </p:sp>
    </p:spTree>
    <p:extLst>
      <p:ext uri="{BB962C8B-B14F-4D97-AF65-F5344CB8AC3E}">
        <p14:creationId xmlns:p14="http://schemas.microsoft.com/office/powerpoint/2010/main" val="11832790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23000-335A-6F9A-B4D9-536A1F51C5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8C2DE-9F2D-184C-85DE-E3D1ADB53B04}"/>
              </a:ext>
            </a:extLst>
          </p:cNvPr>
          <p:cNvSpPr>
            <a:spLocks noGrp="1"/>
          </p:cNvSpPr>
          <p:nvPr>
            <p:ph type="title"/>
          </p:nvPr>
        </p:nvSpPr>
        <p:spPr>
          <a:xfrm>
            <a:off x="457200" y="381000"/>
            <a:ext cx="8229600" cy="1143000"/>
          </a:xfrm>
        </p:spPr>
        <p:txBody>
          <a:bodyPr>
            <a:normAutofit/>
          </a:bodyPr>
          <a:lstStyle/>
          <a:p>
            <a:r>
              <a:rPr lang="en-SG" dirty="0"/>
              <a:t>Comparisons Produce Booleans</a:t>
            </a:r>
          </a:p>
        </p:txBody>
      </p:sp>
      <p:sp>
        <p:nvSpPr>
          <p:cNvPr id="3" name="Content Placeholder 2">
            <a:extLst>
              <a:ext uri="{FF2B5EF4-FFF2-40B4-BE49-F238E27FC236}">
                <a16:creationId xmlns:a16="http://schemas.microsoft.com/office/drawing/2014/main" id="{970A2573-BAD7-059B-FF8C-355B67F8A125}"/>
              </a:ext>
            </a:extLst>
          </p:cNvPr>
          <p:cNvSpPr>
            <a:spLocks noGrp="1"/>
          </p:cNvSpPr>
          <p:nvPr>
            <p:ph idx="1"/>
          </p:nvPr>
        </p:nvSpPr>
        <p:spPr>
          <a:xfrm>
            <a:off x="1003300" y="1828800"/>
            <a:ext cx="7327900" cy="45466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endParaRPr lang="en-US" dirty="0"/>
          </a:p>
          <a:p>
            <a:pPr marL="0" indent="0">
              <a:buNone/>
            </a:pPr>
            <a:r>
              <a:rPr lang="en-US" dirty="0"/>
              <a:t>print(x &gt; 5)</a:t>
            </a:r>
          </a:p>
          <a:p>
            <a:pPr marL="0" indent="0">
              <a:buNone/>
            </a:pPr>
            <a:r>
              <a:rPr lang="en-US" dirty="0"/>
              <a:t>print(x == 10)</a:t>
            </a:r>
          </a:p>
          <a:p>
            <a:pPr marL="0" indent="0">
              <a:buNone/>
            </a:pPr>
            <a:r>
              <a:rPr lang="en-US" dirty="0"/>
              <a:t>print(x != 3)</a:t>
            </a:r>
          </a:p>
        </p:txBody>
      </p:sp>
    </p:spTree>
    <p:extLst>
      <p:ext uri="{BB962C8B-B14F-4D97-AF65-F5344CB8AC3E}">
        <p14:creationId xmlns:p14="http://schemas.microsoft.com/office/powerpoint/2010/main" val="57778805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40599-CCC0-5A31-FAD0-E79A7EA98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E9A1D2-F027-FF6F-F12F-E376B0C928B0}"/>
              </a:ext>
            </a:extLst>
          </p:cNvPr>
          <p:cNvSpPr>
            <a:spLocks noGrp="1"/>
          </p:cNvSpPr>
          <p:nvPr>
            <p:ph type="title"/>
          </p:nvPr>
        </p:nvSpPr>
        <p:spPr>
          <a:xfrm>
            <a:off x="457200" y="228600"/>
            <a:ext cx="8229600" cy="1143000"/>
          </a:xfrm>
        </p:spPr>
        <p:txBody>
          <a:bodyPr/>
          <a:lstStyle/>
          <a:p>
            <a:r>
              <a:rPr lang="en-SG" dirty="0"/>
              <a:t>Logical Operators</a:t>
            </a:r>
          </a:p>
        </p:txBody>
      </p:sp>
      <p:sp>
        <p:nvSpPr>
          <p:cNvPr id="3" name="Content Placeholder 2">
            <a:extLst>
              <a:ext uri="{FF2B5EF4-FFF2-40B4-BE49-F238E27FC236}">
                <a16:creationId xmlns:a16="http://schemas.microsoft.com/office/drawing/2014/main" id="{040DDE43-A6D6-220D-B9BE-8D59A792763D}"/>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a:t>student = True</a:t>
            </a:r>
          </a:p>
          <a:p>
            <a:pPr marL="0" indent="0">
              <a:buNone/>
            </a:pPr>
            <a:endParaRPr lang="en-US" dirty="0"/>
          </a:p>
          <a:p>
            <a:pPr marL="0" indent="0">
              <a:buNone/>
            </a:pPr>
            <a:r>
              <a:rPr lang="en-US" dirty="0"/>
              <a:t>print(age &gt;= 18 and student)</a:t>
            </a:r>
          </a:p>
        </p:txBody>
      </p:sp>
      <p:sp>
        <p:nvSpPr>
          <p:cNvPr id="4" name="Content Placeholder 2">
            <a:extLst>
              <a:ext uri="{FF2B5EF4-FFF2-40B4-BE49-F238E27FC236}">
                <a16:creationId xmlns:a16="http://schemas.microsoft.com/office/drawing/2014/main" id="{20ABF535-DD48-1571-79B3-77F53857EB1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r>
              <a:rPr lang="en-US" dirty="0"/>
              <a:t>or → at least one condition is True</a:t>
            </a:r>
          </a:p>
          <a:p>
            <a:r>
              <a:rPr lang="en-US" dirty="0"/>
              <a:t>not → reverses a Boolean value</a:t>
            </a:r>
          </a:p>
        </p:txBody>
      </p:sp>
    </p:spTree>
    <p:extLst>
      <p:ext uri="{BB962C8B-B14F-4D97-AF65-F5344CB8AC3E}">
        <p14:creationId xmlns:p14="http://schemas.microsoft.com/office/powerpoint/2010/main" val="40998267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lstStyle/>
          <a:p>
            <a:r>
              <a:t>Boolean values: True and False</a:t>
            </a:r>
          </a:p>
          <a:p>
            <a:r>
              <a:t>Conditions rely on truthy / falsy values</a:t>
            </a:r>
          </a:p>
          <a:p>
            <a:r>
              <a:t>Empty values evaluate to False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F10CD-6BCB-6D42-5C87-16C03C9DC596}"/>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3" name="Content Placeholder 2">
            <a:extLst>
              <a:ext uri="{FF2B5EF4-FFF2-40B4-BE49-F238E27FC236}">
                <a16:creationId xmlns:a16="http://schemas.microsoft.com/office/drawing/2014/main" id="{ECABB4D3-D173-7785-A0A0-F3413F81D156}"/>
              </a:ext>
            </a:extLst>
          </p:cNvPr>
          <p:cNvSpPr>
            <a:spLocks noGrp="1"/>
          </p:cNvSpPr>
          <p:nvPr>
            <p:ph idx="1"/>
          </p:nvPr>
        </p:nvSpPr>
        <p:spPr/>
        <p:txBody>
          <a:bodyPr/>
          <a:lstStyle/>
          <a:p>
            <a:r>
              <a:rPr lang="en-US" dirty="0"/>
              <a:t>Not all conditions are explicitly True or False</a:t>
            </a:r>
          </a:p>
          <a:p>
            <a:r>
              <a:rPr lang="en-US" dirty="0"/>
              <a:t>Python treats some values as </a:t>
            </a:r>
            <a:r>
              <a:rPr lang="en-US" b="1" dirty="0"/>
              <a:t>truthy</a:t>
            </a:r>
            <a:r>
              <a:rPr lang="en-US" dirty="0"/>
              <a:t> or </a:t>
            </a:r>
            <a:r>
              <a:rPr lang="en-US" b="1" dirty="0" err="1"/>
              <a:t>falsy</a:t>
            </a:r>
            <a:endParaRPr lang="en-US" dirty="0"/>
          </a:p>
          <a:p>
            <a:endParaRPr lang="en-SG" dirty="0"/>
          </a:p>
        </p:txBody>
      </p:sp>
    </p:spTree>
    <p:extLst>
      <p:ext uri="{BB962C8B-B14F-4D97-AF65-F5344CB8AC3E}">
        <p14:creationId xmlns:p14="http://schemas.microsoft.com/office/powerpoint/2010/main" val="42213955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8160-E6CC-A4E6-DDCC-691BAA543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063FC-196C-2FE6-47C8-FB1A4CA51ACB}"/>
              </a:ext>
            </a:extLst>
          </p:cNvPr>
          <p:cNvSpPr>
            <a:spLocks noGrp="1"/>
          </p:cNvSpPr>
          <p:nvPr>
            <p:ph type="title"/>
          </p:nvPr>
        </p:nvSpPr>
        <p:spPr>
          <a:xfrm>
            <a:off x="457200" y="228600"/>
            <a:ext cx="8229600" cy="1143000"/>
          </a:xfrm>
        </p:spPr>
        <p:txBody>
          <a:bodyPr/>
          <a:lstStyle/>
          <a:p>
            <a:r>
              <a:rPr lang="en-SG" dirty="0" err="1"/>
              <a:t>Falsy</a:t>
            </a:r>
            <a:r>
              <a:rPr lang="en-SG" dirty="0"/>
              <a:t> Values to Remember</a:t>
            </a:r>
          </a:p>
        </p:txBody>
      </p:sp>
      <p:sp>
        <p:nvSpPr>
          <p:cNvPr id="3" name="Content Placeholder 2">
            <a:extLst>
              <a:ext uri="{FF2B5EF4-FFF2-40B4-BE49-F238E27FC236}">
                <a16:creationId xmlns:a16="http://schemas.microsoft.com/office/drawing/2014/main" id="{E5AC3908-1420-4EF8-5CB3-338F5785D505}"/>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p>
          <a:p>
            <a:pPr marL="0" indent="0">
              <a:buNone/>
            </a:pPr>
            <a:r>
              <a:rPr lang="en-US" dirty="0"/>
              <a:t>    print("This will not run")</a:t>
            </a:r>
          </a:p>
        </p:txBody>
      </p:sp>
      <p:sp>
        <p:nvSpPr>
          <p:cNvPr id="4" name="Content Placeholder 2">
            <a:extLst>
              <a:ext uri="{FF2B5EF4-FFF2-40B4-BE49-F238E27FC236}">
                <a16:creationId xmlns:a16="http://schemas.microsoft.com/office/drawing/2014/main" id="{7C0F3385-2ABB-CB95-F9E0-5CDD6FB76C44}"/>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False, None</a:t>
            </a:r>
          </a:p>
          <a:p>
            <a:r>
              <a:rPr lang="en-US" dirty="0"/>
              <a:t>0, 0.0</a:t>
            </a:r>
          </a:p>
          <a:p>
            <a:r>
              <a:rPr lang="en-US" dirty="0"/>
              <a:t>Empty string, list, </a:t>
            </a:r>
            <a:r>
              <a:rPr lang="en-US" dirty="0" err="1"/>
              <a:t>dict</a:t>
            </a:r>
            <a:r>
              <a:rPr lang="en-US" dirty="0"/>
              <a:t>, set</a:t>
            </a:r>
          </a:p>
        </p:txBody>
      </p:sp>
    </p:spTree>
    <p:extLst>
      <p:ext uri="{BB962C8B-B14F-4D97-AF65-F5344CB8AC3E}">
        <p14:creationId xmlns:p14="http://schemas.microsoft.com/office/powerpoint/2010/main" val="352698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4C84B-0ECA-C777-B42D-2988C5F0F3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D32824-EA41-2466-2F35-85958214E121}"/>
              </a:ext>
            </a:extLst>
          </p:cNvPr>
          <p:cNvSpPr>
            <a:spLocks noGrp="1"/>
          </p:cNvSpPr>
          <p:nvPr>
            <p:ph type="title"/>
          </p:nvPr>
        </p:nvSpPr>
        <p:spPr>
          <a:xfrm>
            <a:off x="457200" y="228600"/>
            <a:ext cx="8229600" cy="1143000"/>
          </a:xfrm>
        </p:spPr>
        <p:txBody>
          <a:bodyPr/>
          <a:lstStyle/>
          <a:p>
            <a:r>
              <a:rPr lang="en-SG" dirty="0"/>
              <a:t>Common Truthy Values</a:t>
            </a:r>
          </a:p>
        </p:txBody>
      </p:sp>
      <p:sp>
        <p:nvSpPr>
          <p:cNvPr id="3" name="Content Placeholder 2">
            <a:extLst>
              <a:ext uri="{FF2B5EF4-FFF2-40B4-BE49-F238E27FC236}">
                <a16:creationId xmlns:a16="http://schemas.microsoft.com/office/drawing/2014/main" id="{A6FE32E8-F74D-2D28-7BEA-954152DF052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"hello":</a:t>
            </a:r>
          </a:p>
          <a:p>
            <a:pPr marL="0" indent="0">
              <a:buNone/>
            </a:pPr>
            <a:r>
              <a:rPr lang="en-US" dirty="0"/>
              <a:t>    print("This will run")</a:t>
            </a:r>
          </a:p>
        </p:txBody>
      </p:sp>
      <p:sp>
        <p:nvSpPr>
          <p:cNvPr id="4" name="Content Placeholder 2">
            <a:extLst>
              <a:ext uri="{FF2B5EF4-FFF2-40B4-BE49-F238E27FC236}">
                <a16:creationId xmlns:a16="http://schemas.microsoft.com/office/drawing/2014/main" id="{4F6B4319-A1DD-66FA-4136-BB3DBF9A3600}"/>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Non-zero numbers</a:t>
            </a:r>
          </a:p>
          <a:p>
            <a:r>
              <a:rPr lang="en-US" dirty="0"/>
              <a:t>Non-empty strings</a:t>
            </a:r>
          </a:p>
          <a:p>
            <a:r>
              <a:rPr lang="en-US" dirty="0"/>
              <a:t>Non-empty collections</a:t>
            </a:r>
          </a:p>
          <a:p>
            <a:r>
              <a:rPr lang="en-US" dirty="0"/>
              <a:t>Most objects</a:t>
            </a:r>
          </a:p>
        </p:txBody>
      </p:sp>
    </p:spTree>
    <p:extLst>
      <p:ext uri="{BB962C8B-B14F-4D97-AF65-F5344CB8AC3E}">
        <p14:creationId xmlns:p14="http://schemas.microsoft.com/office/powerpoint/2010/main" val="449841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9C117-A5F5-8D50-49CC-751928513CB0}"/>
              </a:ext>
            </a:extLst>
          </p:cNvPr>
          <p:cNvSpPr>
            <a:spLocks noGrp="1"/>
          </p:cNvSpPr>
          <p:nvPr>
            <p:ph type="title"/>
          </p:nvPr>
        </p:nvSpPr>
        <p:spPr/>
        <p:txBody>
          <a:bodyPr>
            <a:normAutofit/>
          </a:bodyPr>
          <a:lstStyle/>
          <a:p>
            <a:r>
              <a:rPr lang="en-US" dirty="0"/>
              <a:t>Truthiness in if Statements</a:t>
            </a:r>
            <a:endParaRPr lang="en-SG" dirty="0"/>
          </a:p>
        </p:txBody>
      </p:sp>
      <p:sp>
        <p:nvSpPr>
          <p:cNvPr id="3" name="Content Placeholder 2">
            <a:extLst>
              <a:ext uri="{FF2B5EF4-FFF2-40B4-BE49-F238E27FC236}">
                <a16:creationId xmlns:a16="http://schemas.microsoft.com/office/drawing/2014/main" id="{0FAE71B0-954D-39C3-9C8C-0971DDD654E0}"/>
              </a:ext>
            </a:extLst>
          </p:cNvPr>
          <p:cNvSpPr>
            <a:spLocks noGrp="1"/>
          </p:cNvSpPr>
          <p:nvPr>
            <p:ph idx="1"/>
          </p:nvPr>
        </p:nvSpPr>
        <p:spPr/>
        <p:txBody>
          <a:bodyPr/>
          <a:lstStyle/>
          <a:p>
            <a:pPr marL="0" indent="0">
              <a:buNone/>
            </a:pPr>
            <a:r>
              <a:rPr lang="en-US" dirty="0"/>
              <a:t>name = ""</a:t>
            </a:r>
          </a:p>
          <a:p>
            <a:pPr marL="0" indent="0">
              <a:buNone/>
            </a:pPr>
            <a:endParaRPr lang="en-US" dirty="0"/>
          </a:p>
          <a:p>
            <a:pPr marL="0" indent="0">
              <a:buNone/>
            </a:pPr>
            <a:r>
              <a:rPr lang="en-US" dirty="0"/>
              <a:t>if name:</a:t>
            </a:r>
          </a:p>
          <a:p>
            <a:pPr marL="0" indent="0">
              <a:buNone/>
            </a:pPr>
            <a:r>
              <a:rPr lang="en-US" dirty="0"/>
              <a:t>    print("Name provided")</a:t>
            </a:r>
          </a:p>
          <a:p>
            <a:pPr marL="0" indent="0">
              <a:buNone/>
            </a:pPr>
            <a:r>
              <a:rPr lang="en-US" dirty="0"/>
              <a:t>else:</a:t>
            </a:r>
          </a:p>
          <a:p>
            <a:pPr marL="0" indent="0">
              <a:buNone/>
            </a:pPr>
            <a:r>
              <a:rPr lang="en-US" dirty="0"/>
              <a:t>    print("Name missing")</a:t>
            </a:r>
          </a:p>
          <a:p>
            <a:pPr marL="0" indent="0">
              <a:buNone/>
            </a:pPr>
            <a:endParaRPr lang="en-SG" dirty="0"/>
          </a:p>
        </p:txBody>
      </p:sp>
    </p:spTree>
    <p:extLst>
      <p:ext uri="{BB962C8B-B14F-4D97-AF65-F5344CB8AC3E}">
        <p14:creationId xmlns:p14="http://schemas.microsoft.com/office/powerpoint/2010/main" val="1433607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86C48-3307-B294-F23A-70052987DB66}"/>
              </a:ext>
            </a:extLst>
          </p:cNvPr>
          <p:cNvSpPr>
            <a:spLocks noGrp="1"/>
          </p:cNvSpPr>
          <p:nvPr>
            <p:ph type="title"/>
          </p:nvPr>
        </p:nvSpPr>
        <p:spPr/>
        <p:txBody>
          <a:bodyPr>
            <a:normAutofit/>
          </a:bodyPr>
          <a:lstStyle/>
          <a:p>
            <a:r>
              <a:rPr lang="en-SG" dirty="0"/>
              <a:t>Truthiness Simplifies Logic</a:t>
            </a:r>
          </a:p>
        </p:txBody>
      </p:sp>
      <p:sp>
        <p:nvSpPr>
          <p:cNvPr id="3" name="Content Placeholder 2">
            <a:extLst>
              <a:ext uri="{FF2B5EF4-FFF2-40B4-BE49-F238E27FC236}">
                <a16:creationId xmlns:a16="http://schemas.microsoft.com/office/drawing/2014/main" id="{C665FE19-9B0B-F2D5-132A-55F9672B7B80}"/>
              </a:ext>
            </a:extLst>
          </p:cNvPr>
          <p:cNvSpPr>
            <a:spLocks noGrp="1"/>
          </p:cNvSpPr>
          <p:nvPr>
            <p:ph idx="1"/>
          </p:nvPr>
        </p:nvSpPr>
        <p:spPr/>
        <p:txBody>
          <a:bodyPr/>
          <a:lstStyle/>
          <a:p>
            <a:r>
              <a:rPr lang="en-SG" dirty="0" err="1"/>
              <a:t>Falsy</a:t>
            </a:r>
            <a:r>
              <a:rPr lang="en-SG" dirty="0"/>
              <a:t> values:</a:t>
            </a:r>
          </a:p>
          <a:p>
            <a:pPr lvl="1"/>
            <a:r>
              <a:rPr lang="en-SG" dirty="0"/>
              <a:t>False, None</a:t>
            </a:r>
          </a:p>
          <a:p>
            <a:pPr lvl="1"/>
            <a:r>
              <a:rPr lang="en-SG" dirty="0"/>
              <a:t>0, 0.0</a:t>
            </a:r>
          </a:p>
          <a:p>
            <a:pPr lvl="1"/>
            <a:r>
              <a:rPr lang="en-SG" dirty="0"/>
              <a:t>"", [], {}, set()</a:t>
            </a:r>
          </a:p>
          <a:p>
            <a:endParaRPr lang="en-SG" b="1" dirty="0"/>
          </a:p>
          <a:p>
            <a:r>
              <a:rPr lang="en-SG" b="1" dirty="0"/>
              <a:t>Mental model:</a:t>
            </a:r>
            <a:endParaRPr lang="en-SG" dirty="0"/>
          </a:p>
          <a:p>
            <a:pPr lvl="1"/>
            <a:r>
              <a:rPr lang="en-SG" dirty="0"/>
              <a:t>“Empty means false”</a:t>
            </a:r>
          </a:p>
          <a:p>
            <a:endParaRPr lang="en-SG" dirty="0"/>
          </a:p>
        </p:txBody>
      </p:sp>
    </p:spTree>
    <p:extLst>
      <p:ext uri="{BB962C8B-B14F-4D97-AF65-F5344CB8AC3E}">
        <p14:creationId xmlns:p14="http://schemas.microsoft.com/office/powerpoint/2010/main" val="6141432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74C43-5727-83BE-5992-40219A2CE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97C093-CF32-65C4-B78A-B8C38D239BF6}"/>
              </a:ext>
            </a:extLst>
          </p:cNvPr>
          <p:cNvSpPr>
            <a:spLocks noGrp="1"/>
          </p:cNvSpPr>
          <p:nvPr>
            <p:ph type="title"/>
          </p:nvPr>
        </p:nvSpPr>
        <p:spPr/>
        <p:txBody>
          <a:bodyPr>
            <a:normAutofit/>
          </a:bodyPr>
          <a:lstStyle/>
          <a:p>
            <a:r>
              <a:rPr lang="en-SG" dirty="0"/>
              <a:t>Using bool()</a:t>
            </a:r>
          </a:p>
        </p:txBody>
      </p:sp>
      <p:sp>
        <p:nvSpPr>
          <p:cNvPr id="3" name="Content Placeholder 2">
            <a:extLst>
              <a:ext uri="{FF2B5EF4-FFF2-40B4-BE49-F238E27FC236}">
                <a16:creationId xmlns:a16="http://schemas.microsoft.com/office/drawing/2014/main" id="{C6EB74F7-D3CA-1E5A-9BAD-079247ACF5E1}"/>
              </a:ext>
            </a:extLst>
          </p:cNvPr>
          <p:cNvSpPr>
            <a:spLocks noGrp="1"/>
          </p:cNvSpPr>
          <p:nvPr>
            <p:ph idx="1"/>
          </p:nvPr>
        </p:nvSpPr>
        <p:spPr/>
        <p:txBody>
          <a:bodyPr>
            <a:normAutofit/>
          </a:bodyPr>
          <a:lstStyle/>
          <a:p>
            <a:pPr marL="0" indent="0">
              <a:buNone/>
            </a:pPr>
            <a:r>
              <a:rPr lang="en-US" dirty="0"/>
              <a:t># bool() reveals how Python evaluates truthiness</a:t>
            </a:r>
          </a:p>
          <a:p>
            <a:pPr marL="0" indent="0">
              <a:buNone/>
            </a:pPr>
            <a:endParaRPr lang="en-US" dirty="0"/>
          </a:p>
          <a:p>
            <a:pPr marL="0" indent="0">
              <a:buNone/>
            </a:pPr>
            <a:endParaRPr lang="en-US" dirty="0"/>
          </a:p>
          <a:p>
            <a:pPr marL="0" indent="0">
              <a:buNone/>
            </a:pPr>
            <a:r>
              <a:rPr lang="en-US" dirty="0"/>
              <a:t>print(bool(0))</a:t>
            </a:r>
          </a:p>
          <a:p>
            <a:pPr marL="0" indent="0">
              <a:buNone/>
            </a:pPr>
            <a:r>
              <a:rPr lang="en-US" dirty="0"/>
              <a:t>print(bool("Python"))</a:t>
            </a:r>
          </a:p>
          <a:p>
            <a:pPr marL="0" indent="0">
              <a:buNone/>
            </a:pPr>
            <a:r>
              <a:rPr lang="en-US" dirty="0"/>
              <a:t>print(bool([]))</a:t>
            </a:r>
          </a:p>
        </p:txBody>
      </p:sp>
    </p:spTree>
    <p:extLst>
      <p:ext uri="{BB962C8B-B14F-4D97-AF65-F5344CB8AC3E}">
        <p14:creationId xmlns:p14="http://schemas.microsoft.com/office/powerpoint/2010/main" val="27325165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AB84-EA1F-E379-A9BE-18D12CBB2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798FC-9D77-CDB7-D9AA-C99DB52FCEA7}"/>
              </a:ext>
            </a:extLst>
          </p:cNvPr>
          <p:cNvSpPr>
            <a:spLocks noGrp="1"/>
          </p:cNvSpPr>
          <p:nvPr>
            <p:ph type="title"/>
          </p:nvPr>
        </p:nvSpPr>
        <p:spPr>
          <a:xfrm>
            <a:off x="457200" y="228600"/>
            <a:ext cx="8229600" cy="1143000"/>
          </a:xfrm>
        </p:spPr>
        <p:txBody>
          <a:bodyPr/>
          <a:lstStyle/>
          <a:p>
            <a:r>
              <a:rPr lang="en-SG" dirty="0"/>
              <a:t>Short-Circuit Evaluation</a:t>
            </a:r>
          </a:p>
        </p:txBody>
      </p:sp>
      <p:sp>
        <p:nvSpPr>
          <p:cNvPr id="3" name="Content Placeholder 2">
            <a:extLst>
              <a:ext uri="{FF2B5EF4-FFF2-40B4-BE49-F238E27FC236}">
                <a16:creationId xmlns:a16="http://schemas.microsoft.com/office/drawing/2014/main" id="{0B646BA0-8A10-2092-D0C3-AB6672EF43E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0</a:t>
            </a:r>
          </a:p>
          <a:p>
            <a:pPr marL="0" indent="0">
              <a:buNone/>
            </a:pPr>
            <a:r>
              <a:rPr lang="en-US" dirty="0"/>
              <a:t>print(x != 0 and 10 / x)</a:t>
            </a:r>
          </a:p>
        </p:txBody>
      </p:sp>
      <p:sp>
        <p:nvSpPr>
          <p:cNvPr id="4" name="Content Placeholder 2">
            <a:extLst>
              <a:ext uri="{FF2B5EF4-FFF2-40B4-BE49-F238E27FC236}">
                <a16:creationId xmlns:a16="http://schemas.microsoft.com/office/drawing/2014/main" id="{9E4D7B9F-EC1F-883E-AD44-68523FF7A5B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and</a:t>
            </a:r>
            <a:r>
              <a:rPr lang="en-US" dirty="0"/>
              <a:t> stops at first False</a:t>
            </a:r>
          </a:p>
          <a:p>
            <a:r>
              <a:rPr lang="en-US" b="1" dirty="0"/>
              <a:t>or</a:t>
            </a:r>
            <a:r>
              <a:rPr lang="en-US" dirty="0"/>
              <a:t> stops at first True</a:t>
            </a:r>
          </a:p>
        </p:txBody>
      </p:sp>
    </p:spTree>
    <p:extLst>
      <p:ext uri="{BB962C8B-B14F-4D97-AF65-F5344CB8AC3E}">
        <p14:creationId xmlns:p14="http://schemas.microsoft.com/office/powerpoint/2010/main" val="25548997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ECBED-323C-9DFF-3E85-2A6F17E12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15D93-9AB9-E864-CC35-F084D0036101}"/>
              </a:ext>
            </a:extLst>
          </p:cNvPr>
          <p:cNvSpPr>
            <a:spLocks noGrp="1"/>
          </p:cNvSpPr>
          <p:nvPr>
            <p:ph type="title"/>
          </p:nvPr>
        </p:nvSpPr>
        <p:spPr>
          <a:xfrm>
            <a:off x="457200" y="228600"/>
            <a:ext cx="8229600" cy="1143000"/>
          </a:xfrm>
        </p:spPr>
        <p:txBody>
          <a:bodyPr/>
          <a:lstStyle/>
          <a:p>
            <a:r>
              <a:rPr lang="en-SG" dirty="0"/>
              <a:t>Common Mistakes</a:t>
            </a:r>
          </a:p>
        </p:txBody>
      </p:sp>
      <p:sp>
        <p:nvSpPr>
          <p:cNvPr id="3" name="Content Placeholder 2">
            <a:extLst>
              <a:ext uri="{FF2B5EF4-FFF2-40B4-BE49-F238E27FC236}">
                <a16:creationId xmlns:a16="http://schemas.microsoft.com/office/drawing/2014/main" id="{2F80F0AB-ADDB-D097-7E02-7964BA92CA9B}"/>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r>
              <a:rPr lang="en-US" dirty="0" err="1"/>
              <a:t>is_ready</a:t>
            </a:r>
            <a:r>
              <a:rPr lang="en-US" dirty="0"/>
              <a:t> == True:  #bad</a:t>
            </a:r>
          </a:p>
          <a:p>
            <a:pPr marL="0" indent="0">
              <a:buNone/>
            </a:pPr>
            <a:endParaRPr lang="en-US" dirty="0"/>
          </a:p>
          <a:p>
            <a:pPr marL="0" indent="0">
              <a:buNone/>
            </a:pPr>
            <a:r>
              <a:rPr lang="en-US" dirty="0"/>
              <a:t>if </a:t>
            </a:r>
            <a:r>
              <a:rPr lang="en-US" dirty="0" err="1"/>
              <a:t>is_ready</a:t>
            </a:r>
            <a:r>
              <a:rPr lang="en-US" dirty="0"/>
              <a:t>:                 #good</a:t>
            </a:r>
          </a:p>
          <a:p>
            <a:pPr marL="0" indent="0">
              <a:buNone/>
            </a:pPr>
            <a:endParaRPr lang="en-US" dirty="0"/>
          </a:p>
        </p:txBody>
      </p:sp>
      <p:sp>
        <p:nvSpPr>
          <p:cNvPr id="4" name="Content Placeholder 2">
            <a:extLst>
              <a:ext uri="{FF2B5EF4-FFF2-40B4-BE49-F238E27FC236}">
                <a16:creationId xmlns:a16="http://schemas.microsoft.com/office/drawing/2014/main" id="{E955F866-2EC2-6368-3A1A-7D31324425B9}"/>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Comparing to True or False explicitly</a:t>
            </a:r>
          </a:p>
          <a:p>
            <a:r>
              <a:rPr lang="en-US" dirty="0"/>
              <a:t>Confusing None with False</a:t>
            </a:r>
          </a:p>
          <a:p>
            <a:r>
              <a:rPr lang="en-US" dirty="0"/>
              <a:t>Assuming empty collections are True</a:t>
            </a:r>
          </a:p>
        </p:txBody>
      </p:sp>
    </p:spTree>
    <p:extLst>
      <p:ext uri="{BB962C8B-B14F-4D97-AF65-F5344CB8AC3E}">
        <p14:creationId xmlns:p14="http://schemas.microsoft.com/office/powerpoint/2010/main" val="19901643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FE668-0829-A4DA-E2FA-9B997E2C70EF}"/>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1F3D3B31-D388-E6BC-17C8-00E703254856}"/>
              </a:ext>
            </a:extLst>
          </p:cNvPr>
          <p:cNvSpPr>
            <a:spLocks noGrp="1"/>
          </p:cNvSpPr>
          <p:nvPr>
            <p:ph idx="1"/>
          </p:nvPr>
        </p:nvSpPr>
        <p:spPr/>
        <p:txBody>
          <a:bodyPr/>
          <a:lstStyle/>
          <a:p>
            <a:r>
              <a:rPr lang="en-US" dirty="0"/>
              <a:t>Ask the user for a string</a:t>
            </a:r>
          </a:p>
          <a:p>
            <a:r>
              <a:rPr lang="en-US" dirty="0"/>
              <a:t>Print:</a:t>
            </a:r>
          </a:p>
          <a:p>
            <a:pPr lvl="1"/>
            <a:r>
              <a:rPr lang="en-US" dirty="0"/>
              <a:t>"Empty" if no input</a:t>
            </a:r>
          </a:p>
          <a:p>
            <a:pPr lvl="1"/>
            <a:r>
              <a:rPr lang="en-US" dirty="0"/>
              <a:t>"Not empty" otherwise</a:t>
            </a:r>
          </a:p>
          <a:p>
            <a:endParaRPr lang="en-SG" dirty="0"/>
          </a:p>
        </p:txBody>
      </p:sp>
    </p:spTree>
    <p:extLst>
      <p:ext uri="{BB962C8B-B14F-4D97-AF65-F5344CB8AC3E}">
        <p14:creationId xmlns:p14="http://schemas.microsoft.com/office/powerpoint/2010/main" val="4029593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A8C4E-9C3B-0447-3ACD-1EFECB590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F7F27-E9E5-239F-2921-3CCC50980CD3}"/>
              </a:ext>
            </a:extLst>
          </p:cNvPr>
          <p:cNvSpPr>
            <a:spLocks noGrp="1"/>
          </p:cNvSpPr>
          <p:nvPr>
            <p:ph type="title"/>
          </p:nvPr>
        </p:nvSpPr>
        <p:spPr>
          <a:xfrm>
            <a:off x="457200" y="228600"/>
            <a:ext cx="8229600" cy="1143000"/>
          </a:xfrm>
        </p:spPr>
        <p:txBody>
          <a:bodyPr/>
          <a:lstStyle/>
          <a:p>
            <a:r>
              <a:rPr lang="en-SG" dirty="0"/>
              <a:t>Solution 1</a:t>
            </a:r>
          </a:p>
        </p:txBody>
      </p:sp>
      <p:sp>
        <p:nvSpPr>
          <p:cNvPr id="3" name="Content Placeholder 2">
            <a:extLst>
              <a:ext uri="{FF2B5EF4-FFF2-40B4-BE49-F238E27FC236}">
                <a16:creationId xmlns:a16="http://schemas.microsoft.com/office/drawing/2014/main" id="{8D514EFF-F943-C67F-B923-2CBF6E814A05}"/>
              </a:ext>
            </a:extLst>
          </p:cNvPr>
          <p:cNvSpPr>
            <a:spLocks noGrp="1"/>
          </p:cNvSpPr>
          <p:nvPr>
            <p:ph idx="1"/>
          </p:nvPr>
        </p:nvSpPr>
        <p:spPr>
          <a:xfrm>
            <a:off x="457200" y="1676400"/>
            <a:ext cx="52451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text = input("Enter a string: ")</a:t>
            </a:r>
          </a:p>
          <a:p>
            <a:pPr marL="0" indent="0">
              <a:buNone/>
            </a:pPr>
            <a:endParaRPr lang="en-US" dirty="0"/>
          </a:p>
          <a:p>
            <a:pPr marL="0" indent="0">
              <a:buNone/>
            </a:pPr>
            <a:r>
              <a:rPr lang="en-US" dirty="0"/>
              <a:t>if text:</a:t>
            </a:r>
          </a:p>
          <a:p>
            <a:pPr marL="0" indent="0">
              <a:buNone/>
            </a:pPr>
            <a:r>
              <a:rPr lang="en-US" dirty="0"/>
              <a:t>    print("Not empty")</a:t>
            </a:r>
          </a:p>
          <a:p>
            <a:pPr marL="0" indent="0">
              <a:buNone/>
            </a:pPr>
            <a:r>
              <a:rPr lang="en-US" dirty="0"/>
              <a:t>else:</a:t>
            </a:r>
          </a:p>
          <a:p>
            <a:pPr marL="0" indent="0">
              <a:buNone/>
            </a:pPr>
            <a:r>
              <a:rPr lang="en-US" dirty="0"/>
              <a:t>    print("Empty")</a:t>
            </a:r>
          </a:p>
        </p:txBody>
      </p:sp>
      <p:sp>
        <p:nvSpPr>
          <p:cNvPr id="4" name="Content Placeholder 2">
            <a:extLst>
              <a:ext uri="{FF2B5EF4-FFF2-40B4-BE49-F238E27FC236}">
                <a16:creationId xmlns:a16="http://schemas.microsoft.com/office/drawing/2014/main" id="{43373FEB-6339-1B4D-2721-45118BCE6BD8}"/>
              </a:ext>
            </a:extLst>
          </p:cNvPr>
          <p:cNvSpPr txBox="1">
            <a:spLocks/>
          </p:cNvSpPr>
          <p:nvPr/>
        </p:nvSpPr>
        <p:spPr>
          <a:xfrm>
            <a:off x="6094412" y="1676400"/>
            <a:ext cx="5843588"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 </a:t>
            </a:r>
            <a:r>
              <a:rPr lang="en-US" b="1" dirty="0"/>
              <a:t>empty string</a:t>
            </a:r>
            <a:r>
              <a:rPr lang="en-US" dirty="0"/>
              <a:t> ("") is </a:t>
            </a:r>
            <a:r>
              <a:rPr lang="en-US" i="1" dirty="0" err="1"/>
              <a:t>falsy</a:t>
            </a:r>
            <a:endParaRPr lang="en-US" dirty="0"/>
          </a:p>
          <a:p>
            <a:r>
              <a:rPr lang="en-US" dirty="0"/>
              <a:t>A </a:t>
            </a:r>
            <a:r>
              <a:rPr lang="en-US" b="1" dirty="0"/>
              <a:t>non-empty string</a:t>
            </a:r>
            <a:r>
              <a:rPr lang="en-US" dirty="0"/>
              <a:t> is </a:t>
            </a:r>
            <a:r>
              <a:rPr lang="en-US" i="1" dirty="0"/>
              <a:t>truthy</a:t>
            </a:r>
            <a:endParaRPr lang="en-US" dirty="0"/>
          </a:p>
          <a:p>
            <a:r>
              <a:rPr lang="en-US" dirty="0"/>
              <a:t>Python evaluates the string directly in the if condition</a:t>
            </a:r>
          </a:p>
        </p:txBody>
      </p:sp>
    </p:spTree>
    <p:extLst>
      <p:ext uri="{BB962C8B-B14F-4D97-AF65-F5344CB8AC3E}">
        <p14:creationId xmlns:p14="http://schemas.microsoft.com/office/powerpoint/2010/main" val="41081384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8BD9C-73E6-2085-231F-F6213375A9E8}"/>
              </a:ext>
            </a:extLst>
          </p:cNvPr>
          <p:cNvSpPr>
            <a:spLocks noGrp="1"/>
          </p:cNvSpPr>
          <p:nvPr>
            <p:ph type="title"/>
          </p:nvPr>
        </p:nvSpPr>
        <p:spPr>
          <a:xfrm>
            <a:off x="457200" y="-182562"/>
            <a:ext cx="10833100" cy="1143000"/>
          </a:xfrm>
        </p:spPr>
        <p:txBody>
          <a:bodyPr>
            <a:normAutofit/>
          </a:bodyPr>
          <a:lstStyle/>
          <a:p>
            <a:r>
              <a:rPr lang="en-US" dirty="0"/>
              <a:t>Data Structures — Lists, Sets, and Tuples</a:t>
            </a:r>
            <a:endParaRPr lang="en-SG" dirty="0"/>
          </a:p>
        </p:txBody>
      </p:sp>
      <p:graphicFrame>
        <p:nvGraphicFramePr>
          <p:cNvPr id="4" name="Table 3">
            <a:extLst>
              <a:ext uri="{FF2B5EF4-FFF2-40B4-BE49-F238E27FC236}">
                <a16:creationId xmlns:a16="http://schemas.microsoft.com/office/drawing/2014/main" id="{A4EA0EE4-3388-37F9-D288-B3D55C688A49}"/>
              </a:ext>
            </a:extLst>
          </p:cNvPr>
          <p:cNvGraphicFramePr>
            <a:graphicFrameLocks noGrp="1"/>
          </p:cNvGraphicFramePr>
          <p:nvPr>
            <p:extLst>
              <p:ext uri="{D42A27DB-BD31-4B8C-83A1-F6EECF244321}">
                <p14:modId xmlns:p14="http://schemas.microsoft.com/office/powerpoint/2010/main" val="3513351184"/>
              </p:ext>
            </p:extLst>
          </p:nvPr>
        </p:nvGraphicFramePr>
        <p:xfrm>
          <a:off x="292100" y="850901"/>
          <a:ext cx="11747500" cy="5871892"/>
        </p:xfrm>
        <a:graphic>
          <a:graphicData uri="http://schemas.openxmlformats.org/drawingml/2006/table">
            <a:tbl>
              <a:tblPr/>
              <a:tblGrid>
                <a:gridCol w="2349500">
                  <a:extLst>
                    <a:ext uri="{9D8B030D-6E8A-4147-A177-3AD203B41FA5}">
                      <a16:colId xmlns:a16="http://schemas.microsoft.com/office/drawing/2014/main" val="24851224"/>
                    </a:ext>
                  </a:extLst>
                </a:gridCol>
                <a:gridCol w="2349500">
                  <a:extLst>
                    <a:ext uri="{9D8B030D-6E8A-4147-A177-3AD203B41FA5}">
                      <a16:colId xmlns:a16="http://schemas.microsoft.com/office/drawing/2014/main" val="3390414847"/>
                    </a:ext>
                  </a:extLst>
                </a:gridCol>
                <a:gridCol w="2349500">
                  <a:extLst>
                    <a:ext uri="{9D8B030D-6E8A-4147-A177-3AD203B41FA5}">
                      <a16:colId xmlns:a16="http://schemas.microsoft.com/office/drawing/2014/main" val="3146186434"/>
                    </a:ext>
                  </a:extLst>
                </a:gridCol>
                <a:gridCol w="2349500">
                  <a:extLst>
                    <a:ext uri="{9D8B030D-6E8A-4147-A177-3AD203B41FA5}">
                      <a16:colId xmlns:a16="http://schemas.microsoft.com/office/drawing/2014/main" val="1258871052"/>
                    </a:ext>
                  </a:extLst>
                </a:gridCol>
                <a:gridCol w="2349500">
                  <a:extLst>
                    <a:ext uri="{9D8B030D-6E8A-4147-A177-3AD203B41FA5}">
                      <a16:colId xmlns:a16="http://schemas.microsoft.com/office/drawing/2014/main" val="65556977"/>
                    </a:ext>
                  </a:extLst>
                </a:gridCol>
              </a:tblGrid>
              <a:tr h="428718">
                <a:tc>
                  <a:txBody>
                    <a:bodyPr/>
                    <a:lstStyle/>
                    <a:p>
                      <a:pPr rtl="0">
                        <a:buNone/>
                      </a:pPr>
                      <a:r>
                        <a:rPr lang="en-SG" sz="2400" b="1">
                          <a:solidFill>
                            <a:srgbClr val="1F1F1F"/>
                          </a:solidFill>
                          <a:effectLst/>
                          <a:latin typeface="Google Sans Text"/>
                        </a:rPr>
                        <a:t>Structure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Ordered?</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Mutable?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Unique?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Use Case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77812970"/>
                  </a:ext>
                </a:extLst>
              </a:tr>
              <a:tr h="1215708">
                <a:tc>
                  <a:txBody>
                    <a:bodyPr/>
                    <a:lstStyle/>
                    <a:p>
                      <a:pPr rtl="0">
                        <a:buNone/>
                      </a:pPr>
                      <a:r>
                        <a:rPr lang="en-SG" sz="2400" b="1">
                          <a:solidFill>
                            <a:srgbClr val="1F1F1F"/>
                          </a:solidFill>
                          <a:effectLst/>
                          <a:latin typeface="Google Sans Text"/>
                        </a:rPr>
                        <a:t>List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General purpose collections (e.g., </a:t>
                      </a:r>
                      <a:r>
                        <a:rPr lang="en-US" sz="2400">
                          <a:solidFill>
                            <a:srgbClr val="444746"/>
                          </a:solidFill>
                          <a:effectLst/>
                          <a:latin typeface="Google Sans Text"/>
                        </a:rPr>
                        <a:t>[cap, title]</a:t>
                      </a:r>
                      <a:r>
                        <a:rPr lang="en-US" sz="2400">
                          <a:solidFill>
                            <a:srgbClr val="1F1F1F"/>
                          </a:solidFill>
                          <a:effectLst/>
                          <a:latin typeface="Google Sans Text"/>
                        </a:rPr>
                        <a:t>).</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25069397"/>
                  </a:ext>
                </a:extLst>
              </a:tr>
              <a:tr h="1118473">
                <a:tc>
                  <a:txBody>
                    <a:bodyPr/>
                    <a:lstStyle/>
                    <a:p>
                      <a:pPr rtl="0">
                        <a:buNone/>
                      </a:pPr>
                      <a:r>
                        <a:rPr lang="en-SG" sz="2400" b="1">
                          <a:solidFill>
                            <a:srgbClr val="1F1F1F"/>
                          </a:solidFill>
                          <a:effectLst/>
                          <a:latin typeface="Google Sans Text"/>
                        </a:rPr>
                        <a:t>Tuple</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Fixed records, coordinates, or dictionary keys.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88626009"/>
                  </a:ext>
                </a:extLst>
              </a:tr>
              <a:tr h="1463350">
                <a:tc>
                  <a:txBody>
                    <a:bodyPr/>
                    <a:lstStyle/>
                    <a:p>
                      <a:pPr rtl="0">
                        <a:buNone/>
                      </a:pPr>
                      <a:r>
                        <a:rPr lang="en-SG" sz="2400" b="1">
                          <a:solidFill>
                            <a:srgbClr val="1F1F1F"/>
                          </a:solidFill>
                          <a:effectLst/>
                          <a:latin typeface="Google Sans Text"/>
                        </a:rPr>
                        <a:t>Set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Membership testing and removing duplicates.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77294078"/>
                  </a:ext>
                </a:extLst>
              </a:tr>
              <a:tr h="1463350">
                <a:tc>
                  <a:txBody>
                    <a:bodyPr/>
                    <a:lstStyle/>
                    <a:p>
                      <a:pPr rtl="0">
                        <a:buNone/>
                      </a:pPr>
                      <a:r>
                        <a:rPr lang="en-SG" sz="2400" b="1">
                          <a:solidFill>
                            <a:srgbClr val="1F1F1F"/>
                          </a:solidFill>
                          <a:effectLst/>
                          <a:latin typeface="Google Sans Text"/>
                        </a:rPr>
                        <a:t>Dict</a:t>
                      </a:r>
                      <a:r>
                        <a:rPr lang="en-SG" sz="2400">
                          <a:solidFill>
                            <a:srgbClr val="1F1F1F"/>
                          </a:solidFill>
                          <a:effectLst/>
                          <a:latin typeface="Google Sans Text"/>
                        </a:rPr>
                        <a:t> </a:t>
                      </a:r>
                      <a:r>
                        <a:rPr lang="en-SG" sz="2400">
                          <a:solidFill>
                            <a:srgbClr val="444746"/>
                          </a:solidFill>
                          <a:effectLst/>
                          <a:latin typeface="Google Sans Text"/>
                        </a:rPr>
                        <a:t>{k:v}</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 (3.7+)</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dirty="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Keys: 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dirty="0">
                          <a:solidFill>
                            <a:srgbClr val="1F1F1F"/>
                          </a:solidFill>
                          <a:effectLst/>
                          <a:latin typeface="Google Sans Text"/>
                        </a:rPr>
                        <a:t>Key-value mapping for fast lookups ($O(1)$).</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49885563"/>
                  </a:ext>
                </a:extLst>
              </a:tr>
            </a:tbl>
          </a:graphicData>
        </a:graphic>
      </p:graphicFrame>
    </p:spTree>
    <p:extLst>
      <p:ext uri="{BB962C8B-B14F-4D97-AF65-F5344CB8AC3E}">
        <p14:creationId xmlns:p14="http://schemas.microsoft.com/office/powerpoint/2010/main" val="414851014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F5674-2506-496C-A8D8-8F47D2DDBE30}"/>
              </a:ext>
            </a:extLst>
          </p:cNvPr>
          <p:cNvSpPr>
            <a:spLocks noGrp="1"/>
          </p:cNvSpPr>
          <p:nvPr>
            <p:ph type="title"/>
          </p:nvPr>
        </p:nvSpPr>
        <p:spPr/>
        <p:txBody>
          <a:bodyPr/>
          <a:lstStyle/>
          <a:p>
            <a:r>
              <a:rPr lang="en-SG" dirty="0"/>
              <a:t>Solution 2: Ternary</a:t>
            </a:r>
          </a:p>
        </p:txBody>
      </p:sp>
      <p:sp>
        <p:nvSpPr>
          <p:cNvPr id="3" name="Content Placeholder 2">
            <a:extLst>
              <a:ext uri="{FF2B5EF4-FFF2-40B4-BE49-F238E27FC236}">
                <a16:creationId xmlns:a16="http://schemas.microsoft.com/office/drawing/2014/main" id="{034A91F2-2167-B172-B1C0-42D97EE8DE96}"/>
              </a:ext>
            </a:extLst>
          </p:cNvPr>
          <p:cNvSpPr>
            <a:spLocks noGrp="1"/>
          </p:cNvSpPr>
          <p:nvPr>
            <p:ph idx="1"/>
          </p:nvPr>
        </p:nvSpPr>
        <p:spPr/>
        <p:txBody>
          <a:bodyPr/>
          <a:lstStyle/>
          <a:p>
            <a:pPr marL="0" indent="0">
              <a:buNone/>
            </a:pPr>
            <a:r>
              <a:rPr lang="en-US" dirty="0"/>
              <a:t>text = input("Enter a string: ")</a:t>
            </a:r>
          </a:p>
          <a:p>
            <a:pPr marL="0" indent="0">
              <a:buNone/>
            </a:pPr>
            <a:r>
              <a:rPr lang="en-US" dirty="0"/>
              <a:t>print("Not empty" if text else "Empty")</a:t>
            </a:r>
          </a:p>
          <a:p>
            <a:pPr marL="0" indent="0">
              <a:buNone/>
            </a:pPr>
            <a:endParaRPr lang="en-SG" dirty="0"/>
          </a:p>
        </p:txBody>
      </p:sp>
    </p:spTree>
    <p:extLst>
      <p:ext uri="{BB962C8B-B14F-4D97-AF65-F5344CB8AC3E}">
        <p14:creationId xmlns:p14="http://schemas.microsoft.com/office/powerpoint/2010/main" val="27624177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35253-35D0-DF65-6D8F-8519BCD6C2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22F5CF-B16F-FFB0-11D3-5478C4BA169C}"/>
              </a:ext>
            </a:extLst>
          </p:cNvPr>
          <p:cNvSpPr>
            <a:spLocks noGrp="1"/>
          </p:cNvSpPr>
          <p:nvPr>
            <p:ph type="title"/>
          </p:nvPr>
        </p:nvSpPr>
        <p:spPr/>
        <p:txBody>
          <a:bodyPr/>
          <a:lstStyle/>
          <a:p>
            <a:r>
              <a:rPr lang="en-SG" dirty="0"/>
              <a:t>Solution 3: </a:t>
            </a:r>
            <a:r>
              <a:rPr lang="en-SG" dirty="0" err="1"/>
              <a:t>len</a:t>
            </a:r>
            <a:r>
              <a:rPr lang="en-SG" dirty="0"/>
              <a:t>()</a:t>
            </a:r>
          </a:p>
        </p:txBody>
      </p:sp>
      <p:sp>
        <p:nvSpPr>
          <p:cNvPr id="3" name="Content Placeholder 2">
            <a:extLst>
              <a:ext uri="{FF2B5EF4-FFF2-40B4-BE49-F238E27FC236}">
                <a16:creationId xmlns:a16="http://schemas.microsoft.com/office/drawing/2014/main" id="{6A00E301-8BF1-1359-E0FB-713AF06FDE01}"/>
              </a:ext>
            </a:extLst>
          </p:cNvPr>
          <p:cNvSpPr>
            <a:spLocks noGrp="1"/>
          </p:cNvSpPr>
          <p:nvPr>
            <p:ph idx="1"/>
          </p:nvPr>
        </p:nvSpPr>
        <p:spPr/>
        <p:txBody>
          <a:bodyPr/>
          <a:lstStyle/>
          <a:p>
            <a:pPr marL="0" indent="0">
              <a:buNone/>
            </a:pPr>
            <a:r>
              <a:rPr lang="en-US" dirty="0"/>
              <a:t>text = input("Enter a string: ")</a:t>
            </a:r>
          </a:p>
          <a:p>
            <a:pPr marL="0" indent="0">
              <a:buNone/>
            </a:pPr>
            <a:endParaRPr lang="en-US" dirty="0"/>
          </a:p>
          <a:p>
            <a:pPr marL="0" indent="0">
              <a:buNone/>
            </a:pPr>
            <a:r>
              <a:rPr lang="en-US" dirty="0"/>
              <a:t>if </a:t>
            </a:r>
            <a:r>
              <a:rPr lang="en-US" dirty="0" err="1"/>
              <a:t>len</a:t>
            </a:r>
            <a:r>
              <a:rPr lang="en-US" dirty="0"/>
              <a:t>(text) == 0:</a:t>
            </a:r>
          </a:p>
          <a:p>
            <a:pPr marL="0" indent="0">
              <a:buNone/>
            </a:pPr>
            <a:r>
              <a:rPr lang="en-US" dirty="0"/>
              <a:t>    print("Empty")</a:t>
            </a:r>
          </a:p>
          <a:p>
            <a:pPr marL="0" indent="0">
              <a:buNone/>
            </a:pPr>
            <a:r>
              <a:rPr lang="en-US" dirty="0"/>
              <a:t>else:</a:t>
            </a:r>
          </a:p>
          <a:p>
            <a:pPr marL="0" indent="0">
              <a:buNone/>
            </a:pPr>
            <a:r>
              <a:rPr lang="en-US" dirty="0"/>
              <a:t>    print("Not empty")</a:t>
            </a:r>
          </a:p>
        </p:txBody>
      </p:sp>
    </p:spTree>
    <p:extLst>
      <p:ext uri="{BB962C8B-B14F-4D97-AF65-F5344CB8AC3E}">
        <p14:creationId xmlns:p14="http://schemas.microsoft.com/office/powerpoint/2010/main" val="40117345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6517-6CA0-9A2C-BCEF-A288B253B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130B80-5FC2-EF7B-E7AB-353789D3097B}"/>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A1BDC9C0-8F9B-358C-8A6B-9D986391005C}"/>
              </a:ext>
            </a:extLst>
          </p:cNvPr>
          <p:cNvSpPr>
            <a:spLocks noGrp="1"/>
          </p:cNvSpPr>
          <p:nvPr>
            <p:ph idx="1"/>
          </p:nvPr>
        </p:nvSpPr>
        <p:spPr/>
        <p:txBody>
          <a:bodyPr/>
          <a:lstStyle/>
          <a:p>
            <a:r>
              <a:rPr lang="en-US" dirty="0"/>
              <a:t>Booleans drive program logic</a:t>
            </a:r>
          </a:p>
          <a:p>
            <a:r>
              <a:rPr lang="en-US" dirty="0"/>
              <a:t>Truthiness simplifies conditions</a:t>
            </a:r>
          </a:p>
          <a:p>
            <a:r>
              <a:rPr lang="en-US" dirty="0"/>
              <a:t>Understanding </a:t>
            </a:r>
            <a:r>
              <a:rPr lang="en-US" dirty="0" err="1"/>
              <a:t>falsy</a:t>
            </a:r>
            <a:r>
              <a:rPr lang="en-US" dirty="0"/>
              <a:t> values prevents bugs</a:t>
            </a:r>
          </a:p>
        </p:txBody>
      </p:sp>
    </p:spTree>
    <p:extLst>
      <p:ext uri="{BB962C8B-B14F-4D97-AF65-F5344CB8AC3E}">
        <p14:creationId xmlns:p14="http://schemas.microsoft.com/office/powerpoint/2010/main" val="20501814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6764-731A-41D6-6189-61DF4690616A}"/>
              </a:ext>
            </a:extLst>
          </p:cNvPr>
          <p:cNvSpPr>
            <a:spLocks noGrp="1"/>
          </p:cNvSpPr>
          <p:nvPr>
            <p:ph type="title"/>
          </p:nvPr>
        </p:nvSpPr>
        <p:spPr>
          <a:xfrm>
            <a:off x="457200" y="274638"/>
            <a:ext cx="10985500" cy="1143000"/>
          </a:xfrm>
        </p:spPr>
        <p:txBody>
          <a:bodyPr/>
          <a:lstStyle/>
          <a:p>
            <a:r>
              <a:rPr lang="en-SG" dirty="0"/>
              <a:t>Logic Flow &amp; List Comprehensions</a:t>
            </a:r>
          </a:p>
        </p:txBody>
      </p:sp>
      <p:sp>
        <p:nvSpPr>
          <p:cNvPr id="3" name="Content Placeholder 2">
            <a:extLst>
              <a:ext uri="{FF2B5EF4-FFF2-40B4-BE49-F238E27FC236}">
                <a16:creationId xmlns:a16="http://schemas.microsoft.com/office/drawing/2014/main" id="{AFDB1925-D781-7449-3170-24071630EAA8}"/>
              </a:ext>
            </a:extLst>
          </p:cNvPr>
          <p:cNvSpPr>
            <a:spLocks noGrp="1"/>
          </p:cNvSpPr>
          <p:nvPr>
            <p:ph idx="1"/>
          </p:nvPr>
        </p:nvSpPr>
        <p:spPr>
          <a:xfrm>
            <a:off x="203200" y="1392238"/>
            <a:ext cx="11671300" cy="2481262"/>
          </a:xfrm>
        </p:spPr>
        <p:txBody>
          <a:bodyPr>
            <a:normAutofit fontScale="92500" lnSpcReduction="10000"/>
          </a:bodyPr>
          <a:lstStyle/>
          <a:p>
            <a:r>
              <a:rPr lang="en-US" dirty="0"/>
              <a:t>Conditional Logic: Standard if/</a:t>
            </a:r>
            <a:r>
              <a:rPr lang="en-US" dirty="0" err="1"/>
              <a:t>elif</a:t>
            </a:r>
            <a:r>
              <a:rPr lang="en-US" dirty="0"/>
              <a:t>/else blocks and the "Ternary Operator": x = a if condition else b.</a:t>
            </a:r>
          </a:p>
          <a:p>
            <a:endParaRPr lang="en-US" dirty="0"/>
          </a:p>
          <a:p>
            <a:r>
              <a:rPr lang="en-US" dirty="0"/>
              <a:t>List Comprehensions: A powerful syntax to create new lists from existing </a:t>
            </a:r>
            <a:r>
              <a:rPr lang="en-US" dirty="0" err="1"/>
              <a:t>iterables</a:t>
            </a:r>
            <a:r>
              <a:rPr lang="en-US" dirty="0"/>
              <a:t>.</a:t>
            </a:r>
          </a:p>
          <a:p>
            <a:endParaRPr lang="en-US" dirty="0"/>
          </a:p>
          <a:p>
            <a:pPr marL="0" indent="0">
              <a:buNone/>
            </a:pPr>
            <a:endParaRPr lang="en-US" dirty="0"/>
          </a:p>
          <a:p>
            <a:endParaRPr lang="en-US" dirty="0"/>
          </a:p>
          <a:p>
            <a:endParaRPr lang="en-US" dirty="0"/>
          </a:p>
        </p:txBody>
      </p:sp>
      <p:sp>
        <p:nvSpPr>
          <p:cNvPr id="6" name="TextBox 5">
            <a:extLst>
              <a:ext uri="{FF2B5EF4-FFF2-40B4-BE49-F238E27FC236}">
                <a16:creationId xmlns:a16="http://schemas.microsoft.com/office/drawing/2014/main" id="{7939AF17-BCAB-ADC4-7837-822598D72295}"/>
              </a:ext>
            </a:extLst>
          </p:cNvPr>
          <p:cNvSpPr txBox="1"/>
          <p:nvPr/>
        </p:nvSpPr>
        <p:spPr>
          <a:xfrm>
            <a:off x="1525588" y="4252734"/>
            <a:ext cx="3898900"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dirty="0"/>
              <a:t># Verbose</a:t>
            </a:r>
            <a:br>
              <a:rPr lang="en-SG" dirty="0"/>
            </a:br>
            <a:r>
              <a:rPr lang="en-US" dirty="0" err="1"/>
              <a:t>new_list</a:t>
            </a:r>
            <a:r>
              <a:rPr lang="en-US" dirty="0"/>
              <a:t> = []</a:t>
            </a:r>
          </a:p>
          <a:p>
            <a:r>
              <a:rPr lang="en-US" dirty="0"/>
              <a:t>for x in </a:t>
            </a:r>
            <a:r>
              <a:rPr lang="en-US" dirty="0" err="1"/>
              <a:t>old_list</a:t>
            </a:r>
            <a:r>
              <a:rPr lang="en-US" dirty="0"/>
              <a:t>:</a:t>
            </a:r>
          </a:p>
          <a:p>
            <a:r>
              <a:rPr lang="en-US" dirty="0"/>
              <a:t>    if x &gt; 0: </a:t>
            </a:r>
            <a:r>
              <a:rPr lang="en-US" dirty="0" err="1"/>
              <a:t>new_list.append</a:t>
            </a:r>
            <a:r>
              <a:rPr lang="en-US" dirty="0"/>
              <a:t>(x)</a:t>
            </a:r>
            <a:endParaRPr lang="en-SG" dirty="0"/>
          </a:p>
        </p:txBody>
      </p:sp>
      <p:sp>
        <p:nvSpPr>
          <p:cNvPr id="7" name="TextBox 6">
            <a:extLst>
              <a:ext uri="{FF2B5EF4-FFF2-40B4-BE49-F238E27FC236}">
                <a16:creationId xmlns:a16="http://schemas.microsoft.com/office/drawing/2014/main" id="{2154DB07-DE9A-74FB-CD88-D34AF530A0AF}"/>
              </a:ext>
            </a:extLst>
          </p:cNvPr>
          <p:cNvSpPr txBox="1"/>
          <p:nvPr/>
        </p:nvSpPr>
        <p:spPr>
          <a:xfrm>
            <a:off x="6802438" y="4252734"/>
            <a:ext cx="389890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 Pythonic</a:t>
            </a:r>
          </a:p>
          <a:p>
            <a:r>
              <a:rPr lang="en-US" dirty="0" err="1"/>
              <a:t>new_list</a:t>
            </a:r>
            <a:r>
              <a:rPr lang="en-US" dirty="0"/>
              <a:t> = [x for x in </a:t>
            </a:r>
            <a:r>
              <a:rPr lang="en-US" dirty="0" err="1"/>
              <a:t>old_list</a:t>
            </a:r>
            <a:r>
              <a:rPr lang="en-US" dirty="0"/>
              <a:t> if x &gt; 0]</a:t>
            </a:r>
            <a:endParaRPr lang="en-SG" dirty="0"/>
          </a:p>
        </p:txBody>
      </p:sp>
      <p:sp>
        <p:nvSpPr>
          <p:cNvPr id="9" name="Content Placeholder 2">
            <a:extLst>
              <a:ext uri="{FF2B5EF4-FFF2-40B4-BE49-F238E27FC236}">
                <a16:creationId xmlns:a16="http://schemas.microsoft.com/office/drawing/2014/main" id="{33097FFA-9B05-14DF-2286-94ED2F4FEB63}"/>
              </a:ext>
            </a:extLst>
          </p:cNvPr>
          <p:cNvSpPr txBox="1">
            <a:spLocks/>
          </p:cNvSpPr>
          <p:nvPr/>
        </p:nvSpPr>
        <p:spPr>
          <a:xfrm>
            <a:off x="203200" y="5619745"/>
            <a:ext cx="11671300" cy="13970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Enumerate &amp; Zip: Use enumerate() to get indexes and zip() to iterate over two lists simultaneously.</a:t>
            </a:r>
          </a:p>
        </p:txBody>
      </p:sp>
    </p:spTree>
    <p:extLst>
      <p:ext uri="{BB962C8B-B14F-4D97-AF65-F5344CB8AC3E}">
        <p14:creationId xmlns:p14="http://schemas.microsoft.com/office/powerpoint/2010/main" val="22902362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F71B3-2EC1-9554-B479-279FCE8390C5}"/>
              </a:ext>
            </a:extLst>
          </p:cNvPr>
          <p:cNvSpPr>
            <a:spLocks noGrp="1"/>
          </p:cNvSpPr>
          <p:nvPr>
            <p:ph type="title"/>
          </p:nvPr>
        </p:nvSpPr>
        <p:spPr/>
        <p:txBody>
          <a:bodyPr>
            <a:normAutofit/>
          </a:bodyPr>
          <a:lstStyle/>
          <a:p>
            <a:r>
              <a:rPr lang="en-US" dirty="0"/>
              <a:t>Why Type Casting &amp; Input Matter</a:t>
            </a:r>
            <a:endParaRPr lang="en-SG" dirty="0"/>
          </a:p>
        </p:txBody>
      </p:sp>
      <p:sp>
        <p:nvSpPr>
          <p:cNvPr id="3" name="Content Placeholder 2">
            <a:extLst>
              <a:ext uri="{FF2B5EF4-FFF2-40B4-BE49-F238E27FC236}">
                <a16:creationId xmlns:a16="http://schemas.microsoft.com/office/drawing/2014/main" id="{2C38C9B6-CFA3-A508-C121-7D5AE8A0C147}"/>
              </a:ext>
            </a:extLst>
          </p:cNvPr>
          <p:cNvSpPr>
            <a:spLocks noGrp="1"/>
          </p:cNvSpPr>
          <p:nvPr>
            <p:ph idx="1"/>
          </p:nvPr>
        </p:nvSpPr>
        <p:spPr/>
        <p:txBody>
          <a:bodyPr/>
          <a:lstStyle/>
          <a:p>
            <a:r>
              <a:rPr lang="en-US" dirty="0"/>
              <a:t>Programs often need </a:t>
            </a:r>
            <a:r>
              <a:rPr lang="en-US" b="1" dirty="0"/>
              <a:t>user input</a:t>
            </a:r>
            <a:endParaRPr lang="en-US" dirty="0"/>
          </a:p>
          <a:p>
            <a:r>
              <a:rPr lang="en-US" dirty="0"/>
              <a:t>Input comes in as </a:t>
            </a:r>
            <a:r>
              <a:rPr lang="en-US" b="1" dirty="0"/>
              <a:t>strings</a:t>
            </a:r>
            <a:endParaRPr lang="en-US" dirty="0"/>
          </a:p>
          <a:p>
            <a:r>
              <a:rPr lang="en-US" dirty="0"/>
              <a:t>Type casting converts data to the </a:t>
            </a:r>
            <a:r>
              <a:rPr lang="en-US" b="1" dirty="0"/>
              <a:t>correct type</a:t>
            </a:r>
            <a:endParaRPr lang="en-US" dirty="0"/>
          </a:p>
          <a:p>
            <a:endParaRPr lang="en-SG" dirty="0"/>
          </a:p>
        </p:txBody>
      </p:sp>
    </p:spTree>
    <p:extLst>
      <p:ext uri="{BB962C8B-B14F-4D97-AF65-F5344CB8AC3E}">
        <p14:creationId xmlns:p14="http://schemas.microsoft.com/office/powerpoint/2010/main" val="103398764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DC5A-A887-2620-5809-B4B9914CB1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CA268C-D76A-6BAE-9004-F80764452F57}"/>
              </a:ext>
            </a:extLst>
          </p:cNvPr>
          <p:cNvSpPr>
            <a:spLocks noGrp="1"/>
          </p:cNvSpPr>
          <p:nvPr>
            <p:ph type="title"/>
          </p:nvPr>
        </p:nvSpPr>
        <p:spPr>
          <a:xfrm>
            <a:off x="457200" y="228600"/>
            <a:ext cx="8229600" cy="1143000"/>
          </a:xfrm>
        </p:spPr>
        <p:txBody>
          <a:bodyPr/>
          <a:lstStyle/>
          <a:p>
            <a:r>
              <a:rPr lang="en-SG" dirty="0"/>
              <a:t>Using input()</a:t>
            </a:r>
          </a:p>
        </p:txBody>
      </p:sp>
      <p:sp>
        <p:nvSpPr>
          <p:cNvPr id="3" name="Content Placeholder 2">
            <a:extLst>
              <a:ext uri="{FF2B5EF4-FFF2-40B4-BE49-F238E27FC236}">
                <a16:creationId xmlns:a16="http://schemas.microsoft.com/office/drawing/2014/main" id="{A64ACC18-2450-F769-661D-C67D6444080D}"/>
              </a:ext>
            </a:extLst>
          </p:cNvPr>
          <p:cNvSpPr>
            <a:spLocks noGrp="1"/>
          </p:cNvSpPr>
          <p:nvPr>
            <p:ph idx="1"/>
          </p:nvPr>
        </p:nvSpPr>
        <p:spPr>
          <a:xfrm>
            <a:off x="457200" y="1676400"/>
            <a:ext cx="61214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input("Enter your name: ")</a:t>
            </a:r>
          </a:p>
          <a:p>
            <a:pPr marL="0" indent="0">
              <a:buNone/>
            </a:pPr>
            <a:r>
              <a:rPr lang="en-US" dirty="0"/>
              <a:t>print(name)</a:t>
            </a:r>
          </a:p>
        </p:txBody>
      </p:sp>
      <p:sp>
        <p:nvSpPr>
          <p:cNvPr id="4" name="Content Placeholder 2">
            <a:extLst>
              <a:ext uri="{FF2B5EF4-FFF2-40B4-BE49-F238E27FC236}">
                <a16:creationId xmlns:a16="http://schemas.microsoft.com/office/drawing/2014/main" id="{C16A0BCA-E380-BC0D-EABF-6E769C30ECA2}"/>
              </a:ext>
            </a:extLst>
          </p:cNvPr>
          <p:cNvSpPr txBox="1">
            <a:spLocks/>
          </p:cNvSpPr>
          <p:nvPr/>
        </p:nvSpPr>
        <p:spPr>
          <a:xfrm>
            <a:off x="6743700" y="1676400"/>
            <a:ext cx="51943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Always returns a </a:t>
            </a:r>
            <a:r>
              <a:rPr lang="en-US" b="1" dirty="0"/>
              <a:t>string</a:t>
            </a:r>
            <a:endParaRPr lang="en-US" dirty="0"/>
          </a:p>
          <a:p>
            <a:r>
              <a:rPr lang="en-US" dirty="0"/>
              <a:t>Prompt text is optional but recommended</a:t>
            </a:r>
          </a:p>
        </p:txBody>
      </p:sp>
    </p:spTree>
    <p:extLst>
      <p:ext uri="{BB962C8B-B14F-4D97-AF65-F5344CB8AC3E}">
        <p14:creationId xmlns:p14="http://schemas.microsoft.com/office/powerpoint/2010/main" val="23318860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F47ED-E9D3-C56B-FC70-D505D44218C9}"/>
              </a:ext>
            </a:extLst>
          </p:cNvPr>
          <p:cNvSpPr>
            <a:spLocks noGrp="1"/>
          </p:cNvSpPr>
          <p:nvPr>
            <p:ph type="title"/>
          </p:nvPr>
        </p:nvSpPr>
        <p:spPr/>
        <p:txBody>
          <a:bodyPr/>
          <a:lstStyle/>
          <a:p>
            <a:r>
              <a:rPr lang="en-US" dirty="0"/>
              <a:t>Input Is Always a String</a:t>
            </a:r>
            <a:endParaRPr lang="en-SG" dirty="0"/>
          </a:p>
        </p:txBody>
      </p:sp>
      <p:sp>
        <p:nvSpPr>
          <p:cNvPr id="3" name="Content Placeholder 2">
            <a:extLst>
              <a:ext uri="{FF2B5EF4-FFF2-40B4-BE49-F238E27FC236}">
                <a16:creationId xmlns:a16="http://schemas.microsoft.com/office/drawing/2014/main" id="{8912829C-91C8-074C-EBC2-AD5864B471B6}"/>
              </a:ext>
            </a:extLst>
          </p:cNvPr>
          <p:cNvSpPr>
            <a:spLocks noGrp="1"/>
          </p:cNvSpPr>
          <p:nvPr>
            <p:ph idx="1"/>
          </p:nvPr>
        </p:nvSpPr>
        <p:spPr/>
        <p:txBody>
          <a:bodyPr/>
          <a:lstStyle/>
          <a:p>
            <a:pPr marL="0" indent="0">
              <a:buNone/>
            </a:pPr>
            <a:r>
              <a:rPr lang="en-US" dirty="0"/>
              <a:t>age = input("Enter your age: ")</a:t>
            </a:r>
          </a:p>
          <a:p>
            <a:pPr marL="0" indent="0">
              <a:buNone/>
            </a:pPr>
            <a:r>
              <a:rPr lang="en-US" dirty="0"/>
              <a:t>print(type(age))</a:t>
            </a:r>
          </a:p>
          <a:p>
            <a:pPr marL="0" indent="0">
              <a:buNone/>
            </a:pPr>
            <a:endParaRPr lang="en-SG" dirty="0"/>
          </a:p>
          <a:p>
            <a:pPr marL="0" indent="0">
              <a:buNone/>
            </a:pPr>
            <a:r>
              <a:rPr lang="en-SG" dirty="0"/>
              <a:t>&lt;class 'str'&gt;</a:t>
            </a:r>
          </a:p>
          <a:p>
            <a:pPr marL="0" indent="0">
              <a:buNone/>
            </a:pPr>
            <a:endParaRPr lang="en-SG" dirty="0"/>
          </a:p>
        </p:txBody>
      </p:sp>
    </p:spTree>
    <p:extLst>
      <p:ext uri="{BB962C8B-B14F-4D97-AF65-F5344CB8AC3E}">
        <p14:creationId xmlns:p14="http://schemas.microsoft.com/office/powerpoint/2010/main" val="97626074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84F49-09CE-6317-1836-767D67266017}"/>
              </a:ext>
            </a:extLst>
          </p:cNvPr>
          <p:cNvSpPr>
            <a:spLocks noGrp="1"/>
          </p:cNvSpPr>
          <p:nvPr>
            <p:ph type="title"/>
          </p:nvPr>
        </p:nvSpPr>
        <p:spPr/>
        <p:txBody>
          <a:bodyPr>
            <a:normAutofit/>
          </a:bodyPr>
          <a:lstStyle/>
          <a:p>
            <a:r>
              <a:rPr lang="en-US" dirty="0"/>
              <a:t>What Is Type Casting?</a:t>
            </a:r>
            <a:endParaRPr lang="en-SG" dirty="0"/>
          </a:p>
        </p:txBody>
      </p:sp>
      <p:sp>
        <p:nvSpPr>
          <p:cNvPr id="3" name="Content Placeholder 2">
            <a:extLst>
              <a:ext uri="{FF2B5EF4-FFF2-40B4-BE49-F238E27FC236}">
                <a16:creationId xmlns:a16="http://schemas.microsoft.com/office/drawing/2014/main" id="{3283A7EB-848C-45A6-DBF6-869B1C8A97D4}"/>
              </a:ext>
            </a:extLst>
          </p:cNvPr>
          <p:cNvSpPr>
            <a:spLocks noGrp="1"/>
          </p:cNvSpPr>
          <p:nvPr>
            <p:ph idx="1"/>
          </p:nvPr>
        </p:nvSpPr>
        <p:spPr/>
        <p:txBody>
          <a:bodyPr>
            <a:normAutofit/>
          </a:bodyPr>
          <a:lstStyle/>
          <a:p>
            <a:r>
              <a:rPr lang="en-US" b="1" dirty="0"/>
              <a:t>Definition</a:t>
            </a:r>
          </a:p>
          <a:p>
            <a:pPr lvl="1"/>
            <a:r>
              <a:rPr lang="en-US" dirty="0"/>
              <a:t>Converting a value from one type to another</a:t>
            </a:r>
          </a:p>
          <a:p>
            <a:pPr lvl="1"/>
            <a:endParaRPr lang="en-US" dirty="0"/>
          </a:p>
          <a:p>
            <a:r>
              <a:rPr lang="en-US" b="1" dirty="0"/>
              <a:t>Common Casting Functions</a:t>
            </a:r>
          </a:p>
          <a:p>
            <a:pPr lvl="1"/>
            <a:r>
              <a:rPr lang="en-US" dirty="0"/>
              <a:t>int()</a:t>
            </a:r>
          </a:p>
          <a:p>
            <a:pPr lvl="1"/>
            <a:r>
              <a:rPr lang="en-US" dirty="0"/>
              <a:t>float()</a:t>
            </a:r>
          </a:p>
          <a:p>
            <a:pPr lvl="1"/>
            <a:r>
              <a:rPr lang="en-US" dirty="0"/>
              <a:t>str()</a:t>
            </a:r>
          </a:p>
          <a:p>
            <a:pPr lvl="1"/>
            <a:r>
              <a:rPr lang="en-US" dirty="0"/>
              <a:t>bool()</a:t>
            </a:r>
          </a:p>
          <a:p>
            <a:endParaRPr lang="en-SG" dirty="0"/>
          </a:p>
        </p:txBody>
      </p:sp>
    </p:spTree>
    <p:extLst>
      <p:ext uri="{BB962C8B-B14F-4D97-AF65-F5344CB8AC3E}">
        <p14:creationId xmlns:p14="http://schemas.microsoft.com/office/powerpoint/2010/main" val="2539972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a:xfrm>
            <a:off x="457200" y="1600201"/>
            <a:ext cx="8229600" cy="1968500"/>
          </a:xfrm>
        </p:spPr>
        <p:style>
          <a:lnRef idx="2">
            <a:schemeClr val="dk1"/>
          </a:lnRef>
          <a:fillRef idx="1">
            <a:schemeClr val="lt1"/>
          </a:fillRef>
          <a:effectRef idx="0">
            <a:schemeClr val="dk1"/>
          </a:effectRef>
          <a:fontRef idx="minor">
            <a:schemeClr val="dk1"/>
          </a:fontRef>
        </p:style>
        <p:txBody>
          <a:bodyPr/>
          <a:lstStyle/>
          <a:p>
            <a:r>
              <a:rPr dirty="0"/>
              <a:t>input() always returns a string</a:t>
            </a:r>
          </a:p>
          <a:p>
            <a:r>
              <a:rPr dirty="0"/>
              <a:t>Use int(), float(), str(), bool()</a:t>
            </a:r>
          </a:p>
          <a:p>
            <a:r>
              <a:rPr dirty="0"/>
              <a:t>Validate input to avoid runtime errors</a:t>
            </a:r>
          </a:p>
        </p:txBody>
      </p:sp>
      <p:sp>
        <p:nvSpPr>
          <p:cNvPr id="4" name="TextBox 3">
            <a:extLst>
              <a:ext uri="{FF2B5EF4-FFF2-40B4-BE49-F238E27FC236}">
                <a16:creationId xmlns:a16="http://schemas.microsoft.com/office/drawing/2014/main" id="{0972A754-9016-1F20-3769-52F073D2754D}"/>
              </a:ext>
            </a:extLst>
          </p:cNvPr>
          <p:cNvSpPr txBox="1"/>
          <p:nvPr/>
        </p:nvSpPr>
        <p:spPr>
          <a:xfrm>
            <a:off x="457200" y="4191000"/>
            <a:ext cx="82296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age = int(input("Enter your age: "))</a:t>
            </a:r>
          </a:p>
          <a:p>
            <a:r>
              <a:rPr lang="en-US" sz="3200" dirty="0"/>
              <a:t>print(age + 1)</a:t>
            </a:r>
          </a:p>
          <a:p>
            <a:endParaRPr lang="en-SG" sz="3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1BDA-5226-320D-EC70-2D51CB4F4D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4074C-8DA8-CEED-3D3C-B5B2897F5FDF}"/>
              </a:ext>
            </a:extLst>
          </p:cNvPr>
          <p:cNvSpPr>
            <a:spLocks noGrp="1"/>
          </p:cNvSpPr>
          <p:nvPr>
            <p:ph type="title"/>
          </p:nvPr>
        </p:nvSpPr>
        <p:spPr>
          <a:xfrm>
            <a:off x="457200" y="228600"/>
            <a:ext cx="8229600" cy="1143000"/>
          </a:xfrm>
        </p:spPr>
        <p:txBody>
          <a:bodyPr/>
          <a:lstStyle/>
          <a:p>
            <a:r>
              <a:rPr lang="en-US" dirty="0"/>
              <a:t>Casting Input to Float</a:t>
            </a:r>
          </a:p>
        </p:txBody>
      </p:sp>
      <p:sp>
        <p:nvSpPr>
          <p:cNvPr id="3" name="Content Placeholder 2">
            <a:extLst>
              <a:ext uri="{FF2B5EF4-FFF2-40B4-BE49-F238E27FC236}">
                <a16:creationId xmlns:a16="http://schemas.microsoft.com/office/drawing/2014/main" id="{ECCF02C3-4217-921E-133C-D87A98A87DB6}"/>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price = float(input("Enter price: "))</a:t>
            </a:r>
          </a:p>
          <a:p>
            <a:pPr marL="0" indent="0">
              <a:buNone/>
            </a:pPr>
            <a:r>
              <a:rPr lang="en-US" dirty="0"/>
              <a:t>print(price * 1.08)</a:t>
            </a:r>
          </a:p>
        </p:txBody>
      </p:sp>
    </p:spTree>
    <p:extLst>
      <p:ext uri="{BB962C8B-B14F-4D97-AF65-F5344CB8AC3E}">
        <p14:creationId xmlns:p14="http://schemas.microsoft.com/office/powerpoint/2010/main" val="42282147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F31AF-8F2C-3553-C3EB-1ACF6624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00C8F-DAA2-0778-6A96-CE3D5AA2AA58}"/>
              </a:ext>
            </a:extLst>
          </p:cNvPr>
          <p:cNvSpPr>
            <a:spLocks noGrp="1"/>
          </p:cNvSpPr>
          <p:nvPr>
            <p:ph type="title"/>
          </p:nvPr>
        </p:nvSpPr>
        <p:spPr>
          <a:xfrm>
            <a:off x="457200" y="228600"/>
            <a:ext cx="8229600" cy="1143000"/>
          </a:xfrm>
        </p:spPr>
        <p:txBody>
          <a:bodyPr/>
          <a:lstStyle/>
          <a:p>
            <a:r>
              <a:rPr lang="en-US" dirty="0"/>
              <a:t>Casting to String</a:t>
            </a:r>
          </a:p>
        </p:txBody>
      </p:sp>
      <p:sp>
        <p:nvSpPr>
          <p:cNvPr id="3" name="Content Placeholder 2">
            <a:extLst>
              <a:ext uri="{FF2B5EF4-FFF2-40B4-BE49-F238E27FC236}">
                <a16:creationId xmlns:a16="http://schemas.microsoft.com/office/drawing/2014/main" id="{6A43D2B2-6147-65FF-3D18-7C5C7F714ABF}"/>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year = 2025</a:t>
            </a:r>
          </a:p>
          <a:p>
            <a:pPr marL="0" indent="0">
              <a:buNone/>
            </a:pPr>
            <a:r>
              <a:rPr lang="en-US" dirty="0"/>
              <a:t>text = str(year)</a:t>
            </a:r>
          </a:p>
          <a:p>
            <a:pPr marL="0" indent="0">
              <a:buNone/>
            </a:pPr>
            <a:r>
              <a:rPr lang="en-US" dirty="0"/>
              <a:t>print("Year: " + text)</a:t>
            </a:r>
          </a:p>
        </p:txBody>
      </p:sp>
    </p:spTree>
    <p:extLst>
      <p:ext uri="{BB962C8B-B14F-4D97-AF65-F5344CB8AC3E}">
        <p14:creationId xmlns:p14="http://schemas.microsoft.com/office/powerpoint/2010/main" val="33781906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A33C4-75B8-0C76-C139-FEA7AB8576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C68768-97B6-A65B-0579-F631DABF0C69}"/>
              </a:ext>
            </a:extLst>
          </p:cNvPr>
          <p:cNvSpPr>
            <a:spLocks noGrp="1"/>
          </p:cNvSpPr>
          <p:nvPr>
            <p:ph type="title"/>
          </p:nvPr>
        </p:nvSpPr>
        <p:spPr>
          <a:xfrm>
            <a:off x="1320800" y="304800"/>
            <a:ext cx="7137400" cy="1143000"/>
          </a:xfrm>
        </p:spPr>
        <p:txBody>
          <a:bodyPr>
            <a:normAutofit/>
          </a:bodyPr>
          <a:lstStyle/>
          <a:p>
            <a:r>
              <a:rPr lang="en-US" dirty="0"/>
              <a:t>Casting to Boolean</a:t>
            </a:r>
          </a:p>
        </p:txBody>
      </p:sp>
      <p:sp>
        <p:nvSpPr>
          <p:cNvPr id="3" name="Content Placeholder 2">
            <a:extLst>
              <a:ext uri="{FF2B5EF4-FFF2-40B4-BE49-F238E27FC236}">
                <a16:creationId xmlns:a16="http://schemas.microsoft.com/office/drawing/2014/main" id="{D096118A-142E-841D-53B3-D33E2FF3C34B}"/>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a:t>
            </a:r>
            <a:r>
              <a:rPr lang="en-SG" dirty="0"/>
              <a:t>Truthiness Reminder</a:t>
            </a:r>
            <a:endParaRPr lang="en-US" dirty="0"/>
          </a:p>
          <a:p>
            <a:pPr marL="0" indent="0">
              <a:buNone/>
            </a:pPr>
            <a:endParaRPr lang="en-US" dirty="0"/>
          </a:p>
          <a:p>
            <a:pPr marL="0" indent="0">
              <a:buNone/>
            </a:pPr>
            <a:r>
              <a:rPr lang="en-US" dirty="0"/>
              <a:t>print(bool(0))</a:t>
            </a:r>
          </a:p>
          <a:p>
            <a:pPr marL="0" indent="0">
              <a:buNone/>
            </a:pPr>
            <a:r>
              <a:rPr lang="en-US" dirty="0"/>
              <a:t>print(bool(""))</a:t>
            </a:r>
          </a:p>
          <a:p>
            <a:pPr marL="0" indent="0">
              <a:buNone/>
            </a:pPr>
            <a:r>
              <a:rPr lang="en-US" dirty="0"/>
              <a:t>print(bool("Python"))</a:t>
            </a:r>
          </a:p>
        </p:txBody>
      </p:sp>
    </p:spTree>
    <p:extLst>
      <p:ext uri="{BB962C8B-B14F-4D97-AF65-F5344CB8AC3E}">
        <p14:creationId xmlns:p14="http://schemas.microsoft.com/office/powerpoint/2010/main" val="16261316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11319-48DF-2990-1863-55B0F64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2C1C1-DFFF-E4E9-3188-2C26BA95D814}"/>
              </a:ext>
            </a:extLst>
          </p:cNvPr>
          <p:cNvSpPr>
            <a:spLocks noGrp="1"/>
          </p:cNvSpPr>
          <p:nvPr>
            <p:ph type="title"/>
          </p:nvPr>
        </p:nvSpPr>
        <p:spPr>
          <a:xfrm>
            <a:off x="1320800" y="304800"/>
            <a:ext cx="7137400" cy="1143000"/>
          </a:xfrm>
        </p:spPr>
        <p:txBody>
          <a:bodyPr>
            <a:normAutofit/>
          </a:bodyPr>
          <a:lstStyle/>
          <a:p>
            <a:r>
              <a:rPr lang="en-SG" dirty="0"/>
              <a:t>Safe Casting with try-except</a:t>
            </a:r>
            <a:endParaRPr lang="en-US" dirty="0"/>
          </a:p>
        </p:txBody>
      </p:sp>
      <p:sp>
        <p:nvSpPr>
          <p:cNvPr id="3" name="Content Placeholder 2">
            <a:extLst>
              <a:ext uri="{FF2B5EF4-FFF2-40B4-BE49-F238E27FC236}">
                <a16:creationId xmlns:a16="http://schemas.microsoft.com/office/drawing/2014/main" id="{2ABF811B-73B2-7394-6C57-036BF79F3C53}"/>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try:</a:t>
            </a:r>
          </a:p>
          <a:p>
            <a:pPr marL="0" indent="0">
              <a:buNone/>
            </a:pPr>
            <a:r>
              <a:rPr lang="en-US" dirty="0"/>
              <a:t>    age = int(input("Enter age: "))</a:t>
            </a:r>
          </a:p>
          <a:p>
            <a:pPr marL="0" indent="0">
              <a:buNone/>
            </a:pPr>
            <a:r>
              <a:rPr lang="en-US" dirty="0"/>
              <a:t>    print("Next year:", age + 1)</a:t>
            </a:r>
          </a:p>
          <a:p>
            <a:pPr marL="0" indent="0">
              <a:buNone/>
            </a:pPr>
            <a:r>
              <a:rPr lang="en-US" dirty="0"/>
              <a:t>except </a:t>
            </a:r>
            <a:r>
              <a:rPr lang="en-US" dirty="0" err="1"/>
              <a:t>ValueError</a:t>
            </a:r>
            <a:r>
              <a:rPr lang="en-US" dirty="0"/>
              <a:t>:</a:t>
            </a:r>
          </a:p>
          <a:p>
            <a:pPr marL="0" indent="0">
              <a:buNone/>
            </a:pPr>
            <a:r>
              <a:rPr lang="en-US" dirty="0"/>
              <a:t>    print("Please enter a valid number")</a:t>
            </a:r>
          </a:p>
        </p:txBody>
      </p:sp>
    </p:spTree>
    <p:extLst>
      <p:ext uri="{BB962C8B-B14F-4D97-AF65-F5344CB8AC3E}">
        <p14:creationId xmlns:p14="http://schemas.microsoft.com/office/powerpoint/2010/main" val="34375060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AA277-726C-9050-A48C-089A93924D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C8CBA-C3E6-5827-7079-2B4286D5FD4A}"/>
              </a:ext>
            </a:extLst>
          </p:cNvPr>
          <p:cNvSpPr>
            <a:spLocks noGrp="1"/>
          </p:cNvSpPr>
          <p:nvPr>
            <p:ph type="title"/>
          </p:nvPr>
        </p:nvSpPr>
        <p:spPr>
          <a:xfrm>
            <a:off x="457200" y="228600"/>
            <a:ext cx="8229600" cy="1143000"/>
          </a:xfrm>
        </p:spPr>
        <p:txBody>
          <a:bodyPr/>
          <a:lstStyle/>
          <a:p>
            <a:r>
              <a:rPr lang="en-US" dirty="0"/>
              <a:t>Input + Casting Common Pattern</a:t>
            </a:r>
          </a:p>
        </p:txBody>
      </p:sp>
      <p:sp>
        <p:nvSpPr>
          <p:cNvPr id="3" name="Content Placeholder 2">
            <a:extLst>
              <a:ext uri="{FF2B5EF4-FFF2-40B4-BE49-F238E27FC236}">
                <a16:creationId xmlns:a16="http://schemas.microsoft.com/office/drawing/2014/main" id="{29B3819F-932C-6D49-BF2E-72A4A86F32E6}"/>
              </a:ext>
            </a:extLst>
          </p:cNvPr>
          <p:cNvSpPr>
            <a:spLocks noGrp="1"/>
          </p:cNvSpPr>
          <p:nvPr>
            <p:ph idx="1"/>
          </p:nvPr>
        </p:nvSpPr>
        <p:spPr>
          <a:xfrm>
            <a:off x="266700" y="1676400"/>
            <a:ext cx="52705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value = type(input("Prompt"))</a:t>
            </a:r>
          </a:p>
        </p:txBody>
      </p:sp>
      <p:sp>
        <p:nvSpPr>
          <p:cNvPr id="4" name="Content Placeholder 2">
            <a:extLst>
              <a:ext uri="{FF2B5EF4-FFF2-40B4-BE49-F238E27FC236}">
                <a16:creationId xmlns:a16="http://schemas.microsoft.com/office/drawing/2014/main" id="{7AC9CD96-CFF1-ADDE-7ED1-E8CFD475F9D2}"/>
              </a:ext>
            </a:extLst>
          </p:cNvPr>
          <p:cNvSpPr txBox="1">
            <a:spLocks/>
          </p:cNvSpPr>
          <p:nvPr/>
        </p:nvSpPr>
        <p:spPr>
          <a:xfrm>
            <a:off x="5867400" y="1676400"/>
            <a:ext cx="61849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count = int(input("Enter count: "))</a:t>
            </a:r>
          </a:p>
        </p:txBody>
      </p:sp>
    </p:spTree>
    <p:extLst>
      <p:ext uri="{BB962C8B-B14F-4D97-AF65-F5344CB8AC3E}">
        <p14:creationId xmlns:p14="http://schemas.microsoft.com/office/powerpoint/2010/main" val="116204246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6134-3812-5831-03F6-D38FD64F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B13CA-8AA9-16C1-ADE6-38C59DCE01C6}"/>
              </a:ext>
            </a:extLst>
          </p:cNvPr>
          <p:cNvSpPr>
            <a:spLocks noGrp="1"/>
          </p:cNvSpPr>
          <p:nvPr>
            <p:ph type="title"/>
          </p:nvPr>
        </p:nvSpPr>
        <p:spPr>
          <a:xfrm>
            <a:off x="1320800" y="304800"/>
            <a:ext cx="7137400" cy="1143000"/>
          </a:xfrm>
        </p:spPr>
        <p:txBody>
          <a:bodyPr>
            <a:normAutofit/>
          </a:bodyPr>
          <a:lstStyle/>
          <a:p>
            <a:r>
              <a:rPr lang="en-US" dirty="0"/>
              <a:t>Mixing Input with f-Strings</a:t>
            </a:r>
          </a:p>
        </p:txBody>
      </p:sp>
      <p:sp>
        <p:nvSpPr>
          <p:cNvPr id="3" name="Content Placeholder 2">
            <a:extLst>
              <a:ext uri="{FF2B5EF4-FFF2-40B4-BE49-F238E27FC236}">
                <a16:creationId xmlns:a16="http://schemas.microsoft.com/office/drawing/2014/main" id="{DC80FC08-09D1-0453-8AB3-1C496112C609}"/>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input("Name: ")</a:t>
            </a:r>
          </a:p>
          <a:p>
            <a:pPr marL="0" indent="0">
              <a:buNone/>
            </a:pPr>
            <a:r>
              <a:rPr lang="en-US" dirty="0"/>
              <a:t>age = int(input("Age: "))</a:t>
            </a:r>
          </a:p>
          <a:p>
            <a:pPr marL="0" indent="0">
              <a:buNone/>
            </a:pPr>
            <a:endParaRPr lang="en-US" dirty="0"/>
          </a:p>
          <a:p>
            <a:pPr marL="0" indent="0">
              <a:buNone/>
            </a:pPr>
            <a:r>
              <a:rPr lang="en-US" dirty="0"/>
              <a:t>print(f"{name} will be {age + 1} next year")</a:t>
            </a:r>
          </a:p>
        </p:txBody>
      </p:sp>
    </p:spTree>
    <p:extLst>
      <p:ext uri="{BB962C8B-B14F-4D97-AF65-F5344CB8AC3E}">
        <p14:creationId xmlns:p14="http://schemas.microsoft.com/office/powerpoint/2010/main" val="337044962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B6BEC-D10A-0417-9BC2-11E559A052D2}"/>
              </a:ext>
            </a:extLst>
          </p:cNvPr>
          <p:cNvSpPr>
            <a:spLocks noGrp="1"/>
          </p:cNvSpPr>
          <p:nvPr>
            <p:ph type="title"/>
          </p:nvPr>
        </p:nvSpPr>
        <p:spPr/>
        <p:txBody>
          <a:bodyPr>
            <a:normAutofit/>
          </a:bodyPr>
          <a:lstStyle/>
          <a:p>
            <a:r>
              <a:rPr lang="en-US" dirty="0"/>
              <a:t>Common Mistakes</a:t>
            </a:r>
            <a:endParaRPr lang="en-SG" dirty="0"/>
          </a:p>
        </p:txBody>
      </p:sp>
      <p:sp>
        <p:nvSpPr>
          <p:cNvPr id="3" name="Content Placeholder 2">
            <a:extLst>
              <a:ext uri="{FF2B5EF4-FFF2-40B4-BE49-F238E27FC236}">
                <a16:creationId xmlns:a16="http://schemas.microsoft.com/office/drawing/2014/main" id="{BE98B4DE-E6F2-3240-C004-04A8A8DD652E}"/>
              </a:ext>
            </a:extLst>
          </p:cNvPr>
          <p:cNvSpPr>
            <a:spLocks noGrp="1"/>
          </p:cNvSpPr>
          <p:nvPr>
            <p:ph idx="1"/>
          </p:nvPr>
        </p:nvSpPr>
        <p:spPr/>
        <p:txBody>
          <a:bodyPr/>
          <a:lstStyle/>
          <a:p>
            <a:r>
              <a:rPr lang="en-US" dirty="0"/>
              <a:t>Forgetting to cast input</a:t>
            </a:r>
          </a:p>
          <a:p>
            <a:r>
              <a:rPr lang="en-US" dirty="0"/>
              <a:t>Casting before validation</a:t>
            </a:r>
          </a:p>
          <a:p>
            <a:r>
              <a:rPr lang="en-US" dirty="0"/>
              <a:t>Assuming input is always valid</a:t>
            </a:r>
          </a:p>
          <a:p>
            <a:endParaRPr lang="en-SG" dirty="0"/>
          </a:p>
        </p:txBody>
      </p:sp>
    </p:spTree>
    <p:extLst>
      <p:ext uri="{BB962C8B-B14F-4D97-AF65-F5344CB8AC3E}">
        <p14:creationId xmlns:p14="http://schemas.microsoft.com/office/powerpoint/2010/main" val="364412367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247EF-0529-924F-F1B4-FE6A2F6D20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D888B-BC43-C5FB-14AC-669B7B675770}"/>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0FCFBC39-17FA-63C7-119A-497136D084CC}"/>
              </a:ext>
            </a:extLst>
          </p:cNvPr>
          <p:cNvSpPr>
            <a:spLocks noGrp="1"/>
          </p:cNvSpPr>
          <p:nvPr>
            <p:ph idx="1"/>
          </p:nvPr>
        </p:nvSpPr>
        <p:spPr/>
        <p:txBody>
          <a:bodyPr/>
          <a:lstStyle/>
          <a:p>
            <a:r>
              <a:rPr lang="en-US" dirty="0"/>
              <a:t>input() always returns a string</a:t>
            </a:r>
          </a:p>
          <a:p>
            <a:r>
              <a:rPr lang="en-US" dirty="0"/>
              <a:t>Type casting enables correct operations</a:t>
            </a:r>
          </a:p>
          <a:p>
            <a:r>
              <a:rPr lang="en-US" dirty="0"/>
              <a:t>Validate input to avoid runtime errors</a:t>
            </a:r>
          </a:p>
        </p:txBody>
      </p:sp>
    </p:spTree>
    <p:extLst>
      <p:ext uri="{BB962C8B-B14F-4D97-AF65-F5344CB8AC3E}">
        <p14:creationId xmlns:p14="http://schemas.microsoft.com/office/powerpoint/2010/main" val="2832775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D3F31-CCCF-3C03-F821-DD358B8B37DD}"/>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9FF537C0-241F-2DBB-7CD4-ADC0875EF0AB}"/>
              </a:ext>
            </a:extLst>
          </p:cNvPr>
          <p:cNvSpPr>
            <a:spLocks noGrp="1"/>
          </p:cNvSpPr>
          <p:nvPr>
            <p:ph idx="1"/>
          </p:nvPr>
        </p:nvSpPr>
        <p:spPr>
          <a:xfrm>
            <a:off x="457200" y="1435101"/>
            <a:ext cx="8229600" cy="1524000"/>
          </a:xfrm>
        </p:spPr>
        <p:style>
          <a:lnRef idx="2">
            <a:schemeClr val="dk1"/>
          </a:lnRef>
          <a:fillRef idx="1">
            <a:schemeClr val="lt1"/>
          </a:fillRef>
          <a:effectRef idx="0">
            <a:schemeClr val="dk1"/>
          </a:effectRef>
          <a:fontRef idx="minor">
            <a:schemeClr val="dk1"/>
          </a:fontRef>
        </p:style>
        <p:txBody>
          <a:bodyPr/>
          <a:lstStyle/>
          <a:p>
            <a:r>
              <a:rPr lang="en-US" dirty="0"/>
              <a:t>Ask the user for two numbers</a:t>
            </a:r>
          </a:p>
          <a:p>
            <a:r>
              <a:rPr lang="en-US" dirty="0"/>
              <a:t>Print their sum</a:t>
            </a:r>
          </a:p>
          <a:p>
            <a:endParaRPr lang="en-SG" dirty="0"/>
          </a:p>
        </p:txBody>
      </p:sp>
      <p:sp>
        <p:nvSpPr>
          <p:cNvPr id="4" name="Content Placeholder 2">
            <a:extLst>
              <a:ext uri="{FF2B5EF4-FFF2-40B4-BE49-F238E27FC236}">
                <a16:creationId xmlns:a16="http://schemas.microsoft.com/office/drawing/2014/main" id="{B56CD778-A185-780D-D461-1AABBEFD4115}"/>
              </a:ext>
            </a:extLst>
          </p:cNvPr>
          <p:cNvSpPr txBox="1">
            <a:spLocks/>
          </p:cNvSpPr>
          <p:nvPr/>
        </p:nvSpPr>
        <p:spPr>
          <a:xfrm>
            <a:off x="457200" y="3340100"/>
            <a:ext cx="8229600" cy="29972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num1 = int(input("Enter the first number: "))</a:t>
            </a:r>
          </a:p>
          <a:p>
            <a:pPr marL="0" indent="0">
              <a:buNone/>
            </a:pPr>
            <a:r>
              <a:rPr lang="en-US" dirty="0"/>
              <a:t>num2 = int(input("Enter the second number: "))</a:t>
            </a:r>
          </a:p>
          <a:p>
            <a:pPr marL="0" indent="0">
              <a:buNone/>
            </a:pPr>
            <a:endParaRPr lang="en-US" dirty="0"/>
          </a:p>
          <a:p>
            <a:pPr marL="0" indent="0">
              <a:buNone/>
            </a:pPr>
            <a:r>
              <a:rPr lang="en-US" dirty="0"/>
              <a:t>total = num1 + num2</a:t>
            </a:r>
          </a:p>
          <a:p>
            <a:pPr marL="0" indent="0">
              <a:buNone/>
            </a:pPr>
            <a:r>
              <a:rPr lang="en-US" dirty="0"/>
              <a:t>print("Sum:", total)</a:t>
            </a:r>
          </a:p>
          <a:p>
            <a:pPr marL="0" indent="0">
              <a:buNone/>
            </a:pPr>
            <a:endParaRPr lang="en-SG" dirty="0"/>
          </a:p>
        </p:txBody>
      </p:sp>
    </p:spTree>
    <p:extLst>
      <p:ext uri="{BB962C8B-B14F-4D97-AF65-F5344CB8AC3E}">
        <p14:creationId xmlns:p14="http://schemas.microsoft.com/office/powerpoint/2010/main" val="381491916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a:xfrm>
            <a:off x="457200" y="261938"/>
            <a:ext cx="8229600" cy="1143000"/>
          </a:xfrm>
        </p:spPr>
        <p:txBody>
          <a:bodyPr>
            <a:normAutofit fontScale="90000"/>
          </a:bodyPr>
          <a:lstStyle/>
          <a:p>
            <a:r>
              <a:rPr lang="en-SG"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E03B6-7AD6-E602-3393-6E7C1822C7C9}"/>
              </a:ext>
            </a:extLst>
          </p:cNvPr>
          <p:cNvSpPr>
            <a:spLocks noGrp="1"/>
          </p:cNvSpPr>
          <p:nvPr>
            <p:ph type="title"/>
          </p:nvPr>
        </p:nvSpPr>
        <p:spPr/>
        <p:txBody>
          <a:bodyPr>
            <a:normAutofit fontScale="90000"/>
          </a:bodyPr>
          <a:lstStyle/>
          <a:p>
            <a:r>
              <a:rPr lang="en-SG" dirty="0"/>
              <a:t>Collections – Managing Data at Scale</a:t>
            </a:r>
          </a:p>
        </p:txBody>
      </p:sp>
      <p:sp>
        <p:nvSpPr>
          <p:cNvPr id="3" name="Content Placeholder 2">
            <a:extLst>
              <a:ext uri="{FF2B5EF4-FFF2-40B4-BE49-F238E27FC236}">
                <a16:creationId xmlns:a16="http://schemas.microsoft.com/office/drawing/2014/main" id="{93D6685B-A736-3A28-B574-DDCCC7525D5B}"/>
              </a:ext>
            </a:extLst>
          </p:cNvPr>
          <p:cNvSpPr>
            <a:spLocks noGrp="1"/>
          </p:cNvSpPr>
          <p:nvPr>
            <p:ph idx="1"/>
          </p:nvPr>
        </p:nvSpPr>
        <p:spPr>
          <a:xfrm>
            <a:off x="457200" y="1600200"/>
            <a:ext cx="11214100" cy="4525963"/>
          </a:xfrm>
        </p:spPr>
        <p:txBody>
          <a:bodyPr/>
          <a:lstStyle/>
          <a:p>
            <a:r>
              <a:rPr lang="en-US" dirty="0"/>
              <a:t>Most business logic is </a:t>
            </a:r>
            <a:r>
              <a:rPr lang="en-US" b="1" dirty="0"/>
              <a:t>data manipulation</a:t>
            </a:r>
            <a:endParaRPr lang="en-US" dirty="0"/>
          </a:p>
          <a:p>
            <a:r>
              <a:rPr lang="en-US" dirty="0"/>
              <a:t>Correct collection choice:</a:t>
            </a:r>
          </a:p>
          <a:p>
            <a:pPr lvl="1"/>
            <a:r>
              <a:rPr lang="en-US" dirty="0"/>
              <a:t>simplifies code</a:t>
            </a:r>
          </a:p>
          <a:p>
            <a:pPr lvl="1"/>
            <a:r>
              <a:rPr lang="en-US" dirty="0"/>
              <a:t>improves performance</a:t>
            </a:r>
          </a:p>
          <a:p>
            <a:pPr lvl="1"/>
            <a:r>
              <a:rPr lang="en-US" dirty="0"/>
              <a:t>reduces bugs</a:t>
            </a:r>
          </a:p>
          <a:p>
            <a:pPr marL="0" indent="0">
              <a:buNone/>
            </a:pPr>
            <a:endParaRPr lang="en-US" b="1" dirty="0"/>
          </a:p>
          <a:p>
            <a:pPr marL="0" indent="0">
              <a:buNone/>
            </a:pPr>
            <a:r>
              <a:rPr lang="en-US" b="1" dirty="0"/>
              <a:t>Outcome:</a:t>
            </a:r>
            <a:r>
              <a:rPr lang="en-US" dirty="0"/>
              <a:t> engineers model data correctly and write clearer logic</a:t>
            </a:r>
          </a:p>
          <a:p>
            <a:endParaRPr lang="en-SG" dirty="0"/>
          </a:p>
        </p:txBody>
      </p:sp>
    </p:spTree>
    <p:extLst>
      <p:ext uri="{BB962C8B-B14F-4D97-AF65-F5344CB8AC3E}">
        <p14:creationId xmlns:p14="http://schemas.microsoft.com/office/powerpoint/2010/main" val="270135924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FFD56-4D38-A511-787F-9754A320F653}"/>
              </a:ext>
            </a:extLst>
          </p:cNvPr>
          <p:cNvSpPr>
            <a:spLocks noGrp="1"/>
          </p:cNvSpPr>
          <p:nvPr>
            <p:ph type="title"/>
          </p:nvPr>
        </p:nvSpPr>
        <p:spPr/>
        <p:txBody>
          <a:bodyPr>
            <a:normAutofit/>
          </a:bodyPr>
          <a:lstStyle/>
          <a:p>
            <a:r>
              <a:rPr lang="en-US" dirty="0"/>
              <a:t>The Core Python Collections</a:t>
            </a:r>
            <a:endParaRPr lang="en-SG" dirty="0"/>
          </a:p>
        </p:txBody>
      </p:sp>
      <p:sp>
        <p:nvSpPr>
          <p:cNvPr id="3" name="Content Placeholder 2">
            <a:extLst>
              <a:ext uri="{FF2B5EF4-FFF2-40B4-BE49-F238E27FC236}">
                <a16:creationId xmlns:a16="http://schemas.microsoft.com/office/drawing/2014/main" id="{E80739CB-C872-1FD1-1CA5-9D999F15BD96}"/>
              </a:ext>
            </a:extLst>
          </p:cNvPr>
          <p:cNvSpPr>
            <a:spLocks noGrp="1"/>
          </p:cNvSpPr>
          <p:nvPr>
            <p:ph idx="1"/>
          </p:nvPr>
        </p:nvSpPr>
        <p:spPr>
          <a:xfrm>
            <a:off x="457200" y="1600200"/>
            <a:ext cx="10718800" cy="4525963"/>
          </a:xfrm>
        </p:spPr>
        <p:txBody>
          <a:bodyPr/>
          <a:lstStyle/>
          <a:p>
            <a:r>
              <a:rPr lang="en-US" dirty="0"/>
              <a:t>list</a:t>
            </a:r>
          </a:p>
          <a:p>
            <a:r>
              <a:rPr lang="en-US" dirty="0"/>
              <a:t>tuple</a:t>
            </a:r>
          </a:p>
          <a:p>
            <a:r>
              <a:rPr lang="en-US" dirty="0" err="1"/>
              <a:t>dict</a:t>
            </a:r>
            <a:endParaRPr lang="en-US" dirty="0"/>
          </a:p>
          <a:p>
            <a:r>
              <a:rPr lang="en-US" dirty="0"/>
              <a:t>set</a:t>
            </a:r>
          </a:p>
          <a:p>
            <a:endParaRPr lang="en-US" b="1" dirty="0"/>
          </a:p>
          <a:p>
            <a:pPr marL="0" indent="0">
              <a:buNone/>
            </a:pPr>
            <a:r>
              <a:rPr lang="en-US" b="1" dirty="0"/>
              <a:t>Mental model: </a:t>
            </a:r>
            <a:r>
              <a:rPr lang="en-US" dirty="0"/>
              <a:t>Different collections solve different problems</a:t>
            </a:r>
          </a:p>
          <a:p>
            <a:endParaRPr lang="en-SG" dirty="0"/>
          </a:p>
        </p:txBody>
      </p:sp>
    </p:spTree>
    <p:extLst>
      <p:ext uri="{BB962C8B-B14F-4D97-AF65-F5344CB8AC3E}">
        <p14:creationId xmlns:p14="http://schemas.microsoft.com/office/powerpoint/2010/main" val="142009025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23DA9-61FF-E402-1A36-A825C43C8EB8}"/>
              </a:ext>
            </a:extLst>
          </p:cNvPr>
          <p:cNvSpPr>
            <a:spLocks noGrp="1"/>
          </p:cNvSpPr>
          <p:nvPr>
            <p:ph type="title"/>
          </p:nvPr>
        </p:nvSpPr>
        <p:spPr/>
        <p:txBody>
          <a:bodyPr>
            <a:normAutofit/>
          </a:bodyPr>
          <a:lstStyle/>
          <a:p>
            <a:r>
              <a:rPr lang="en-US" dirty="0"/>
              <a:t>list — Ordered, Mutable</a:t>
            </a:r>
            <a:endParaRPr lang="en-SG" dirty="0"/>
          </a:p>
        </p:txBody>
      </p:sp>
      <p:sp>
        <p:nvSpPr>
          <p:cNvPr id="3" name="Content Placeholder 2">
            <a:extLst>
              <a:ext uri="{FF2B5EF4-FFF2-40B4-BE49-F238E27FC236}">
                <a16:creationId xmlns:a16="http://schemas.microsoft.com/office/drawing/2014/main" id="{CB8B6562-4DFA-530D-E6F4-E8B29D1922B0}"/>
              </a:ext>
            </a:extLst>
          </p:cNvPr>
          <p:cNvSpPr>
            <a:spLocks noGrp="1"/>
          </p:cNvSpPr>
          <p:nvPr>
            <p:ph idx="1"/>
          </p:nvPr>
        </p:nvSpPr>
        <p:spPr>
          <a:xfrm>
            <a:off x="457200" y="2362201"/>
            <a:ext cx="5637212" cy="2882900"/>
          </a:xfrm>
        </p:spPr>
        <p:txBody>
          <a:bodyPr>
            <a:normAutofit/>
          </a:bodyPr>
          <a:lstStyle/>
          <a:p>
            <a:pPr marL="0" indent="0">
              <a:buNone/>
            </a:pPr>
            <a:r>
              <a:rPr lang="en-US" sz="3600" b="1" dirty="0"/>
              <a:t>Use when</a:t>
            </a:r>
            <a:endParaRPr lang="en-US" sz="3600" dirty="0"/>
          </a:p>
          <a:p>
            <a:pPr marL="457200" lvl="1" indent="0">
              <a:buNone/>
            </a:pPr>
            <a:r>
              <a:rPr lang="en-US" sz="3200" dirty="0"/>
              <a:t>Order matters</a:t>
            </a:r>
          </a:p>
          <a:p>
            <a:pPr marL="457200" lvl="1" indent="0">
              <a:buNone/>
            </a:pPr>
            <a:r>
              <a:rPr lang="en-US" sz="3200" dirty="0"/>
              <a:t>Items change over time</a:t>
            </a:r>
          </a:p>
          <a:p>
            <a:pPr marL="457200" lvl="1" indent="0">
              <a:buNone/>
            </a:pPr>
            <a:r>
              <a:rPr lang="en-US" sz="3200" dirty="0"/>
              <a:t>Duplicates are allowed</a:t>
            </a:r>
          </a:p>
          <a:p>
            <a:pPr marL="0" indent="0">
              <a:buNone/>
            </a:pPr>
            <a:endParaRPr lang="en-SG" sz="3600" dirty="0"/>
          </a:p>
        </p:txBody>
      </p:sp>
      <p:sp>
        <p:nvSpPr>
          <p:cNvPr id="4" name="Content Placeholder 2">
            <a:extLst>
              <a:ext uri="{FF2B5EF4-FFF2-40B4-BE49-F238E27FC236}">
                <a16:creationId xmlns:a16="http://schemas.microsoft.com/office/drawing/2014/main" id="{F2DDA9F3-85A8-4284-EB9E-24FE0EB9BFB5}"/>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pPr marL="457200" lvl="1" indent="0">
              <a:buNone/>
            </a:pPr>
            <a:r>
              <a:rPr lang="en-US" sz="3200" dirty="0"/>
              <a:t>Records in sequence</a:t>
            </a:r>
          </a:p>
          <a:p>
            <a:pPr marL="457200" lvl="1" indent="0">
              <a:buNone/>
            </a:pPr>
            <a:r>
              <a:rPr lang="en-US" sz="3200" dirty="0"/>
              <a:t>Queues, stacks</a:t>
            </a:r>
          </a:p>
          <a:p>
            <a:pPr marL="457200" lvl="1" indent="0">
              <a:buNone/>
            </a:pPr>
            <a:r>
              <a:rPr lang="en-US" sz="3200" dirty="0"/>
              <a:t>Aggregated results</a:t>
            </a:r>
          </a:p>
          <a:p>
            <a:pPr marL="0" indent="0">
              <a:buNone/>
            </a:pPr>
            <a:endParaRPr lang="en-SG" sz="3600" dirty="0"/>
          </a:p>
        </p:txBody>
      </p:sp>
    </p:spTree>
    <p:extLst>
      <p:ext uri="{BB962C8B-B14F-4D97-AF65-F5344CB8AC3E}">
        <p14:creationId xmlns:p14="http://schemas.microsoft.com/office/powerpoint/2010/main" val="227874879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E5BBC-6F63-84CF-E0C2-59369EF25C23}"/>
              </a:ext>
            </a:extLst>
          </p:cNvPr>
          <p:cNvSpPr>
            <a:spLocks noGrp="1"/>
          </p:cNvSpPr>
          <p:nvPr>
            <p:ph type="title"/>
          </p:nvPr>
        </p:nvSpPr>
        <p:spPr/>
        <p:txBody>
          <a:bodyPr>
            <a:normAutofit/>
          </a:bodyPr>
          <a:lstStyle/>
          <a:p>
            <a:r>
              <a:rPr lang="en-US" dirty="0"/>
              <a:t>list Characteristics</a:t>
            </a:r>
            <a:endParaRPr lang="en-SG" dirty="0"/>
          </a:p>
        </p:txBody>
      </p:sp>
      <p:sp>
        <p:nvSpPr>
          <p:cNvPr id="3" name="Content Placeholder 2">
            <a:extLst>
              <a:ext uri="{FF2B5EF4-FFF2-40B4-BE49-F238E27FC236}">
                <a16:creationId xmlns:a16="http://schemas.microsoft.com/office/drawing/2014/main" id="{CF4C7557-396F-9A32-2870-99D199C343D6}"/>
              </a:ext>
            </a:extLst>
          </p:cNvPr>
          <p:cNvSpPr>
            <a:spLocks noGrp="1"/>
          </p:cNvSpPr>
          <p:nvPr>
            <p:ph idx="1"/>
          </p:nvPr>
        </p:nvSpPr>
        <p:spPr/>
        <p:txBody>
          <a:bodyPr/>
          <a:lstStyle/>
          <a:p>
            <a:r>
              <a:rPr lang="en-US" dirty="0"/>
              <a:t>Indexed access</a:t>
            </a:r>
          </a:p>
          <a:p>
            <a:r>
              <a:rPr lang="en-US" dirty="0"/>
              <a:t>Append is cheap</a:t>
            </a:r>
          </a:p>
          <a:p>
            <a:r>
              <a:rPr lang="en-US" dirty="0"/>
              <a:t>Insert/remove in the middle is expensive</a:t>
            </a:r>
          </a:p>
          <a:p>
            <a:pPr marL="0" indent="0">
              <a:buNone/>
            </a:pPr>
            <a:endParaRPr lang="en-US" b="1" dirty="0"/>
          </a:p>
          <a:p>
            <a:pPr marL="0" indent="0">
              <a:buNone/>
            </a:pPr>
            <a:r>
              <a:rPr lang="en-US" b="1" dirty="0"/>
              <a:t>Note:</a:t>
            </a:r>
            <a:r>
              <a:rPr lang="en-US" dirty="0"/>
              <a:t> avoid frequent middle inserts on large lists</a:t>
            </a:r>
          </a:p>
          <a:p>
            <a:endParaRPr lang="en-SG" dirty="0"/>
          </a:p>
        </p:txBody>
      </p:sp>
    </p:spTree>
    <p:extLst>
      <p:ext uri="{BB962C8B-B14F-4D97-AF65-F5344CB8AC3E}">
        <p14:creationId xmlns:p14="http://schemas.microsoft.com/office/powerpoint/2010/main" val="379908743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E8463-2272-E52B-2A37-4FCB5B672BA4}"/>
              </a:ext>
            </a:extLst>
          </p:cNvPr>
          <p:cNvSpPr>
            <a:spLocks noGrp="1"/>
          </p:cNvSpPr>
          <p:nvPr>
            <p:ph type="title"/>
          </p:nvPr>
        </p:nvSpPr>
        <p:spPr/>
        <p:txBody>
          <a:bodyPr/>
          <a:lstStyle/>
          <a:p>
            <a:r>
              <a:rPr lang="en-SG" dirty="0"/>
              <a:t>list – use when order matters</a:t>
            </a:r>
          </a:p>
        </p:txBody>
      </p:sp>
      <p:sp>
        <p:nvSpPr>
          <p:cNvPr id="3" name="Content Placeholder 2">
            <a:extLst>
              <a:ext uri="{FF2B5EF4-FFF2-40B4-BE49-F238E27FC236}">
                <a16:creationId xmlns:a16="http://schemas.microsoft.com/office/drawing/2014/main" id="{8D834E43-E0F2-470F-5F8A-9DA6FE99A322}"/>
              </a:ext>
            </a:extLst>
          </p:cNvPr>
          <p:cNvSpPr>
            <a:spLocks noGrp="1"/>
          </p:cNvSpPr>
          <p:nvPr>
            <p:ph idx="1"/>
          </p:nvPr>
        </p:nvSpPr>
        <p:spPr/>
        <p:txBody>
          <a:bodyPr/>
          <a:lstStyle/>
          <a:p>
            <a:pPr marL="0" indent="0">
              <a:buNone/>
            </a:pPr>
            <a:r>
              <a:rPr lang="en-US" dirty="0"/>
              <a:t>tasks = ["design", "build", "test"]</a:t>
            </a:r>
          </a:p>
          <a:p>
            <a:pPr marL="0" indent="0">
              <a:buNone/>
            </a:pPr>
            <a:r>
              <a:rPr lang="en-US" dirty="0" err="1"/>
              <a:t>tasks.append</a:t>
            </a:r>
            <a:r>
              <a:rPr lang="en-US" dirty="0"/>
              <a:t>("deploy")</a:t>
            </a:r>
          </a:p>
          <a:p>
            <a:pPr marL="0" indent="0">
              <a:buNone/>
            </a:pPr>
            <a:endParaRPr lang="en-US" dirty="0"/>
          </a:p>
          <a:p>
            <a:pPr marL="0" indent="0">
              <a:buNone/>
            </a:pPr>
            <a:r>
              <a:rPr lang="en-US" dirty="0"/>
              <a:t>print(tasks[0])      # design</a:t>
            </a:r>
          </a:p>
          <a:p>
            <a:pPr marL="0" indent="0">
              <a:buNone/>
            </a:pPr>
            <a:r>
              <a:rPr lang="en-US" dirty="0"/>
              <a:t>print(</a:t>
            </a:r>
            <a:r>
              <a:rPr lang="en-US" dirty="0" err="1"/>
              <a:t>len</a:t>
            </a:r>
            <a:r>
              <a:rPr lang="en-US" dirty="0"/>
              <a:t>(tasks))    # 4</a:t>
            </a:r>
          </a:p>
          <a:p>
            <a:pPr marL="0" indent="0">
              <a:buNone/>
            </a:pPr>
            <a:endParaRPr lang="en-SG" dirty="0"/>
          </a:p>
        </p:txBody>
      </p:sp>
    </p:spTree>
    <p:extLst>
      <p:ext uri="{BB962C8B-B14F-4D97-AF65-F5344CB8AC3E}">
        <p14:creationId xmlns:p14="http://schemas.microsoft.com/office/powerpoint/2010/main" val="194481262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D19A0F-0965-377B-BE4A-2BEED039C6FB}"/>
              </a:ext>
            </a:extLst>
          </p:cNvPr>
          <p:cNvSpPr>
            <a:spLocks noGrp="1"/>
          </p:cNvSpPr>
          <p:nvPr>
            <p:ph type="title"/>
          </p:nvPr>
        </p:nvSpPr>
        <p:spPr/>
        <p:txBody>
          <a:bodyPr/>
          <a:lstStyle/>
          <a:p>
            <a:r>
              <a:rPr lang="en-SG" dirty="0"/>
              <a:t>List – Connon Pattern</a:t>
            </a:r>
          </a:p>
        </p:txBody>
      </p:sp>
      <p:sp>
        <p:nvSpPr>
          <p:cNvPr id="3" name="Content Placeholder 2">
            <a:extLst>
              <a:ext uri="{FF2B5EF4-FFF2-40B4-BE49-F238E27FC236}">
                <a16:creationId xmlns:a16="http://schemas.microsoft.com/office/drawing/2014/main" id="{053E56F8-B86C-C3C9-5B68-7F9021A5BD9B}"/>
              </a:ext>
            </a:extLst>
          </p:cNvPr>
          <p:cNvSpPr>
            <a:spLocks noGrp="1"/>
          </p:cNvSpPr>
          <p:nvPr>
            <p:ph idx="1"/>
          </p:nvPr>
        </p:nvSpPr>
        <p:spPr/>
        <p:txBody>
          <a:bodyPr/>
          <a:lstStyle/>
          <a:p>
            <a:pPr marL="0" indent="0">
              <a:buNone/>
            </a:pPr>
            <a:r>
              <a:rPr lang="en-US" dirty="0"/>
              <a:t>results = []</a:t>
            </a:r>
          </a:p>
          <a:p>
            <a:pPr marL="0" indent="0">
              <a:buNone/>
            </a:pPr>
            <a:endParaRPr lang="en-US" dirty="0"/>
          </a:p>
          <a:p>
            <a:pPr marL="0" indent="0">
              <a:buNone/>
            </a:pPr>
            <a:r>
              <a:rPr lang="en-US" dirty="0"/>
              <a:t>for value in data:</a:t>
            </a:r>
          </a:p>
          <a:p>
            <a:pPr marL="0" indent="0">
              <a:buNone/>
            </a:pPr>
            <a:r>
              <a:rPr lang="en-US" dirty="0"/>
              <a:t>    if value &gt; 0:</a:t>
            </a:r>
          </a:p>
          <a:p>
            <a:pPr marL="0" indent="0">
              <a:buNone/>
            </a:pPr>
            <a:r>
              <a:rPr lang="en-US" dirty="0"/>
              <a:t>        </a:t>
            </a:r>
            <a:r>
              <a:rPr lang="en-US" dirty="0" err="1"/>
              <a:t>results.append</a:t>
            </a:r>
            <a:r>
              <a:rPr lang="en-US" dirty="0"/>
              <a:t>(value)</a:t>
            </a:r>
          </a:p>
          <a:p>
            <a:pPr marL="0" indent="0">
              <a:buNone/>
            </a:pPr>
            <a:endParaRPr lang="en-SG" dirty="0"/>
          </a:p>
        </p:txBody>
      </p:sp>
    </p:spTree>
    <p:extLst>
      <p:ext uri="{BB962C8B-B14F-4D97-AF65-F5344CB8AC3E}">
        <p14:creationId xmlns:p14="http://schemas.microsoft.com/office/powerpoint/2010/main" val="398289159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EF76C-E2A3-FA99-8550-EF7A82A66C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5EB19A-2103-027A-672F-DD4C363E92EC}"/>
              </a:ext>
            </a:extLst>
          </p:cNvPr>
          <p:cNvSpPr>
            <a:spLocks noGrp="1"/>
          </p:cNvSpPr>
          <p:nvPr>
            <p:ph type="title"/>
          </p:nvPr>
        </p:nvSpPr>
        <p:spPr/>
        <p:txBody>
          <a:bodyPr>
            <a:normAutofit/>
          </a:bodyPr>
          <a:lstStyle/>
          <a:p>
            <a:r>
              <a:rPr lang="en-US" dirty="0"/>
              <a:t>tuple — Ordered, Immutable</a:t>
            </a:r>
          </a:p>
        </p:txBody>
      </p:sp>
      <p:sp>
        <p:nvSpPr>
          <p:cNvPr id="3" name="Content Placeholder 2">
            <a:extLst>
              <a:ext uri="{FF2B5EF4-FFF2-40B4-BE49-F238E27FC236}">
                <a16:creationId xmlns:a16="http://schemas.microsoft.com/office/drawing/2014/main" id="{26939D1B-D95A-4774-4C10-D77B87A07604}"/>
              </a:ext>
            </a:extLst>
          </p:cNvPr>
          <p:cNvSpPr>
            <a:spLocks noGrp="1"/>
          </p:cNvSpPr>
          <p:nvPr>
            <p:ph idx="1"/>
          </p:nvPr>
        </p:nvSpPr>
        <p:spPr>
          <a:xfrm>
            <a:off x="457200" y="2362201"/>
            <a:ext cx="5637212" cy="2882900"/>
          </a:xfrm>
        </p:spPr>
        <p:txBody>
          <a:bodyPr>
            <a:normAutofit/>
          </a:bodyPr>
          <a:lstStyle/>
          <a:p>
            <a:pPr marL="0" indent="0">
              <a:buNone/>
            </a:pPr>
            <a:r>
              <a:rPr lang="en-US" sz="3600" b="1" dirty="0"/>
              <a:t>Use when</a:t>
            </a:r>
            <a:endParaRPr lang="en-US" sz="3600" dirty="0"/>
          </a:p>
          <a:p>
            <a:r>
              <a:rPr lang="en-US" sz="3600" dirty="0"/>
              <a:t>Structure matters</a:t>
            </a:r>
          </a:p>
          <a:p>
            <a:r>
              <a:rPr lang="en-US" sz="3600" dirty="0"/>
              <a:t>Data should not change</a:t>
            </a:r>
          </a:p>
          <a:p>
            <a:r>
              <a:rPr lang="en-US" sz="3600" dirty="0"/>
              <a:t>Values belong together</a:t>
            </a:r>
          </a:p>
          <a:p>
            <a:endParaRPr lang="en-US" sz="3600" dirty="0"/>
          </a:p>
        </p:txBody>
      </p:sp>
      <p:sp>
        <p:nvSpPr>
          <p:cNvPr id="4" name="Content Placeholder 2">
            <a:extLst>
              <a:ext uri="{FF2B5EF4-FFF2-40B4-BE49-F238E27FC236}">
                <a16:creationId xmlns:a16="http://schemas.microsoft.com/office/drawing/2014/main" id="{DA795570-A017-FF89-A9AA-C85046D5C9C8}"/>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r>
              <a:rPr lang="en-US" sz="3600" dirty="0"/>
              <a:t>Coordinates</a:t>
            </a:r>
          </a:p>
          <a:p>
            <a:r>
              <a:rPr lang="en-US" sz="3600" dirty="0"/>
              <a:t>Function returns</a:t>
            </a:r>
          </a:p>
          <a:p>
            <a:r>
              <a:rPr lang="en-US" sz="3600" dirty="0"/>
              <a:t>Fixed records</a:t>
            </a:r>
          </a:p>
        </p:txBody>
      </p:sp>
    </p:spTree>
    <p:extLst>
      <p:ext uri="{BB962C8B-B14F-4D97-AF65-F5344CB8AC3E}">
        <p14:creationId xmlns:p14="http://schemas.microsoft.com/office/powerpoint/2010/main" val="35115126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72C5-929C-E679-A97F-2AFC1D035CA7}"/>
              </a:ext>
            </a:extLst>
          </p:cNvPr>
          <p:cNvSpPr>
            <a:spLocks noGrp="1"/>
          </p:cNvSpPr>
          <p:nvPr>
            <p:ph type="title"/>
          </p:nvPr>
        </p:nvSpPr>
        <p:spPr/>
        <p:txBody>
          <a:bodyPr>
            <a:normAutofit/>
          </a:bodyPr>
          <a:lstStyle/>
          <a:p>
            <a:r>
              <a:rPr lang="en-US" dirty="0"/>
              <a:t>Why tuple Exists</a:t>
            </a:r>
            <a:endParaRPr lang="en-SG" dirty="0"/>
          </a:p>
        </p:txBody>
      </p:sp>
      <p:sp>
        <p:nvSpPr>
          <p:cNvPr id="3" name="Content Placeholder 2">
            <a:extLst>
              <a:ext uri="{FF2B5EF4-FFF2-40B4-BE49-F238E27FC236}">
                <a16:creationId xmlns:a16="http://schemas.microsoft.com/office/drawing/2014/main" id="{CD4C6215-47A2-E8CE-B732-6A6D397428EB}"/>
              </a:ext>
            </a:extLst>
          </p:cNvPr>
          <p:cNvSpPr>
            <a:spLocks noGrp="1"/>
          </p:cNvSpPr>
          <p:nvPr>
            <p:ph idx="1"/>
          </p:nvPr>
        </p:nvSpPr>
        <p:spPr/>
        <p:txBody>
          <a:bodyPr/>
          <a:lstStyle/>
          <a:p>
            <a:r>
              <a:rPr lang="en-US" dirty="0"/>
              <a:t>Prevents accidental mutation</a:t>
            </a:r>
          </a:p>
          <a:p>
            <a:r>
              <a:rPr lang="en-US" dirty="0" err="1"/>
              <a:t>Hashable</a:t>
            </a:r>
            <a:r>
              <a:rPr lang="en-US" dirty="0"/>
              <a:t> (can be </a:t>
            </a:r>
            <a:r>
              <a:rPr lang="en-US" dirty="0" err="1"/>
              <a:t>dict</a:t>
            </a:r>
            <a:r>
              <a:rPr lang="en-US" dirty="0"/>
              <a:t> keys)</a:t>
            </a:r>
          </a:p>
          <a:p>
            <a:r>
              <a:rPr lang="en-US" dirty="0"/>
              <a:t>Communicates intent</a:t>
            </a:r>
          </a:p>
          <a:p>
            <a:endParaRPr lang="en-US" b="1" dirty="0"/>
          </a:p>
          <a:p>
            <a:pPr marL="0" indent="0">
              <a:buNone/>
            </a:pPr>
            <a:r>
              <a:rPr lang="en-US" b="1" dirty="0"/>
              <a:t>Mental model: </a:t>
            </a:r>
            <a:r>
              <a:rPr lang="en-US" dirty="0"/>
              <a:t>tuple = fixed structure</a:t>
            </a:r>
          </a:p>
          <a:p>
            <a:endParaRPr lang="en-SG" dirty="0"/>
          </a:p>
        </p:txBody>
      </p:sp>
    </p:spTree>
    <p:extLst>
      <p:ext uri="{BB962C8B-B14F-4D97-AF65-F5344CB8AC3E}">
        <p14:creationId xmlns:p14="http://schemas.microsoft.com/office/powerpoint/2010/main" val="92255857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E1404-0B23-A195-389D-85236904750B}"/>
              </a:ext>
            </a:extLst>
          </p:cNvPr>
          <p:cNvSpPr>
            <a:spLocks noGrp="1"/>
          </p:cNvSpPr>
          <p:nvPr>
            <p:ph type="title"/>
          </p:nvPr>
        </p:nvSpPr>
        <p:spPr/>
        <p:txBody>
          <a:bodyPr/>
          <a:lstStyle/>
          <a:p>
            <a:r>
              <a:rPr lang="en-SG" dirty="0"/>
              <a:t>Tuple – used for fixed structure</a:t>
            </a:r>
          </a:p>
        </p:txBody>
      </p:sp>
      <p:sp>
        <p:nvSpPr>
          <p:cNvPr id="3" name="Content Placeholder 2">
            <a:extLst>
              <a:ext uri="{FF2B5EF4-FFF2-40B4-BE49-F238E27FC236}">
                <a16:creationId xmlns:a16="http://schemas.microsoft.com/office/drawing/2014/main" id="{6FD577A1-4457-72BB-7799-9B861E217F19}"/>
              </a:ext>
            </a:extLst>
          </p:cNvPr>
          <p:cNvSpPr>
            <a:spLocks noGrp="1"/>
          </p:cNvSpPr>
          <p:nvPr>
            <p:ph idx="1"/>
          </p:nvPr>
        </p:nvSpPr>
        <p:spPr/>
        <p:txBody>
          <a:bodyPr/>
          <a:lstStyle/>
          <a:p>
            <a:pPr marL="0" indent="0">
              <a:buNone/>
            </a:pPr>
            <a:r>
              <a:rPr lang="fr-FR" dirty="0"/>
              <a:t>point = (10, 20)</a:t>
            </a:r>
          </a:p>
          <a:p>
            <a:pPr marL="0" indent="0">
              <a:buNone/>
            </a:pPr>
            <a:endParaRPr lang="fr-FR" dirty="0"/>
          </a:p>
          <a:p>
            <a:pPr marL="0" indent="0">
              <a:buNone/>
            </a:pPr>
            <a:r>
              <a:rPr lang="fr-FR" dirty="0"/>
              <a:t>x, y = point</a:t>
            </a:r>
          </a:p>
          <a:p>
            <a:pPr marL="0" indent="0">
              <a:buNone/>
            </a:pPr>
            <a:r>
              <a:rPr lang="fr-FR" dirty="0" err="1"/>
              <a:t>print</a:t>
            </a:r>
            <a:r>
              <a:rPr lang="fr-FR" dirty="0"/>
              <a:t>(x, y)</a:t>
            </a:r>
          </a:p>
          <a:p>
            <a:pPr marL="0" indent="0">
              <a:buNone/>
            </a:pPr>
            <a:endParaRPr lang="en-SG" dirty="0"/>
          </a:p>
        </p:txBody>
      </p:sp>
    </p:spTree>
    <p:extLst>
      <p:ext uri="{BB962C8B-B14F-4D97-AF65-F5344CB8AC3E}">
        <p14:creationId xmlns:p14="http://schemas.microsoft.com/office/powerpoint/2010/main" val="283237680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F89A4-7F55-2CBE-D751-7B4410B9FFC8}"/>
              </a:ext>
            </a:extLst>
          </p:cNvPr>
          <p:cNvSpPr>
            <a:spLocks noGrp="1"/>
          </p:cNvSpPr>
          <p:nvPr>
            <p:ph type="title"/>
          </p:nvPr>
        </p:nvSpPr>
        <p:spPr/>
        <p:txBody>
          <a:bodyPr/>
          <a:lstStyle/>
          <a:p>
            <a:r>
              <a:rPr lang="en-SG" dirty="0"/>
              <a:t>tuple – function returns</a:t>
            </a:r>
          </a:p>
        </p:txBody>
      </p:sp>
      <p:sp>
        <p:nvSpPr>
          <p:cNvPr id="3" name="Content Placeholder 2">
            <a:extLst>
              <a:ext uri="{FF2B5EF4-FFF2-40B4-BE49-F238E27FC236}">
                <a16:creationId xmlns:a16="http://schemas.microsoft.com/office/drawing/2014/main" id="{ECADE829-FF26-650F-6697-4DB0339028F6}"/>
              </a:ext>
            </a:extLst>
          </p:cNvPr>
          <p:cNvSpPr>
            <a:spLocks noGrp="1"/>
          </p:cNvSpPr>
          <p:nvPr>
            <p:ph idx="1"/>
          </p:nvPr>
        </p:nvSpPr>
        <p:spPr/>
        <p:txBody>
          <a:bodyPr/>
          <a:lstStyle/>
          <a:p>
            <a:pPr marL="0" indent="0">
              <a:buNone/>
            </a:pPr>
            <a:r>
              <a:rPr lang="en-US" dirty="0"/>
              <a:t># </a:t>
            </a:r>
            <a:r>
              <a:rPr lang="en-SG" dirty="0"/>
              <a:t>Multiple values, one return</a:t>
            </a:r>
          </a:p>
          <a:p>
            <a:pPr marL="0" indent="0">
              <a:buNone/>
            </a:pPr>
            <a:endParaRPr lang="en-US" dirty="0"/>
          </a:p>
          <a:p>
            <a:pPr marL="0" indent="0">
              <a:buNone/>
            </a:pPr>
            <a:r>
              <a:rPr lang="en-US" dirty="0"/>
              <a:t>def </a:t>
            </a:r>
            <a:r>
              <a:rPr lang="en-US" dirty="0" err="1"/>
              <a:t>get_user</a:t>
            </a:r>
            <a:r>
              <a:rPr lang="en-US" dirty="0"/>
              <a:t>():</a:t>
            </a:r>
          </a:p>
          <a:p>
            <a:pPr marL="0" indent="0">
              <a:buNone/>
            </a:pPr>
            <a:r>
              <a:rPr lang="en-US" dirty="0"/>
              <a:t>    return "</a:t>
            </a:r>
            <a:r>
              <a:rPr lang="en-US" dirty="0" err="1"/>
              <a:t>alice</a:t>
            </a:r>
            <a:r>
              <a:rPr lang="en-US" dirty="0"/>
              <a:t>", "admin"</a:t>
            </a:r>
          </a:p>
          <a:p>
            <a:pPr marL="0" indent="0">
              <a:buNone/>
            </a:pPr>
            <a:endParaRPr lang="en-US" dirty="0"/>
          </a:p>
          <a:p>
            <a:pPr marL="0" indent="0">
              <a:buNone/>
            </a:pPr>
            <a:r>
              <a:rPr lang="en-US" dirty="0"/>
              <a:t>name, role = </a:t>
            </a:r>
            <a:r>
              <a:rPr lang="en-US" dirty="0" err="1"/>
              <a:t>get_user</a:t>
            </a:r>
            <a:r>
              <a:rPr lang="en-US" dirty="0"/>
              <a:t>()</a:t>
            </a:r>
          </a:p>
          <a:p>
            <a:pPr marL="0" indent="0">
              <a:buNone/>
            </a:pPr>
            <a:endParaRPr lang="en-SG" dirty="0"/>
          </a:p>
        </p:txBody>
      </p:sp>
    </p:spTree>
    <p:extLst>
      <p:ext uri="{BB962C8B-B14F-4D97-AF65-F5344CB8AC3E}">
        <p14:creationId xmlns:p14="http://schemas.microsoft.com/office/powerpoint/2010/main" val="95378737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89A1D-F52F-C9B8-2B8F-51E82ADAE6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725927-9671-FC6B-0696-FC28838590DF}"/>
              </a:ext>
            </a:extLst>
          </p:cNvPr>
          <p:cNvSpPr>
            <a:spLocks noGrp="1"/>
          </p:cNvSpPr>
          <p:nvPr>
            <p:ph type="title"/>
          </p:nvPr>
        </p:nvSpPr>
        <p:spPr/>
        <p:txBody>
          <a:bodyPr>
            <a:normAutofit/>
          </a:bodyPr>
          <a:lstStyle/>
          <a:p>
            <a:r>
              <a:rPr lang="en-US" dirty="0" err="1"/>
              <a:t>dict</a:t>
            </a:r>
            <a:r>
              <a:rPr lang="en-US" dirty="0"/>
              <a:t> — Key → Value Mapping</a:t>
            </a:r>
          </a:p>
        </p:txBody>
      </p:sp>
      <p:sp>
        <p:nvSpPr>
          <p:cNvPr id="3" name="Content Placeholder 2">
            <a:extLst>
              <a:ext uri="{FF2B5EF4-FFF2-40B4-BE49-F238E27FC236}">
                <a16:creationId xmlns:a16="http://schemas.microsoft.com/office/drawing/2014/main" id="{4B17D377-1683-70D2-5092-DB10EDF9F4C2}"/>
              </a:ext>
            </a:extLst>
          </p:cNvPr>
          <p:cNvSpPr>
            <a:spLocks noGrp="1"/>
          </p:cNvSpPr>
          <p:nvPr>
            <p:ph idx="1"/>
          </p:nvPr>
        </p:nvSpPr>
        <p:spPr>
          <a:xfrm>
            <a:off x="457200" y="2362201"/>
            <a:ext cx="5637212" cy="2882900"/>
          </a:xfrm>
        </p:spPr>
        <p:txBody>
          <a:bodyPr>
            <a:normAutofit/>
          </a:bodyPr>
          <a:lstStyle/>
          <a:p>
            <a:pPr marL="0" indent="0">
              <a:buNone/>
            </a:pPr>
            <a:r>
              <a:rPr lang="en-US" sz="3600" b="1" dirty="0"/>
              <a:t>Use when</a:t>
            </a:r>
            <a:endParaRPr lang="en-US" sz="3600" dirty="0"/>
          </a:p>
          <a:p>
            <a:r>
              <a:rPr lang="en-US" sz="3600" dirty="0"/>
              <a:t>You need fast lookup</a:t>
            </a:r>
          </a:p>
          <a:p>
            <a:r>
              <a:rPr lang="en-US" sz="3600" dirty="0"/>
              <a:t>Data is identified by keys</a:t>
            </a:r>
          </a:p>
          <a:p>
            <a:r>
              <a:rPr lang="en-US" sz="3600" dirty="0"/>
              <a:t>Relationships matter</a:t>
            </a:r>
          </a:p>
        </p:txBody>
      </p:sp>
      <p:sp>
        <p:nvSpPr>
          <p:cNvPr id="4" name="Content Placeholder 2">
            <a:extLst>
              <a:ext uri="{FF2B5EF4-FFF2-40B4-BE49-F238E27FC236}">
                <a16:creationId xmlns:a16="http://schemas.microsoft.com/office/drawing/2014/main" id="{57F256C4-A388-E72C-1BF0-20600B1574E4}"/>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r>
              <a:rPr lang="en-US" sz="3600" dirty="0"/>
              <a:t>Configuration</a:t>
            </a:r>
          </a:p>
          <a:p>
            <a:r>
              <a:rPr lang="en-US" sz="3600" dirty="0"/>
              <a:t>Caches</a:t>
            </a:r>
          </a:p>
          <a:p>
            <a:r>
              <a:rPr lang="en-US" sz="3600" dirty="0"/>
              <a:t>Object lookup tables</a:t>
            </a:r>
          </a:p>
        </p:txBody>
      </p:sp>
    </p:spTree>
    <p:extLst>
      <p:ext uri="{BB962C8B-B14F-4D97-AF65-F5344CB8AC3E}">
        <p14:creationId xmlns:p14="http://schemas.microsoft.com/office/powerpoint/2010/main" val="165838477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1793B-C5C6-A260-EA58-8DE09D4040C5}"/>
              </a:ext>
            </a:extLst>
          </p:cNvPr>
          <p:cNvSpPr>
            <a:spLocks noGrp="1"/>
          </p:cNvSpPr>
          <p:nvPr>
            <p:ph type="title"/>
          </p:nvPr>
        </p:nvSpPr>
        <p:spPr/>
        <p:txBody>
          <a:bodyPr>
            <a:normAutofit/>
          </a:bodyPr>
          <a:lstStyle/>
          <a:p>
            <a:r>
              <a:rPr lang="en-US" dirty="0" err="1"/>
              <a:t>dict</a:t>
            </a:r>
            <a:r>
              <a:rPr lang="en-US" dirty="0"/>
              <a:t> Characteristics</a:t>
            </a:r>
            <a:endParaRPr lang="en-SG" dirty="0"/>
          </a:p>
        </p:txBody>
      </p:sp>
      <p:sp>
        <p:nvSpPr>
          <p:cNvPr id="3" name="Content Placeholder 2">
            <a:extLst>
              <a:ext uri="{FF2B5EF4-FFF2-40B4-BE49-F238E27FC236}">
                <a16:creationId xmlns:a16="http://schemas.microsoft.com/office/drawing/2014/main" id="{DBF6C38F-5810-AEF9-9695-8702B5049A9A}"/>
              </a:ext>
            </a:extLst>
          </p:cNvPr>
          <p:cNvSpPr>
            <a:spLocks noGrp="1"/>
          </p:cNvSpPr>
          <p:nvPr>
            <p:ph idx="1"/>
          </p:nvPr>
        </p:nvSpPr>
        <p:spPr/>
        <p:txBody>
          <a:bodyPr/>
          <a:lstStyle/>
          <a:p>
            <a:r>
              <a:rPr lang="en-US" dirty="0"/>
              <a:t>Keys must be unique and </a:t>
            </a:r>
            <a:r>
              <a:rPr lang="en-US" dirty="0" err="1"/>
              <a:t>hashable</a:t>
            </a:r>
            <a:endParaRPr lang="en-US" dirty="0"/>
          </a:p>
          <a:p>
            <a:r>
              <a:rPr lang="en-US" dirty="0"/>
              <a:t>Lookup is fast</a:t>
            </a:r>
          </a:p>
          <a:p>
            <a:r>
              <a:rPr lang="en-US" dirty="0"/>
              <a:t>Order preserved (Python 3.7+)</a:t>
            </a:r>
          </a:p>
          <a:p>
            <a:pPr marL="0" indent="0">
              <a:buNone/>
            </a:pPr>
            <a:endParaRPr lang="en-US" b="1" dirty="0"/>
          </a:p>
          <a:p>
            <a:pPr marL="0" indent="0">
              <a:buNone/>
            </a:pPr>
            <a:r>
              <a:rPr lang="en-US" b="1" dirty="0"/>
              <a:t>Enterprise pattern:</a:t>
            </a:r>
            <a:r>
              <a:rPr lang="en-US" dirty="0"/>
              <a:t> model entities by ID</a:t>
            </a:r>
          </a:p>
          <a:p>
            <a:endParaRPr lang="en-SG" dirty="0"/>
          </a:p>
        </p:txBody>
      </p:sp>
    </p:spTree>
    <p:extLst>
      <p:ext uri="{BB962C8B-B14F-4D97-AF65-F5344CB8AC3E}">
        <p14:creationId xmlns:p14="http://schemas.microsoft.com/office/powerpoint/2010/main" val="369958733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8B691-777E-2030-DF49-321362D6FA28}"/>
              </a:ext>
            </a:extLst>
          </p:cNvPr>
          <p:cNvSpPr>
            <a:spLocks noGrp="1"/>
          </p:cNvSpPr>
          <p:nvPr>
            <p:ph type="title"/>
          </p:nvPr>
        </p:nvSpPr>
        <p:spPr/>
        <p:txBody>
          <a:bodyPr>
            <a:normAutofit/>
          </a:bodyPr>
          <a:lstStyle/>
          <a:p>
            <a:r>
              <a:rPr lang="en-SG" dirty="0" err="1"/>
              <a:t>dict</a:t>
            </a:r>
            <a:r>
              <a:rPr lang="en-SG" dirty="0"/>
              <a:t> — fast lookup by identifier</a:t>
            </a:r>
          </a:p>
        </p:txBody>
      </p:sp>
      <p:sp>
        <p:nvSpPr>
          <p:cNvPr id="3" name="Content Placeholder 2">
            <a:extLst>
              <a:ext uri="{FF2B5EF4-FFF2-40B4-BE49-F238E27FC236}">
                <a16:creationId xmlns:a16="http://schemas.microsoft.com/office/drawing/2014/main" id="{E772FC93-B391-57DE-2878-F5DCDEC18EB2}"/>
              </a:ext>
            </a:extLst>
          </p:cNvPr>
          <p:cNvSpPr>
            <a:spLocks noGrp="1"/>
          </p:cNvSpPr>
          <p:nvPr>
            <p:ph idx="1"/>
          </p:nvPr>
        </p:nvSpPr>
        <p:spPr/>
        <p:txBody>
          <a:bodyPr/>
          <a:lstStyle/>
          <a:p>
            <a:pPr marL="0" indent="0">
              <a:buNone/>
            </a:pPr>
            <a:r>
              <a:rPr lang="en-US" dirty="0"/>
              <a:t>user = {</a:t>
            </a:r>
          </a:p>
          <a:p>
            <a:pPr marL="0" indent="0">
              <a:buNone/>
            </a:pPr>
            <a:r>
              <a:rPr lang="en-US" dirty="0"/>
              <a:t>    "id": 42,</a:t>
            </a:r>
          </a:p>
          <a:p>
            <a:pPr marL="0" indent="0">
              <a:buNone/>
            </a:pPr>
            <a:r>
              <a:rPr lang="en-US" dirty="0"/>
              <a:t>    "name": "Alice",</a:t>
            </a:r>
          </a:p>
          <a:p>
            <a:pPr marL="0" indent="0">
              <a:buNone/>
            </a:pPr>
            <a:r>
              <a:rPr lang="en-US" dirty="0"/>
              <a:t>    "role": "admin"</a:t>
            </a:r>
          </a:p>
          <a:p>
            <a:pPr marL="0" indent="0">
              <a:buNone/>
            </a:pPr>
            <a:r>
              <a:rPr lang="en-US" dirty="0"/>
              <a:t>}</a:t>
            </a:r>
          </a:p>
          <a:p>
            <a:pPr marL="0" indent="0">
              <a:buNone/>
            </a:pPr>
            <a:endParaRPr lang="en-US" dirty="0"/>
          </a:p>
          <a:p>
            <a:pPr marL="0" indent="0">
              <a:buNone/>
            </a:pPr>
            <a:r>
              <a:rPr lang="en-US" dirty="0"/>
              <a:t>print(user["name"])</a:t>
            </a:r>
          </a:p>
          <a:p>
            <a:pPr marL="0" indent="0">
              <a:buNone/>
            </a:pPr>
            <a:endParaRPr lang="en-SG" dirty="0"/>
          </a:p>
        </p:txBody>
      </p:sp>
    </p:spTree>
    <p:extLst>
      <p:ext uri="{BB962C8B-B14F-4D97-AF65-F5344CB8AC3E}">
        <p14:creationId xmlns:p14="http://schemas.microsoft.com/office/powerpoint/2010/main" val="237103070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5620D-5021-6B3F-6A8B-A4CD0F9D8E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0E065E-505B-D36D-3632-C0DB95F3B01D}"/>
              </a:ext>
            </a:extLst>
          </p:cNvPr>
          <p:cNvSpPr>
            <a:spLocks noGrp="1"/>
          </p:cNvSpPr>
          <p:nvPr>
            <p:ph type="title"/>
          </p:nvPr>
        </p:nvSpPr>
        <p:spPr/>
        <p:txBody>
          <a:bodyPr>
            <a:normAutofit/>
          </a:bodyPr>
          <a:lstStyle/>
          <a:p>
            <a:r>
              <a:rPr lang="en-SG" dirty="0"/>
              <a:t>Safe Access in Dictionaries</a:t>
            </a:r>
          </a:p>
        </p:txBody>
      </p:sp>
      <p:sp>
        <p:nvSpPr>
          <p:cNvPr id="3" name="Content Placeholder 2">
            <a:extLst>
              <a:ext uri="{FF2B5EF4-FFF2-40B4-BE49-F238E27FC236}">
                <a16:creationId xmlns:a16="http://schemas.microsoft.com/office/drawing/2014/main" id="{19E1A4E4-E702-B8EE-DB4A-3028856F7EDB}"/>
              </a:ext>
            </a:extLst>
          </p:cNvPr>
          <p:cNvSpPr>
            <a:spLocks noGrp="1"/>
          </p:cNvSpPr>
          <p:nvPr>
            <p:ph idx="1"/>
          </p:nvPr>
        </p:nvSpPr>
        <p:spPr>
          <a:xfrm>
            <a:off x="114299" y="3249614"/>
            <a:ext cx="11947525" cy="10795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role = user["role"]</a:t>
            </a:r>
          </a:p>
        </p:txBody>
      </p:sp>
      <p:sp>
        <p:nvSpPr>
          <p:cNvPr id="4" name="Content Placeholder 2">
            <a:extLst>
              <a:ext uri="{FF2B5EF4-FFF2-40B4-BE49-F238E27FC236}">
                <a16:creationId xmlns:a16="http://schemas.microsoft.com/office/drawing/2014/main" id="{ACD8792D-AD29-90D8-09A4-7AA6E7794A90}"/>
              </a:ext>
            </a:extLst>
          </p:cNvPr>
          <p:cNvSpPr txBox="1">
            <a:spLocks/>
          </p:cNvSpPr>
          <p:nvPr/>
        </p:nvSpPr>
        <p:spPr>
          <a:xfrm>
            <a:off x="114299" y="4510090"/>
            <a:ext cx="11947525" cy="207327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What happens: Python will try to find the key "role" in the dictionary user.</a:t>
            </a:r>
          </a:p>
          <a:p>
            <a:endParaRPr lang="en-US" dirty="0"/>
          </a:p>
          <a:p>
            <a:r>
              <a:rPr lang="en-US" dirty="0"/>
              <a:t>Problem: If the key "role" does not exist, Python raises a </a:t>
            </a:r>
            <a:r>
              <a:rPr lang="en-US" dirty="0" err="1"/>
              <a:t>KeyError</a:t>
            </a:r>
            <a:r>
              <a:rPr lang="en-US" dirty="0"/>
              <a:t> and your program crashes.</a:t>
            </a:r>
          </a:p>
        </p:txBody>
      </p:sp>
      <p:sp>
        <p:nvSpPr>
          <p:cNvPr id="6" name="TextBox 5">
            <a:extLst>
              <a:ext uri="{FF2B5EF4-FFF2-40B4-BE49-F238E27FC236}">
                <a16:creationId xmlns:a16="http://schemas.microsoft.com/office/drawing/2014/main" id="{FBA5A9BB-C0E2-93EB-8095-E69909DDEF31}"/>
              </a:ext>
            </a:extLst>
          </p:cNvPr>
          <p:cNvSpPr txBox="1"/>
          <p:nvPr/>
        </p:nvSpPr>
        <p:spPr>
          <a:xfrm>
            <a:off x="114300" y="1498977"/>
            <a:ext cx="11947525"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When you access a dictionary value using the square bracket notation, like this:</a:t>
            </a:r>
          </a:p>
          <a:p>
            <a:endParaRPr lang="en-SG" sz="3200" dirty="0"/>
          </a:p>
        </p:txBody>
      </p:sp>
    </p:spTree>
    <p:extLst>
      <p:ext uri="{BB962C8B-B14F-4D97-AF65-F5344CB8AC3E}">
        <p14:creationId xmlns:p14="http://schemas.microsoft.com/office/powerpoint/2010/main" val="45151101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98EF-D8CC-C143-7EA5-A26CE2E75B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F7A69-4C25-6689-22FF-27E3E93C175B}"/>
              </a:ext>
            </a:extLst>
          </p:cNvPr>
          <p:cNvSpPr>
            <a:spLocks noGrp="1"/>
          </p:cNvSpPr>
          <p:nvPr>
            <p:ph type="title"/>
          </p:nvPr>
        </p:nvSpPr>
        <p:spPr/>
        <p:txBody>
          <a:bodyPr>
            <a:normAutofit/>
          </a:bodyPr>
          <a:lstStyle/>
          <a:p>
            <a:r>
              <a:rPr lang="en-US" dirty="0"/>
              <a:t>Safe Access Using </a:t>
            </a:r>
            <a:r>
              <a:rPr lang="en-US" dirty="0" err="1"/>
              <a:t>dict.get</a:t>
            </a:r>
            <a:r>
              <a:rPr lang="en-US" dirty="0"/>
              <a:t>()</a:t>
            </a:r>
          </a:p>
        </p:txBody>
      </p:sp>
      <p:sp>
        <p:nvSpPr>
          <p:cNvPr id="3" name="Content Placeholder 2">
            <a:extLst>
              <a:ext uri="{FF2B5EF4-FFF2-40B4-BE49-F238E27FC236}">
                <a16:creationId xmlns:a16="http://schemas.microsoft.com/office/drawing/2014/main" id="{62E73E8C-0487-CABE-7424-0DA000ADA969}"/>
              </a:ext>
            </a:extLst>
          </p:cNvPr>
          <p:cNvSpPr>
            <a:spLocks noGrp="1"/>
          </p:cNvSpPr>
          <p:nvPr>
            <p:ph idx="1"/>
          </p:nvPr>
        </p:nvSpPr>
        <p:spPr>
          <a:xfrm>
            <a:off x="114299" y="1739900"/>
            <a:ext cx="11947525" cy="9398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role = </a:t>
            </a:r>
            <a:r>
              <a:rPr lang="en-US" dirty="0" err="1"/>
              <a:t>user.get</a:t>
            </a:r>
            <a:r>
              <a:rPr lang="en-US" dirty="0"/>
              <a:t>("role", "viewer")</a:t>
            </a:r>
          </a:p>
        </p:txBody>
      </p:sp>
      <p:sp>
        <p:nvSpPr>
          <p:cNvPr id="4" name="Content Placeholder 2">
            <a:extLst>
              <a:ext uri="{FF2B5EF4-FFF2-40B4-BE49-F238E27FC236}">
                <a16:creationId xmlns:a16="http://schemas.microsoft.com/office/drawing/2014/main" id="{1BFFFECB-5473-DC1E-1F80-7873E9CC96A2}"/>
              </a:ext>
            </a:extLst>
          </p:cNvPr>
          <p:cNvSpPr txBox="1">
            <a:spLocks/>
          </p:cNvSpPr>
          <p:nvPr/>
        </p:nvSpPr>
        <p:spPr>
          <a:xfrm>
            <a:off x="114299" y="3001962"/>
            <a:ext cx="11947525" cy="358139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err="1"/>
              <a:t>user.get</a:t>
            </a:r>
            <a:r>
              <a:rPr lang="en-US" dirty="0"/>
              <a:t>("role") tries to fetch the value associated with the key "role".</a:t>
            </a:r>
          </a:p>
          <a:p>
            <a:endParaRPr lang="en-US" dirty="0"/>
          </a:p>
          <a:p>
            <a:r>
              <a:rPr lang="en-US" dirty="0"/>
              <a:t>If "role" exists, it returns the value.</a:t>
            </a:r>
          </a:p>
          <a:p>
            <a:endParaRPr lang="en-US" dirty="0"/>
          </a:p>
          <a:p>
            <a:r>
              <a:rPr lang="en-US" dirty="0"/>
              <a:t>If "role" does not exist, it returns the default value "viewer" instead of raising an error.</a:t>
            </a:r>
          </a:p>
        </p:txBody>
      </p:sp>
    </p:spTree>
    <p:extLst>
      <p:ext uri="{BB962C8B-B14F-4D97-AF65-F5344CB8AC3E}">
        <p14:creationId xmlns:p14="http://schemas.microsoft.com/office/powerpoint/2010/main" val="75513262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3FBFC-65DA-ABA4-FADC-EEB677F301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CDC2DC-9EFF-6492-8B27-C3E20C9A6458}"/>
              </a:ext>
            </a:extLst>
          </p:cNvPr>
          <p:cNvSpPr>
            <a:spLocks noGrp="1"/>
          </p:cNvSpPr>
          <p:nvPr>
            <p:ph type="title"/>
          </p:nvPr>
        </p:nvSpPr>
        <p:spPr/>
        <p:txBody>
          <a:bodyPr>
            <a:normAutofit/>
          </a:bodyPr>
          <a:lstStyle/>
          <a:p>
            <a:r>
              <a:rPr lang="en-US" dirty="0"/>
              <a:t>Safe Access Example</a:t>
            </a:r>
          </a:p>
        </p:txBody>
      </p:sp>
      <p:sp>
        <p:nvSpPr>
          <p:cNvPr id="3" name="Content Placeholder 2">
            <a:extLst>
              <a:ext uri="{FF2B5EF4-FFF2-40B4-BE49-F238E27FC236}">
                <a16:creationId xmlns:a16="http://schemas.microsoft.com/office/drawing/2014/main" id="{6CE12A16-45AD-3E3C-A7A7-60F9491C5F8E}"/>
              </a:ext>
            </a:extLst>
          </p:cNvPr>
          <p:cNvSpPr>
            <a:spLocks noGrp="1"/>
          </p:cNvSpPr>
          <p:nvPr>
            <p:ph idx="1"/>
          </p:nvPr>
        </p:nvSpPr>
        <p:spPr>
          <a:xfrm>
            <a:off x="114299" y="1308100"/>
            <a:ext cx="11947525" cy="41275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dirty="0"/>
              <a:t>user1 = {"name": "Alice", "role": "admin"}</a:t>
            </a:r>
          </a:p>
          <a:p>
            <a:pPr marL="0" indent="0">
              <a:buNone/>
            </a:pPr>
            <a:r>
              <a:rPr lang="en-US" dirty="0"/>
              <a:t>user2 = {"name": "Bob"}  # No "role" key</a:t>
            </a:r>
          </a:p>
          <a:p>
            <a:pPr marL="0" indent="0">
              <a:buNone/>
            </a:pPr>
            <a:endParaRPr lang="en-US" dirty="0"/>
          </a:p>
          <a:p>
            <a:pPr marL="0" indent="0">
              <a:buNone/>
            </a:pPr>
            <a:r>
              <a:rPr lang="en-US" dirty="0"/>
              <a:t># Safe access</a:t>
            </a:r>
          </a:p>
          <a:p>
            <a:pPr marL="0" indent="0">
              <a:buNone/>
            </a:pPr>
            <a:r>
              <a:rPr lang="en-US" dirty="0"/>
              <a:t>role1 = user1.get("role", "viewer")  # "admin"</a:t>
            </a:r>
          </a:p>
          <a:p>
            <a:pPr marL="0" indent="0">
              <a:buNone/>
            </a:pPr>
            <a:r>
              <a:rPr lang="en-US" dirty="0"/>
              <a:t>role2 = user2.get("role", "viewer")  # "viewer" (default used)</a:t>
            </a:r>
          </a:p>
          <a:p>
            <a:pPr marL="0" indent="0">
              <a:buNone/>
            </a:pPr>
            <a:endParaRPr lang="en-US" dirty="0"/>
          </a:p>
          <a:p>
            <a:pPr marL="0" indent="0">
              <a:buNone/>
            </a:pPr>
            <a:r>
              <a:rPr lang="en-US" dirty="0"/>
              <a:t>print(role1)  # Output: admin</a:t>
            </a:r>
          </a:p>
          <a:p>
            <a:pPr marL="0" indent="0">
              <a:buNone/>
            </a:pPr>
            <a:r>
              <a:rPr lang="en-US" dirty="0"/>
              <a:t>print(role2)  # Output: viewer</a:t>
            </a:r>
          </a:p>
        </p:txBody>
      </p:sp>
      <p:sp>
        <p:nvSpPr>
          <p:cNvPr id="4" name="Content Placeholder 2">
            <a:extLst>
              <a:ext uri="{FF2B5EF4-FFF2-40B4-BE49-F238E27FC236}">
                <a16:creationId xmlns:a16="http://schemas.microsoft.com/office/drawing/2014/main" id="{5FB04653-483A-853B-D70C-FBC39D068807}"/>
              </a:ext>
            </a:extLst>
          </p:cNvPr>
          <p:cNvSpPr txBox="1">
            <a:spLocks/>
          </p:cNvSpPr>
          <p:nvPr/>
        </p:nvSpPr>
        <p:spPr>
          <a:xfrm>
            <a:off x="114299" y="5549900"/>
            <a:ext cx="11947525" cy="103346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This is called safe dictionary access.</a:t>
            </a:r>
          </a:p>
          <a:p>
            <a:r>
              <a:rPr lang="en-US" dirty="0"/>
              <a:t>It’s a common pattern when reading optional keys from a dictionary.</a:t>
            </a:r>
          </a:p>
        </p:txBody>
      </p:sp>
    </p:spTree>
    <p:extLst>
      <p:ext uri="{BB962C8B-B14F-4D97-AF65-F5344CB8AC3E}">
        <p14:creationId xmlns:p14="http://schemas.microsoft.com/office/powerpoint/2010/main" val="215918114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CBED9-23C2-A5DB-9B78-FD88C5912EB7}"/>
              </a:ext>
            </a:extLst>
          </p:cNvPr>
          <p:cNvSpPr>
            <a:spLocks noGrp="1"/>
          </p:cNvSpPr>
          <p:nvPr>
            <p:ph type="title"/>
          </p:nvPr>
        </p:nvSpPr>
        <p:spPr/>
        <p:txBody>
          <a:bodyPr>
            <a:normAutofit/>
          </a:bodyPr>
          <a:lstStyle/>
          <a:p>
            <a:r>
              <a:rPr lang="en-US" b="1" dirty="0"/>
              <a:t>Why Safe Access?</a:t>
            </a:r>
            <a:endParaRPr lang="en-SG" dirty="0"/>
          </a:p>
        </p:txBody>
      </p:sp>
      <p:sp>
        <p:nvSpPr>
          <p:cNvPr id="3" name="Content Placeholder 2">
            <a:extLst>
              <a:ext uri="{FF2B5EF4-FFF2-40B4-BE49-F238E27FC236}">
                <a16:creationId xmlns:a16="http://schemas.microsoft.com/office/drawing/2014/main" id="{FB88C151-1AAD-DBBE-4F2A-054D2800035A}"/>
              </a:ext>
            </a:extLst>
          </p:cNvPr>
          <p:cNvSpPr>
            <a:spLocks noGrp="1"/>
          </p:cNvSpPr>
          <p:nvPr>
            <p:ph idx="1"/>
          </p:nvPr>
        </p:nvSpPr>
        <p:spPr>
          <a:xfrm>
            <a:off x="457200" y="1600200"/>
            <a:ext cx="9652000" cy="4525963"/>
          </a:xfrm>
        </p:spPr>
        <p:txBody>
          <a:bodyPr/>
          <a:lstStyle/>
          <a:p>
            <a:r>
              <a:rPr lang="en-US" dirty="0"/>
              <a:t>Prevents your program from crashing with </a:t>
            </a:r>
            <a:r>
              <a:rPr lang="en-US" dirty="0" err="1"/>
              <a:t>KeyError</a:t>
            </a:r>
            <a:r>
              <a:rPr lang="en-US" dirty="0"/>
              <a:t>.</a:t>
            </a:r>
          </a:p>
          <a:p>
            <a:r>
              <a:rPr lang="en-US" dirty="0"/>
              <a:t>Lets you provide </a:t>
            </a:r>
            <a:r>
              <a:rPr lang="en-US" b="1" dirty="0"/>
              <a:t>a sensible default value</a:t>
            </a:r>
            <a:r>
              <a:rPr lang="en-US" dirty="0"/>
              <a:t>.</a:t>
            </a:r>
          </a:p>
          <a:p>
            <a:r>
              <a:rPr lang="en-US" dirty="0"/>
              <a:t>Makes your code </a:t>
            </a:r>
            <a:r>
              <a:rPr lang="en-US" b="1" dirty="0"/>
              <a:t>more readable and robust</a:t>
            </a:r>
            <a:r>
              <a:rPr lang="en-US" dirty="0"/>
              <a:t>.</a:t>
            </a:r>
          </a:p>
          <a:p>
            <a:endParaRPr lang="en-SG" dirty="0"/>
          </a:p>
        </p:txBody>
      </p:sp>
    </p:spTree>
    <p:extLst>
      <p:ext uri="{BB962C8B-B14F-4D97-AF65-F5344CB8AC3E}">
        <p14:creationId xmlns:p14="http://schemas.microsoft.com/office/powerpoint/2010/main" val="389253506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593EA-69A2-5C46-E2B4-D468740F6CE1}"/>
              </a:ext>
            </a:extLst>
          </p:cNvPr>
          <p:cNvSpPr>
            <a:spLocks noGrp="1"/>
          </p:cNvSpPr>
          <p:nvPr>
            <p:ph type="title"/>
          </p:nvPr>
        </p:nvSpPr>
        <p:spPr/>
        <p:txBody>
          <a:bodyPr/>
          <a:lstStyle/>
          <a:p>
            <a:r>
              <a:rPr lang="en-SG" dirty="0" err="1"/>
              <a:t>dict</a:t>
            </a:r>
            <a:r>
              <a:rPr lang="en-SG" dirty="0"/>
              <a:t> – iteration pattern</a:t>
            </a:r>
          </a:p>
        </p:txBody>
      </p:sp>
      <p:sp>
        <p:nvSpPr>
          <p:cNvPr id="3" name="Content Placeholder 2">
            <a:extLst>
              <a:ext uri="{FF2B5EF4-FFF2-40B4-BE49-F238E27FC236}">
                <a16:creationId xmlns:a16="http://schemas.microsoft.com/office/drawing/2014/main" id="{5C189C35-2ED2-190A-BDF1-A29E7EA8CC31}"/>
              </a:ext>
            </a:extLst>
          </p:cNvPr>
          <p:cNvSpPr>
            <a:spLocks noGrp="1"/>
          </p:cNvSpPr>
          <p:nvPr>
            <p:ph idx="1"/>
          </p:nvPr>
        </p:nvSpPr>
        <p:spPr/>
        <p:txBody>
          <a:bodyPr/>
          <a:lstStyle/>
          <a:p>
            <a:pPr marL="0" indent="0">
              <a:buNone/>
            </a:pPr>
            <a:r>
              <a:rPr lang="en-US" dirty="0"/>
              <a:t>for key, value in </a:t>
            </a:r>
            <a:r>
              <a:rPr lang="en-US" dirty="0" err="1"/>
              <a:t>user.items</a:t>
            </a:r>
            <a:r>
              <a:rPr lang="en-US" dirty="0"/>
              <a:t>():</a:t>
            </a:r>
          </a:p>
          <a:p>
            <a:pPr marL="0" indent="0">
              <a:buNone/>
            </a:pPr>
            <a:r>
              <a:rPr lang="en-US" dirty="0"/>
              <a:t>    print(key, value)</a:t>
            </a:r>
          </a:p>
          <a:p>
            <a:pPr marL="0" indent="0">
              <a:buNone/>
            </a:pPr>
            <a:endParaRPr lang="en-SG" dirty="0"/>
          </a:p>
        </p:txBody>
      </p:sp>
    </p:spTree>
    <p:extLst>
      <p:ext uri="{BB962C8B-B14F-4D97-AF65-F5344CB8AC3E}">
        <p14:creationId xmlns:p14="http://schemas.microsoft.com/office/powerpoint/2010/main" val="201316651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9AD36-8700-92C0-6DDA-5B36440A7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E91A24-0FD8-E2F5-8C36-5FFDDD888F87}"/>
              </a:ext>
            </a:extLst>
          </p:cNvPr>
          <p:cNvSpPr>
            <a:spLocks noGrp="1"/>
          </p:cNvSpPr>
          <p:nvPr>
            <p:ph type="title"/>
          </p:nvPr>
        </p:nvSpPr>
        <p:spPr/>
        <p:txBody>
          <a:bodyPr>
            <a:normAutofit/>
          </a:bodyPr>
          <a:lstStyle/>
          <a:p>
            <a:r>
              <a:rPr lang="en-SG" dirty="0"/>
              <a:t>set — Unique, Unordered</a:t>
            </a:r>
          </a:p>
        </p:txBody>
      </p:sp>
      <p:sp>
        <p:nvSpPr>
          <p:cNvPr id="3" name="Content Placeholder 2">
            <a:extLst>
              <a:ext uri="{FF2B5EF4-FFF2-40B4-BE49-F238E27FC236}">
                <a16:creationId xmlns:a16="http://schemas.microsoft.com/office/drawing/2014/main" id="{931BA0E9-7F1E-E24E-6D9A-6B7A28EC03BD}"/>
              </a:ext>
            </a:extLst>
          </p:cNvPr>
          <p:cNvSpPr>
            <a:spLocks noGrp="1"/>
          </p:cNvSpPr>
          <p:nvPr>
            <p:ph idx="1"/>
          </p:nvPr>
        </p:nvSpPr>
        <p:spPr>
          <a:xfrm>
            <a:off x="457200" y="2362201"/>
            <a:ext cx="5637212" cy="2882900"/>
          </a:xfrm>
        </p:spPr>
        <p:txBody>
          <a:bodyPr>
            <a:normAutofit fontScale="92500" lnSpcReduction="10000"/>
          </a:bodyPr>
          <a:lstStyle/>
          <a:p>
            <a:pPr marL="0" indent="0">
              <a:buNone/>
            </a:pPr>
            <a:r>
              <a:rPr lang="en-US" sz="3600" b="1" dirty="0"/>
              <a:t>Use when</a:t>
            </a:r>
            <a:endParaRPr lang="en-US" sz="3600" dirty="0"/>
          </a:p>
          <a:p>
            <a:r>
              <a:rPr lang="en-US" sz="3600" dirty="0"/>
              <a:t>Membership matters</a:t>
            </a:r>
          </a:p>
          <a:p>
            <a:r>
              <a:rPr lang="en-US" sz="3600" dirty="0"/>
              <a:t>Duplicates must be removed</a:t>
            </a:r>
          </a:p>
          <a:p>
            <a:r>
              <a:rPr lang="en-US" sz="3600" dirty="0"/>
              <a:t>You need fast containment checks</a:t>
            </a:r>
          </a:p>
        </p:txBody>
      </p:sp>
      <p:sp>
        <p:nvSpPr>
          <p:cNvPr id="4" name="Content Placeholder 2">
            <a:extLst>
              <a:ext uri="{FF2B5EF4-FFF2-40B4-BE49-F238E27FC236}">
                <a16:creationId xmlns:a16="http://schemas.microsoft.com/office/drawing/2014/main" id="{383E36AC-4B12-01BA-5442-FC1BDFB2C013}"/>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r>
              <a:rPr lang="en-US" sz="3600" dirty="0"/>
              <a:t>Permissions</a:t>
            </a:r>
          </a:p>
          <a:p>
            <a:r>
              <a:rPr lang="en-US" sz="3600" dirty="0"/>
              <a:t>Feature flags</a:t>
            </a:r>
          </a:p>
          <a:p>
            <a:r>
              <a:rPr lang="en-US" sz="3600" dirty="0"/>
              <a:t>Deduplication</a:t>
            </a:r>
          </a:p>
        </p:txBody>
      </p:sp>
    </p:spTree>
    <p:extLst>
      <p:ext uri="{BB962C8B-B14F-4D97-AF65-F5344CB8AC3E}">
        <p14:creationId xmlns:p14="http://schemas.microsoft.com/office/powerpoint/2010/main" val="100354974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605F9-4C4E-B672-518F-F464B435AE2A}"/>
              </a:ext>
            </a:extLst>
          </p:cNvPr>
          <p:cNvSpPr>
            <a:spLocks noGrp="1"/>
          </p:cNvSpPr>
          <p:nvPr>
            <p:ph type="title"/>
          </p:nvPr>
        </p:nvSpPr>
        <p:spPr/>
        <p:txBody>
          <a:bodyPr>
            <a:normAutofit/>
          </a:bodyPr>
          <a:lstStyle/>
          <a:p>
            <a:r>
              <a:rPr lang="en-US" dirty="0"/>
              <a:t>set Characteristics</a:t>
            </a:r>
            <a:endParaRPr lang="en-SG" dirty="0"/>
          </a:p>
        </p:txBody>
      </p:sp>
      <p:sp>
        <p:nvSpPr>
          <p:cNvPr id="3" name="Content Placeholder 2">
            <a:extLst>
              <a:ext uri="{FF2B5EF4-FFF2-40B4-BE49-F238E27FC236}">
                <a16:creationId xmlns:a16="http://schemas.microsoft.com/office/drawing/2014/main" id="{9CA6E96B-A05F-3690-1DAE-437D3DBCC0A8}"/>
              </a:ext>
            </a:extLst>
          </p:cNvPr>
          <p:cNvSpPr>
            <a:spLocks noGrp="1"/>
          </p:cNvSpPr>
          <p:nvPr>
            <p:ph idx="1"/>
          </p:nvPr>
        </p:nvSpPr>
        <p:spPr/>
        <p:txBody>
          <a:bodyPr/>
          <a:lstStyle/>
          <a:p>
            <a:r>
              <a:rPr lang="en-US" dirty="0"/>
              <a:t>No duplicates</a:t>
            </a:r>
          </a:p>
          <a:p>
            <a:r>
              <a:rPr lang="en-US" dirty="0"/>
              <a:t>No indexing</a:t>
            </a:r>
          </a:p>
          <a:p>
            <a:r>
              <a:rPr lang="en-US" dirty="0"/>
              <a:t>Very fast in checks</a:t>
            </a:r>
          </a:p>
          <a:p>
            <a:pPr marL="0" indent="0">
              <a:buNone/>
            </a:pPr>
            <a:endParaRPr lang="en-US" b="1" dirty="0"/>
          </a:p>
          <a:p>
            <a:pPr marL="0" indent="0">
              <a:buNone/>
            </a:pPr>
            <a:r>
              <a:rPr lang="en-US" b="1" dirty="0"/>
              <a:t>Mental model: </a:t>
            </a:r>
            <a:r>
              <a:rPr lang="en-US" dirty="0"/>
              <a:t>set answers “is it present?”</a:t>
            </a:r>
          </a:p>
          <a:p>
            <a:endParaRPr lang="en-SG" dirty="0"/>
          </a:p>
        </p:txBody>
      </p:sp>
    </p:spTree>
    <p:extLst>
      <p:ext uri="{BB962C8B-B14F-4D97-AF65-F5344CB8AC3E}">
        <p14:creationId xmlns:p14="http://schemas.microsoft.com/office/powerpoint/2010/main" val="206342943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3A7D8-08EF-3803-536F-F43FD26885BF}"/>
              </a:ext>
            </a:extLst>
          </p:cNvPr>
          <p:cNvSpPr>
            <a:spLocks noGrp="1"/>
          </p:cNvSpPr>
          <p:nvPr>
            <p:ph type="title"/>
          </p:nvPr>
        </p:nvSpPr>
        <p:spPr/>
        <p:txBody>
          <a:bodyPr/>
          <a:lstStyle/>
          <a:p>
            <a:r>
              <a:rPr lang="en-SG" dirty="0"/>
              <a:t>set - deduplication</a:t>
            </a:r>
          </a:p>
        </p:txBody>
      </p:sp>
      <p:sp>
        <p:nvSpPr>
          <p:cNvPr id="3" name="Content Placeholder 2">
            <a:extLst>
              <a:ext uri="{FF2B5EF4-FFF2-40B4-BE49-F238E27FC236}">
                <a16:creationId xmlns:a16="http://schemas.microsoft.com/office/drawing/2014/main" id="{A95022DC-04D8-76BB-F29A-535FCE5E2219}"/>
              </a:ext>
            </a:extLst>
          </p:cNvPr>
          <p:cNvSpPr>
            <a:spLocks noGrp="1"/>
          </p:cNvSpPr>
          <p:nvPr>
            <p:ph idx="1"/>
          </p:nvPr>
        </p:nvSpPr>
        <p:spPr/>
        <p:txBody>
          <a:bodyPr/>
          <a:lstStyle/>
          <a:p>
            <a:pPr marL="0" indent="0">
              <a:buNone/>
            </a:pPr>
            <a:r>
              <a:rPr lang="en-SG" dirty="0"/>
              <a:t>emails = ["a@test.com", "b@test.com", "a@test.com"]</a:t>
            </a:r>
          </a:p>
          <a:p>
            <a:pPr marL="0" indent="0">
              <a:buNone/>
            </a:pPr>
            <a:r>
              <a:rPr lang="en-SG" dirty="0" err="1"/>
              <a:t>unique_emails</a:t>
            </a:r>
            <a:r>
              <a:rPr lang="en-SG" dirty="0"/>
              <a:t> = set(emails)</a:t>
            </a:r>
          </a:p>
          <a:p>
            <a:pPr marL="0" indent="0">
              <a:buNone/>
            </a:pPr>
            <a:endParaRPr lang="en-SG" dirty="0"/>
          </a:p>
          <a:p>
            <a:pPr marL="0" indent="0">
              <a:buNone/>
            </a:pPr>
            <a:r>
              <a:rPr lang="en-SG" dirty="0"/>
              <a:t>print(</a:t>
            </a:r>
            <a:r>
              <a:rPr lang="en-SG" dirty="0" err="1"/>
              <a:t>unique_emails</a:t>
            </a:r>
            <a:r>
              <a:rPr lang="en-SG" dirty="0"/>
              <a:t>)</a:t>
            </a:r>
          </a:p>
          <a:p>
            <a:pPr marL="0" indent="0">
              <a:buNone/>
            </a:pPr>
            <a:endParaRPr lang="en-SG" dirty="0"/>
          </a:p>
        </p:txBody>
      </p:sp>
    </p:spTree>
    <p:extLst>
      <p:ext uri="{BB962C8B-B14F-4D97-AF65-F5344CB8AC3E}">
        <p14:creationId xmlns:p14="http://schemas.microsoft.com/office/powerpoint/2010/main" val="199737281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AA69A-F27A-55D9-3875-7A026ECEC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B972E8-025A-2D85-55F4-B614DEA42FAB}"/>
              </a:ext>
            </a:extLst>
          </p:cNvPr>
          <p:cNvSpPr>
            <a:spLocks noGrp="1"/>
          </p:cNvSpPr>
          <p:nvPr>
            <p:ph type="title"/>
          </p:nvPr>
        </p:nvSpPr>
        <p:spPr/>
        <p:txBody>
          <a:bodyPr/>
          <a:lstStyle/>
          <a:p>
            <a:r>
              <a:rPr lang="en-SG" dirty="0"/>
              <a:t>set – fast membership check</a:t>
            </a:r>
          </a:p>
        </p:txBody>
      </p:sp>
      <p:sp>
        <p:nvSpPr>
          <p:cNvPr id="3" name="Content Placeholder 2">
            <a:extLst>
              <a:ext uri="{FF2B5EF4-FFF2-40B4-BE49-F238E27FC236}">
                <a16:creationId xmlns:a16="http://schemas.microsoft.com/office/drawing/2014/main" id="{ACFD96B2-6A11-CE6C-830E-6C9779863525}"/>
              </a:ext>
            </a:extLst>
          </p:cNvPr>
          <p:cNvSpPr>
            <a:spLocks noGrp="1"/>
          </p:cNvSpPr>
          <p:nvPr>
            <p:ph idx="1"/>
          </p:nvPr>
        </p:nvSpPr>
        <p:spPr/>
        <p:txBody>
          <a:bodyPr/>
          <a:lstStyle/>
          <a:p>
            <a:pPr marL="0" indent="0">
              <a:buNone/>
            </a:pPr>
            <a:r>
              <a:rPr lang="en-US" dirty="0"/>
              <a:t>admins = {"</a:t>
            </a:r>
            <a:r>
              <a:rPr lang="en-US" dirty="0" err="1"/>
              <a:t>alice</a:t>
            </a:r>
            <a:r>
              <a:rPr lang="en-US" dirty="0"/>
              <a:t>", "bob"}</a:t>
            </a:r>
          </a:p>
          <a:p>
            <a:pPr marL="0" indent="0">
              <a:buNone/>
            </a:pPr>
            <a:endParaRPr lang="en-US" dirty="0"/>
          </a:p>
          <a:p>
            <a:pPr marL="0" indent="0">
              <a:buNone/>
            </a:pPr>
            <a:r>
              <a:rPr lang="en-US" dirty="0"/>
              <a:t>if "</a:t>
            </a:r>
            <a:r>
              <a:rPr lang="en-US" dirty="0" err="1"/>
              <a:t>alice</a:t>
            </a:r>
            <a:r>
              <a:rPr lang="en-US" dirty="0"/>
              <a:t>" in admins:</a:t>
            </a:r>
          </a:p>
          <a:p>
            <a:pPr marL="0" indent="0">
              <a:buNone/>
            </a:pPr>
            <a:r>
              <a:rPr lang="en-US" dirty="0"/>
              <a:t>    </a:t>
            </a:r>
            <a:r>
              <a:rPr lang="en-US" dirty="0" err="1"/>
              <a:t>grant_access</a:t>
            </a:r>
            <a:r>
              <a:rPr lang="en-US" dirty="0"/>
              <a:t>()</a:t>
            </a:r>
          </a:p>
        </p:txBody>
      </p:sp>
    </p:spTree>
    <p:extLst>
      <p:ext uri="{BB962C8B-B14F-4D97-AF65-F5344CB8AC3E}">
        <p14:creationId xmlns:p14="http://schemas.microsoft.com/office/powerpoint/2010/main" val="351521710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72A62-2208-DF2B-62B9-411CC548EAB3}"/>
              </a:ext>
            </a:extLst>
          </p:cNvPr>
          <p:cNvSpPr>
            <a:spLocks noGrp="1"/>
          </p:cNvSpPr>
          <p:nvPr>
            <p:ph type="title"/>
          </p:nvPr>
        </p:nvSpPr>
        <p:spPr/>
        <p:txBody>
          <a:bodyPr>
            <a:normAutofit/>
          </a:bodyPr>
          <a:lstStyle/>
          <a:p>
            <a:r>
              <a:rPr lang="en-SG" dirty="0"/>
              <a:t>Choosing the Right Collection</a:t>
            </a:r>
          </a:p>
        </p:txBody>
      </p:sp>
      <p:graphicFrame>
        <p:nvGraphicFramePr>
          <p:cNvPr id="4" name="Table 3">
            <a:extLst>
              <a:ext uri="{FF2B5EF4-FFF2-40B4-BE49-F238E27FC236}">
                <a16:creationId xmlns:a16="http://schemas.microsoft.com/office/drawing/2014/main" id="{0674AECC-B828-3B13-37EF-749E3ED13920}"/>
              </a:ext>
            </a:extLst>
          </p:cNvPr>
          <p:cNvGraphicFramePr>
            <a:graphicFrameLocks noGrp="1"/>
          </p:cNvGraphicFramePr>
          <p:nvPr>
            <p:extLst>
              <p:ext uri="{D42A27DB-BD31-4B8C-83A1-F6EECF244321}">
                <p14:modId xmlns:p14="http://schemas.microsoft.com/office/powerpoint/2010/main" val="1348105497"/>
              </p:ext>
            </p:extLst>
          </p:nvPr>
        </p:nvGraphicFramePr>
        <p:xfrm>
          <a:off x="914400" y="1795462"/>
          <a:ext cx="9944100" cy="3810000"/>
        </p:xfrm>
        <a:graphic>
          <a:graphicData uri="http://schemas.openxmlformats.org/drawingml/2006/table">
            <a:tbl>
              <a:tblPr/>
              <a:tblGrid>
                <a:gridCol w="4972050">
                  <a:extLst>
                    <a:ext uri="{9D8B030D-6E8A-4147-A177-3AD203B41FA5}">
                      <a16:colId xmlns:a16="http://schemas.microsoft.com/office/drawing/2014/main" val="3375835313"/>
                    </a:ext>
                  </a:extLst>
                </a:gridCol>
                <a:gridCol w="4972050">
                  <a:extLst>
                    <a:ext uri="{9D8B030D-6E8A-4147-A177-3AD203B41FA5}">
                      <a16:colId xmlns:a16="http://schemas.microsoft.com/office/drawing/2014/main" val="1816517094"/>
                    </a:ext>
                  </a:extLst>
                </a:gridCol>
              </a:tblGrid>
              <a:tr h="0">
                <a:tc>
                  <a:txBody>
                    <a:bodyPr/>
                    <a:lstStyle/>
                    <a:p>
                      <a:pPr>
                        <a:buNone/>
                      </a:pPr>
                      <a:r>
                        <a:rPr lang="en-SG" sz="4400" b="1" dirty="0"/>
                        <a:t>Need</a:t>
                      </a:r>
                    </a:p>
                  </a:txBody>
                  <a:tcPr anchor="ctr">
                    <a:lnL>
                      <a:noFill/>
                    </a:lnL>
                    <a:lnR>
                      <a:noFill/>
                    </a:lnR>
                    <a:lnT>
                      <a:noFill/>
                    </a:lnT>
                    <a:lnB>
                      <a:noFill/>
                    </a:lnB>
                    <a:noFill/>
                  </a:tcPr>
                </a:tc>
                <a:tc>
                  <a:txBody>
                    <a:bodyPr/>
                    <a:lstStyle/>
                    <a:p>
                      <a:pPr>
                        <a:buNone/>
                      </a:pPr>
                      <a:r>
                        <a:rPr lang="en-SG" sz="4400" b="1" dirty="0"/>
                        <a:t>Use</a:t>
                      </a:r>
                    </a:p>
                  </a:txBody>
                  <a:tcPr anchor="ctr">
                    <a:lnL>
                      <a:noFill/>
                    </a:lnL>
                    <a:lnR>
                      <a:noFill/>
                    </a:lnR>
                    <a:lnT>
                      <a:noFill/>
                    </a:lnT>
                    <a:lnB>
                      <a:noFill/>
                    </a:lnB>
                    <a:noFill/>
                  </a:tcPr>
                </a:tc>
                <a:extLst>
                  <a:ext uri="{0D108BD9-81ED-4DB2-BD59-A6C34878D82A}">
                    <a16:rowId xmlns:a16="http://schemas.microsoft.com/office/drawing/2014/main" val="2475493792"/>
                  </a:ext>
                </a:extLst>
              </a:tr>
              <a:tr h="0">
                <a:tc>
                  <a:txBody>
                    <a:bodyPr/>
                    <a:lstStyle/>
                    <a:p>
                      <a:pPr>
                        <a:buNone/>
                      </a:pPr>
                      <a:r>
                        <a:rPr lang="en-SG" sz="4400"/>
                        <a:t>Ordered, mutable</a:t>
                      </a:r>
                    </a:p>
                  </a:txBody>
                  <a:tcPr anchor="ctr">
                    <a:lnL>
                      <a:noFill/>
                    </a:lnL>
                    <a:lnR>
                      <a:noFill/>
                    </a:lnR>
                    <a:lnT>
                      <a:noFill/>
                    </a:lnT>
                    <a:lnB>
                      <a:noFill/>
                    </a:lnB>
                    <a:noFill/>
                  </a:tcPr>
                </a:tc>
                <a:tc>
                  <a:txBody>
                    <a:bodyPr/>
                    <a:lstStyle/>
                    <a:p>
                      <a:pPr>
                        <a:buNone/>
                      </a:pPr>
                      <a:r>
                        <a:rPr lang="en-SG" sz="4400">
                          <a:latin typeface="Courier New" panose="02070309020205020404" pitchFamily="49" charset="0"/>
                        </a:rPr>
                        <a:t>list</a:t>
                      </a:r>
                      <a:endParaRPr lang="en-SG" sz="4400"/>
                    </a:p>
                  </a:txBody>
                  <a:tcPr anchor="ctr">
                    <a:lnL>
                      <a:noFill/>
                    </a:lnL>
                    <a:lnR>
                      <a:noFill/>
                    </a:lnR>
                    <a:lnT>
                      <a:noFill/>
                    </a:lnT>
                    <a:lnB>
                      <a:noFill/>
                    </a:lnB>
                    <a:noFill/>
                  </a:tcPr>
                </a:tc>
                <a:extLst>
                  <a:ext uri="{0D108BD9-81ED-4DB2-BD59-A6C34878D82A}">
                    <a16:rowId xmlns:a16="http://schemas.microsoft.com/office/drawing/2014/main" val="3707143948"/>
                  </a:ext>
                </a:extLst>
              </a:tr>
              <a:tr h="0">
                <a:tc>
                  <a:txBody>
                    <a:bodyPr/>
                    <a:lstStyle/>
                    <a:p>
                      <a:pPr>
                        <a:buNone/>
                      </a:pPr>
                      <a:r>
                        <a:rPr lang="en-SG" sz="4400"/>
                        <a:t>Fixed structure</a:t>
                      </a:r>
                    </a:p>
                  </a:txBody>
                  <a:tcPr anchor="ctr">
                    <a:lnL>
                      <a:noFill/>
                    </a:lnL>
                    <a:lnR>
                      <a:noFill/>
                    </a:lnR>
                    <a:lnT>
                      <a:noFill/>
                    </a:lnT>
                    <a:lnB>
                      <a:noFill/>
                    </a:lnB>
                    <a:noFill/>
                  </a:tcPr>
                </a:tc>
                <a:tc>
                  <a:txBody>
                    <a:bodyPr/>
                    <a:lstStyle/>
                    <a:p>
                      <a:pPr>
                        <a:buNone/>
                      </a:pPr>
                      <a:r>
                        <a:rPr lang="en-SG" sz="4400">
                          <a:latin typeface="Courier New" panose="02070309020205020404" pitchFamily="49" charset="0"/>
                        </a:rPr>
                        <a:t>tuple</a:t>
                      </a:r>
                      <a:endParaRPr lang="en-SG" sz="4400"/>
                    </a:p>
                  </a:txBody>
                  <a:tcPr anchor="ctr">
                    <a:lnL>
                      <a:noFill/>
                    </a:lnL>
                    <a:lnR>
                      <a:noFill/>
                    </a:lnR>
                    <a:lnT>
                      <a:noFill/>
                    </a:lnT>
                    <a:lnB>
                      <a:noFill/>
                    </a:lnB>
                    <a:noFill/>
                  </a:tcPr>
                </a:tc>
                <a:extLst>
                  <a:ext uri="{0D108BD9-81ED-4DB2-BD59-A6C34878D82A}">
                    <a16:rowId xmlns:a16="http://schemas.microsoft.com/office/drawing/2014/main" val="2700501105"/>
                  </a:ext>
                </a:extLst>
              </a:tr>
              <a:tr h="0">
                <a:tc>
                  <a:txBody>
                    <a:bodyPr/>
                    <a:lstStyle/>
                    <a:p>
                      <a:pPr>
                        <a:buNone/>
                      </a:pPr>
                      <a:r>
                        <a:rPr lang="en-SG" sz="4400"/>
                        <a:t>Fast lookup</a:t>
                      </a:r>
                    </a:p>
                  </a:txBody>
                  <a:tcPr anchor="ctr">
                    <a:lnL>
                      <a:noFill/>
                    </a:lnL>
                    <a:lnR>
                      <a:noFill/>
                    </a:lnR>
                    <a:lnT>
                      <a:noFill/>
                    </a:lnT>
                    <a:lnB>
                      <a:noFill/>
                    </a:lnB>
                    <a:noFill/>
                  </a:tcPr>
                </a:tc>
                <a:tc>
                  <a:txBody>
                    <a:bodyPr/>
                    <a:lstStyle/>
                    <a:p>
                      <a:pPr>
                        <a:buNone/>
                      </a:pPr>
                      <a:r>
                        <a:rPr lang="en-SG" sz="4400">
                          <a:latin typeface="Courier New" panose="02070309020205020404" pitchFamily="49" charset="0"/>
                        </a:rPr>
                        <a:t>dict</a:t>
                      </a:r>
                      <a:endParaRPr lang="en-SG" sz="4400"/>
                    </a:p>
                  </a:txBody>
                  <a:tcPr anchor="ctr">
                    <a:lnL>
                      <a:noFill/>
                    </a:lnL>
                    <a:lnR>
                      <a:noFill/>
                    </a:lnR>
                    <a:lnT>
                      <a:noFill/>
                    </a:lnT>
                    <a:lnB>
                      <a:noFill/>
                    </a:lnB>
                    <a:noFill/>
                  </a:tcPr>
                </a:tc>
                <a:extLst>
                  <a:ext uri="{0D108BD9-81ED-4DB2-BD59-A6C34878D82A}">
                    <a16:rowId xmlns:a16="http://schemas.microsoft.com/office/drawing/2014/main" val="895305057"/>
                  </a:ext>
                </a:extLst>
              </a:tr>
              <a:tr h="0">
                <a:tc>
                  <a:txBody>
                    <a:bodyPr/>
                    <a:lstStyle/>
                    <a:p>
                      <a:pPr>
                        <a:buNone/>
                      </a:pPr>
                      <a:r>
                        <a:rPr lang="en-SG" sz="4400"/>
                        <a:t>Uniqueness</a:t>
                      </a:r>
                    </a:p>
                  </a:txBody>
                  <a:tcPr anchor="ctr">
                    <a:lnL>
                      <a:noFill/>
                    </a:lnL>
                    <a:lnR>
                      <a:noFill/>
                    </a:lnR>
                    <a:lnT>
                      <a:noFill/>
                    </a:lnT>
                    <a:lnB>
                      <a:noFill/>
                    </a:lnB>
                    <a:noFill/>
                  </a:tcPr>
                </a:tc>
                <a:tc>
                  <a:txBody>
                    <a:bodyPr/>
                    <a:lstStyle/>
                    <a:p>
                      <a:pPr>
                        <a:buNone/>
                      </a:pPr>
                      <a:r>
                        <a:rPr lang="en-SG" sz="4400" dirty="0">
                          <a:latin typeface="Courier New" panose="02070309020205020404" pitchFamily="49" charset="0"/>
                        </a:rPr>
                        <a:t>set</a:t>
                      </a:r>
                      <a:endParaRPr lang="en-SG" sz="4400" dirty="0"/>
                    </a:p>
                  </a:txBody>
                  <a:tcPr anchor="ctr">
                    <a:lnL>
                      <a:noFill/>
                    </a:lnL>
                    <a:lnR>
                      <a:noFill/>
                    </a:lnR>
                    <a:lnT>
                      <a:noFill/>
                    </a:lnT>
                    <a:lnB>
                      <a:noFill/>
                    </a:lnB>
                    <a:noFill/>
                  </a:tcPr>
                </a:tc>
                <a:extLst>
                  <a:ext uri="{0D108BD9-81ED-4DB2-BD59-A6C34878D82A}">
                    <a16:rowId xmlns:a16="http://schemas.microsoft.com/office/drawing/2014/main" val="1345957204"/>
                  </a:ext>
                </a:extLst>
              </a:tr>
            </a:tbl>
          </a:graphicData>
        </a:graphic>
      </p:graphicFrame>
    </p:spTree>
    <p:extLst>
      <p:ext uri="{BB962C8B-B14F-4D97-AF65-F5344CB8AC3E}">
        <p14:creationId xmlns:p14="http://schemas.microsoft.com/office/powerpoint/2010/main" val="82242919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C2637-5C4C-3549-DF63-E7AB693754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F970B1-4202-79D3-C8D5-A39C926E241A}"/>
              </a:ext>
            </a:extLst>
          </p:cNvPr>
          <p:cNvSpPr>
            <a:spLocks noGrp="1"/>
          </p:cNvSpPr>
          <p:nvPr>
            <p:ph type="title"/>
          </p:nvPr>
        </p:nvSpPr>
        <p:spPr/>
        <p:txBody>
          <a:bodyPr/>
          <a:lstStyle/>
          <a:p>
            <a:r>
              <a:rPr lang="en-SG" dirty="0"/>
              <a:t>Choosing the right collection</a:t>
            </a:r>
          </a:p>
        </p:txBody>
      </p:sp>
      <p:sp>
        <p:nvSpPr>
          <p:cNvPr id="3" name="Content Placeholder 2">
            <a:extLst>
              <a:ext uri="{FF2B5EF4-FFF2-40B4-BE49-F238E27FC236}">
                <a16:creationId xmlns:a16="http://schemas.microsoft.com/office/drawing/2014/main" id="{8D748447-0635-7278-80FF-E3352E90C3C2}"/>
              </a:ext>
            </a:extLst>
          </p:cNvPr>
          <p:cNvSpPr>
            <a:spLocks noGrp="1"/>
          </p:cNvSpPr>
          <p:nvPr>
            <p:ph idx="1"/>
          </p:nvPr>
        </p:nvSpPr>
        <p:spPr>
          <a:xfrm>
            <a:off x="419099" y="1828800"/>
            <a:ext cx="5537200" cy="35687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3600" dirty="0"/>
              <a:t># Ordered history</a:t>
            </a:r>
          </a:p>
          <a:p>
            <a:pPr marL="0" indent="0">
              <a:buNone/>
            </a:pPr>
            <a:r>
              <a:rPr lang="en-US" sz="3600" dirty="0"/>
              <a:t>events = []</a:t>
            </a:r>
          </a:p>
          <a:p>
            <a:pPr marL="0" indent="0">
              <a:buNone/>
            </a:pPr>
            <a:endParaRPr lang="en-US" sz="3600" dirty="0"/>
          </a:p>
          <a:p>
            <a:pPr marL="0" indent="0">
              <a:buNone/>
            </a:pPr>
            <a:r>
              <a:rPr lang="en-US" sz="3600" dirty="0"/>
              <a:t># Fixed configuration</a:t>
            </a:r>
          </a:p>
          <a:p>
            <a:pPr marL="0" indent="0">
              <a:buNone/>
            </a:pPr>
            <a:r>
              <a:rPr lang="en-US" sz="3600" dirty="0"/>
              <a:t>config = ("localhost", 5432)</a:t>
            </a:r>
          </a:p>
        </p:txBody>
      </p:sp>
      <p:sp>
        <p:nvSpPr>
          <p:cNvPr id="4" name="Content Placeholder 2">
            <a:extLst>
              <a:ext uri="{FF2B5EF4-FFF2-40B4-BE49-F238E27FC236}">
                <a16:creationId xmlns:a16="http://schemas.microsoft.com/office/drawing/2014/main" id="{C808EA53-8A92-2DA0-7F65-B2ACBB09BBD0}"/>
              </a:ext>
            </a:extLst>
          </p:cNvPr>
          <p:cNvSpPr txBox="1">
            <a:spLocks/>
          </p:cNvSpPr>
          <p:nvPr/>
        </p:nvSpPr>
        <p:spPr>
          <a:xfrm>
            <a:off x="6232526" y="1854200"/>
            <a:ext cx="5537200" cy="35687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sz="3600" dirty="0"/>
              <a:t># Lookup by ID</a:t>
            </a:r>
          </a:p>
          <a:p>
            <a:pPr marL="0" indent="0">
              <a:buFont typeface="Arial"/>
              <a:buNone/>
            </a:pPr>
            <a:r>
              <a:rPr lang="en-US" sz="3600" dirty="0"/>
              <a:t>users = {1: "Alice", 2: "Bob"}</a:t>
            </a:r>
          </a:p>
          <a:p>
            <a:pPr marL="0" indent="0">
              <a:buFont typeface="Arial"/>
              <a:buNone/>
            </a:pPr>
            <a:endParaRPr lang="en-US" sz="3600" dirty="0"/>
          </a:p>
          <a:p>
            <a:pPr marL="0" indent="0">
              <a:buFont typeface="Arial"/>
              <a:buNone/>
            </a:pPr>
            <a:r>
              <a:rPr lang="en-US" sz="3600" dirty="0"/>
              <a:t># Unique permissions</a:t>
            </a:r>
          </a:p>
          <a:p>
            <a:pPr marL="0" indent="0">
              <a:buFont typeface="Arial"/>
              <a:buNone/>
            </a:pPr>
            <a:r>
              <a:rPr lang="en-US" sz="3600" dirty="0"/>
              <a:t>permissions = {"read", "write"}</a:t>
            </a:r>
          </a:p>
        </p:txBody>
      </p:sp>
    </p:spTree>
    <p:extLst>
      <p:ext uri="{BB962C8B-B14F-4D97-AF65-F5344CB8AC3E}">
        <p14:creationId xmlns:p14="http://schemas.microsoft.com/office/powerpoint/2010/main" val="222795725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8D865-9060-2A25-5F89-CB31B35576C1}"/>
              </a:ext>
            </a:extLst>
          </p:cNvPr>
          <p:cNvSpPr>
            <a:spLocks noGrp="1"/>
          </p:cNvSpPr>
          <p:nvPr>
            <p:ph type="title"/>
          </p:nvPr>
        </p:nvSpPr>
        <p:spPr/>
        <p:txBody>
          <a:bodyPr/>
          <a:lstStyle/>
          <a:p>
            <a:r>
              <a:rPr lang="en-SG" dirty="0"/>
              <a:t>Nested Collections</a:t>
            </a:r>
          </a:p>
        </p:txBody>
      </p:sp>
      <p:sp>
        <p:nvSpPr>
          <p:cNvPr id="3" name="Content Placeholder 2">
            <a:extLst>
              <a:ext uri="{FF2B5EF4-FFF2-40B4-BE49-F238E27FC236}">
                <a16:creationId xmlns:a16="http://schemas.microsoft.com/office/drawing/2014/main" id="{7DC74B36-217F-65B0-8987-E23326DB8F1E}"/>
              </a:ext>
            </a:extLst>
          </p:cNvPr>
          <p:cNvSpPr>
            <a:spLocks noGrp="1"/>
          </p:cNvSpPr>
          <p:nvPr>
            <p:ph idx="1"/>
          </p:nvPr>
        </p:nvSpPr>
        <p:spPr/>
        <p:txBody>
          <a:bodyPr/>
          <a:lstStyle/>
          <a:p>
            <a:pPr marL="0" indent="0">
              <a:buNone/>
            </a:pPr>
            <a:r>
              <a:rPr lang="en-SG" dirty="0"/>
              <a:t>users = {</a:t>
            </a:r>
          </a:p>
          <a:p>
            <a:pPr marL="0" indent="0">
              <a:buNone/>
            </a:pPr>
            <a:r>
              <a:rPr lang="en-SG" dirty="0"/>
              <a:t>    "u1": {"roles": {"admin", "editor"}},</a:t>
            </a:r>
          </a:p>
          <a:p>
            <a:pPr marL="0" indent="0">
              <a:buNone/>
            </a:pPr>
            <a:r>
              <a:rPr lang="en-SG" dirty="0"/>
              <a:t>    "u2": {"roles": {"viewer"}}</a:t>
            </a:r>
          </a:p>
          <a:p>
            <a:pPr marL="0" indent="0">
              <a:buNone/>
            </a:pPr>
            <a:r>
              <a:rPr lang="en-SG" dirty="0"/>
              <a:t>}</a:t>
            </a:r>
          </a:p>
          <a:p>
            <a:pPr marL="0" indent="0">
              <a:buNone/>
            </a:pPr>
            <a:endParaRPr lang="en-SG" dirty="0"/>
          </a:p>
          <a:p>
            <a:pPr marL="0" indent="0">
              <a:buNone/>
            </a:pPr>
            <a:r>
              <a:rPr lang="en-SG" dirty="0"/>
              <a:t>if "admin" in users["u1"]["roles"]:</a:t>
            </a:r>
          </a:p>
          <a:p>
            <a:pPr marL="0" indent="0">
              <a:buNone/>
            </a:pPr>
            <a:r>
              <a:rPr lang="en-SG" dirty="0"/>
              <a:t>    </a:t>
            </a:r>
            <a:r>
              <a:rPr lang="en-SG" dirty="0" err="1"/>
              <a:t>allow_access</a:t>
            </a:r>
            <a:r>
              <a:rPr lang="en-SG" dirty="0"/>
              <a:t>()</a:t>
            </a:r>
          </a:p>
          <a:p>
            <a:pPr marL="0" indent="0">
              <a:buNone/>
            </a:pPr>
            <a:endParaRPr lang="en-SG" dirty="0"/>
          </a:p>
        </p:txBody>
      </p:sp>
    </p:spTree>
    <p:extLst>
      <p:ext uri="{BB962C8B-B14F-4D97-AF65-F5344CB8AC3E}">
        <p14:creationId xmlns:p14="http://schemas.microsoft.com/office/powerpoint/2010/main" val="84634044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1486-E4AC-73C6-0E51-5B636049D999}"/>
              </a:ext>
            </a:extLst>
          </p:cNvPr>
          <p:cNvSpPr>
            <a:spLocks noGrp="1"/>
          </p:cNvSpPr>
          <p:nvPr>
            <p:ph type="title"/>
          </p:nvPr>
        </p:nvSpPr>
        <p:spPr/>
        <p:txBody>
          <a:bodyPr>
            <a:normAutofit/>
          </a:bodyPr>
          <a:lstStyle/>
          <a:p>
            <a:r>
              <a:rPr lang="en-US" dirty="0"/>
              <a:t>Common Pitfalls</a:t>
            </a:r>
            <a:endParaRPr lang="en-SG" dirty="0"/>
          </a:p>
        </p:txBody>
      </p:sp>
      <p:sp>
        <p:nvSpPr>
          <p:cNvPr id="3" name="Content Placeholder 2">
            <a:extLst>
              <a:ext uri="{FF2B5EF4-FFF2-40B4-BE49-F238E27FC236}">
                <a16:creationId xmlns:a16="http://schemas.microsoft.com/office/drawing/2014/main" id="{659E02AB-FBE8-14F0-AC1C-ADDB19207ED9}"/>
              </a:ext>
            </a:extLst>
          </p:cNvPr>
          <p:cNvSpPr>
            <a:spLocks noGrp="1"/>
          </p:cNvSpPr>
          <p:nvPr>
            <p:ph idx="1"/>
          </p:nvPr>
        </p:nvSpPr>
        <p:spPr/>
        <p:txBody>
          <a:bodyPr/>
          <a:lstStyle/>
          <a:p>
            <a:r>
              <a:rPr lang="en-US" dirty="0"/>
              <a:t>Using lists for lookups instead of sets</a:t>
            </a:r>
          </a:p>
          <a:p>
            <a:r>
              <a:rPr lang="en-US" dirty="0"/>
              <a:t>Mutating collections while iterating</a:t>
            </a:r>
          </a:p>
          <a:p>
            <a:r>
              <a:rPr lang="en-US" dirty="0"/>
              <a:t>Overusing nested structures</a:t>
            </a:r>
          </a:p>
          <a:p>
            <a:endParaRPr lang="en-SG" dirty="0"/>
          </a:p>
        </p:txBody>
      </p:sp>
    </p:spTree>
    <p:extLst>
      <p:ext uri="{BB962C8B-B14F-4D97-AF65-F5344CB8AC3E}">
        <p14:creationId xmlns:p14="http://schemas.microsoft.com/office/powerpoint/2010/main" val="33518779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47AFE-EA67-2B9A-818B-AE11FF57BE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65E65B-F98F-A197-7238-3BDE2CDD4DFA}"/>
              </a:ext>
            </a:extLst>
          </p:cNvPr>
          <p:cNvSpPr>
            <a:spLocks noGrp="1"/>
          </p:cNvSpPr>
          <p:nvPr>
            <p:ph type="title"/>
          </p:nvPr>
        </p:nvSpPr>
        <p:spPr/>
        <p:txBody>
          <a:bodyPr/>
          <a:lstStyle/>
          <a:p>
            <a:r>
              <a:rPr lang="en-US" dirty="0"/>
              <a:t>Common Pitfalls</a:t>
            </a:r>
            <a:endParaRPr lang="en-SG" dirty="0"/>
          </a:p>
        </p:txBody>
      </p:sp>
      <p:sp>
        <p:nvSpPr>
          <p:cNvPr id="3" name="Content Placeholder 2">
            <a:extLst>
              <a:ext uri="{FF2B5EF4-FFF2-40B4-BE49-F238E27FC236}">
                <a16:creationId xmlns:a16="http://schemas.microsoft.com/office/drawing/2014/main" id="{CFACBCC2-CC7E-9FF6-96FF-1E26D498DA8F}"/>
              </a:ext>
            </a:extLst>
          </p:cNvPr>
          <p:cNvSpPr>
            <a:spLocks noGrp="1"/>
          </p:cNvSpPr>
          <p:nvPr>
            <p:ph idx="1"/>
          </p:nvPr>
        </p:nvSpPr>
        <p:spPr>
          <a:xfrm>
            <a:off x="419099" y="1828800"/>
            <a:ext cx="5537200" cy="35687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sz="3600" dirty="0"/>
              <a:t># </a:t>
            </a:r>
            <a:r>
              <a:rPr lang="en-SG" sz="3600" dirty="0"/>
              <a:t>Using list for lookup</a:t>
            </a:r>
          </a:p>
          <a:p>
            <a:pPr marL="0" indent="0">
              <a:buNone/>
            </a:pPr>
            <a:endParaRPr lang="en-US" sz="3600" dirty="0"/>
          </a:p>
          <a:p>
            <a:pPr marL="0" indent="0">
              <a:buNone/>
            </a:pPr>
            <a:r>
              <a:rPr lang="en-US" sz="3600" dirty="0"/>
              <a:t>roles = ["admin", "editor"]</a:t>
            </a:r>
          </a:p>
          <a:p>
            <a:pPr marL="0" indent="0">
              <a:buNone/>
            </a:pPr>
            <a:endParaRPr lang="en-US" sz="3600" dirty="0"/>
          </a:p>
          <a:p>
            <a:pPr marL="0" indent="0">
              <a:buNone/>
            </a:pPr>
            <a:r>
              <a:rPr lang="en-US" sz="3600" dirty="0"/>
              <a:t>if "admin" in roles:   # slower as list grows</a:t>
            </a:r>
          </a:p>
          <a:p>
            <a:pPr marL="0" indent="0">
              <a:buNone/>
            </a:pPr>
            <a:r>
              <a:rPr lang="en-US" sz="3600" dirty="0"/>
              <a:t>    ...</a:t>
            </a:r>
          </a:p>
        </p:txBody>
      </p:sp>
      <p:sp>
        <p:nvSpPr>
          <p:cNvPr id="4" name="Content Placeholder 2">
            <a:extLst>
              <a:ext uri="{FF2B5EF4-FFF2-40B4-BE49-F238E27FC236}">
                <a16:creationId xmlns:a16="http://schemas.microsoft.com/office/drawing/2014/main" id="{867C7B81-1DE3-F314-BD2F-F9C32DFB3BE0}"/>
              </a:ext>
            </a:extLst>
          </p:cNvPr>
          <p:cNvSpPr txBox="1">
            <a:spLocks/>
          </p:cNvSpPr>
          <p:nvPr/>
        </p:nvSpPr>
        <p:spPr>
          <a:xfrm>
            <a:off x="6232526" y="1854200"/>
            <a:ext cx="5537200" cy="35687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Use set instead</a:t>
            </a:r>
          </a:p>
          <a:p>
            <a:pPr marL="0" indent="0">
              <a:buNone/>
            </a:pPr>
            <a:endParaRPr lang="en-US" sz="3600" dirty="0"/>
          </a:p>
          <a:p>
            <a:pPr marL="0" indent="0">
              <a:buNone/>
            </a:pPr>
            <a:r>
              <a:rPr lang="en-US" sz="3600" dirty="0"/>
              <a:t>roles = {"admin", "editor"}</a:t>
            </a:r>
          </a:p>
          <a:p>
            <a:pPr marL="0" indent="0">
              <a:buNone/>
            </a:pPr>
            <a:endParaRPr lang="en-US" sz="3600" dirty="0"/>
          </a:p>
          <a:p>
            <a:pPr marL="0" indent="0">
              <a:buNone/>
            </a:pPr>
            <a:r>
              <a:rPr lang="en-US" sz="3600" dirty="0"/>
              <a:t>if "admin" in roles:</a:t>
            </a:r>
          </a:p>
          <a:p>
            <a:pPr marL="0" indent="0">
              <a:buNone/>
            </a:pPr>
            <a:r>
              <a:rPr lang="en-US" sz="3600" dirty="0"/>
              <a:t>    ...</a:t>
            </a:r>
          </a:p>
        </p:txBody>
      </p:sp>
    </p:spTree>
    <p:extLst>
      <p:ext uri="{BB962C8B-B14F-4D97-AF65-F5344CB8AC3E}">
        <p14:creationId xmlns:p14="http://schemas.microsoft.com/office/powerpoint/2010/main" val="241672118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4C6ED-5D60-1A6D-4005-1132C4CA8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7DBA6B-9CE4-282D-5610-C746AB833F9C}"/>
              </a:ext>
            </a:extLst>
          </p:cNvPr>
          <p:cNvSpPr>
            <a:spLocks noGrp="1"/>
          </p:cNvSpPr>
          <p:nvPr>
            <p:ph type="title"/>
          </p:nvPr>
        </p:nvSpPr>
        <p:spPr/>
        <p:txBody>
          <a:bodyPr/>
          <a:lstStyle/>
          <a:p>
            <a:r>
              <a:rPr lang="en-US" dirty="0"/>
              <a:t>Mutation Pitfalls</a:t>
            </a:r>
            <a:endParaRPr lang="en-SG" dirty="0"/>
          </a:p>
        </p:txBody>
      </p:sp>
      <p:sp>
        <p:nvSpPr>
          <p:cNvPr id="3" name="Content Placeholder 2">
            <a:extLst>
              <a:ext uri="{FF2B5EF4-FFF2-40B4-BE49-F238E27FC236}">
                <a16:creationId xmlns:a16="http://schemas.microsoft.com/office/drawing/2014/main" id="{E8CB110D-E0CF-3B0F-3A0A-0EF80E7FDED9}"/>
              </a:ext>
            </a:extLst>
          </p:cNvPr>
          <p:cNvSpPr>
            <a:spLocks noGrp="1"/>
          </p:cNvSpPr>
          <p:nvPr>
            <p:ph idx="1"/>
          </p:nvPr>
        </p:nvSpPr>
        <p:spPr>
          <a:xfrm>
            <a:off x="253999" y="1828800"/>
            <a:ext cx="5537200" cy="35687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3600" dirty="0"/>
              <a:t># </a:t>
            </a:r>
            <a:r>
              <a:rPr lang="en-SG" sz="3600" dirty="0"/>
              <a:t>Modifying while iterating</a:t>
            </a:r>
          </a:p>
          <a:p>
            <a:pPr marL="0" indent="0">
              <a:buNone/>
            </a:pPr>
            <a:endParaRPr lang="en-US" sz="3600" dirty="0"/>
          </a:p>
          <a:p>
            <a:pPr marL="0" indent="0">
              <a:buNone/>
            </a:pPr>
            <a:r>
              <a:rPr lang="en-US" sz="3600" dirty="0"/>
              <a:t>for item in items:</a:t>
            </a:r>
          </a:p>
          <a:p>
            <a:pPr marL="0" indent="0">
              <a:buNone/>
            </a:pPr>
            <a:r>
              <a:rPr lang="en-US" sz="3600" dirty="0"/>
              <a:t>    if item &lt; 0:</a:t>
            </a:r>
          </a:p>
          <a:p>
            <a:pPr marL="0" indent="0">
              <a:buNone/>
            </a:pPr>
            <a:r>
              <a:rPr lang="en-US" sz="3600" dirty="0"/>
              <a:t>        </a:t>
            </a:r>
            <a:r>
              <a:rPr lang="en-US" sz="3600" dirty="0" err="1"/>
              <a:t>items.remove</a:t>
            </a:r>
            <a:r>
              <a:rPr lang="en-US" sz="3600" dirty="0"/>
              <a:t>(item)</a:t>
            </a:r>
          </a:p>
        </p:txBody>
      </p:sp>
      <p:sp>
        <p:nvSpPr>
          <p:cNvPr id="4" name="Content Placeholder 2">
            <a:extLst>
              <a:ext uri="{FF2B5EF4-FFF2-40B4-BE49-F238E27FC236}">
                <a16:creationId xmlns:a16="http://schemas.microsoft.com/office/drawing/2014/main" id="{DCD07433-643D-88DB-3655-6CE23356C29C}"/>
              </a:ext>
            </a:extLst>
          </p:cNvPr>
          <p:cNvSpPr txBox="1">
            <a:spLocks/>
          </p:cNvSpPr>
          <p:nvPr/>
        </p:nvSpPr>
        <p:spPr>
          <a:xfrm>
            <a:off x="6016625" y="1854200"/>
            <a:ext cx="5956299" cy="35687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a:t>
            </a:r>
            <a:r>
              <a:rPr lang="en-SG" sz="3600" dirty="0"/>
              <a:t>Correct approach</a:t>
            </a:r>
          </a:p>
          <a:p>
            <a:pPr marL="0" indent="0">
              <a:buNone/>
            </a:pPr>
            <a:endParaRPr lang="en-US" sz="3600" dirty="0"/>
          </a:p>
          <a:p>
            <a:pPr marL="0" indent="0">
              <a:buNone/>
            </a:pPr>
            <a:r>
              <a:rPr lang="en-US" sz="3600" dirty="0"/>
              <a:t>items = [</a:t>
            </a:r>
            <a:r>
              <a:rPr lang="en-US" sz="3600" dirty="0" err="1"/>
              <a:t>i</a:t>
            </a:r>
            <a:r>
              <a:rPr lang="en-US" sz="3600" dirty="0"/>
              <a:t> for </a:t>
            </a:r>
            <a:r>
              <a:rPr lang="en-US" sz="3600" dirty="0" err="1"/>
              <a:t>i</a:t>
            </a:r>
            <a:r>
              <a:rPr lang="en-US" sz="3600" dirty="0"/>
              <a:t> in items if </a:t>
            </a:r>
            <a:r>
              <a:rPr lang="en-US" sz="3600" dirty="0" err="1"/>
              <a:t>i</a:t>
            </a:r>
            <a:r>
              <a:rPr lang="en-US" sz="3600" dirty="0"/>
              <a:t> &gt;= 0]</a:t>
            </a:r>
          </a:p>
        </p:txBody>
      </p:sp>
    </p:spTree>
    <p:extLst>
      <p:ext uri="{BB962C8B-B14F-4D97-AF65-F5344CB8AC3E}">
        <p14:creationId xmlns:p14="http://schemas.microsoft.com/office/powerpoint/2010/main" val="217617764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62FBC-1BEA-9DD5-A1CB-9A5A57B62E86}"/>
              </a:ext>
            </a:extLst>
          </p:cNvPr>
          <p:cNvSpPr>
            <a:spLocks noGrp="1"/>
          </p:cNvSpPr>
          <p:nvPr>
            <p:ph type="title"/>
          </p:nvPr>
        </p:nvSpPr>
        <p:spPr>
          <a:xfrm>
            <a:off x="457200" y="261938"/>
            <a:ext cx="8229600" cy="1143000"/>
          </a:xfrm>
        </p:spPr>
        <p:txBody>
          <a:bodyPr>
            <a:normAutofit/>
          </a:bodyPr>
          <a:lstStyle/>
          <a:p>
            <a:r>
              <a:rPr lang="en-US" dirty="0"/>
              <a:t>Best Practices</a:t>
            </a:r>
            <a:endParaRPr lang="en-SG" dirty="0"/>
          </a:p>
        </p:txBody>
      </p:sp>
      <p:sp>
        <p:nvSpPr>
          <p:cNvPr id="3" name="Content Placeholder 2">
            <a:extLst>
              <a:ext uri="{FF2B5EF4-FFF2-40B4-BE49-F238E27FC236}">
                <a16:creationId xmlns:a16="http://schemas.microsoft.com/office/drawing/2014/main" id="{DA9C2427-3B5D-B86B-AA9E-37F469C97836}"/>
              </a:ext>
            </a:extLst>
          </p:cNvPr>
          <p:cNvSpPr>
            <a:spLocks noGrp="1"/>
          </p:cNvSpPr>
          <p:nvPr>
            <p:ph idx="1"/>
          </p:nvPr>
        </p:nvSpPr>
        <p:spPr>
          <a:xfrm>
            <a:off x="800100" y="1841501"/>
            <a:ext cx="6502400" cy="2451100"/>
          </a:xfrm>
        </p:spPr>
        <p:style>
          <a:lnRef idx="2">
            <a:schemeClr val="dk1"/>
          </a:lnRef>
          <a:fillRef idx="1">
            <a:schemeClr val="lt1"/>
          </a:fillRef>
          <a:effectRef idx="0">
            <a:schemeClr val="dk1"/>
          </a:effectRef>
          <a:fontRef idx="minor">
            <a:schemeClr val="dk1"/>
          </a:fontRef>
        </p:style>
        <p:txBody>
          <a:bodyPr/>
          <a:lstStyle/>
          <a:p>
            <a:r>
              <a:rPr lang="en-US" dirty="0"/>
              <a:t>Choose collections by </a:t>
            </a:r>
            <a:r>
              <a:rPr lang="en-US" b="1" dirty="0"/>
              <a:t>intent</a:t>
            </a:r>
            <a:endParaRPr lang="en-US" dirty="0"/>
          </a:p>
          <a:p>
            <a:r>
              <a:rPr lang="en-US" dirty="0"/>
              <a:t>Prefer immutability where possible</a:t>
            </a:r>
          </a:p>
          <a:p>
            <a:r>
              <a:rPr lang="en-US" dirty="0"/>
              <a:t>Keep structures shallow</a:t>
            </a:r>
          </a:p>
          <a:p>
            <a:r>
              <a:rPr lang="en-US" dirty="0"/>
              <a:t>Name collections clearly</a:t>
            </a:r>
          </a:p>
          <a:p>
            <a:endParaRPr lang="en-SG" dirty="0"/>
          </a:p>
        </p:txBody>
      </p:sp>
      <p:sp>
        <p:nvSpPr>
          <p:cNvPr id="4" name="TextBox 3">
            <a:extLst>
              <a:ext uri="{FF2B5EF4-FFF2-40B4-BE49-F238E27FC236}">
                <a16:creationId xmlns:a16="http://schemas.microsoft.com/office/drawing/2014/main" id="{8CA0090D-6E8D-8062-3009-698B2B2D6CCD}"/>
              </a:ext>
            </a:extLst>
          </p:cNvPr>
          <p:cNvSpPr txBox="1"/>
          <p:nvPr/>
        </p:nvSpPr>
        <p:spPr>
          <a:xfrm>
            <a:off x="7769225" y="1789778"/>
            <a:ext cx="3619500" cy="255454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 list → sequence</a:t>
            </a:r>
          </a:p>
          <a:p>
            <a:r>
              <a:rPr lang="en-US" sz="3200" dirty="0"/>
              <a:t># tuple → structure</a:t>
            </a:r>
          </a:p>
          <a:p>
            <a:r>
              <a:rPr lang="en-US" sz="3200" dirty="0"/>
              <a:t># </a:t>
            </a:r>
            <a:r>
              <a:rPr lang="en-US" sz="3200" dirty="0" err="1"/>
              <a:t>dict</a:t>
            </a:r>
            <a:r>
              <a:rPr lang="en-US" sz="3200" dirty="0"/>
              <a:t> → identity</a:t>
            </a:r>
          </a:p>
          <a:p>
            <a:r>
              <a:rPr lang="en-US" sz="3200" dirty="0"/>
              <a:t># set → membership</a:t>
            </a:r>
          </a:p>
          <a:p>
            <a:endParaRPr lang="en-SG" sz="3200" dirty="0"/>
          </a:p>
        </p:txBody>
      </p:sp>
    </p:spTree>
    <p:extLst>
      <p:ext uri="{BB962C8B-B14F-4D97-AF65-F5344CB8AC3E}">
        <p14:creationId xmlns:p14="http://schemas.microsoft.com/office/powerpoint/2010/main" val="266552302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AF8D1-05AF-BAEE-5F1C-7BCDA78A2265}"/>
              </a:ext>
            </a:extLst>
          </p:cNvPr>
          <p:cNvSpPr>
            <a:spLocks noGrp="1"/>
          </p:cNvSpPr>
          <p:nvPr>
            <p:ph type="title"/>
          </p:nvPr>
        </p:nvSpPr>
        <p:spPr/>
        <p:txBody>
          <a:bodyPr/>
          <a:lstStyle/>
          <a:p>
            <a:r>
              <a:rPr lang="en-SG" dirty="0"/>
              <a:t>Collections Summary</a:t>
            </a:r>
          </a:p>
        </p:txBody>
      </p:sp>
      <p:sp>
        <p:nvSpPr>
          <p:cNvPr id="3" name="Content Placeholder 2">
            <a:extLst>
              <a:ext uri="{FF2B5EF4-FFF2-40B4-BE49-F238E27FC236}">
                <a16:creationId xmlns:a16="http://schemas.microsoft.com/office/drawing/2014/main" id="{43C3F950-40C0-10B2-D0E5-E26BCB73F1F3}"/>
              </a:ext>
            </a:extLst>
          </p:cNvPr>
          <p:cNvSpPr>
            <a:spLocks noGrp="1"/>
          </p:cNvSpPr>
          <p:nvPr>
            <p:ph idx="1"/>
          </p:nvPr>
        </p:nvSpPr>
        <p:spPr/>
        <p:txBody>
          <a:bodyPr/>
          <a:lstStyle/>
          <a:p>
            <a:pPr marL="0" indent="0">
              <a:buNone/>
            </a:pPr>
            <a:r>
              <a:rPr lang="en-US" dirty="0" err="1"/>
              <a:t>data_shapes</a:t>
            </a:r>
            <a:r>
              <a:rPr lang="en-US" dirty="0"/>
              <a:t> = {</a:t>
            </a:r>
          </a:p>
          <a:p>
            <a:pPr marL="0" indent="0">
              <a:buNone/>
            </a:pPr>
            <a:r>
              <a:rPr lang="en-US" dirty="0"/>
              <a:t>    "sequence": list,</a:t>
            </a:r>
          </a:p>
          <a:p>
            <a:pPr marL="0" indent="0">
              <a:buNone/>
            </a:pPr>
            <a:r>
              <a:rPr lang="en-US" dirty="0"/>
              <a:t>    "structure": tuple,</a:t>
            </a:r>
          </a:p>
          <a:p>
            <a:pPr marL="0" indent="0">
              <a:buNone/>
            </a:pPr>
            <a:r>
              <a:rPr lang="en-US" dirty="0"/>
              <a:t>    "lookup": </a:t>
            </a:r>
            <a:r>
              <a:rPr lang="en-US" dirty="0" err="1"/>
              <a:t>dict</a:t>
            </a:r>
            <a:r>
              <a:rPr lang="en-US" dirty="0"/>
              <a:t>,</a:t>
            </a:r>
          </a:p>
          <a:p>
            <a:pPr marL="0" indent="0">
              <a:buNone/>
            </a:pPr>
            <a:r>
              <a:rPr lang="en-US" dirty="0"/>
              <a:t>    "membership": set,</a:t>
            </a:r>
          </a:p>
          <a:p>
            <a:pPr marL="0" indent="0">
              <a:buNone/>
            </a:pPr>
            <a:r>
              <a:rPr lang="en-US" dirty="0"/>
              <a:t>}</a:t>
            </a:r>
          </a:p>
          <a:p>
            <a:pPr marL="0" indent="0">
              <a:buNone/>
            </a:pPr>
            <a:endParaRPr lang="en-SG" dirty="0"/>
          </a:p>
        </p:txBody>
      </p:sp>
    </p:spTree>
    <p:extLst>
      <p:ext uri="{BB962C8B-B14F-4D97-AF65-F5344CB8AC3E}">
        <p14:creationId xmlns:p14="http://schemas.microsoft.com/office/powerpoint/2010/main" val="63720632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F7321-35F5-87DA-19FA-BE10988B0BF1}"/>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29A65307-9B58-C763-0644-BAD2443CF923}"/>
              </a:ext>
            </a:extLst>
          </p:cNvPr>
          <p:cNvSpPr>
            <a:spLocks noGrp="1"/>
          </p:cNvSpPr>
          <p:nvPr>
            <p:ph idx="1"/>
          </p:nvPr>
        </p:nvSpPr>
        <p:spPr>
          <a:xfrm>
            <a:off x="457200" y="1600200"/>
            <a:ext cx="10998200" cy="4525963"/>
          </a:xfrm>
        </p:spPr>
        <p:txBody>
          <a:bodyPr/>
          <a:lstStyle/>
          <a:p>
            <a:r>
              <a:rPr lang="en-US" dirty="0"/>
              <a:t>Collections shape your logic</a:t>
            </a:r>
          </a:p>
          <a:p>
            <a:r>
              <a:rPr lang="en-US" dirty="0"/>
              <a:t>Correct choice reduces complexity</a:t>
            </a:r>
          </a:p>
          <a:p>
            <a:r>
              <a:rPr lang="en-US" dirty="0"/>
              <a:t>list, tuple, </a:t>
            </a:r>
            <a:r>
              <a:rPr lang="en-US" dirty="0" err="1"/>
              <a:t>dict</a:t>
            </a:r>
            <a:r>
              <a:rPr lang="en-US" dirty="0"/>
              <a:t>, set each exist for a reason</a:t>
            </a:r>
          </a:p>
          <a:p>
            <a:endParaRPr lang="en-US" b="1" dirty="0"/>
          </a:p>
          <a:p>
            <a:pPr marL="0" indent="0">
              <a:buNone/>
            </a:pPr>
            <a:r>
              <a:rPr lang="en-US" b="1" dirty="0"/>
              <a:t>Final mental model: </a:t>
            </a:r>
            <a:r>
              <a:rPr lang="en-US" i="1" dirty="0"/>
              <a:t>Data structure choice is a design decision.</a:t>
            </a:r>
            <a:endParaRPr lang="en-US" dirty="0"/>
          </a:p>
          <a:p>
            <a:endParaRPr lang="en-SG" dirty="0"/>
          </a:p>
        </p:txBody>
      </p:sp>
    </p:spTree>
    <p:extLst>
      <p:ext uri="{BB962C8B-B14F-4D97-AF65-F5344CB8AC3E}">
        <p14:creationId xmlns:p14="http://schemas.microsoft.com/office/powerpoint/2010/main" val="350416117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036CB-8BE3-12EB-C985-2F20890FCAC7}"/>
              </a:ext>
            </a:extLst>
          </p:cNvPr>
          <p:cNvSpPr>
            <a:spLocks noGrp="1"/>
          </p:cNvSpPr>
          <p:nvPr>
            <p:ph type="title"/>
          </p:nvPr>
        </p:nvSpPr>
        <p:spPr/>
        <p:txBody>
          <a:bodyPr>
            <a:normAutofit/>
          </a:bodyPr>
          <a:lstStyle/>
          <a:p>
            <a:r>
              <a:rPr lang="en-US" dirty="0"/>
              <a:t>What are Comprehensions?</a:t>
            </a:r>
            <a:endParaRPr lang="en-SG" dirty="0"/>
          </a:p>
        </p:txBody>
      </p:sp>
      <p:sp>
        <p:nvSpPr>
          <p:cNvPr id="3" name="Content Placeholder 2">
            <a:extLst>
              <a:ext uri="{FF2B5EF4-FFF2-40B4-BE49-F238E27FC236}">
                <a16:creationId xmlns:a16="http://schemas.microsoft.com/office/drawing/2014/main" id="{E359DAD3-AE35-89D9-3C41-10D1DCC30C12}"/>
              </a:ext>
            </a:extLst>
          </p:cNvPr>
          <p:cNvSpPr>
            <a:spLocks noGrp="1"/>
          </p:cNvSpPr>
          <p:nvPr>
            <p:ph idx="1"/>
          </p:nvPr>
        </p:nvSpPr>
        <p:spPr>
          <a:xfrm>
            <a:off x="114300" y="3200399"/>
            <a:ext cx="3835400" cy="2819401"/>
          </a:xfrm>
        </p:spPr>
        <p:txBody>
          <a:bodyPr>
            <a:normAutofit/>
          </a:bodyPr>
          <a:lstStyle/>
          <a:p>
            <a:r>
              <a:rPr lang="en-US" dirty="0"/>
              <a:t>Less code</a:t>
            </a:r>
          </a:p>
          <a:p>
            <a:r>
              <a:rPr lang="en-US" dirty="0"/>
              <a:t>More readable</a:t>
            </a:r>
          </a:p>
          <a:p>
            <a:r>
              <a:rPr lang="en-US" dirty="0"/>
              <a:t>Can include conditions and transformations</a:t>
            </a:r>
          </a:p>
          <a:p>
            <a:pPr marL="0" indent="0">
              <a:buNone/>
            </a:pPr>
            <a:endParaRPr lang="en-SG" dirty="0"/>
          </a:p>
        </p:txBody>
      </p:sp>
      <p:sp>
        <p:nvSpPr>
          <p:cNvPr id="4" name="Content Placeholder 2">
            <a:extLst>
              <a:ext uri="{FF2B5EF4-FFF2-40B4-BE49-F238E27FC236}">
                <a16:creationId xmlns:a16="http://schemas.microsoft.com/office/drawing/2014/main" id="{DC2089A0-AF4E-475D-1C55-7D9D64EE75C3}"/>
              </a:ext>
            </a:extLst>
          </p:cNvPr>
          <p:cNvSpPr txBox="1">
            <a:spLocks/>
          </p:cNvSpPr>
          <p:nvPr/>
        </p:nvSpPr>
        <p:spPr>
          <a:xfrm>
            <a:off x="4216400" y="3200399"/>
            <a:ext cx="7756525" cy="281940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Syntax Overview:</a:t>
            </a:r>
            <a:endParaRPr lang="en-US" dirty="0"/>
          </a:p>
          <a:p>
            <a:pPr marL="457200" lvl="1" indent="0">
              <a:buNone/>
            </a:pPr>
            <a:r>
              <a:rPr lang="en-US" dirty="0"/>
              <a:t>[expression for item in </a:t>
            </a:r>
            <a:r>
              <a:rPr lang="en-US" dirty="0" err="1"/>
              <a:t>iterable</a:t>
            </a:r>
            <a:r>
              <a:rPr lang="en-US" dirty="0"/>
              <a:t> if condition] (list)</a:t>
            </a:r>
          </a:p>
          <a:p>
            <a:pPr marL="457200" lvl="1" indent="0">
              <a:buNone/>
            </a:pPr>
            <a:r>
              <a:rPr lang="en-US" dirty="0"/>
              <a:t>{key: value for item in </a:t>
            </a:r>
            <a:r>
              <a:rPr lang="en-US" dirty="0" err="1"/>
              <a:t>iterable</a:t>
            </a:r>
            <a:r>
              <a:rPr lang="en-US" dirty="0"/>
              <a:t> if condition} (</a:t>
            </a:r>
            <a:r>
              <a:rPr lang="en-US" dirty="0" err="1"/>
              <a:t>dict</a:t>
            </a:r>
            <a:r>
              <a:rPr lang="en-US" dirty="0"/>
              <a:t>)</a:t>
            </a:r>
          </a:p>
          <a:p>
            <a:pPr marL="457200" lvl="1" indent="0">
              <a:buNone/>
            </a:pPr>
            <a:r>
              <a:rPr lang="en-US" dirty="0"/>
              <a:t>tuple(expression for item in </a:t>
            </a:r>
            <a:r>
              <a:rPr lang="en-US" dirty="0" err="1"/>
              <a:t>iterable</a:t>
            </a:r>
            <a:r>
              <a:rPr lang="en-US" dirty="0"/>
              <a:t> if condition) (tuple)</a:t>
            </a:r>
          </a:p>
          <a:p>
            <a:pPr marL="0" indent="0">
              <a:buNone/>
            </a:pPr>
            <a:endParaRPr lang="en-SG" dirty="0"/>
          </a:p>
        </p:txBody>
      </p:sp>
      <p:sp>
        <p:nvSpPr>
          <p:cNvPr id="5" name="TextBox 4">
            <a:extLst>
              <a:ext uri="{FF2B5EF4-FFF2-40B4-BE49-F238E27FC236}">
                <a16:creationId xmlns:a16="http://schemas.microsoft.com/office/drawing/2014/main" id="{106E7654-05A0-96D8-6A1E-8CDCFDE8FC6A}"/>
              </a:ext>
            </a:extLst>
          </p:cNvPr>
          <p:cNvSpPr txBox="1"/>
          <p:nvPr/>
        </p:nvSpPr>
        <p:spPr>
          <a:xfrm>
            <a:off x="330200" y="1625977"/>
            <a:ext cx="11401425" cy="1569660"/>
          </a:xfrm>
          <a:prstGeom prst="rect">
            <a:avLst/>
          </a:prstGeom>
          <a:noFill/>
        </p:spPr>
        <p:txBody>
          <a:bodyPr wrap="square" rtlCol="0">
            <a:spAutoFit/>
          </a:bodyPr>
          <a:lstStyle/>
          <a:p>
            <a:r>
              <a:rPr lang="en-US" sz="3200" b="1" dirty="0"/>
              <a:t>Definition:</a:t>
            </a:r>
            <a:r>
              <a:rPr lang="en-US" sz="3200" dirty="0"/>
              <a:t> Concise way to create collections (list, tuple, </a:t>
            </a:r>
            <a:r>
              <a:rPr lang="en-US" sz="3200" dirty="0" err="1"/>
              <a:t>dict</a:t>
            </a:r>
            <a:r>
              <a:rPr lang="en-US" sz="3200" dirty="0"/>
              <a:t>) in a single line.</a:t>
            </a:r>
          </a:p>
          <a:p>
            <a:endParaRPr lang="en-SG" sz="3200" dirty="0"/>
          </a:p>
        </p:txBody>
      </p:sp>
    </p:spTree>
    <p:extLst>
      <p:ext uri="{BB962C8B-B14F-4D97-AF65-F5344CB8AC3E}">
        <p14:creationId xmlns:p14="http://schemas.microsoft.com/office/powerpoint/2010/main" val="27160307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0AE1-E6FD-A764-C059-CCBB8F78C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1C19EE-552E-08D9-BCDF-B16639886ED3}"/>
              </a:ext>
            </a:extLst>
          </p:cNvPr>
          <p:cNvSpPr>
            <a:spLocks noGrp="1"/>
          </p:cNvSpPr>
          <p:nvPr>
            <p:ph type="title"/>
          </p:nvPr>
        </p:nvSpPr>
        <p:spPr/>
        <p:txBody>
          <a:bodyPr>
            <a:normAutofit/>
          </a:bodyPr>
          <a:lstStyle/>
          <a:p>
            <a:r>
              <a:rPr lang="en-US" dirty="0"/>
              <a:t>list Comprehension Basics</a:t>
            </a:r>
          </a:p>
        </p:txBody>
      </p:sp>
      <p:sp>
        <p:nvSpPr>
          <p:cNvPr id="3" name="Content Placeholder 2">
            <a:extLst>
              <a:ext uri="{FF2B5EF4-FFF2-40B4-BE49-F238E27FC236}">
                <a16:creationId xmlns:a16="http://schemas.microsoft.com/office/drawing/2014/main" id="{D823968B-1571-0B4F-27FF-5EA7EA82B2F2}"/>
              </a:ext>
            </a:extLst>
          </p:cNvPr>
          <p:cNvSpPr>
            <a:spLocks noGrp="1"/>
          </p:cNvSpPr>
          <p:nvPr>
            <p:ph idx="1"/>
          </p:nvPr>
        </p:nvSpPr>
        <p:spPr>
          <a:xfrm>
            <a:off x="114300" y="3378200"/>
            <a:ext cx="5461000" cy="156966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[expression for item in </a:t>
            </a:r>
            <a:r>
              <a:rPr lang="en-US" dirty="0" err="1"/>
              <a:t>iterable</a:t>
            </a:r>
            <a:r>
              <a:rPr lang="en-US" dirty="0"/>
              <a:t>]</a:t>
            </a:r>
          </a:p>
        </p:txBody>
      </p:sp>
      <p:sp>
        <p:nvSpPr>
          <p:cNvPr id="4" name="Content Placeholder 2">
            <a:extLst>
              <a:ext uri="{FF2B5EF4-FFF2-40B4-BE49-F238E27FC236}">
                <a16:creationId xmlns:a16="http://schemas.microsoft.com/office/drawing/2014/main" id="{0B9220EC-7A11-EEAB-2940-2DBEE6A0B0D6}"/>
              </a:ext>
            </a:extLst>
          </p:cNvPr>
          <p:cNvSpPr txBox="1">
            <a:spLocks/>
          </p:cNvSpPr>
          <p:nvPr/>
        </p:nvSpPr>
        <p:spPr>
          <a:xfrm>
            <a:off x="5791200" y="3378200"/>
            <a:ext cx="6270625" cy="156966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squares = [x**2 for x in range(1, 6)]</a:t>
            </a:r>
          </a:p>
          <a:p>
            <a:pPr marL="0" indent="0">
              <a:buNone/>
            </a:pPr>
            <a:r>
              <a:rPr lang="en-US" dirty="0"/>
              <a:t>print(squares)  # [1, 4, 9, 16, 25]</a:t>
            </a:r>
          </a:p>
        </p:txBody>
      </p:sp>
      <p:sp>
        <p:nvSpPr>
          <p:cNvPr id="5" name="TextBox 4">
            <a:extLst>
              <a:ext uri="{FF2B5EF4-FFF2-40B4-BE49-F238E27FC236}">
                <a16:creationId xmlns:a16="http://schemas.microsoft.com/office/drawing/2014/main" id="{1FA9908B-7233-AEA1-A74D-192437BB61AE}"/>
              </a:ext>
            </a:extLst>
          </p:cNvPr>
          <p:cNvSpPr txBox="1"/>
          <p:nvPr/>
        </p:nvSpPr>
        <p:spPr>
          <a:xfrm>
            <a:off x="114300" y="5288340"/>
            <a:ext cx="11947525" cy="107721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marL="457200" indent="-457200">
              <a:buFont typeface="Arial" panose="020B0604020202020204" pitchFamily="34" charset="0"/>
              <a:buChar char="•"/>
            </a:pPr>
            <a:r>
              <a:rPr lang="en-US" sz="3200" dirty="0"/>
              <a:t>Expression can transform item</a:t>
            </a:r>
          </a:p>
          <a:p>
            <a:pPr marL="457200" indent="-457200">
              <a:buFont typeface="Arial" panose="020B0604020202020204" pitchFamily="34" charset="0"/>
              <a:buChar char="•"/>
            </a:pPr>
            <a:r>
              <a:rPr lang="en-US" sz="3200" dirty="0" err="1"/>
              <a:t>Iterable</a:t>
            </a:r>
            <a:r>
              <a:rPr lang="en-US" sz="3200" dirty="0"/>
              <a:t> can be any sequence</a:t>
            </a:r>
          </a:p>
        </p:txBody>
      </p:sp>
      <p:sp>
        <p:nvSpPr>
          <p:cNvPr id="6" name="TextBox 5">
            <a:extLst>
              <a:ext uri="{FF2B5EF4-FFF2-40B4-BE49-F238E27FC236}">
                <a16:creationId xmlns:a16="http://schemas.microsoft.com/office/drawing/2014/main" id="{63C655E1-28B7-7CFA-0FE5-52188F068850}"/>
              </a:ext>
            </a:extLst>
          </p:cNvPr>
          <p:cNvSpPr txBox="1"/>
          <p:nvPr/>
        </p:nvSpPr>
        <p:spPr>
          <a:xfrm>
            <a:off x="114300" y="1498977"/>
            <a:ext cx="11947525"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Definition:</a:t>
            </a:r>
            <a:r>
              <a:rPr lang="en-US" sz="3200" dirty="0"/>
              <a:t> Concise way to create collections (list, tuple, </a:t>
            </a:r>
            <a:r>
              <a:rPr lang="en-US" sz="3200" dirty="0" err="1"/>
              <a:t>dict</a:t>
            </a:r>
            <a:r>
              <a:rPr lang="en-US" sz="3200" dirty="0"/>
              <a:t>) in a single line.</a:t>
            </a:r>
          </a:p>
          <a:p>
            <a:endParaRPr lang="en-SG" sz="3200" dirty="0"/>
          </a:p>
        </p:txBody>
      </p:sp>
    </p:spTree>
    <p:extLst>
      <p:ext uri="{BB962C8B-B14F-4D97-AF65-F5344CB8AC3E}">
        <p14:creationId xmlns:p14="http://schemas.microsoft.com/office/powerpoint/2010/main" val="19207843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33B65-F099-1BA1-DDEE-E95615D9DC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9CB63B-5B21-D097-28EA-620F024E5F09}"/>
              </a:ext>
            </a:extLst>
          </p:cNvPr>
          <p:cNvSpPr>
            <a:spLocks noGrp="1"/>
          </p:cNvSpPr>
          <p:nvPr>
            <p:ph type="title"/>
          </p:nvPr>
        </p:nvSpPr>
        <p:spPr/>
        <p:txBody>
          <a:bodyPr>
            <a:normAutofit/>
          </a:bodyPr>
          <a:lstStyle/>
          <a:p>
            <a:r>
              <a:rPr lang="en-US" dirty="0"/>
              <a:t>list Comprehension with Condition</a:t>
            </a:r>
          </a:p>
        </p:txBody>
      </p:sp>
      <p:sp>
        <p:nvSpPr>
          <p:cNvPr id="3" name="Content Placeholder 2">
            <a:extLst>
              <a:ext uri="{FF2B5EF4-FFF2-40B4-BE49-F238E27FC236}">
                <a16:creationId xmlns:a16="http://schemas.microsoft.com/office/drawing/2014/main" id="{FA87F000-7EBB-D9BF-55BE-DCB19BFF01B9}"/>
              </a:ext>
            </a:extLst>
          </p:cNvPr>
          <p:cNvSpPr>
            <a:spLocks noGrp="1"/>
          </p:cNvSpPr>
          <p:nvPr>
            <p:ph idx="1"/>
          </p:nvPr>
        </p:nvSpPr>
        <p:spPr>
          <a:xfrm>
            <a:off x="114299" y="3249614"/>
            <a:ext cx="11947525" cy="10795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[expression for item in </a:t>
            </a:r>
            <a:r>
              <a:rPr lang="en-US" dirty="0" err="1"/>
              <a:t>iterable</a:t>
            </a:r>
            <a:r>
              <a:rPr lang="en-US" dirty="0"/>
              <a:t> if condition]</a:t>
            </a:r>
          </a:p>
        </p:txBody>
      </p:sp>
      <p:sp>
        <p:nvSpPr>
          <p:cNvPr id="4" name="Content Placeholder 2">
            <a:extLst>
              <a:ext uri="{FF2B5EF4-FFF2-40B4-BE49-F238E27FC236}">
                <a16:creationId xmlns:a16="http://schemas.microsoft.com/office/drawing/2014/main" id="{972EFC31-B308-4E18-BFA1-491FFEB48D82}"/>
              </a:ext>
            </a:extLst>
          </p:cNvPr>
          <p:cNvSpPr txBox="1">
            <a:spLocks/>
          </p:cNvSpPr>
          <p:nvPr/>
        </p:nvSpPr>
        <p:spPr>
          <a:xfrm>
            <a:off x="114299" y="4510090"/>
            <a:ext cx="11947525" cy="207327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US" b="1" dirty="0"/>
              <a:t>Notes:</a:t>
            </a:r>
            <a:r>
              <a:rPr lang="en-US" dirty="0"/>
              <a:t> Only items satisfying the condition are included.</a:t>
            </a:r>
          </a:p>
          <a:p>
            <a:pPr marL="0" indent="0">
              <a:buNone/>
            </a:pPr>
            <a:endParaRPr lang="en-US" dirty="0"/>
          </a:p>
          <a:p>
            <a:pPr marL="0" indent="0">
              <a:buNone/>
            </a:pPr>
            <a:r>
              <a:rPr lang="en-US" dirty="0"/>
              <a:t>squares = [x**2 for x in range(1, 6)]</a:t>
            </a:r>
          </a:p>
          <a:p>
            <a:pPr marL="0" indent="0">
              <a:buNone/>
            </a:pPr>
            <a:r>
              <a:rPr lang="en-US" dirty="0"/>
              <a:t>print(squares)  # [1, 4, 9, 16, 25]</a:t>
            </a:r>
          </a:p>
        </p:txBody>
      </p:sp>
      <p:sp>
        <p:nvSpPr>
          <p:cNvPr id="6" name="TextBox 5">
            <a:extLst>
              <a:ext uri="{FF2B5EF4-FFF2-40B4-BE49-F238E27FC236}">
                <a16:creationId xmlns:a16="http://schemas.microsoft.com/office/drawing/2014/main" id="{3CAF99A1-CB13-9639-101E-D8BA5369A4D3}"/>
              </a:ext>
            </a:extLst>
          </p:cNvPr>
          <p:cNvSpPr txBox="1"/>
          <p:nvPr/>
        </p:nvSpPr>
        <p:spPr>
          <a:xfrm>
            <a:off x="114300" y="1498977"/>
            <a:ext cx="11947525"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Definition:</a:t>
            </a:r>
            <a:r>
              <a:rPr lang="en-US" sz="3200" dirty="0"/>
              <a:t> Concise way to create collections (list, tuple, </a:t>
            </a:r>
            <a:r>
              <a:rPr lang="en-US" sz="3200" dirty="0" err="1"/>
              <a:t>dict</a:t>
            </a:r>
            <a:r>
              <a:rPr lang="en-US" sz="3200" dirty="0"/>
              <a:t>) in a single line.</a:t>
            </a:r>
          </a:p>
          <a:p>
            <a:endParaRPr lang="en-SG" sz="3200" dirty="0"/>
          </a:p>
        </p:txBody>
      </p:sp>
    </p:spTree>
    <p:extLst>
      <p:ext uri="{BB962C8B-B14F-4D97-AF65-F5344CB8AC3E}">
        <p14:creationId xmlns:p14="http://schemas.microsoft.com/office/powerpoint/2010/main" val="283925504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2ACE7-E373-70E3-29BB-035B783C07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8A8126-4367-9A40-9C11-0C583EA4E288}"/>
              </a:ext>
            </a:extLst>
          </p:cNvPr>
          <p:cNvSpPr>
            <a:spLocks noGrp="1"/>
          </p:cNvSpPr>
          <p:nvPr>
            <p:ph type="title"/>
          </p:nvPr>
        </p:nvSpPr>
        <p:spPr/>
        <p:txBody>
          <a:bodyPr>
            <a:normAutofit/>
          </a:bodyPr>
          <a:lstStyle/>
          <a:p>
            <a:r>
              <a:rPr lang="en-US" dirty="0"/>
              <a:t>tuple Comprehension Basics</a:t>
            </a:r>
          </a:p>
        </p:txBody>
      </p:sp>
      <p:sp>
        <p:nvSpPr>
          <p:cNvPr id="3" name="Content Placeholder 2">
            <a:extLst>
              <a:ext uri="{FF2B5EF4-FFF2-40B4-BE49-F238E27FC236}">
                <a16:creationId xmlns:a16="http://schemas.microsoft.com/office/drawing/2014/main" id="{03031361-1BE1-6BDA-443B-C27CD467B9ED}"/>
              </a:ext>
            </a:extLst>
          </p:cNvPr>
          <p:cNvSpPr>
            <a:spLocks noGrp="1"/>
          </p:cNvSpPr>
          <p:nvPr>
            <p:ph idx="1"/>
          </p:nvPr>
        </p:nvSpPr>
        <p:spPr>
          <a:xfrm>
            <a:off x="114300" y="2784823"/>
            <a:ext cx="11947524" cy="1288354"/>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fr-FR" dirty="0"/>
              <a:t>t = tuple(x**2 for x in range(1, 6))</a:t>
            </a:r>
          </a:p>
          <a:p>
            <a:pPr marL="0" indent="0">
              <a:buNone/>
            </a:pPr>
            <a:r>
              <a:rPr lang="fr-FR" dirty="0" err="1"/>
              <a:t>print</a:t>
            </a:r>
            <a:r>
              <a:rPr lang="fr-FR" dirty="0"/>
              <a:t>(t)  # (1, 4, 9, 16, 25)</a:t>
            </a:r>
          </a:p>
        </p:txBody>
      </p:sp>
      <p:sp>
        <p:nvSpPr>
          <p:cNvPr id="4" name="Content Placeholder 2">
            <a:extLst>
              <a:ext uri="{FF2B5EF4-FFF2-40B4-BE49-F238E27FC236}">
                <a16:creationId xmlns:a16="http://schemas.microsoft.com/office/drawing/2014/main" id="{0769FC83-E6AF-F6FC-DA35-573A09CEA46C}"/>
              </a:ext>
            </a:extLst>
          </p:cNvPr>
          <p:cNvSpPr txBox="1">
            <a:spLocks/>
          </p:cNvSpPr>
          <p:nvPr/>
        </p:nvSpPr>
        <p:spPr>
          <a:xfrm>
            <a:off x="114300" y="4381500"/>
            <a:ext cx="11947524" cy="220186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with condition</a:t>
            </a:r>
          </a:p>
          <a:p>
            <a:pPr marL="0" indent="0">
              <a:buNone/>
            </a:pPr>
            <a:r>
              <a:rPr lang="en-US" dirty="0" err="1"/>
              <a:t>t_even</a:t>
            </a:r>
            <a:r>
              <a:rPr lang="en-US" dirty="0"/>
              <a:t> = tuple(x for x in range(1, 11) if x % 2 == 0)</a:t>
            </a:r>
          </a:p>
          <a:p>
            <a:pPr marL="0" indent="0">
              <a:buNone/>
            </a:pPr>
            <a:r>
              <a:rPr lang="en-US" dirty="0"/>
              <a:t>print(</a:t>
            </a:r>
            <a:r>
              <a:rPr lang="en-US" dirty="0" err="1"/>
              <a:t>t_even</a:t>
            </a:r>
            <a:r>
              <a:rPr lang="en-US" dirty="0"/>
              <a:t>)  # (2, 4, 6, 8, 10)</a:t>
            </a:r>
          </a:p>
        </p:txBody>
      </p:sp>
      <p:sp>
        <p:nvSpPr>
          <p:cNvPr id="6" name="TextBox 5">
            <a:extLst>
              <a:ext uri="{FF2B5EF4-FFF2-40B4-BE49-F238E27FC236}">
                <a16:creationId xmlns:a16="http://schemas.microsoft.com/office/drawing/2014/main" id="{445CA523-F451-2EBE-7769-45D1BAA26C92}"/>
              </a:ext>
            </a:extLst>
          </p:cNvPr>
          <p:cNvSpPr txBox="1"/>
          <p:nvPr/>
        </p:nvSpPr>
        <p:spPr>
          <a:xfrm>
            <a:off x="114300" y="1498977"/>
            <a:ext cx="11947525" cy="107721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Note:</a:t>
            </a:r>
            <a:r>
              <a:rPr lang="en-US" sz="3200" dirty="0"/>
              <a:t> Direct tuple comprehension does </a:t>
            </a:r>
            <a:r>
              <a:rPr lang="en-US" sz="3200" b="1" dirty="0"/>
              <a:t>not exist</a:t>
            </a:r>
            <a:r>
              <a:rPr lang="en-US" sz="3200" dirty="0"/>
              <a:t>. Use generator expressions:</a:t>
            </a:r>
          </a:p>
        </p:txBody>
      </p:sp>
    </p:spTree>
    <p:extLst>
      <p:ext uri="{BB962C8B-B14F-4D97-AF65-F5344CB8AC3E}">
        <p14:creationId xmlns:p14="http://schemas.microsoft.com/office/powerpoint/2010/main" val="3324894354"/>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D9B0A-8F2F-1DA2-3C60-CF3C2598FC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44832-E164-0F62-7609-62925D333785}"/>
              </a:ext>
            </a:extLst>
          </p:cNvPr>
          <p:cNvSpPr>
            <a:spLocks noGrp="1"/>
          </p:cNvSpPr>
          <p:nvPr>
            <p:ph type="title"/>
          </p:nvPr>
        </p:nvSpPr>
        <p:spPr/>
        <p:txBody>
          <a:bodyPr>
            <a:normAutofit/>
          </a:bodyPr>
          <a:lstStyle/>
          <a:p>
            <a:r>
              <a:rPr lang="en-SG" dirty="0"/>
              <a:t>Dictionary Comprehension</a:t>
            </a:r>
          </a:p>
        </p:txBody>
      </p:sp>
      <p:sp>
        <p:nvSpPr>
          <p:cNvPr id="3" name="Content Placeholder 2">
            <a:extLst>
              <a:ext uri="{FF2B5EF4-FFF2-40B4-BE49-F238E27FC236}">
                <a16:creationId xmlns:a16="http://schemas.microsoft.com/office/drawing/2014/main" id="{3EEB19DF-CCE1-62C8-5FD6-877CD1D73E62}"/>
              </a:ext>
            </a:extLst>
          </p:cNvPr>
          <p:cNvSpPr>
            <a:spLocks noGrp="1"/>
          </p:cNvSpPr>
          <p:nvPr>
            <p:ph idx="1"/>
          </p:nvPr>
        </p:nvSpPr>
        <p:spPr>
          <a:xfrm>
            <a:off x="114300" y="2784823"/>
            <a:ext cx="11947524" cy="1288354"/>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squares_dict</a:t>
            </a:r>
            <a:r>
              <a:rPr lang="en-US" dirty="0"/>
              <a:t> = {x: x**2 for x in range(1, 6)}</a:t>
            </a:r>
          </a:p>
          <a:p>
            <a:pPr marL="0" indent="0">
              <a:buNone/>
            </a:pPr>
            <a:r>
              <a:rPr lang="en-US" dirty="0"/>
              <a:t>print(</a:t>
            </a:r>
            <a:r>
              <a:rPr lang="en-US" dirty="0" err="1"/>
              <a:t>squares_dict</a:t>
            </a:r>
            <a:r>
              <a:rPr lang="en-US" dirty="0"/>
              <a:t>)  # {1: 1, 2: 4, 3: 9, 4: 16, 5: 25}</a:t>
            </a:r>
          </a:p>
        </p:txBody>
      </p:sp>
      <p:sp>
        <p:nvSpPr>
          <p:cNvPr id="4" name="Content Placeholder 2">
            <a:extLst>
              <a:ext uri="{FF2B5EF4-FFF2-40B4-BE49-F238E27FC236}">
                <a16:creationId xmlns:a16="http://schemas.microsoft.com/office/drawing/2014/main" id="{5EB54CDF-4A37-BE92-E9A3-BB6A27AF176F}"/>
              </a:ext>
            </a:extLst>
          </p:cNvPr>
          <p:cNvSpPr txBox="1">
            <a:spLocks/>
          </p:cNvSpPr>
          <p:nvPr/>
        </p:nvSpPr>
        <p:spPr>
          <a:xfrm>
            <a:off x="114300" y="4774248"/>
            <a:ext cx="11947524" cy="1809114"/>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with condition</a:t>
            </a:r>
          </a:p>
          <a:p>
            <a:pPr marL="0" indent="0">
              <a:buNone/>
            </a:pPr>
            <a:r>
              <a:rPr lang="en-US" dirty="0" err="1"/>
              <a:t>even_cubes</a:t>
            </a:r>
            <a:r>
              <a:rPr lang="en-US" dirty="0"/>
              <a:t> = {x: x**3 for x in range(1, 11) if x % 2 == 0}</a:t>
            </a:r>
          </a:p>
          <a:p>
            <a:pPr marL="0" indent="0">
              <a:buNone/>
            </a:pPr>
            <a:r>
              <a:rPr lang="en-US" dirty="0"/>
              <a:t>print(</a:t>
            </a:r>
            <a:r>
              <a:rPr lang="en-US" dirty="0" err="1"/>
              <a:t>even_cubes</a:t>
            </a:r>
            <a:r>
              <a:rPr lang="en-US" dirty="0"/>
              <a:t>)</a:t>
            </a:r>
          </a:p>
        </p:txBody>
      </p:sp>
      <p:sp>
        <p:nvSpPr>
          <p:cNvPr id="6" name="TextBox 5">
            <a:extLst>
              <a:ext uri="{FF2B5EF4-FFF2-40B4-BE49-F238E27FC236}">
                <a16:creationId xmlns:a16="http://schemas.microsoft.com/office/drawing/2014/main" id="{351A6954-C607-3599-4CC0-E75F72EB95AA}"/>
              </a:ext>
            </a:extLst>
          </p:cNvPr>
          <p:cNvSpPr txBox="1"/>
          <p:nvPr/>
        </p:nvSpPr>
        <p:spPr>
          <a:xfrm>
            <a:off x="114300" y="1498977"/>
            <a:ext cx="11947525"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t>
            </a:r>
            <a:r>
              <a:rPr lang="en-US" sz="3200" dirty="0" err="1"/>
              <a:t>key_expression</a:t>
            </a:r>
            <a:r>
              <a:rPr lang="en-US" sz="3200" dirty="0"/>
              <a:t>: </a:t>
            </a:r>
            <a:r>
              <a:rPr lang="en-US" sz="3200" dirty="0" err="1"/>
              <a:t>value_expression</a:t>
            </a:r>
            <a:r>
              <a:rPr lang="en-US" sz="3200" dirty="0"/>
              <a:t> for item in </a:t>
            </a:r>
            <a:r>
              <a:rPr lang="en-US" sz="3200" dirty="0" err="1"/>
              <a:t>iterable</a:t>
            </a:r>
            <a:r>
              <a:rPr lang="en-US" sz="3200" dirty="0"/>
              <a:t>}</a:t>
            </a:r>
          </a:p>
        </p:txBody>
      </p:sp>
    </p:spTree>
    <p:extLst>
      <p:ext uri="{BB962C8B-B14F-4D97-AF65-F5344CB8AC3E}">
        <p14:creationId xmlns:p14="http://schemas.microsoft.com/office/powerpoint/2010/main" val="40167460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4AFD0-5440-4506-716E-4CD088530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3FA428-928C-0E1F-07D8-5F1FA801793B}"/>
              </a:ext>
            </a:extLst>
          </p:cNvPr>
          <p:cNvSpPr>
            <a:spLocks noGrp="1"/>
          </p:cNvSpPr>
          <p:nvPr>
            <p:ph type="title"/>
          </p:nvPr>
        </p:nvSpPr>
        <p:spPr/>
        <p:txBody>
          <a:bodyPr>
            <a:normAutofit/>
          </a:bodyPr>
          <a:lstStyle/>
          <a:p>
            <a:r>
              <a:rPr lang="en-SG" dirty="0"/>
              <a:t>Transforming Items</a:t>
            </a:r>
          </a:p>
        </p:txBody>
      </p:sp>
      <p:sp>
        <p:nvSpPr>
          <p:cNvPr id="3" name="Content Placeholder 2">
            <a:extLst>
              <a:ext uri="{FF2B5EF4-FFF2-40B4-BE49-F238E27FC236}">
                <a16:creationId xmlns:a16="http://schemas.microsoft.com/office/drawing/2014/main" id="{3666F565-1A09-4FF8-44B5-8CC0845DD8E1}"/>
              </a:ext>
            </a:extLst>
          </p:cNvPr>
          <p:cNvSpPr>
            <a:spLocks noGrp="1"/>
          </p:cNvSpPr>
          <p:nvPr>
            <p:ph idx="1"/>
          </p:nvPr>
        </p:nvSpPr>
        <p:spPr>
          <a:xfrm>
            <a:off x="114300" y="2784822"/>
            <a:ext cx="11947524" cy="23021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words = ["apple", "banana", "cherry"]</a:t>
            </a:r>
          </a:p>
          <a:p>
            <a:pPr marL="0" indent="0">
              <a:buNone/>
            </a:pPr>
            <a:r>
              <a:rPr lang="en-US" dirty="0" err="1"/>
              <a:t>word_lengths</a:t>
            </a:r>
            <a:r>
              <a:rPr lang="en-US" dirty="0"/>
              <a:t> = {w: </a:t>
            </a:r>
            <a:r>
              <a:rPr lang="en-US" dirty="0" err="1"/>
              <a:t>len</a:t>
            </a:r>
            <a:r>
              <a:rPr lang="en-US" dirty="0"/>
              <a:t>(w) for w in words}</a:t>
            </a:r>
          </a:p>
          <a:p>
            <a:pPr marL="0" indent="0">
              <a:buNone/>
            </a:pPr>
            <a:r>
              <a:rPr lang="en-US" dirty="0"/>
              <a:t>print(</a:t>
            </a:r>
            <a:r>
              <a:rPr lang="en-US" dirty="0" err="1"/>
              <a:t>word_lengths</a:t>
            </a:r>
            <a:r>
              <a:rPr lang="en-US" dirty="0"/>
              <a:t>)  # {'apple': 5, 'banana': 6, 'cherry': 6}</a:t>
            </a:r>
          </a:p>
        </p:txBody>
      </p:sp>
      <p:sp>
        <p:nvSpPr>
          <p:cNvPr id="4" name="Content Placeholder 2">
            <a:extLst>
              <a:ext uri="{FF2B5EF4-FFF2-40B4-BE49-F238E27FC236}">
                <a16:creationId xmlns:a16="http://schemas.microsoft.com/office/drawing/2014/main" id="{D703E75F-DB17-E7A9-6DA3-6BCEE822ED40}"/>
              </a:ext>
            </a:extLst>
          </p:cNvPr>
          <p:cNvSpPr txBox="1">
            <a:spLocks/>
          </p:cNvSpPr>
          <p:nvPr/>
        </p:nvSpPr>
        <p:spPr>
          <a:xfrm>
            <a:off x="114300" y="5753100"/>
            <a:ext cx="11947524" cy="83026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Useful for mapping or preprocessing data.</a:t>
            </a:r>
          </a:p>
        </p:txBody>
      </p:sp>
      <p:sp>
        <p:nvSpPr>
          <p:cNvPr id="6" name="TextBox 5">
            <a:extLst>
              <a:ext uri="{FF2B5EF4-FFF2-40B4-BE49-F238E27FC236}">
                <a16:creationId xmlns:a16="http://schemas.microsoft.com/office/drawing/2014/main" id="{7B16A6C4-DEE4-F6ED-0855-C49A0B89BD4C}"/>
              </a:ext>
            </a:extLst>
          </p:cNvPr>
          <p:cNvSpPr txBox="1"/>
          <p:nvPr/>
        </p:nvSpPr>
        <p:spPr>
          <a:xfrm>
            <a:off x="114300" y="1498977"/>
            <a:ext cx="11947525"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t>
            </a:r>
            <a:r>
              <a:rPr lang="en-US" sz="3200" dirty="0" err="1"/>
              <a:t>key_expression</a:t>
            </a:r>
            <a:r>
              <a:rPr lang="en-US" sz="3200" dirty="0"/>
              <a:t>: </a:t>
            </a:r>
            <a:r>
              <a:rPr lang="en-US" sz="3200" dirty="0" err="1"/>
              <a:t>value_expression</a:t>
            </a:r>
            <a:r>
              <a:rPr lang="en-US" sz="3200" dirty="0"/>
              <a:t> for item in </a:t>
            </a:r>
            <a:r>
              <a:rPr lang="en-US" sz="3200" dirty="0" err="1"/>
              <a:t>iterable</a:t>
            </a:r>
            <a:r>
              <a:rPr lang="en-US" sz="3200" dirty="0"/>
              <a:t>}</a:t>
            </a:r>
          </a:p>
        </p:txBody>
      </p:sp>
    </p:spTree>
    <p:extLst>
      <p:ext uri="{BB962C8B-B14F-4D97-AF65-F5344CB8AC3E}">
        <p14:creationId xmlns:p14="http://schemas.microsoft.com/office/powerpoint/2010/main" val="15227921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375B8-C566-543F-E663-460846B59E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F3732B-3C6C-7556-5DF8-22C3407B0878}"/>
              </a:ext>
            </a:extLst>
          </p:cNvPr>
          <p:cNvSpPr>
            <a:spLocks noGrp="1"/>
          </p:cNvSpPr>
          <p:nvPr>
            <p:ph type="title"/>
          </p:nvPr>
        </p:nvSpPr>
        <p:spPr/>
        <p:txBody>
          <a:bodyPr>
            <a:normAutofit/>
          </a:bodyPr>
          <a:lstStyle/>
          <a:p>
            <a:r>
              <a:rPr lang="en-SG" dirty="0"/>
              <a:t>Nested Comprehensions</a:t>
            </a:r>
          </a:p>
        </p:txBody>
      </p:sp>
      <p:sp>
        <p:nvSpPr>
          <p:cNvPr id="3" name="Content Placeholder 2">
            <a:extLst>
              <a:ext uri="{FF2B5EF4-FFF2-40B4-BE49-F238E27FC236}">
                <a16:creationId xmlns:a16="http://schemas.microsoft.com/office/drawing/2014/main" id="{43A0240D-A5E2-0925-CD9A-96CB117B1965}"/>
              </a:ext>
            </a:extLst>
          </p:cNvPr>
          <p:cNvSpPr>
            <a:spLocks noGrp="1"/>
          </p:cNvSpPr>
          <p:nvPr>
            <p:ph idx="1"/>
          </p:nvPr>
        </p:nvSpPr>
        <p:spPr>
          <a:xfrm>
            <a:off x="120650" y="1633740"/>
            <a:ext cx="11947524" cy="23021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 </a:t>
            </a:r>
            <a:r>
              <a:rPr lang="en-SG" dirty="0"/>
              <a:t>Nested list comprehension:</a:t>
            </a:r>
          </a:p>
          <a:p>
            <a:pPr marL="0" indent="0">
              <a:buNone/>
            </a:pPr>
            <a:endParaRPr lang="en-US" dirty="0"/>
          </a:p>
          <a:p>
            <a:pPr marL="0" indent="0">
              <a:buNone/>
            </a:pPr>
            <a:r>
              <a:rPr lang="en-US" dirty="0"/>
              <a:t>matrix = [[</a:t>
            </a:r>
            <a:r>
              <a:rPr lang="en-US" dirty="0" err="1"/>
              <a:t>i</a:t>
            </a:r>
            <a:r>
              <a:rPr lang="en-US" dirty="0"/>
              <a:t>*j for j in range(1, 4)] for </a:t>
            </a:r>
            <a:r>
              <a:rPr lang="en-US" dirty="0" err="1"/>
              <a:t>i</a:t>
            </a:r>
            <a:r>
              <a:rPr lang="en-US" dirty="0"/>
              <a:t> in range(1, 4)]</a:t>
            </a:r>
          </a:p>
          <a:p>
            <a:pPr marL="0" indent="0">
              <a:buNone/>
            </a:pPr>
            <a:r>
              <a:rPr lang="en-US" dirty="0"/>
              <a:t>print(matrix)  # [[1, 2, 3], [2, 4, 6], [3, 6, 9]]</a:t>
            </a:r>
          </a:p>
        </p:txBody>
      </p:sp>
      <p:sp>
        <p:nvSpPr>
          <p:cNvPr id="4" name="Content Placeholder 2">
            <a:extLst>
              <a:ext uri="{FF2B5EF4-FFF2-40B4-BE49-F238E27FC236}">
                <a16:creationId xmlns:a16="http://schemas.microsoft.com/office/drawing/2014/main" id="{B3BC5BEC-C048-2A19-C832-2C0BFB411975}"/>
              </a:ext>
            </a:extLst>
          </p:cNvPr>
          <p:cNvSpPr txBox="1">
            <a:spLocks/>
          </p:cNvSpPr>
          <p:nvPr/>
        </p:nvSpPr>
        <p:spPr>
          <a:xfrm>
            <a:off x="114300" y="4281199"/>
            <a:ext cx="11947524" cy="23021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dirty="0"/>
              <a:t>Nested dictionary  comprehension:</a:t>
            </a:r>
            <a:endParaRPr lang="en-US" dirty="0"/>
          </a:p>
          <a:p>
            <a:pPr marL="0" indent="0">
              <a:buNone/>
            </a:pPr>
            <a:endParaRPr lang="en-US" dirty="0"/>
          </a:p>
          <a:p>
            <a:pPr marL="0" indent="0">
              <a:buNone/>
            </a:pPr>
            <a:r>
              <a:rPr lang="en-US" dirty="0" err="1"/>
              <a:t>multi_dict</a:t>
            </a:r>
            <a:r>
              <a:rPr lang="en-US" dirty="0"/>
              <a:t> = {</a:t>
            </a:r>
            <a:r>
              <a:rPr lang="en-US" dirty="0" err="1"/>
              <a:t>i</a:t>
            </a:r>
            <a:r>
              <a:rPr lang="en-US" dirty="0"/>
              <a:t>: {j: </a:t>
            </a:r>
            <a:r>
              <a:rPr lang="en-US" dirty="0" err="1"/>
              <a:t>i</a:t>
            </a:r>
            <a:r>
              <a:rPr lang="en-US" dirty="0"/>
              <a:t>*j for j in range(1, 4)} for </a:t>
            </a:r>
            <a:r>
              <a:rPr lang="en-US" dirty="0" err="1"/>
              <a:t>i</a:t>
            </a:r>
            <a:r>
              <a:rPr lang="en-US" dirty="0"/>
              <a:t> in range(1, 4)}</a:t>
            </a:r>
          </a:p>
          <a:p>
            <a:pPr marL="0" indent="0">
              <a:buNone/>
            </a:pPr>
            <a:r>
              <a:rPr lang="en-US" dirty="0"/>
              <a:t>print(</a:t>
            </a:r>
            <a:r>
              <a:rPr lang="en-US" dirty="0" err="1"/>
              <a:t>multi_dict</a:t>
            </a:r>
            <a:r>
              <a:rPr lang="en-US" dirty="0"/>
              <a:t>)</a:t>
            </a:r>
          </a:p>
        </p:txBody>
      </p:sp>
    </p:spTree>
    <p:extLst>
      <p:ext uri="{BB962C8B-B14F-4D97-AF65-F5344CB8AC3E}">
        <p14:creationId xmlns:p14="http://schemas.microsoft.com/office/powerpoint/2010/main" val="87456082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B55E6-9B7B-0F0A-6C55-C4A9F1331A27}"/>
              </a:ext>
            </a:extLst>
          </p:cNvPr>
          <p:cNvSpPr>
            <a:spLocks noGrp="1"/>
          </p:cNvSpPr>
          <p:nvPr>
            <p:ph type="title"/>
          </p:nvPr>
        </p:nvSpPr>
        <p:spPr/>
        <p:txBody>
          <a:bodyPr>
            <a:normAutofit/>
          </a:bodyPr>
          <a:lstStyle/>
          <a:p>
            <a:r>
              <a:rPr lang="en-US" dirty="0"/>
              <a:t>Use Cases / Benefits</a:t>
            </a:r>
            <a:endParaRPr lang="en-SG" dirty="0"/>
          </a:p>
        </p:txBody>
      </p:sp>
      <p:sp>
        <p:nvSpPr>
          <p:cNvPr id="3" name="Content Placeholder 2">
            <a:extLst>
              <a:ext uri="{FF2B5EF4-FFF2-40B4-BE49-F238E27FC236}">
                <a16:creationId xmlns:a16="http://schemas.microsoft.com/office/drawing/2014/main" id="{F617EACF-4A30-0E14-DDB1-F1C9A3A6B050}"/>
              </a:ext>
            </a:extLst>
          </p:cNvPr>
          <p:cNvSpPr>
            <a:spLocks noGrp="1"/>
          </p:cNvSpPr>
          <p:nvPr>
            <p:ph idx="1"/>
          </p:nvPr>
        </p:nvSpPr>
        <p:spPr>
          <a:xfrm>
            <a:off x="317500" y="2235200"/>
            <a:ext cx="5457825" cy="4525963"/>
          </a:xfrm>
        </p:spPr>
        <p:txBody>
          <a:bodyPr>
            <a:normAutofit/>
          </a:bodyPr>
          <a:lstStyle/>
          <a:p>
            <a:pPr marL="0" indent="0">
              <a:buNone/>
            </a:pPr>
            <a:r>
              <a:rPr lang="en-US" b="1" dirty="0"/>
              <a:t>When to use comprehensions:</a:t>
            </a:r>
            <a:endParaRPr lang="en-US" dirty="0"/>
          </a:p>
          <a:p>
            <a:pPr marL="457200" lvl="1" indent="0">
              <a:buNone/>
            </a:pPr>
            <a:r>
              <a:rPr lang="en-US" dirty="0"/>
              <a:t>Transforming sequences</a:t>
            </a:r>
          </a:p>
          <a:p>
            <a:pPr marL="457200" lvl="1" indent="0">
              <a:buNone/>
            </a:pPr>
            <a:r>
              <a:rPr lang="en-US" dirty="0"/>
              <a:t>Filtering items</a:t>
            </a:r>
          </a:p>
          <a:p>
            <a:pPr marL="457200" lvl="1" indent="0">
              <a:buNone/>
            </a:pPr>
            <a:r>
              <a:rPr lang="en-US" dirty="0"/>
              <a:t>Mapping keys to values</a:t>
            </a:r>
          </a:p>
          <a:p>
            <a:pPr marL="0" indent="0">
              <a:buNone/>
            </a:pPr>
            <a:endParaRPr lang="en-SG" dirty="0"/>
          </a:p>
        </p:txBody>
      </p:sp>
      <p:sp>
        <p:nvSpPr>
          <p:cNvPr id="4" name="Content Placeholder 2">
            <a:extLst>
              <a:ext uri="{FF2B5EF4-FFF2-40B4-BE49-F238E27FC236}">
                <a16:creationId xmlns:a16="http://schemas.microsoft.com/office/drawing/2014/main" id="{2436DF70-CD9C-125B-7B34-8315DCCA592D}"/>
              </a:ext>
            </a:extLst>
          </p:cNvPr>
          <p:cNvSpPr txBox="1">
            <a:spLocks/>
          </p:cNvSpPr>
          <p:nvPr/>
        </p:nvSpPr>
        <p:spPr>
          <a:xfrm>
            <a:off x="6134100" y="2235199"/>
            <a:ext cx="58166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Advantages:</a:t>
            </a:r>
            <a:endParaRPr lang="en-US" dirty="0"/>
          </a:p>
          <a:p>
            <a:pPr marL="457200" lvl="1" indent="0">
              <a:buNone/>
            </a:pPr>
            <a:r>
              <a:rPr lang="en-US" dirty="0"/>
              <a:t>Concise code</a:t>
            </a:r>
          </a:p>
          <a:p>
            <a:pPr marL="457200" lvl="1" indent="0">
              <a:buNone/>
            </a:pPr>
            <a:r>
              <a:rPr lang="en-US" dirty="0"/>
              <a:t>Easy to read</a:t>
            </a:r>
          </a:p>
          <a:p>
            <a:pPr marL="457200" lvl="1" indent="0">
              <a:buNone/>
            </a:pPr>
            <a:r>
              <a:rPr lang="en-US" dirty="0"/>
              <a:t>Efficient for data processing</a:t>
            </a:r>
          </a:p>
          <a:p>
            <a:pPr marL="0" indent="0">
              <a:buNone/>
            </a:pPr>
            <a:endParaRPr lang="en-SG" dirty="0"/>
          </a:p>
        </p:txBody>
      </p:sp>
    </p:spTree>
    <p:extLst>
      <p:ext uri="{BB962C8B-B14F-4D97-AF65-F5344CB8AC3E}">
        <p14:creationId xmlns:p14="http://schemas.microsoft.com/office/powerpoint/2010/main" val="191222456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6290F-385C-6CBA-C9DA-DFD0080F991F}"/>
              </a:ext>
            </a:extLst>
          </p:cNvPr>
          <p:cNvSpPr>
            <a:spLocks noGrp="1"/>
          </p:cNvSpPr>
          <p:nvPr>
            <p:ph type="title"/>
          </p:nvPr>
        </p:nvSpPr>
        <p:spPr/>
        <p:txBody>
          <a:bodyPr>
            <a:normAutofit/>
          </a:bodyPr>
          <a:lstStyle/>
          <a:p>
            <a:r>
              <a:rPr lang="en-US" dirty="0"/>
              <a:t>Challenge / Practice</a:t>
            </a:r>
            <a:endParaRPr lang="en-SG" dirty="0"/>
          </a:p>
        </p:txBody>
      </p:sp>
      <p:sp>
        <p:nvSpPr>
          <p:cNvPr id="3" name="Content Placeholder 2">
            <a:extLst>
              <a:ext uri="{FF2B5EF4-FFF2-40B4-BE49-F238E27FC236}">
                <a16:creationId xmlns:a16="http://schemas.microsoft.com/office/drawing/2014/main" id="{6CE90331-CCB5-16F0-3EBA-17E5917CE33A}"/>
              </a:ext>
            </a:extLst>
          </p:cNvPr>
          <p:cNvSpPr>
            <a:spLocks noGrp="1"/>
          </p:cNvSpPr>
          <p:nvPr>
            <p:ph idx="1"/>
          </p:nvPr>
        </p:nvSpPr>
        <p:spPr>
          <a:xfrm>
            <a:off x="457200" y="1600200"/>
            <a:ext cx="11163300" cy="4525963"/>
          </a:xfrm>
        </p:spPr>
        <p:txBody>
          <a:bodyPr/>
          <a:lstStyle/>
          <a:p>
            <a:r>
              <a:rPr lang="en-US" dirty="0"/>
              <a:t>Create a list of vowels from "Python is fun".</a:t>
            </a:r>
          </a:p>
          <a:p>
            <a:r>
              <a:rPr lang="en-US" dirty="0"/>
              <a:t>Map characters in "Python" to their ASCII values using </a:t>
            </a:r>
            <a:r>
              <a:rPr lang="en-US" dirty="0" err="1"/>
              <a:t>dict</a:t>
            </a:r>
            <a:r>
              <a:rPr lang="en-US" dirty="0"/>
              <a:t> comprehension.</a:t>
            </a:r>
          </a:p>
          <a:p>
            <a:r>
              <a:rPr lang="en-US" dirty="0"/>
              <a:t>Generate a tuple of squares of odd numbers from 1 to 10.</a:t>
            </a:r>
          </a:p>
          <a:p>
            <a:endParaRPr lang="en-SG" dirty="0"/>
          </a:p>
        </p:txBody>
      </p:sp>
    </p:spTree>
    <p:extLst>
      <p:ext uri="{BB962C8B-B14F-4D97-AF65-F5344CB8AC3E}">
        <p14:creationId xmlns:p14="http://schemas.microsoft.com/office/powerpoint/2010/main" val="249128307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944ED-AC7B-3403-CFE4-A26298F6F6E2}"/>
              </a:ext>
            </a:extLst>
          </p:cNvPr>
          <p:cNvSpPr>
            <a:spLocks noGrp="1"/>
          </p:cNvSpPr>
          <p:nvPr>
            <p:ph type="title"/>
          </p:nvPr>
        </p:nvSpPr>
        <p:spPr/>
        <p:txBody>
          <a:bodyPr/>
          <a:lstStyle/>
          <a:p>
            <a:r>
              <a:rPr lang="en-SG" dirty="0"/>
              <a:t>Challenge 1</a:t>
            </a:r>
          </a:p>
        </p:txBody>
      </p:sp>
      <p:sp>
        <p:nvSpPr>
          <p:cNvPr id="3" name="Content Placeholder 2">
            <a:extLst>
              <a:ext uri="{FF2B5EF4-FFF2-40B4-BE49-F238E27FC236}">
                <a16:creationId xmlns:a16="http://schemas.microsoft.com/office/drawing/2014/main" id="{7B9506E1-15D3-65AE-79B8-957818B205AF}"/>
              </a:ext>
            </a:extLst>
          </p:cNvPr>
          <p:cNvSpPr>
            <a:spLocks noGrp="1"/>
          </p:cNvSpPr>
          <p:nvPr>
            <p:ph idx="1"/>
          </p:nvPr>
        </p:nvSpPr>
        <p:spPr>
          <a:xfrm>
            <a:off x="457200" y="3187702"/>
            <a:ext cx="9715500" cy="250190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"Python is fun"</a:t>
            </a:r>
          </a:p>
          <a:p>
            <a:pPr marL="0" indent="0">
              <a:buNone/>
            </a:pPr>
            <a:r>
              <a:rPr lang="en-US" dirty="0"/>
              <a:t>vowels = [</a:t>
            </a:r>
            <a:r>
              <a:rPr lang="en-US" dirty="0" err="1"/>
              <a:t>ch</a:t>
            </a:r>
            <a:r>
              <a:rPr lang="en-US" dirty="0"/>
              <a:t> for </a:t>
            </a:r>
            <a:r>
              <a:rPr lang="en-US" dirty="0" err="1"/>
              <a:t>ch</a:t>
            </a:r>
            <a:r>
              <a:rPr lang="en-US" dirty="0"/>
              <a:t> in sentence if </a:t>
            </a:r>
            <a:r>
              <a:rPr lang="en-US" dirty="0" err="1"/>
              <a:t>ch.lower</a:t>
            </a:r>
            <a:r>
              <a:rPr lang="en-US" dirty="0"/>
              <a:t>() in "</a:t>
            </a:r>
            <a:r>
              <a:rPr lang="en-US" dirty="0" err="1"/>
              <a:t>aeiou</a:t>
            </a:r>
            <a:r>
              <a:rPr lang="en-US" dirty="0"/>
              <a:t>"]</a:t>
            </a:r>
          </a:p>
          <a:p>
            <a:pPr marL="0" indent="0">
              <a:buNone/>
            </a:pPr>
            <a:r>
              <a:rPr lang="en-US" dirty="0"/>
              <a:t>print(vowels)  # Output: ['o', '</a:t>
            </a:r>
            <a:r>
              <a:rPr lang="en-US" dirty="0" err="1"/>
              <a:t>i</a:t>
            </a:r>
            <a:r>
              <a:rPr lang="en-US" dirty="0"/>
              <a:t>', 'u']</a:t>
            </a:r>
          </a:p>
          <a:p>
            <a:pPr marL="0" indent="0">
              <a:buNone/>
            </a:pPr>
            <a:endParaRPr lang="en-SG" dirty="0"/>
          </a:p>
        </p:txBody>
      </p:sp>
      <p:sp>
        <p:nvSpPr>
          <p:cNvPr id="4" name="TextBox 3">
            <a:extLst>
              <a:ext uri="{FF2B5EF4-FFF2-40B4-BE49-F238E27FC236}">
                <a16:creationId xmlns:a16="http://schemas.microsoft.com/office/drawing/2014/main" id="{9010EADA-98B3-E950-88D6-730082A54B7E}"/>
              </a:ext>
            </a:extLst>
          </p:cNvPr>
          <p:cNvSpPr txBox="1"/>
          <p:nvPr/>
        </p:nvSpPr>
        <p:spPr>
          <a:xfrm>
            <a:off x="457200" y="1625600"/>
            <a:ext cx="9715500"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600" dirty="0"/>
              <a:t>List of vowels from "Python is fun"</a:t>
            </a:r>
          </a:p>
          <a:p>
            <a:endParaRPr lang="en-SG" sz="3600" dirty="0"/>
          </a:p>
        </p:txBody>
      </p:sp>
    </p:spTree>
    <p:extLst>
      <p:ext uri="{BB962C8B-B14F-4D97-AF65-F5344CB8AC3E}">
        <p14:creationId xmlns:p14="http://schemas.microsoft.com/office/powerpoint/2010/main" val="37638099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E4756-C0A5-CAA8-1C03-67471F4DC4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439691-27F4-FF96-9FE3-914161B4887A}"/>
              </a:ext>
            </a:extLst>
          </p:cNvPr>
          <p:cNvSpPr>
            <a:spLocks noGrp="1"/>
          </p:cNvSpPr>
          <p:nvPr>
            <p:ph type="title"/>
          </p:nvPr>
        </p:nvSpPr>
        <p:spPr/>
        <p:txBody>
          <a:bodyPr/>
          <a:lstStyle/>
          <a:p>
            <a:r>
              <a:rPr lang="en-US" dirty="0"/>
              <a:t>Challenge 2</a:t>
            </a:r>
            <a:endParaRPr lang="en-SG" dirty="0"/>
          </a:p>
        </p:txBody>
      </p:sp>
      <p:sp>
        <p:nvSpPr>
          <p:cNvPr id="3" name="Content Placeholder 2">
            <a:extLst>
              <a:ext uri="{FF2B5EF4-FFF2-40B4-BE49-F238E27FC236}">
                <a16:creationId xmlns:a16="http://schemas.microsoft.com/office/drawing/2014/main" id="{857B3786-7D10-B763-95DF-A95F5A1F2748}"/>
              </a:ext>
            </a:extLst>
          </p:cNvPr>
          <p:cNvSpPr>
            <a:spLocks noGrp="1"/>
          </p:cNvSpPr>
          <p:nvPr>
            <p:ph idx="1"/>
          </p:nvPr>
        </p:nvSpPr>
        <p:spPr>
          <a:xfrm>
            <a:off x="457200" y="3187702"/>
            <a:ext cx="9588500" cy="250190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"Python is fun"</a:t>
            </a:r>
          </a:p>
          <a:p>
            <a:pPr marL="0" indent="0">
              <a:buNone/>
            </a:pPr>
            <a:r>
              <a:rPr lang="en-US" dirty="0"/>
              <a:t>vowels = [</a:t>
            </a:r>
            <a:r>
              <a:rPr lang="en-US" dirty="0" err="1"/>
              <a:t>ch</a:t>
            </a:r>
            <a:r>
              <a:rPr lang="en-US" dirty="0"/>
              <a:t> for </a:t>
            </a:r>
            <a:r>
              <a:rPr lang="en-US" dirty="0" err="1"/>
              <a:t>ch</a:t>
            </a:r>
            <a:r>
              <a:rPr lang="en-US" dirty="0"/>
              <a:t> in sentence if </a:t>
            </a:r>
            <a:r>
              <a:rPr lang="en-US" dirty="0" err="1"/>
              <a:t>ch.lower</a:t>
            </a:r>
            <a:r>
              <a:rPr lang="en-US" dirty="0"/>
              <a:t>() in "</a:t>
            </a:r>
            <a:r>
              <a:rPr lang="en-US" dirty="0" err="1"/>
              <a:t>aeiou</a:t>
            </a:r>
            <a:r>
              <a:rPr lang="en-US" dirty="0"/>
              <a:t>"]</a:t>
            </a:r>
          </a:p>
          <a:p>
            <a:pPr marL="0" indent="0">
              <a:buNone/>
            </a:pPr>
            <a:r>
              <a:rPr lang="en-US" dirty="0"/>
              <a:t>print(vowels)  # Output: ['o', '</a:t>
            </a:r>
            <a:r>
              <a:rPr lang="en-US" dirty="0" err="1"/>
              <a:t>i</a:t>
            </a:r>
            <a:r>
              <a:rPr lang="en-US" dirty="0"/>
              <a:t>', 'u']</a:t>
            </a:r>
          </a:p>
          <a:p>
            <a:pPr marL="0" indent="0">
              <a:buNone/>
            </a:pPr>
            <a:endParaRPr lang="en-SG" dirty="0"/>
          </a:p>
        </p:txBody>
      </p:sp>
      <p:sp>
        <p:nvSpPr>
          <p:cNvPr id="4" name="TextBox 3">
            <a:extLst>
              <a:ext uri="{FF2B5EF4-FFF2-40B4-BE49-F238E27FC236}">
                <a16:creationId xmlns:a16="http://schemas.microsoft.com/office/drawing/2014/main" id="{C7B77520-C171-9795-6F86-D719E7F13B5E}"/>
              </a:ext>
            </a:extLst>
          </p:cNvPr>
          <p:cNvSpPr txBox="1"/>
          <p:nvPr/>
        </p:nvSpPr>
        <p:spPr>
          <a:xfrm>
            <a:off x="457200" y="1625600"/>
            <a:ext cx="9588500"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600" dirty="0"/>
              <a:t>Map characters in "Python" to their ASCII values using </a:t>
            </a:r>
            <a:r>
              <a:rPr lang="en-US" sz="3600" dirty="0" err="1"/>
              <a:t>dict</a:t>
            </a:r>
            <a:r>
              <a:rPr lang="en-US" sz="3600" dirty="0"/>
              <a:t> comprehension</a:t>
            </a:r>
            <a:endParaRPr lang="en-SG" sz="3600" dirty="0"/>
          </a:p>
        </p:txBody>
      </p:sp>
    </p:spTree>
    <p:extLst>
      <p:ext uri="{BB962C8B-B14F-4D97-AF65-F5344CB8AC3E}">
        <p14:creationId xmlns:p14="http://schemas.microsoft.com/office/powerpoint/2010/main" val="106363104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DB296-BF45-CA04-14FA-A55CF83D8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B02654-585B-2E61-F14D-628219C03380}"/>
              </a:ext>
            </a:extLst>
          </p:cNvPr>
          <p:cNvSpPr>
            <a:spLocks noGrp="1"/>
          </p:cNvSpPr>
          <p:nvPr>
            <p:ph type="title"/>
          </p:nvPr>
        </p:nvSpPr>
        <p:spPr/>
        <p:txBody>
          <a:bodyPr/>
          <a:lstStyle/>
          <a:p>
            <a:r>
              <a:rPr lang="en-US" dirty="0"/>
              <a:t>Challenge 3</a:t>
            </a:r>
            <a:endParaRPr lang="en-SG" dirty="0"/>
          </a:p>
        </p:txBody>
      </p:sp>
      <p:sp>
        <p:nvSpPr>
          <p:cNvPr id="3" name="Content Placeholder 2">
            <a:extLst>
              <a:ext uri="{FF2B5EF4-FFF2-40B4-BE49-F238E27FC236}">
                <a16:creationId xmlns:a16="http://schemas.microsoft.com/office/drawing/2014/main" id="{CD7EA1BE-4981-3623-616D-8D7A8B0F3262}"/>
              </a:ext>
            </a:extLst>
          </p:cNvPr>
          <p:cNvSpPr>
            <a:spLocks noGrp="1"/>
          </p:cNvSpPr>
          <p:nvPr>
            <p:ph idx="1"/>
          </p:nvPr>
        </p:nvSpPr>
        <p:spPr>
          <a:xfrm>
            <a:off x="457200" y="3187702"/>
            <a:ext cx="11036300" cy="250190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"Python is fun"</a:t>
            </a:r>
          </a:p>
          <a:p>
            <a:pPr marL="0" indent="0">
              <a:buNone/>
            </a:pPr>
            <a:r>
              <a:rPr lang="en-US" dirty="0"/>
              <a:t>vowels = [</a:t>
            </a:r>
            <a:r>
              <a:rPr lang="en-US" dirty="0" err="1"/>
              <a:t>ch</a:t>
            </a:r>
            <a:r>
              <a:rPr lang="en-US" dirty="0"/>
              <a:t> for </a:t>
            </a:r>
            <a:r>
              <a:rPr lang="en-US" dirty="0" err="1"/>
              <a:t>ch</a:t>
            </a:r>
            <a:r>
              <a:rPr lang="en-US" dirty="0"/>
              <a:t> in sentence if </a:t>
            </a:r>
            <a:r>
              <a:rPr lang="en-US" dirty="0" err="1"/>
              <a:t>ch.lower</a:t>
            </a:r>
            <a:r>
              <a:rPr lang="en-US" dirty="0"/>
              <a:t>() in "</a:t>
            </a:r>
            <a:r>
              <a:rPr lang="en-US" dirty="0" err="1"/>
              <a:t>aeiou</a:t>
            </a:r>
            <a:r>
              <a:rPr lang="en-US" dirty="0"/>
              <a:t>"]</a:t>
            </a:r>
          </a:p>
          <a:p>
            <a:pPr marL="0" indent="0">
              <a:buNone/>
            </a:pPr>
            <a:r>
              <a:rPr lang="en-US" dirty="0"/>
              <a:t>print(vowels)  # Output: ['o', '</a:t>
            </a:r>
            <a:r>
              <a:rPr lang="en-US" dirty="0" err="1"/>
              <a:t>i</a:t>
            </a:r>
            <a:r>
              <a:rPr lang="en-US" dirty="0"/>
              <a:t>', 'u']</a:t>
            </a:r>
          </a:p>
          <a:p>
            <a:pPr marL="0" indent="0">
              <a:buNone/>
            </a:pPr>
            <a:endParaRPr lang="en-SG" dirty="0"/>
          </a:p>
        </p:txBody>
      </p:sp>
      <p:sp>
        <p:nvSpPr>
          <p:cNvPr id="4" name="TextBox 3">
            <a:extLst>
              <a:ext uri="{FF2B5EF4-FFF2-40B4-BE49-F238E27FC236}">
                <a16:creationId xmlns:a16="http://schemas.microsoft.com/office/drawing/2014/main" id="{B0A884CC-8C29-8B14-060D-B83C242F51F9}"/>
              </a:ext>
            </a:extLst>
          </p:cNvPr>
          <p:cNvSpPr txBox="1"/>
          <p:nvPr/>
        </p:nvSpPr>
        <p:spPr>
          <a:xfrm>
            <a:off x="457200" y="1625600"/>
            <a:ext cx="1103630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600" dirty="0"/>
              <a:t>Generate a tuple of squares of odd numbers from 1 to 10</a:t>
            </a:r>
          </a:p>
        </p:txBody>
      </p:sp>
    </p:spTree>
    <p:extLst>
      <p:ext uri="{BB962C8B-B14F-4D97-AF65-F5344CB8AC3E}">
        <p14:creationId xmlns:p14="http://schemas.microsoft.com/office/powerpoint/2010/main" val="60140157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0D55A-2D3D-3E97-3C95-78BBFCCB396D}"/>
              </a:ext>
            </a:extLst>
          </p:cNvPr>
          <p:cNvSpPr>
            <a:spLocks noGrp="1"/>
          </p:cNvSpPr>
          <p:nvPr>
            <p:ph type="title"/>
          </p:nvPr>
        </p:nvSpPr>
        <p:spPr/>
        <p:txBody>
          <a:bodyPr/>
          <a:lstStyle/>
          <a:p>
            <a:r>
              <a:rPr lang="en-SG" dirty="0"/>
              <a:t>Notes</a:t>
            </a:r>
          </a:p>
        </p:txBody>
      </p:sp>
      <p:sp>
        <p:nvSpPr>
          <p:cNvPr id="3" name="Content Placeholder 2">
            <a:extLst>
              <a:ext uri="{FF2B5EF4-FFF2-40B4-BE49-F238E27FC236}">
                <a16:creationId xmlns:a16="http://schemas.microsoft.com/office/drawing/2014/main" id="{62C7E0CB-09A9-8671-16C7-3EE4A5661FF9}"/>
              </a:ext>
            </a:extLst>
          </p:cNvPr>
          <p:cNvSpPr>
            <a:spLocks noGrp="1"/>
          </p:cNvSpPr>
          <p:nvPr>
            <p:ph idx="1"/>
          </p:nvPr>
        </p:nvSpPr>
        <p:spPr>
          <a:xfrm>
            <a:off x="457200" y="1600200"/>
            <a:ext cx="11137900" cy="4525963"/>
          </a:xfrm>
        </p:spPr>
        <p:txBody>
          <a:bodyPr>
            <a:normAutofit/>
          </a:bodyPr>
          <a:lstStyle/>
          <a:p>
            <a:r>
              <a:rPr lang="en-US" dirty="0"/>
              <a:t>Challenge 1 uses a </a:t>
            </a:r>
            <a:r>
              <a:rPr lang="en-US" b="1" dirty="0"/>
              <a:t>list comprehension</a:t>
            </a:r>
            <a:r>
              <a:rPr lang="en-US" dirty="0"/>
              <a:t> with a </a:t>
            </a:r>
            <a:r>
              <a:rPr lang="en-US" b="1" dirty="0"/>
              <a:t>condition</a:t>
            </a:r>
            <a:r>
              <a:rPr lang="en-US" dirty="0"/>
              <a:t> (if </a:t>
            </a:r>
            <a:r>
              <a:rPr lang="en-US" dirty="0" err="1"/>
              <a:t>ch.lower</a:t>
            </a:r>
            <a:r>
              <a:rPr lang="en-US" dirty="0"/>
              <a:t>() in "</a:t>
            </a:r>
            <a:r>
              <a:rPr lang="en-US" dirty="0" err="1"/>
              <a:t>aeiou</a:t>
            </a:r>
            <a:r>
              <a:rPr lang="en-US" dirty="0"/>
              <a:t>").</a:t>
            </a:r>
          </a:p>
          <a:p>
            <a:endParaRPr lang="en-US" dirty="0"/>
          </a:p>
          <a:p>
            <a:r>
              <a:rPr lang="en-US" dirty="0"/>
              <a:t>Challenge 2 uses a </a:t>
            </a:r>
            <a:r>
              <a:rPr lang="en-US" b="1" dirty="0"/>
              <a:t>dictionary comprehension</a:t>
            </a:r>
            <a:r>
              <a:rPr lang="en-US" dirty="0"/>
              <a:t>, mapping </a:t>
            </a:r>
            <a:r>
              <a:rPr lang="en-US" b="1" dirty="0"/>
              <a:t>keys to values</a:t>
            </a:r>
            <a:r>
              <a:rPr lang="en-US" dirty="0"/>
              <a:t>.</a:t>
            </a:r>
          </a:p>
          <a:p>
            <a:endParaRPr lang="en-US" dirty="0"/>
          </a:p>
          <a:p>
            <a:r>
              <a:rPr lang="en-US" dirty="0"/>
              <a:t>Challenge 3 uses a </a:t>
            </a:r>
            <a:r>
              <a:rPr lang="en-US" b="1" dirty="0"/>
              <a:t>generator expression converted to a tuple</a:t>
            </a:r>
            <a:r>
              <a:rPr lang="en-US" dirty="0"/>
              <a:t>, filtering </a:t>
            </a:r>
            <a:r>
              <a:rPr lang="en-US" b="1" dirty="0"/>
              <a:t>odd numbers</a:t>
            </a:r>
            <a:r>
              <a:rPr lang="en-US" dirty="0"/>
              <a:t> and applying </a:t>
            </a:r>
            <a:r>
              <a:rPr lang="en-US" b="1" dirty="0"/>
              <a:t>transformation</a:t>
            </a:r>
            <a:r>
              <a:rPr lang="en-US" dirty="0"/>
              <a:t> (x**2).</a:t>
            </a:r>
          </a:p>
          <a:p>
            <a:endParaRPr lang="en-SG" dirty="0"/>
          </a:p>
        </p:txBody>
      </p:sp>
    </p:spTree>
    <p:extLst>
      <p:ext uri="{BB962C8B-B14F-4D97-AF65-F5344CB8AC3E}">
        <p14:creationId xmlns:p14="http://schemas.microsoft.com/office/powerpoint/2010/main" val="10323051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else</a:t>
            </a:r>
          </a:p>
        </p:txBody>
      </p:sp>
      <p:sp>
        <p:nvSpPr>
          <p:cNvPr id="3" name="Content Placeholder 2"/>
          <p:cNvSpPr>
            <a:spLocks noGrp="1"/>
          </p:cNvSpPr>
          <p:nvPr>
            <p:ph idx="1"/>
          </p:nvPr>
        </p:nvSpPr>
        <p:spPr/>
        <p:txBody>
          <a:bodyPr/>
          <a:lstStyle/>
          <a:p>
            <a:r>
              <a:rPr dirty="0"/>
              <a:t>Programs make decisions using conditions</a:t>
            </a:r>
          </a:p>
          <a:p>
            <a:r>
              <a:rPr dirty="0"/>
              <a:t>if / </a:t>
            </a:r>
            <a:r>
              <a:rPr dirty="0" err="1"/>
              <a:t>elif</a:t>
            </a:r>
            <a:r>
              <a:rPr dirty="0"/>
              <a:t> / else chains</a:t>
            </a:r>
          </a:p>
          <a:p>
            <a:r>
              <a:rPr dirty="0"/>
              <a:t>Indentation defines logic blocks</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55F4CC3-D0A8-F0FD-7D4D-364F7B85732D}"/>
              </a:ext>
            </a:extLst>
          </p:cNvPr>
          <p:cNvSpPr>
            <a:spLocks noGrp="1"/>
          </p:cNvSpPr>
          <p:nvPr>
            <p:ph type="title"/>
          </p:nvPr>
        </p:nvSpPr>
        <p:spPr/>
        <p:txBody>
          <a:bodyPr/>
          <a:lstStyle/>
          <a:p>
            <a:r>
              <a:rPr lang="en-SG" dirty="0"/>
              <a:t>Conditional Statements (if)</a:t>
            </a:r>
          </a:p>
        </p:txBody>
      </p:sp>
      <p:sp>
        <p:nvSpPr>
          <p:cNvPr id="8" name="Content Placeholder 7">
            <a:extLst>
              <a:ext uri="{FF2B5EF4-FFF2-40B4-BE49-F238E27FC236}">
                <a16:creationId xmlns:a16="http://schemas.microsoft.com/office/drawing/2014/main" id="{30BCBE06-C4BB-842D-E65B-ED154030397E}"/>
              </a:ext>
            </a:extLst>
          </p:cNvPr>
          <p:cNvSpPr>
            <a:spLocks noGrp="1"/>
          </p:cNvSpPr>
          <p:nvPr>
            <p:ph idx="1"/>
          </p:nvPr>
        </p:nvSpPr>
        <p:spPr>
          <a:xfrm>
            <a:off x="457200" y="1600200"/>
            <a:ext cx="45593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18</a:t>
            </a:r>
          </a:p>
          <a:p>
            <a:pPr marL="0" indent="0">
              <a:buNone/>
            </a:pPr>
            <a:endParaRPr lang="en-US" dirty="0"/>
          </a:p>
          <a:p>
            <a:pPr marL="0" indent="0">
              <a:buNone/>
            </a:pPr>
            <a:r>
              <a:rPr lang="en-US" dirty="0"/>
              <a:t>if age &gt;= 18:</a:t>
            </a:r>
          </a:p>
          <a:p>
            <a:pPr marL="0" indent="0">
              <a:buNone/>
            </a:pPr>
            <a:r>
              <a:rPr lang="en-US" dirty="0"/>
              <a:t>    print("Adult")</a:t>
            </a:r>
          </a:p>
          <a:p>
            <a:pPr marL="0" indent="0">
              <a:buNone/>
            </a:pPr>
            <a:endParaRPr lang="en-SG" dirty="0"/>
          </a:p>
        </p:txBody>
      </p:sp>
      <p:sp>
        <p:nvSpPr>
          <p:cNvPr id="10" name="Content Placeholder 7">
            <a:extLst>
              <a:ext uri="{FF2B5EF4-FFF2-40B4-BE49-F238E27FC236}">
                <a16:creationId xmlns:a16="http://schemas.microsoft.com/office/drawing/2014/main" id="{F3580025-9EC0-BC64-3B98-AA68CBD34AB0}"/>
              </a:ext>
            </a:extLst>
          </p:cNvPr>
          <p:cNvSpPr txBox="1">
            <a:spLocks/>
          </p:cNvSpPr>
          <p:nvPr/>
        </p:nvSpPr>
        <p:spPr>
          <a:xfrm>
            <a:off x="5991225" y="1600200"/>
            <a:ext cx="5740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make decisions</a:t>
            </a:r>
          </a:p>
          <a:p>
            <a:endParaRPr lang="en-US" dirty="0"/>
          </a:p>
          <a:p>
            <a:r>
              <a:rPr lang="en-US" dirty="0"/>
              <a:t>Condition must evaluate to True or False</a:t>
            </a:r>
            <a:endParaRPr lang="en-SG" dirty="0"/>
          </a:p>
        </p:txBody>
      </p:sp>
    </p:spTree>
    <p:extLst>
      <p:ext uri="{BB962C8B-B14F-4D97-AF65-F5344CB8AC3E}">
        <p14:creationId xmlns:p14="http://schemas.microsoft.com/office/powerpoint/2010/main" val="22799614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E177C-B0BC-7326-B845-D5DF32D9CCE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6A51632-BC44-84A5-2E53-E213A6688780}"/>
              </a:ext>
            </a:extLst>
          </p:cNvPr>
          <p:cNvSpPr>
            <a:spLocks noGrp="1"/>
          </p:cNvSpPr>
          <p:nvPr>
            <p:ph type="title"/>
          </p:nvPr>
        </p:nvSpPr>
        <p:spPr/>
        <p:txBody>
          <a:bodyPr/>
          <a:lstStyle/>
          <a:p>
            <a:r>
              <a:rPr lang="en-SG" dirty="0"/>
              <a:t>if–else Statements</a:t>
            </a:r>
          </a:p>
        </p:txBody>
      </p:sp>
      <p:sp>
        <p:nvSpPr>
          <p:cNvPr id="8" name="Content Placeholder 7">
            <a:extLst>
              <a:ext uri="{FF2B5EF4-FFF2-40B4-BE49-F238E27FC236}">
                <a16:creationId xmlns:a16="http://schemas.microsoft.com/office/drawing/2014/main" id="{1267D225-2AA0-D830-88DE-CADAE95DF074}"/>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16</a:t>
            </a:r>
          </a:p>
          <a:p>
            <a:pPr marL="0" indent="0">
              <a:buNone/>
            </a:pPr>
            <a:endParaRPr lang="en-US" dirty="0"/>
          </a:p>
          <a:p>
            <a:pPr marL="0" indent="0">
              <a:buNone/>
            </a:pPr>
            <a:r>
              <a:rPr lang="en-US" dirty="0"/>
              <a:t>if age &gt;= 18:</a:t>
            </a:r>
          </a:p>
          <a:p>
            <a:pPr marL="0" indent="0">
              <a:buNone/>
            </a:pPr>
            <a:r>
              <a:rPr lang="en-US" dirty="0"/>
              <a:t>    print("Adult")</a:t>
            </a:r>
          </a:p>
          <a:p>
            <a:pPr marL="0" indent="0">
              <a:buNone/>
            </a:pPr>
            <a:r>
              <a:rPr lang="en-US" dirty="0"/>
              <a:t>else:</a:t>
            </a:r>
          </a:p>
          <a:p>
            <a:pPr marL="0" indent="0">
              <a:buNone/>
            </a:pPr>
            <a:r>
              <a:rPr lang="en-US" dirty="0"/>
              <a:t>    print(“Child")</a:t>
            </a:r>
          </a:p>
        </p:txBody>
      </p:sp>
      <p:sp>
        <p:nvSpPr>
          <p:cNvPr id="10" name="Content Placeholder 7">
            <a:extLst>
              <a:ext uri="{FF2B5EF4-FFF2-40B4-BE49-F238E27FC236}">
                <a16:creationId xmlns:a16="http://schemas.microsoft.com/office/drawing/2014/main" id="{013FA370-58B6-C01C-92B9-70221D1720DD}"/>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else runs when condition is False</a:t>
            </a:r>
            <a:endParaRPr lang="en-SG" dirty="0"/>
          </a:p>
        </p:txBody>
      </p:sp>
    </p:spTree>
    <p:extLst>
      <p:ext uri="{BB962C8B-B14F-4D97-AF65-F5344CB8AC3E}">
        <p14:creationId xmlns:p14="http://schemas.microsoft.com/office/powerpoint/2010/main" val="317160830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998AB-CEBE-DF4F-362F-3B0FB04D1AF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9E71A83-DC54-9097-4D86-302EF360997F}"/>
              </a:ext>
            </a:extLst>
          </p:cNvPr>
          <p:cNvSpPr>
            <a:spLocks noGrp="1"/>
          </p:cNvSpPr>
          <p:nvPr>
            <p:ph type="title"/>
          </p:nvPr>
        </p:nvSpPr>
        <p:spPr/>
        <p:txBody>
          <a:bodyPr/>
          <a:lstStyle/>
          <a:p>
            <a:r>
              <a:rPr lang="en-SG" dirty="0"/>
              <a:t>if–</a:t>
            </a:r>
            <a:r>
              <a:rPr lang="en-SG" dirty="0" err="1"/>
              <a:t>elif</a:t>
            </a:r>
            <a:r>
              <a:rPr lang="en-SG" dirty="0"/>
              <a:t>–else Chain</a:t>
            </a:r>
          </a:p>
        </p:txBody>
      </p:sp>
      <p:sp>
        <p:nvSpPr>
          <p:cNvPr id="8" name="Content Placeholder 7">
            <a:extLst>
              <a:ext uri="{FF2B5EF4-FFF2-40B4-BE49-F238E27FC236}">
                <a16:creationId xmlns:a16="http://schemas.microsoft.com/office/drawing/2014/main" id="{97570279-B9C2-666D-D2E0-78680EF38AE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score = 75</a:t>
            </a:r>
          </a:p>
          <a:p>
            <a:pPr marL="0" indent="0">
              <a:buNone/>
            </a:pPr>
            <a:endParaRPr lang="en-US" dirty="0"/>
          </a:p>
          <a:p>
            <a:pPr marL="0" indent="0">
              <a:buNone/>
            </a:pPr>
            <a:r>
              <a:rPr lang="en-US" dirty="0"/>
              <a:t>if score &gt;= 85:</a:t>
            </a:r>
          </a:p>
          <a:p>
            <a:pPr marL="0" indent="0">
              <a:buNone/>
            </a:pPr>
            <a:r>
              <a:rPr lang="en-US" dirty="0"/>
              <a:t>    print("Distinction")</a:t>
            </a:r>
          </a:p>
          <a:p>
            <a:pPr marL="0" indent="0">
              <a:buNone/>
            </a:pPr>
            <a:r>
              <a:rPr lang="en-US" dirty="0" err="1"/>
              <a:t>elif</a:t>
            </a:r>
            <a:r>
              <a:rPr lang="en-US" dirty="0"/>
              <a:t> score &gt;= 60:</a:t>
            </a:r>
          </a:p>
          <a:p>
            <a:pPr marL="0" indent="0">
              <a:buNone/>
            </a:pPr>
            <a:r>
              <a:rPr lang="en-US" dirty="0"/>
              <a:t>    print("Pass")</a:t>
            </a:r>
          </a:p>
          <a:p>
            <a:pPr marL="0" indent="0">
              <a:buNone/>
            </a:pPr>
            <a:r>
              <a:rPr lang="en-US" dirty="0"/>
              <a:t>else:</a:t>
            </a:r>
          </a:p>
          <a:p>
            <a:pPr marL="0" indent="0">
              <a:buNone/>
            </a:pPr>
            <a:r>
              <a:rPr lang="en-US" dirty="0"/>
              <a:t>    print("Fail")</a:t>
            </a:r>
          </a:p>
        </p:txBody>
      </p:sp>
      <p:sp>
        <p:nvSpPr>
          <p:cNvPr id="10" name="Content Placeholder 7">
            <a:extLst>
              <a:ext uri="{FF2B5EF4-FFF2-40B4-BE49-F238E27FC236}">
                <a16:creationId xmlns:a16="http://schemas.microsoft.com/office/drawing/2014/main" id="{F10CA6F0-3599-642C-16B7-93D93342C71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for multiple conditions</a:t>
            </a:r>
          </a:p>
          <a:p>
            <a:endParaRPr lang="en-US" dirty="0"/>
          </a:p>
          <a:p>
            <a:r>
              <a:rPr lang="en-US" dirty="0"/>
              <a:t>Checked from top to bottom</a:t>
            </a:r>
            <a:endParaRPr lang="en-SG" dirty="0"/>
          </a:p>
        </p:txBody>
      </p:sp>
    </p:spTree>
    <p:extLst>
      <p:ext uri="{BB962C8B-B14F-4D97-AF65-F5344CB8AC3E}">
        <p14:creationId xmlns:p14="http://schemas.microsoft.com/office/powerpoint/2010/main" val="375779985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9556-9D07-E3F2-ED33-64D161A673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A709AF-7451-0268-925A-D6F7D55AF3F3}"/>
              </a:ext>
            </a:extLst>
          </p:cNvPr>
          <p:cNvSpPr>
            <a:spLocks noGrp="1"/>
          </p:cNvSpPr>
          <p:nvPr>
            <p:ph type="title"/>
          </p:nvPr>
        </p:nvSpPr>
        <p:spPr/>
        <p:txBody>
          <a:bodyPr/>
          <a:lstStyle/>
          <a:p>
            <a:r>
              <a:rPr lang="en-SG" dirty="0"/>
              <a:t>Comparison Operators</a:t>
            </a:r>
          </a:p>
        </p:txBody>
      </p:sp>
      <p:sp>
        <p:nvSpPr>
          <p:cNvPr id="8" name="Content Placeholder 7">
            <a:extLst>
              <a:ext uri="{FF2B5EF4-FFF2-40B4-BE49-F238E27FC236}">
                <a16:creationId xmlns:a16="http://schemas.microsoft.com/office/drawing/2014/main" id="{A3570B61-FADA-546B-7D21-C78C3283CB30}"/>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r>
              <a:rPr lang="en-US" dirty="0"/>
              <a:t>print(x &gt; 5)</a:t>
            </a:r>
          </a:p>
        </p:txBody>
      </p:sp>
      <p:sp>
        <p:nvSpPr>
          <p:cNvPr id="10" name="Content Placeholder 7">
            <a:extLst>
              <a:ext uri="{FF2B5EF4-FFF2-40B4-BE49-F238E27FC236}">
                <a16:creationId xmlns:a16="http://schemas.microsoft.com/office/drawing/2014/main" id="{69392F13-2BAB-24EF-4F94-9ADF87AC72A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 equal to</a:t>
            </a:r>
          </a:p>
          <a:p>
            <a:endParaRPr lang="en-US" dirty="0"/>
          </a:p>
          <a:p>
            <a:r>
              <a:rPr lang="en-US" dirty="0"/>
              <a:t>!= not equal to</a:t>
            </a:r>
          </a:p>
          <a:p>
            <a:endParaRPr lang="en-US" dirty="0"/>
          </a:p>
          <a:p>
            <a:r>
              <a:rPr lang="en-US" dirty="0"/>
              <a:t>&gt; &lt; &gt;= &lt;=</a:t>
            </a:r>
            <a:endParaRPr lang="en-SG" dirty="0"/>
          </a:p>
        </p:txBody>
      </p:sp>
    </p:spTree>
    <p:extLst>
      <p:ext uri="{BB962C8B-B14F-4D97-AF65-F5344CB8AC3E}">
        <p14:creationId xmlns:p14="http://schemas.microsoft.com/office/powerpoint/2010/main" val="290367474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F7A0E-7D65-D3DF-C8BD-D8609D72A19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249C108-F1F7-550E-46F6-F0CD0EE42A6E}"/>
              </a:ext>
            </a:extLst>
          </p:cNvPr>
          <p:cNvSpPr>
            <a:spLocks noGrp="1"/>
          </p:cNvSpPr>
          <p:nvPr>
            <p:ph type="title"/>
          </p:nvPr>
        </p:nvSpPr>
        <p:spPr/>
        <p:txBody>
          <a:bodyPr/>
          <a:lstStyle/>
          <a:p>
            <a:r>
              <a:rPr lang="en-SG" dirty="0"/>
              <a:t>Logical Operators</a:t>
            </a:r>
          </a:p>
        </p:txBody>
      </p:sp>
      <p:sp>
        <p:nvSpPr>
          <p:cNvPr id="8" name="Content Placeholder 7">
            <a:extLst>
              <a:ext uri="{FF2B5EF4-FFF2-40B4-BE49-F238E27FC236}">
                <a16:creationId xmlns:a16="http://schemas.microsoft.com/office/drawing/2014/main" id="{5CA63C63-C860-391C-E77B-89E66D8AF696}"/>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err="1"/>
              <a:t>is_student</a:t>
            </a:r>
            <a:r>
              <a:rPr lang="en-US" dirty="0"/>
              <a:t> = True</a:t>
            </a:r>
          </a:p>
          <a:p>
            <a:pPr marL="0" indent="0">
              <a:buNone/>
            </a:pPr>
            <a:endParaRPr lang="en-US" dirty="0"/>
          </a:p>
          <a:p>
            <a:pPr marL="0" indent="0">
              <a:buNone/>
            </a:pPr>
            <a:r>
              <a:rPr lang="en-US" dirty="0"/>
              <a:t>if age &gt;= 18 and </a:t>
            </a:r>
            <a:r>
              <a:rPr lang="en-US" dirty="0" err="1"/>
              <a:t>is_student</a:t>
            </a:r>
            <a:r>
              <a:rPr lang="en-US" dirty="0"/>
              <a:t>:</a:t>
            </a:r>
          </a:p>
          <a:p>
            <a:pPr marL="0" indent="0">
              <a:buNone/>
            </a:pPr>
            <a:r>
              <a:rPr lang="en-US" dirty="0"/>
              <a:t>    print("Eligible")</a:t>
            </a:r>
          </a:p>
        </p:txBody>
      </p:sp>
      <p:sp>
        <p:nvSpPr>
          <p:cNvPr id="10" name="Content Placeholder 7">
            <a:extLst>
              <a:ext uri="{FF2B5EF4-FFF2-40B4-BE49-F238E27FC236}">
                <a16:creationId xmlns:a16="http://schemas.microsoft.com/office/drawing/2014/main" id="{518380F3-96C4-384E-CF6B-4D37A0F584CE}"/>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endParaRPr lang="en-US" dirty="0"/>
          </a:p>
          <a:p>
            <a:r>
              <a:rPr lang="en-US" dirty="0"/>
              <a:t>or – at least one condition is true</a:t>
            </a:r>
          </a:p>
          <a:p>
            <a:endParaRPr lang="en-US" dirty="0"/>
          </a:p>
          <a:p>
            <a:r>
              <a:rPr lang="en-US" dirty="0"/>
              <a:t>not – reverses the condition</a:t>
            </a:r>
            <a:endParaRPr lang="en-SG" dirty="0"/>
          </a:p>
        </p:txBody>
      </p:sp>
    </p:spTree>
    <p:extLst>
      <p:ext uri="{BB962C8B-B14F-4D97-AF65-F5344CB8AC3E}">
        <p14:creationId xmlns:p14="http://schemas.microsoft.com/office/powerpoint/2010/main" val="317756191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54302-D4A6-4FC0-749A-C36A7895B89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8E68127-F042-7108-C8D9-F97F0FF6573C}"/>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8" name="Content Placeholder 7">
            <a:extLst>
              <a:ext uri="{FF2B5EF4-FFF2-40B4-BE49-F238E27FC236}">
                <a16:creationId xmlns:a16="http://schemas.microsoft.com/office/drawing/2014/main" id="{C300EEA4-54BC-EB1A-AB99-ED9E5DF8A2EC}"/>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items = []</a:t>
            </a:r>
          </a:p>
          <a:p>
            <a:pPr marL="0" indent="0">
              <a:buNone/>
            </a:pPr>
            <a:endParaRPr lang="en-US" dirty="0"/>
          </a:p>
          <a:p>
            <a:pPr marL="0" indent="0">
              <a:buNone/>
            </a:pPr>
            <a:r>
              <a:rPr lang="en-US" dirty="0"/>
              <a:t>if items:</a:t>
            </a:r>
          </a:p>
          <a:p>
            <a:pPr marL="0" indent="0">
              <a:buNone/>
            </a:pPr>
            <a:r>
              <a:rPr lang="en-US" dirty="0"/>
              <a:t>    print("Has items")</a:t>
            </a:r>
          </a:p>
          <a:p>
            <a:pPr marL="0" indent="0">
              <a:buNone/>
            </a:pPr>
            <a:r>
              <a:rPr lang="en-US" dirty="0"/>
              <a:t>else:</a:t>
            </a:r>
          </a:p>
          <a:p>
            <a:pPr marL="0" indent="0">
              <a:buNone/>
            </a:pPr>
            <a:r>
              <a:rPr lang="en-US" dirty="0"/>
              <a:t>    print("Empty list")</a:t>
            </a:r>
          </a:p>
        </p:txBody>
      </p:sp>
      <p:sp>
        <p:nvSpPr>
          <p:cNvPr id="10" name="Content Placeholder 7">
            <a:extLst>
              <a:ext uri="{FF2B5EF4-FFF2-40B4-BE49-F238E27FC236}">
                <a16:creationId xmlns:a16="http://schemas.microsoft.com/office/drawing/2014/main" id="{87462A54-A580-ABD1-2697-157496A4EE19}"/>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Key Ideas</a:t>
            </a:r>
          </a:p>
          <a:p>
            <a:pPr lvl="1"/>
            <a:r>
              <a:rPr lang="en-US" dirty="0"/>
              <a:t>Not all conditions are explicitly True or False</a:t>
            </a:r>
          </a:p>
          <a:p>
            <a:pPr lvl="1"/>
            <a:endParaRPr lang="en-US" dirty="0"/>
          </a:p>
          <a:p>
            <a:r>
              <a:rPr lang="en-US" b="1" dirty="0"/>
              <a:t>Common </a:t>
            </a:r>
            <a:r>
              <a:rPr lang="en-US" b="1" dirty="0" err="1"/>
              <a:t>Falsy</a:t>
            </a:r>
            <a:r>
              <a:rPr lang="en-US" b="1" dirty="0"/>
              <a:t> Values</a:t>
            </a:r>
          </a:p>
          <a:p>
            <a:pPr lvl="1"/>
            <a:r>
              <a:rPr lang="en-US" dirty="0"/>
              <a:t>False, None</a:t>
            </a:r>
          </a:p>
          <a:p>
            <a:pPr lvl="1"/>
            <a:r>
              <a:rPr lang="en-US" dirty="0"/>
              <a:t>0, 0.0</a:t>
            </a:r>
          </a:p>
          <a:p>
            <a:pPr lvl="1"/>
            <a:r>
              <a:rPr lang="en-US" dirty="0"/>
              <a:t>"", [], {}</a:t>
            </a:r>
          </a:p>
        </p:txBody>
      </p:sp>
    </p:spTree>
    <p:extLst>
      <p:ext uri="{BB962C8B-B14F-4D97-AF65-F5344CB8AC3E}">
        <p14:creationId xmlns:p14="http://schemas.microsoft.com/office/powerpoint/2010/main" val="172022980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BDC13-0912-830C-A8D8-E126E9B80640}"/>
              </a:ext>
            </a:extLst>
          </p:cNvPr>
          <p:cNvSpPr>
            <a:spLocks noGrp="1"/>
          </p:cNvSpPr>
          <p:nvPr>
            <p:ph type="title"/>
          </p:nvPr>
        </p:nvSpPr>
        <p:spPr/>
        <p:txBody>
          <a:bodyPr/>
          <a:lstStyle/>
          <a:p>
            <a:r>
              <a:rPr lang="en-US" dirty="0"/>
              <a:t>Unpacking Operators: Overview</a:t>
            </a:r>
            <a:endParaRPr lang="en-SG" dirty="0"/>
          </a:p>
        </p:txBody>
      </p:sp>
      <p:sp>
        <p:nvSpPr>
          <p:cNvPr id="3" name="Content Placeholder 2">
            <a:extLst>
              <a:ext uri="{FF2B5EF4-FFF2-40B4-BE49-F238E27FC236}">
                <a16:creationId xmlns:a16="http://schemas.microsoft.com/office/drawing/2014/main" id="{D0B31A77-C0FF-7C72-9E7E-3042496E3597}"/>
              </a:ext>
            </a:extLst>
          </p:cNvPr>
          <p:cNvSpPr>
            <a:spLocks noGrp="1"/>
          </p:cNvSpPr>
          <p:nvPr>
            <p:ph idx="1"/>
          </p:nvPr>
        </p:nvSpPr>
        <p:spPr/>
        <p:txBody>
          <a:bodyPr/>
          <a:lstStyle/>
          <a:p>
            <a:r>
              <a:rPr lang="en-US" dirty="0"/>
              <a:t>* and ** can be used to </a:t>
            </a:r>
            <a:r>
              <a:rPr lang="en-US" b="1" dirty="0"/>
              <a:t>unpack values</a:t>
            </a:r>
            <a:endParaRPr lang="en-US" dirty="0"/>
          </a:p>
          <a:p>
            <a:r>
              <a:rPr lang="en-US" dirty="0"/>
              <a:t>Context matters: meaning changes based on </a:t>
            </a:r>
            <a:r>
              <a:rPr lang="en-US" i="1" dirty="0"/>
              <a:t>where</a:t>
            </a:r>
            <a:r>
              <a:rPr lang="en-US" dirty="0"/>
              <a:t> they appear</a:t>
            </a:r>
          </a:p>
          <a:p>
            <a:r>
              <a:rPr lang="en-US" dirty="0"/>
              <a:t>Commonly used in function calls and assignments</a:t>
            </a:r>
          </a:p>
          <a:p>
            <a:endParaRPr lang="en-SG" dirty="0"/>
          </a:p>
        </p:txBody>
      </p:sp>
    </p:spTree>
    <p:extLst>
      <p:ext uri="{BB962C8B-B14F-4D97-AF65-F5344CB8AC3E}">
        <p14:creationId xmlns:p14="http://schemas.microsoft.com/office/powerpoint/2010/main" val="308568690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0B675-6BF3-C1E3-9F17-28294E061D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1410B50-DA15-A502-D79B-24171E212027}"/>
              </a:ext>
            </a:extLst>
          </p:cNvPr>
          <p:cNvSpPr>
            <a:spLocks noGrp="1"/>
          </p:cNvSpPr>
          <p:nvPr>
            <p:ph type="title"/>
          </p:nvPr>
        </p:nvSpPr>
        <p:spPr/>
        <p:txBody>
          <a:bodyPr/>
          <a:lstStyle/>
          <a:p>
            <a:r>
              <a:rPr lang="en-US" dirty="0"/>
              <a:t>What Is Unpacking?</a:t>
            </a:r>
          </a:p>
        </p:txBody>
      </p:sp>
      <p:sp>
        <p:nvSpPr>
          <p:cNvPr id="8" name="Content Placeholder 7">
            <a:extLst>
              <a:ext uri="{FF2B5EF4-FFF2-40B4-BE49-F238E27FC236}">
                <a16:creationId xmlns:a16="http://schemas.microsoft.com/office/drawing/2014/main" id="{633FC12B-E966-9C6E-B280-7C05BF53CCAB}"/>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b = [1, 2]</a:t>
            </a:r>
          </a:p>
        </p:txBody>
      </p:sp>
      <p:sp>
        <p:nvSpPr>
          <p:cNvPr id="10" name="Content Placeholder 7">
            <a:extLst>
              <a:ext uri="{FF2B5EF4-FFF2-40B4-BE49-F238E27FC236}">
                <a16:creationId xmlns:a16="http://schemas.microsoft.com/office/drawing/2014/main" id="{7914A04A-161E-2355-B19F-B81DE4F3AA64}"/>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Unpacking extracts elements from a collection</a:t>
            </a:r>
          </a:p>
          <a:p>
            <a:r>
              <a:rPr lang="en-US" dirty="0"/>
              <a:t>Assigns them to variables or passes them as arguments</a:t>
            </a:r>
          </a:p>
        </p:txBody>
      </p:sp>
    </p:spTree>
    <p:extLst>
      <p:ext uri="{BB962C8B-B14F-4D97-AF65-F5344CB8AC3E}">
        <p14:creationId xmlns:p14="http://schemas.microsoft.com/office/powerpoint/2010/main" val="6593803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DE736-29C6-0904-0F92-4DCED3521657}"/>
              </a:ext>
            </a:extLst>
          </p:cNvPr>
          <p:cNvSpPr>
            <a:spLocks noGrp="1"/>
          </p:cNvSpPr>
          <p:nvPr>
            <p:ph type="title"/>
          </p:nvPr>
        </p:nvSpPr>
        <p:spPr/>
        <p:txBody>
          <a:bodyPr>
            <a:normAutofit/>
          </a:bodyPr>
          <a:lstStyle/>
          <a:p>
            <a:r>
              <a:rPr lang="en-US" dirty="0"/>
              <a:t>Unpacking Operators (* and **)</a:t>
            </a:r>
            <a:endParaRPr lang="en-SG" dirty="0"/>
          </a:p>
        </p:txBody>
      </p:sp>
      <p:sp>
        <p:nvSpPr>
          <p:cNvPr id="3" name="Content Placeholder 2">
            <a:extLst>
              <a:ext uri="{FF2B5EF4-FFF2-40B4-BE49-F238E27FC236}">
                <a16:creationId xmlns:a16="http://schemas.microsoft.com/office/drawing/2014/main" id="{336DA768-5FCD-848F-88AC-D3F9A9AA5016}"/>
              </a:ext>
            </a:extLst>
          </p:cNvPr>
          <p:cNvSpPr>
            <a:spLocks noGrp="1"/>
          </p:cNvSpPr>
          <p:nvPr>
            <p:ph idx="1"/>
          </p:nvPr>
        </p:nvSpPr>
        <p:spPr/>
        <p:txBody>
          <a:bodyPr/>
          <a:lstStyle/>
          <a:p>
            <a:r>
              <a:rPr lang="en-US" dirty="0"/>
              <a:t>* → positional values</a:t>
            </a:r>
          </a:p>
          <a:p>
            <a:r>
              <a:rPr lang="en-US" dirty="0"/>
              <a:t>** → named values</a:t>
            </a:r>
          </a:p>
          <a:p>
            <a:r>
              <a:rPr lang="en-US" dirty="0"/>
              <a:t>Meaning depends on </a:t>
            </a:r>
            <a:r>
              <a:rPr lang="en-US" b="1" dirty="0"/>
              <a:t>context</a:t>
            </a:r>
            <a:endParaRPr lang="en-US" dirty="0"/>
          </a:p>
          <a:p>
            <a:r>
              <a:rPr lang="en-US" b="1" dirty="0"/>
              <a:t>Used everywhere</a:t>
            </a:r>
            <a:r>
              <a:rPr lang="en-US" dirty="0"/>
              <a:t>: APIs, wrappers, forwarding</a:t>
            </a:r>
          </a:p>
          <a:p>
            <a:endParaRPr lang="en-SG" dirty="0"/>
          </a:p>
        </p:txBody>
      </p:sp>
    </p:spTree>
    <p:extLst>
      <p:ext uri="{BB962C8B-B14F-4D97-AF65-F5344CB8AC3E}">
        <p14:creationId xmlns:p14="http://schemas.microsoft.com/office/powerpoint/2010/main" val="34653266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95C2F-4801-106A-C43B-9387C5D7BAA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DE6A5D3-1E42-9854-6DFE-221361A8450A}"/>
              </a:ext>
            </a:extLst>
          </p:cNvPr>
          <p:cNvSpPr>
            <a:spLocks noGrp="1"/>
          </p:cNvSpPr>
          <p:nvPr>
            <p:ph type="title"/>
          </p:nvPr>
        </p:nvSpPr>
        <p:spPr/>
        <p:txBody>
          <a:bodyPr/>
          <a:lstStyle/>
          <a:p>
            <a:r>
              <a:rPr lang="en-US" dirty="0"/>
              <a:t>* for </a:t>
            </a:r>
            <a:r>
              <a:rPr lang="en-US" dirty="0" err="1"/>
              <a:t>Iterable</a:t>
            </a:r>
            <a:r>
              <a:rPr lang="en-US" dirty="0"/>
              <a:t> Unpacking</a:t>
            </a:r>
          </a:p>
        </p:txBody>
      </p:sp>
      <p:sp>
        <p:nvSpPr>
          <p:cNvPr id="8" name="Content Placeholder 7">
            <a:extLst>
              <a:ext uri="{FF2B5EF4-FFF2-40B4-BE49-F238E27FC236}">
                <a16:creationId xmlns:a16="http://schemas.microsoft.com/office/drawing/2014/main" id="{01BAFFFA-3F39-146F-DD1C-611423FBD2E4}"/>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numbers = [1, 2, 3]</a:t>
            </a:r>
          </a:p>
          <a:p>
            <a:pPr marL="0" indent="0">
              <a:buNone/>
            </a:pPr>
            <a:r>
              <a:rPr lang="en-US" dirty="0"/>
              <a:t>a, b, c = numbers</a:t>
            </a:r>
          </a:p>
        </p:txBody>
      </p:sp>
      <p:sp>
        <p:nvSpPr>
          <p:cNvPr id="10" name="Content Placeholder 7">
            <a:extLst>
              <a:ext uri="{FF2B5EF4-FFF2-40B4-BE49-F238E27FC236}">
                <a16:creationId xmlns:a16="http://schemas.microsoft.com/office/drawing/2014/main" id="{882925AC-40FC-FBF9-4267-B2DDD7558B92}"/>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Purpose - </a:t>
            </a:r>
            <a:r>
              <a:rPr lang="en-US" dirty="0"/>
              <a:t>Unpack </a:t>
            </a:r>
            <a:r>
              <a:rPr lang="en-US" dirty="0" err="1"/>
              <a:t>iterables</a:t>
            </a:r>
            <a:r>
              <a:rPr lang="en-US" dirty="0"/>
              <a:t> (lists, tuples, strings)</a:t>
            </a:r>
          </a:p>
          <a:p>
            <a:endParaRPr lang="en-US" b="1" dirty="0"/>
          </a:p>
          <a:p>
            <a:r>
              <a:rPr lang="en-US" b="1" dirty="0"/>
              <a:t>Rule - </a:t>
            </a:r>
            <a:r>
              <a:rPr lang="en-US" dirty="0"/>
              <a:t>Number of variables must match values (unless using *)</a:t>
            </a:r>
          </a:p>
          <a:p>
            <a:endParaRPr lang="en-US" dirty="0"/>
          </a:p>
        </p:txBody>
      </p:sp>
    </p:spTree>
    <p:extLst>
      <p:ext uri="{BB962C8B-B14F-4D97-AF65-F5344CB8AC3E}">
        <p14:creationId xmlns:p14="http://schemas.microsoft.com/office/powerpoint/2010/main" val="327304289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7B090-F4DC-DBFE-C0A5-9ED3993F724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46114BB-31A7-EEAE-04A9-3851219F3E29}"/>
              </a:ext>
            </a:extLst>
          </p:cNvPr>
          <p:cNvSpPr>
            <a:spLocks noGrp="1"/>
          </p:cNvSpPr>
          <p:nvPr>
            <p:ph type="title"/>
          </p:nvPr>
        </p:nvSpPr>
        <p:spPr/>
        <p:txBody>
          <a:bodyPr/>
          <a:lstStyle/>
          <a:p>
            <a:r>
              <a:rPr lang="en-US" dirty="0"/>
              <a:t>Extended Unpacking with *</a:t>
            </a:r>
          </a:p>
        </p:txBody>
      </p:sp>
      <p:sp>
        <p:nvSpPr>
          <p:cNvPr id="8" name="Content Placeholder 7">
            <a:extLst>
              <a:ext uri="{FF2B5EF4-FFF2-40B4-BE49-F238E27FC236}">
                <a16:creationId xmlns:a16="http://schemas.microsoft.com/office/drawing/2014/main" id="{9104125E-2555-F32E-BBDE-315A7D58910A}"/>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*rest = [1, 2, 3, 4]</a:t>
            </a:r>
          </a:p>
          <a:p>
            <a:pPr marL="0" indent="0">
              <a:buNone/>
            </a:pPr>
            <a:endParaRPr lang="en-US" dirty="0"/>
          </a:p>
          <a:p>
            <a:pPr marL="0" indent="0">
              <a:buNone/>
            </a:pPr>
            <a:r>
              <a:rPr lang="en-US" dirty="0"/>
              <a:t># result:</a:t>
            </a:r>
          </a:p>
          <a:p>
            <a:pPr marL="0" indent="0">
              <a:buNone/>
            </a:pPr>
            <a:r>
              <a:rPr lang="en-US" dirty="0"/>
              <a:t>a = 1</a:t>
            </a:r>
          </a:p>
          <a:p>
            <a:pPr marL="0" indent="0">
              <a:buNone/>
            </a:pPr>
            <a:r>
              <a:rPr lang="en-US" dirty="0"/>
              <a:t>rest = [2, 3, 4]</a:t>
            </a:r>
          </a:p>
          <a:p>
            <a:pPr marL="0" indent="0">
              <a:buNone/>
            </a:pPr>
            <a:endParaRPr lang="en-US" dirty="0"/>
          </a:p>
        </p:txBody>
      </p:sp>
      <p:sp>
        <p:nvSpPr>
          <p:cNvPr id="10" name="Content Placeholder 7">
            <a:extLst>
              <a:ext uri="{FF2B5EF4-FFF2-40B4-BE49-F238E27FC236}">
                <a16:creationId xmlns:a16="http://schemas.microsoft.com/office/drawing/2014/main" id="{F20A74BD-5128-C247-88BA-C50B944A8A4B}"/>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Capture an unknown number of values</a:t>
            </a:r>
          </a:p>
        </p:txBody>
      </p:sp>
    </p:spTree>
    <p:extLst>
      <p:ext uri="{BB962C8B-B14F-4D97-AF65-F5344CB8AC3E}">
        <p14:creationId xmlns:p14="http://schemas.microsoft.com/office/powerpoint/2010/main" val="317161859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930FC-D574-1A5E-12BF-04537C7929D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51ECE90-12D9-D2CA-0310-F3E02BE585CA}"/>
              </a:ext>
            </a:extLst>
          </p:cNvPr>
          <p:cNvSpPr>
            <a:spLocks noGrp="1"/>
          </p:cNvSpPr>
          <p:nvPr>
            <p:ph type="title"/>
          </p:nvPr>
        </p:nvSpPr>
        <p:spPr/>
        <p:txBody>
          <a:bodyPr/>
          <a:lstStyle/>
          <a:p>
            <a:r>
              <a:rPr lang="en-US" dirty="0"/>
              <a:t>* Can Appear Anywhere</a:t>
            </a:r>
          </a:p>
        </p:txBody>
      </p:sp>
      <p:sp>
        <p:nvSpPr>
          <p:cNvPr id="8" name="Content Placeholder 7">
            <a:extLst>
              <a:ext uri="{FF2B5EF4-FFF2-40B4-BE49-F238E27FC236}">
                <a16:creationId xmlns:a16="http://schemas.microsoft.com/office/drawing/2014/main" id="{3477D232-5A41-C3BD-CED9-A94648A90F05}"/>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*start, last = [1, 2, 3]</a:t>
            </a:r>
          </a:p>
          <a:p>
            <a:pPr marL="0" indent="0">
              <a:buNone/>
            </a:pPr>
            <a:r>
              <a:rPr lang="en-US" dirty="0"/>
              <a:t>first, *middle, last = [1, 2, 3, 4, 5]</a:t>
            </a:r>
          </a:p>
          <a:p>
            <a:pPr marL="0" indent="0">
              <a:buNone/>
            </a:pPr>
            <a:endParaRPr lang="en-US" dirty="0"/>
          </a:p>
          <a:p>
            <a:pPr marL="0" indent="0">
              <a:buNone/>
            </a:pPr>
            <a:r>
              <a:rPr lang="en-US" dirty="0"/>
              <a:t>#result</a:t>
            </a:r>
          </a:p>
          <a:p>
            <a:pPr marL="0" indent="0">
              <a:buNone/>
            </a:pPr>
            <a:r>
              <a:rPr lang="en-US" dirty="0"/>
              <a:t>start = [1,2] </a:t>
            </a:r>
          </a:p>
          <a:p>
            <a:pPr marL="0" indent="0">
              <a:buNone/>
            </a:pPr>
            <a:r>
              <a:rPr lang="en-US" dirty="0"/>
              <a:t>first = 1</a:t>
            </a:r>
          </a:p>
          <a:p>
            <a:pPr marL="0" indent="0">
              <a:buNone/>
            </a:pPr>
            <a:r>
              <a:rPr lang="en-US" dirty="0"/>
              <a:t>middle = [2,3,4]</a:t>
            </a:r>
          </a:p>
          <a:p>
            <a:pPr marL="0" indent="0">
              <a:buNone/>
            </a:pPr>
            <a:r>
              <a:rPr lang="en-US" dirty="0"/>
              <a:t>last =5 </a:t>
            </a:r>
          </a:p>
        </p:txBody>
      </p:sp>
      <p:sp>
        <p:nvSpPr>
          <p:cNvPr id="10" name="Content Placeholder 7">
            <a:extLst>
              <a:ext uri="{FF2B5EF4-FFF2-40B4-BE49-F238E27FC236}">
                <a16:creationId xmlns:a16="http://schemas.microsoft.com/office/drawing/2014/main" id="{D2546206-6AC7-D083-1470-54B14F74A3D2}"/>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 - </a:t>
            </a:r>
            <a:r>
              <a:rPr lang="en-US" dirty="0"/>
              <a:t>Only </a:t>
            </a:r>
            <a:r>
              <a:rPr lang="en-US" b="1" dirty="0"/>
              <a:t>one</a:t>
            </a:r>
            <a:r>
              <a:rPr lang="en-US" dirty="0"/>
              <a:t> * allowed per assignment</a:t>
            </a:r>
          </a:p>
          <a:p>
            <a:endParaRPr lang="en-US" dirty="0"/>
          </a:p>
        </p:txBody>
      </p:sp>
    </p:spTree>
    <p:extLst>
      <p:ext uri="{BB962C8B-B14F-4D97-AF65-F5344CB8AC3E}">
        <p14:creationId xmlns:p14="http://schemas.microsoft.com/office/powerpoint/2010/main" val="190284969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26749-5ABE-FDA1-18AE-BA635C4A429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06FA89B-0686-D971-C4A2-01B7B116EDCF}"/>
              </a:ext>
            </a:extLst>
          </p:cNvPr>
          <p:cNvSpPr>
            <a:spLocks noGrp="1"/>
          </p:cNvSpPr>
          <p:nvPr>
            <p:ph type="title"/>
          </p:nvPr>
        </p:nvSpPr>
        <p:spPr/>
        <p:txBody>
          <a:bodyPr/>
          <a:lstStyle/>
          <a:p>
            <a:r>
              <a:rPr lang="en-US" dirty="0"/>
              <a:t>Unpacking in Function Calls (*</a:t>
            </a:r>
            <a:r>
              <a:rPr lang="en-US" dirty="0" err="1"/>
              <a:t>args</a:t>
            </a:r>
            <a:r>
              <a:rPr lang="en-US" dirty="0"/>
              <a:t>)</a:t>
            </a:r>
          </a:p>
        </p:txBody>
      </p:sp>
      <p:sp>
        <p:nvSpPr>
          <p:cNvPr id="8" name="Content Placeholder 7">
            <a:extLst>
              <a:ext uri="{FF2B5EF4-FFF2-40B4-BE49-F238E27FC236}">
                <a16:creationId xmlns:a16="http://schemas.microsoft.com/office/drawing/2014/main" id="{03E05472-CDAF-0AB2-29D6-E591585CA8AC}"/>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fr-FR" dirty="0"/>
              <a:t>values = [3, 5]</a:t>
            </a:r>
          </a:p>
          <a:p>
            <a:pPr marL="0" indent="0">
              <a:buNone/>
            </a:pPr>
            <a:r>
              <a:rPr lang="fr-FR" dirty="0" err="1"/>
              <a:t>print</a:t>
            </a:r>
            <a:r>
              <a:rPr lang="fr-FR" dirty="0"/>
              <a:t>(max(*values))</a:t>
            </a:r>
          </a:p>
          <a:p>
            <a:pPr marL="0" indent="0">
              <a:buNone/>
            </a:pPr>
            <a:endParaRPr lang="fr-FR" dirty="0"/>
          </a:p>
          <a:p>
            <a:pPr marL="0" indent="0">
              <a:buNone/>
            </a:pPr>
            <a:r>
              <a:rPr lang="fr-FR" dirty="0"/>
              <a:t># </a:t>
            </a:r>
            <a:r>
              <a:rPr lang="fr-FR" dirty="0" err="1"/>
              <a:t>equivalent</a:t>
            </a:r>
            <a:r>
              <a:rPr lang="fr-FR" dirty="0"/>
              <a:t> to</a:t>
            </a:r>
          </a:p>
          <a:p>
            <a:pPr marL="0" indent="0">
              <a:buNone/>
            </a:pPr>
            <a:r>
              <a:rPr lang="fr-FR" dirty="0" err="1"/>
              <a:t>print</a:t>
            </a:r>
            <a:r>
              <a:rPr lang="fr-FR" dirty="0"/>
              <a:t>(max(3, 5))</a:t>
            </a:r>
          </a:p>
          <a:p>
            <a:pPr marL="0" indent="0">
              <a:buNone/>
            </a:pPr>
            <a:endParaRPr lang="fr-FR" dirty="0"/>
          </a:p>
        </p:txBody>
      </p:sp>
      <p:sp>
        <p:nvSpPr>
          <p:cNvPr id="10" name="Content Placeholder 7">
            <a:extLst>
              <a:ext uri="{FF2B5EF4-FFF2-40B4-BE49-F238E27FC236}">
                <a16:creationId xmlns:a16="http://schemas.microsoft.com/office/drawing/2014/main" id="{0D6522C0-41AB-9C01-A099-71ABB8A85B56}"/>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Expand a list/tuple into positional arguments</a:t>
            </a:r>
          </a:p>
        </p:txBody>
      </p:sp>
    </p:spTree>
    <p:extLst>
      <p:ext uri="{BB962C8B-B14F-4D97-AF65-F5344CB8AC3E}">
        <p14:creationId xmlns:p14="http://schemas.microsoft.com/office/powerpoint/2010/main" val="65914780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D3873-CDD7-4E75-2760-AE100E30978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81E7CFA-5D58-68CD-8092-915B03B1F1C4}"/>
              </a:ext>
            </a:extLst>
          </p:cNvPr>
          <p:cNvSpPr>
            <a:spLocks noGrp="1"/>
          </p:cNvSpPr>
          <p:nvPr>
            <p:ph type="title"/>
          </p:nvPr>
        </p:nvSpPr>
        <p:spPr/>
        <p:txBody>
          <a:bodyPr/>
          <a:lstStyle/>
          <a:p>
            <a:r>
              <a:rPr lang="en-US" dirty="0"/>
              <a:t>*</a:t>
            </a:r>
            <a:r>
              <a:rPr lang="en-US" dirty="0" err="1"/>
              <a:t>args</a:t>
            </a:r>
            <a:r>
              <a:rPr lang="en-US" dirty="0"/>
              <a:t> in Function Definitions</a:t>
            </a:r>
          </a:p>
        </p:txBody>
      </p:sp>
      <p:sp>
        <p:nvSpPr>
          <p:cNvPr id="8" name="Content Placeholder 7">
            <a:extLst>
              <a:ext uri="{FF2B5EF4-FFF2-40B4-BE49-F238E27FC236}">
                <a16:creationId xmlns:a16="http://schemas.microsoft.com/office/drawing/2014/main" id="{D31963D7-48FF-199C-E1BA-D6287095683A}"/>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total(*numbers):</a:t>
            </a:r>
          </a:p>
          <a:p>
            <a:pPr marL="0" indent="0">
              <a:buNone/>
            </a:pPr>
            <a:r>
              <a:rPr lang="en-US" dirty="0"/>
              <a:t>    return sum(numbers)</a:t>
            </a:r>
          </a:p>
        </p:txBody>
      </p:sp>
      <p:sp>
        <p:nvSpPr>
          <p:cNvPr id="10" name="Content Placeholder 7">
            <a:extLst>
              <a:ext uri="{FF2B5EF4-FFF2-40B4-BE49-F238E27FC236}">
                <a16:creationId xmlns:a16="http://schemas.microsoft.com/office/drawing/2014/main" id="{9F5A4BBC-A0E8-8600-CF6A-9CB80829C62F}"/>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positional arguments</a:t>
            </a:r>
          </a:p>
          <a:p>
            <a:r>
              <a:rPr lang="en-US" dirty="0"/>
              <a:t>Inside the function, numbers is a tuple</a:t>
            </a:r>
          </a:p>
          <a:p>
            <a:endParaRPr lang="en-US" dirty="0"/>
          </a:p>
        </p:txBody>
      </p:sp>
    </p:spTree>
    <p:extLst>
      <p:ext uri="{BB962C8B-B14F-4D97-AF65-F5344CB8AC3E}">
        <p14:creationId xmlns:p14="http://schemas.microsoft.com/office/powerpoint/2010/main" val="25139163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E2486-4D02-ED41-33C2-FC62E78AB0D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D0FA78-E596-21B5-8A49-20288B728104}"/>
              </a:ext>
            </a:extLst>
          </p:cNvPr>
          <p:cNvSpPr>
            <a:spLocks noGrp="1"/>
          </p:cNvSpPr>
          <p:nvPr>
            <p:ph type="title"/>
          </p:nvPr>
        </p:nvSpPr>
        <p:spPr/>
        <p:txBody>
          <a:bodyPr/>
          <a:lstStyle/>
          <a:p>
            <a:r>
              <a:rPr lang="en-US" dirty="0"/>
              <a:t>** for Dictionary Unpacking</a:t>
            </a:r>
          </a:p>
        </p:txBody>
      </p:sp>
      <p:sp>
        <p:nvSpPr>
          <p:cNvPr id="8" name="Content Placeholder 7">
            <a:extLst>
              <a:ext uri="{FF2B5EF4-FFF2-40B4-BE49-F238E27FC236}">
                <a16:creationId xmlns:a16="http://schemas.microsoft.com/office/drawing/2014/main" id="{4B23F5B8-E8A6-075A-EE49-C89B2529934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data = {"x": 1, "y": 2}</a:t>
            </a:r>
          </a:p>
          <a:p>
            <a:pPr marL="0" indent="0">
              <a:buNone/>
            </a:pPr>
            <a:r>
              <a:rPr lang="en-US" dirty="0"/>
              <a:t>print(**data)</a:t>
            </a:r>
          </a:p>
          <a:p>
            <a:pPr marL="0" indent="0">
              <a:buNone/>
            </a:pPr>
            <a:endParaRPr lang="en-US" dirty="0"/>
          </a:p>
          <a:p>
            <a:pPr marL="0" indent="0">
              <a:buNone/>
            </a:pPr>
            <a:r>
              <a:rPr lang="en-US" dirty="0"/>
              <a:t># equivalent to:</a:t>
            </a:r>
          </a:p>
          <a:p>
            <a:pPr marL="0" indent="0">
              <a:buNone/>
            </a:pPr>
            <a:r>
              <a:rPr lang="es-ES" dirty="0" err="1"/>
              <a:t>print</a:t>
            </a:r>
            <a:r>
              <a:rPr lang="es-ES" dirty="0"/>
              <a:t>(x=1, y=2)</a:t>
            </a:r>
          </a:p>
          <a:p>
            <a:pPr marL="0" indent="0">
              <a:buNone/>
            </a:pPr>
            <a:endParaRPr lang="en-US" dirty="0"/>
          </a:p>
        </p:txBody>
      </p:sp>
      <p:sp>
        <p:nvSpPr>
          <p:cNvPr id="10" name="Content Placeholder 7">
            <a:extLst>
              <a:ext uri="{FF2B5EF4-FFF2-40B4-BE49-F238E27FC236}">
                <a16:creationId xmlns:a16="http://schemas.microsoft.com/office/drawing/2014/main" id="{030FB942-3010-7941-8D7D-7CEA382F17C7}"/>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 key–value pairs</a:t>
            </a:r>
          </a:p>
        </p:txBody>
      </p:sp>
    </p:spTree>
    <p:extLst>
      <p:ext uri="{BB962C8B-B14F-4D97-AF65-F5344CB8AC3E}">
        <p14:creationId xmlns:p14="http://schemas.microsoft.com/office/powerpoint/2010/main" val="2642908126"/>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22365-93A1-3544-6D6E-CA5906E0207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18C2C0D-C033-E0BD-314D-FFBC5E393B08}"/>
              </a:ext>
            </a:extLst>
          </p:cNvPr>
          <p:cNvSpPr>
            <a:spLocks noGrp="1"/>
          </p:cNvSpPr>
          <p:nvPr>
            <p:ph type="title"/>
          </p:nvPr>
        </p:nvSpPr>
        <p:spPr/>
        <p:txBody>
          <a:bodyPr/>
          <a:lstStyle/>
          <a:p>
            <a:r>
              <a:rPr lang="en-SG" dirty="0"/>
              <a:t>**</a:t>
            </a:r>
            <a:r>
              <a:rPr lang="en-SG" dirty="0" err="1"/>
              <a:t>kwargs</a:t>
            </a:r>
            <a:r>
              <a:rPr lang="en-SG" dirty="0"/>
              <a:t> in Function Definitions</a:t>
            </a:r>
            <a:endParaRPr lang="en-US" dirty="0"/>
          </a:p>
        </p:txBody>
      </p:sp>
      <p:sp>
        <p:nvSpPr>
          <p:cNvPr id="8" name="Content Placeholder 7">
            <a:extLst>
              <a:ext uri="{FF2B5EF4-FFF2-40B4-BE49-F238E27FC236}">
                <a16:creationId xmlns:a16="http://schemas.microsoft.com/office/drawing/2014/main" id="{BF691EDC-9F7C-E69C-57F1-19D265939B89}"/>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show(**info):</a:t>
            </a:r>
          </a:p>
          <a:p>
            <a:pPr marL="0" indent="0">
              <a:buNone/>
            </a:pPr>
            <a:r>
              <a:rPr lang="en-US" dirty="0"/>
              <a:t>    for key, value in </a:t>
            </a:r>
            <a:r>
              <a:rPr lang="en-US" dirty="0" err="1"/>
              <a:t>info.items</a:t>
            </a:r>
            <a:r>
              <a:rPr lang="en-US" dirty="0"/>
              <a:t>():</a:t>
            </a:r>
          </a:p>
          <a:p>
            <a:pPr marL="0" indent="0">
              <a:buNone/>
            </a:pPr>
            <a:r>
              <a:rPr lang="en-US" dirty="0"/>
              <a:t>        print(key, value)</a:t>
            </a:r>
          </a:p>
        </p:txBody>
      </p:sp>
      <p:sp>
        <p:nvSpPr>
          <p:cNvPr id="10" name="Content Placeholder 7">
            <a:extLst>
              <a:ext uri="{FF2B5EF4-FFF2-40B4-BE49-F238E27FC236}">
                <a16:creationId xmlns:a16="http://schemas.microsoft.com/office/drawing/2014/main" id="{56BA7D3E-32E1-6D4C-A3C9-93F2B2E1ED15}"/>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keyword arguments</a:t>
            </a:r>
          </a:p>
          <a:p>
            <a:r>
              <a:rPr lang="en-US" dirty="0"/>
              <a:t>Inside the function, info is a dictionary</a:t>
            </a:r>
          </a:p>
          <a:p>
            <a:endParaRPr lang="en-US" dirty="0"/>
          </a:p>
        </p:txBody>
      </p:sp>
    </p:spTree>
    <p:extLst>
      <p:ext uri="{BB962C8B-B14F-4D97-AF65-F5344CB8AC3E}">
        <p14:creationId xmlns:p14="http://schemas.microsoft.com/office/powerpoint/2010/main" val="3036642234"/>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FA388-FC62-B4D1-C4B8-F5B8B84743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4B73DC0-58A3-C22B-9276-E0E4CB975916}"/>
              </a:ext>
            </a:extLst>
          </p:cNvPr>
          <p:cNvSpPr>
            <a:spLocks noGrp="1"/>
          </p:cNvSpPr>
          <p:nvPr>
            <p:ph type="title"/>
          </p:nvPr>
        </p:nvSpPr>
        <p:spPr/>
        <p:txBody>
          <a:bodyPr/>
          <a:lstStyle/>
          <a:p>
            <a:r>
              <a:rPr lang="en-SG" dirty="0"/>
              <a:t>Combining *</a:t>
            </a:r>
            <a:r>
              <a:rPr lang="en-SG" dirty="0" err="1"/>
              <a:t>args</a:t>
            </a:r>
            <a:r>
              <a:rPr lang="en-SG" dirty="0"/>
              <a:t> and **</a:t>
            </a:r>
            <a:r>
              <a:rPr lang="en-SG" dirty="0" err="1"/>
              <a:t>kwargs</a:t>
            </a:r>
            <a:endParaRPr lang="en-US" dirty="0"/>
          </a:p>
        </p:txBody>
      </p:sp>
      <p:sp>
        <p:nvSpPr>
          <p:cNvPr id="8" name="Content Placeholder 7">
            <a:extLst>
              <a:ext uri="{FF2B5EF4-FFF2-40B4-BE49-F238E27FC236}">
                <a16:creationId xmlns:a16="http://schemas.microsoft.com/office/drawing/2014/main" id="{283972F4-F908-5E0C-195C-D246D347D491}"/>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Function Definition</a:t>
            </a:r>
          </a:p>
          <a:p>
            <a:pPr marL="0" indent="0">
              <a:buNone/>
            </a:pPr>
            <a:endParaRPr lang="en-US" dirty="0"/>
          </a:p>
          <a:p>
            <a:pPr marL="0" indent="0">
              <a:buNone/>
            </a:pPr>
            <a:r>
              <a:rPr lang="en-US" dirty="0"/>
              <a:t>def log(*</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a:t>
            </a:r>
          </a:p>
          <a:p>
            <a:pPr marL="0" indent="0">
              <a:buNone/>
            </a:pPr>
            <a:r>
              <a:rPr lang="en-US" dirty="0"/>
              <a:t>    print(</a:t>
            </a:r>
            <a:r>
              <a:rPr lang="en-US" dirty="0" err="1"/>
              <a:t>kwargs</a:t>
            </a:r>
            <a:r>
              <a:rPr lang="en-US" dirty="0"/>
              <a:t>)</a:t>
            </a:r>
          </a:p>
        </p:txBody>
      </p:sp>
      <p:sp>
        <p:nvSpPr>
          <p:cNvPr id="10" name="Content Placeholder 7">
            <a:extLst>
              <a:ext uri="{FF2B5EF4-FFF2-40B4-BE49-F238E27FC236}">
                <a16:creationId xmlns:a16="http://schemas.microsoft.com/office/drawing/2014/main" id="{C67BAE2E-DB8B-66CC-DA0B-27AD932C8638}"/>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Function Call</a:t>
            </a:r>
          </a:p>
          <a:p>
            <a:pPr marL="0" indent="0">
              <a:buNone/>
            </a:pPr>
            <a:endParaRPr lang="en-US" dirty="0"/>
          </a:p>
          <a:p>
            <a:pPr marL="0" indent="0">
              <a:buNone/>
            </a:pPr>
            <a:r>
              <a:rPr lang="en-US" dirty="0"/>
              <a:t>log(1, 2, a=10, b=20)</a:t>
            </a:r>
          </a:p>
        </p:txBody>
      </p:sp>
    </p:spTree>
    <p:extLst>
      <p:ext uri="{BB962C8B-B14F-4D97-AF65-F5344CB8AC3E}">
        <p14:creationId xmlns:p14="http://schemas.microsoft.com/office/powerpoint/2010/main" val="118727996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58422-1DC1-33F3-9689-965C293AD004}"/>
              </a:ext>
            </a:extLst>
          </p:cNvPr>
          <p:cNvSpPr>
            <a:spLocks noGrp="1"/>
          </p:cNvSpPr>
          <p:nvPr>
            <p:ph type="title"/>
          </p:nvPr>
        </p:nvSpPr>
        <p:spPr/>
        <p:txBody>
          <a:bodyPr/>
          <a:lstStyle/>
          <a:p>
            <a:r>
              <a:rPr lang="en-SG" dirty="0"/>
              <a:t>Unpacking When Calling Functions</a:t>
            </a:r>
          </a:p>
        </p:txBody>
      </p:sp>
      <p:sp>
        <p:nvSpPr>
          <p:cNvPr id="3" name="Content Placeholder 2">
            <a:extLst>
              <a:ext uri="{FF2B5EF4-FFF2-40B4-BE49-F238E27FC236}">
                <a16:creationId xmlns:a16="http://schemas.microsoft.com/office/drawing/2014/main" id="{530928CE-F5E4-8E8F-A6A9-9218B392DBA8}"/>
              </a:ext>
            </a:extLst>
          </p:cNvPr>
          <p:cNvSpPr>
            <a:spLocks noGrp="1"/>
          </p:cNvSpPr>
          <p:nvPr>
            <p:ph idx="1"/>
          </p:nvPr>
        </p:nvSpPr>
        <p:spPr/>
        <p:txBody>
          <a:bodyPr>
            <a:normAutofit lnSpcReduction="10000"/>
          </a:bodyPr>
          <a:lstStyle/>
          <a:p>
            <a:pPr marL="0" indent="0">
              <a:buNone/>
            </a:pPr>
            <a:r>
              <a:rPr lang="en-SG" dirty="0"/>
              <a:t>def greet(name, age):</a:t>
            </a:r>
          </a:p>
          <a:p>
            <a:pPr marL="0" indent="0">
              <a:buNone/>
            </a:pPr>
            <a:r>
              <a:rPr lang="en-SG" dirty="0"/>
              <a:t>    print(f"{name} is {age}")</a:t>
            </a:r>
          </a:p>
          <a:p>
            <a:pPr marL="0" indent="0">
              <a:buNone/>
            </a:pPr>
            <a:endParaRPr lang="en-SG" dirty="0"/>
          </a:p>
          <a:p>
            <a:pPr marL="0" indent="0">
              <a:buNone/>
            </a:pPr>
            <a:r>
              <a:rPr lang="en-SG" dirty="0"/>
              <a:t>data = ("Ada", 36)</a:t>
            </a:r>
          </a:p>
          <a:p>
            <a:pPr marL="0" indent="0">
              <a:buNone/>
            </a:pPr>
            <a:r>
              <a:rPr lang="en-SG" dirty="0"/>
              <a:t>info = {"age": 36, "name": "Ada"}</a:t>
            </a:r>
          </a:p>
          <a:p>
            <a:pPr marL="0" indent="0">
              <a:buNone/>
            </a:pPr>
            <a:endParaRPr lang="en-SG" dirty="0"/>
          </a:p>
          <a:p>
            <a:pPr marL="0" indent="0">
              <a:buNone/>
            </a:pPr>
            <a:r>
              <a:rPr lang="en-SG" dirty="0"/>
              <a:t>greet(*data)</a:t>
            </a:r>
          </a:p>
          <a:p>
            <a:pPr marL="0" indent="0">
              <a:buNone/>
            </a:pPr>
            <a:r>
              <a:rPr lang="en-SG" dirty="0"/>
              <a:t>greet(**info)</a:t>
            </a:r>
          </a:p>
          <a:p>
            <a:pPr marL="0" indent="0">
              <a:buNone/>
            </a:pPr>
            <a:endParaRPr lang="en-SG" dirty="0"/>
          </a:p>
        </p:txBody>
      </p:sp>
    </p:spTree>
    <p:extLst>
      <p:ext uri="{BB962C8B-B14F-4D97-AF65-F5344CB8AC3E}">
        <p14:creationId xmlns:p14="http://schemas.microsoft.com/office/powerpoint/2010/main" val="365178363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4BDA4-04A6-EB82-B00E-FF029E5B739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AD1DC17-075C-6BE9-8452-7AB8BFE3CAB2}"/>
              </a:ext>
            </a:extLst>
          </p:cNvPr>
          <p:cNvSpPr>
            <a:spLocks noGrp="1"/>
          </p:cNvSpPr>
          <p:nvPr>
            <p:ph type="title"/>
          </p:nvPr>
        </p:nvSpPr>
        <p:spPr/>
        <p:txBody>
          <a:bodyPr>
            <a:normAutofit fontScale="90000"/>
          </a:bodyPr>
          <a:lstStyle/>
          <a:p>
            <a:r>
              <a:rPr lang="en-SG" dirty="0"/>
              <a:t>Merging Collections with Unpacking</a:t>
            </a:r>
            <a:endParaRPr lang="en-US" dirty="0"/>
          </a:p>
        </p:txBody>
      </p:sp>
      <p:sp>
        <p:nvSpPr>
          <p:cNvPr id="8" name="Content Placeholder 7">
            <a:extLst>
              <a:ext uri="{FF2B5EF4-FFF2-40B4-BE49-F238E27FC236}">
                <a16:creationId xmlns:a16="http://schemas.microsoft.com/office/drawing/2014/main" id="{6D19D6C1-D676-BB30-3845-CA3D2FB7ABE9}"/>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Lists</a:t>
            </a:r>
          </a:p>
          <a:p>
            <a:pPr marL="0" indent="0">
              <a:buNone/>
            </a:pPr>
            <a:endParaRPr lang="en-US" dirty="0"/>
          </a:p>
          <a:p>
            <a:pPr marL="0" indent="0">
              <a:buNone/>
            </a:pPr>
            <a:r>
              <a:rPr lang="en-US" dirty="0"/>
              <a:t>a = [1, 2]</a:t>
            </a:r>
          </a:p>
          <a:p>
            <a:pPr marL="0" indent="0">
              <a:buNone/>
            </a:pPr>
            <a:r>
              <a:rPr lang="en-US" dirty="0"/>
              <a:t>b = [3, 4]</a:t>
            </a:r>
          </a:p>
          <a:p>
            <a:pPr marL="0" indent="0">
              <a:buNone/>
            </a:pPr>
            <a:r>
              <a:rPr lang="en-US" dirty="0"/>
              <a:t>combined = [*a, *b]</a:t>
            </a:r>
          </a:p>
        </p:txBody>
      </p:sp>
      <p:sp>
        <p:nvSpPr>
          <p:cNvPr id="10" name="Content Placeholder 7">
            <a:extLst>
              <a:ext uri="{FF2B5EF4-FFF2-40B4-BE49-F238E27FC236}">
                <a16:creationId xmlns:a16="http://schemas.microsoft.com/office/drawing/2014/main" id="{F9628293-3063-8103-F592-2F66AB9E6A07}"/>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s-ES" dirty="0"/>
              <a:t># </a:t>
            </a:r>
            <a:r>
              <a:rPr lang="es-ES" dirty="0" err="1"/>
              <a:t>Dictionaries</a:t>
            </a:r>
            <a:endParaRPr lang="es-ES" dirty="0"/>
          </a:p>
          <a:p>
            <a:pPr marL="0" indent="0">
              <a:buNone/>
            </a:pPr>
            <a:endParaRPr lang="es-ES" dirty="0"/>
          </a:p>
          <a:p>
            <a:pPr marL="0" indent="0">
              <a:buNone/>
            </a:pPr>
            <a:r>
              <a:rPr lang="es-ES" dirty="0"/>
              <a:t>x = {"a": 1}</a:t>
            </a:r>
          </a:p>
          <a:p>
            <a:pPr marL="0" indent="0">
              <a:buNone/>
            </a:pPr>
            <a:r>
              <a:rPr lang="es-ES" dirty="0"/>
              <a:t>y = {"b": 2}</a:t>
            </a:r>
          </a:p>
          <a:p>
            <a:pPr marL="0" indent="0">
              <a:buNone/>
            </a:pPr>
            <a:r>
              <a:rPr lang="es-ES" dirty="0" err="1"/>
              <a:t>merged</a:t>
            </a:r>
            <a:r>
              <a:rPr lang="es-ES" dirty="0"/>
              <a:t> = {**x, **y}</a:t>
            </a:r>
          </a:p>
        </p:txBody>
      </p:sp>
    </p:spTree>
    <p:extLst>
      <p:ext uri="{BB962C8B-B14F-4D97-AF65-F5344CB8AC3E}">
        <p14:creationId xmlns:p14="http://schemas.microsoft.com/office/powerpoint/2010/main" val="229328348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DC94A-E76B-9724-754B-13BA545FF98A}"/>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DA39FA28-5195-EE45-AE25-6FA1AD441B0E}"/>
              </a:ext>
            </a:extLst>
          </p:cNvPr>
          <p:cNvSpPr>
            <a:spLocks noGrp="1"/>
          </p:cNvSpPr>
          <p:nvPr>
            <p:ph idx="1"/>
          </p:nvPr>
        </p:nvSpPr>
        <p:spPr/>
        <p:txBody>
          <a:bodyPr/>
          <a:lstStyle/>
          <a:p>
            <a:r>
              <a:rPr lang="en-US" dirty="0"/>
              <a:t>Forgetting order of positional vs keyword arguments</a:t>
            </a:r>
          </a:p>
          <a:p>
            <a:r>
              <a:rPr lang="en-US" dirty="0"/>
              <a:t>Using multiple * in assignment</a:t>
            </a:r>
          </a:p>
          <a:p>
            <a:r>
              <a:rPr lang="en-US" dirty="0"/>
              <a:t>Assuming *</a:t>
            </a:r>
            <a:r>
              <a:rPr lang="en-US" dirty="0" err="1"/>
              <a:t>args</a:t>
            </a:r>
            <a:r>
              <a:rPr lang="en-US" dirty="0"/>
              <a:t> is a list (it’s a tuple)</a:t>
            </a:r>
          </a:p>
          <a:p>
            <a:endParaRPr lang="en-SG" dirty="0"/>
          </a:p>
        </p:txBody>
      </p:sp>
    </p:spTree>
    <p:extLst>
      <p:ext uri="{BB962C8B-B14F-4D97-AF65-F5344CB8AC3E}">
        <p14:creationId xmlns:p14="http://schemas.microsoft.com/office/powerpoint/2010/main" val="118806875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4088-9421-E4BD-ADB6-A9BE4A446730}"/>
              </a:ext>
            </a:extLst>
          </p:cNvPr>
          <p:cNvSpPr>
            <a:spLocks noGrp="1"/>
          </p:cNvSpPr>
          <p:nvPr>
            <p:ph type="title"/>
          </p:nvPr>
        </p:nvSpPr>
        <p:spPr/>
        <p:txBody>
          <a:bodyPr/>
          <a:lstStyle/>
          <a:p>
            <a:r>
              <a:rPr lang="en-US" dirty="0"/>
              <a:t>When to Use Unpacking</a:t>
            </a:r>
            <a:endParaRPr lang="en-SG" dirty="0"/>
          </a:p>
        </p:txBody>
      </p:sp>
      <p:sp>
        <p:nvSpPr>
          <p:cNvPr id="3" name="Content Placeholder 2">
            <a:extLst>
              <a:ext uri="{FF2B5EF4-FFF2-40B4-BE49-F238E27FC236}">
                <a16:creationId xmlns:a16="http://schemas.microsoft.com/office/drawing/2014/main" id="{E7D6751C-4FD4-6DCF-60A7-8B0AD39ACD1A}"/>
              </a:ext>
            </a:extLst>
          </p:cNvPr>
          <p:cNvSpPr>
            <a:spLocks noGrp="1"/>
          </p:cNvSpPr>
          <p:nvPr>
            <p:ph idx="1"/>
          </p:nvPr>
        </p:nvSpPr>
        <p:spPr/>
        <p:txBody>
          <a:bodyPr/>
          <a:lstStyle/>
          <a:p>
            <a:r>
              <a:rPr lang="en-US" dirty="0"/>
              <a:t>Forwarding arguments</a:t>
            </a:r>
          </a:p>
          <a:p>
            <a:r>
              <a:rPr lang="en-US" dirty="0"/>
              <a:t>Writing flexible APIs</a:t>
            </a:r>
          </a:p>
          <a:p>
            <a:r>
              <a:rPr lang="en-US" dirty="0"/>
              <a:t>Cleaner function calls</a:t>
            </a:r>
          </a:p>
          <a:p>
            <a:r>
              <a:rPr lang="en-US" dirty="0"/>
              <a:t>Merging data structures</a:t>
            </a:r>
          </a:p>
          <a:p>
            <a:endParaRPr lang="en-SG" dirty="0"/>
          </a:p>
        </p:txBody>
      </p:sp>
    </p:spTree>
    <p:extLst>
      <p:ext uri="{BB962C8B-B14F-4D97-AF65-F5344CB8AC3E}">
        <p14:creationId xmlns:p14="http://schemas.microsoft.com/office/powerpoint/2010/main" val="3240091952"/>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83F-BF60-F46D-661D-33471F7F92F0}"/>
              </a:ext>
            </a:extLst>
          </p:cNvPr>
          <p:cNvSpPr>
            <a:spLocks noGrp="1"/>
          </p:cNvSpPr>
          <p:nvPr>
            <p:ph type="title"/>
          </p:nvPr>
        </p:nvSpPr>
        <p:spPr/>
        <p:txBody>
          <a:bodyPr/>
          <a:lstStyle/>
          <a:p>
            <a:r>
              <a:rPr lang="en-US" dirty="0"/>
              <a:t>Mental Model</a:t>
            </a:r>
            <a:endParaRPr lang="en-SG" dirty="0"/>
          </a:p>
        </p:txBody>
      </p:sp>
      <p:sp>
        <p:nvSpPr>
          <p:cNvPr id="3" name="Content Placeholder 2">
            <a:extLst>
              <a:ext uri="{FF2B5EF4-FFF2-40B4-BE49-F238E27FC236}">
                <a16:creationId xmlns:a16="http://schemas.microsoft.com/office/drawing/2014/main" id="{9856D0F4-F2BE-CF02-BF42-9AAC6BF5E6F2}"/>
              </a:ext>
            </a:extLst>
          </p:cNvPr>
          <p:cNvSpPr>
            <a:spLocks noGrp="1"/>
          </p:cNvSpPr>
          <p:nvPr>
            <p:ph idx="1"/>
          </p:nvPr>
        </p:nvSpPr>
        <p:spPr/>
        <p:txBody>
          <a:bodyPr/>
          <a:lstStyle/>
          <a:p>
            <a:r>
              <a:rPr lang="en-US" dirty="0"/>
              <a:t>* → positional values (sequence)</a:t>
            </a:r>
          </a:p>
          <a:p>
            <a:r>
              <a:rPr lang="en-US" dirty="0"/>
              <a:t>** → named values (mapping)</a:t>
            </a:r>
          </a:p>
          <a:p>
            <a:r>
              <a:rPr lang="en-US" dirty="0"/>
              <a:t>Context defines behavior</a:t>
            </a:r>
          </a:p>
          <a:p>
            <a:endParaRPr lang="en-SG" dirty="0"/>
          </a:p>
        </p:txBody>
      </p:sp>
    </p:spTree>
    <p:extLst>
      <p:ext uri="{BB962C8B-B14F-4D97-AF65-F5344CB8AC3E}">
        <p14:creationId xmlns:p14="http://schemas.microsoft.com/office/powerpoint/2010/main" val="329031105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E5E21-905F-3443-456C-1DC4574DD673}"/>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28B53EC1-82FE-771C-F25D-D616A6343750}"/>
              </a:ext>
            </a:extLst>
          </p:cNvPr>
          <p:cNvSpPr>
            <a:spLocks noGrp="1"/>
          </p:cNvSpPr>
          <p:nvPr>
            <p:ph idx="1"/>
          </p:nvPr>
        </p:nvSpPr>
        <p:spPr>
          <a:xfrm>
            <a:off x="457200" y="1600200"/>
            <a:ext cx="10591800" cy="4525963"/>
          </a:xfrm>
        </p:spPr>
        <p:txBody>
          <a:bodyPr/>
          <a:lstStyle/>
          <a:p>
            <a:r>
              <a:rPr lang="en-US" dirty="0"/>
              <a:t>Write a function </a:t>
            </a:r>
            <a:r>
              <a:rPr lang="en-US" dirty="0" err="1"/>
              <a:t>make_sentence</a:t>
            </a:r>
            <a:r>
              <a:rPr lang="en-US" dirty="0"/>
              <a:t>(*words, **punctuation)</a:t>
            </a:r>
          </a:p>
          <a:p>
            <a:r>
              <a:rPr lang="en-US" dirty="0"/>
              <a:t>Join words with spaces</a:t>
            </a:r>
          </a:p>
          <a:p>
            <a:r>
              <a:rPr lang="en-US" dirty="0"/>
              <a:t>Append punctuation if provided</a:t>
            </a:r>
          </a:p>
          <a:p>
            <a:endParaRPr lang="en-SG" dirty="0"/>
          </a:p>
        </p:txBody>
      </p:sp>
    </p:spTree>
    <p:extLst>
      <p:ext uri="{BB962C8B-B14F-4D97-AF65-F5344CB8AC3E}">
        <p14:creationId xmlns:p14="http://schemas.microsoft.com/office/powerpoint/2010/main" val="375004007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9E47B-83D4-ECC0-F4EF-6870D07A660D}"/>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2A8479DA-FA23-D562-F8C0-BC69B94DCC64}"/>
              </a:ext>
            </a:extLst>
          </p:cNvPr>
          <p:cNvSpPr>
            <a:spLocks noGrp="1"/>
          </p:cNvSpPr>
          <p:nvPr>
            <p:ph idx="1"/>
          </p:nvPr>
        </p:nvSpPr>
        <p:spPr/>
        <p:txBody>
          <a:bodyPr/>
          <a:lstStyle/>
          <a:p>
            <a:pPr marL="0" indent="0">
              <a:buNone/>
            </a:pPr>
            <a:r>
              <a:rPr lang="en-US" dirty="0"/>
              <a:t>def </a:t>
            </a:r>
            <a:r>
              <a:rPr lang="en-US" dirty="0" err="1"/>
              <a:t>make_sentence</a:t>
            </a:r>
            <a:r>
              <a:rPr lang="en-US" dirty="0"/>
              <a:t>(*words, **punctuation):</a:t>
            </a:r>
          </a:p>
          <a:p>
            <a:pPr marL="0" indent="0">
              <a:buNone/>
            </a:pPr>
            <a:r>
              <a:rPr lang="en-US" dirty="0"/>
              <a:t>    sentence = " ".join(words)</a:t>
            </a:r>
          </a:p>
          <a:p>
            <a:pPr marL="0" indent="0">
              <a:buNone/>
            </a:pPr>
            <a:r>
              <a:rPr lang="en-US" dirty="0"/>
              <a:t>    if "end" in punctuation:</a:t>
            </a:r>
          </a:p>
          <a:p>
            <a:pPr marL="0" indent="0">
              <a:buNone/>
            </a:pPr>
            <a:r>
              <a:rPr lang="en-US" dirty="0"/>
              <a:t>        sentence += punctuation["end"]</a:t>
            </a:r>
          </a:p>
          <a:p>
            <a:pPr marL="0" indent="0">
              <a:buNone/>
            </a:pPr>
            <a:r>
              <a:rPr lang="en-US" dirty="0"/>
              <a:t>    print(sentence)</a:t>
            </a:r>
          </a:p>
          <a:p>
            <a:pPr marL="0" indent="0">
              <a:buNone/>
            </a:pPr>
            <a:endParaRPr lang="en-SG" dirty="0"/>
          </a:p>
        </p:txBody>
      </p:sp>
    </p:spTree>
    <p:extLst>
      <p:ext uri="{BB962C8B-B14F-4D97-AF65-F5344CB8AC3E}">
        <p14:creationId xmlns:p14="http://schemas.microsoft.com/office/powerpoint/2010/main" val="37916125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63566-890D-3E14-C3D2-E98DA3220668}"/>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A05F0B9-61F9-AA0A-7935-BC6E04E9FF15}"/>
              </a:ext>
            </a:extLst>
          </p:cNvPr>
          <p:cNvSpPr>
            <a:spLocks noGrp="1"/>
          </p:cNvSpPr>
          <p:nvPr>
            <p:ph idx="1"/>
          </p:nvPr>
        </p:nvSpPr>
        <p:spPr/>
        <p:txBody>
          <a:bodyPr/>
          <a:lstStyle/>
          <a:p>
            <a:r>
              <a:rPr lang="en-US" dirty="0"/>
              <a:t>Unpacking improves readability</a:t>
            </a:r>
          </a:p>
          <a:p>
            <a:r>
              <a:rPr lang="en-US" dirty="0"/>
              <a:t>Enables flexible APIs</a:t>
            </a:r>
          </a:p>
          <a:p>
            <a:r>
              <a:rPr lang="en-US" dirty="0"/>
              <a:t>Core Python skill used everywhere</a:t>
            </a:r>
          </a:p>
          <a:p>
            <a:r>
              <a:rPr lang="en-US" dirty="0"/>
              <a:t>Context matters more than symbols</a:t>
            </a:r>
          </a:p>
          <a:p>
            <a:endParaRPr lang="en-SG" dirty="0"/>
          </a:p>
        </p:txBody>
      </p:sp>
    </p:spTree>
    <p:extLst>
      <p:ext uri="{BB962C8B-B14F-4D97-AF65-F5344CB8AC3E}">
        <p14:creationId xmlns:p14="http://schemas.microsoft.com/office/powerpoint/2010/main" val="248290327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12FB-0B7E-2549-3A54-50AC1C73F70C}"/>
              </a:ext>
            </a:extLst>
          </p:cNvPr>
          <p:cNvSpPr>
            <a:spLocks noGrp="1"/>
          </p:cNvSpPr>
          <p:nvPr>
            <p:ph type="title"/>
          </p:nvPr>
        </p:nvSpPr>
        <p:spPr/>
        <p:txBody>
          <a:bodyPr/>
          <a:lstStyle/>
          <a:p>
            <a:r>
              <a:rPr lang="en-US" dirty="0"/>
              <a:t>What Is a Ternary Expression?</a:t>
            </a:r>
            <a:endParaRPr lang="en-SG" dirty="0"/>
          </a:p>
        </p:txBody>
      </p:sp>
      <p:sp>
        <p:nvSpPr>
          <p:cNvPr id="3" name="Content Placeholder 2">
            <a:extLst>
              <a:ext uri="{FF2B5EF4-FFF2-40B4-BE49-F238E27FC236}">
                <a16:creationId xmlns:a16="http://schemas.microsoft.com/office/drawing/2014/main" id="{F9D8C249-F1CC-39B3-82AB-D5DBEBD57A85}"/>
              </a:ext>
            </a:extLst>
          </p:cNvPr>
          <p:cNvSpPr>
            <a:spLocks noGrp="1"/>
          </p:cNvSpPr>
          <p:nvPr>
            <p:ph idx="1"/>
          </p:nvPr>
        </p:nvSpPr>
        <p:spPr/>
        <p:txBody>
          <a:bodyPr/>
          <a:lstStyle/>
          <a:p>
            <a:r>
              <a:rPr lang="en-US" b="1" dirty="0"/>
              <a:t>Key Ideas</a:t>
            </a:r>
          </a:p>
          <a:p>
            <a:pPr lvl="1"/>
            <a:r>
              <a:rPr lang="en-US" dirty="0"/>
              <a:t>A </a:t>
            </a:r>
            <a:r>
              <a:rPr lang="en-US" b="1" dirty="0"/>
              <a:t>one-line conditional expression</a:t>
            </a:r>
            <a:endParaRPr lang="en-US" dirty="0"/>
          </a:p>
          <a:p>
            <a:pPr lvl="1"/>
            <a:r>
              <a:rPr lang="en-US" dirty="0"/>
              <a:t>Returns a value based on a condition</a:t>
            </a:r>
          </a:p>
          <a:p>
            <a:pPr lvl="1"/>
            <a:r>
              <a:rPr lang="en-US" dirty="0"/>
              <a:t>Used for </a:t>
            </a:r>
            <a:r>
              <a:rPr lang="en-US" b="1" dirty="0"/>
              <a:t>simple if–else logic</a:t>
            </a:r>
          </a:p>
          <a:p>
            <a:pPr marL="457200" lvl="1" indent="0">
              <a:buNone/>
            </a:pPr>
            <a:endParaRPr lang="en-US" dirty="0"/>
          </a:p>
          <a:p>
            <a:r>
              <a:rPr lang="en-US" b="1" dirty="0"/>
              <a:t>Syntax Pattern</a:t>
            </a:r>
          </a:p>
          <a:p>
            <a:pPr marL="0" indent="0">
              <a:buNone/>
            </a:pPr>
            <a:r>
              <a:rPr lang="en-US" b="1" dirty="0" err="1">
                <a:solidFill>
                  <a:schemeClr val="tx2"/>
                </a:solidFill>
              </a:rPr>
              <a:t>value_if_true</a:t>
            </a:r>
            <a:r>
              <a:rPr lang="en-US" b="1" dirty="0">
                <a:solidFill>
                  <a:schemeClr val="tx2"/>
                </a:solidFill>
              </a:rPr>
              <a:t> if condition else </a:t>
            </a:r>
            <a:r>
              <a:rPr lang="en-US" b="1" dirty="0" err="1">
                <a:solidFill>
                  <a:schemeClr val="tx2"/>
                </a:solidFill>
              </a:rPr>
              <a:t>value_if_false</a:t>
            </a:r>
            <a:endParaRPr lang="en-US" b="1" dirty="0">
              <a:solidFill>
                <a:schemeClr val="tx2"/>
              </a:solidFill>
            </a:endParaRPr>
          </a:p>
          <a:p>
            <a:endParaRPr lang="en-US" b="1" dirty="0"/>
          </a:p>
          <a:p>
            <a:endParaRPr lang="en-SG" dirty="0"/>
          </a:p>
        </p:txBody>
      </p:sp>
    </p:spTree>
    <p:extLst>
      <p:ext uri="{BB962C8B-B14F-4D97-AF65-F5344CB8AC3E}">
        <p14:creationId xmlns:p14="http://schemas.microsoft.com/office/powerpoint/2010/main" val="1452407167"/>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5216-2F14-CEAD-248B-685C747F666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2F654BA-8639-A2F3-7526-E2784CF9273F}"/>
              </a:ext>
            </a:extLst>
          </p:cNvPr>
          <p:cNvSpPr>
            <a:spLocks noGrp="1"/>
          </p:cNvSpPr>
          <p:nvPr>
            <p:ph type="title"/>
          </p:nvPr>
        </p:nvSpPr>
        <p:spPr/>
        <p:txBody>
          <a:bodyPr/>
          <a:lstStyle/>
          <a:p>
            <a:r>
              <a:rPr lang="en-SG" dirty="0"/>
              <a:t>Simple Example</a:t>
            </a:r>
          </a:p>
        </p:txBody>
      </p:sp>
      <p:sp>
        <p:nvSpPr>
          <p:cNvPr id="8" name="Content Placeholder 7">
            <a:extLst>
              <a:ext uri="{FF2B5EF4-FFF2-40B4-BE49-F238E27FC236}">
                <a16:creationId xmlns:a16="http://schemas.microsoft.com/office/drawing/2014/main" id="{67C8E744-43DC-DF93-F66B-41892C7B6A93}"/>
              </a:ext>
            </a:extLst>
          </p:cNvPr>
          <p:cNvSpPr>
            <a:spLocks noGrp="1"/>
          </p:cNvSpPr>
          <p:nvPr>
            <p:ph idx="1"/>
          </p:nvPr>
        </p:nvSpPr>
        <p:spPr>
          <a:xfrm>
            <a:off x="457200" y="1600200"/>
            <a:ext cx="4203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Traditional if-else</a:t>
            </a:r>
          </a:p>
          <a:p>
            <a:pPr marL="0" indent="0">
              <a:buNone/>
            </a:pPr>
            <a:endParaRPr lang="en-US" dirty="0"/>
          </a:p>
          <a:p>
            <a:pPr marL="0" indent="0">
              <a:buNone/>
            </a:pPr>
            <a:r>
              <a:rPr lang="en-US" dirty="0"/>
              <a:t>if age &gt;= 18:</a:t>
            </a:r>
          </a:p>
          <a:p>
            <a:pPr marL="0" indent="0">
              <a:buNone/>
            </a:pPr>
            <a:r>
              <a:rPr lang="en-US" dirty="0"/>
              <a:t>    status = "Adult"</a:t>
            </a:r>
          </a:p>
          <a:p>
            <a:pPr marL="0" indent="0">
              <a:buNone/>
            </a:pPr>
            <a:r>
              <a:rPr lang="en-US" dirty="0"/>
              <a:t>else:</a:t>
            </a:r>
          </a:p>
          <a:p>
            <a:pPr marL="0" indent="0">
              <a:buNone/>
            </a:pPr>
            <a:r>
              <a:rPr lang="en-US" dirty="0"/>
              <a:t>    status = "Minor"</a:t>
            </a:r>
          </a:p>
        </p:txBody>
      </p:sp>
      <p:sp>
        <p:nvSpPr>
          <p:cNvPr id="10" name="Content Placeholder 7">
            <a:extLst>
              <a:ext uri="{FF2B5EF4-FFF2-40B4-BE49-F238E27FC236}">
                <a16:creationId xmlns:a16="http://schemas.microsoft.com/office/drawing/2014/main" id="{E2798688-D51B-937D-A789-5D1B1830A1B1}"/>
              </a:ext>
            </a:extLst>
          </p:cNvPr>
          <p:cNvSpPr txBox="1">
            <a:spLocks/>
          </p:cNvSpPr>
          <p:nvPr/>
        </p:nvSpPr>
        <p:spPr>
          <a:xfrm>
            <a:off x="4953000" y="1600199"/>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ternary version</a:t>
            </a:r>
          </a:p>
          <a:p>
            <a:pPr marL="0" indent="0">
              <a:buNone/>
            </a:pPr>
            <a:endParaRPr lang="en-US" dirty="0"/>
          </a:p>
          <a:p>
            <a:pPr marL="0" indent="0">
              <a:buNone/>
            </a:pPr>
            <a:r>
              <a:rPr lang="en-US" dirty="0"/>
              <a:t>status = "Adult" if age &gt;= 18 else "Minor"</a:t>
            </a:r>
          </a:p>
        </p:txBody>
      </p:sp>
    </p:spTree>
    <p:extLst>
      <p:ext uri="{BB962C8B-B14F-4D97-AF65-F5344CB8AC3E}">
        <p14:creationId xmlns:p14="http://schemas.microsoft.com/office/powerpoint/2010/main" val="4230411532"/>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1C231-D19E-E3FD-1EAB-91B66BA9F70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98FB0DA-86AA-786A-A2D8-E75017D19CB4}"/>
              </a:ext>
            </a:extLst>
          </p:cNvPr>
          <p:cNvSpPr>
            <a:spLocks noGrp="1"/>
          </p:cNvSpPr>
          <p:nvPr>
            <p:ph type="title"/>
          </p:nvPr>
        </p:nvSpPr>
        <p:spPr/>
        <p:txBody>
          <a:bodyPr/>
          <a:lstStyle/>
          <a:p>
            <a:r>
              <a:rPr lang="en-SG" dirty="0"/>
              <a:t>Ternary with Expressions</a:t>
            </a:r>
          </a:p>
        </p:txBody>
      </p:sp>
      <p:sp>
        <p:nvSpPr>
          <p:cNvPr id="10" name="Content Placeholder 7">
            <a:extLst>
              <a:ext uri="{FF2B5EF4-FFF2-40B4-BE49-F238E27FC236}">
                <a16:creationId xmlns:a16="http://schemas.microsoft.com/office/drawing/2014/main" id="{610AFE27-C404-5590-122D-E164CDD881DF}"/>
              </a:ext>
            </a:extLst>
          </p:cNvPr>
          <p:cNvSpPr txBox="1">
            <a:spLocks/>
          </p:cNvSpPr>
          <p:nvPr/>
        </p:nvSpPr>
        <p:spPr>
          <a:xfrm>
            <a:off x="1730375" y="1638298"/>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b="1" dirty="0"/>
              <a:t>Values Can Be Expressions</a:t>
            </a:r>
          </a:p>
          <a:p>
            <a:pPr marL="0" indent="0">
              <a:buNone/>
            </a:pPr>
            <a:endParaRPr lang="en-US" dirty="0"/>
          </a:p>
          <a:p>
            <a:pPr marL="0" indent="0">
              <a:buNone/>
            </a:pPr>
            <a:r>
              <a:rPr lang="en-US" dirty="0"/>
              <a:t>x = 10</a:t>
            </a:r>
          </a:p>
          <a:p>
            <a:pPr marL="0" indent="0">
              <a:buNone/>
            </a:pPr>
            <a:r>
              <a:rPr lang="en-US" dirty="0"/>
              <a:t>y = 20</a:t>
            </a:r>
          </a:p>
          <a:p>
            <a:pPr marL="0" indent="0">
              <a:buNone/>
            </a:pPr>
            <a:endParaRPr lang="en-US" dirty="0"/>
          </a:p>
          <a:p>
            <a:pPr marL="0" indent="0">
              <a:buNone/>
            </a:pPr>
            <a:r>
              <a:rPr lang="en-US" dirty="0" err="1">
                <a:solidFill>
                  <a:schemeClr val="tx2"/>
                </a:solidFill>
              </a:rPr>
              <a:t>max_value</a:t>
            </a:r>
            <a:r>
              <a:rPr lang="en-US" dirty="0">
                <a:solidFill>
                  <a:schemeClr val="tx2"/>
                </a:solidFill>
              </a:rPr>
              <a:t> = x if x &gt; y else y</a:t>
            </a:r>
          </a:p>
        </p:txBody>
      </p:sp>
    </p:spTree>
    <p:extLst>
      <p:ext uri="{BB962C8B-B14F-4D97-AF65-F5344CB8AC3E}">
        <p14:creationId xmlns:p14="http://schemas.microsoft.com/office/powerpoint/2010/main" val="388690666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0380A-9E84-9DBB-DED9-AA5023423EC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28CB90E-11D0-2212-C986-E2BA2786D93F}"/>
              </a:ext>
            </a:extLst>
          </p:cNvPr>
          <p:cNvSpPr>
            <a:spLocks noGrp="1"/>
          </p:cNvSpPr>
          <p:nvPr>
            <p:ph type="title"/>
          </p:nvPr>
        </p:nvSpPr>
        <p:spPr/>
        <p:txBody>
          <a:bodyPr/>
          <a:lstStyle/>
          <a:p>
            <a:r>
              <a:rPr lang="en-SG" dirty="0"/>
              <a:t>Ternary with Function Calls</a:t>
            </a:r>
          </a:p>
        </p:txBody>
      </p:sp>
      <p:sp>
        <p:nvSpPr>
          <p:cNvPr id="10" name="Content Placeholder 7">
            <a:extLst>
              <a:ext uri="{FF2B5EF4-FFF2-40B4-BE49-F238E27FC236}">
                <a16:creationId xmlns:a16="http://schemas.microsoft.com/office/drawing/2014/main" id="{15C1FE96-2FD1-E3F8-F8DE-B34FC81DBAE2}"/>
              </a:ext>
            </a:extLst>
          </p:cNvPr>
          <p:cNvSpPr txBox="1">
            <a:spLocks/>
          </p:cNvSpPr>
          <p:nvPr/>
        </p:nvSpPr>
        <p:spPr>
          <a:xfrm>
            <a:off x="1730375" y="1638298"/>
            <a:ext cx="9204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price = int(input(‘Enter positive integer for price: ‘)) </a:t>
            </a:r>
          </a:p>
          <a:p>
            <a:pPr marL="0" indent="0">
              <a:buNone/>
            </a:pPr>
            <a:endParaRPr lang="en-US" dirty="0"/>
          </a:p>
          <a:p>
            <a:pPr marL="0" indent="0">
              <a:buNone/>
            </a:pPr>
            <a:r>
              <a:rPr lang="en-US" dirty="0"/>
              <a:t>def discount(price):</a:t>
            </a:r>
          </a:p>
          <a:p>
            <a:pPr marL="0" indent="0">
              <a:buNone/>
            </a:pPr>
            <a:r>
              <a:rPr lang="en-US" dirty="0"/>
              <a:t>    return price * 0.9</a:t>
            </a:r>
          </a:p>
          <a:p>
            <a:pPr marL="0" indent="0">
              <a:buNone/>
            </a:pPr>
            <a:endParaRPr lang="en-US" dirty="0"/>
          </a:p>
          <a:p>
            <a:pPr marL="0" indent="0">
              <a:buNone/>
            </a:pPr>
            <a:r>
              <a:rPr lang="en-US" dirty="0" err="1"/>
              <a:t>final_price</a:t>
            </a:r>
            <a:r>
              <a:rPr lang="en-US" dirty="0"/>
              <a:t> = discount(price) if price &gt; 100 else price</a:t>
            </a:r>
          </a:p>
          <a:p>
            <a:pPr marL="0" indent="0">
              <a:buNone/>
            </a:pPr>
            <a:endParaRPr lang="en-US" dirty="0"/>
          </a:p>
          <a:p>
            <a:pPr marL="0" indent="0">
              <a:buNone/>
            </a:pPr>
            <a:r>
              <a:rPr lang="en-US" dirty="0"/>
              <a:t>print(</a:t>
            </a:r>
            <a:r>
              <a:rPr lang="en-US" dirty="0" err="1"/>
              <a:t>f’Final</a:t>
            </a:r>
            <a:r>
              <a:rPr lang="en-US" dirty="0"/>
              <a:t> Price: {</a:t>
            </a:r>
            <a:r>
              <a:rPr lang="en-US" dirty="0" err="1"/>
              <a:t>final_price</a:t>
            </a:r>
            <a:r>
              <a:rPr lang="en-US" dirty="0"/>
              <a:t>}’)</a:t>
            </a:r>
          </a:p>
        </p:txBody>
      </p:sp>
    </p:spTree>
    <p:extLst>
      <p:ext uri="{BB962C8B-B14F-4D97-AF65-F5344CB8AC3E}">
        <p14:creationId xmlns:p14="http://schemas.microsoft.com/office/powerpoint/2010/main" val="2464605763"/>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AAA0E-F969-2F07-67A9-8203C83413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033F98-068F-D6BA-A6B6-262CA4E32EDD}"/>
              </a:ext>
            </a:extLst>
          </p:cNvPr>
          <p:cNvSpPr>
            <a:spLocks noGrp="1"/>
          </p:cNvSpPr>
          <p:nvPr>
            <p:ph type="title"/>
          </p:nvPr>
        </p:nvSpPr>
        <p:spPr/>
        <p:txBody>
          <a:bodyPr>
            <a:normAutofit fontScale="90000"/>
          </a:bodyPr>
          <a:lstStyle/>
          <a:p>
            <a:r>
              <a:rPr lang="en-SG" dirty="0"/>
              <a:t>Nested Ternary Expressions (Warning)</a:t>
            </a:r>
          </a:p>
        </p:txBody>
      </p:sp>
      <p:sp>
        <p:nvSpPr>
          <p:cNvPr id="8" name="Content Placeholder 7">
            <a:extLst>
              <a:ext uri="{FF2B5EF4-FFF2-40B4-BE49-F238E27FC236}">
                <a16:creationId xmlns:a16="http://schemas.microsoft.com/office/drawing/2014/main" id="{8692D6D8-AE0D-FA30-F749-3B6141DD3684}"/>
              </a:ext>
            </a:extLst>
          </p:cNvPr>
          <p:cNvSpPr>
            <a:spLocks noGrp="1"/>
          </p:cNvSpPr>
          <p:nvPr>
            <p:ph idx="1"/>
          </p:nvPr>
        </p:nvSpPr>
        <p:spPr>
          <a:xfrm>
            <a:off x="457200" y="1600200"/>
            <a:ext cx="4584700" cy="4525963"/>
          </a:xfrm>
        </p:spPr>
        <p:style>
          <a:lnRef idx="2">
            <a:schemeClr val="dk1"/>
          </a:lnRef>
          <a:fillRef idx="1">
            <a:schemeClr val="lt1"/>
          </a:fillRef>
          <a:effectRef idx="0">
            <a:schemeClr val="dk1"/>
          </a:effectRef>
          <a:fontRef idx="minor">
            <a:schemeClr val="dk1"/>
          </a:fontRef>
        </p:style>
        <p:txBody>
          <a:bodyPr>
            <a:normAutofit/>
          </a:bodyPr>
          <a:lstStyle/>
          <a:p>
            <a:r>
              <a:rPr lang="en-US" dirty="0"/>
              <a:t>Works, but harder to read</a:t>
            </a:r>
          </a:p>
          <a:p>
            <a:endParaRPr lang="en-US" dirty="0"/>
          </a:p>
          <a:p>
            <a:r>
              <a:rPr lang="en-US" dirty="0"/>
              <a:t>Prefer if–</a:t>
            </a:r>
            <a:r>
              <a:rPr lang="en-US" dirty="0" err="1"/>
              <a:t>elif</a:t>
            </a:r>
            <a:r>
              <a:rPr lang="en-US" dirty="0"/>
              <a:t>–else for clarity</a:t>
            </a:r>
          </a:p>
        </p:txBody>
      </p:sp>
      <p:sp>
        <p:nvSpPr>
          <p:cNvPr id="10" name="Content Placeholder 7">
            <a:extLst>
              <a:ext uri="{FF2B5EF4-FFF2-40B4-BE49-F238E27FC236}">
                <a16:creationId xmlns:a16="http://schemas.microsoft.com/office/drawing/2014/main" id="{0547DA62-5A0C-808F-732F-FD4D0E92C4ED}"/>
              </a:ext>
            </a:extLst>
          </p:cNvPr>
          <p:cNvSpPr txBox="1">
            <a:spLocks/>
          </p:cNvSpPr>
          <p:nvPr/>
        </p:nvSpPr>
        <p:spPr>
          <a:xfrm>
            <a:off x="5270500" y="1600199"/>
            <a:ext cx="663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result = "Positive" if x &gt; 0 else "Zero" if x == 0 else "Negative"</a:t>
            </a:r>
          </a:p>
        </p:txBody>
      </p:sp>
    </p:spTree>
    <p:extLst>
      <p:ext uri="{BB962C8B-B14F-4D97-AF65-F5344CB8AC3E}">
        <p14:creationId xmlns:p14="http://schemas.microsoft.com/office/powerpoint/2010/main" val="3128228054"/>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C88C3-F349-54EA-910B-7DAE3215EEE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73911D-06AA-5E3F-A10E-3F70857A6467}"/>
              </a:ext>
            </a:extLst>
          </p:cNvPr>
          <p:cNvSpPr>
            <a:spLocks noGrp="1"/>
          </p:cNvSpPr>
          <p:nvPr>
            <p:ph type="title"/>
          </p:nvPr>
        </p:nvSpPr>
        <p:spPr/>
        <p:txBody>
          <a:bodyPr>
            <a:normAutofit/>
          </a:bodyPr>
          <a:lstStyle/>
          <a:p>
            <a:r>
              <a:rPr lang="en-SG" dirty="0"/>
              <a:t>Common Pitfall: Forgetting Else</a:t>
            </a:r>
          </a:p>
        </p:txBody>
      </p:sp>
      <p:sp>
        <p:nvSpPr>
          <p:cNvPr id="8" name="Content Placeholder 7">
            <a:extLst>
              <a:ext uri="{FF2B5EF4-FFF2-40B4-BE49-F238E27FC236}">
                <a16:creationId xmlns:a16="http://schemas.microsoft.com/office/drawing/2014/main" id="{FEF12DDA-6D0D-B944-B17A-D7DD6128BA68}"/>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Good</a:t>
            </a:r>
          </a:p>
          <a:p>
            <a:pPr marL="0" indent="0">
              <a:buNone/>
            </a:pPr>
            <a:endParaRPr lang="en-US" dirty="0"/>
          </a:p>
          <a:p>
            <a:pPr marL="0" indent="0">
              <a:buNone/>
            </a:pPr>
            <a:r>
              <a:rPr lang="en-US" dirty="0"/>
              <a:t>a = x if x &gt; 0 else 0</a:t>
            </a:r>
          </a:p>
        </p:txBody>
      </p:sp>
      <p:sp>
        <p:nvSpPr>
          <p:cNvPr id="10" name="Content Placeholder 7">
            <a:extLst>
              <a:ext uri="{FF2B5EF4-FFF2-40B4-BE49-F238E27FC236}">
                <a16:creationId xmlns:a16="http://schemas.microsoft.com/office/drawing/2014/main" id="{592B8421-A625-0A76-BF1F-2B1C3586DEF2}"/>
              </a:ext>
            </a:extLst>
          </p:cNvPr>
          <p:cNvSpPr txBox="1">
            <a:spLocks/>
          </p:cNvSpPr>
          <p:nvPr/>
        </p:nvSpPr>
        <p:spPr>
          <a:xfrm>
            <a:off x="6094412" y="1600199"/>
            <a:ext cx="58150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Bad. Results in Error</a:t>
            </a:r>
          </a:p>
          <a:p>
            <a:pPr marL="0" indent="0">
              <a:buNone/>
            </a:pPr>
            <a:endParaRPr lang="en-US" sz="3600" dirty="0"/>
          </a:p>
          <a:p>
            <a:pPr marL="0" indent="0">
              <a:buNone/>
            </a:pPr>
            <a:r>
              <a:rPr lang="en-US" sz="3600" dirty="0"/>
              <a:t>a = x if x &gt; 0</a:t>
            </a:r>
          </a:p>
        </p:txBody>
      </p:sp>
    </p:spTree>
    <p:extLst>
      <p:ext uri="{BB962C8B-B14F-4D97-AF65-F5344CB8AC3E}">
        <p14:creationId xmlns:p14="http://schemas.microsoft.com/office/powerpoint/2010/main" val="211988394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EE686-CD59-80C0-F329-620558CDA7DF}"/>
              </a:ext>
            </a:extLst>
          </p:cNvPr>
          <p:cNvSpPr>
            <a:spLocks noGrp="1"/>
          </p:cNvSpPr>
          <p:nvPr>
            <p:ph type="title"/>
          </p:nvPr>
        </p:nvSpPr>
        <p:spPr/>
        <p:txBody>
          <a:bodyPr/>
          <a:lstStyle/>
          <a:p>
            <a:r>
              <a:rPr lang="en-SG" dirty="0"/>
              <a:t>Ternary vs if–else</a:t>
            </a:r>
          </a:p>
        </p:txBody>
      </p:sp>
      <p:graphicFrame>
        <p:nvGraphicFramePr>
          <p:cNvPr id="4" name="Table 3">
            <a:extLst>
              <a:ext uri="{FF2B5EF4-FFF2-40B4-BE49-F238E27FC236}">
                <a16:creationId xmlns:a16="http://schemas.microsoft.com/office/drawing/2014/main" id="{CD29CD55-6978-7E85-E61D-1ABCE245BB2A}"/>
              </a:ext>
            </a:extLst>
          </p:cNvPr>
          <p:cNvGraphicFramePr>
            <a:graphicFrameLocks noGrp="1"/>
          </p:cNvGraphicFramePr>
          <p:nvPr>
            <p:extLst>
              <p:ext uri="{D42A27DB-BD31-4B8C-83A1-F6EECF244321}">
                <p14:modId xmlns:p14="http://schemas.microsoft.com/office/powerpoint/2010/main" val="1128563592"/>
              </p:ext>
            </p:extLst>
          </p:nvPr>
        </p:nvGraphicFramePr>
        <p:xfrm>
          <a:off x="457200" y="1536700"/>
          <a:ext cx="8229600" cy="4368800"/>
        </p:xfrm>
        <a:graphic>
          <a:graphicData uri="http://schemas.openxmlformats.org/drawingml/2006/table">
            <a:tbl>
              <a:tblPr/>
              <a:tblGrid>
                <a:gridCol w="2743200">
                  <a:extLst>
                    <a:ext uri="{9D8B030D-6E8A-4147-A177-3AD203B41FA5}">
                      <a16:colId xmlns:a16="http://schemas.microsoft.com/office/drawing/2014/main" val="2345902759"/>
                    </a:ext>
                  </a:extLst>
                </a:gridCol>
                <a:gridCol w="2743200">
                  <a:extLst>
                    <a:ext uri="{9D8B030D-6E8A-4147-A177-3AD203B41FA5}">
                      <a16:colId xmlns:a16="http://schemas.microsoft.com/office/drawing/2014/main" val="1600972764"/>
                    </a:ext>
                  </a:extLst>
                </a:gridCol>
                <a:gridCol w="2743200">
                  <a:extLst>
                    <a:ext uri="{9D8B030D-6E8A-4147-A177-3AD203B41FA5}">
                      <a16:colId xmlns:a16="http://schemas.microsoft.com/office/drawing/2014/main" val="2749064028"/>
                    </a:ext>
                  </a:extLst>
                </a:gridCol>
              </a:tblGrid>
              <a:tr h="1092200">
                <a:tc>
                  <a:txBody>
                    <a:bodyPr/>
                    <a:lstStyle/>
                    <a:p>
                      <a:pPr>
                        <a:buNone/>
                      </a:pPr>
                      <a:r>
                        <a:rPr lang="en-SG"/>
                        <a:t>Feature</a:t>
                      </a:r>
                    </a:p>
                  </a:txBody>
                  <a:tcPr anchor="ctr">
                    <a:lnL>
                      <a:noFill/>
                    </a:lnL>
                    <a:lnR>
                      <a:noFill/>
                    </a:lnR>
                    <a:lnT>
                      <a:noFill/>
                    </a:lnT>
                    <a:lnB>
                      <a:noFill/>
                    </a:lnB>
                    <a:noFill/>
                  </a:tcPr>
                </a:tc>
                <a:tc>
                  <a:txBody>
                    <a:bodyPr/>
                    <a:lstStyle/>
                    <a:p>
                      <a:pPr>
                        <a:buNone/>
                      </a:pPr>
                      <a:r>
                        <a:rPr lang="en-SG"/>
                        <a:t>if–else</a:t>
                      </a:r>
                    </a:p>
                  </a:txBody>
                  <a:tcPr anchor="ctr">
                    <a:lnL>
                      <a:noFill/>
                    </a:lnL>
                    <a:lnR>
                      <a:noFill/>
                    </a:lnR>
                    <a:lnT>
                      <a:noFill/>
                    </a:lnT>
                    <a:lnB>
                      <a:noFill/>
                    </a:lnB>
                    <a:noFill/>
                  </a:tcPr>
                </a:tc>
                <a:tc>
                  <a:txBody>
                    <a:bodyPr/>
                    <a:lstStyle/>
                    <a:p>
                      <a:pPr>
                        <a:buNone/>
                      </a:pPr>
                      <a:r>
                        <a:rPr lang="en-SG"/>
                        <a:t>Ternary</a:t>
                      </a:r>
                    </a:p>
                  </a:txBody>
                  <a:tcPr anchor="ctr">
                    <a:lnL>
                      <a:noFill/>
                    </a:lnL>
                    <a:lnR>
                      <a:noFill/>
                    </a:lnR>
                    <a:lnT>
                      <a:noFill/>
                    </a:lnT>
                    <a:lnB>
                      <a:noFill/>
                    </a:lnB>
                    <a:noFill/>
                  </a:tcPr>
                </a:tc>
                <a:extLst>
                  <a:ext uri="{0D108BD9-81ED-4DB2-BD59-A6C34878D82A}">
                    <a16:rowId xmlns:a16="http://schemas.microsoft.com/office/drawing/2014/main" val="3058437716"/>
                  </a:ext>
                </a:extLst>
              </a:tr>
              <a:tr h="1092200">
                <a:tc>
                  <a:txBody>
                    <a:bodyPr/>
                    <a:lstStyle/>
                    <a:p>
                      <a:pPr>
                        <a:buNone/>
                      </a:pPr>
                      <a:r>
                        <a:rPr lang="en-SG"/>
                        <a:t>Multiple statements</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774426750"/>
                  </a:ext>
                </a:extLst>
              </a:tr>
              <a:tr h="1092200">
                <a:tc>
                  <a:txBody>
                    <a:bodyPr/>
                    <a:lstStyle/>
                    <a:p>
                      <a:pPr>
                        <a:buNone/>
                      </a:pPr>
                      <a:r>
                        <a:rPr lang="en-SG"/>
                        <a:t>One-line assignment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575761028"/>
                  </a:ext>
                </a:extLst>
              </a:tr>
              <a:tr h="1092200">
                <a:tc>
                  <a:txBody>
                    <a:bodyPr/>
                    <a:lstStyle/>
                    <a:p>
                      <a:pPr>
                        <a:buNone/>
                      </a:pPr>
                      <a:r>
                        <a:rPr lang="en-SG"/>
                        <a:t>Readability (simple)</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dirty="0"/>
                        <a:t>✅</a:t>
                      </a:r>
                    </a:p>
                  </a:txBody>
                  <a:tcPr anchor="ctr">
                    <a:lnL>
                      <a:noFill/>
                    </a:lnL>
                    <a:lnR>
                      <a:noFill/>
                    </a:lnR>
                    <a:lnT>
                      <a:noFill/>
                    </a:lnT>
                    <a:lnB>
                      <a:noFill/>
                    </a:lnB>
                    <a:noFill/>
                  </a:tcPr>
                </a:tc>
                <a:extLst>
                  <a:ext uri="{0D108BD9-81ED-4DB2-BD59-A6C34878D82A}">
                    <a16:rowId xmlns:a16="http://schemas.microsoft.com/office/drawing/2014/main" val="1540924542"/>
                  </a:ext>
                </a:extLst>
              </a:tr>
            </a:tbl>
          </a:graphicData>
        </a:graphic>
      </p:graphicFrame>
    </p:spTree>
    <p:extLst>
      <p:ext uri="{BB962C8B-B14F-4D97-AF65-F5344CB8AC3E}">
        <p14:creationId xmlns:p14="http://schemas.microsoft.com/office/powerpoint/2010/main" val="145200668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4603-AAEA-BD62-9242-0457BCF916C3}"/>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D506E1B-BD3B-B759-56B7-32D6C0146C16}"/>
              </a:ext>
            </a:extLst>
          </p:cNvPr>
          <p:cNvSpPr>
            <a:spLocks noGrp="1"/>
          </p:cNvSpPr>
          <p:nvPr>
            <p:ph idx="1"/>
          </p:nvPr>
        </p:nvSpPr>
        <p:spPr/>
        <p:txBody>
          <a:bodyPr/>
          <a:lstStyle/>
          <a:p>
            <a:r>
              <a:rPr lang="en-US" dirty="0"/>
              <a:t>Ask the user for a number</a:t>
            </a:r>
          </a:p>
          <a:p>
            <a:endParaRPr lang="en-US" dirty="0"/>
          </a:p>
          <a:p>
            <a:r>
              <a:rPr lang="en-US" dirty="0"/>
              <a:t>Assign:</a:t>
            </a:r>
          </a:p>
          <a:p>
            <a:endParaRPr lang="en-US" dirty="0"/>
          </a:p>
          <a:p>
            <a:pPr lvl="1"/>
            <a:r>
              <a:rPr lang="en-US" dirty="0"/>
              <a:t>"Even" or "Odd" using a ternary expression</a:t>
            </a:r>
          </a:p>
          <a:p>
            <a:endParaRPr lang="en-US" dirty="0"/>
          </a:p>
          <a:p>
            <a:r>
              <a:rPr lang="en-US" dirty="0"/>
              <a:t>Print the result</a:t>
            </a:r>
            <a:endParaRPr lang="en-SG" dirty="0"/>
          </a:p>
        </p:txBody>
      </p:sp>
    </p:spTree>
    <p:extLst>
      <p:ext uri="{BB962C8B-B14F-4D97-AF65-F5344CB8AC3E}">
        <p14:creationId xmlns:p14="http://schemas.microsoft.com/office/powerpoint/2010/main" val="4120675750"/>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260BA-8B6F-D1FE-5F7F-EB41D3860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5331E-7B03-034B-C2BF-68A3F57882A6}"/>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F71F8D30-ACD3-4DAE-B6CF-5353A611B053}"/>
              </a:ext>
            </a:extLst>
          </p:cNvPr>
          <p:cNvSpPr>
            <a:spLocks noGrp="1"/>
          </p:cNvSpPr>
          <p:nvPr>
            <p:ph idx="1"/>
          </p:nvPr>
        </p:nvSpPr>
        <p:spPr>
          <a:xfrm>
            <a:off x="457200" y="1600200"/>
            <a:ext cx="7912100" cy="4525963"/>
          </a:xfrm>
        </p:spPr>
        <p:txBody>
          <a:bodyPr/>
          <a:lstStyle/>
          <a:p>
            <a:pPr marL="0" indent="0">
              <a:buNone/>
            </a:pPr>
            <a:r>
              <a:rPr lang="en-US" dirty="0"/>
              <a:t>num = int(input("Enter a number: "))</a:t>
            </a:r>
          </a:p>
          <a:p>
            <a:pPr marL="0" indent="0">
              <a:buNone/>
            </a:pPr>
            <a:endParaRPr lang="en-US" dirty="0"/>
          </a:p>
          <a:p>
            <a:pPr marL="0" indent="0">
              <a:buNone/>
            </a:pPr>
            <a:r>
              <a:rPr lang="en-US" dirty="0"/>
              <a:t>result = "Even" if num % 2 == 0 else "Odd“</a:t>
            </a:r>
          </a:p>
          <a:p>
            <a:pPr marL="0" indent="0">
              <a:buNone/>
            </a:pPr>
            <a:endParaRPr lang="en-US" dirty="0"/>
          </a:p>
          <a:p>
            <a:pPr marL="0" indent="0">
              <a:buNone/>
            </a:pPr>
            <a:r>
              <a:rPr lang="en-US" dirty="0"/>
              <a:t>print(result)</a:t>
            </a:r>
          </a:p>
        </p:txBody>
      </p:sp>
    </p:spTree>
    <p:extLst>
      <p:ext uri="{BB962C8B-B14F-4D97-AF65-F5344CB8AC3E}">
        <p14:creationId xmlns:p14="http://schemas.microsoft.com/office/powerpoint/2010/main" val="312322559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Loops — for &amp; while</a:t>
            </a:r>
          </a:p>
        </p:txBody>
      </p:sp>
      <p:sp>
        <p:nvSpPr>
          <p:cNvPr id="3" name="Content Placeholder 2"/>
          <p:cNvSpPr>
            <a:spLocks noGrp="1"/>
          </p:cNvSpPr>
          <p:nvPr>
            <p:ph idx="1"/>
          </p:nvPr>
        </p:nvSpPr>
        <p:spPr/>
        <p:txBody>
          <a:bodyPr/>
          <a:lstStyle/>
          <a:p>
            <a:r>
              <a:rPr dirty="0"/>
              <a:t>for loops iterate over sequences</a:t>
            </a:r>
          </a:p>
          <a:p>
            <a:r>
              <a:rPr dirty="0"/>
              <a:t>while loops repeat while condition is True</a:t>
            </a:r>
          </a:p>
          <a:p>
            <a:r>
              <a:rPr dirty="0"/>
              <a:t>break and continue control loop flow</a:t>
            </a: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3B95-3D3B-AEBD-5F6B-FAFA834B7F5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A4686BA-2308-6AD9-9989-18A6CF2B7C76}"/>
              </a:ext>
            </a:extLst>
          </p:cNvPr>
          <p:cNvSpPr>
            <a:spLocks noGrp="1"/>
          </p:cNvSpPr>
          <p:nvPr>
            <p:ph type="title"/>
          </p:nvPr>
        </p:nvSpPr>
        <p:spPr/>
        <p:txBody>
          <a:bodyPr/>
          <a:lstStyle/>
          <a:p>
            <a:r>
              <a:rPr lang="en-SG" dirty="0"/>
              <a:t>for Loops</a:t>
            </a:r>
          </a:p>
        </p:txBody>
      </p:sp>
      <p:sp>
        <p:nvSpPr>
          <p:cNvPr id="8" name="Content Placeholder 7">
            <a:extLst>
              <a:ext uri="{FF2B5EF4-FFF2-40B4-BE49-F238E27FC236}">
                <a16:creationId xmlns:a16="http://schemas.microsoft.com/office/drawing/2014/main" id="{ABCB246E-05CD-E38E-E710-76898A4EA061}"/>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6205D715-5295-1630-D89C-15A8328BA5C6}"/>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iterate over a sequence</a:t>
            </a:r>
          </a:p>
          <a:p>
            <a:endParaRPr lang="en-US" dirty="0"/>
          </a:p>
          <a:p>
            <a:r>
              <a:rPr lang="en-US" dirty="0"/>
              <a:t>Commonly used with lists, strings, ranges</a:t>
            </a:r>
          </a:p>
        </p:txBody>
      </p:sp>
    </p:spTree>
    <p:extLst>
      <p:ext uri="{BB962C8B-B14F-4D97-AF65-F5344CB8AC3E}">
        <p14:creationId xmlns:p14="http://schemas.microsoft.com/office/powerpoint/2010/main" val="123666164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1AB5-F18E-F27F-03B5-3CCB278D5520}"/>
              </a:ext>
            </a:extLst>
          </p:cNvPr>
          <p:cNvSpPr>
            <a:spLocks noGrp="1"/>
          </p:cNvSpPr>
          <p:nvPr>
            <p:ph type="title"/>
          </p:nvPr>
        </p:nvSpPr>
        <p:spPr/>
        <p:txBody>
          <a:bodyPr/>
          <a:lstStyle/>
          <a:p>
            <a:r>
              <a:rPr lang="en-SG" dirty="0"/>
              <a:t>Looping Through Collections</a:t>
            </a:r>
          </a:p>
        </p:txBody>
      </p:sp>
      <p:sp>
        <p:nvSpPr>
          <p:cNvPr id="3" name="Content Placeholder 2">
            <a:extLst>
              <a:ext uri="{FF2B5EF4-FFF2-40B4-BE49-F238E27FC236}">
                <a16:creationId xmlns:a16="http://schemas.microsoft.com/office/drawing/2014/main" id="{87681482-5E64-509D-644D-DE4A9FBE67AD}"/>
              </a:ext>
            </a:extLst>
          </p:cNvPr>
          <p:cNvSpPr>
            <a:spLocks noGrp="1"/>
          </p:cNvSpPr>
          <p:nvPr>
            <p:ph idx="1"/>
          </p:nvPr>
        </p:nvSpPr>
        <p:spPr/>
        <p:txBody>
          <a:bodyPr/>
          <a:lstStyle/>
          <a:p>
            <a:pPr marL="0" indent="0">
              <a:buNone/>
            </a:pPr>
            <a:r>
              <a:rPr lang="en-SG" dirty="0"/>
              <a:t>fruits = ["apple", "banana", "orange"]</a:t>
            </a:r>
          </a:p>
          <a:p>
            <a:pPr marL="0" indent="0">
              <a:buNone/>
            </a:pPr>
            <a:endParaRPr lang="en-SG" dirty="0"/>
          </a:p>
          <a:p>
            <a:pPr marL="0" indent="0">
              <a:buNone/>
            </a:pPr>
            <a:r>
              <a:rPr lang="en-SG" dirty="0"/>
              <a:t>for fruit in fruits:</a:t>
            </a:r>
          </a:p>
          <a:p>
            <a:pPr marL="0" indent="0">
              <a:buNone/>
            </a:pPr>
            <a:r>
              <a:rPr lang="en-SG" dirty="0"/>
              <a:t>    print(fruit)</a:t>
            </a:r>
          </a:p>
          <a:p>
            <a:pPr marL="0" indent="0">
              <a:buNone/>
            </a:pPr>
            <a:endParaRPr lang="en-SG" dirty="0"/>
          </a:p>
        </p:txBody>
      </p:sp>
    </p:spTree>
    <p:extLst>
      <p:ext uri="{BB962C8B-B14F-4D97-AF65-F5344CB8AC3E}">
        <p14:creationId xmlns:p14="http://schemas.microsoft.com/office/powerpoint/2010/main" val="384292791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43280-42DA-6A97-5E76-78C2C79330D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C44CD44-9FD5-DD79-59FF-3A49DEB7079A}"/>
              </a:ext>
            </a:extLst>
          </p:cNvPr>
          <p:cNvSpPr>
            <a:spLocks noGrp="1"/>
          </p:cNvSpPr>
          <p:nvPr>
            <p:ph type="title"/>
          </p:nvPr>
        </p:nvSpPr>
        <p:spPr/>
        <p:txBody>
          <a:bodyPr/>
          <a:lstStyle/>
          <a:p>
            <a:r>
              <a:rPr lang="en-SG" dirty="0"/>
              <a:t>while Loops</a:t>
            </a:r>
          </a:p>
        </p:txBody>
      </p:sp>
      <p:sp>
        <p:nvSpPr>
          <p:cNvPr id="8" name="Content Placeholder 7">
            <a:extLst>
              <a:ext uri="{FF2B5EF4-FFF2-40B4-BE49-F238E27FC236}">
                <a16:creationId xmlns:a16="http://schemas.microsoft.com/office/drawing/2014/main" id="{8C1D49EF-7BEA-C434-111A-DE65F2EBCBDD}"/>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count = 1</a:t>
            </a:r>
          </a:p>
          <a:p>
            <a:pPr marL="0" indent="0">
              <a:buNone/>
            </a:pPr>
            <a:endParaRPr lang="en-US" dirty="0"/>
          </a:p>
          <a:p>
            <a:pPr marL="0" indent="0">
              <a:buNone/>
            </a:pPr>
            <a:r>
              <a:rPr lang="en-US" dirty="0"/>
              <a:t>while count &lt;= 3:</a:t>
            </a:r>
          </a:p>
          <a:p>
            <a:pPr marL="0" indent="0">
              <a:buNone/>
            </a:pPr>
            <a:r>
              <a:rPr lang="en-US" dirty="0"/>
              <a:t>    print(count)</a:t>
            </a:r>
          </a:p>
          <a:p>
            <a:pPr marL="0" indent="0">
              <a:buNone/>
            </a:pPr>
            <a:r>
              <a:rPr lang="en-US" dirty="0"/>
              <a:t>    count += 1</a:t>
            </a:r>
          </a:p>
        </p:txBody>
      </p:sp>
      <p:sp>
        <p:nvSpPr>
          <p:cNvPr id="10" name="Content Placeholder 7">
            <a:extLst>
              <a:ext uri="{FF2B5EF4-FFF2-40B4-BE49-F238E27FC236}">
                <a16:creationId xmlns:a16="http://schemas.microsoft.com/office/drawing/2014/main" id="{74EB3B58-F560-F508-65B8-0499EA9640D8}"/>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Repeats while a condition is True</a:t>
            </a:r>
          </a:p>
          <a:p>
            <a:endParaRPr lang="en-US" dirty="0"/>
          </a:p>
          <a:p>
            <a:r>
              <a:rPr lang="en-US" dirty="0"/>
              <a:t>Must ensure condition eventually becomes False</a:t>
            </a:r>
          </a:p>
        </p:txBody>
      </p:sp>
    </p:spTree>
    <p:extLst>
      <p:ext uri="{BB962C8B-B14F-4D97-AF65-F5344CB8AC3E}">
        <p14:creationId xmlns:p14="http://schemas.microsoft.com/office/powerpoint/2010/main" val="2820443738"/>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9AF1-CA6C-8256-CAE1-F706419AF33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55C2D27-9D41-248A-53EC-58239238CC15}"/>
              </a:ext>
            </a:extLst>
          </p:cNvPr>
          <p:cNvSpPr>
            <a:spLocks noGrp="1"/>
          </p:cNvSpPr>
          <p:nvPr>
            <p:ph type="title"/>
          </p:nvPr>
        </p:nvSpPr>
        <p:spPr/>
        <p:txBody>
          <a:bodyPr/>
          <a:lstStyle/>
          <a:p>
            <a:r>
              <a:rPr lang="en-SG" dirty="0"/>
              <a:t>break and continue</a:t>
            </a:r>
          </a:p>
        </p:txBody>
      </p:sp>
      <p:sp>
        <p:nvSpPr>
          <p:cNvPr id="8" name="Content Placeholder 7">
            <a:extLst>
              <a:ext uri="{FF2B5EF4-FFF2-40B4-BE49-F238E27FC236}">
                <a16:creationId xmlns:a16="http://schemas.microsoft.com/office/drawing/2014/main" id="{B52CC788-C611-65EC-DF02-8F0B8D867A6B}"/>
              </a:ext>
            </a:extLst>
          </p:cNvPr>
          <p:cNvSpPr>
            <a:spLocks noGrp="1"/>
          </p:cNvSpPr>
          <p:nvPr>
            <p:ph idx="1"/>
          </p:nvPr>
        </p:nvSpPr>
        <p:spPr>
          <a:xfrm>
            <a:off x="457199" y="1600200"/>
            <a:ext cx="5092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Exits the loop immediately</a:t>
            </a:r>
          </a:p>
          <a:p>
            <a:pPr marL="0" indent="0">
              <a:buNone/>
            </a:pPr>
            <a:endParaRPr lang="en-US" dirty="0"/>
          </a:p>
          <a:p>
            <a:pPr marL="0" indent="0">
              <a:buNone/>
            </a:pPr>
            <a:r>
              <a:rPr lang="en-US" dirty="0"/>
              <a:t>for </a:t>
            </a:r>
            <a:r>
              <a:rPr lang="en-US" dirty="0" err="1"/>
              <a:t>i</a:t>
            </a:r>
            <a:r>
              <a:rPr lang="en-US" dirty="0"/>
              <a:t> in range(5):</a:t>
            </a:r>
          </a:p>
          <a:p>
            <a:pPr marL="0" indent="0">
              <a:buNone/>
            </a:pPr>
            <a:r>
              <a:rPr lang="en-US" dirty="0"/>
              <a:t>    if </a:t>
            </a:r>
            <a:r>
              <a:rPr lang="en-US" dirty="0" err="1"/>
              <a:t>i</a:t>
            </a:r>
            <a:r>
              <a:rPr lang="en-US" dirty="0"/>
              <a:t> == 3:</a:t>
            </a:r>
          </a:p>
          <a:p>
            <a:pPr marL="0" indent="0">
              <a:buNone/>
            </a:pPr>
            <a:r>
              <a:rPr lang="en-US" dirty="0"/>
              <a:t>        break</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1DF43494-D451-81BB-07A6-BF7C23065EFA}"/>
              </a:ext>
            </a:extLst>
          </p:cNvPr>
          <p:cNvSpPr txBox="1">
            <a:spLocks/>
          </p:cNvSpPr>
          <p:nvPr/>
        </p:nvSpPr>
        <p:spPr>
          <a:xfrm>
            <a:off x="5943600" y="1600200"/>
            <a:ext cx="57880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457200" lvl="1" indent="0">
              <a:buNone/>
            </a:pPr>
            <a:r>
              <a:rPr lang="en-US" dirty="0"/>
              <a:t># Skips to the next iteration</a:t>
            </a:r>
          </a:p>
          <a:p>
            <a:pPr marL="457200" lvl="1" indent="0">
              <a:buNone/>
            </a:pPr>
            <a:endParaRPr lang="en-US" dirty="0"/>
          </a:p>
          <a:p>
            <a:pPr marL="457200" lvl="1" indent="0">
              <a:buNone/>
            </a:pPr>
            <a:r>
              <a:rPr lang="en-US" dirty="0"/>
              <a:t>for </a:t>
            </a:r>
            <a:r>
              <a:rPr lang="en-US" dirty="0" err="1"/>
              <a:t>i</a:t>
            </a:r>
            <a:r>
              <a:rPr lang="en-US" dirty="0"/>
              <a:t> in range(5):</a:t>
            </a:r>
          </a:p>
          <a:p>
            <a:pPr marL="457200" lvl="1" indent="0">
              <a:buNone/>
            </a:pPr>
            <a:r>
              <a:rPr lang="en-US" dirty="0"/>
              <a:t>    if </a:t>
            </a:r>
            <a:r>
              <a:rPr lang="en-US" dirty="0" err="1"/>
              <a:t>i</a:t>
            </a:r>
            <a:r>
              <a:rPr lang="en-US" dirty="0"/>
              <a:t> == 2:</a:t>
            </a:r>
          </a:p>
          <a:p>
            <a:pPr marL="457200" lvl="1" indent="0">
              <a:buNone/>
            </a:pPr>
            <a:r>
              <a:rPr lang="en-US" dirty="0"/>
              <a:t>        continue</a:t>
            </a:r>
          </a:p>
          <a:p>
            <a:pPr marL="457200" lvl="1" indent="0">
              <a:buNone/>
            </a:pPr>
            <a:r>
              <a:rPr lang="en-US" dirty="0"/>
              <a:t>    print(</a:t>
            </a:r>
            <a:r>
              <a:rPr lang="en-US" dirty="0" err="1"/>
              <a:t>i</a:t>
            </a:r>
            <a:r>
              <a:rPr lang="en-US" dirty="0"/>
              <a:t>)</a:t>
            </a:r>
          </a:p>
          <a:p>
            <a:pPr marL="457200" lvl="1" indent="0">
              <a:buNone/>
            </a:pPr>
            <a:endParaRPr lang="en-US" dirty="0"/>
          </a:p>
        </p:txBody>
      </p:sp>
    </p:spTree>
    <p:extLst>
      <p:ext uri="{BB962C8B-B14F-4D97-AF65-F5344CB8AC3E}">
        <p14:creationId xmlns:p14="http://schemas.microsoft.com/office/powerpoint/2010/main" val="348379837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5DA6-C9C0-61A5-1F3A-AD37D797BF6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8173BDA-4A95-95DE-7A4B-BE969FDE54FD}"/>
              </a:ext>
            </a:extLst>
          </p:cNvPr>
          <p:cNvSpPr>
            <a:spLocks noGrp="1"/>
          </p:cNvSpPr>
          <p:nvPr>
            <p:ph type="title"/>
          </p:nvPr>
        </p:nvSpPr>
        <p:spPr/>
        <p:txBody>
          <a:bodyPr/>
          <a:lstStyle/>
          <a:p>
            <a:r>
              <a:rPr lang="en-SG" dirty="0"/>
              <a:t>Nested Control Flow</a:t>
            </a:r>
          </a:p>
        </p:txBody>
      </p:sp>
      <p:sp>
        <p:nvSpPr>
          <p:cNvPr id="8" name="Content Placeholder 7">
            <a:extLst>
              <a:ext uri="{FF2B5EF4-FFF2-40B4-BE49-F238E27FC236}">
                <a16:creationId xmlns:a16="http://schemas.microsoft.com/office/drawing/2014/main" id="{D507A18C-C57C-495A-94AF-E11401750EBA}"/>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if </a:t>
            </a:r>
            <a:r>
              <a:rPr lang="en-US" dirty="0" err="1"/>
              <a:t>i</a:t>
            </a:r>
            <a:r>
              <a:rPr lang="en-US" dirty="0"/>
              <a:t> % 2 == 0:</a:t>
            </a:r>
          </a:p>
          <a:p>
            <a:pPr marL="0" indent="0">
              <a:buNone/>
            </a:pPr>
            <a:r>
              <a:rPr lang="en-US" dirty="0"/>
              <a:t>        print(</a:t>
            </a:r>
            <a:r>
              <a:rPr lang="en-US" dirty="0" err="1"/>
              <a:t>i</a:t>
            </a:r>
            <a:r>
              <a:rPr lang="en-US" dirty="0"/>
              <a:t>, "is even")</a:t>
            </a:r>
          </a:p>
        </p:txBody>
      </p:sp>
      <p:sp>
        <p:nvSpPr>
          <p:cNvPr id="10" name="Content Placeholder 7">
            <a:extLst>
              <a:ext uri="{FF2B5EF4-FFF2-40B4-BE49-F238E27FC236}">
                <a16:creationId xmlns:a16="http://schemas.microsoft.com/office/drawing/2014/main" id="{DBFAF15F-D2EE-0D2D-B6C1-80D6EFC6E836}"/>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Control structures can be nested</a:t>
            </a:r>
          </a:p>
          <a:p>
            <a:endParaRPr lang="en-US" dirty="0"/>
          </a:p>
          <a:p>
            <a:r>
              <a:rPr lang="en-US" dirty="0"/>
              <a:t>Indentation is critical in Python</a:t>
            </a:r>
          </a:p>
        </p:txBody>
      </p:sp>
    </p:spTree>
    <p:extLst>
      <p:ext uri="{BB962C8B-B14F-4D97-AF65-F5344CB8AC3E}">
        <p14:creationId xmlns:p14="http://schemas.microsoft.com/office/powerpoint/2010/main" val="212963093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FEE7-A98D-E344-97CF-0688120181E1}"/>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F59BD070-6517-F7E3-64AF-1F6CCD1C0134}"/>
              </a:ext>
            </a:extLst>
          </p:cNvPr>
          <p:cNvSpPr>
            <a:spLocks noGrp="1"/>
          </p:cNvSpPr>
          <p:nvPr>
            <p:ph idx="1"/>
          </p:nvPr>
        </p:nvSpPr>
        <p:spPr/>
        <p:txBody>
          <a:bodyPr/>
          <a:lstStyle/>
          <a:p>
            <a:r>
              <a:rPr lang="en-US" dirty="0"/>
              <a:t>Missing or incorrect indentation</a:t>
            </a:r>
          </a:p>
          <a:p>
            <a:endParaRPr lang="en-US" dirty="0"/>
          </a:p>
          <a:p>
            <a:r>
              <a:rPr lang="en-US" dirty="0"/>
              <a:t>Infinite while loops</a:t>
            </a:r>
          </a:p>
          <a:p>
            <a:endParaRPr lang="en-US" dirty="0"/>
          </a:p>
          <a:p>
            <a:r>
              <a:rPr lang="en-US" dirty="0"/>
              <a:t>Using = instead of ==</a:t>
            </a:r>
          </a:p>
          <a:p>
            <a:endParaRPr lang="en-US" dirty="0"/>
          </a:p>
          <a:p>
            <a:r>
              <a:rPr lang="en-US" dirty="0"/>
              <a:t>Overly complex nested logic</a:t>
            </a:r>
            <a:endParaRPr lang="en-SG" dirty="0"/>
          </a:p>
        </p:txBody>
      </p:sp>
    </p:spTree>
    <p:extLst>
      <p:ext uri="{BB962C8B-B14F-4D97-AF65-F5344CB8AC3E}">
        <p14:creationId xmlns:p14="http://schemas.microsoft.com/office/powerpoint/2010/main" val="379487923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0580-8CA9-C0D1-AC08-7614AD2FE849}"/>
              </a:ext>
            </a:extLst>
          </p:cNvPr>
          <p:cNvSpPr>
            <a:spLocks noGrp="1"/>
          </p:cNvSpPr>
          <p:nvPr>
            <p:ph type="title"/>
          </p:nvPr>
        </p:nvSpPr>
        <p:spPr/>
        <p:txBody>
          <a:bodyPr/>
          <a:lstStyle/>
          <a:p>
            <a:r>
              <a:rPr lang="en-SG" dirty="0"/>
              <a:t>When to Use What</a:t>
            </a:r>
          </a:p>
        </p:txBody>
      </p:sp>
      <p:graphicFrame>
        <p:nvGraphicFramePr>
          <p:cNvPr id="4" name="Table 3">
            <a:extLst>
              <a:ext uri="{FF2B5EF4-FFF2-40B4-BE49-F238E27FC236}">
                <a16:creationId xmlns:a16="http://schemas.microsoft.com/office/drawing/2014/main" id="{80D140C0-C5D9-5D70-3F0C-2B153AB003DE}"/>
              </a:ext>
            </a:extLst>
          </p:cNvPr>
          <p:cNvGraphicFramePr>
            <a:graphicFrameLocks noGrp="1"/>
          </p:cNvGraphicFramePr>
          <p:nvPr>
            <p:extLst>
              <p:ext uri="{D42A27DB-BD31-4B8C-83A1-F6EECF244321}">
                <p14:modId xmlns:p14="http://schemas.microsoft.com/office/powerpoint/2010/main" val="1534488153"/>
              </p:ext>
            </p:extLst>
          </p:nvPr>
        </p:nvGraphicFramePr>
        <p:xfrm>
          <a:off x="939800" y="1925161"/>
          <a:ext cx="8229600" cy="3291840"/>
        </p:xfrm>
        <a:graphic>
          <a:graphicData uri="http://schemas.openxmlformats.org/drawingml/2006/table">
            <a:tbl>
              <a:tblPr/>
              <a:tblGrid>
                <a:gridCol w="4114800">
                  <a:extLst>
                    <a:ext uri="{9D8B030D-6E8A-4147-A177-3AD203B41FA5}">
                      <a16:colId xmlns:a16="http://schemas.microsoft.com/office/drawing/2014/main" val="3782213857"/>
                    </a:ext>
                  </a:extLst>
                </a:gridCol>
                <a:gridCol w="4114800">
                  <a:extLst>
                    <a:ext uri="{9D8B030D-6E8A-4147-A177-3AD203B41FA5}">
                      <a16:colId xmlns:a16="http://schemas.microsoft.com/office/drawing/2014/main" val="3006299161"/>
                    </a:ext>
                  </a:extLst>
                </a:gridCol>
              </a:tblGrid>
              <a:tr h="0">
                <a:tc>
                  <a:txBody>
                    <a:bodyPr/>
                    <a:lstStyle/>
                    <a:p>
                      <a:pPr>
                        <a:buNone/>
                      </a:pPr>
                      <a:r>
                        <a:rPr lang="en-SG" sz="3200" b="1" dirty="0">
                          <a:solidFill>
                            <a:schemeClr val="tx2"/>
                          </a:solidFill>
                        </a:rPr>
                        <a:t>Situation</a:t>
                      </a:r>
                    </a:p>
                  </a:txBody>
                  <a:tcPr anchor="ctr">
                    <a:lnL>
                      <a:noFill/>
                    </a:lnL>
                    <a:lnR>
                      <a:noFill/>
                    </a:lnR>
                    <a:lnT>
                      <a:noFill/>
                    </a:lnT>
                    <a:lnB>
                      <a:noFill/>
                    </a:lnB>
                    <a:noFill/>
                  </a:tcPr>
                </a:tc>
                <a:tc>
                  <a:txBody>
                    <a:bodyPr/>
                    <a:lstStyle/>
                    <a:p>
                      <a:pPr>
                        <a:buNone/>
                      </a:pPr>
                      <a:r>
                        <a:rPr lang="en-SG" sz="3200" b="1" dirty="0">
                          <a:solidFill>
                            <a:schemeClr val="tx2"/>
                          </a:solidFill>
                        </a:rPr>
                        <a:t>Use</a:t>
                      </a:r>
                    </a:p>
                  </a:txBody>
                  <a:tcPr anchor="ctr">
                    <a:lnL>
                      <a:noFill/>
                    </a:lnL>
                    <a:lnR>
                      <a:noFill/>
                    </a:lnR>
                    <a:lnT>
                      <a:noFill/>
                    </a:lnT>
                    <a:lnB>
                      <a:noFill/>
                    </a:lnB>
                    <a:noFill/>
                  </a:tcPr>
                </a:tc>
                <a:extLst>
                  <a:ext uri="{0D108BD9-81ED-4DB2-BD59-A6C34878D82A}">
                    <a16:rowId xmlns:a16="http://schemas.microsoft.com/office/drawing/2014/main" val="3516361683"/>
                  </a:ext>
                </a:extLst>
              </a:tr>
              <a:tr h="0">
                <a:tc>
                  <a:txBody>
                    <a:bodyPr/>
                    <a:lstStyle/>
                    <a:p>
                      <a:pPr>
                        <a:buNone/>
                      </a:pPr>
                      <a:r>
                        <a:rPr lang="en-SG" sz="3200" dirty="0"/>
                        <a:t>Decision making</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if / </a:t>
                      </a:r>
                      <a:r>
                        <a:rPr lang="en-SG" sz="3200" dirty="0" err="1">
                          <a:latin typeface="Courier New" panose="02070309020205020404" pitchFamily="49" charset="0"/>
                        </a:rPr>
                        <a:t>elif</a:t>
                      </a:r>
                      <a:r>
                        <a:rPr lang="en-SG" sz="3200" dirty="0">
                          <a:latin typeface="Courier New" panose="02070309020205020404" pitchFamily="49" charset="0"/>
                        </a:rPr>
                        <a:t> / else</a:t>
                      </a:r>
                      <a:endParaRPr lang="en-SG" sz="3200" dirty="0"/>
                    </a:p>
                  </a:txBody>
                  <a:tcPr anchor="ctr">
                    <a:lnL>
                      <a:noFill/>
                    </a:lnL>
                    <a:lnR>
                      <a:noFill/>
                    </a:lnR>
                    <a:lnT>
                      <a:noFill/>
                    </a:lnT>
                    <a:lnB>
                      <a:noFill/>
                    </a:lnB>
                    <a:noFill/>
                  </a:tcPr>
                </a:tc>
                <a:extLst>
                  <a:ext uri="{0D108BD9-81ED-4DB2-BD59-A6C34878D82A}">
                    <a16:rowId xmlns:a16="http://schemas.microsoft.com/office/drawing/2014/main" val="691739763"/>
                  </a:ext>
                </a:extLst>
              </a:tr>
              <a:tr h="0">
                <a:tc>
                  <a:txBody>
                    <a:bodyPr/>
                    <a:lstStyle/>
                    <a:p>
                      <a:pPr>
                        <a:buNone/>
                      </a:pPr>
                      <a:r>
                        <a:rPr lang="en-SG" sz="3200"/>
                        <a:t>Known number of iterations</a:t>
                      </a:r>
                    </a:p>
                  </a:txBody>
                  <a:tcPr anchor="ctr">
                    <a:lnL>
                      <a:noFill/>
                    </a:lnL>
                    <a:lnR>
                      <a:noFill/>
                    </a:lnR>
                    <a:lnT>
                      <a:noFill/>
                    </a:lnT>
                    <a:lnB>
                      <a:noFill/>
                    </a:lnB>
                    <a:noFill/>
                  </a:tcPr>
                </a:tc>
                <a:tc>
                  <a:txBody>
                    <a:bodyPr/>
                    <a:lstStyle/>
                    <a:p>
                      <a:pPr>
                        <a:buNone/>
                      </a:pPr>
                      <a:r>
                        <a:rPr lang="en-SG" sz="3200">
                          <a:latin typeface="Courier New" panose="02070309020205020404" pitchFamily="49" charset="0"/>
                        </a:rPr>
                        <a:t>for</a:t>
                      </a:r>
                      <a:r>
                        <a:rPr lang="en-SG" sz="3200"/>
                        <a:t> loop</a:t>
                      </a:r>
                    </a:p>
                  </a:txBody>
                  <a:tcPr anchor="ctr">
                    <a:lnL>
                      <a:noFill/>
                    </a:lnL>
                    <a:lnR>
                      <a:noFill/>
                    </a:lnR>
                    <a:lnT>
                      <a:noFill/>
                    </a:lnT>
                    <a:lnB>
                      <a:noFill/>
                    </a:lnB>
                    <a:noFill/>
                  </a:tcPr>
                </a:tc>
                <a:extLst>
                  <a:ext uri="{0D108BD9-81ED-4DB2-BD59-A6C34878D82A}">
                    <a16:rowId xmlns:a16="http://schemas.microsoft.com/office/drawing/2014/main" val="2397128675"/>
                  </a:ext>
                </a:extLst>
              </a:tr>
              <a:tr h="0">
                <a:tc>
                  <a:txBody>
                    <a:bodyPr/>
                    <a:lstStyle/>
                    <a:p>
                      <a:pPr>
                        <a:buNone/>
                      </a:pPr>
                      <a:r>
                        <a:rPr lang="en-SG" sz="3200"/>
                        <a:t>Unknown number of iterations</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while</a:t>
                      </a:r>
                      <a:r>
                        <a:rPr lang="en-SG" sz="3200" dirty="0"/>
                        <a:t> loop</a:t>
                      </a:r>
                    </a:p>
                  </a:txBody>
                  <a:tcPr anchor="ctr">
                    <a:lnL>
                      <a:noFill/>
                    </a:lnL>
                    <a:lnR>
                      <a:noFill/>
                    </a:lnR>
                    <a:lnT>
                      <a:noFill/>
                    </a:lnT>
                    <a:lnB>
                      <a:noFill/>
                    </a:lnB>
                    <a:noFill/>
                  </a:tcPr>
                </a:tc>
                <a:extLst>
                  <a:ext uri="{0D108BD9-81ED-4DB2-BD59-A6C34878D82A}">
                    <a16:rowId xmlns:a16="http://schemas.microsoft.com/office/drawing/2014/main" val="1994354377"/>
                  </a:ext>
                </a:extLst>
              </a:tr>
            </a:tbl>
          </a:graphicData>
        </a:graphic>
      </p:graphicFrame>
    </p:spTree>
    <p:extLst>
      <p:ext uri="{BB962C8B-B14F-4D97-AF65-F5344CB8AC3E}">
        <p14:creationId xmlns:p14="http://schemas.microsoft.com/office/powerpoint/2010/main" val="117912502"/>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CEB0-9FFA-CB48-A11F-0D02671FC284}"/>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7E24476F-3CA3-D413-CFBC-7F476CA504A1}"/>
              </a:ext>
            </a:extLst>
          </p:cNvPr>
          <p:cNvSpPr>
            <a:spLocks noGrp="1"/>
          </p:cNvSpPr>
          <p:nvPr>
            <p:ph idx="1"/>
          </p:nvPr>
        </p:nvSpPr>
        <p:spPr/>
        <p:txBody>
          <a:bodyPr/>
          <a:lstStyle/>
          <a:p>
            <a:r>
              <a:rPr lang="en-US" dirty="0"/>
              <a:t>Ask the user for a number</a:t>
            </a:r>
          </a:p>
          <a:p>
            <a:endParaRPr lang="en-US" dirty="0"/>
          </a:p>
          <a:p>
            <a:r>
              <a:rPr lang="en-US" dirty="0"/>
              <a:t>Print whether it is:</a:t>
            </a:r>
          </a:p>
          <a:p>
            <a:endParaRPr lang="en-US" dirty="0"/>
          </a:p>
          <a:p>
            <a:pPr lvl="1"/>
            <a:r>
              <a:rPr lang="en-US" dirty="0"/>
              <a:t>Positive, negative, or zero</a:t>
            </a:r>
          </a:p>
          <a:p>
            <a:endParaRPr lang="en-US" dirty="0"/>
          </a:p>
          <a:p>
            <a:pPr lvl="1"/>
            <a:r>
              <a:rPr lang="en-US" dirty="0"/>
              <a:t>Even or odd</a:t>
            </a:r>
            <a:endParaRPr lang="en-SG" dirty="0"/>
          </a:p>
        </p:txBody>
      </p:sp>
    </p:spTree>
    <p:extLst>
      <p:ext uri="{BB962C8B-B14F-4D97-AF65-F5344CB8AC3E}">
        <p14:creationId xmlns:p14="http://schemas.microsoft.com/office/powerpoint/2010/main" val="353688252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EFAA0-A6D2-2BCC-DD3D-E4B40974678B}"/>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3A230ED2-C228-CD81-C2D9-F6408FD0A7CE}"/>
              </a:ext>
            </a:extLst>
          </p:cNvPr>
          <p:cNvSpPr>
            <a:spLocks noGrp="1"/>
          </p:cNvSpPr>
          <p:nvPr>
            <p:ph idx="1"/>
          </p:nvPr>
        </p:nvSpPr>
        <p:spPr/>
        <p:txBody>
          <a:bodyPr>
            <a:normAutofit lnSpcReduction="10000"/>
          </a:bodyPr>
          <a:lstStyle/>
          <a:p>
            <a:r>
              <a:rPr lang="en-US" dirty="0"/>
              <a:t>Control flow directs program execution</a:t>
            </a:r>
          </a:p>
          <a:p>
            <a:endParaRPr lang="en-US" dirty="0"/>
          </a:p>
          <a:p>
            <a:r>
              <a:rPr lang="en-US" dirty="0"/>
              <a:t>Conditions rely on Boolean expressions</a:t>
            </a:r>
          </a:p>
          <a:p>
            <a:endParaRPr lang="en-US" dirty="0"/>
          </a:p>
          <a:p>
            <a:r>
              <a:rPr lang="en-US" dirty="0"/>
              <a:t>Loops automate repetition</a:t>
            </a:r>
          </a:p>
          <a:p>
            <a:endParaRPr lang="en-US" dirty="0"/>
          </a:p>
          <a:p>
            <a:r>
              <a:rPr lang="en-US" dirty="0"/>
              <a:t>Clean logic improves readability and correctness</a:t>
            </a:r>
            <a:endParaRPr lang="en-SG" dirty="0"/>
          </a:p>
        </p:txBody>
      </p:sp>
    </p:spTree>
    <p:extLst>
      <p:ext uri="{BB962C8B-B14F-4D97-AF65-F5344CB8AC3E}">
        <p14:creationId xmlns:p14="http://schemas.microsoft.com/office/powerpoint/2010/main" val="8671229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8D10-5EA7-3113-6BBD-C1367A04C167}"/>
              </a:ext>
            </a:extLst>
          </p:cNvPr>
          <p:cNvSpPr>
            <a:spLocks noGrp="1"/>
          </p:cNvSpPr>
          <p:nvPr>
            <p:ph type="title"/>
          </p:nvPr>
        </p:nvSpPr>
        <p:spPr>
          <a:xfrm>
            <a:off x="457200" y="-1905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48A84EA-9D26-CDF2-F7A0-1F978F447D95}"/>
              </a:ext>
            </a:extLst>
          </p:cNvPr>
          <p:cNvSpPr>
            <a:spLocks noGrp="1"/>
          </p:cNvSpPr>
          <p:nvPr>
            <p:ph idx="1"/>
          </p:nvPr>
        </p:nvSpPr>
        <p:spPr>
          <a:xfrm>
            <a:off x="457200" y="800100"/>
            <a:ext cx="8229600" cy="5842000"/>
          </a:xfrm>
        </p:spPr>
        <p:txBody>
          <a:bodyPr>
            <a:normAutofit fontScale="77500" lnSpcReduction="20000"/>
          </a:bodyPr>
          <a:lstStyle/>
          <a:p>
            <a:pPr marL="0" indent="0">
              <a:buNone/>
            </a:pPr>
            <a:r>
              <a:rPr lang="en-US" dirty="0"/>
              <a:t>number = int(input("Enter a number: "))</a:t>
            </a:r>
          </a:p>
          <a:p>
            <a:pPr marL="0" indent="0">
              <a:buNone/>
            </a:pPr>
            <a:endParaRPr lang="en-US" dirty="0"/>
          </a:p>
          <a:p>
            <a:pPr marL="0" indent="0">
              <a:buNone/>
            </a:pPr>
            <a:r>
              <a:rPr lang="en-US" dirty="0"/>
              <a:t># Check if positive, negative, or zero</a:t>
            </a:r>
          </a:p>
          <a:p>
            <a:pPr marL="0" indent="0">
              <a:buNone/>
            </a:pPr>
            <a:r>
              <a:rPr lang="en-US" dirty="0"/>
              <a:t>if number &gt; 0:</a:t>
            </a:r>
          </a:p>
          <a:p>
            <a:pPr marL="0" indent="0">
              <a:buNone/>
            </a:pPr>
            <a:r>
              <a:rPr lang="en-US" dirty="0"/>
              <a:t>    print("The number is positive.")</a:t>
            </a:r>
          </a:p>
          <a:p>
            <a:pPr marL="0" indent="0">
              <a:buNone/>
            </a:pPr>
            <a:r>
              <a:rPr lang="en-US" dirty="0" err="1"/>
              <a:t>elif</a:t>
            </a:r>
            <a:r>
              <a:rPr lang="en-US" dirty="0"/>
              <a:t> number &lt; 0:</a:t>
            </a:r>
          </a:p>
          <a:p>
            <a:pPr marL="0" indent="0">
              <a:buNone/>
            </a:pPr>
            <a:r>
              <a:rPr lang="en-US" dirty="0"/>
              <a:t>    print("The number is negative.")</a:t>
            </a:r>
          </a:p>
          <a:p>
            <a:pPr marL="0" indent="0">
              <a:buNone/>
            </a:pPr>
            <a:r>
              <a:rPr lang="en-US" dirty="0"/>
              <a:t>else:</a:t>
            </a:r>
          </a:p>
          <a:p>
            <a:pPr marL="0" indent="0">
              <a:buNone/>
            </a:pPr>
            <a:r>
              <a:rPr lang="en-US" dirty="0"/>
              <a:t>    print("The number is zero.")</a:t>
            </a:r>
          </a:p>
          <a:p>
            <a:pPr marL="0" indent="0">
              <a:buNone/>
            </a:pPr>
            <a:endParaRPr lang="en-US" dirty="0"/>
          </a:p>
          <a:p>
            <a:pPr marL="0" indent="0">
              <a:buNone/>
            </a:pPr>
            <a:r>
              <a:rPr lang="en-US" dirty="0"/>
              <a:t># Check if even or odd</a:t>
            </a:r>
          </a:p>
          <a:p>
            <a:pPr marL="0" indent="0">
              <a:buNone/>
            </a:pPr>
            <a:r>
              <a:rPr lang="en-US" dirty="0"/>
              <a:t>if number % 2 == 0:</a:t>
            </a:r>
          </a:p>
          <a:p>
            <a:pPr marL="0" indent="0">
              <a:buNone/>
            </a:pPr>
            <a:r>
              <a:rPr lang="en-US" dirty="0"/>
              <a:t>    print("The number is even.")</a:t>
            </a:r>
          </a:p>
          <a:p>
            <a:pPr marL="0" indent="0">
              <a:buNone/>
            </a:pPr>
            <a:r>
              <a:rPr lang="en-US" dirty="0"/>
              <a:t>else:</a:t>
            </a:r>
          </a:p>
          <a:p>
            <a:pPr marL="0" indent="0">
              <a:buNone/>
            </a:pPr>
            <a:r>
              <a:rPr lang="en-US" dirty="0"/>
              <a:t>    print("The number is odd.")</a:t>
            </a:r>
          </a:p>
          <a:p>
            <a:pPr marL="0" indent="0">
              <a:buNone/>
            </a:pPr>
            <a:endParaRPr lang="en-SG" dirty="0"/>
          </a:p>
        </p:txBody>
      </p:sp>
    </p:spTree>
    <p:extLst>
      <p:ext uri="{BB962C8B-B14F-4D97-AF65-F5344CB8AC3E}">
        <p14:creationId xmlns:p14="http://schemas.microsoft.com/office/powerpoint/2010/main" val="287692747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a:t>for </a:t>
            </a:r>
            <a:r>
              <a:rPr sz="2400" dirty="0" err="1"/>
              <a:t>i</a:t>
            </a:r>
            <a:r>
              <a:rPr sz="2400" dirty="0"/>
              <a:t> in range(5):          # 0 1 2 3 4</a:t>
            </a:r>
            <a:br>
              <a:rPr sz="2400" dirty="0"/>
            </a:br>
            <a:r>
              <a:rPr sz="2400" dirty="0"/>
              <a:t>    print(</a:t>
            </a:r>
            <a:r>
              <a:rPr sz="2400" dirty="0" err="1"/>
              <a:t>i</a:t>
            </a:r>
            <a:r>
              <a:rPr sz="2400" dirty="0"/>
              <a:t>, end=" ")</a:t>
            </a:r>
            <a:br>
              <a:rPr sz="2400" dirty="0"/>
            </a:br>
            <a:br>
              <a:rPr sz="2400" dirty="0"/>
            </a:br>
            <a:r>
              <a:rPr sz="2400" dirty="0"/>
              <a:t>colors = ["red", "green", "blue"]</a:t>
            </a:r>
            <a:br>
              <a:rPr sz="2400" dirty="0"/>
            </a:br>
            <a:r>
              <a:rPr sz="2400" dirty="0"/>
              <a:t>for </a:t>
            </a:r>
            <a:r>
              <a:rPr sz="2400" dirty="0" err="1"/>
              <a:t>idx</a:t>
            </a:r>
            <a:r>
              <a:rPr sz="2400" dirty="0"/>
              <a:t>, color in enumerate(colors, start=1):</a:t>
            </a:r>
            <a:br>
              <a:rPr sz="2400" dirty="0"/>
            </a:br>
            <a:r>
              <a:rPr sz="2400" dirty="0"/>
              <a:t>    print(f"{</a:t>
            </a:r>
            <a:r>
              <a:rPr sz="2400" dirty="0" err="1"/>
              <a:t>idx</a:t>
            </a:r>
            <a:r>
              <a:rPr sz="2400" dirty="0"/>
              <a:t>}. {color}")</a:t>
            </a:r>
            <a:br>
              <a:rPr sz="2400" dirty="0"/>
            </a:br>
            <a:br>
              <a:rPr sz="2400" dirty="0"/>
            </a:br>
            <a:r>
              <a:rPr sz="2400" dirty="0"/>
              <a:t>n = 5</a:t>
            </a:r>
            <a:br>
              <a:rPr sz="2400" dirty="0"/>
            </a:br>
            <a:r>
              <a:rPr sz="2400" dirty="0"/>
              <a:t>while n &gt; 0:</a:t>
            </a:r>
            <a:br>
              <a:rPr sz="2400" dirty="0"/>
            </a:br>
            <a:r>
              <a:rPr sz="2400" dirty="0"/>
              <a:t>    print(n); n -= 1</a:t>
            </a:r>
            <a:br>
              <a:rPr sz="2400" dirty="0"/>
            </a:br>
            <a:r>
              <a:rPr sz="2400" dirty="0"/>
              <a:t>else:</a:t>
            </a:r>
            <a:br>
              <a:rPr sz="2400" dirty="0"/>
            </a:br>
            <a:r>
              <a:rPr sz="2400" dirty="0"/>
              <a:t>    print("Blast off!")</a:t>
            </a: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45A1-4AF4-A0EE-E764-6A19A9164675}"/>
              </a:ext>
            </a:extLst>
          </p:cNvPr>
          <p:cNvSpPr>
            <a:spLocks noGrp="1"/>
          </p:cNvSpPr>
          <p:nvPr>
            <p:ph type="title"/>
          </p:nvPr>
        </p:nvSpPr>
        <p:spPr/>
        <p:txBody>
          <a:bodyPr/>
          <a:lstStyle/>
          <a:p>
            <a:r>
              <a:rPr lang="en-SG" dirty="0"/>
              <a:t>Discussion</a:t>
            </a:r>
          </a:p>
        </p:txBody>
      </p:sp>
      <p:sp>
        <p:nvSpPr>
          <p:cNvPr id="3" name="Content Placeholder 2">
            <a:extLst>
              <a:ext uri="{FF2B5EF4-FFF2-40B4-BE49-F238E27FC236}">
                <a16:creationId xmlns:a16="http://schemas.microsoft.com/office/drawing/2014/main" id="{3C9EEFA9-EE92-A1B7-AD1A-03D2BE4BDB4B}"/>
              </a:ext>
            </a:extLst>
          </p:cNvPr>
          <p:cNvSpPr>
            <a:spLocks noGrp="1"/>
          </p:cNvSpPr>
          <p:nvPr>
            <p:ph idx="1"/>
          </p:nvPr>
        </p:nvSpPr>
        <p:spPr/>
        <p:txBody>
          <a:bodyPr>
            <a:normAutofit fontScale="77500" lnSpcReduction="20000"/>
          </a:bodyPr>
          <a:lstStyle/>
          <a:p>
            <a:r>
              <a:rPr lang="en-US" dirty="0"/>
              <a:t>What values does range(5) produce?</a:t>
            </a:r>
          </a:p>
          <a:p>
            <a:endParaRPr lang="en-US" dirty="0"/>
          </a:p>
          <a:p>
            <a:r>
              <a:rPr lang="en-US" dirty="0"/>
              <a:t>Why does print(..., end=" ") change the output format?</a:t>
            </a:r>
          </a:p>
          <a:p>
            <a:endParaRPr lang="en-US" dirty="0"/>
          </a:p>
          <a:p>
            <a:r>
              <a:rPr lang="en-US" dirty="0"/>
              <a:t>What does enumerate() return in each iteration?</a:t>
            </a:r>
          </a:p>
          <a:p>
            <a:endParaRPr lang="en-US" dirty="0"/>
          </a:p>
          <a:p>
            <a:r>
              <a:rPr lang="en-US" dirty="0"/>
              <a:t>Why does enumerate() start at 1 instead of 0 here?</a:t>
            </a:r>
          </a:p>
          <a:p>
            <a:endParaRPr lang="en-US" dirty="0"/>
          </a:p>
          <a:p>
            <a:r>
              <a:rPr lang="en-US" dirty="0"/>
              <a:t>When does the while loop stop?</a:t>
            </a:r>
          </a:p>
          <a:p>
            <a:endParaRPr lang="en-US" dirty="0"/>
          </a:p>
          <a:p>
            <a:r>
              <a:rPr lang="en-US" dirty="0"/>
              <a:t>Under what condition does the else block execute?</a:t>
            </a:r>
            <a:endParaRPr lang="en-SG" dirty="0"/>
          </a:p>
        </p:txBody>
      </p:sp>
    </p:spTree>
    <p:extLst>
      <p:ext uri="{BB962C8B-B14F-4D97-AF65-F5344CB8AC3E}">
        <p14:creationId xmlns:p14="http://schemas.microsoft.com/office/powerpoint/2010/main" val="61959784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A1315-33B4-B527-A270-BBD2293CEDF6}"/>
              </a:ext>
            </a:extLst>
          </p:cNvPr>
          <p:cNvSpPr>
            <a:spLocks noGrp="1"/>
          </p:cNvSpPr>
          <p:nvPr>
            <p:ph type="title"/>
          </p:nvPr>
        </p:nvSpPr>
        <p:spPr>
          <a:xfrm>
            <a:off x="457200" y="0"/>
            <a:ext cx="8229600" cy="1143000"/>
          </a:xfrm>
        </p:spPr>
        <p:txBody>
          <a:bodyPr/>
          <a:lstStyle/>
          <a:p>
            <a:r>
              <a:rPr lang="en-SG" dirty="0"/>
              <a:t>Answers</a:t>
            </a:r>
          </a:p>
        </p:txBody>
      </p:sp>
      <p:sp>
        <p:nvSpPr>
          <p:cNvPr id="3" name="Content Placeholder 2">
            <a:extLst>
              <a:ext uri="{FF2B5EF4-FFF2-40B4-BE49-F238E27FC236}">
                <a16:creationId xmlns:a16="http://schemas.microsoft.com/office/drawing/2014/main" id="{29AC2B30-61CF-83A5-3AF8-3EECC8B08027}"/>
              </a:ext>
            </a:extLst>
          </p:cNvPr>
          <p:cNvSpPr>
            <a:spLocks noGrp="1"/>
          </p:cNvSpPr>
          <p:nvPr>
            <p:ph idx="1"/>
          </p:nvPr>
        </p:nvSpPr>
        <p:spPr>
          <a:xfrm>
            <a:off x="457200" y="1417638"/>
            <a:ext cx="9779000" cy="5186362"/>
          </a:xfrm>
        </p:spPr>
        <p:txBody>
          <a:bodyPr>
            <a:normAutofit fontScale="92500" lnSpcReduction="10000"/>
          </a:bodyPr>
          <a:lstStyle/>
          <a:p>
            <a:r>
              <a:rPr lang="en-US" sz="2400" dirty="0"/>
              <a:t>range(5) </a:t>
            </a:r>
            <a:r>
              <a:rPr lang="en-US" sz="2400" dirty="0">
                <a:sym typeface="Wingdings" panose="05000000000000000000" pitchFamily="2" charset="2"/>
              </a:rPr>
              <a:t></a:t>
            </a:r>
            <a:r>
              <a:rPr lang="en-US" sz="2400" dirty="0"/>
              <a:t> 0, 1, 2, 3, 4</a:t>
            </a:r>
          </a:p>
          <a:p>
            <a:endParaRPr lang="en-US" sz="2400" dirty="0"/>
          </a:p>
          <a:p>
            <a:r>
              <a:rPr lang="en-US" sz="2400" dirty="0"/>
              <a:t>end=" " </a:t>
            </a:r>
            <a:r>
              <a:rPr lang="en-US" sz="2400" dirty="0">
                <a:sym typeface="Wingdings" panose="05000000000000000000" pitchFamily="2" charset="2"/>
              </a:rPr>
              <a:t></a:t>
            </a:r>
            <a:r>
              <a:rPr lang="en-US" sz="2400" dirty="0"/>
              <a:t> prints on same line</a:t>
            </a:r>
          </a:p>
          <a:p>
            <a:endParaRPr lang="en-US" sz="2400" dirty="0"/>
          </a:p>
          <a:p>
            <a:r>
              <a:rPr lang="en-US" sz="2400" dirty="0"/>
              <a:t>enumerate() </a:t>
            </a:r>
            <a:r>
              <a:rPr lang="en-US" sz="2400" dirty="0">
                <a:sym typeface="Wingdings" panose="05000000000000000000" pitchFamily="2" charset="2"/>
              </a:rPr>
              <a:t></a:t>
            </a:r>
            <a:r>
              <a:rPr lang="en-US" sz="2400" dirty="0"/>
              <a:t> returns (index, value)</a:t>
            </a:r>
          </a:p>
          <a:p>
            <a:endParaRPr lang="en-US" sz="2400" dirty="0"/>
          </a:p>
          <a:p>
            <a:r>
              <a:rPr lang="en-US" sz="2400" dirty="0"/>
              <a:t>start=1 </a:t>
            </a:r>
            <a:r>
              <a:rPr lang="en-US" sz="2400" dirty="0">
                <a:sym typeface="Wingdings" panose="05000000000000000000" pitchFamily="2" charset="2"/>
              </a:rPr>
              <a:t></a:t>
            </a:r>
            <a:r>
              <a:rPr lang="en-US" sz="2400" dirty="0"/>
              <a:t> human-friendly numbering</a:t>
            </a:r>
          </a:p>
          <a:p>
            <a:endParaRPr lang="en-US" sz="2400" dirty="0"/>
          </a:p>
          <a:p>
            <a:r>
              <a:rPr lang="en-US" sz="2400" dirty="0"/>
              <a:t>while stops </a:t>
            </a:r>
            <a:r>
              <a:rPr lang="en-US" sz="2400" dirty="0">
                <a:sym typeface="Wingdings" panose="05000000000000000000" pitchFamily="2" charset="2"/>
              </a:rPr>
              <a:t></a:t>
            </a:r>
            <a:r>
              <a:rPr lang="en-US" sz="2400" dirty="0"/>
              <a:t> when condition becomes False</a:t>
            </a:r>
          </a:p>
          <a:p>
            <a:endParaRPr lang="en-US" sz="2400" dirty="0"/>
          </a:p>
          <a:p>
            <a:r>
              <a:rPr lang="en-US" sz="2400" dirty="0"/>
              <a:t>else runs </a:t>
            </a:r>
            <a:r>
              <a:rPr lang="en-US" sz="2400" dirty="0">
                <a:sym typeface="Wingdings" panose="05000000000000000000" pitchFamily="2" charset="2"/>
              </a:rPr>
              <a:t></a:t>
            </a:r>
            <a:r>
              <a:rPr lang="en-US" sz="2400" dirty="0"/>
              <a:t> only if no break</a:t>
            </a:r>
          </a:p>
          <a:p>
            <a:endParaRPr lang="en-US" sz="2400" dirty="0"/>
          </a:p>
          <a:p>
            <a:pPr marL="0" indent="0">
              <a:buNone/>
            </a:pPr>
            <a:r>
              <a:rPr lang="en-US" sz="2400" b="1" dirty="0">
                <a:solidFill>
                  <a:schemeClr val="tx2"/>
                </a:solidFill>
              </a:rPr>
              <a:t>Bottom line: loops control repetition; small options change behavior.</a:t>
            </a:r>
          </a:p>
          <a:p>
            <a:pPr marL="0" indent="0">
              <a:buNone/>
            </a:pPr>
            <a:endParaRPr lang="en-SG" sz="2400" dirty="0"/>
          </a:p>
        </p:txBody>
      </p:sp>
    </p:spTree>
    <p:extLst>
      <p:ext uri="{BB962C8B-B14F-4D97-AF65-F5344CB8AC3E}">
        <p14:creationId xmlns:p14="http://schemas.microsoft.com/office/powerpoint/2010/main" val="283967717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err="1"/>
              <a:t>nums</a:t>
            </a:r>
            <a:r>
              <a:rPr sz="2400" dirty="0"/>
              <a:t> = [10, 15, 18, 19, 20]</a:t>
            </a:r>
            <a:br>
              <a:rPr sz="2400" dirty="0"/>
            </a:br>
            <a:r>
              <a:rPr sz="2400" dirty="0"/>
              <a:t>for n in </a:t>
            </a:r>
            <a:r>
              <a:rPr sz="2400" dirty="0" err="1"/>
              <a:t>nums</a:t>
            </a:r>
            <a:r>
              <a:rPr sz="2400" dirty="0"/>
              <a:t>:</a:t>
            </a:r>
            <a:br>
              <a:rPr sz="2400" dirty="0"/>
            </a:br>
            <a:r>
              <a:rPr sz="2400" dirty="0"/>
              <a:t>    if n % 2 == 0:</a:t>
            </a:r>
            <a:br>
              <a:rPr sz="2400" dirty="0"/>
            </a:br>
            <a:r>
              <a:rPr sz="2400" dirty="0"/>
              <a:t>        continue</a:t>
            </a:r>
            <a:br>
              <a:rPr sz="2400" dirty="0"/>
            </a:br>
            <a:r>
              <a:rPr sz="2400" dirty="0"/>
              <a:t>    for </a:t>
            </a:r>
            <a:r>
              <a:rPr sz="2400" dirty="0" err="1"/>
              <a:t>i</a:t>
            </a:r>
            <a:r>
              <a:rPr sz="2400" dirty="0"/>
              <a:t> in range(3, int(n**0.5)+1, 2):</a:t>
            </a:r>
            <a:br>
              <a:rPr sz="2400" dirty="0"/>
            </a:br>
            <a:r>
              <a:rPr sz="2400" dirty="0"/>
              <a:t>        if n % </a:t>
            </a:r>
            <a:r>
              <a:rPr sz="2400" dirty="0" err="1"/>
              <a:t>i</a:t>
            </a:r>
            <a:r>
              <a:rPr sz="2400" dirty="0"/>
              <a:t> == 0:</a:t>
            </a:r>
            <a:br>
              <a:rPr sz="2400" dirty="0"/>
            </a:br>
            <a:r>
              <a:rPr sz="2400" dirty="0"/>
              <a:t>            break</a:t>
            </a:r>
            <a:br>
              <a:rPr sz="2400" dirty="0"/>
            </a:br>
            <a:r>
              <a:rPr sz="2400" dirty="0"/>
              <a:t>    else:                       # no break → prime</a:t>
            </a:r>
            <a:br>
              <a:rPr sz="2400" dirty="0"/>
            </a:br>
            <a:r>
              <a:rPr sz="2400" dirty="0"/>
              <a:t>        print("Prime:", n)</a:t>
            </a:r>
            <a:br>
              <a:rPr sz="2400" dirty="0"/>
            </a:br>
            <a:r>
              <a:rPr sz="2400" dirty="0"/>
              <a:t>        break</a:t>
            </a:r>
            <a:br>
              <a:rPr sz="2400" dirty="0"/>
            </a:br>
            <a:r>
              <a:rPr sz="2400" dirty="0"/>
              <a:t>else:</a:t>
            </a:r>
            <a:br>
              <a:rPr sz="2400" dirty="0"/>
            </a:br>
            <a:r>
              <a:rPr sz="2400" dirty="0"/>
              <a:t>    print("No prime found")</a:t>
            </a: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8E68C-B606-FECC-9C5C-928C89BB5832}"/>
              </a:ext>
            </a:extLst>
          </p:cNvPr>
          <p:cNvSpPr>
            <a:spLocks noGrp="1"/>
          </p:cNvSpPr>
          <p:nvPr>
            <p:ph type="title"/>
          </p:nvPr>
        </p:nvSpPr>
        <p:spPr/>
        <p:txBody>
          <a:bodyPr/>
          <a:lstStyle/>
          <a:p>
            <a:r>
              <a:rPr lang="en-SG" dirty="0"/>
              <a:t>What Is a Function?</a:t>
            </a:r>
          </a:p>
        </p:txBody>
      </p:sp>
      <p:sp>
        <p:nvSpPr>
          <p:cNvPr id="3" name="Content Placeholder 2">
            <a:extLst>
              <a:ext uri="{FF2B5EF4-FFF2-40B4-BE49-F238E27FC236}">
                <a16:creationId xmlns:a16="http://schemas.microsoft.com/office/drawing/2014/main" id="{156452B5-E8EC-75F2-7FEA-517639E77DA9}"/>
              </a:ext>
            </a:extLst>
          </p:cNvPr>
          <p:cNvSpPr>
            <a:spLocks noGrp="1"/>
          </p:cNvSpPr>
          <p:nvPr>
            <p:ph idx="1"/>
          </p:nvPr>
        </p:nvSpPr>
        <p:spPr/>
        <p:txBody>
          <a:bodyPr/>
          <a:lstStyle/>
          <a:p>
            <a:r>
              <a:rPr lang="en-US" dirty="0"/>
              <a:t>A function is a reusable block of code</a:t>
            </a:r>
          </a:p>
          <a:p>
            <a:endParaRPr lang="en-US" dirty="0"/>
          </a:p>
          <a:p>
            <a:r>
              <a:rPr lang="en-US" dirty="0"/>
              <a:t>Performs a specific task</a:t>
            </a:r>
          </a:p>
          <a:p>
            <a:endParaRPr lang="en-US" dirty="0"/>
          </a:p>
          <a:p>
            <a:r>
              <a:rPr lang="en-US" dirty="0"/>
              <a:t>Helps reduce repetition and improve readability</a:t>
            </a:r>
            <a:endParaRPr lang="en-SG" dirty="0"/>
          </a:p>
        </p:txBody>
      </p:sp>
    </p:spTree>
    <p:extLst>
      <p:ext uri="{BB962C8B-B14F-4D97-AF65-F5344CB8AC3E}">
        <p14:creationId xmlns:p14="http://schemas.microsoft.com/office/powerpoint/2010/main" val="105036640"/>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FF704-E010-FFC2-C099-B3809C2781C7}"/>
              </a:ext>
            </a:extLst>
          </p:cNvPr>
          <p:cNvSpPr>
            <a:spLocks noGrp="1"/>
          </p:cNvSpPr>
          <p:nvPr>
            <p:ph type="title"/>
          </p:nvPr>
        </p:nvSpPr>
        <p:spPr/>
        <p:txBody>
          <a:bodyPr/>
          <a:lstStyle/>
          <a:p>
            <a:r>
              <a:rPr lang="en-SG" dirty="0"/>
              <a:t>Why Use Functions?</a:t>
            </a:r>
          </a:p>
        </p:txBody>
      </p:sp>
      <p:sp>
        <p:nvSpPr>
          <p:cNvPr id="3" name="Content Placeholder 2">
            <a:extLst>
              <a:ext uri="{FF2B5EF4-FFF2-40B4-BE49-F238E27FC236}">
                <a16:creationId xmlns:a16="http://schemas.microsoft.com/office/drawing/2014/main" id="{EC940959-46A7-5224-7F19-0112167139DE}"/>
              </a:ext>
            </a:extLst>
          </p:cNvPr>
          <p:cNvSpPr>
            <a:spLocks noGrp="1"/>
          </p:cNvSpPr>
          <p:nvPr>
            <p:ph idx="1"/>
          </p:nvPr>
        </p:nvSpPr>
        <p:spPr/>
        <p:txBody>
          <a:bodyPr/>
          <a:lstStyle/>
          <a:p>
            <a:r>
              <a:rPr lang="en-US" dirty="0"/>
              <a:t>Code reuse</a:t>
            </a:r>
          </a:p>
          <a:p>
            <a:endParaRPr lang="en-US" dirty="0"/>
          </a:p>
          <a:p>
            <a:r>
              <a:rPr lang="en-US" dirty="0"/>
              <a:t>Better organization</a:t>
            </a:r>
          </a:p>
          <a:p>
            <a:endParaRPr lang="en-US" dirty="0"/>
          </a:p>
          <a:p>
            <a:r>
              <a:rPr lang="en-US" dirty="0"/>
              <a:t>Easier testing and debugging</a:t>
            </a:r>
          </a:p>
          <a:p>
            <a:endParaRPr lang="en-US" dirty="0"/>
          </a:p>
          <a:p>
            <a:r>
              <a:rPr lang="en-US" dirty="0"/>
              <a:t>Clear separation of logic</a:t>
            </a:r>
            <a:endParaRPr lang="en-SG" dirty="0"/>
          </a:p>
        </p:txBody>
      </p:sp>
    </p:spTree>
    <p:extLst>
      <p:ext uri="{BB962C8B-B14F-4D97-AF65-F5344CB8AC3E}">
        <p14:creationId xmlns:p14="http://schemas.microsoft.com/office/powerpoint/2010/main" val="66056746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65FC8-C5A2-18D9-D56E-8B8F1E24796E}"/>
              </a:ext>
            </a:extLst>
          </p:cNvPr>
          <p:cNvSpPr>
            <a:spLocks noGrp="1"/>
          </p:cNvSpPr>
          <p:nvPr>
            <p:ph type="title"/>
          </p:nvPr>
        </p:nvSpPr>
        <p:spPr/>
        <p:txBody>
          <a:bodyPr>
            <a:normAutofit/>
          </a:bodyPr>
          <a:lstStyle/>
          <a:p>
            <a:r>
              <a:rPr lang="en-US" dirty="0"/>
              <a:t>Functions Are Contracts</a:t>
            </a:r>
            <a:endParaRPr lang="en-SG" dirty="0"/>
          </a:p>
        </p:txBody>
      </p:sp>
      <p:sp>
        <p:nvSpPr>
          <p:cNvPr id="3" name="Content Placeholder 2">
            <a:extLst>
              <a:ext uri="{FF2B5EF4-FFF2-40B4-BE49-F238E27FC236}">
                <a16:creationId xmlns:a16="http://schemas.microsoft.com/office/drawing/2014/main" id="{80D886D0-613E-DAE9-1079-608E0B943E07}"/>
              </a:ext>
            </a:extLst>
          </p:cNvPr>
          <p:cNvSpPr>
            <a:spLocks noGrp="1"/>
          </p:cNvSpPr>
          <p:nvPr>
            <p:ph idx="1"/>
          </p:nvPr>
        </p:nvSpPr>
        <p:spPr/>
        <p:txBody>
          <a:bodyPr>
            <a:normAutofit/>
          </a:bodyPr>
          <a:lstStyle/>
          <a:p>
            <a:r>
              <a:rPr lang="en-US" dirty="0"/>
              <a:t>Inputs → Outputs</a:t>
            </a:r>
          </a:p>
          <a:p>
            <a:r>
              <a:rPr lang="en-US" dirty="0"/>
              <a:t>Minimal side effects</a:t>
            </a:r>
          </a:p>
          <a:p>
            <a:r>
              <a:rPr lang="en-US" dirty="0"/>
              <a:t>Return values &gt; print()</a:t>
            </a:r>
          </a:p>
          <a:p>
            <a:endParaRPr lang="en-US" dirty="0"/>
          </a:p>
          <a:p>
            <a:r>
              <a:rPr lang="en-US" b="1" dirty="0"/>
              <a:t>Good functions</a:t>
            </a:r>
            <a:endParaRPr lang="en-US" dirty="0"/>
          </a:p>
          <a:p>
            <a:pPr lvl="1"/>
            <a:r>
              <a:rPr lang="en-US" dirty="0"/>
              <a:t>Small</a:t>
            </a:r>
          </a:p>
          <a:p>
            <a:pPr lvl="1"/>
            <a:r>
              <a:rPr lang="en-US" dirty="0"/>
              <a:t>Named clearly</a:t>
            </a:r>
          </a:p>
          <a:p>
            <a:pPr lvl="1"/>
            <a:r>
              <a:rPr lang="en-US" dirty="0"/>
              <a:t>Easy to test</a:t>
            </a:r>
          </a:p>
          <a:p>
            <a:endParaRPr lang="en-SG" dirty="0"/>
          </a:p>
        </p:txBody>
      </p:sp>
    </p:spTree>
    <p:extLst>
      <p:ext uri="{BB962C8B-B14F-4D97-AF65-F5344CB8AC3E}">
        <p14:creationId xmlns:p14="http://schemas.microsoft.com/office/powerpoint/2010/main" val="3644689184"/>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236-14F0-4E60-74C7-1683FA1D04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FF23275-79A6-93CA-880C-15E390F8A11E}"/>
              </a:ext>
            </a:extLst>
          </p:cNvPr>
          <p:cNvSpPr>
            <a:spLocks noGrp="1"/>
          </p:cNvSpPr>
          <p:nvPr>
            <p:ph type="title"/>
          </p:nvPr>
        </p:nvSpPr>
        <p:spPr/>
        <p:txBody>
          <a:bodyPr/>
          <a:lstStyle/>
          <a:p>
            <a:r>
              <a:rPr lang="en-SG" dirty="0"/>
              <a:t>Defining Functions</a:t>
            </a:r>
          </a:p>
        </p:txBody>
      </p:sp>
      <p:sp>
        <p:nvSpPr>
          <p:cNvPr id="8" name="Content Placeholder 7">
            <a:extLst>
              <a:ext uri="{FF2B5EF4-FFF2-40B4-BE49-F238E27FC236}">
                <a16:creationId xmlns:a16="http://schemas.microsoft.com/office/drawing/2014/main" id="{F135E01C-6B76-622C-CA15-3F952F14A05D}"/>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a:t>
            </a:r>
          </a:p>
          <a:p>
            <a:pPr marL="0" indent="0">
              <a:buNone/>
            </a:pPr>
            <a:r>
              <a:rPr lang="en-US" dirty="0"/>
              <a:t>    print("Hello!")</a:t>
            </a:r>
          </a:p>
        </p:txBody>
      </p:sp>
      <p:sp>
        <p:nvSpPr>
          <p:cNvPr id="10" name="Content Placeholder 7">
            <a:extLst>
              <a:ext uri="{FF2B5EF4-FFF2-40B4-BE49-F238E27FC236}">
                <a16:creationId xmlns:a16="http://schemas.microsoft.com/office/drawing/2014/main" id="{F5759424-08AD-34DB-C337-D64063EBBB3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 keyword defines a function</a:t>
            </a:r>
          </a:p>
          <a:p>
            <a:endParaRPr lang="en-US" dirty="0"/>
          </a:p>
          <a:p>
            <a:r>
              <a:rPr lang="en-US" dirty="0"/>
              <a:t>Function name follows variable naming rules</a:t>
            </a:r>
          </a:p>
          <a:p>
            <a:endParaRPr lang="en-US" dirty="0"/>
          </a:p>
          <a:p>
            <a:r>
              <a:rPr lang="en-US" dirty="0"/>
              <a:t>Code block is indented</a:t>
            </a:r>
          </a:p>
        </p:txBody>
      </p:sp>
    </p:spTree>
    <p:extLst>
      <p:ext uri="{BB962C8B-B14F-4D97-AF65-F5344CB8AC3E}">
        <p14:creationId xmlns:p14="http://schemas.microsoft.com/office/powerpoint/2010/main" val="311543128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6625A-A99E-EFCB-ADE1-B40B0867E7A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E325EEB-E278-60A4-436E-DFB39CDECD94}"/>
              </a:ext>
            </a:extLst>
          </p:cNvPr>
          <p:cNvSpPr>
            <a:spLocks noGrp="1"/>
          </p:cNvSpPr>
          <p:nvPr>
            <p:ph type="title"/>
          </p:nvPr>
        </p:nvSpPr>
        <p:spPr/>
        <p:txBody>
          <a:bodyPr/>
          <a:lstStyle/>
          <a:p>
            <a:r>
              <a:rPr lang="en-SG" dirty="0"/>
              <a:t>Calling a Function</a:t>
            </a:r>
          </a:p>
        </p:txBody>
      </p:sp>
      <p:sp>
        <p:nvSpPr>
          <p:cNvPr id="8" name="Content Placeholder 7">
            <a:extLst>
              <a:ext uri="{FF2B5EF4-FFF2-40B4-BE49-F238E27FC236}">
                <a16:creationId xmlns:a16="http://schemas.microsoft.com/office/drawing/2014/main" id="{18BF1656-AD52-4ACB-450E-CBBEC000B229}"/>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greet()</a:t>
            </a:r>
          </a:p>
        </p:txBody>
      </p:sp>
      <p:sp>
        <p:nvSpPr>
          <p:cNvPr id="10" name="Content Placeholder 7">
            <a:extLst>
              <a:ext uri="{FF2B5EF4-FFF2-40B4-BE49-F238E27FC236}">
                <a16:creationId xmlns:a16="http://schemas.microsoft.com/office/drawing/2014/main" id="{C07DA0E2-0756-6DBB-4D61-36B8A2E52B2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Function code runs only when called</a:t>
            </a:r>
          </a:p>
          <a:p>
            <a:endParaRPr lang="en-US" dirty="0"/>
          </a:p>
          <a:p>
            <a:r>
              <a:rPr lang="en-US" dirty="0"/>
              <a:t>Multiple calls reuse the same logic</a:t>
            </a:r>
          </a:p>
        </p:txBody>
      </p:sp>
    </p:spTree>
    <p:extLst>
      <p:ext uri="{BB962C8B-B14F-4D97-AF65-F5344CB8AC3E}">
        <p14:creationId xmlns:p14="http://schemas.microsoft.com/office/powerpoint/2010/main" val="183712180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9DF-1961-48D3-C7E1-540E1F87643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C8E80D3-CE27-8B6D-C232-65706A77F1E9}"/>
              </a:ext>
            </a:extLst>
          </p:cNvPr>
          <p:cNvSpPr>
            <a:spLocks noGrp="1"/>
          </p:cNvSpPr>
          <p:nvPr>
            <p:ph type="title"/>
          </p:nvPr>
        </p:nvSpPr>
        <p:spPr/>
        <p:txBody>
          <a:bodyPr/>
          <a:lstStyle/>
          <a:p>
            <a:r>
              <a:rPr lang="en-SG" dirty="0"/>
              <a:t>Functions with Parameters</a:t>
            </a:r>
          </a:p>
        </p:txBody>
      </p:sp>
      <p:sp>
        <p:nvSpPr>
          <p:cNvPr id="8" name="Content Placeholder 7">
            <a:extLst>
              <a:ext uri="{FF2B5EF4-FFF2-40B4-BE49-F238E27FC236}">
                <a16:creationId xmlns:a16="http://schemas.microsoft.com/office/drawing/2014/main" id="{8C45D0A7-6B89-FFC0-DA81-171A900093DB}"/>
              </a:ext>
            </a:extLst>
          </p:cNvPr>
          <p:cNvSpPr>
            <a:spLocks noGrp="1"/>
          </p:cNvSpPr>
          <p:nvPr>
            <p:ph idx="1"/>
          </p:nvPr>
        </p:nvSpPr>
        <p:spPr>
          <a:xfrm>
            <a:off x="457199" y="1600200"/>
            <a:ext cx="5219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a:t>
            </a:r>
          </a:p>
          <a:p>
            <a:pPr marL="0" indent="0">
              <a:buNone/>
            </a:pPr>
            <a:r>
              <a:rPr lang="en-US" dirty="0"/>
              <a:t>greet("Bob")</a:t>
            </a:r>
          </a:p>
          <a:p>
            <a:pPr marL="0" indent="0">
              <a:buNone/>
            </a:pPr>
            <a:endParaRPr lang="en-US" dirty="0"/>
          </a:p>
        </p:txBody>
      </p:sp>
      <p:sp>
        <p:nvSpPr>
          <p:cNvPr id="10" name="Content Placeholder 7">
            <a:extLst>
              <a:ext uri="{FF2B5EF4-FFF2-40B4-BE49-F238E27FC236}">
                <a16:creationId xmlns:a16="http://schemas.microsoft.com/office/drawing/2014/main" id="{3311014E-1871-0651-8A7F-C3B1849E2558}"/>
              </a:ext>
            </a:extLst>
          </p:cNvPr>
          <p:cNvSpPr txBox="1">
            <a:spLocks/>
          </p:cNvSpPr>
          <p:nvPr/>
        </p:nvSpPr>
        <p:spPr>
          <a:xfrm>
            <a:off x="5956300" y="1600200"/>
            <a:ext cx="5775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Parameters act like local variables</a:t>
            </a:r>
          </a:p>
          <a:p>
            <a:endParaRPr lang="en-US" dirty="0"/>
          </a:p>
          <a:p>
            <a:r>
              <a:rPr lang="en-US" dirty="0"/>
              <a:t>Values passed are called arguments</a:t>
            </a:r>
          </a:p>
        </p:txBody>
      </p:sp>
    </p:spTree>
    <p:extLst>
      <p:ext uri="{BB962C8B-B14F-4D97-AF65-F5344CB8AC3E}">
        <p14:creationId xmlns:p14="http://schemas.microsoft.com/office/powerpoint/2010/main" val="160243605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9E6CD-EAFE-F487-62A3-FAB4122AB08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412EDB4-1E10-4698-0999-B4D20FC04913}"/>
              </a:ext>
            </a:extLst>
          </p:cNvPr>
          <p:cNvSpPr>
            <a:spLocks noGrp="1"/>
          </p:cNvSpPr>
          <p:nvPr>
            <p:ph type="title"/>
          </p:nvPr>
        </p:nvSpPr>
        <p:spPr/>
        <p:txBody>
          <a:bodyPr/>
          <a:lstStyle/>
          <a:p>
            <a:r>
              <a:rPr lang="en-SG" dirty="0"/>
              <a:t>Return Values</a:t>
            </a:r>
          </a:p>
        </p:txBody>
      </p:sp>
      <p:sp>
        <p:nvSpPr>
          <p:cNvPr id="8" name="Content Placeholder 7">
            <a:extLst>
              <a:ext uri="{FF2B5EF4-FFF2-40B4-BE49-F238E27FC236}">
                <a16:creationId xmlns:a16="http://schemas.microsoft.com/office/drawing/2014/main" id="{968E03AD-08CD-FE97-5288-22036AC0D552}"/>
              </a:ext>
            </a:extLst>
          </p:cNvPr>
          <p:cNvSpPr>
            <a:spLocks noGrp="1"/>
          </p:cNvSpPr>
          <p:nvPr>
            <p:ph idx="1"/>
          </p:nvPr>
        </p:nvSpPr>
        <p:spPr>
          <a:xfrm>
            <a:off x="457199" y="1600200"/>
            <a:ext cx="42926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 a + b</a:t>
            </a:r>
          </a:p>
          <a:p>
            <a:pPr marL="0" indent="0">
              <a:buNone/>
            </a:pPr>
            <a:endParaRPr lang="en-US" dirty="0"/>
          </a:p>
          <a:p>
            <a:pPr marL="0" indent="0">
              <a:buNone/>
            </a:pPr>
            <a:r>
              <a:rPr lang="en-US" dirty="0"/>
              <a:t>result = add(3, 5)</a:t>
            </a:r>
          </a:p>
          <a:p>
            <a:pPr marL="0" indent="0">
              <a:buNone/>
            </a:pPr>
            <a:r>
              <a:rPr lang="en-US" dirty="0"/>
              <a:t>print(result)</a:t>
            </a:r>
          </a:p>
        </p:txBody>
      </p:sp>
      <p:sp>
        <p:nvSpPr>
          <p:cNvPr id="10" name="Content Placeholder 7">
            <a:extLst>
              <a:ext uri="{FF2B5EF4-FFF2-40B4-BE49-F238E27FC236}">
                <a16:creationId xmlns:a16="http://schemas.microsoft.com/office/drawing/2014/main" id="{197F00CA-1915-4DFD-DBD4-CDBEC8139B3B}"/>
              </a:ext>
            </a:extLst>
          </p:cNvPr>
          <p:cNvSpPr txBox="1">
            <a:spLocks/>
          </p:cNvSpPr>
          <p:nvPr/>
        </p:nvSpPr>
        <p:spPr>
          <a:xfrm>
            <a:off x="5143500" y="1600200"/>
            <a:ext cx="658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 sends a value back to the caller</a:t>
            </a:r>
          </a:p>
          <a:p>
            <a:endParaRPr lang="en-US" dirty="0"/>
          </a:p>
          <a:p>
            <a:r>
              <a:rPr lang="en-US" dirty="0"/>
              <a:t>Function stops executing at return</a:t>
            </a:r>
          </a:p>
        </p:txBody>
      </p:sp>
    </p:spTree>
    <p:extLst>
      <p:ext uri="{BB962C8B-B14F-4D97-AF65-F5344CB8AC3E}">
        <p14:creationId xmlns:p14="http://schemas.microsoft.com/office/powerpoint/2010/main" val="377771420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C97A5-891F-B318-5666-C6B68DC1FB96}"/>
              </a:ext>
            </a:extLst>
          </p:cNvPr>
          <p:cNvSpPr>
            <a:spLocks noGrp="1"/>
          </p:cNvSpPr>
          <p:nvPr>
            <p:ph type="title"/>
          </p:nvPr>
        </p:nvSpPr>
        <p:spPr/>
        <p:txBody>
          <a:bodyPr/>
          <a:lstStyle/>
          <a:p>
            <a:r>
              <a:rPr lang="en-SG" dirty="0"/>
              <a:t>Multiple Parameters</a:t>
            </a:r>
          </a:p>
        </p:txBody>
      </p:sp>
      <p:sp>
        <p:nvSpPr>
          <p:cNvPr id="3" name="Content Placeholder 2">
            <a:extLst>
              <a:ext uri="{FF2B5EF4-FFF2-40B4-BE49-F238E27FC236}">
                <a16:creationId xmlns:a16="http://schemas.microsoft.com/office/drawing/2014/main" id="{0DEA9336-1C58-AB0E-4879-DD52A6FCA31B}"/>
              </a:ext>
            </a:extLst>
          </p:cNvPr>
          <p:cNvSpPr>
            <a:spLocks noGrp="1"/>
          </p:cNvSpPr>
          <p:nvPr>
            <p:ph idx="1"/>
          </p:nvPr>
        </p:nvSpPr>
        <p:spPr/>
        <p:txBody>
          <a:bodyPr/>
          <a:lstStyle/>
          <a:p>
            <a:pPr marL="0" indent="0">
              <a:buNone/>
            </a:pPr>
            <a:r>
              <a:rPr lang="en-US" dirty="0"/>
              <a:t>def </a:t>
            </a:r>
            <a:r>
              <a:rPr lang="en-US" dirty="0" err="1"/>
              <a:t>calculate_total</a:t>
            </a:r>
            <a:r>
              <a:rPr lang="en-US" dirty="0"/>
              <a:t>(price, quantity):</a:t>
            </a:r>
          </a:p>
          <a:p>
            <a:pPr marL="0" indent="0">
              <a:buNone/>
            </a:pPr>
            <a:r>
              <a:rPr lang="en-US" dirty="0"/>
              <a:t>    return price * quantity</a:t>
            </a:r>
          </a:p>
          <a:p>
            <a:pPr marL="0" indent="0">
              <a:buNone/>
            </a:pPr>
            <a:endParaRPr lang="en-SG" dirty="0"/>
          </a:p>
        </p:txBody>
      </p:sp>
    </p:spTree>
    <p:extLst>
      <p:ext uri="{BB962C8B-B14F-4D97-AF65-F5344CB8AC3E}">
        <p14:creationId xmlns:p14="http://schemas.microsoft.com/office/powerpoint/2010/main" val="6749720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8BED4-227C-FB91-C4A4-79AC93E4D96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E0AFBEA-2F99-B45D-8CAB-AF03AEA66069}"/>
              </a:ext>
            </a:extLst>
          </p:cNvPr>
          <p:cNvSpPr>
            <a:spLocks noGrp="1"/>
          </p:cNvSpPr>
          <p:nvPr>
            <p:ph type="title"/>
          </p:nvPr>
        </p:nvSpPr>
        <p:spPr/>
        <p:txBody>
          <a:bodyPr/>
          <a:lstStyle/>
          <a:p>
            <a:r>
              <a:rPr lang="en-SG" dirty="0"/>
              <a:t>Default Values</a:t>
            </a:r>
          </a:p>
        </p:txBody>
      </p:sp>
      <p:sp>
        <p:nvSpPr>
          <p:cNvPr id="8" name="Content Placeholder 7">
            <a:extLst>
              <a:ext uri="{FF2B5EF4-FFF2-40B4-BE49-F238E27FC236}">
                <a16:creationId xmlns:a16="http://schemas.microsoft.com/office/drawing/2014/main" id="{27E263A0-DA16-BABE-17FA-D005F545941B}"/>
              </a:ext>
            </a:extLst>
          </p:cNvPr>
          <p:cNvSpPr>
            <a:spLocks noGrp="1"/>
          </p:cNvSpPr>
          <p:nvPr>
            <p:ph idx="1"/>
          </p:nvPr>
        </p:nvSpPr>
        <p:spPr>
          <a:xfrm>
            <a:off x="457199" y="1600200"/>
            <a:ext cx="5740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greet(name="Guest"):</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t>
            </a:r>
          </a:p>
          <a:p>
            <a:pPr marL="0" indent="0">
              <a:buNone/>
            </a:pPr>
            <a:r>
              <a:rPr lang="en-US" dirty="0"/>
              <a:t>greet("Sean")</a:t>
            </a:r>
          </a:p>
          <a:p>
            <a:pPr marL="0" indent="0">
              <a:buNone/>
            </a:pPr>
            <a:endParaRPr lang="en-US" dirty="0"/>
          </a:p>
        </p:txBody>
      </p:sp>
      <p:sp>
        <p:nvSpPr>
          <p:cNvPr id="10" name="Content Placeholder 7">
            <a:extLst>
              <a:ext uri="{FF2B5EF4-FFF2-40B4-BE49-F238E27FC236}">
                <a16:creationId xmlns:a16="http://schemas.microsoft.com/office/drawing/2014/main" id="{49BD6641-6353-3C6E-208A-1E977EFDD079}"/>
              </a:ext>
            </a:extLst>
          </p:cNvPr>
          <p:cNvSpPr txBox="1">
            <a:spLocks/>
          </p:cNvSpPr>
          <p:nvPr/>
        </p:nvSpPr>
        <p:spPr>
          <a:xfrm>
            <a:off x="6362700" y="1600200"/>
            <a:ext cx="536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Defaults used when argument is missing</a:t>
            </a:r>
          </a:p>
          <a:p>
            <a:endParaRPr lang="en-US" dirty="0"/>
          </a:p>
          <a:p>
            <a:r>
              <a:rPr lang="en-US" dirty="0"/>
              <a:t>Must appear after non-default parameters</a:t>
            </a:r>
          </a:p>
        </p:txBody>
      </p:sp>
    </p:spTree>
    <p:extLst>
      <p:ext uri="{BB962C8B-B14F-4D97-AF65-F5344CB8AC3E}">
        <p14:creationId xmlns:p14="http://schemas.microsoft.com/office/powerpoint/2010/main" val="295022943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B68D9-AEAB-D506-F932-F1366932C1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41BB8AC-9264-C3D0-12E2-6CFFCA5391AD}"/>
              </a:ext>
            </a:extLst>
          </p:cNvPr>
          <p:cNvSpPr>
            <a:spLocks noGrp="1"/>
          </p:cNvSpPr>
          <p:nvPr>
            <p:ph type="title"/>
          </p:nvPr>
        </p:nvSpPr>
        <p:spPr/>
        <p:txBody>
          <a:bodyPr/>
          <a:lstStyle/>
          <a:p>
            <a:r>
              <a:rPr lang="en-SG" dirty="0"/>
              <a:t>Keyword Arguments</a:t>
            </a:r>
          </a:p>
        </p:txBody>
      </p:sp>
      <p:sp>
        <p:nvSpPr>
          <p:cNvPr id="8" name="Content Placeholder 7">
            <a:extLst>
              <a:ext uri="{FF2B5EF4-FFF2-40B4-BE49-F238E27FC236}">
                <a16:creationId xmlns:a16="http://schemas.microsoft.com/office/drawing/2014/main" id="{F77FE8EE-5826-CFEA-199E-625C84AE70E1}"/>
              </a:ext>
            </a:extLst>
          </p:cNvPr>
          <p:cNvSpPr>
            <a:spLocks noGrp="1"/>
          </p:cNvSpPr>
          <p:nvPr>
            <p:ph idx="1"/>
          </p:nvPr>
        </p:nvSpPr>
        <p:spPr>
          <a:xfrm>
            <a:off x="457199" y="1600200"/>
            <a:ext cx="6235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introduce(name, age):</a:t>
            </a:r>
          </a:p>
          <a:p>
            <a:pPr marL="0" indent="0">
              <a:buNone/>
            </a:pPr>
            <a:r>
              <a:rPr lang="en-US" dirty="0"/>
              <a:t>    print(f"{name} is {age} years old")</a:t>
            </a:r>
          </a:p>
          <a:p>
            <a:pPr marL="0" indent="0">
              <a:buNone/>
            </a:pPr>
            <a:endParaRPr lang="en-US" dirty="0"/>
          </a:p>
          <a:p>
            <a:pPr marL="0" indent="0">
              <a:buNone/>
            </a:pPr>
            <a:r>
              <a:rPr lang="en-US" dirty="0"/>
              <a:t>introduce(age=30, name="Alex")</a:t>
            </a:r>
          </a:p>
          <a:p>
            <a:pPr marL="0" indent="0">
              <a:buNone/>
            </a:pPr>
            <a:endParaRPr lang="en-US" dirty="0"/>
          </a:p>
          <a:p>
            <a:pPr marL="0" indent="0">
              <a:buNone/>
            </a:pPr>
            <a:endParaRPr lang="en-US" dirty="0"/>
          </a:p>
          <a:p>
            <a:pPr marL="0" indent="0">
              <a:buNone/>
            </a:pPr>
            <a:endParaRPr lang="en-US" dirty="0"/>
          </a:p>
        </p:txBody>
      </p:sp>
      <p:sp>
        <p:nvSpPr>
          <p:cNvPr id="10" name="Content Placeholder 7">
            <a:extLst>
              <a:ext uri="{FF2B5EF4-FFF2-40B4-BE49-F238E27FC236}">
                <a16:creationId xmlns:a16="http://schemas.microsoft.com/office/drawing/2014/main" id="{5B1CED82-90CB-1105-FD9F-5DA3BF68A814}"/>
              </a:ext>
            </a:extLst>
          </p:cNvPr>
          <p:cNvSpPr txBox="1">
            <a:spLocks/>
          </p:cNvSpPr>
          <p:nvPr/>
        </p:nvSpPr>
        <p:spPr>
          <a:xfrm>
            <a:off x="7035800" y="1600200"/>
            <a:ext cx="4695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Improves readability</a:t>
            </a:r>
          </a:p>
          <a:p>
            <a:endParaRPr lang="en-US" dirty="0"/>
          </a:p>
          <a:p>
            <a:r>
              <a:rPr lang="en-US" dirty="0"/>
              <a:t>Order does not matter</a:t>
            </a:r>
          </a:p>
        </p:txBody>
      </p:sp>
    </p:spTree>
    <p:extLst>
      <p:ext uri="{BB962C8B-B14F-4D97-AF65-F5344CB8AC3E}">
        <p14:creationId xmlns:p14="http://schemas.microsoft.com/office/powerpoint/2010/main" val="267098139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F7CA7-EB29-C0DD-E51B-859B2A051676}"/>
              </a:ext>
            </a:extLst>
          </p:cNvPr>
          <p:cNvSpPr>
            <a:spLocks noGrp="1"/>
          </p:cNvSpPr>
          <p:nvPr>
            <p:ph type="title"/>
          </p:nvPr>
        </p:nvSpPr>
        <p:spPr>
          <a:xfrm>
            <a:off x="457200" y="274638"/>
            <a:ext cx="10909300" cy="1143000"/>
          </a:xfrm>
        </p:spPr>
        <p:txBody>
          <a:bodyPr/>
          <a:lstStyle/>
          <a:p>
            <a:r>
              <a:rPr lang="en-US" dirty="0"/>
              <a:t>Functional Foundations &amp; Scoping</a:t>
            </a:r>
            <a:endParaRPr lang="en-SG" dirty="0"/>
          </a:p>
        </p:txBody>
      </p:sp>
      <p:sp>
        <p:nvSpPr>
          <p:cNvPr id="3" name="Content Placeholder 2">
            <a:extLst>
              <a:ext uri="{FF2B5EF4-FFF2-40B4-BE49-F238E27FC236}">
                <a16:creationId xmlns:a16="http://schemas.microsoft.com/office/drawing/2014/main" id="{75397CF6-D903-EE4A-6F81-A66EFE9C79BB}"/>
              </a:ext>
            </a:extLst>
          </p:cNvPr>
          <p:cNvSpPr>
            <a:spLocks noGrp="1"/>
          </p:cNvSpPr>
          <p:nvPr>
            <p:ph idx="1"/>
          </p:nvPr>
        </p:nvSpPr>
        <p:spPr>
          <a:xfrm>
            <a:off x="457200" y="1600200"/>
            <a:ext cx="10909300" cy="4525963"/>
          </a:xfrm>
        </p:spPr>
        <p:txBody>
          <a:bodyPr>
            <a:normAutofit/>
          </a:bodyPr>
          <a:lstStyle/>
          <a:p>
            <a:r>
              <a:rPr lang="en-US" dirty="0"/>
              <a:t>Understanding how Python searches for variables is essential for debugging.</a:t>
            </a:r>
          </a:p>
          <a:p>
            <a:r>
              <a:rPr lang="en-US" dirty="0"/>
              <a:t>The LEGB Rule: Local </a:t>
            </a:r>
            <a:r>
              <a:rPr lang="en-US" dirty="0">
                <a:sym typeface="Wingdings" panose="05000000000000000000" pitchFamily="2" charset="2"/>
              </a:rPr>
              <a:t> </a:t>
            </a:r>
            <a:r>
              <a:rPr lang="en-US" dirty="0"/>
              <a:t>Enclosing </a:t>
            </a:r>
            <a:r>
              <a:rPr lang="en-US" dirty="0">
                <a:sym typeface="Wingdings" panose="05000000000000000000" pitchFamily="2" charset="2"/>
              </a:rPr>
              <a:t> </a:t>
            </a:r>
            <a:r>
              <a:rPr lang="en-US" dirty="0"/>
              <a:t>Global </a:t>
            </a:r>
            <a:r>
              <a:rPr lang="en-US" dirty="0">
                <a:sym typeface="Wingdings" panose="05000000000000000000" pitchFamily="2" charset="2"/>
              </a:rPr>
              <a:t> </a:t>
            </a:r>
            <a:r>
              <a:rPr lang="en-US" dirty="0"/>
              <a:t>Built-in.</a:t>
            </a:r>
          </a:p>
          <a:p>
            <a:r>
              <a:rPr lang="en-US" dirty="0"/>
              <a:t>First-Class Functions: Functions can be passed as arguments, returned from other functions, and assigned to variables.</a:t>
            </a:r>
          </a:p>
          <a:p>
            <a:r>
              <a:rPr lang="en-US" dirty="0"/>
              <a:t>Lambda Functions: Anonymous, one-line functions for short-lived logic: add = lambda x, y: x + y.</a:t>
            </a:r>
            <a:endParaRPr lang="en-SG" dirty="0"/>
          </a:p>
        </p:txBody>
      </p:sp>
    </p:spTree>
    <p:extLst>
      <p:ext uri="{BB962C8B-B14F-4D97-AF65-F5344CB8AC3E}">
        <p14:creationId xmlns:p14="http://schemas.microsoft.com/office/powerpoint/2010/main" val="37548440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FFBC-C8DE-37E0-FBE3-45762A762EF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CBCB209-79BC-2D94-8CE4-72A30E376F86}"/>
              </a:ext>
            </a:extLst>
          </p:cNvPr>
          <p:cNvSpPr>
            <a:spLocks noGrp="1"/>
          </p:cNvSpPr>
          <p:nvPr>
            <p:ph type="title"/>
          </p:nvPr>
        </p:nvSpPr>
        <p:spPr/>
        <p:txBody>
          <a:bodyPr/>
          <a:lstStyle/>
          <a:p>
            <a:r>
              <a:rPr lang="en-SG" dirty="0"/>
              <a:t>Scope: Local vs Global</a:t>
            </a:r>
          </a:p>
        </p:txBody>
      </p:sp>
      <p:sp>
        <p:nvSpPr>
          <p:cNvPr id="8" name="Content Placeholder 7">
            <a:extLst>
              <a:ext uri="{FF2B5EF4-FFF2-40B4-BE49-F238E27FC236}">
                <a16:creationId xmlns:a16="http://schemas.microsoft.com/office/drawing/2014/main" id="{45AE9AAE-8B27-8B27-29F3-F7964322FBA6}"/>
              </a:ext>
            </a:extLst>
          </p:cNvPr>
          <p:cNvSpPr>
            <a:spLocks noGrp="1"/>
          </p:cNvSpPr>
          <p:nvPr>
            <p:ph idx="1"/>
          </p:nvPr>
        </p:nvSpPr>
        <p:spPr>
          <a:xfrm>
            <a:off x="457199" y="1600200"/>
            <a:ext cx="3467101"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x = 10</a:t>
            </a:r>
          </a:p>
          <a:p>
            <a:pPr marL="0" indent="0">
              <a:buNone/>
            </a:pPr>
            <a:endParaRPr lang="en-US" dirty="0"/>
          </a:p>
          <a:p>
            <a:pPr marL="0" indent="0">
              <a:buNone/>
            </a:pPr>
            <a:r>
              <a:rPr lang="en-US" dirty="0"/>
              <a:t>def show():</a:t>
            </a:r>
          </a:p>
          <a:p>
            <a:pPr marL="0" indent="0">
              <a:buNone/>
            </a:pPr>
            <a:r>
              <a:rPr lang="en-US" dirty="0"/>
              <a:t>    x = 5</a:t>
            </a:r>
          </a:p>
          <a:p>
            <a:pPr marL="0" indent="0">
              <a:buNone/>
            </a:pPr>
            <a:r>
              <a:rPr lang="en-US" dirty="0"/>
              <a:t>    print(x)</a:t>
            </a:r>
          </a:p>
          <a:p>
            <a:pPr marL="0" indent="0">
              <a:buNone/>
            </a:pPr>
            <a:endParaRPr lang="en-US" dirty="0"/>
          </a:p>
          <a:p>
            <a:pPr marL="0" indent="0">
              <a:buNone/>
            </a:pPr>
            <a:r>
              <a:rPr lang="en-US" dirty="0"/>
              <a:t>show()</a:t>
            </a:r>
          </a:p>
          <a:p>
            <a:pPr marL="0" indent="0">
              <a:buNone/>
            </a:pPr>
            <a:r>
              <a:rPr lang="en-US" dirty="0"/>
              <a:t>print(x)</a:t>
            </a:r>
          </a:p>
        </p:txBody>
      </p:sp>
      <p:sp>
        <p:nvSpPr>
          <p:cNvPr id="10" name="Content Placeholder 7">
            <a:extLst>
              <a:ext uri="{FF2B5EF4-FFF2-40B4-BE49-F238E27FC236}">
                <a16:creationId xmlns:a16="http://schemas.microsoft.com/office/drawing/2014/main" id="{524DCF0E-0A38-25FA-EF71-673864D5F49A}"/>
              </a:ext>
            </a:extLst>
          </p:cNvPr>
          <p:cNvSpPr txBox="1">
            <a:spLocks/>
          </p:cNvSpPr>
          <p:nvPr/>
        </p:nvSpPr>
        <p:spPr>
          <a:xfrm>
            <a:off x="4610100" y="1600200"/>
            <a:ext cx="7121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Variables inside functions are local</a:t>
            </a:r>
          </a:p>
          <a:p>
            <a:endParaRPr lang="en-US" dirty="0"/>
          </a:p>
          <a:p>
            <a:r>
              <a:rPr lang="en-US" dirty="0"/>
              <a:t>Global variables are not changed unless explicitly declared</a:t>
            </a:r>
          </a:p>
        </p:txBody>
      </p:sp>
    </p:spTree>
    <p:extLst>
      <p:ext uri="{BB962C8B-B14F-4D97-AF65-F5344CB8AC3E}">
        <p14:creationId xmlns:p14="http://schemas.microsoft.com/office/powerpoint/2010/main" val="239022429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8FE99-0E73-8DD0-5FCB-A00ADC683CE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353DA79-8635-A996-2C8E-06DF4C79BC4A}"/>
              </a:ext>
            </a:extLst>
          </p:cNvPr>
          <p:cNvSpPr>
            <a:spLocks noGrp="1"/>
          </p:cNvSpPr>
          <p:nvPr>
            <p:ph type="title"/>
          </p:nvPr>
        </p:nvSpPr>
        <p:spPr/>
        <p:txBody>
          <a:bodyPr/>
          <a:lstStyle/>
          <a:p>
            <a:r>
              <a:rPr lang="en-SG" dirty="0"/>
              <a:t>Docstrings</a:t>
            </a:r>
          </a:p>
        </p:txBody>
      </p:sp>
      <p:sp>
        <p:nvSpPr>
          <p:cNvPr id="8" name="Content Placeholder 7">
            <a:extLst>
              <a:ext uri="{FF2B5EF4-FFF2-40B4-BE49-F238E27FC236}">
                <a16:creationId xmlns:a16="http://schemas.microsoft.com/office/drawing/2014/main" id="{FDE12A5F-A54F-F827-9408-460C7E8884AB}"/>
              </a:ext>
            </a:extLst>
          </p:cNvPr>
          <p:cNvSpPr>
            <a:spLocks noGrp="1"/>
          </p:cNvSpPr>
          <p:nvPr>
            <p:ph idx="1"/>
          </p:nvPr>
        </p:nvSpPr>
        <p:spPr>
          <a:xfrm>
            <a:off x="457199" y="1600200"/>
            <a:ext cx="7518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"""Returns the sum of two numbers."""</a:t>
            </a:r>
          </a:p>
          <a:p>
            <a:pPr marL="0" indent="0">
              <a:buNone/>
            </a:pPr>
            <a:r>
              <a:rPr lang="en-US" dirty="0"/>
              <a:t>    return a + b</a:t>
            </a:r>
          </a:p>
        </p:txBody>
      </p:sp>
      <p:sp>
        <p:nvSpPr>
          <p:cNvPr id="10" name="Content Placeholder 7">
            <a:extLst>
              <a:ext uri="{FF2B5EF4-FFF2-40B4-BE49-F238E27FC236}">
                <a16:creationId xmlns:a16="http://schemas.microsoft.com/office/drawing/2014/main" id="{3B3D2B4F-94CD-F7EF-B72E-939484EACA30}"/>
              </a:ext>
            </a:extLst>
          </p:cNvPr>
          <p:cNvSpPr txBox="1">
            <a:spLocks/>
          </p:cNvSpPr>
          <p:nvPr/>
        </p:nvSpPr>
        <p:spPr>
          <a:xfrm>
            <a:off x="8166100" y="1600200"/>
            <a:ext cx="3565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document what a function does</a:t>
            </a:r>
          </a:p>
          <a:p>
            <a:endParaRPr lang="en-US" dirty="0"/>
          </a:p>
          <a:p>
            <a:r>
              <a:rPr lang="en-US" dirty="0"/>
              <a:t>Accessible via help(add)</a:t>
            </a:r>
          </a:p>
        </p:txBody>
      </p:sp>
    </p:spTree>
    <p:extLst>
      <p:ext uri="{BB962C8B-B14F-4D97-AF65-F5344CB8AC3E}">
        <p14:creationId xmlns:p14="http://schemas.microsoft.com/office/powerpoint/2010/main" val="359634025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ECD27-DA8F-5962-4E3A-C3A7CF3AD9F3}"/>
              </a:ext>
            </a:extLst>
          </p:cNvPr>
          <p:cNvSpPr>
            <a:spLocks noGrp="1"/>
          </p:cNvSpPr>
          <p:nvPr>
            <p:ph type="title"/>
          </p:nvPr>
        </p:nvSpPr>
        <p:spPr/>
        <p:txBody>
          <a:bodyPr/>
          <a:lstStyle/>
          <a:p>
            <a:r>
              <a:rPr lang="en-US" dirty="0"/>
              <a:t>What Are *</a:t>
            </a:r>
            <a:r>
              <a:rPr lang="en-US" dirty="0" err="1"/>
              <a:t>args</a:t>
            </a:r>
            <a:r>
              <a:rPr lang="en-US" dirty="0"/>
              <a:t> and **</a:t>
            </a:r>
            <a:r>
              <a:rPr lang="en-US" dirty="0" err="1"/>
              <a:t>kwargs</a:t>
            </a:r>
            <a:r>
              <a:rPr lang="en-US" dirty="0"/>
              <a:t>?</a:t>
            </a:r>
            <a:endParaRPr lang="en-SG" dirty="0"/>
          </a:p>
        </p:txBody>
      </p:sp>
      <p:sp>
        <p:nvSpPr>
          <p:cNvPr id="3" name="Content Placeholder 2">
            <a:extLst>
              <a:ext uri="{FF2B5EF4-FFF2-40B4-BE49-F238E27FC236}">
                <a16:creationId xmlns:a16="http://schemas.microsoft.com/office/drawing/2014/main" id="{8C114999-09D4-474C-9B81-BCAA0CC5F3AB}"/>
              </a:ext>
            </a:extLst>
          </p:cNvPr>
          <p:cNvSpPr>
            <a:spLocks noGrp="1"/>
          </p:cNvSpPr>
          <p:nvPr>
            <p:ph idx="1"/>
          </p:nvPr>
        </p:nvSpPr>
        <p:spPr/>
        <p:txBody>
          <a:bodyPr/>
          <a:lstStyle/>
          <a:p>
            <a:r>
              <a:rPr lang="en-US" dirty="0"/>
              <a:t>Allow functions to accept variable numbers of arguments</a:t>
            </a:r>
          </a:p>
          <a:p>
            <a:endParaRPr lang="en-US" dirty="0"/>
          </a:p>
          <a:p>
            <a:r>
              <a:rPr lang="en-US" dirty="0"/>
              <a:t>*</a:t>
            </a:r>
            <a:r>
              <a:rPr lang="en-US" dirty="0" err="1"/>
              <a:t>args</a:t>
            </a:r>
            <a:r>
              <a:rPr lang="en-US" dirty="0"/>
              <a:t> </a:t>
            </a:r>
            <a:r>
              <a:rPr lang="en-US" dirty="0">
                <a:sym typeface="Wingdings" panose="05000000000000000000" pitchFamily="2" charset="2"/>
              </a:rPr>
              <a:t> </a:t>
            </a:r>
            <a:r>
              <a:rPr lang="en-US" dirty="0"/>
              <a:t>positional arguments (tuple)</a:t>
            </a:r>
          </a:p>
          <a:p>
            <a:endParaRPr lang="en-US" dirty="0"/>
          </a:p>
          <a:p>
            <a:r>
              <a:rPr lang="en-US" dirty="0"/>
              <a:t>**</a:t>
            </a:r>
            <a:r>
              <a:rPr lang="en-US" dirty="0" err="1"/>
              <a:t>kwargs</a:t>
            </a:r>
            <a:r>
              <a:rPr lang="en-US" dirty="0"/>
              <a:t> </a:t>
            </a:r>
            <a:r>
              <a:rPr lang="en-US" dirty="0">
                <a:sym typeface="Wingdings" panose="05000000000000000000" pitchFamily="2" charset="2"/>
              </a:rPr>
              <a:t></a:t>
            </a:r>
            <a:r>
              <a:rPr lang="en-US" dirty="0"/>
              <a:t> keyword arguments (</a:t>
            </a:r>
            <a:r>
              <a:rPr lang="en-US" dirty="0" err="1"/>
              <a:t>dict</a:t>
            </a:r>
            <a:r>
              <a:rPr lang="en-US" dirty="0"/>
              <a:t>)</a:t>
            </a:r>
            <a:endParaRPr lang="en-SG" dirty="0"/>
          </a:p>
        </p:txBody>
      </p:sp>
    </p:spTree>
    <p:extLst>
      <p:ext uri="{BB962C8B-B14F-4D97-AF65-F5344CB8AC3E}">
        <p14:creationId xmlns:p14="http://schemas.microsoft.com/office/powerpoint/2010/main" val="241989914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1E44-1F3B-609B-4B8C-69D6C278D02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E94D59-BC29-7B0F-A0F0-F5F78B36E6C3}"/>
              </a:ext>
            </a:extLst>
          </p:cNvPr>
          <p:cNvSpPr>
            <a:spLocks noGrp="1"/>
          </p:cNvSpPr>
          <p:nvPr>
            <p:ph type="title"/>
          </p:nvPr>
        </p:nvSpPr>
        <p:spPr>
          <a:xfrm>
            <a:off x="457199" y="160337"/>
            <a:ext cx="8229600" cy="1143000"/>
          </a:xfrm>
        </p:spPr>
        <p:txBody>
          <a:bodyPr/>
          <a:lstStyle/>
          <a:p>
            <a:r>
              <a:rPr lang="en-SG" dirty="0"/>
              <a:t>Using *</a:t>
            </a:r>
            <a:r>
              <a:rPr lang="en-SG" dirty="0" err="1"/>
              <a:t>args</a:t>
            </a:r>
            <a:endParaRPr lang="en-SG" dirty="0"/>
          </a:p>
        </p:txBody>
      </p:sp>
      <p:sp>
        <p:nvSpPr>
          <p:cNvPr id="8" name="Content Placeholder 7">
            <a:extLst>
              <a:ext uri="{FF2B5EF4-FFF2-40B4-BE49-F238E27FC236}">
                <a16:creationId xmlns:a16="http://schemas.microsoft.com/office/drawing/2014/main" id="{7F6EF985-266E-1290-79F7-623171E4AB0A}"/>
              </a:ext>
            </a:extLst>
          </p:cNvPr>
          <p:cNvSpPr>
            <a:spLocks noGrp="1"/>
          </p:cNvSpPr>
          <p:nvPr>
            <p:ph idx="1"/>
          </p:nvPr>
        </p:nvSpPr>
        <p:spPr>
          <a:xfrm>
            <a:off x="457199" y="1600200"/>
            <a:ext cx="5473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greet(*names):</a:t>
            </a:r>
          </a:p>
          <a:p>
            <a:pPr marL="0" indent="0">
              <a:buNone/>
            </a:pPr>
            <a:r>
              <a:rPr lang="en-US" dirty="0"/>
              <a:t>    for name in names:</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 "Bob", "Charlie")</a:t>
            </a:r>
          </a:p>
        </p:txBody>
      </p:sp>
      <p:sp>
        <p:nvSpPr>
          <p:cNvPr id="10" name="Content Placeholder 7">
            <a:extLst>
              <a:ext uri="{FF2B5EF4-FFF2-40B4-BE49-F238E27FC236}">
                <a16:creationId xmlns:a16="http://schemas.microsoft.com/office/drawing/2014/main" id="{36279E60-42DC-62C4-59FC-DA3B414DE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positional arguments</a:t>
            </a:r>
          </a:p>
          <a:p>
            <a:endParaRPr lang="en-US" dirty="0"/>
          </a:p>
          <a:p>
            <a:r>
              <a:rPr lang="en-US" dirty="0"/>
              <a:t>Inside the function, names is a tuple</a:t>
            </a:r>
          </a:p>
          <a:p>
            <a:endParaRPr lang="en-US" dirty="0"/>
          </a:p>
          <a:p>
            <a:r>
              <a:rPr lang="en-US" dirty="0"/>
              <a:t>Useful for functions where the number of inputs is unknown</a:t>
            </a:r>
          </a:p>
        </p:txBody>
      </p:sp>
    </p:spTree>
    <p:extLst>
      <p:ext uri="{BB962C8B-B14F-4D97-AF65-F5344CB8AC3E}">
        <p14:creationId xmlns:p14="http://schemas.microsoft.com/office/powerpoint/2010/main" val="599418343"/>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D368D-1A95-E83E-F29E-06CDE34A83E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10D503A-4239-0FE0-8446-362F39918B91}"/>
              </a:ext>
            </a:extLst>
          </p:cNvPr>
          <p:cNvSpPr>
            <a:spLocks noGrp="1"/>
          </p:cNvSpPr>
          <p:nvPr>
            <p:ph type="title"/>
          </p:nvPr>
        </p:nvSpPr>
        <p:spPr>
          <a:xfrm>
            <a:off x="457199" y="160337"/>
            <a:ext cx="8229600" cy="1143000"/>
          </a:xfrm>
        </p:spPr>
        <p:txBody>
          <a:bodyPr/>
          <a:lstStyle/>
          <a:p>
            <a:r>
              <a:rPr lang="en-SG" dirty="0"/>
              <a:t>Using **</a:t>
            </a:r>
            <a:r>
              <a:rPr lang="en-SG" dirty="0" err="1"/>
              <a:t>kwargs</a:t>
            </a:r>
            <a:endParaRPr lang="en-SG" dirty="0"/>
          </a:p>
        </p:txBody>
      </p:sp>
      <p:sp>
        <p:nvSpPr>
          <p:cNvPr id="8" name="Content Placeholder 7">
            <a:extLst>
              <a:ext uri="{FF2B5EF4-FFF2-40B4-BE49-F238E27FC236}">
                <a16:creationId xmlns:a16="http://schemas.microsoft.com/office/drawing/2014/main" id="{5AE6231F-A604-9223-8FCA-9057748B3926}"/>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introduce(**info):</a:t>
            </a:r>
          </a:p>
          <a:p>
            <a:pPr marL="0" indent="0">
              <a:buNone/>
            </a:pPr>
            <a:r>
              <a:rPr lang="en-US" dirty="0"/>
              <a:t>    for key, value in </a:t>
            </a:r>
            <a:r>
              <a:rPr lang="en-US" dirty="0" err="1"/>
              <a:t>info.items</a:t>
            </a:r>
            <a:r>
              <a:rPr lang="en-US" dirty="0"/>
              <a:t>():</a:t>
            </a:r>
          </a:p>
          <a:p>
            <a:pPr marL="0" indent="0">
              <a:buNone/>
            </a:pPr>
            <a:r>
              <a:rPr lang="en-US" dirty="0"/>
              <a:t>        print(f"{key}: {value}")</a:t>
            </a:r>
          </a:p>
          <a:p>
            <a:pPr marL="0" indent="0">
              <a:buNone/>
            </a:pPr>
            <a:endParaRPr lang="en-US" dirty="0"/>
          </a:p>
          <a:p>
            <a:pPr marL="0" indent="0">
              <a:buNone/>
            </a:pPr>
            <a:r>
              <a:rPr lang="en-US" dirty="0"/>
              <a:t>introduce(name="Alice", age=25, city="Paris")</a:t>
            </a:r>
          </a:p>
        </p:txBody>
      </p:sp>
      <p:sp>
        <p:nvSpPr>
          <p:cNvPr id="10" name="Content Placeholder 7">
            <a:extLst>
              <a:ext uri="{FF2B5EF4-FFF2-40B4-BE49-F238E27FC236}">
                <a16:creationId xmlns:a16="http://schemas.microsoft.com/office/drawing/2014/main" id="{BBD9DF22-C333-27CC-52B4-E8EF48BE8E2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Tree>
    <p:extLst>
      <p:ext uri="{BB962C8B-B14F-4D97-AF65-F5344CB8AC3E}">
        <p14:creationId xmlns:p14="http://schemas.microsoft.com/office/powerpoint/2010/main" val="29333413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34C54-5EBF-E007-06B5-270C87A870C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106BE1-FBBE-BA13-7BCF-0CD026B86B66}"/>
              </a:ext>
            </a:extLst>
          </p:cNvPr>
          <p:cNvSpPr>
            <a:spLocks noGrp="1"/>
          </p:cNvSpPr>
          <p:nvPr>
            <p:ph type="title"/>
          </p:nvPr>
        </p:nvSpPr>
        <p:spPr>
          <a:xfrm>
            <a:off x="457199" y="160337"/>
            <a:ext cx="8229600" cy="1143000"/>
          </a:xfrm>
        </p:spPr>
        <p:txBody>
          <a:bodyPr/>
          <a:lstStyle/>
          <a:p>
            <a:r>
              <a:rPr lang="en-SG" dirty="0"/>
              <a:t>Combining *</a:t>
            </a:r>
            <a:r>
              <a:rPr lang="en-SG" dirty="0" err="1"/>
              <a:t>args</a:t>
            </a:r>
            <a:r>
              <a:rPr lang="en-SG" dirty="0"/>
              <a:t> and **</a:t>
            </a:r>
            <a:r>
              <a:rPr lang="en-SG" dirty="0" err="1"/>
              <a:t>kwargs</a:t>
            </a:r>
            <a:endParaRPr lang="en-SG" dirty="0"/>
          </a:p>
        </p:txBody>
      </p:sp>
      <p:sp>
        <p:nvSpPr>
          <p:cNvPr id="8" name="Content Placeholder 7">
            <a:extLst>
              <a:ext uri="{FF2B5EF4-FFF2-40B4-BE49-F238E27FC236}">
                <a16:creationId xmlns:a16="http://schemas.microsoft.com/office/drawing/2014/main" id="{2593BF68-DBAD-A3D8-30F8-D0A122A3B89A}"/>
              </a:ext>
            </a:extLst>
          </p:cNvPr>
          <p:cNvSpPr>
            <a:spLocks noGrp="1"/>
          </p:cNvSpPr>
          <p:nvPr>
            <p:ph idx="1"/>
          </p:nvPr>
        </p:nvSpPr>
        <p:spPr>
          <a:xfrm>
            <a:off x="457199" y="1600201"/>
            <a:ext cx="5257801" cy="29972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 </a:t>
            </a:r>
            <a:r>
              <a:rPr lang="en-US" dirty="0" err="1"/>
              <a:t>args</a:t>
            </a:r>
            <a:r>
              <a:rPr lang="en-US" dirty="0"/>
              <a:t>)</a:t>
            </a:r>
          </a:p>
          <a:p>
            <a:pPr marL="0" indent="0">
              <a:buNone/>
            </a:pPr>
            <a:r>
              <a:rPr lang="en-US" dirty="0"/>
              <a:t>    print("</a:t>
            </a:r>
            <a:r>
              <a:rPr lang="en-US" dirty="0" err="1"/>
              <a:t>Kwargs</a:t>
            </a:r>
            <a:r>
              <a:rPr lang="en-US" dirty="0"/>
              <a:t>:", </a:t>
            </a:r>
            <a:r>
              <a:rPr lang="en-US" dirty="0" err="1"/>
              <a:t>kwargs</a:t>
            </a:r>
            <a:r>
              <a:rPr lang="en-US" dirty="0"/>
              <a:t>)</a:t>
            </a:r>
          </a:p>
          <a:p>
            <a:pPr marL="0" indent="0">
              <a:buNone/>
            </a:pPr>
            <a:endParaRPr lang="en-US" dirty="0"/>
          </a:p>
          <a:p>
            <a:pPr marL="0" indent="0">
              <a:buNone/>
            </a:pPr>
            <a:r>
              <a:rPr lang="en-US" dirty="0"/>
              <a:t>show(1, 2, 3, a=10, b=20)</a:t>
            </a:r>
          </a:p>
        </p:txBody>
      </p:sp>
      <p:sp>
        <p:nvSpPr>
          <p:cNvPr id="10" name="Content Placeholder 7">
            <a:extLst>
              <a:ext uri="{FF2B5EF4-FFF2-40B4-BE49-F238E27FC236}">
                <a16:creationId xmlns:a16="http://schemas.microsoft.com/office/drawing/2014/main" id="{41115D71-0AA3-BEF0-C310-CCF2A954CBDC}"/>
              </a:ext>
            </a:extLst>
          </p:cNvPr>
          <p:cNvSpPr txBox="1">
            <a:spLocks/>
          </p:cNvSpPr>
          <p:nvPr/>
        </p:nvSpPr>
        <p:spPr>
          <a:xfrm>
            <a:off x="6094412" y="1600200"/>
            <a:ext cx="5637213" cy="465472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
        <p:nvSpPr>
          <p:cNvPr id="2" name="TextBox 1">
            <a:extLst>
              <a:ext uri="{FF2B5EF4-FFF2-40B4-BE49-F238E27FC236}">
                <a16:creationId xmlns:a16="http://schemas.microsoft.com/office/drawing/2014/main" id="{A8500E7F-149A-B181-77A4-A164FD346D33}"/>
              </a:ext>
            </a:extLst>
          </p:cNvPr>
          <p:cNvSpPr txBox="1"/>
          <p:nvPr/>
        </p:nvSpPr>
        <p:spPr>
          <a:xfrm>
            <a:off x="457198" y="4762500"/>
            <a:ext cx="5257801" cy="181588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sz="2800" dirty="0"/>
              <a:t>Output: </a:t>
            </a:r>
          </a:p>
          <a:p>
            <a:r>
              <a:rPr lang="en-SG" sz="2800" dirty="0" err="1"/>
              <a:t>Args</a:t>
            </a:r>
            <a:r>
              <a:rPr lang="en-SG" sz="2800" dirty="0"/>
              <a:t>: (1, 2, 3)</a:t>
            </a:r>
          </a:p>
          <a:p>
            <a:r>
              <a:rPr lang="en-SG" sz="2800" dirty="0" err="1"/>
              <a:t>Kwargs</a:t>
            </a:r>
            <a:r>
              <a:rPr lang="en-SG" sz="2800" dirty="0"/>
              <a:t>: {'a': 10, 'b': 20}</a:t>
            </a:r>
          </a:p>
          <a:p>
            <a:endParaRPr lang="en-SG" sz="2800" dirty="0"/>
          </a:p>
        </p:txBody>
      </p:sp>
    </p:spTree>
    <p:extLst>
      <p:ext uri="{BB962C8B-B14F-4D97-AF65-F5344CB8AC3E}">
        <p14:creationId xmlns:p14="http://schemas.microsoft.com/office/powerpoint/2010/main" val="21606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591EF-11FC-BF73-2E94-5A91CFEAB992}"/>
              </a:ext>
            </a:extLst>
          </p:cNvPr>
          <p:cNvSpPr>
            <a:spLocks noGrp="1"/>
          </p:cNvSpPr>
          <p:nvPr>
            <p:ph type="title"/>
          </p:nvPr>
        </p:nvSpPr>
        <p:spPr/>
        <p:txBody>
          <a:bodyPr/>
          <a:lstStyle/>
          <a:p>
            <a:r>
              <a:rPr lang="en-SG" dirty="0"/>
              <a:t>When to Use Them</a:t>
            </a:r>
          </a:p>
        </p:txBody>
      </p:sp>
      <p:sp>
        <p:nvSpPr>
          <p:cNvPr id="3" name="Content Placeholder 2">
            <a:extLst>
              <a:ext uri="{FF2B5EF4-FFF2-40B4-BE49-F238E27FC236}">
                <a16:creationId xmlns:a16="http://schemas.microsoft.com/office/drawing/2014/main" id="{5711410A-9BFF-D286-6EE0-CA59EAD4A18C}"/>
              </a:ext>
            </a:extLst>
          </p:cNvPr>
          <p:cNvSpPr>
            <a:spLocks noGrp="1"/>
          </p:cNvSpPr>
          <p:nvPr>
            <p:ph idx="1"/>
          </p:nvPr>
        </p:nvSpPr>
        <p:spPr>
          <a:xfrm>
            <a:off x="457200" y="1600200"/>
            <a:ext cx="9740900" cy="4525963"/>
          </a:xfrm>
        </p:spPr>
        <p:txBody>
          <a:bodyPr>
            <a:normAutofit lnSpcReduction="10000"/>
          </a:bodyPr>
          <a:lstStyle/>
          <a:p>
            <a:r>
              <a:rPr lang="en-US" dirty="0"/>
              <a:t>*</a:t>
            </a:r>
            <a:r>
              <a:rPr lang="en-US" dirty="0" err="1"/>
              <a:t>args</a:t>
            </a:r>
            <a:r>
              <a:rPr lang="en-US" dirty="0"/>
              <a:t>: When you want any number of positional inputs</a:t>
            </a:r>
          </a:p>
          <a:p>
            <a:endParaRPr lang="en-US" dirty="0"/>
          </a:p>
          <a:p>
            <a:r>
              <a:rPr lang="en-US" dirty="0"/>
              <a:t>**</a:t>
            </a:r>
            <a:r>
              <a:rPr lang="en-US" dirty="0" err="1"/>
              <a:t>kwargs</a:t>
            </a:r>
            <a:r>
              <a:rPr lang="en-US" dirty="0"/>
              <a:t>: When you want any number of named inputs</a:t>
            </a:r>
          </a:p>
          <a:p>
            <a:endParaRPr lang="en-US" dirty="0"/>
          </a:p>
          <a:p>
            <a:r>
              <a:rPr lang="en-US" dirty="0"/>
              <a:t>Makes functions generic and reusable</a:t>
            </a:r>
          </a:p>
          <a:p>
            <a:endParaRPr lang="en-US" dirty="0"/>
          </a:p>
          <a:p>
            <a:r>
              <a:rPr lang="en-US" dirty="0"/>
              <a:t>Often used in wrapper functions or APIs</a:t>
            </a:r>
            <a:endParaRPr lang="en-SG" dirty="0"/>
          </a:p>
        </p:txBody>
      </p:sp>
    </p:spTree>
    <p:extLst>
      <p:ext uri="{BB962C8B-B14F-4D97-AF65-F5344CB8AC3E}">
        <p14:creationId xmlns:p14="http://schemas.microsoft.com/office/powerpoint/2010/main" val="616078723"/>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739F5-AA1B-AA13-C6A6-E430711121F7}"/>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51E8C03-F660-EBE9-2F43-0E627AE82EB3}"/>
              </a:ext>
            </a:extLst>
          </p:cNvPr>
          <p:cNvSpPr>
            <a:spLocks noGrp="1"/>
          </p:cNvSpPr>
          <p:nvPr>
            <p:ph idx="1"/>
          </p:nvPr>
        </p:nvSpPr>
        <p:spPr>
          <a:xfrm>
            <a:off x="457200" y="1600200"/>
            <a:ext cx="10718800" cy="4525963"/>
          </a:xfrm>
        </p:spPr>
        <p:txBody>
          <a:bodyPr/>
          <a:lstStyle/>
          <a:p>
            <a:r>
              <a:rPr lang="en-US" dirty="0"/>
              <a:t>Write a function </a:t>
            </a:r>
            <a:r>
              <a:rPr lang="en-US" dirty="0" err="1"/>
              <a:t>make_sentence</a:t>
            </a:r>
            <a:r>
              <a:rPr lang="en-US" dirty="0"/>
              <a:t>(*words, **punctuation)</a:t>
            </a:r>
          </a:p>
          <a:p>
            <a:endParaRPr lang="en-US" dirty="0"/>
          </a:p>
          <a:p>
            <a:r>
              <a:rPr lang="en-US" dirty="0"/>
              <a:t>Joins all words with spaces and appends punctuation if provided</a:t>
            </a:r>
          </a:p>
          <a:p>
            <a:endParaRPr lang="en-US" dirty="0"/>
          </a:p>
          <a:p>
            <a:r>
              <a:rPr lang="en-US" dirty="0"/>
              <a:t>Test with different numbers of words and punctuation marks</a:t>
            </a:r>
            <a:endParaRPr lang="en-SG" dirty="0"/>
          </a:p>
        </p:txBody>
      </p:sp>
    </p:spTree>
    <p:extLst>
      <p:ext uri="{BB962C8B-B14F-4D97-AF65-F5344CB8AC3E}">
        <p14:creationId xmlns:p14="http://schemas.microsoft.com/office/powerpoint/2010/main" val="424373278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4AC2-600F-9E49-97FF-77D91E4C8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5B802-F556-99CE-057D-73A5CC01BD91}"/>
              </a:ext>
            </a:extLst>
          </p:cNvPr>
          <p:cNvSpPr>
            <a:spLocks noGrp="1"/>
          </p:cNvSpPr>
          <p:nvPr>
            <p:ph type="title"/>
          </p:nvPr>
        </p:nvSpPr>
        <p:spPr>
          <a:xfrm>
            <a:off x="457200" y="-207962"/>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5EC78600-3F26-4634-B3B3-644EB8572D04}"/>
              </a:ext>
            </a:extLst>
          </p:cNvPr>
          <p:cNvSpPr>
            <a:spLocks noGrp="1"/>
          </p:cNvSpPr>
          <p:nvPr>
            <p:ph idx="1"/>
          </p:nvPr>
        </p:nvSpPr>
        <p:spPr>
          <a:xfrm>
            <a:off x="330200" y="935038"/>
            <a:ext cx="6146800" cy="5554662"/>
          </a:xfrm>
        </p:spPr>
        <p:txBody>
          <a:bodyPr>
            <a:normAutofit fontScale="92500"/>
          </a:bodyPr>
          <a:lstStyle/>
          <a:p>
            <a:pPr marL="0" indent="0">
              <a:buNone/>
            </a:pPr>
            <a:r>
              <a:rPr lang="en-US" dirty="0"/>
              <a:t>def </a:t>
            </a:r>
            <a:r>
              <a:rPr lang="en-US" dirty="0" err="1"/>
              <a:t>make_sentence</a:t>
            </a:r>
            <a:r>
              <a:rPr lang="en-US" dirty="0"/>
              <a:t>(*words, **punctuation):</a:t>
            </a:r>
          </a:p>
          <a:p>
            <a:pPr marL="0" indent="0">
              <a:buNone/>
            </a:pPr>
            <a:r>
              <a:rPr lang="en-US" dirty="0"/>
              <a:t>    # Join words with spaces</a:t>
            </a:r>
          </a:p>
          <a:p>
            <a:pPr marL="0" indent="0">
              <a:buNone/>
            </a:pPr>
            <a:r>
              <a:rPr lang="en-US" dirty="0"/>
              <a:t>    sentence = " ".join(words)</a:t>
            </a:r>
          </a:p>
          <a:p>
            <a:pPr marL="0" indent="0">
              <a:buNone/>
            </a:pPr>
            <a:r>
              <a:rPr lang="en-US" dirty="0"/>
              <a:t>    </a:t>
            </a:r>
          </a:p>
          <a:p>
            <a:pPr marL="0" indent="0">
              <a:buNone/>
            </a:pPr>
            <a:r>
              <a:rPr lang="en-US" dirty="0"/>
              <a:t>    # Append punctuation if provided</a:t>
            </a:r>
          </a:p>
          <a:p>
            <a:pPr marL="0" indent="0">
              <a:buNone/>
            </a:pPr>
            <a:r>
              <a:rPr lang="en-US" dirty="0"/>
              <a:t>    if "end" in punctuation:</a:t>
            </a:r>
          </a:p>
          <a:p>
            <a:pPr marL="0" indent="0">
              <a:buNone/>
            </a:pPr>
            <a:r>
              <a:rPr lang="en-US" dirty="0"/>
              <a:t>        sentence += punctuation["end"]</a:t>
            </a:r>
          </a:p>
          <a:p>
            <a:pPr marL="0" indent="0">
              <a:buNone/>
            </a:pPr>
            <a:r>
              <a:rPr lang="en-US" dirty="0"/>
              <a:t>    </a:t>
            </a:r>
          </a:p>
          <a:p>
            <a:pPr marL="0" indent="0">
              <a:buNone/>
            </a:pPr>
            <a:r>
              <a:rPr lang="en-US" dirty="0"/>
              <a:t>    print(sentence)</a:t>
            </a:r>
          </a:p>
          <a:p>
            <a:pPr marL="0" indent="0">
              <a:buNone/>
            </a:pPr>
            <a:endParaRPr lang="en-US" dirty="0"/>
          </a:p>
        </p:txBody>
      </p:sp>
      <p:sp>
        <p:nvSpPr>
          <p:cNvPr id="4" name="TextBox 3">
            <a:extLst>
              <a:ext uri="{FF2B5EF4-FFF2-40B4-BE49-F238E27FC236}">
                <a16:creationId xmlns:a16="http://schemas.microsoft.com/office/drawing/2014/main" id="{295CD07A-0BE4-FE95-5B43-0C8D771E6C47}"/>
              </a:ext>
            </a:extLst>
          </p:cNvPr>
          <p:cNvSpPr txBox="1"/>
          <p:nvPr/>
        </p:nvSpPr>
        <p:spPr>
          <a:xfrm>
            <a:off x="6854825" y="467887"/>
            <a:ext cx="4876800" cy="6555641"/>
          </a:xfrm>
          <a:prstGeom prst="rect">
            <a:avLst/>
          </a:prstGeom>
          <a:noFill/>
        </p:spPr>
        <p:txBody>
          <a:bodyPr wrap="square" rtlCol="0">
            <a:spAutoFit/>
          </a:bodyPr>
          <a:lstStyle/>
          <a:p>
            <a:r>
              <a:rPr lang="en-US" sz="2800" dirty="0"/>
              <a:t># --- Test Cases ---</a:t>
            </a:r>
          </a:p>
          <a:p>
            <a:endParaRPr lang="en-US" sz="2800" dirty="0"/>
          </a:p>
          <a:p>
            <a:r>
              <a:rPr lang="en-US" sz="2800" dirty="0"/>
              <a:t># No punctuation</a:t>
            </a:r>
          </a:p>
          <a:p>
            <a:r>
              <a:rPr lang="en-US" sz="2800" dirty="0" err="1"/>
              <a:t>make_sentence</a:t>
            </a:r>
            <a:r>
              <a:rPr lang="en-US" sz="2800" dirty="0"/>
              <a:t>("Python", "is", "fun")</a:t>
            </a:r>
          </a:p>
          <a:p>
            <a:endParaRPr lang="en-US" sz="2800" dirty="0"/>
          </a:p>
          <a:p>
            <a:r>
              <a:rPr lang="en-US" sz="2800" dirty="0"/>
              <a:t># With punctuation</a:t>
            </a:r>
          </a:p>
          <a:p>
            <a:r>
              <a:rPr lang="en-US" sz="2800" dirty="0" err="1"/>
              <a:t>make_sentence</a:t>
            </a:r>
            <a:r>
              <a:rPr lang="en-US" sz="2800" dirty="0"/>
              <a:t>("Hello", "world", end="!")</a:t>
            </a:r>
          </a:p>
          <a:p>
            <a:endParaRPr lang="en-US" sz="2800" dirty="0"/>
          </a:p>
          <a:p>
            <a:r>
              <a:rPr lang="en-US" sz="2800" dirty="0"/>
              <a:t># Longer sentence with punctuation</a:t>
            </a:r>
          </a:p>
          <a:p>
            <a:r>
              <a:rPr lang="en-US" sz="2800" dirty="0" err="1"/>
              <a:t>make_sentence</a:t>
            </a:r>
            <a:r>
              <a:rPr lang="en-US" sz="2800" dirty="0"/>
              <a:t>("I", "love", "learning", "Python", end=".")</a:t>
            </a:r>
          </a:p>
          <a:p>
            <a:endParaRPr lang="en-SG" sz="2800" dirty="0"/>
          </a:p>
        </p:txBody>
      </p:sp>
    </p:spTree>
    <p:extLst>
      <p:ext uri="{BB962C8B-B14F-4D97-AF65-F5344CB8AC3E}">
        <p14:creationId xmlns:p14="http://schemas.microsoft.com/office/powerpoint/2010/main" val="7754210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0F197-5B94-7F51-FD9B-C367CABE5421}"/>
              </a:ext>
            </a:extLst>
          </p:cNvPr>
          <p:cNvSpPr>
            <a:spLocks noGrp="1"/>
          </p:cNvSpPr>
          <p:nvPr>
            <p:ph type="title"/>
          </p:nvPr>
        </p:nvSpPr>
        <p:spPr/>
        <p:txBody>
          <a:bodyPr/>
          <a:lstStyle/>
          <a:p>
            <a:r>
              <a:rPr lang="en-US" dirty="0"/>
              <a:t>When to Create a Function</a:t>
            </a:r>
            <a:endParaRPr lang="en-SG" dirty="0"/>
          </a:p>
        </p:txBody>
      </p:sp>
      <p:sp>
        <p:nvSpPr>
          <p:cNvPr id="3" name="Content Placeholder 2">
            <a:extLst>
              <a:ext uri="{FF2B5EF4-FFF2-40B4-BE49-F238E27FC236}">
                <a16:creationId xmlns:a16="http://schemas.microsoft.com/office/drawing/2014/main" id="{7A9F5FB3-6CD2-5063-8AC1-018DCB9B3F7C}"/>
              </a:ext>
            </a:extLst>
          </p:cNvPr>
          <p:cNvSpPr>
            <a:spLocks noGrp="1"/>
          </p:cNvSpPr>
          <p:nvPr>
            <p:ph idx="1"/>
          </p:nvPr>
        </p:nvSpPr>
        <p:spPr/>
        <p:txBody>
          <a:bodyPr/>
          <a:lstStyle/>
          <a:p>
            <a:r>
              <a:rPr lang="en-US" dirty="0"/>
              <a:t>Code is repeated</a:t>
            </a:r>
          </a:p>
          <a:p>
            <a:endParaRPr lang="en-US" dirty="0"/>
          </a:p>
          <a:p>
            <a:r>
              <a:rPr lang="en-US" dirty="0"/>
              <a:t>Logic has a clear purpose</a:t>
            </a:r>
          </a:p>
          <a:p>
            <a:endParaRPr lang="en-US" dirty="0"/>
          </a:p>
          <a:p>
            <a:r>
              <a:rPr lang="en-US" dirty="0"/>
              <a:t>A task can be named clearly</a:t>
            </a:r>
            <a:endParaRPr lang="en-SG" dirty="0"/>
          </a:p>
        </p:txBody>
      </p:sp>
    </p:spTree>
    <p:extLst>
      <p:ext uri="{BB962C8B-B14F-4D97-AF65-F5344CB8AC3E}">
        <p14:creationId xmlns:p14="http://schemas.microsoft.com/office/powerpoint/2010/main" val="237044384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2148-E456-FEDA-EEDD-8468CFA6DF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D7968-A50B-F716-9B3F-4394DF049C09}"/>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D162C824-7F44-DAE4-BC4F-D70DC43EDE5D}"/>
              </a:ext>
            </a:extLst>
          </p:cNvPr>
          <p:cNvSpPr>
            <a:spLocks noGrp="1"/>
          </p:cNvSpPr>
          <p:nvPr>
            <p:ph idx="1"/>
          </p:nvPr>
        </p:nvSpPr>
        <p:spPr/>
        <p:txBody>
          <a:bodyPr/>
          <a:lstStyle/>
          <a:p>
            <a:r>
              <a:rPr lang="en-US" dirty="0"/>
              <a:t>Write a function that:</a:t>
            </a:r>
          </a:p>
          <a:p>
            <a:endParaRPr lang="en-US" dirty="0"/>
          </a:p>
          <a:p>
            <a:pPr lvl="1"/>
            <a:r>
              <a:rPr lang="en-US" dirty="0"/>
              <a:t>Takes two numbers</a:t>
            </a:r>
          </a:p>
          <a:p>
            <a:endParaRPr lang="en-US" dirty="0"/>
          </a:p>
          <a:p>
            <a:pPr lvl="1"/>
            <a:r>
              <a:rPr lang="en-US" dirty="0"/>
              <a:t>Returns the larger number</a:t>
            </a:r>
            <a:endParaRPr lang="en-SG" dirty="0"/>
          </a:p>
        </p:txBody>
      </p:sp>
    </p:spTree>
    <p:extLst>
      <p:ext uri="{BB962C8B-B14F-4D97-AF65-F5344CB8AC3E}">
        <p14:creationId xmlns:p14="http://schemas.microsoft.com/office/powerpoint/2010/main" val="2013148283"/>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0AD5-B8AC-EFFD-B17C-52D44A90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CE50-3F90-8338-C411-AAB1582D1894}"/>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3EF27E80-8EDD-99C2-42C4-70E47A71D4AD}"/>
              </a:ext>
            </a:extLst>
          </p:cNvPr>
          <p:cNvSpPr>
            <a:spLocks noGrp="1"/>
          </p:cNvSpPr>
          <p:nvPr>
            <p:ph idx="1"/>
          </p:nvPr>
        </p:nvSpPr>
        <p:spPr>
          <a:xfrm>
            <a:off x="457200" y="2057399"/>
            <a:ext cx="8229600" cy="4525963"/>
          </a:xfrm>
        </p:spPr>
        <p:txBody>
          <a:bodyPr/>
          <a:lstStyle/>
          <a:p>
            <a:pPr marL="0" indent="0">
              <a:buNone/>
            </a:pPr>
            <a:r>
              <a:rPr lang="en-US" dirty="0"/>
              <a:t>def </a:t>
            </a:r>
            <a:r>
              <a:rPr lang="en-US" dirty="0" err="1"/>
              <a:t>max_number</a:t>
            </a:r>
            <a:r>
              <a:rPr lang="en-US" dirty="0"/>
              <a:t>(a, b):</a:t>
            </a:r>
          </a:p>
          <a:p>
            <a:pPr marL="0" indent="0">
              <a:buNone/>
            </a:pPr>
            <a:r>
              <a:rPr lang="en-US" dirty="0"/>
              <a:t>    return a if a &gt; b else b</a:t>
            </a:r>
          </a:p>
        </p:txBody>
      </p:sp>
    </p:spTree>
    <p:extLst>
      <p:ext uri="{BB962C8B-B14F-4D97-AF65-F5344CB8AC3E}">
        <p14:creationId xmlns:p14="http://schemas.microsoft.com/office/powerpoint/2010/main" val="61944120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4355-B467-8188-3E54-164C77259021}"/>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FDEDE05D-C16C-2BB9-542A-2BEEE2392915}"/>
              </a:ext>
            </a:extLst>
          </p:cNvPr>
          <p:cNvSpPr>
            <a:spLocks noGrp="1"/>
          </p:cNvSpPr>
          <p:nvPr>
            <p:ph idx="1"/>
          </p:nvPr>
        </p:nvSpPr>
        <p:spPr/>
        <p:txBody>
          <a:bodyPr/>
          <a:lstStyle/>
          <a:p>
            <a:r>
              <a:rPr lang="en-US" dirty="0"/>
              <a:t>Functions encapsulate logic</a:t>
            </a:r>
          </a:p>
          <a:p>
            <a:endParaRPr lang="en-US" dirty="0"/>
          </a:p>
          <a:p>
            <a:r>
              <a:rPr lang="en-US" dirty="0"/>
              <a:t>Parameters and return values enable reuse</a:t>
            </a:r>
          </a:p>
          <a:p>
            <a:endParaRPr lang="en-US" dirty="0"/>
          </a:p>
          <a:p>
            <a:r>
              <a:rPr lang="en-US" dirty="0"/>
              <a:t>Good functions are small and focused</a:t>
            </a:r>
            <a:endParaRPr lang="en-SG" dirty="0"/>
          </a:p>
        </p:txBody>
      </p:sp>
    </p:spTree>
    <p:extLst>
      <p:ext uri="{BB962C8B-B14F-4D97-AF65-F5344CB8AC3E}">
        <p14:creationId xmlns:p14="http://schemas.microsoft.com/office/powerpoint/2010/main" val="151828312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def divide(a, b):</a:t>
            </a:r>
            <a:br>
              <a:rPr sz="2800" dirty="0"/>
            </a:br>
            <a:r>
              <a:rPr sz="2800" dirty="0"/>
              <a:t>    return a // b, a % b</a:t>
            </a:r>
            <a:br>
              <a:rPr sz="2800" dirty="0"/>
            </a:br>
            <a:br>
              <a:rPr sz="2800" dirty="0"/>
            </a:br>
            <a:r>
              <a:rPr sz="2800" dirty="0"/>
              <a:t>q, r = divide(20, 3)</a:t>
            </a:r>
            <a:br>
              <a:rPr sz="2800" dirty="0"/>
            </a:br>
            <a:r>
              <a:rPr sz="2800" dirty="0"/>
              <a:t>print(q, r)             # 6 2</a:t>
            </a: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log(message, *</a:t>
            </a:r>
            <a:r>
              <a:rPr sz="2000" dirty="0" err="1"/>
              <a:t>args</a:t>
            </a:r>
            <a:r>
              <a:rPr sz="2000" dirty="0"/>
              <a:t>, **</a:t>
            </a:r>
            <a:r>
              <a:rPr sz="2000" dirty="0" err="1"/>
              <a:t>kwargs</a:t>
            </a:r>
            <a:r>
              <a:rPr sz="2000" dirty="0"/>
              <a:t>):</a:t>
            </a:r>
            <a:br>
              <a:rPr sz="2000" dirty="0"/>
            </a:br>
            <a:r>
              <a:rPr sz="2000" dirty="0"/>
              <a:t>    print(f"[LOG] {message}")</a:t>
            </a:r>
            <a:br>
              <a:rPr sz="2000" dirty="0"/>
            </a:br>
            <a:r>
              <a:rPr sz="2000" dirty="0"/>
              <a:t>    if </a:t>
            </a:r>
            <a:r>
              <a:rPr sz="2000" dirty="0" err="1"/>
              <a:t>args</a:t>
            </a:r>
            <a:r>
              <a:rPr sz="2000" dirty="0"/>
              <a:t>: print("  Extra positional:", </a:t>
            </a:r>
            <a:r>
              <a:rPr sz="2000" dirty="0" err="1"/>
              <a:t>args</a:t>
            </a:r>
            <a:r>
              <a:rPr sz="2000" dirty="0"/>
              <a:t>)</a:t>
            </a:r>
            <a:br>
              <a:rPr sz="2000" dirty="0"/>
            </a:br>
            <a:r>
              <a:rPr sz="2000" dirty="0"/>
              <a:t>    if </a:t>
            </a:r>
            <a:r>
              <a:rPr sz="2000" dirty="0" err="1"/>
              <a:t>kwargs</a:t>
            </a:r>
            <a:r>
              <a:rPr sz="2000" dirty="0"/>
              <a:t>: print("  Extra keyword:", </a:t>
            </a:r>
            <a:r>
              <a:rPr sz="2000" dirty="0" err="1"/>
              <a:t>kwargs</a:t>
            </a:r>
            <a:r>
              <a:rPr sz="2000" dirty="0"/>
              <a:t>)</a:t>
            </a:r>
            <a:br>
              <a:rPr sz="2000" dirty="0"/>
            </a:br>
            <a:br>
              <a:rPr sz="2000" dirty="0"/>
            </a:br>
            <a:r>
              <a:rPr sz="2000" dirty="0"/>
              <a:t>log("Start", 1, 2, 3, user="Ada", code=42)</a:t>
            </a: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pairs = [(1, "one"), (2, "two"), (3, "three")]</a:t>
            </a:r>
            <a:br>
              <a:rPr sz="2000" dirty="0"/>
            </a:br>
            <a:r>
              <a:rPr sz="2000" dirty="0" err="1"/>
              <a:t>pairs.sort</a:t>
            </a:r>
            <a:r>
              <a:rPr sz="2000" dirty="0"/>
              <a:t>(key=lambda x: x[1])</a:t>
            </a:r>
            <a:br>
              <a:rPr sz="2000" dirty="0"/>
            </a:br>
            <a:r>
              <a:rPr sz="2000" dirty="0"/>
              <a:t>print(pairs)</a:t>
            </a: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6012D-6133-8F49-DF09-27B7303F6871}"/>
              </a:ext>
            </a:extLst>
          </p:cNvPr>
          <p:cNvSpPr>
            <a:spLocks noGrp="1"/>
          </p:cNvSpPr>
          <p:nvPr>
            <p:ph type="title"/>
          </p:nvPr>
        </p:nvSpPr>
        <p:spPr>
          <a:xfrm>
            <a:off x="457200" y="274638"/>
            <a:ext cx="10960100" cy="1143000"/>
          </a:xfrm>
        </p:spPr>
        <p:txBody>
          <a:bodyPr>
            <a:normAutofit/>
          </a:bodyPr>
          <a:lstStyle/>
          <a:p>
            <a:r>
              <a:rPr lang="en-SG" b="1" dirty="0"/>
              <a:t>Python lambda — Anonymous Functions</a:t>
            </a:r>
            <a:endParaRPr lang="en-SG" dirty="0"/>
          </a:p>
        </p:txBody>
      </p:sp>
      <p:sp>
        <p:nvSpPr>
          <p:cNvPr id="3" name="Content Placeholder 2">
            <a:extLst>
              <a:ext uri="{FF2B5EF4-FFF2-40B4-BE49-F238E27FC236}">
                <a16:creationId xmlns:a16="http://schemas.microsoft.com/office/drawing/2014/main" id="{A877A841-9DC6-31C0-E075-55BFFF36E9CE}"/>
              </a:ext>
            </a:extLst>
          </p:cNvPr>
          <p:cNvSpPr>
            <a:spLocks noGrp="1"/>
          </p:cNvSpPr>
          <p:nvPr>
            <p:ph idx="1"/>
          </p:nvPr>
        </p:nvSpPr>
        <p:spPr>
          <a:xfrm>
            <a:off x="457200" y="1600200"/>
            <a:ext cx="10960100" cy="4525963"/>
          </a:xfrm>
        </p:spPr>
        <p:txBody>
          <a:bodyPr>
            <a:normAutofit/>
          </a:bodyPr>
          <a:lstStyle/>
          <a:p>
            <a:r>
              <a:rPr lang="en-SG" dirty="0"/>
              <a:t>Define </a:t>
            </a:r>
            <a:r>
              <a:rPr lang="en-SG" b="1" dirty="0"/>
              <a:t>small functions inline</a:t>
            </a:r>
            <a:endParaRPr lang="en-SG" dirty="0"/>
          </a:p>
          <a:p>
            <a:r>
              <a:rPr lang="en-SG" dirty="0"/>
              <a:t>Reduce noise for trivial logic</a:t>
            </a:r>
          </a:p>
          <a:p>
            <a:r>
              <a:rPr lang="en-SG" dirty="0"/>
              <a:t>Improve readability </a:t>
            </a:r>
            <a:r>
              <a:rPr lang="en-SG" b="1" dirty="0"/>
              <a:t>when used correctly</a:t>
            </a:r>
            <a:endParaRPr lang="en-SG" dirty="0"/>
          </a:p>
          <a:p>
            <a:r>
              <a:rPr lang="en-SG" b="1" dirty="0"/>
              <a:t>Outcome:</a:t>
            </a:r>
            <a:r>
              <a:rPr lang="en-SG" dirty="0"/>
              <a:t> engineers write concise, intentional transformations</a:t>
            </a:r>
          </a:p>
          <a:p>
            <a:endParaRPr lang="en-SG" dirty="0"/>
          </a:p>
        </p:txBody>
      </p:sp>
    </p:spTree>
    <p:extLst>
      <p:ext uri="{BB962C8B-B14F-4D97-AF65-F5344CB8AC3E}">
        <p14:creationId xmlns:p14="http://schemas.microsoft.com/office/powerpoint/2010/main" val="6120781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D518-39FE-F9E1-02D3-74E41332A0A1}"/>
              </a:ext>
            </a:extLst>
          </p:cNvPr>
          <p:cNvSpPr>
            <a:spLocks noGrp="1"/>
          </p:cNvSpPr>
          <p:nvPr>
            <p:ph type="title"/>
          </p:nvPr>
        </p:nvSpPr>
        <p:spPr/>
        <p:txBody>
          <a:bodyPr>
            <a:normAutofit/>
          </a:bodyPr>
          <a:lstStyle/>
          <a:p>
            <a:r>
              <a:rPr lang="en-US" dirty="0"/>
              <a:t>What a lambda Is</a:t>
            </a:r>
            <a:endParaRPr lang="en-SG" dirty="0"/>
          </a:p>
        </p:txBody>
      </p:sp>
      <p:sp>
        <p:nvSpPr>
          <p:cNvPr id="3" name="Content Placeholder 2">
            <a:extLst>
              <a:ext uri="{FF2B5EF4-FFF2-40B4-BE49-F238E27FC236}">
                <a16:creationId xmlns:a16="http://schemas.microsoft.com/office/drawing/2014/main" id="{1A3FA520-7227-6248-9827-B724A00FE9F7}"/>
              </a:ext>
            </a:extLst>
          </p:cNvPr>
          <p:cNvSpPr>
            <a:spLocks noGrp="1"/>
          </p:cNvSpPr>
          <p:nvPr>
            <p:ph idx="1"/>
          </p:nvPr>
        </p:nvSpPr>
        <p:spPr>
          <a:xfrm>
            <a:off x="457200" y="1600200"/>
            <a:ext cx="10883900" cy="4525963"/>
          </a:xfrm>
        </p:spPr>
        <p:txBody>
          <a:bodyPr/>
          <a:lstStyle/>
          <a:p>
            <a:r>
              <a:rPr lang="en-US" dirty="0"/>
              <a:t>A </a:t>
            </a:r>
            <a:r>
              <a:rPr lang="en-US" b="1" dirty="0"/>
              <a:t>single-expression function</a:t>
            </a:r>
            <a:endParaRPr lang="en-US" dirty="0"/>
          </a:p>
          <a:p>
            <a:r>
              <a:rPr lang="en-US" dirty="0"/>
              <a:t>No name</a:t>
            </a:r>
          </a:p>
          <a:p>
            <a:r>
              <a:rPr lang="en-US" dirty="0"/>
              <a:t>No statements (no loops, no assignments)</a:t>
            </a:r>
          </a:p>
          <a:p>
            <a:endParaRPr lang="en-US" dirty="0"/>
          </a:p>
          <a:p>
            <a:pPr marL="0" indent="0">
              <a:buNone/>
            </a:pPr>
            <a:r>
              <a:rPr lang="en-US" b="1" dirty="0"/>
              <a:t>Mental model: </a:t>
            </a:r>
            <a:r>
              <a:rPr lang="en-US" dirty="0"/>
              <a:t>A lambda is a </a:t>
            </a:r>
            <a:r>
              <a:rPr lang="en-US" i="1" dirty="0"/>
              <a:t>one-line function literal</a:t>
            </a:r>
            <a:endParaRPr lang="en-US" dirty="0"/>
          </a:p>
          <a:p>
            <a:endParaRPr lang="en-SG" dirty="0"/>
          </a:p>
        </p:txBody>
      </p:sp>
    </p:spTree>
    <p:extLst>
      <p:ext uri="{BB962C8B-B14F-4D97-AF65-F5344CB8AC3E}">
        <p14:creationId xmlns:p14="http://schemas.microsoft.com/office/powerpoint/2010/main" val="9376339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C85-8088-BD55-0041-C49793D194A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0415899-BAAD-88F4-233E-03A0AD2BD296}"/>
              </a:ext>
            </a:extLst>
          </p:cNvPr>
          <p:cNvSpPr>
            <a:spLocks noGrp="1"/>
          </p:cNvSpPr>
          <p:nvPr>
            <p:ph type="title"/>
          </p:nvPr>
        </p:nvSpPr>
        <p:spPr>
          <a:xfrm>
            <a:off x="457199" y="160337"/>
            <a:ext cx="8229600" cy="1143000"/>
          </a:xfrm>
        </p:spPr>
        <p:txBody>
          <a:bodyPr/>
          <a:lstStyle/>
          <a:p>
            <a:r>
              <a:rPr lang="en-SG" dirty="0"/>
              <a:t>Lambda Syntax</a:t>
            </a:r>
          </a:p>
        </p:txBody>
      </p:sp>
      <p:sp>
        <p:nvSpPr>
          <p:cNvPr id="8" name="Content Placeholder 7">
            <a:extLst>
              <a:ext uri="{FF2B5EF4-FFF2-40B4-BE49-F238E27FC236}">
                <a16:creationId xmlns:a16="http://schemas.microsoft.com/office/drawing/2014/main" id="{A953A06B-B993-9239-4BB6-B307BA0B1CFB}"/>
              </a:ext>
            </a:extLst>
          </p:cNvPr>
          <p:cNvSpPr>
            <a:spLocks noGrp="1"/>
          </p:cNvSpPr>
          <p:nvPr>
            <p:ph idx="1"/>
          </p:nvPr>
        </p:nvSpPr>
        <p:spPr>
          <a:xfrm>
            <a:off x="457200" y="1303338"/>
            <a:ext cx="11274427" cy="673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lambda arguments: expression</a:t>
            </a:r>
          </a:p>
        </p:txBody>
      </p:sp>
      <p:sp>
        <p:nvSpPr>
          <p:cNvPr id="10" name="Content Placeholder 7">
            <a:extLst>
              <a:ext uri="{FF2B5EF4-FFF2-40B4-BE49-F238E27FC236}">
                <a16:creationId xmlns:a16="http://schemas.microsoft.com/office/drawing/2014/main" id="{B68DC255-8D64-3783-F718-E3ACC7DDA1B1}"/>
              </a:ext>
            </a:extLst>
          </p:cNvPr>
          <p:cNvSpPr txBox="1">
            <a:spLocks/>
          </p:cNvSpPr>
          <p:nvPr/>
        </p:nvSpPr>
        <p:spPr>
          <a:xfrm>
            <a:off x="457200" y="2476500"/>
            <a:ext cx="11274426" cy="36496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Arguments on the left</a:t>
            </a:r>
          </a:p>
          <a:p>
            <a:endParaRPr lang="en-US" dirty="0"/>
          </a:p>
          <a:p>
            <a:r>
              <a:rPr lang="en-US" dirty="0"/>
              <a:t>Expression on the right</a:t>
            </a:r>
          </a:p>
          <a:p>
            <a:endParaRPr lang="en-US" dirty="0"/>
          </a:p>
          <a:p>
            <a:r>
              <a:rPr lang="en-US" dirty="0"/>
              <a:t>Expression result is returned automatically</a:t>
            </a:r>
          </a:p>
        </p:txBody>
      </p:sp>
    </p:spTree>
    <p:extLst>
      <p:ext uri="{BB962C8B-B14F-4D97-AF65-F5344CB8AC3E}">
        <p14:creationId xmlns:p14="http://schemas.microsoft.com/office/powerpoint/2010/main" val="8553852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2C58E-FB80-69C2-4D35-276682EEB42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92FD50E-76B3-3CAB-88B6-8D81BDAF412D}"/>
              </a:ext>
            </a:extLst>
          </p:cNvPr>
          <p:cNvSpPr>
            <a:spLocks noGrp="1"/>
          </p:cNvSpPr>
          <p:nvPr>
            <p:ph type="title"/>
          </p:nvPr>
        </p:nvSpPr>
        <p:spPr>
          <a:xfrm>
            <a:off x="457199" y="160337"/>
            <a:ext cx="8229600" cy="1143000"/>
          </a:xfrm>
        </p:spPr>
        <p:txBody>
          <a:bodyPr/>
          <a:lstStyle/>
          <a:p>
            <a:r>
              <a:rPr lang="en-SG" dirty="0"/>
              <a:t>Lambda vs def</a:t>
            </a:r>
          </a:p>
        </p:txBody>
      </p:sp>
      <p:sp>
        <p:nvSpPr>
          <p:cNvPr id="8" name="Content Placeholder 7">
            <a:extLst>
              <a:ext uri="{FF2B5EF4-FFF2-40B4-BE49-F238E27FC236}">
                <a16:creationId xmlns:a16="http://schemas.microsoft.com/office/drawing/2014/main" id="{0050FA3D-EEB7-F6AC-FF78-66CD3E9F445A}"/>
              </a:ext>
            </a:extLst>
          </p:cNvPr>
          <p:cNvSpPr>
            <a:spLocks noGrp="1"/>
          </p:cNvSpPr>
          <p:nvPr>
            <p:ph idx="1"/>
          </p:nvPr>
        </p:nvSpPr>
        <p:spPr>
          <a:xfrm>
            <a:off x="457199" y="1930401"/>
            <a:ext cx="5257801" cy="1054100"/>
          </a:xfrm>
        </p:spPr>
        <p:style>
          <a:lnRef idx="2">
            <a:schemeClr val="dk1"/>
          </a:lnRef>
          <a:fillRef idx="1">
            <a:schemeClr val="lt1"/>
          </a:fillRef>
          <a:effectRef idx="0">
            <a:schemeClr val="dk1"/>
          </a:effectRef>
          <a:fontRef idx="minor">
            <a:schemeClr val="dk1"/>
          </a:fontRef>
        </p:style>
        <p:txBody>
          <a:bodyPr>
            <a:normAutofit fontScale="92500" lnSpcReduction="10000"/>
          </a:bodyPr>
          <a:lstStyle/>
          <a:p>
            <a:pPr marL="0" indent="0">
              <a:buNone/>
            </a:pPr>
            <a:r>
              <a:rPr lang="en-US" dirty="0"/>
              <a:t>def square(x):</a:t>
            </a:r>
          </a:p>
          <a:p>
            <a:pPr marL="0" indent="0">
              <a:buNone/>
            </a:pPr>
            <a:r>
              <a:rPr lang="en-US" dirty="0"/>
              <a:t>    return x * x</a:t>
            </a:r>
          </a:p>
        </p:txBody>
      </p:sp>
      <p:sp>
        <p:nvSpPr>
          <p:cNvPr id="10" name="Content Placeholder 7">
            <a:extLst>
              <a:ext uri="{FF2B5EF4-FFF2-40B4-BE49-F238E27FC236}">
                <a16:creationId xmlns:a16="http://schemas.microsoft.com/office/drawing/2014/main" id="{41F7FF13-DCF4-E5A7-FB8D-5AC1C95543BD}"/>
              </a:ext>
            </a:extLst>
          </p:cNvPr>
          <p:cNvSpPr txBox="1">
            <a:spLocks/>
          </p:cNvSpPr>
          <p:nvPr/>
        </p:nvSpPr>
        <p:spPr>
          <a:xfrm>
            <a:off x="6094412" y="1930401"/>
            <a:ext cx="5637213" cy="10541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it-IT" dirty="0"/>
              <a:t>square = lambda x: x * x</a:t>
            </a:r>
          </a:p>
        </p:txBody>
      </p:sp>
      <p:sp>
        <p:nvSpPr>
          <p:cNvPr id="2" name="Content Placeholder 7">
            <a:extLst>
              <a:ext uri="{FF2B5EF4-FFF2-40B4-BE49-F238E27FC236}">
                <a16:creationId xmlns:a16="http://schemas.microsoft.com/office/drawing/2014/main" id="{B381F718-548C-FA39-D68D-454E3388E51D}"/>
              </a:ext>
            </a:extLst>
          </p:cNvPr>
          <p:cNvSpPr txBox="1">
            <a:spLocks/>
          </p:cNvSpPr>
          <p:nvPr/>
        </p:nvSpPr>
        <p:spPr>
          <a:xfrm>
            <a:off x="457199" y="3987801"/>
            <a:ext cx="11274426" cy="10541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a:t>
            </a:r>
            <a:r>
              <a:rPr lang="en-US" dirty="0"/>
              <a:t> if it needs a name or explanation, use def</a:t>
            </a:r>
          </a:p>
        </p:txBody>
      </p:sp>
    </p:spTree>
    <p:extLst>
      <p:ext uri="{BB962C8B-B14F-4D97-AF65-F5344CB8AC3E}">
        <p14:creationId xmlns:p14="http://schemas.microsoft.com/office/powerpoint/2010/main" val="121188248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F070E-BF8D-FEB2-1A23-2A11FEB12BC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DF5B3B6-A83F-847B-F9E1-DA974DFD8293}"/>
              </a:ext>
            </a:extLst>
          </p:cNvPr>
          <p:cNvSpPr>
            <a:spLocks noGrp="1"/>
          </p:cNvSpPr>
          <p:nvPr>
            <p:ph type="title"/>
          </p:nvPr>
        </p:nvSpPr>
        <p:spPr>
          <a:xfrm>
            <a:off x="457199" y="160337"/>
            <a:ext cx="8229600" cy="1143000"/>
          </a:xfrm>
        </p:spPr>
        <p:txBody>
          <a:bodyPr/>
          <a:lstStyle/>
          <a:p>
            <a:r>
              <a:rPr lang="en-US" b="1" dirty="0"/>
              <a:t>Where lambda Is Used Well</a:t>
            </a:r>
          </a:p>
        </p:txBody>
      </p:sp>
      <p:sp>
        <p:nvSpPr>
          <p:cNvPr id="8" name="Content Placeholder 7">
            <a:extLst>
              <a:ext uri="{FF2B5EF4-FFF2-40B4-BE49-F238E27FC236}">
                <a16:creationId xmlns:a16="http://schemas.microsoft.com/office/drawing/2014/main" id="{9424C4A6-BC06-DE1B-F063-4869CFDBB1A2}"/>
              </a:ext>
            </a:extLst>
          </p:cNvPr>
          <p:cNvSpPr>
            <a:spLocks noGrp="1"/>
          </p:cNvSpPr>
          <p:nvPr>
            <p:ph idx="1"/>
          </p:nvPr>
        </p:nvSpPr>
        <p:spPr>
          <a:xfrm>
            <a:off x="457199" y="5224467"/>
            <a:ext cx="11274427" cy="1054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users.sort</a:t>
            </a:r>
            <a:r>
              <a:rPr lang="en-US" dirty="0"/>
              <a:t>(key=lambda u: </a:t>
            </a:r>
            <a:r>
              <a:rPr lang="en-US" dirty="0" err="1"/>
              <a:t>u.last_login</a:t>
            </a:r>
            <a:r>
              <a:rPr lang="en-US" dirty="0"/>
              <a:t>)</a:t>
            </a:r>
          </a:p>
        </p:txBody>
      </p:sp>
      <p:sp>
        <p:nvSpPr>
          <p:cNvPr id="2" name="Content Placeholder 7">
            <a:extLst>
              <a:ext uri="{FF2B5EF4-FFF2-40B4-BE49-F238E27FC236}">
                <a16:creationId xmlns:a16="http://schemas.microsoft.com/office/drawing/2014/main" id="{961EF869-B161-0529-C659-596F280263FE}"/>
              </a:ext>
            </a:extLst>
          </p:cNvPr>
          <p:cNvSpPr txBox="1">
            <a:spLocks/>
          </p:cNvSpPr>
          <p:nvPr/>
        </p:nvSpPr>
        <p:spPr>
          <a:xfrm>
            <a:off x="457200" y="1778000"/>
            <a:ext cx="11274426" cy="275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sorted()</a:t>
            </a:r>
          </a:p>
          <a:p>
            <a:r>
              <a:rPr lang="en-US" dirty="0"/>
              <a:t>min() / max()</a:t>
            </a:r>
          </a:p>
          <a:p>
            <a:r>
              <a:rPr lang="en-US" dirty="0"/>
              <a:t>map(), filter()</a:t>
            </a:r>
          </a:p>
          <a:p>
            <a:r>
              <a:rPr lang="en-US" dirty="0"/>
              <a:t>Key functions</a:t>
            </a:r>
          </a:p>
        </p:txBody>
      </p:sp>
    </p:spTree>
    <p:extLst>
      <p:ext uri="{BB962C8B-B14F-4D97-AF65-F5344CB8AC3E}">
        <p14:creationId xmlns:p14="http://schemas.microsoft.com/office/powerpoint/2010/main" val="284363268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B86C6-2CA4-8026-4E6F-394D5691BE9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10FCA03-76D2-6177-B2DE-3E0F0698B458}"/>
              </a:ext>
            </a:extLst>
          </p:cNvPr>
          <p:cNvSpPr>
            <a:spLocks noGrp="1"/>
          </p:cNvSpPr>
          <p:nvPr>
            <p:ph type="title"/>
          </p:nvPr>
        </p:nvSpPr>
        <p:spPr>
          <a:xfrm>
            <a:off x="457199" y="160337"/>
            <a:ext cx="8229600" cy="1143000"/>
          </a:xfrm>
        </p:spPr>
        <p:txBody>
          <a:bodyPr/>
          <a:lstStyle/>
          <a:p>
            <a:r>
              <a:rPr lang="en-SG" b="1" dirty="0"/>
              <a:t>Lambda with sorted()</a:t>
            </a:r>
          </a:p>
        </p:txBody>
      </p:sp>
      <p:sp>
        <p:nvSpPr>
          <p:cNvPr id="8" name="Content Placeholder 7">
            <a:extLst>
              <a:ext uri="{FF2B5EF4-FFF2-40B4-BE49-F238E27FC236}">
                <a16:creationId xmlns:a16="http://schemas.microsoft.com/office/drawing/2014/main" id="{F1D8E441-6228-5F9B-BEF2-6B8BFD3B2510}"/>
              </a:ext>
            </a:extLst>
          </p:cNvPr>
          <p:cNvSpPr>
            <a:spLocks noGrp="1"/>
          </p:cNvSpPr>
          <p:nvPr>
            <p:ph idx="1"/>
          </p:nvPr>
        </p:nvSpPr>
        <p:spPr>
          <a:xfrm>
            <a:off x="457199" y="5224467"/>
            <a:ext cx="11274427" cy="1054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sorted(orders, key=lambda o: </a:t>
            </a:r>
            <a:r>
              <a:rPr lang="en-US" dirty="0" err="1"/>
              <a:t>o.total</a:t>
            </a:r>
            <a:r>
              <a:rPr lang="en-US" dirty="0"/>
              <a:t>)</a:t>
            </a:r>
          </a:p>
        </p:txBody>
      </p:sp>
      <p:sp>
        <p:nvSpPr>
          <p:cNvPr id="2" name="Content Placeholder 7">
            <a:extLst>
              <a:ext uri="{FF2B5EF4-FFF2-40B4-BE49-F238E27FC236}">
                <a16:creationId xmlns:a16="http://schemas.microsoft.com/office/drawing/2014/main" id="{95A45525-FF6B-8650-BF2C-B437931976C4}"/>
              </a:ext>
            </a:extLst>
          </p:cNvPr>
          <p:cNvSpPr txBox="1">
            <a:spLocks/>
          </p:cNvSpPr>
          <p:nvPr/>
        </p:nvSpPr>
        <p:spPr>
          <a:xfrm>
            <a:off x="457200" y="1778000"/>
            <a:ext cx="11274426" cy="275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Clear intent</a:t>
            </a:r>
          </a:p>
          <a:p>
            <a:r>
              <a:rPr lang="en-US" dirty="0"/>
              <a:t>No helper function needed</a:t>
            </a:r>
          </a:p>
          <a:p>
            <a:r>
              <a:rPr lang="en-US" dirty="0"/>
              <a:t>Logic is obvious at the call site</a:t>
            </a:r>
          </a:p>
        </p:txBody>
      </p:sp>
    </p:spTree>
    <p:extLst>
      <p:ext uri="{BB962C8B-B14F-4D97-AF65-F5344CB8AC3E}">
        <p14:creationId xmlns:p14="http://schemas.microsoft.com/office/powerpoint/2010/main" val="171288485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B6EF1-670F-7883-0267-E39E88186342}"/>
              </a:ext>
            </a:extLst>
          </p:cNvPr>
          <p:cNvSpPr>
            <a:spLocks noGrp="1"/>
          </p:cNvSpPr>
          <p:nvPr>
            <p:ph type="title"/>
          </p:nvPr>
        </p:nvSpPr>
        <p:spPr/>
        <p:txBody>
          <a:bodyPr>
            <a:normAutofit/>
          </a:bodyPr>
          <a:lstStyle/>
          <a:p>
            <a:r>
              <a:rPr lang="en-US" b="1" dirty="0"/>
              <a:t>When NOT to Use lambda</a:t>
            </a:r>
            <a:endParaRPr lang="en-SG" dirty="0"/>
          </a:p>
        </p:txBody>
      </p:sp>
      <p:sp>
        <p:nvSpPr>
          <p:cNvPr id="3" name="Content Placeholder 2">
            <a:extLst>
              <a:ext uri="{FF2B5EF4-FFF2-40B4-BE49-F238E27FC236}">
                <a16:creationId xmlns:a16="http://schemas.microsoft.com/office/drawing/2014/main" id="{B756F548-502C-9FC9-9ED9-ACB0D25BBD1D}"/>
              </a:ext>
            </a:extLst>
          </p:cNvPr>
          <p:cNvSpPr>
            <a:spLocks noGrp="1"/>
          </p:cNvSpPr>
          <p:nvPr>
            <p:ph idx="1"/>
          </p:nvPr>
        </p:nvSpPr>
        <p:spPr/>
        <p:txBody>
          <a:bodyPr/>
          <a:lstStyle/>
          <a:p>
            <a:r>
              <a:rPr lang="en-US" dirty="0"/>
              <a:t>Multi-step logic</a:t>
            </a:r>
          </a:p>
          <a:p>
            <a:r>
              <a:rPr lang="en-US" dirty="0"/>
              <a:t>Complex conditions</a:t>
            </a:r>
          </a:p>
          <a:p>
            <a:r>
              <a:rPr lang="en-US" dirty="0"/>
              <a:t>Error handling</a:t>
            </a:r>
          </a:p>
          <a:p>
            <a:r>
              <a:rPr lang="en-US" dirty="0"/>
              <a:t>Reusable business logic</a:t>
            </a:r>
          </a:p>
          <a:p>
            <a:pPr marL="0" indent="0">
              <a:buNone/>
            </a:pPr>
            <a:endParaRPr lang="en-US" b="1" dirty="0"/>
          </a:p>
          <a:p>
            <a:pPr marL="0" indent="0">
              <a:buNone/>
            </a:pPr>
            <a:r>
              <a:rPr lang="en-US" b="1" dirty="0"/>
              <a:t>Anti-pattern:</a:t>
            </a:r>
            <a:r>
              <a:rPr lang="en-US" dirty="0"/>
              <a:t> clever one-liners</a:t>
            </a:r>
          </a:p>
          <a:p>
            <a:endParaRPr lang="en-SG" dirty="0"/>
          </a:p>
        </p:txBody>
      </p:sp>
    </p:spTree>
    <p:extLst>
      <p:ext uri="{BB962C8B-B14F-4D97-AF65-F5344CB8AC3E}">
        <p14:creationId xmlns:p14="http://schemas.microsoft.com/office/powerpoint/2010/main" val="3389188048"/>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51976-562A-3BCC-EF7D-3834D9EB229E}"/>
              </a:ext>
            </a:extLst>
          </p:cNvPr>
          <p:cNvSpPr>
            <a:spLocks noGrp="1"/>
          </p:cNvSpPr>
          <p:nvPr>
            <p:ph type="title"/>
          </p:nvPr>
        </p:nvSpPr>
        <p:spPr/>
        <p:txBody>
          <a:bodyPr>
            <a:normAutofit/>
          </a:bodyPr>
          <a:lstStyle/>
          <a:p>
            <a:r>
              <a:rPr lang="en-US" dirty="0"/>
              <a:t>Readability Rule</a:t>
            </a:r>
            <a:endParaRPr lang="en-SG" dirty="0"/>
          </a:p>
        </p:txBody>
      </p:sp>
      <p:sp>
        <p:nvSpPr>
          <p:cNvPr id="3" name="Content Placeholder 2">
            <a:extLst>
              <a:ext uri="{FF2B5EF4-FFF2-40B4-BE49-F238E27FC236}">
                <a16:creationId xmlns:a16="http://schemas.microsoft.com/office/drawing/2014/main" id="{E046CA47-A767-4786-F953-802AE911F665}"/>
              </a:ext>
            </a:extLst>
          </p:cNvPr>
          <p:cNvSpPr>
            <a:spLocks noGrp="1"/>
          </p:cNvSpPr>
          <p:nvPr>
            <p:ph idx="1"/>
          </p:nvPr>
        </p:nvSpPr>
        <p:spPr>
          <a:xfrm>
            <a:off x="457200" y="2057399"/>
            <a:ext cx="8229600" cy="4525963"/>
          </a:xfrm>
        </p:spPr>
        <p:txBody>
          <a:bodyPr>
            <a:normAutofit/>
          </a:bodyPr>
          <a:lstStyle/>
          <a:p>
            <a:r>
              <a:rPr lang="en-US" sz="3600" dirty="0"/>
              <a:t>Ask:</a:t>
            </a:r>
          </a:p>
          <a:p>
            <a:pPr lvl="1"/>
            <a:r>
              <a:rPr lang="en-US" sz="3200" dirty="0"/>
              <a:t>Can this be understood in </a:t>
            </a:r>
            <a:r>
              <a:rPr lang="en-US" sz="3200" b="1" dirty="0"/>
              <a:t>one glance</a:t>
            </a:r>
            <a:r>
              <a:rPr lang="en-US" sz="3200" dirty="0"/>
              <a:t>?</a:t>
            </a:r>
          </a:p>
          <a:p>
            <a:pPr lvl="1"/>
            <a:r>
              <a:rPr lang="en-US" sz="3200" dirty="0"/>
              <a:t>Would a new hire understand it immediately?</a:t>
            </a:r>
          </a:p>
          <a:p>
            <a:r>
              <a:rPr lang="en-US" sz="3600" dirty="0"/>
              <a:t>If not → use def</a:t>
            </a:r>
          </a:p>
          <a:p>
            <a:endParaRPr lang="en-SG" sz="3600" dirty="0"/>
          </a:p>
        </p:txBody>
      </p:sp>
    </p:spTree>
    <p:extLst>
      <p:ext uri="{BB962C8B-B14F-4D97-AF65-F5344CB8AC3E}">
        <p14:creationId xmlns:p14="http://schemas.microsoft.com/office/powerpoint/2010/main" val="27912771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1A45D-6D43-C50D-3E75-5A4C05D6BA8D}"/>
              </a:ext>
            </a:extLst>
          </p:cNvPr>
          <p:cNvSpPr>
            <a:spLocks noGrp="1"/>
          </p:cNvSpPr>
          <p:nvPr>
            <p:ph type="title"/>
          </p:nvPr>
        </p:nvSpPr>
        <p:spPr/>
        <p:txBody>
          <a:bodyPr>
            <a:normAutofit/>
          </a:bodyPr>
          <a:lstStyle/>
          <a:p>
            <a:r>
              <a:rPr lang="en-US" dirty="0"/>
              <a:t>Lambda and Scope</a:t>
            </a:r>
            <a:endParaRPr lang="en-SG" dirty="0"/>
          </a:p>
        </p:txBody>
      </p:sp>
      <p:sp>
        <p:nvSpPr>
          <p:cNvPr id="3" name="Content Placeholder 2">
            <a:extLst>
              <a:ext uri="{FF2B5EF4-FFF2-40B4-BE49-F238E27FC236}">
                <a16:creationId xmlns:a16="http://schemas.microsoft.com/office/drawing/2014/main" id="{64A5563B-1F00-271D-ECEF-1A182D25E6B8}"/>
              </a:ext>
            </a:extLst>
          </p:cNvPr>
          <p:cNvSpPr>
            <a:spLocks noGrp="1"/>
          </p:cNvSpPr>
          <p:nvPr>
            <p:ph idx="1"/>
          </p:nvPr>
        </p:nvSpPr>
        <p:spPr/>
        <p:txBody>
          <a:bodyPr/>
          <a:lstStyle/>
          <a:p>
            <a:r>
              <a:rPr lang="en-US" dirty="0"/>
              <a:t>Lambdas capture variables from outer scope</a:t>
            </a:r>
          </a:p>
          <a:p>
            <a:r>
              <a:rPr lang="en-US" dirty="0"/>
              <a:t>Same closure rules as functions</a:t>
            </a:r>
          </a:p>
          <a:p>
            <a:pPr marL="0" indent="0">
              <a:buNone/>
            </a:pPr>
            <a:endParaRPr lang="en-US" b="1" dirty="0"/>
          </a:p>
          <a:p>
            <a:pPr marL="0" indent="0">
              <a:buNone/>
            </a:pPr>
            <a:r>
              <a:rPr lang="en-US" b="1" dirty="0"/>
              <a:t>Caution:</a:t>
            </a:r>
            <a:r>
              <a:rPr lang="en-US" dirty="0"/>
              <a:t> late binding in loops</a:t>
            </a:r>
          </a:p>
          <a:p>
            <a:endParaRPr lang="en-SG" dirty="0"/>
          </a:p>
        </p:txBody>
      </p:sp>
    </p:spTree>
    <p:extLst>
      <p:ext uri="{BB962C8B-B14F-4D97-AF65-F5344CB8AC3E}">
        <p14:creationId xmlns:p14="http://schemas.microsoft.com/office/powerpoint/2010/main" val="79413651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49A39-8CEC-7EAF-3DF4-31EFA7037A2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B34D27A-DC2D-A7CB-5100-F0B29CE8B7BB}"/>
              </a:ext>
            </a:extLst>
          </p:cNvPr>
          <p:cNvSpPr>
            <a:spLocks noGrp="1"/>
          </p:cNvSpPr>
          <p:nvPr>
            <p:ph type="title"/>
          </p:nvPr>
        </p:nvSpPr>
        <p:spPr>
          <a:xfrm>
            <a:off x="457199" y="160337"/>
            <a:ext cx="8229600" cy="1143000"/>
          </a:xfrm>
        </p:spPr>
        <p:txBody>
          <a:bodyPr/>
          <a:lstStyle/>
          <a:p>
            <a:r>
              <a:rPr lang="en-SG" b="1" dirty="0"/>
              <a:t>Common Pitfall</a:t>
            </a:r>
          </a:p>
        </p:txBody>
      </p:sp>
      <p:sp>
        <p:nvSpPr>
          <p:cNvPr id="8" name="Content Placeholder 7">
            <a:extLst>
              <a:ext uri="{FF2B5EF4-FFF2-40B4-BE49-F238E27FC236}">
                <a16:creationId xmlns:a16="http://schemas.microsoft.com/office/drawing/2014/main" id="{7A6C92CA-1D0E-71BD-6D96-8DEDC25D5990}"/>
              </a:ext>
            </a:extLst>
          </p:cNvPr>
          <p:cNvSpPr>
            <a:spLocks noGrp="1"/>
          </p:cNvSpPr>
          <p:nvPr>
            <p:ph idx="1"/>
          </p:nvPr>
        </p:nvSpPr>
        <p:spPr>
          <a:xfrm>
            <a:off x="228599" y="1989138"/>
            <a:ext cx="5740401" cy="2989262"/>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4000" dirty="0"/>
              <a:t># </a:t>
            </a:r>
            <a:r>
              <a:rPr lang="en-SG" sz="4000" dirty="0"/>
              <a:t>All lambdas return </a:t>
            </a:r>
            <a:r>
              <a:rPr lang="en-SG" dirty="0"/>
              <a:t>2</a:t>
            </a:r>
            <a:endParaRPr lang="en-US" sz="4000" dirty="0"/>
          </a:p>
          <a:p>
            <a:pPr marL="0" indent="0">
              <a:buNone/>
            </a:pPr>
            <a:r>
              <a:rPr lang="en-US" sz="4000" dirty="0" err="1"/>
              <a:t>funcs</a:t>
            </a:r>
            <a:r>
              <a:rPr lang="en-US" sz="4000" dirty="0"/>
              <a:t> = []</a:t>
            </a:r>
          </a:p>
          <a:p>
            <a:pPr marL="0" indent="0">
              <a:buNone/>
            </a:pPr>
            <a:r>
              <a:rPr lang="en-US" sz="4000" dirty="0"/>
              <a:t>for </a:t>
            </a:r>
            <a:r>
              <a:rPr lang="en-US" sz="4000" dirty="0" err="1"/>
              <a:t>i</a:t>
            </a:r>
            <a:r>
              <a:rPr lang="en-US" sz="4000" dirty="0"/>
              <a:t> in range(3):</a:t>
            </a:r>
          </a:p>
          <a:p>
            <a:pPr marL="0" indent="0">
              <a:buNone/>
            </a:pPr>
            <a:r>
              <a:rPr lang="en-US" sz="4000" dirty="0"/>
              <a:t>    </a:t>
            </a:r>
            <a:r>
              <a:rPr lang="en-US" sz="4000" dirty="0" err="1"/>
              <a:t>funcs.append</a:t>
            </a:r>
            <a:r>
              <a:rPr lang="en-US" sz="4000" dirty="0"/>
              <a:t>(lambda: </a:t>
            </a:r>
            <a:r>
              <a:rPr lang="en-US" sz="4000" dirty="0" err="1"/>
              <a:t>i</a:t>
            </a:r>
            <a:r>
              <a:rPr lang="en-US" sz="4000" dirty="0"/>
              <a:t>)</a:t>
            </a:r>
          </a:p>
        </p:txBody>
      </p:sp>
      <p:sp>
        <p:nvSpPr>
          <p:cNvPr id="10" name="Content Placeholder 7">
            <a:extLst>
              <a:ext uri="{FF2B5EF4-FFF2-40B4-BE49-F238E27FC236}">
                <a16:creationId xmlns:a16="http://schemas.microsoft.com/office/drawing/2014/main" id="{38AEE923-F9D9-0246-38AD-272AE968A9C9}"/>
              </a:ext>
            </a:extLst>
          </p:cNvPr>
          <p:cNvSpPr txBox="1">
            <a:spLocks/>
          </p:cNvSpPr>
          <p:nvPr/>
        </p:nvSpPr>
        <p:spPr>
          <a:xfrm>
            <a:off x="6121400" y="1989137"/>
            <a:ext cx="5838825" cy="298926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nn-NO" sz="4000" dirty="0"/>
              <a:t># fix</a:t>
            </a:r>
          </a:p>
          <a:p>
            <a:pPr marL="0" indent="0">
              <a:buNone/>
            </a:pPr>
            <a:r>
              <a:rPr lang="nn-NO" sz="4000" dirty="0"/>
              <a:t>funcs.append(lambda i=i: i)</a:t>
            </a:r>
          </a:p>
        </p:txBody>
      </p:sp>
    </p:spTree>
    <p:extLst>
      <p:ext uri="{BB962C8B-B14F-4D97-AF65-F5344CB8AC3E}">
        <p14:creationId xmlns:p14="http://schemas.microsoft.com/office/powerpoint/2010/main" val="400943101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069E-77A9-8E6D-5071-2687F6D1C726}"/>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0A439AFE-A476-372C-A3A4-51798B6213BC}"/>
              </a:ext>
            </a:extLst>
          </p:cNvPr>
          <p:cNvSpPr>
            <a:spLocks noGrp="1"/>
          </p:cNvSpPr>
          <p:nvPr>
            <p:ph idx="1"/>
          </p:nvPr>
        </p:nvSpPr>
        <p:spPr>
          <a:xfrm>
            <a:off x="457200" y="2286001"/>
            <a:ext cx="5384800" cy="2781300"/>
          </a:xfrm>
        </p:spPr>
        <p:txBody>
          <a:bodyPr>
            <a:normAutofit/>
          </a:bodyPr>
          <a:lstStyle/>
          <a:p>
            <a:pPr marL="0" indent="0">
              <a:buNone/>
            </a:pPr>
            <a:r>
              <a:rPr lang="en-US" sz="4000" dirty="0"/>
              <a:t>Use </a:t>
            </a:r>
            <a:r>
              <a:rPr lang="en-US" sz="4000" b="1" dirty="0"/>
              <a:t>lambda</a:t>
            </a:r>
            <a:r>
              <a:rPr lang="en-US" sz="4000" dirty="0"/>
              <a:t> for:</a:t>
            </a:r>
          </a:p>
          <a:p>
            <a:pPr marL="457200" lvl="1" indent="0">
              <a:buNone/>
            </a:pPr>
            <a:r>
              <a:rPr lang="en-US" sz="3600" dirty="0"/>
              <a:t>small, local transformations</a:t>
            </a:r>
          </a:p>
          <a:p>
            <a:pPr marL="457200" lvl="1" indent="0">
              <a:buNone/>
            </a:pPr>
            <a:r>
              <a:rPr lang="en-US" sz="3600" dirty="0"/>
              <a:t>key functions</a:t>
            </a:r>
          </a:p>
          <a:p>
            <a:pPr marL="0" indent="0">
              <a:buNone/>
            </a:pPr>
            <a:endParaRPr lang="en-US" sz="4000" dirty="0"/>
          </a:p>
          <a:p>
            <a:pPr marL="0" indent="0">
              <a:buNone/>
            </a:pPr>
            <a:endParaRPr lang="en-SG" sz="4000" dirty="0"/>
          </a:p>
        </p:txBody>
      </p:sp>
      <p:sp>
        <p:nvSpPr>
          <p:cNvPr id="4" name="Content Placeholder 2">
            <a:extLst>
              <a:ext uri="{FF2B5EF4-FFF2-40B4-BE49-F238E27FC236}">
                <a16:creationId xmlns:a16="http://schemas.microsoft.com/office/drawing/2014/main" id="{B03916D8-B4A1-2B55-B3AA-8DEC2BF10095}"/>
              </a:ext>
            </a:extLst>
          </p:cNvPr>
          <p:cNvSpPr txBox="1">
            <a:spLocks/>
          </p:cNvSpPr>
          <p:nvPr/>
        </p:nvSpPr>
        <p:spPr>
          <a:xfrm>
            <a:off x="6346826" y="2324101"/>
            <a:ext cx="5384800" cy="27813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4400" dirty="0"/>
              <a:t>Prefer </a:t>
            </a:r>
            <a:r>
              <a:rPr lang="en-US" sz="4400" b="1" dirty="0"/>
              <a:t>def</a:t>
            </a:r>
            <a:r>
              <a:rPr lang="en-US" sz="4400" dirty="0"/>
              <a:t> for:</a:t>
            </a:r>
          </a:p>
          <a:p>
            <a:pPr marL="457200" lvl="1" indent="0">
              <a:buNone/>
            </a:pPr>
            <a:r>
              <a:rPr lang="en-US" sz="4000" dirty="0"/>
              <a:t>business logic</a:t>
            </a:r>
          </a:p>
          <a:p>
            <a:pPr marL="457200" lvl="1" indent="0">
              <a:buNone/>
            </a:pPr>
            <a:r>
              <a:rPr lang="en-US" sz="4000" dirty="0"/>
              <a:t>anything non-trivial</a:t>
            </a:r>
          </a:p>
          <a:p>
            <a:pPr marL="0" indent="0">
              <a:buNone/>
            </a:pPr>
            <a:endParaRPr lang="en-SG" sz="4400" dirty="0"/>
          </a:p>
        </p:txBody>
      </p:sp>
    </p:spTree>
    <p:extLst>
      <p:ext uri="{BB962C8B-B14F-4D97-AF65-F5344CB8AC3E}">
        <p14:creationId xmlns:p14="http://schemas.microsoft.com/office/powerpoint/2010/main" val="79536370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20396-415D-DFB3-A388-285F8071A64F}"/>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A6EE40E6-75A8-7800-970A-CF90B370979C}"/>
              </a:ext>
            </a:extLst>
          </p:cNvPr>
          <p:cNvSpPr>
            <a:spLocks noGrp="1"/>
          </p:cNvSpPr>
          <p:nvPr>
            <p:ph idx="1"/>
          </p:nvPr>
        </p:nvSpPr>
        <p:spPr>
          <a:xfrm>
            <a:off x="457200" y="1600200"/>
            <a:ext cx="10998200" cy="4525963"/>
          </a:xfrm>
        </p:spPr>
        <p:txBody>
          <a:bodyPr/>
          <a:lstStyle/>
          <a:p>
            <a:r>
              <a:rPr lang="en-US" dirty="0"/>
              <a:t>lambda = one-expression function</a:t>
            </a:r>
          </a:p>
          <a:p>
            <a:r>
              <a:rPr lang="en-US" dirty="0"/>
              <a:t>Inline and disposable</a:t>
            </a:r>
          </a:p>
          <a:p>
            <a:r>
              <a:rPr lang="en-US" dirty="0"/>
              <a:t>Readability &gt; brevity</a:t>
            </a:r>
          </a:p>
          <a:p>
            <a:r>
              <a:rPr lang="en-US" dirty="0"/>
              <a:t>def is always acceptable</a:t>
            </a:r>
          </a:p>
          <a:p>
            <a:endParaRPr lang="en-US" dirty="0"/>
          </a:p>
          <a:p>
            <a:pPr marL="0" indent="0">
              <a:buNone/>
            </a:pPr>
            <a:r>
              <a:rPr lang="en-US" b="1" dirty="0"/>
              <a:t>Final mental model: </a:t>
            </a:r>
            <a:r>
              <a:rPr lang="en-US" i="1" dirty="0"/>
              <a:t>If you have to explain it, don’t lambda it.</a:t>
            </a:r>
            <a:endParaRPr lang="en-US" dirty="0"/>
          </a:p>
          <a:p>
            <a:endParaRPr lang="en-SG" dirty="0"/>
          </a:p>
        </p:txBody>
      </p:sp>
    </p:spTree>
    <p:extLst>
      <p:ext uri="{BB962C8B-B14F-4D97-AF65-F5344CB8AC3E}">
        <p14:creationId xmlns:p14="http://schemas.microsoft.com/office/powerpoint/2010/main" val="2719177165"/>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ops = {"+": lambda </a:t>
            </a:r>
            <a:r>
              <a:rPr sz="2800" dirty="0" err="1"/>
              <a:t>x,y</a:t>
            </a:r>
            <a:r>
              <a:rPr sz="2800" dirty="0"/>
              <a:t>: </a:t>
            </a:r>
            <a:r>
              <a:rPr sz="2800" dirty="0" err="1"/>
              <a:t>x+y</a:t>
            </a:r>
            <a:r>
              <a:rPr sz="2800" dirty="0"/>
              <a:t>,</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br>
              <a:rPr sz="2800" dirty="0"/>
            </a:br>
            <a:r>
              <a:rPr sz="2800" dirty="0"/>
              <a:t>_, a, op, b = </a:t>
            </a:r>
            <a:r>
              <a:rPr sz="2800" dirty="0" err="1"/>
              <a:t>sys.argv</a:t>
            </a:r>
            <a:br>
              <a:rPr sz="2800" dirty="0"/>
            </a:br>
            <a:r>
              <a:rPr sz="2800" dirty="0"/>
              <a:t>print(ops[op](float(a), float(b)))</a:t>
            </a: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DD1B6-D528-D0DD-4189-875D09D73BE5}"/>
              </a:ext>
            </a:extLst>
          </p:cNvPr>
          <p:cNvSpPr>
            <a:spLocks noGrp="1"/>
          </p:cNvSpPr>
          <p:nvPr>
            <p:ph type="title"/>
          </p:nvPr>
        </p:nvSpPr>
        <p:spPr/>
        <p:txBody>
          <a:bodyPr>
            <a:normAutofit/>
          </a:bodyPr>
          <a:lstStyle/>
          <a:p>
            <a:r>
              <a:rPr lang="en-US" dirty="0"/>
              <a:t>Getting Help in Python</a:t>
            </a:r>
            <a:endParaRPr lang="en-SG" dirty="0"/>
          </a:p>
        </p:txBody>
      </p:sp>
      <p:sp>
        <p:nvSpPr>
          <p:cNvPr id="3" name="Content Placeholder 2">
            <a:extLst>
              <a:ext uri="{FF2B5EF4-FFF2-40B4-BE49-F238E27FC236}">
                <a16:creationId xmlns:a16="http://schemas.microsoft.com/office/drawing/2014/main" id="{EB2F5F6C-43AB-ECAA-4EC0-D1C3E4C793F5}"/>
              </a:ext>
            </a:extLst>
          </p:cNvPr>
          <p:cNvSpPr>
            <a:spLocks noGrp="1"/>
          </p:cNvSpPr>
          <p:nvPr>
            <p:ph idx="1"/>
          </p:nvPr>
        </p:nvSpPr>
        <p:spPr/>
        <p:txBody>
          <a:bodyPr/>
          <a:lstStyle/>
          <a:p>
            <a:r>
              <a:rPr lang="en-US" dirty="0"/>
              <a:t>Python is </a:t>
            </a:r>
            <a:r>
              <a:rPr lang="en-US" b="1" dirty="0"/>
              <a:t>self-describing</a:t>
            </a:r>
            <a:endParaRPr lang="en-US" dirty="0"/>
          </a:p>
          <a:p>
            <a:r>
              <a:rPr lang="en-US" dirty="0"/>
              <a:t>Engineers should </a:t>
            </a:r>
            <a:r>
              <a:rPr lang="en-US" b="1" dirty="0"/>
              <a:t>inspect, not guess</a:t>
            </a:r>
            <a:endParaRPr lang="en-US" dirty="0"/>
          </a:p>
          <a:p>
            <a:r>
              <a:rPr lang="en-US" dirty="0"/>
              <a:t>Built-in help tools reduce context-switching</a:t>
            </a:r>
          </a:p>
          <a:p>
            <a:r>
              <a:rPr lang="en-US" b="1" dirty="0"/>
              <a:t>Outcome:</a:t>
            </a:r>
            <a:r>
              <a:rPr lang="en-US" dirty="0"/>
              <a:t> engineers navigate unfamiliar codebases faster</a:t>
            </a:r>
          </a:p>
          <a:p>
            <a:endParaRPr lang="en-US" dirty="0"/>
          </a:p>
          <a:p>
            <a:endParaRPr lang="en-SG" dirty="0"/>
          </a:p>
        </p:txBody>
      </p:sp>
    </p:spTree>
    <p:extLst>
      <p:ext uri="{BB962C8B-B14F-4D97-AF65-F5344CB8AC3E}">
        <p14:creationId xmlns:p14="http://schemas.microsoft.com/office/powerpoint/2010/main" val="3965419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D0F82-046E-8504-4158-9C0C8B5D97BB}"/>
              </a:ext>
            </a:extLst>
          </p:cNvPr>
          <p:cNvSpPr>
            <a:spLocks noGrp="1"/>
          </p:cNvSpPr>
          <p:nvPr>
            <p:ph type="title"/>
          </p:nvPr>
        </p:nvSpPr>
        <p:spPr/>
        <p:txBody>
          <a:bodyPr>
            <a:normAutofit/>
          </a:bodyPr>
          <a:lstStyle/>
          <a:p>
            <a:r>
              <a:rPr lang="en-US" dirty="0"/>
              <a:t>help() — The Built-In Manual</a:t>
            </a:r>
            <a:endParaRPr lang="en-SG" dirty="0"/>
          </a:p>
        </p:txBody>
      </p:sp>
      <p:sp>
        <p:nvSpPr>
          <p:cNvPr id="3" name="Content Placeholder 2">
            <a:extLst>
              <a:ext uri="{FF2B5EF4-FFF2-40B4-BE49-F238E27FC236}">
                <a16:creationId xmlns:a16="http://schemas.microsoft.com/office/drawing/2014/main" id="{E9C6DEF8-4C0F-2FF0-3AE8-9A02EF259D0A}"/>
              </a:ext>
            </a:extLst>
          </p:cNvPr>
          <p:cNvSpPr>
            <a:spLocks noGrp="1"/>
          </p:cNvSpPr>
          <p:nvPr>
            <p:ph idx="1"/>
          </p:nvPr>
        </p:nvSpPr>
        <p:spPr/>
        <p:txBody>
          <a:bodyPr>
            <a:normAutofit fontScale="92500" lnSpcReduction="20000"/>
          </a:bodyPr>
          <a:lstStyle/>
          <a:p>
            <a:r>
              <a:rPr lang="en-US" dirty="0"/>
              <a:t>Displays documentation for:</a:t>
            </a:r>
          </a:p>
          <a:p>
            <a:pPr lvl="1"/>
            <a:r>
              <a:rPr lang="en-US" dirty="0"/>
              <a:t>functions</a:t>
            </a:r>
          </a:p>
          <a:p>
            <a:pPr lvl="1"/>
            <a:r>
              <a:rPr lang="en-US" dirty="0"/>
              <a:t>classes</a:t>
            </a:r>
          </a:p>
          <a:p>
            <a:pPr lvl="1"/>
            <a:r>
              <a:rPr lang="en-US" dirty="0"/>
              <a:t>modules</a:t>
            </a:r>
          </a:p>
          <a:p>
            <a:r>
              <a:rPr lang="en-US" dirty="0"/>
              <a:t>Shows:</a:t>
            </a:r>
          </a:p>
          <a:p>
            <a:pPr lvl="1"/>
            <a:r>
              <a:rPr lang="en-US" dirty="0"/>
              <a:t>purpose</a:t>
            </a:r>
          </a:p>
          <a:p>
            <a:pPr lvl="1"/>
            <a:r>
              <a:rPr lang="en-US" dirty="0"/>
              <a:t>parameters</a:t>
            </a:r>
          </a:p>
          <a:p>
            <a:pPr lvl="1"/>
            <a:r>
              <a:rPr lang="en-US" dirty="0"/>
              <a:t>return values</a:t>
            </a:r>
          </a:p>
          <a:p>
            <a:pPr lvl="1"/>
            <a:r>
              <a:rPr lang="en-US" dirty="0"/>
              <a:t>usage notes</a:t>
            </a:r>
          </a:p>
          <a:p>
            <a:pPr marL="0" indent="0">
              <a:buNone/>
            </a:pPr>
            <a:r>
              <a:rPr lang="en-US" b="1" dirty="0"/>
              <a:t>Mental model: </a:t>
            </a:r>
            <a:r>
              <a:rPr lang="en-US" dirty="0"/>
              <a:t>help() answers </a:t>
            </a:r>
            <a:r>
              <a:rPr lang="en-US" i="1" dirty="0"/>
              <a:t>“How do I use this?”</a:t>
            </a:r>
            <a:endParaRPr lang="en-US" dirty="0"/>
          </a:p>
          <a:p>
            <a:endParaRPr lang="en-SG" dirty="0"/>
          </a:p>
        </p:txBody>
      </p:sp>
    </p:spTree>
    <p:extLst>
      <p:ext uri="{BB962C8B-B14F-4D97-AF65-F5344CB8AC3E}">
        <p14:creationId xmlns:p14="http://schemas.microsoft.com/office/powerpoint/2010/main" val="201551728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3C0FF-71FB-6174-2B74-FD714CB0EA7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BD0C33E-02D4-F219-235E-E39489858227}"/>
              </a:ext>
            </a:extLst>
          </p:cNvPr>
          <p:cNvSpPr>
            <a:spLocks noGrp="1"/>
          </p:cNvSpPr>
          <p:nvPr>
            <p:ph type="title"/>
          </p:nvPr>
        </p:nvSpPr>
        <p:spPr>
          <a:xfrm>
            <a:off x="457199" y="160337"/>
            <a:ext cx="8229600" cy="1143000"/>
          </a:xfrm>
        </p:spPr>
        <p:txBody>
          <a:bodyPr/>
          <a:lstStyle/>
          <a:p>
            <a:r>
              <a:rPr lang="en-US" dirty="0"/>
              <a:t>Using help() Effectively</a:t>
            </a:r>
          </a:p>
        </p:txBody>
      </p:sp>
      <p:sp>
        <p:nvSpPr>
          <p:cNvPr id="8" name="Content Placeholder 7">
            <a:extLst>
              <a:ext uri="{FF2B5EF4-FFF2-40B4-BE49-F238E27FC236}">
                <a16:creationId xmlns:a16="http://schemas.microsoft.com/office/drawing/2014/main" id="{400BFB3E-7F33-F14E-4EEC-F35273278CF8}"/>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help(</a:t>
            </a:r>
            <a:r>
              <a:rPr lang="en-US" dirty="0" err="1"/>
              <a:t>len</a:t>
            </a:r>
            <a:r>
              <a:rPr lang="en-US" dirty="0"/>
              <a:t>)</a:t>
            </a:r>
          </a:p>
          <a:p>
            <a:pPr marL="0" indent="0">
              <a:buNone/>
            </a:pPr>
            <a:r>
              <a:rPr lang="en-US" dirty="0"/>
              <a:t>help(</a:t>
            </a:r>
            <a:r>
              <a:rPr lang="en-US" dirty="0" err="1"/>
              <a:t>str.upper</a:t>
            </a:r>
            <a:r>
              <a:rPr lang="en-US" dirty="0"/>
              <a:t>)</a:t>
            </a:r>
          </a:p>
          <a:p>
            <a:pPr marL="0" indent="0">
              <a:buNone/>
            </a:pPr>
            <a:r>
              <a:rPr lang="en-US" dirty="0"/>
              <a:t>help(list)</a:t>
            </a:r>
          </a:p>
        </p:txBody>
      </p:sp>
      <p:sp>
        <p:nvSpPr>
          <p:cNvPr id="10" name="Content Placeholder 7">
            <a:extLst>
              <a:ext uri="{FF2B5EF4-FFF2-40B4-BE49-F238E27FC236}">
                <a16:creationId xmlns:a16="http://schemas.microsoft.com/office/drawing/2014/main" id="{8DA9AE16-0A8D-98A9-63BD-2FCC993B6C1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 in REPL, notebooks, or scripts</a:t>
            </a:r>
          </a:p>
          <a:p>
            <a:r>
              <a:rPr lang="en-US" dirty="0"/>
              <a:t>Works on:</a:t>
            </a:r>
          </a:p>
          <a:p>
            <a:pPr lvl="1"/>
            <a:r>
              <a:rPr lang="en-US" dirty="0"/>
              <a:t>names</a:t>
            </a:r>
          </a:p>
          <a:p>
            <a:pPr lvl="1"/>
            <a:r>
              <a:rPr lang="en-US" dirty="0"/>
              <a:t>objects</a:t>
            </a:r>
          </a:p>
          <a:p>
            <a:pPr lvl="1"/>
            <a:r>
              <a:rPr lang="en-US" dirty="0"/>
              <a:t>modules</a:t>
            </a:r>
          </a:p>
        </p:txBody>
      </p:sp>
    </p:spTree>
    <p:extLst>
      <p:ext uri="{BB962C8B-B14F-4D97-AF65-F5344CB8AC3E}">
        <p14:creationId xmlns:p14="http://schemas.microsoft.com/office/powerpoint/2010/main" val="167220885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BA0DB-0693-50D8-E615-82D2F4BD5775}"/>
              </a:ext>
            </a:extLst>
          </p:cNvPr>
          <p:cNvSpPr>
            <a:spLocks noGrp="1"/>
          </p:cNvSpPr>
          <p:nvPr>
            <p:ph type="title"/>
          </p:nvPr>
        </p:nvSpPr>
        <p:spPr/>
        <p:txBody>
          <a:bodyPr>
            <a:normAutofit/>
          </a:bodyPr>
          <a:lstStyle/>
          <a:p>
            <a:r>
              <a:rPr lang="en-US" dirty="0"/>
              <a:t>When to Use help()</a:t>
            </a:r>
            <a:endParaRPr lang="en-SG" dirty="0"/>
          </a:p>
        </p:txBody>
      </p:sp>
      <p:sp>
        <p:nvSpPr>
          <p:cNvPr id="3" name="Content Placeholder 2">
            <a:extLst>
              <a:ext uri="{FF2B5EF4-FFF2-40B4-BE49-F238E27FC236}">
                <a16:creationId xmlns:a16="http://schemas.microsoft.com/office/drawing/2014/main" id="{F8008DA9-768E-DF54-C404-C3F35F9736EA}"/>
              </a:ext>
            </a:extLst>
          </p:cNvPr>
          <p:cNvSpPr>
            <a:spLocks noGrp="1"/>
          </p:cNvSpPr>
          <p:nvPr>
            <p:ph idx="1"/>
          </p:nvPr>
        </p:nvSpPr>
        <p:spPr/>
        <p:txBody>
          <a:bodyPr/>
          <a:lstStyle/>
          <a:p>
            <a:r>
              <a:rPr lang="en-US" dirty="0"/>
              <a:t>Learning a new API</a:t>
            </a:r>
          </a:p>
          <a:p>
            <a:r>
              <a:rPr lang="en-US" dirty="0"/>
              <a:t>Understanding method behavior</a:t>
            </a:r>
          </a:p>
          <a:p>
            <a:r>
              <a:rPr lang="en-US" dirty="0"/>
              <a:t>Confirming arguments and defaults</a:t>
            </a:r>
          </a:p>
          <a:p>
            <a:r>
              <a:rPr lang="en-US" dirty="0"/>
              <a:t>Verifying return types</a:t>
            </a:r>
          </a:p>
          <a:p>
            <a:endParaRPr lang="en-SG" dirty="0"/>
          </a:p>
        </p:txBody>
      </p:sp>
    </p:spTree>
    <p:extLst>
      <p:ext uri="{BB962C8B-B14F-4D97-AF65-F5344CB8AC3E}">
        <p14:creationId xmlns:p14="http://schemas.microsoft.com/office/powerpoint/2010/main" val="3242008724"/>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BBF5C-1332-5BC8-9A24-54B90577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E95A71-6DE4-43EA-60EE-A4FAE8CD7B57}"/>
              </a:ext>
            </a:extLst>
          </p:cNvPr>
          <p:cNvSpPr>
            <a:spLocks noGrp="1"/>
          </p:cNvSpPr>
          <p:nvPr>
            <p:ph type="title"/>
          </p:nvPr>
        </p:nvSpPr>
        <p:spPr/>
        <p:txBody>
          <a:bodyPr>
            <a:normAutofit/>
          </a:bodyPr>
          <a:lstStyle/>
          <a:p>
            <a:r>
              <a:rPr lang="en-US" dirty="0" err="1"/>
              <a:t>dir</a:t>
            </a:r>
            <a:r>
              <a:rPr lang="en-US" dirty="0"/>
              <a:t>() — Discover What Exists</a:t>
            </a:r>
          </a:p>
        </p:txBody>
      </p:sp>
      <p:sp>
        <p:nvSpPr>
          <p:cNvPr id="3" name="Content Placeholder 2">
            <a:extLst>
              <a:ext uri="{FF2B5EF4-FFF2-40B4-BE49-F238E27FC236}">
                <a16:creationId xmlns:a16="http://schemas.microsoft.com/office/drawing/2014/main" id="{C3C51C92-712A-F809-93D0-95E4AF0651DA}"/>
              </a:ext>
            </a:extLst>
          </p:cNvPr>
          <p:cNvSpPr>
            <a:spLocks noGrp="1"/>
          </p:cNvSpPr>
          <p:nvPr>
            <p:ph idx="1"/>
          </p:nvPr>
        </p:nvSpPr>
        <p:spPr>
          <a:xfrm>
            <a:off x="457200" y="1600200"/>
            <a:ext cx="9855200" cy="4525963"/>
          </a:xfrm>
        </p:spPr>
        <p:txBody>
          <a:bodyPr/>
          <a:lstStyle/>
          <a:p>
            <a:r>
              <a:rPr lang="en-US" dirty="0"/>
              <a:t>Lists available:</a:t>
            </a:r>
          </a:p>
          <a:p>
            <a:pPr lvl="1"/>
            <a:r>
              <a:rPr lang="en-US" dirty="0"/>
              <a:t>attributes</a:t>
            </a:r>
          </a:p>
          <a:p>
            <a:pPr lvl="1"/>
            <a:r>
              <a:rPr lang="en-US" dirty="0"/>
              <a:t>methods</a:t>
            </a:r>
          </a:p>
          <a:p>
            <a:r>
              <a:rPr lang="en-US" dirty="0"/>
              <a:t>Works on any object</a:t>
            </a:r>
          </a:p>
          <a:p>
            <a:pPr marL="0" indent="0">
              <a:buNone/>
            </a:pPr>
            <a:endParaRPr lang="en-US" b="1" dirty="0"/>
          </a:p>
          <a:p>
            <a:pPr marL="0" indent="0">
              <a:buNone/>
            </a:pPr>
            <a:r>
              <a:rPr lang="en-US" b="1" dirty="0"/>
              <a:t>Mental model: </a:t>
            </a:r>
            <a:r>
              <a:rPr lang="en-US" dirty="0" err="1"/>
              <a:t>dir</a:t>
            </a:r>
            <a:r>
              <a:rPr lang="en-US" dirty="0"/>
              <a:t>() answers </a:t>
            </a:r>
            <a:r>
              <a:rPr lang="en-US" i="1" dirty="0"/>
              <a:t>“What can this do?”</a:t>
            </a:r>
            <a:endParaRPr lang="en-US" dirty="0"/>
          </a:p>
        </p:txBody>
      </p:sp>
    </p:spTree>
    <p:extLst>
      <p:ext uri="{BB962C8B-B14F-4D97-AF65-F5344CB8AC3E}">
        <p14:creationId xmlns:p14="http://schemas.microsoft.com/office/powerpoint/2010/main" val="352399945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777AA-F059-F508-5897-BE68857FD1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12797FC-C5D2-1E74-50D6-5BB8291BFCF5}"/>
              </a:ext>
            </a:extLst>
          </p:cNvPr>
          <p:cNvSpPr>
            <a:spLocks noGrp="1"/>
          </p:cNvSpPr>
          <p:nvPr>
            <p:ph type="title"/>
          </p:nvPr>
        </p:nvSpPr>
        <p:spPr>
          <a:xfrm>
            <a:off x="457199" y="160337"/>
            <a:ext cx="8229600" cy="1143000"/>
          </a:xfrm>
        </p:spPr>
        <p:txBody>
          <a:bodyPr/>
          <a:lstStyle/>
          <a:p>
            <a:r>
              <a:rPr lang="en-SG" b="1" dirty="0"/>
              <a:t>Using </a:t>
            </a:r>
            <a:r>
              <a:rPr lang="en-SG" b="1" dirty="0" err="1"/>
              <a:t>dir</a:t>
            </a:r>
            <a:r>
              <a:rPr lang="en-SG" b="1" dirty="0"/>
              <a:t>()</a:t>
            </a:r>
          </a:p>
        </p:txBody>
      </p:sp>
      <p:sp>
        <p:nvSpPr>
          <p:cNvPr id="8" name="Content Placeholder 7">
            <a:extLst>
              <a:ext uri="{FF2B5EF4-FFF2-40B4-BE49-F238E27FC236}">
                <a16:creationId xmlns:a16="http://schemas.microsoft.com/office/drawing/2014/main" id="{9C779114-9D09-A517-C615-E6E374319512}"/>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dir</a:t>
            </a:r>
            <a:r>
              <a:rPr lang="en-US" dirty="0"/>
              <a:t>(text)</a:t>
            </a:r>
          </a:p>
          <a:p>
            <a:pPr marL="0" indent="0">
              <a:buNone/>
            </a:pPr>
            <a:r>
              <a:rPr lang="en-US" dirty="0" err="1"/>
              <a:t>dir</a:t>
            </a:r>
            <a:r>
              <a:rPr lang="en-US" dirty="0"/>
              <a:t>(list)</a:t>
            </a:r>
          </a:p>
          <a:p>
            <a:pPr marL="0" indent="0">
              <a:buNone/>
            </a:pPr>
            <a:r>
              <a:rPr lang="en-US" dirty="0" err="1"/>
              <a:t>dir</a:t>
            </a:r>
            <a:r>
              <a:rPr lang="en-US" dirty="0"/>
              <a:t>(module)</a:t>
            </a:r>
          </a:p>
        </p:txBody>
      </p:sp>
      <p:sp>
        <p:nvSpPr>
          <p:cNvPr id="10" name="Content Placeholder 7">
            <a:extLst>
              <a:ext uri="{FF2B5EF4-FFF2-40B4-BE49-F238E27FC236}">
                <a16:creationId xmlns:a16="http://schemas.microsoft.com/office/drawing/2014/main" id="{6CC07383-9973-DAE3-241C-6262E0C8E68D}"/>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Returns attribute names only</a:t>
            </a:r>
          </a:p>
          <a:p>
            <a:endParaRPr lang="en-US" dirty="0"/>
          </a:p>
          <a:p>
            <a:r>
              <a:rPr lang="en-US" dirty="0"/>
              <a:t>Does not explain behavior</a:t>
            </a:r>
          </a:p>
        </p:txBody>
      </p:sp>
    </p:spTree>
    <p:extLst>
      <p:ext uri="{BB962C8B-B14F-4D97-AF65-F5344CB8AC3E}">
        <p14:creationId xmlns:p14="http://schemas.microsoft.com/office/powerpoint/2010/main" val="811225524"/>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B6FFE-CE0D-1865-4CDE-2C6EF9CD95A0}"/>
              </a:ext>
            </a:extLst>
          </p:cNvPr>
          <p:cNvSpPr>
            <a:spLocks noGrp="1"/>
          </p:cNvSpPr>
          <p:nvPr>
            <p:ph type="title"/>
          </p:nvPr>
        </p:nvSpPr>
        <p:spPr/>
        <p:txBody>
          <a:bodyPr>
            <a:normAutofit/>
          </a:bodyPr>
          <a:lstStyle/>
          <a:p>
            <a:r>
              <a:rPr lang="en-SG" b="1" dirty="0" err="1"/>
              <a:t>dir</a:t>
            </a:r>
            <a:r>
              <a:rPr lang="en-SG" b="1" dirty="0"/>
              <a:t>() vs help()</a:t>
            </a:r>
            <a:endParaRPr lang="en-SG" dirty="0"/>
          </a:p>
        </p:txBody>
      </p:sp>
      <p:graphicFrame>
        <p:nvGraphicFramePr>
          <p:cNvPr id="4" name="Table 3">
            <a:extLst>
              <a:ext uri="{FF2B5EF4-FFF2-40B4-BE49-F238E27FC236}">
                <a16:creationId xmlns:a16="http://schemas.microsoft.com/office/drawing/2014/main" id="{86C99343-4927-CED7-2959-EF5B6A4F227B}"/>
              </a:ext>
            </a:extLst>
          </p:cNvPr>
          <p:cNvGraphicFramePr>
            <a:graphicFrameLocks noGrp="1"/>
          </p:cNvGraphicFramePr>
          <p:nvPr>
            <p:extLst>
              <p:ext uri="{D42A27DB-BD31-4B8C-83A1-F6EECF244321}">
                <p14:modId xmlns:p14="http://schemas.microsoft.com/office/powerpoint/2010/main" val="1415784011"/>
              </p:ext>
            </p:extLst>
          </p:nvPr>
        </p:nvGraphicFramePr>
        <p:xfrm>
          <a:off x="252412" y="2158682"/>
          <a:ext cx="11684000" cy="3627120"/>
        </p:xfrm>
        <a:graphic>
          <a:graphicData uri="http://schemas.openxmlformats.org/drawingml/2006/table">
            <a:tbl>
              <a:tblPr/>
              <a:tblGrid>
                <a:gridCol w="5842000">
                  <a:extLst>
                    <a:ext uri="{9D8B030D-6E8A-4147-A177-3AD203B41FA5}">
                      <a16:colId xmlns:a16="http://schemas.microsoft.com/office/drawing/2014/main" val="1160505537"/>
                    </a:ext>
                  </a:extLst>
                </a:gridCol>
                <a:gridCol w="5842000">
                  <a:extLst>
                    <a:ext uri="{9D8B030D-6E8A-4147-A177-3AD203B41FA5}">
                      <a16:colId xmlns:a16="http://schemas.microsoft.com/office/drawing/2014/main" val="267623663"/>
                    </a:ext>
                  </a:extLst>
                </a:gridCol>
              </a:tblGrid>
              <a:tr h="0">
                <a:tc>
                  <a:txBody>
                    <a:bodyPr/>
                    <a:lstStyle/>
                    <a:p>
                      <a:pPr>
                        <a:buNone/>
                      </a:pPr>
                      <a:r>
                        <a:rPr lang="en-SG" sz="4400" b="1" dirty="0"/>
                        <a:t>Tool</a:t>
                      </a:r>
                    </a:p>
                  </a:txBody>
                  <a:tcPr anchor="ctr">
                    <a:lnL>
                      <a:noFill/>
                    </a:lnL>
                    <a:lnR>
                      <a:noFill/>
                    </a:lnR>
                    <a:lnT>
                      <a:noFill/>
                    </a:lnT>
                    <a:lnB>
                      <a:noFill/>
                    </a:lnB>
                    <a:noFill/>
                  </a:tcPr>
                </a:tc>
                <a:tc>
                  <a:txBody>
                    <a:bodyPr/>
                    <a:lstStyle/>
                    <a:p>
                      <a:pPr>
                        <a:buNone/>
                      </a:pPr>
                      <a:r>
                        <a:rPr lang="en-SG" sz="4400" b="1" dirty="0"/>
                        <a:t>Purpose</a:t>
                      </a:r>
                    </a:p>
                  </a:txBody>
                  <a:tcPr anchor="ctr">
                    <a:lnL>
                      <a:noFill/>
                    </a:lnL>
                    <a:lnR>
                      <a:noFill/>
                    </a:lnR>
                    <a:lnT>
                      <a:noFill/>
                    </a:lnT>
                    <a:lnB>
                      <a:noFill/>
                    </a:lnB>
                    <a:noFill/>
                  </a:tcPr>
                </a:tc>
                <a:extLst>
                  <a:ext uri="{0D108BD9-81ED-4DB2-BD59-A6C34878D82A}">
                    <a16:rowId xmlns:a16="http://schemas.microsoft.com/office/drawing/2014/main" val="291263717"/>
                  </a:ext>
                </a:extLst>
              </a:tr>
              <a:tr h="0">
                <a:tc>
                  <a:txBody>
                    <a:bodyPr/>
                    <a:lstStyle/>
                    <a:p>
                      <a:pPr>
                        <a:buNone/>
                      </a:pPr>
                      <a:r>
                        <a:rPr lang="en-SG" sz="4400">
                          <a:latin typeface="Courier New" panose="02070309020205020404" pitchFamily="49" charset="0"/>
                        </a:rPr>
                        <a:t>dir()</a:t>
                      </a:r>
                      <a:endParaRPr lang="en-SG" sz="4400"/>
                    </a:p>
                  </a:txBody>
                  <a:tcPr anchor="ctr">
                    <a:lnL>
                      <a:noFill/>
                    </a:lnL>
                    <a:lnR>
                      <a:noFill/>
                    </a:lnR>
                    <a:lnT>
                      <a:noFill/>
                    </a:lnT>
                    <a:lnB>
                      <a:noFill/>
                    </a:lnB>
                    <a:noFill/>
                  </a:tcPr>
                </a:tc>
                <a:tc>
                  <a:txBody>
                    <a:bodyPr/>
                    <a:lstStyle/>
                    <a:p>
                      <a:pPr>
                        <a:buNone/>
                      </a:pPr>
                      <a:r>
                        <a:rPr lang="en-SG" sz="4400" dirty="0"/>
                        <a:t>Discover available names</a:t>
                      </a:r>
                    </a:p>
                  </a:txBody>
                  <a:tcPr anchor="ctr">
                    <a:lnL>
                      <a:noFill/>
                    </a:lnL>
                    <a:lnR>
                      <a:noFill/>
                    </a:lnR>
                    <a:lnT>
                      <a:noFill/>
                    </a:lnT>
                    <a:lnB>
                      <a:noFill/>
                    </a:lnB>
                    <a:noFill/>
                  </a:tcPr>
                </a:tc>
                <a:extLst>
                  <a:ext uri="{0D108BD9-81ED-4DB2-BD59-A6C34878D82A}">
                    <a16:rowId xmlns:a16="http://schemas.microsoft.com/office/drawing/2014/main" val="220491180"/>
                  </a:ext>
                </a:extLst>
              </a:tr>
              <a:tr h="0">
                <a:tc>
                  <a:txBody>
                    <a:bodyPr/>
                    <a:lstStyle/>
                    <a:p>
                      <a:pPr>
                        <a:buNone/>
                      </a:pPr>
                      <a:r>
                        <a:rPr lang="en-SG" sz="4400">
                          <a:latin typeface="Courier New" panose="02070309020205020404" pitchFamily="49" charset="0"/>
                        </a:rPr>
                        <a:t>help()</a:t>
                      </a:r>
                      <a:endParaRPr lang="en-SG" sz="4400"/>
                    </a:p>
                  </a:txBody>
                  <a:tcPr anchor="ctr">
                    <a:lnL>
                      <a:noFill/>
                    </a:lnL>
                    <a:lnR>
                      <a:noFill/>
                    </a:lnR>
                    <a:lnT>
                      <a:noFill/>
                    </a:lnT>
                    <a:lnB>
                      <a:noFill/>
                    </a:lnB>
                    <a:noFill/>
                  </a:tcPr>
                </a:tc>
                <a:tc>
                  <a:txBody>
                    <a:bodyPr/>
                    <a:lstStyle/>
                    <a:p>
                      <a:pPr>
                        <a:buNone/>
                      </a:pPr>
                      <a:r>
                        <a:rPr lang="en-SG" sz="4400" dirty="0"/>
                        <a:t>Understand usage and </a:t>
                      </a:r>
                      <a:r>
                        <a:rPr lang="en-SG" sz="4400" dirty="0" err="1"/>
                        <a:t>behavior</a:t>
                      </a:r>
                      <a:endParaRPr lang="en-SG" sz="4400" dirty="0"/>
                    </a:p>
                  </a:txBody>
                  <a:tcPr anchor="ctr">
                    <a:lnL>
                      <a:noFill/>
                    </a:lnL>
                    <a:lnR>
                      <a:noFill/>
                    </a:lnR>
                    <a:lnT>
                      <a:noFill/>
                    </a:lnT>
                    <a:lnB>
                      <a:noFill/>
                    </a:lnB>
                    <a:noFill/>
                  </a:tcPr>
                </a:tc>
                <a:extLst>
                  <a:ext uri="{0D108BD9-81ED-4DB2-BD59-A6C34878D82A}">
                    <a16:rowId xmlns:a16="http://schemas.microsoft.com/office/drawing/2014/main" val="550580456"/>
                  </a:ext>
                </a:extLst>
              </a:tr>
            </a:tbl>
          </a:graphicData>
        </a:graphic>
      </p:graphicFrame>
    </p:spTree>
    <p:extLst>
      <p:ext uri="{BB962C8B-B14F-4D97-AF65-F5344CB8AC3E}">
        <p14:creationId xmlns:p14="http://schemas.microsoft.com/office/powerpoint/2010/main" val="254972076"/>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E62F0-874F-3A34-33B1-053C292054ED}"/>
              </a:ext>
            </a:extLst>
          </p:cNvPr>
          <p:cNvSpPr>
            <a:spLocks noGrp="1"/>
          </p:cNvSpPr>
          <p:nvPr>
            <p:ph type="title"/>
          </p:nvPr>
        </p:nvSpPr>
        <p:spPr/>
        <p:txBody>
          <a:bodyPr>
            <a:normAutofit fontScale="90000"/>
          </a:bodyPr>
          <a:lstStyle/>
          <a:p>
            <a:r>
              <a:rPr lang="en-US" b="1" dirty="0" err="1"/>
              <a:t>dir</a:t>
            </a:r>
            <a:r>
              <a:rPr lang="en-US" b="1" dirty="0"/>
              <a:t>(</a:t>
            </a:r>
            <a:r>
              <a:rPr lang="en-US" b="1" dirty="0" err="1"/>
              <a:t>builtins</a:t>
            </a:r>
            <a:r>
              <a:rPr lang="en-US" b="1" dirty="0"/>
              <a:t>) — The Python Toolbox</a:t>
            </a:r>
            <a:endParaRPr lang="en-SG" dirty="0"/>
          </a:p>
        </p:txBody>
      </p:sp>
      <p:sp>
        <p:nvSpPr>
          <p:cNvPr id="3" name="Content Placeholder 2">
            <a:extLst>
              <a:ext uri="{FF2B5EF4-FFF2-40B4-BE49-F238E27FC236}">
                <a16:creationId xmlns:a16="http://schemas.microsoft.com/office/drawing/2014/main" id="{25811073-92B0-BBDA-E78D-45544411DBC5}"/>
              </a:ext>
            </a:extLst>
          </p:cNvPr>
          <p:cNvSpPr>
            <a:spLocks noGrp="1"/>
          </p:cNvSpPr>
          <p:nvPr>
            <p:ph idx="1"/>
          </p:nvPr>
        </p:nvSpPr>
        <p:spPr>
          <a:xfrm>
            <a:off x="457200" y="1600200"/>
            <a:ext cx="11404600" cy="4525963"/>
          </a:xfrm>
        </p:spPr>
        <p:txBody>
          <a:bodyPr>
            <a:normAutofit/>
          </a:bodyPr>
          <a:lstStyle/>
          <a:p>
            <a:r>
              <a:rPr lang="en-US" dirty="0"/>
              <a:t>Lists all built-in functions and objects</a:t>
            </a:r>
          </a:p>
          <a:p>
            <a:r>
              <a:rPr lang="en-US" dirty="0"/>
              <a:t>Reveals:</a:t>
            </a:r>
          </a:p>
          <a:p>
            <a:pPr lvl="1"/>
            <a:r>
              <a:rPr lang="en-US" dirty="0" err="1"/>
              <a:t>len</a:t>
            </a:r>
            <a:r>
              <a:rPr lang="en-US" dirty="0"/>
              <a:t>, range, enumerate</a:t>
            </a:r>
          </a:p>
          <a:p>
            <a:pPr lvl="1"/>
            <a:r>
              <a:rPr lang="en-US" dirty="0"/>
              <a:t>Exception, </a:t>
            </a:r>
            <a:r>
              <a:rPr lang="en-US" dirty="0" err="1"/>
              <a:t>ValueError</a:t>
            </a:r>
            <a:endParaRPr lang="en-US" dirty="0"/>
          </a:p>
          <a:p>
            <a:pPr lvl="1"/>
            <a:r>
              <a:rPr lang="en-US" dirty="0"/>
              <a:t>int, str, list</a:t>
            </a:r>
          </a:p>
          <a:p>
            <a:pPr lvl="1"/>
            <a:endParaRPr lang="en-US" dirty="0"/>
          </a:p>
          <a:p>
            <a:pPr marL="0" indent="0">
              <a:buNone/>
            </a:pPr>
            <a:r>
              <a:rPr lang="en-US" b="1" dirty="0"/>
              <a:t>Mental model: </a:t>
            </a:r>
            <a:r>
              <a:rPr lang="en-US" dirty="0"/>
              <a:t>Python ships with a full toolbox — know what’s already there</a:t>
            </a:r>
          </a:p>
          <a:p>
            <a:endParaRPr lang="en-SG" dirty="0"/>
          </a:p>
        </p:txBody>
      </p:sp>
    </p:spTree>
    <p:extLst>
      <p:ext uri="{BB962C8B-B14F-4D97-AF65-F5344CB8AC3E}">
        <p14:creationId xmlns:p14="http://schemas.microsoft.com/office/powerpoint/2010/main" val="3794534717"/>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77A3-46CD-7F0A-4578-B12EA8B9241D}"/>
              </a:ext>
            </a:extLst>
          </p:cNvPr>
          <p:cNvSpPr>
            <a:spLocks noGrp="1"/>
          </p:cNvSpPr>
          <p:nvPr>
            <p:ph type="title"/>
          </p:nvPr>
        </p:nvSpPr>
        <p:spPr/>
        <p:txBody>
          <a:bodyPr>
            <a:normAutofit/>
          </a:bodyPr>
          <a:lstStyle/>
          <a:p>
            <a:r>
              <a:rPr lang="en-US" b="1" dirty="0"/>
              <a:t>Why </a:t>
            </a:r>
            <a:r>
              <a:rPr lang="en-US" b="1" dirty="0" err="1"/>
              <a:t>builtins</a:t>
            </a:r>
            <a:r>
              <a:rPr lang="en-US" b="1" dirty="0"/>
              <a:t> Matters</a:t>
            </a:r>
            <a:endParaRPr lang="en-SG" dirty="0"/>
          </a:p>
        </p:txBody>
      </p:sp>
      <p:sp>
        <p:nvSpPr>
          <p:cNvPr id="3" name="Content Placeholder 2">
            <a:extLst>
              <a:ext uri="{FF2B5EF4-FFF2-40B4-BE49-F238E27FC236}">
                <a16:creationId xmlns:a16="http://schemas.microsoft.com/office/drawing/2014/main" id="{E39B3CEE-E76B-B3B4-AB32-FB6E461C9B59}"/>
              </a:ext>
            </a:extLst>
          </p:cNvPr>
          <p:cNvSpPr>
            <a:spLocks noGrp="1"/>
          </p:cNvSpPr>
          <p:nvPr>
            <p:ph idx="1"/>
          </p:nvPr>
        </p:nvSpPr>
        <p:spPr/>
        <p:txBody>
          <a:bodyPr/>
          <a:lstStyle/>
          <a:p>
            <a:r>
              <a:rPr lang="en-US" dirty="0"/>
              <a:t>Avoid reinventing utilities</a:t>
            </a:r>
          </a:p>
          <a:p>
            <a:r>
              <a:rPr lang="en-US" dirty="0"/>
              <a:t>Recognize standard patterns</a:t>
            </a:r>
          </a:p>
          <a:p>
            <a:r>
              <a:rPr lang="en-US" dirty="0"/>
              <a:t>Write more idiomatic Python</a:t>
            </a:r>
          </a:p>
          <a:p>
            <a:endParaRPr lang="en-SG" dirty="0"/>
          </a:p>
        </p:txBody>
      </p:sp>
    </p:spTree>
    <p:extLst>
      <p:ext uri="{BB962C8B-B14F-4D97-AF65-F5344CB8AC3E}">
        <p14:creationId xmlns:p14="http://schemas.microsoft.com/office/powerpoint/2010/main" val="167764076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30399-EB30-CB77-2209-CDBAA0FA6174}"/>
              </a:ext>
            </a:extLst>
          </p:cNvPr>
          <p:cNvSpPr>
            <a:spLocks noGrp="1"/>
          </p:cNvSpPr>
          <p:nvPr>
            <p:ph type="title"/>
          </p:nvPr>
        </p:nvSpPr>
        <p:spPr/>
        <p:txBody>
          <a:bodyPr>
            <a:normAutofit/>
          </a:bodyPr>
          <a:lstStyle/>
          <a:p>
            <a:r>
              <a:rPr lang="en-US" b="1" dirty="0"/>
              <a:t>Common Use Cases</a:t>
            </a:r>
            <a:endParaRPr lang="en-SG" dirty="0"/>
          </a:p>
        </p:txBody>
      </p:sp>
      <p:sp>
        <p:nvSpPr>
          <p:cNvPr id="3" name="Content Placeholder 2">
            <a:extLst>
              <a:ext uri="{FF2B5EF4-FFF2-40B4-BE49-F238E27FC236}">
                <a16:creationId xmlns:a16="http://schemas.microsoft.com/office/drawing/2014/main" id="{9AE0466B-2F14-8A20-AF40-C1E95F5F8268}"/>
              </a:ext>
            </a:extLst>
          </p:cNvPr>
          <p:cNvSpPr>
            <a:spLocks noGrp="1"/>
          </p:cNvSpPr>
          <p:nvPr>
            <p:ph idx="1"/>
          </p:nvPr>
        </p:nvSpPr>
        <p:spPr/>
        <p:txBody>
          <a:bodyPr/>
          <a:lstStyle/>
          <a:p>
            <a:r>
              <a:rPr lang="en-US" dirty="0"/>
              <a:t>Inspecting unfamiliar libraries</a:t>
            </a:r>
          </a:p>
          <a:p>
            <a:r>
              <a:rPr lang="en-US" dirty="0"/>
              <a:t>Debugging production objects</a:t>
            </a:r>
          </a:p>
          <a:p>
            <a:r>
              <a:rPr lang="en-US" dirty="0"/>
              <a:t>Rapid onboarding to legacy code</a:t>
            </a:r>
          </a:p>
          <a:p>
            <a:r>
              <a:rPr lang="en-US" dirty="0"/>
              <a:t>Exploring APIs interactively</a:t>
            </a:r>
          </a:p>
          <a:p>
            <a:endParaRPr lang="en-SG" dirty="0"/>
          </a:p>
        </p:txBody>
      </p:sp>
    </p:spTree>
    <p:extLst>
      <p:ext uri="{BB962C8B-B14F-4D97-AF65-F5344CB8AC3E}">
        <p14:creationId xmlns:p14="http://schemas.microsoft.com/office/powerpoint/2010/main" val="421254863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FAAB8-47FD-0572-9245-8FD00A258AF4}"/>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2E307097-0A3B-B606-24EF-CEB3027801F8}"/>
              </a:ext>
            </a:extLst>
          </p:cNvPr>
          <p:cNvSpPr>
            <a:spLocks noGrp="1"/>
          </p:cNvSpPr>
          <p:nvPr>
            <p:ph idx="1"/>
          </p:nvPr>
        </p:nvSpPr>
        <p:spPr/>
        <p:txBody>
          <a:bodyPr/>
          <a:lstStyle/>
          <a:p>
            <a:r>
              <a:rPr lang="en-US" dirty="0"/>
              <a:t>Start with </a:t>
            </a:r>
            <a:r>
              <a:rPr lang="en-US" dirty="0" err="1"/>
              <a:t>dir</a:t>
            </a:r>
            <a:r>
              <a:rPr lang="en-US" dirty="0"/>
              <a:t>() to discover</a:t>
            </a:r>
          </a:p>
          <a:p>
            <a:r>
              <a:rPr lang="en-US" dirty="0"/>
              <a:t>Use help() to understand</a:t>
            </a:r>
          </a:p>
          <a:p>
            <a:r>
              <a:rPr lang="en-US" dirty="0"/>
              <a:t>Prefer built-ins over custom helpers</a:t>
            </a:r>
          </a:p>
          <a:p>
            <a:r>
              <a:rPr lang="en-US" dirty="0"/>
              <a:t>Read docstrings in the REPL</a:t>
            </a:r>
          </a:p>
          <a:p>
            <a:endParaRPr lang="en-SG" dirty="0"/>
          </a:p>
        </p:txBody>
      </p:sp>
    </p:spTree>
    <p:extLst>
      <p:ext uri="{BB962C8B-B14F-4D97-AF65-F5344CB8AC3E}">
        <p14:creationId xmlns:p14="http://schemas.microsoft.com/office/powerpoint/2010/main" val="1061052355"/>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9907-8CFF-8E79-6094-D0DB91464E9B}"/>
              </a:ext>
            </a:extLst>
          </p:cNvPr>
          <p:cNvSpPr>
            <a:spLocks noGrp="1"/>
          </p:cNvSpPr>
          <p:nvPr>
            <p:ph type="title"/>
          </p:nvPr>
        </p:nvSpPr>
        <p:spPr/>
        <p:txBody>
          <a:bodyPr>
            <a:normAutofit/>
          </a:bodyPr>
          <a:lstStyle/>
          <a:p>
            <a:r>
              <a:rPr lang="en-US" b="1" dirty="0"/>
              <a:t>Key Takeaways</a:t>
            </a:r>
            <a:endParaRPr lang="en-SG" dirty="0"/>
          </a:p>
        </p:txBody>
      </p:sp>
      <p:sp>
        <p:nvSpPr>
          <p:cNvPr id="3" name="Content Placeholder 2">
            <a:extLst>
              <a:ext uri="{FF2B5EF4-FFF2-40B4-BE49-F238E27FC236}">
                <a16:creationId xmlns:a16="http://schemas.microsoft.com/office/drawing/2014/main" id="{6915035D-853A-DAE8-DE7F-801CC972AE5B}"/>
              </a:ext>
            </a:extLst>
          </p:cNvPr>
          <p:cNvSpPr>
            <a:spLocks noGrp="1"/>
          </p:cNvSpPr>
          <p:nvPr>
            <p:ph idx="1"/>
          </p:nvPr>
        </p:nvSpPr>
        <p:spPr>
          <a:xfrm>
            <a:off x="457200" y="1600200"/>
            <a:ext cx="10134600" cy="4525963"/>
          </a:xfrm>
        </p:spPr>
        <p:txBody>
          <a:bodyPr/>
          <a:lstStyle/>
          <a:p>
            <a:r>
              <a:rPr lang="en-US" dirty="0"/>
              <a:t>Python is introspectable by design</a:t>
            </a:r>
          </a:p>
          <a:p>
            <a:r>
              <a:rPr lang="en-US" dirty="0" err="1"/>
              <a:t>dir</a:t>
            </a:r>
            <a:r>
              <a:rPr lang="en-US" dirty="0"/>
              <a:t>() shows </a:t>
            </a:r>
            <a:r>
              <a:rPr lang="en-US" b="1" dirty="0"/>
              <a:t>what exists</a:t>
            </a:r>
            <a:endParaRPr lang="en-US" dirty="0"/>
          </a:p>
          <a:p>
            <a:r>
              <a:rPr lang="en-US" dirty="0"/>
              <a:t>help() explains </a:t>
            </a:r>
            <a:r>
              <a:rPr lang="en-US" b="1" dirty="0"/>
              <a:t>how to use it</a:t>
            </a:r>
            <a:endParaRPr lang="en-US" dirty="0"/>
          </a:p>
          <a:p>
            <a:r>
              <a:rPr lang="en-US" dirty="0" err="1"/>
              <a:t>builtins</a:t>
            </a:r>
            <a:r>
              <a:rPr lang="en-US" dirty="0"/>
              <a:t> prevents reinventing the wheel</a:t>
            </a:r>
          </a:p>
          <a:p>
            <a:endParaRPr lang="en-US" dirty="0"/>
          </a:p>
          <a:p>
            <a:pPr marL="0" indent="0">
              <a:buNone/>
            </a:pPr>
            <a:r>
              <a:rPr lang="en-US" b="1" dirty="0"/>
              <a:t>Final mental model: </a:t>
            </a:r>
            <a:r>
              <a:rPr lang="en-US" i="1" dirty="0"/>
              <a:t>Explore first. Code second.</a:t>
            </a:r>
            <a:endParaRPr lang="en-US" dirty="0"/>
          </a:p>
          <a:p>
            <a:endParaRPr lang="en-SG" dirty="0"/>
          </a:p>
        </p:txBody>
      </p:sp>
    </p:spTree>
    <p:extLst>
      <p:ext uri="{BB962C8B-B14F-4D97-AF65-F5344CB8AC3E}">
        <p14:creationId xmlns:p14="http://schemas.microsoft.com/office/powerpoint/2010/main" val="387740856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2 — Intermediate</a:t>
            </a:r>
          </a:p>
        </p:txBody>
      </p:sp>
      <p:sp>
        <p:nvSpPr>
          <p:cNvPr id="3" name="Content Placeholder 2"/>
          <p:cNvSpPr>
            <a:spLocks noGrp="1"/>
          </p:cNvSpPr>
          <p:nvPr>
            <p:ph idx="1"/>
          </p:nvPr>
        </p:nvSpPr>
        <p:spPr/>
        <p:txBody>
          <a:bodyPr/>
          <a:lstStyle/>
          <a:p>
            <a:r>
              <a:t>Structure larger programs</a:t>
            </a:r>
          </a:p>
          <a:p>
            <a:r>
              <a:t>Learn Object-Oriented Programming</a:t>
            </a:r>
          </a:p>
          <a:p>
            <a:r>
              <a:t>Work with files and modules</a:t>
            </a:r>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CEAEE-404F-4D18-6FC3-EDD66F80D232}"/>
              </a:ext>
            </a:extLst>
          </p:cNvPr>
          <p:cNvSpPr>
            <a:spLocks noGrp="1"/>
          </p:cNvSpPr>
          <p:nvPr>
            <p:ph type="title"/>
          </p:nvPr>
        </p:nvSpPr>
        <p:spPr/>
        <p:txBody>
          <a:bodyPr>
            <a:normAutofit/>
          </a:bodyPr>
          <a:lstStyle/>
          <a:p>
            <a:r>
              <a:rPr lang="en-US" dirty="0"/>
              <a:t>Clean Code Structure</a:t>
            </a:r>
            <a:endParaRPr lang="en-SG" dirty="0"/>
          </a:p>
        </p:txBody>
      </p:sp>
      <p:sp>
        <p:nvSpPr>
          <p:cNvPr id="3" name="Content Placeholder 2">
            <a:extLst>
              <a:ext uri="{FF2B5EF4-FFF2-40B4-BE49-F238E27FC236}">
                <a16:creationId xmlns:a16="http://schemas.microsoft.com/office/drawing/2014/main" id="{1BC9A6E3-0BC4-AA0B-5F1A-1664832EE296}"/>
              </a:ext>
            </a:extLst>
          </p:cNvPr>
          <p:cNvSpPr>
            <a:spLocks noGrp="1"/>
          </p:cNvSpPr>
          <p:nvPr>
            <p:ph idx="1"/>
          </p:nvPr>
        </p:nvSpPr>
        <p:spPr/>
        <p:txBody>
          <a:bodyPr/>
          <a:lstStyle/>
          <a:p>
            <a:r>
              <a:rPr lang="en-US" dirty="0"/>
              <a:t>One responsibility per module</a:t>
            </a:r>
          </a:p>
          <a:p>
            <a:r>
              <a:rPr lang="en-US" dirty="0"/>
              <a:t>Explicit imports define dependencies</a:t>
            </a:r>
          </a:p>
          <a:p>
            <a:r>
              <a:rPr lang="en-US" dirty="0"/>
              <a:t>Predictable layouts improve onboarding</a:t>
            </a:r>
          </a:p>
          <a:p>
            <a:endParaRPr lang="en-SG" dirty="0"/>
          </a:p>
        </p:txBody>
      </p:sp>
    </p:spTree>
    <p:extLst>
      <p:ext uri="{BB962C8B-B14F-4D97-AF65-F5344CB8AC3E}">
        <p14:creationId xmlns:p14="http://schemas.microsoft.com/office/powerpoint/2010/main" val="332297963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66659-3C48-D948-B9B2-8C36B3DA88DE}"/>
              </a:ext>
            </a:extLst>
          </p:cNvPr>
          <p:cNvSpPr>
            <a:spLocks noGrp="1"/>
          </p:cNvSpPr>
          <p:nvPr>
            <p:ph type="title"/>
          </p:nvPr>
        </p:nvSpPr>
        <p:spPr>
          <a:xfrm>
            <a:off x="457200" y="274638"/>
            <a:ext cx="10934700" cy="1143000"/>
          </a:xfrm>
        </p:spPr>
        <p:txBody>
          <a:bodyPr/>
          <a:lstStyle/>
          <a:p>
            <a:r>
              <a:rPr lang="en-US" b="1" dirty="0"/>
              <a:t>Object-Oriented Programming (OOP)</a:t>
            </a:r>
            <a:endParaRPr lang="en-SG" dirty="0"/>
          </a:p>
        </p:txBody>
      </p:sp>
      <p:sp>
        <p:nvSpPr>
          <p:cNvPr id="3" name="Content Placeholder 2">
            <a:extLst>
              <a:ext uri="{FF2B5EF4-FFF2-40B4-BE49-F238E27FC236}">
                <a16:creationId xmlns:a16="http://schemas.microsoft.com/office/drawing/2014/main" id="{9C1AF83F-AE13-3867-9524-790EDA45CD25}"/>
              </a:ext>
            </a:extLst>
          </p:cNvPr>
          <p:cNvSpPr>
            <a:spLocks noGrp="1"/>
          </p:cNvSpPr>
          <p:nvPr>
            <p:ph idx="1"/>
          </p:nvPr>
        </p:nvSpPr>
        <p:spPr>
          <a:xfrm>
            <a:off x="457200" y="1600200"/>
            <a:ext cx="10934700" cy="4525963"/>
          </a:xfrm>
        </p:spPr>
        <p:txBody>
          <a:bodyPr>
            <a:normAutofit fontScale="92500" lnSpcReduction="10000"/>
          </a:bodyPr>
          <a:lstStyle/>
          <a:p>
            <a:r>
              <a:rPr lang="en-US" dirty="0"/>
              <a:t>Python uses a class-based system to organize code into reusable objects.</a:t>
            </a:r>
          </a:p>
          <a:p>
            <a:r>
              <a:rPr lang="en-US" b="1" dirty="0"/>
              <a:t>Classes and Instances:</a:t>
            </a:r>
            <a:r>
              <a:rPr lang="en-US" dirty="0"/>
              <a:t> Use __</a:t>
            </a:r>
            <a:r>
              <a:rPr lang="en-US" dirty="0" err="1"/>
              <a:t>init</a:t>
            </a:r>
            <a:r>
              <a:rPr lang="en-US" dirty="0"/>
              <a:t>__ (the constructor) to initialize state.</a:t>
            </a:r>
          </a:p>
          <a:p>
            <a:r>
              <a:rPr lang="en-US" b="1" dirty="0"/>
              <a:t>The self Parameter:</a:t>
            </a:r>
            <a:r>
              <a:rPr lang="en-US" dirty="0"/>
              <a:t> Represents the specific instance of the object.</a:t>
            </a:r>
          </a:p>
          <a:p>
            <a:r>
              <a:rPr lang="en-US" b="1" dirty="0"/>
              <a:t>Inheritance:</a:t>
            </a:r>
            <a:r>
              <a:rPr lang="en-US" dirty="0"/>
              <a:t> Create a hierarchy where child classes inherit methods from parents.</a:t>
            </a:r>
          </a:p>
          <a:p>
            <a:r>
              <a:rPr lang="en-US" b="1" dirty="0"/>
              <a:t>Dunder Methods:</a:t>
            </a:r>
            <a:r>
              <a:rPr lang="en-US" dirty="0"/>
              <a:t> (Double Under) Like __str__ for human-readable output or __</a:t>
            </a:r>
            <a:r>
              <a:rPr lang="en-US" dirty="0" err="1"/>
              <a:t>len</a:t>
            </a:r>
            <a:r>
              <a:rPr lang="en-US" dirty="0"/>
              <a:t>__ to define behavior for the </a:t>
            </a:r>
            <a:r>
              <a:rPr lang="en-US" dirty="0" err="1"/>
              <a:t>len</a:t>
            </a:r>
            <a:r>
              <a:rPr lang="en-US" dirty="0"/>
              <a:t>() function.</a:t>
            </a:r>
          </a:p>
          <a:p>
            <a:endParaRPr lang="en-SG" dirty="0"/>
          </a:p>
        </p:txBody>
      </p:sp>
    </p:spTree>
    <p:extLst>
      <p:ext uri="{BB962C8B-B14F-4D97-AF65-F5344CB8AC3E}">
        <p14:creationId xmlns:p14="http://schemas.microsoft.com/office/powerpoint/2010/main" val="758894129"/>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Why Object-Oriented Programming?</a:t>
            </a:r>
          </a:p>
        </p:txBody>
      </p:sp>
      <p:sp>
        <p:nvSpPr>
          <p:cNvPr id="3" name="Content Placeholder 2"/>
          <p:cNvSpPr>
            <a:spLocks noGrp="1"/>
          </p:cNvSpPr>
          <p:nvPr>
            <p:ph idx="1"/>
          </p:nvPr>
        </p:nvSpPr>
        <p:spPr/>
        <p:txBody>
          <a:bodyPr/>
          <a:lstStyle/>
          <a:p>
            <a:r>
              <a:t>Group data and behavior together</a:t>
            </a:r>
          </a:p>
          <a:p>
            <a:r>
              <a:t>Model real-world concepts</a:t>
            </a:r>
          </a:p>
          <a:p>
            <a:r>
              <a:t>Improve code organization</a:t>
            </a:r>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13963-F84B-8721-C169-C6DC9E8DF459}"/>
              </a:ext>
            </a:extLst>
          </p:cNvPr>
          <p:cNvSpPr>
            <a:spLocks noGrp="1"/>
          </p:cNvSpPr>
          <p:nvPr>
            <p:ph type="title"/>
          </p:nvPr>
        </p:nvSpPr>
        <p:spPr/>
        <p:txBody>
          <a:bodyPr>
            <a:normAutofit/>
          </a:bodyPr>
          <a:lstStyle/>
          <a:p>
            <a:r>
              <a:rPr lang="en-US" dirty="0"/>
              <a:t>Pragmatic OOP</a:t>
            </a:r>
            <a:endParaRPr lang="en-SG" dirty="0"/>
          </a:p>
        </p:txBody>
      </p:sp>
      <p:sp>
        <p:nvSpPr>
          <p:cNvPr id="3" name="Content Placeholder 2">
            <a:extLst>
              <a:ext uri="{FF2B5EF4-FFF2-40B4-BE49-F238E27FC236}">
                <a16:creationId xmlns:a16="http://schemas.microsoft.com/office/drawing/2014/main" id="{27276AE4-CE40-F6BE-1A83-B458D2396F4D}"/>
              </a:ext>
            </a:extLst>
          </p:cNvPr>
          <p:cNvSpPr>
            <a:spLocks noGrp="1"/>
          </p:cNvSpPr>
          <p:nvPr>
            <p:ph idx="1"/>
          </p:nvPr>
        </p:nvSpPr>
        <p:spPr/>
        <p:txBody>
          <a:bodyPr/>
          <a:lstStyle/>
          <a:p>
            <a:r>
              <a:rPr lang="en-US" dirty="0"/>
              <a:t>Classes group </a:t>
            </a:r>
            <a:r>
              <a:rPr lang="en-US" b="1" dirty="0"/>
              <a:t>data + behavior</a:t>
            </a:r>
            <a:endParaRPr lang="en-US" dirty="0"/>
          </a:p>
          <a:p>
            <a:r>
              <a:rPr lang="en-US" dirty="0"/>
              <a:t>Encapsulation protects invariants</a:t>
            </a:r>
          </a:p>
          <a:p>
            <a:r>
              <a:rPr lang="en-US" dirty="0"/>
              <a:t>Inheritance only when behavior truly differs</a:t>
            </a:r>
          </a:p>
          <a:p>
            <a:pPr marL="0" indent="0">
              <a:buNone/>
            </a:pPr>
            <a:endParaRPr lang="en-US" b="1" dirty="0"/>
          </a:p>
          <a:p>
            <a:pPr marL="0" indent="0">
              <a:buNone/>
            </a:pPr>
            <a:r>
              <a:rPr lang="en-US" b="1" dirty="0"/>
              <a:t>Avoid</a:t>
            </a:r>
            <a:r>
              <a:rPr lang="en-US" dirty="0"/>
              <a:t> inheritance for convenience</a:t>
            </a:r>
          </a:p>
          <a:p>
            <a:endParaRPr lang="en-SG" dirty="0"/>
          </a:p>
        </p:txBody>
      </p:sp>
    </p:spTree>
    <p:extLst>
      <p:ext uri="{BB962C8B-B14F-4D97-AF65-F5344CB8AC3E}">
        <p14:creationId xmlns:p14="http://schemas.microsoft.com/office/powerpoint/2010/main" val="403854991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Defining a Class</a:t>
            </a:r>
          </a:p>
        </p:txBody>
      </p:sp>
      <p:sp>
        <p:nvSpPr>
          <p:cNvPr id="3" name="Content Placeholder 2"/>
          <p:cNvSpPr>
            <a:spLocks noGrp="1"/>
          </p:cNvSpPr>
          <p:nvPr>
            <p:ph idx="1"/>
          </p:nvPr>
        </p:nvSpPr>
        <p:spPr/>
        <p:txBody>
          <a:bodyPr/>
          <a:lstStyle/>
          <a:p>
            <a:r>
              <a:t>Classes define blueprints for objects</a:t>
            </a:r>
          </a:p>
          <a:p>
            <a:r>
              <a:t>__init__ initializes instance state</a:t>
            </a:r>
          </a:p>
          <a:p>
            <a:r>
              <a:t>self refers to the current object</a:t>
            </a:r>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Dog:</a:t>
            </a:r>
            <a:br>
              <a:rPr sz="2400" dirty="0"/>
            </a:br>
            <a:r>
              <a:rPr sz="2400" dirty="0"/>
              <a:t>    species = "Canis </a:t>
            </a:r>
            <a:r>
              <a:rPr sz="2400" dirty="0" err="1"/>
              <a:t>familiaris</a:t>
            </a:r>
            <a:r>
              <a:rPr sz="2400" dirty="0"/>
              <a:t>"</a:t>
            </a:r>
            <a:br>
              <a:rPr sz="2400" dirty="0"/>
            </a:br>
            <a:r>
              <a:rPr sz="2400" dirty="0"/>
              <a:t>    def __</a:t>
            </a:r>
            <a:r>
              <a:rPr sz="2400" dirty="0" err="1"/>
              <a:t>init</a:t>
            </a:r>
            <a:r>
              <a:rPr sz="2400" dirty="0"/>
              <a:t>__(self, name, age):</a:t>
            </a:r>
            <a:br>
              <a:rPr sz="2400" dirty="0"/>
            </a:br>
            <a:r>
              <a:rPr sz="2400" dirty="0"/>
              <a:t>        self.name, </a:t>
            </a:r>
            <a:r>
              <a:rPr sz="2400" dirty="0" err="1"/>
              <a:t>self.age</a:t>
            </a:r>
            <a:r>
              <a:rPr sz="2400" dirty="0"/>
              <a:t> = name, age</a:t>
            </a:r>
            <a:br>
              <a:rPr sz="2400" dirty="0"/>
            </a:br>
            <a:r>
              <a:rPr sz="2400" dirty="0"/>
              <a:t>    def __str__(self):</a:t>
            </a:r>
            <a:br>
              <a:rPr sz="2400" dirty="0"/>
            </a:br>
            <a:r>
              <a:rPr sz="2400" dirty="0"/>
              <a:t>        return f"{self.name} is {</a:t>
            </a:r>
            <a:r>
              <a:rPr sz="2400" dirty="0" err="1"/>
              <a:t>self.age</a:t>
            </a:r>
            <a:r>
              <a:rPr sz="2400" dirty="0"/>
              <a:t>}"</a:t>
            </a:r>
            <a:br>
              <a:rPr sz="2400" dirty="0"/>
            </a:br>
            <a:r>
              <a:rPr sz="2400" dirty="0"/>
              <a:t>    def speak(self, sound="Woof!"):</a:t>
            </a:r>
            <a:br>
              <a:rPr sz="2400" dirty="0"/>
            </a:br>
            <a:r>
              <a:rPr sz="2400" dirty="0"/>
              <a:t>        return f"{self.name} says {sound}"</a:t>
            </a:r>
            <a:br>
              <a:rPr sz="2400" dirty="0"/>
            </a:br>
            <a:br>
              <a:rPr sz="2400" dirty="0"/>
            </a:br>
            <a:r>
              <a:rPr sz="2400" dirty="0"/>
              <a:t>d = Dog("Buddy", 4)</a:t>
            </a:r>
            <a:br>
              <a:rPr sz="2400" dirty="0"/>
            </a:br>
            <a:r>
              <a:rPr sz="2400" dirty="0"/>
              <a:t>print(d)                    # Buddy is 4</a:t>
            </a:r>
            <a:br>
              <a:rPr sz="2400" dirty="0"/>
            </a:br>
            <a:r>
              <a:rPr sz="2400" dirty="0"/>
              <a:t>print(</a:t>
            </a:r>
            <a:r>
              <a:rPr sz="2400" dirty="0" err="1"/>
              <a:t>d.speak</a:t>
            </a:r>
            <a:r>
              <a:rPr sz="2400" dirty="0"/>
              <a:t>("Ruff"))</a:t>
            </a:r>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a:t>
            </a:r>
          </a:p>
        </p:txBody>
      </p:sp>
      <p:sp>
        <p:nvSpPr>
          <p:cNvPr id="3" name="Content Placeholder 2"/>
          <p:cNvSpPr>
            <a:spLocks noGrp="1"/>
          </p:cNvSpPr>
          <p:nvPr>
            <p:ph idx="1"/>
          </p:nvPr>
        </p:nvSpPr>
        <p:spPr/>
        <p:txBody>
          <a:bodyPr/>
          <a:lstStyle/>
          <a:p>
            <a:r>
              <a:t>Hide internal implementation details</a:t>
            </a:r>
          </a:p>
          <a:p>
            <a:r>
              <a:t>Use methods and properties</a:t>
            </a:r>
          </a:p>
          <a:p>
            <a:r>
              <a:t>Private attributes use name mangling</a:t>
            </a:r>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class </a:t>
            </a:r>
            <a:r>
              <a:rPr sz="2000" dirty="0" err="1"/>
              <a:t>BankAccount</a:t>
            </a:r>
            <a:r>
              <a:rPr sz="2000" dirty="0"/>
              <a:t>:</a:t>
            </a:r>
            <a:br>
              <a:rPr sz="2000" dirty="0"/>
            </a:br>
            <a:r>
              <a:rPr sz="2000" dirty="0"/>
              <a:t>    def __</a:t>
            </a:r>
            <a:r>
              <a:rPr sz="2000" dirty="0" err="1"/>
              <a:t>init</a:t>
            </a:r>
            <a:r>
              <a:rPr sz="2000" dirty="0"/>
              <a:t>__(self, owner, balance=0):</a:t>
            </a:r>
            <a:br>
              <a:rPr sz="2000" dirty="0"/>
            </a:br>
            <a:r>
              <a:rPr sz="2000" dirty="0"/>
              <a:t>        </a:t>
            </a:r>
            <a:r>
              <a:rPr sz="2000" dirty="0" err="1"/>
              <a:t>self.owner</a:t>
            </a:r>
            <a:r>
              <a:rPr sz="2000" dirty="0"/>
              <a:t> = owner</a:t>
            </a:r>
            <a:br>
              <a:rPr sz="2000" dirty="0"/>
            </a:br>
            <a:r>
              <a:rPr sz="2000" dirty="0"/>
              <a:t>        </a:t>
            </a:r>
            <a:r>
              <a:rPr sz="2000" dirty="0" err="1"/>
              <a:t>self.__balance</a:t>
            </a:r>
            <a:r>
              <a:rPr sz="2000" dirty="0"/>
              <a:t> = balance      # name mangled</a:t>
            </a:r>
            <a:br>
              <a:rPr sz="2000" dirty="0"/>
            </a:br>
            <a:r>
              <a:rPr sz="2000" dirty="0"/>
              <a:t>    def deposit(self, amount):</a:t>
            </a:r>
            <a:br>
              <a:rPr sz="2000" dirty="0"/>
            </a:br>
            <a:r>
              <a:rPr sz="2000" dirty="0"/>
              <a:t>        </a:t>
            </a:r>
            <a:r>
              <a:rPr sz="2000" dirty="0" err="1"/>
              <a:t>self.__balance</a:t>
            </a:r>
            <a:r>
              <a:rPr sz="2000" dirty="0"/>
              <a:t> += amount</a:t>
            </a:r>
            <a:br>
              <a:rPr sz="2000" dirty="0"/>
            </a:br>
            <a:r>
              <a:rPr sz="2000" dirty="0"/>
              <a:t>    @property</a:t>
            </a:r>
            <a:br>
              <a:rPr sz="2000" dirty="0"/>
            </a:br>
            <a:r>
              <a:rPr sz="2000" dirty="0"/>
              <a:t>    def balance(self):</a:t>
            </a:r>
            <a:br>
              <a:rPr sz="2000" dirty="0"/>
            </a:br>
            <a:r>
              <a:rPr sz="2000" dirty="0"/>
              <a:t>        return </a:t>
            </a:r>
            <a:r>
              <a:rPr sz="2000" dirty="0" err="1"/>
              <a:t>self.__balance</a:t>
            </a:r>
            <a:br>
              <a:rPr sz="2000" dirty="0"/>
            </a:br>
            <a:br>
              <a:rPr sz="2000" dirty="0"/>
            </a:br>
            <a:r>
              <a:rPr sz="2000" dirty="0"/>
              <a:t>acct = </a:t>
            </a:r>
            <a:r>
              <a:rPr sz="2000" dirty="0" err="1"/>
              <a:t>BankAccount</a:t>
            </a:r>
            <a:r>
              <a:rPr sz="2000" dirty="0"/>
              <a:t>("Ada")</a:t>
            </a:r>
            <a:br>
              <a:rPr sz="2000" dirty="0"/>
            </a:br>
            <a:r>
              <a:rPr sz="2000" dirty="0" err="1"/>
              <a:t>acct.deposit</a:t>
            </a:r>
            <a:r>
              <a:rPr sz="2000" dirty="0"/>
              <a:t>(100)</a:t>
            </a:r>
            <a:br>
              <a:rPr sz="2000" dirty="0"/>
            </a:br>
            <a:r>
              <a:rPr sz="2000" dirty="0"/>
              <a:t>print(</a:t>
            </a:r>
            <a:r>
              <a:rPr sz="2000" dirty="0" err="1"/>
              <a:t>acct.balance</a:t>
            </a:r>
            <a:r>
              <a:rPr sz="2000" dirty="0"/>
              <a:t>)         # 100</a:t>
            </a: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FA812-9814-5FD7-241B-37ABADFBD616}"/>
              </a:ext>
            </a:extLst>
          </p:cNvPr>
          <p:cNvSpPr>
            <a:spLocks noGrp="1"/>
          </p:cNvSpPr>
          <p:nvPr>
            <p:ph type="title"/>
          </p:nvPr>
        </p:nvSpPr>
        <p:spPr/>
        <p:txBody>
          <a:bodyPr>
            <a:normAutofit/>
          </a:bodyPr>
          <a:lstStyle/>
          <a:p>
            <a:r>
              <a:rPr lang="en-US" b="1" dirty="0"/>
              <a:t>Encapsulation in Practice</a:t>
            </a:r>
            <a:endParaRPr lang="en-SG" dirty="0"/>
          </a:p>
        </p:txBody>
      </p:sp>
      <p:sp>
        <p:nvSpPr>
          <p:cNvPr id="3" name="Content Placeholder 2">
            <a:extLst>
              <a:ext uri="{FF2B5EF4-FFF2-40B4-BE49-F238E27FC236}">
                <a16:creationId xmlns:a16="http://schemas.microsoft.com/office/drawing/2014/main" id="{D5F50576-4BCA-B500-65B3-879C15A55617}"/>
              </a:ext>
            </a:extLst>
          </p:cNvPr>
          <p:cNvSpPr>
            <a:spLocks noGrp="1"/>
          </p:cNvSpPr>
          <p:nvPr>
            <p:ph idx="1"/>
          </p:nvPr>
        </p:nvSpPr>
        <p:spPr/>
        <p:txBody>
          <a:bodyPr/>
          <a:lstStyle/>
          <a:p>
            <a:r>
              <a:rPr lang="en-US" dirty="0"/>
              <a:t>Hide internals</a:t>
            </a:r>
          </a:p>
          <a:p>
            <a:r>
              <a:rPr lang="en-US" dirty="0"/>
              <a:t>Expose behavior via methods</a:t>
            </a:r>
          </a:p>
          <a:p>
            <a:r>
              <a:rPr lang="en-US" dirty="0"/>
              <a:t>Properties protect state</a:t>
            </a:r>
          </a:p>
          <a:p>
            <a:pPr marL="0" indent="0">
              <a:buNone/>
            </a:pPr>
            <a:endParaRPr lang="en-US" b="1" dirty="0"/>
          </a:p>
          <a:p>
            <a:pPr marL="0" indent="0">
              <a:buNone/>
            </a:pPr>
            <a:r>
              <a:rPr lang="en-US" b="1" dirty="0"/>
              <a:t>Goal:</a:t>
            </a:r>
            <a:r>
              <a:rPr lang="en-US" dirty="0"/>
              <a:t> prevent invalid states</a:t>
            </a:r>
          </a:p>
          <a:p>
            <a:endParaRPr lang="en-SG" dirty="0"/>
          </a:p>
        </p:txBody>
      </p:sp>
    </p:spTree>
    <p:extLst>
      <p:ext uri="{BB962C8B-B14F-4D97-AF65-F5344CB8AC3E}">
        <p14:creationId xmlns:p14="http://schemas.microsoft.com/office/powerpoint/2010/main" val="1272077701"/>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r>
              <a:t>Child classes extend parent classes</a:t>
            </a:r>
          </a:p>
          <a:p>
            <a:r>
              <a:t>Shared interfaces, different behavior</a:t>
            </a:r>
          </a:p>
          <a:p>
            <a:r>
              <a:t>Write flexible, reusable code</a:t>
            </a:r>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ACF13-CCAE-A2B6-3707-DDC2B3A33C24}"/>
              </a:ext>
            </a:extLst>
          </p:cNvPr>
          <p:cNvSpPr>
            <a:spLocks noGrp="1"/>
          </p:cNvSpPr>
          <p:nvPr>
            <p:ph type="title"/>
          </p:nvPr>
        </p:nvSpPr>
        <p:spPr/>
        <p:txBody>
          <a:bodyPr>
            <a:normAutofit/>
          </a:bodyPr>
          <a:lstStyle/>
          <a:p>
            <a:r>
              <a:rPr lang="en-US" b="1" dirty="0"/>
              <a:t>Polymorphism</a:t>
            </a:r>
            <a:endParaRPr lang="en-SG" dirty="0"/>
          </a:p>
        </p:txBody>
      </p:sp>
      <p:sp>
        <p:nvSpPr>
          <p:cNvPr id="3" name="Content Placeholder 2">
            <a:extLst>
              <a:ext uri="{FF2B5EF4-FFF2-40B4-BE49-F238E27FC236}">
                <a16:creationId xmlns:a16="http://schemas.microsoft.com/office/drawing/2014/main" id="{92925A9E-78D8-4E03-2761-A719E924B089}"/>
              </a:ext>
            </a:extLst>
          </p:cNvPr>
          <p:cNvSpPr>
            <a:spLocks noGrp="1"/>
          </p:cNvSpPr>
          <p:nvPr>
            <p:ph idx="1"/>
          </p:nvPr>
        </p:nvSpPr>
        <p:spPr/>
        <p:txBody>
          <a:bodyPr/>
          <a:lstStyle/>
          <a:p>
            <a:r>
              <a:rPr lang="en-US" dirty="0"/>
              <a:t>Same interface, different behavior</a:t>
            </a:r>
          </a:p>
          <a:p>
            <a:r>
              <a:rPr lang="en-US" dirty="0"/>
              <a:t>Enables extensibility without modification</a:t>
            </a:r>
          </a:p>
          <a:p>
            <a:r>
              <a:rPr lang="en-US" dirty="0"/>
              <a:t>Used heavily in frameworks</a:t>
            </a:r>
          </a:p>
          <a:p>
            <a:endParaRPr lang="en-SG" dirty="0"/>
          </a:p>
        </p:txBody>
      </p:sp>
    </p:spTree>
    <p:extLst>
      <p:ext uri="{BB962C8B-B14F-4D97-AF65-F5344CB8AC3E}">
        <p14:creationId xmlns:p14="http://schemas.microsoft.com/office/powerpoint/2010/main" val="3008339111"/>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Inheritance &amp; Polymorphism</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Animal:</a:t>
            </a:r>
            <a:br>
              <a:rPr sz="2400" dirty="0"/>
            </a:br>
            <a:r>
              <a:rPr sz="2400" dirty="0"/>
              <a:t>    def speak(self): raise </a:t>
            </a:r>
            <a:r>
              <a:rPr sz="2400" dirty="0" err="1"/>
              <a:t>NotImplementedError</a:t>
            </a:r>
            <a:br>
              <a:rPr sz="2400" dirty="0"/>
            </a:br>
            <a:r>
              <a:rPr sz="2400" dirty="0"/>
              <a:t>class Cat(Animal):</a:t>
            </a:r>
            <a:br>
              <a:rPr sz="2400" dirty="0"/>
            </a:br>
            <a:r>
              <a:rPr sz="2400" dirty="0"/>
              <a:t>    def speak(self): return "Meow"</a:t>
            </a:r>
            <a:br>
              <a:rPr sz="2400" dirty="0"/>
            </a:br>
            <a:r>
              <a:rPr sz="2400" dirty="0"/>
              <a:t>class Cow(Animal):</a:t>
            </a:r>
            <a:br>
              <a:rPr sz="2400" dirty="0"/>
            </a:br>
            <a:r>
              <a:rPr sz="2400" dirty="0"/>
              <a:t>    def speak(self): return "Moo"</a:t>
            </a:r>
            <a:br>
              <a:rPr sz="2400" dirty="0"/>
            </a:br>
            <a:br>
              <a:rPr sz="2400" dirty="0"/>
            </a:br>
            <a:r>
              <a:rPr sz="2400" dirty="0"/>
              <a:t>for creature in [Cat(), Cow()]:</a:t>
            </a:r>
            <a:br>
              <a:rPr sz="2400" dirty="0"/>
            </a:br>
            <a:r>
              <a:rPr sz="2400" dirty="0"/>
              <a:t>    print(</a:t>
            </a:r>
            <a:r>
              <a:rPr sz="2400" dirty="0" err="1"/>
              <a:t>creature.speak</a:t>
            </a:r>
            <a:r>
              <a:rPr sz="2400" dirty="0"/>
              <a:t>())</a:t>
            </a:r>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Person:</a:t>
            </a:r>
            <a:br>
              <a:rPr sz="1800" dirty="0"/>
            </a:br>
            <a:r>
              <a:rPr sz="1800" dirty="0"/>
              <a:t>    def __</a:t>
            </a:r>
            <a:r>
              <a:rPr sz="1800" dirty="0" err="1"/>
              <a:t>init</a:t>
            </a:r>
            <a:r>
              <a:rPr sz="1800" dirty="0"/>
              <a:t>__(self, name): self.name = name</a:t>
            </a:r>
            <a:br>
              <a:rPr sz="1800" dirty="0"/>
            </a:br>
            <a:r>
              <a:rPr sz="1800" dirty="0"/>
              <a:t>class Employee(Person):</a:t>
            </a:r>
            <a:br>
              <a:rPr sz="1800" dirty="0"/>
            </a:br>
            <a:r>
              <a:rPr sz="1800" dirty="0"/>
              <a:t>    def __</a:t>
            </a:r>
            <a:r>
              <a:rPr sz="1800" dirty="0" err="1"/>
              <a:t>init</a:t>
            </a:r>
            <a:r>
              <a:rPr sz="1800" dirty="0"/>
              <a:t>__(self, name, salary):</a:t>
            </a:r>
            <a:br>
              <a:rPr sz="1800" dirty="0"/>
            </a:br>
            <a:r>
              <a:rPr sz="1800" dirty="0"/>
              <a:t>        super().__</a:t>
            </a:r>
            <a:r>
              <a:rPr sz="1800" dirty="0" err="1"/>
              <a:t>init</a:t>
            </a:r>
            <a:r>
              <a:rPr sz="1800" dirty="0"/>
              <a:t>__(name); </a:t>
            </a:r>
            <a:r>
              <a:rPr sz="1800" dirty="0" err="1"/>
              <a:t>self.salary</a:t>
            </a:r>
            <a:r>
              <a:rPr sz="1800" dirty="0"/>
              <a:t> = salary</a:t>
            </a:r>
            <a:br>
              <a:rPr sz="1800" dirty="0"/>
            </a:br>
            <a:r>
              <a:rPr sz="1800" dirty="0"/>
              <a:t>class Manager(Employee):</a:t>
            </a:r>
            <a:br>
              <a:rPr sz="1800" dirty="0"/>
            </a:br>
            <a:r>
              <a:rPr sz="1800" dirty="0"/>
              <a:t>    def __</a:t>
            </a:r>
            <a:r>
              <a:rPr sz="1800" dirty="0" err="1"/>
              <a:t>init</a:t>
            </a:r>
            <a:r>
              <a:rPr sz="1800" dirty="0"/>
              <a:t>__(self, name, salary, level):</a:t>
            </a:r>
            <a:br>
              <a:rPr sz="1800" dirty="0"/>
            </a:br>
            <a:r>
              <a:rPr sz="1800" dirty="0"/>
              <a:t>        super().__</a:t>
            </a:r>
            <a:r>
              <a:rPr sz="1800" dirty="0" err="1"/>
              <a:t>init</a:t>
            </a:r>
            <a:r>
              <a:rPr sz="1800" dirty="0"/>
              <a:t>__(name, salary); </a:t>
            </a:r>
            <a:r>
              <a:rPr sz="1800" dirty="0" err="1"/>
              <a:t>self.level</a:t>
            </a:r>
            <a:r>
              <a:rPr sz="1800" dirty="0"/>
              <a:t> = level</a:t>
            </a:r>
            <a:br>
              <a:rPr sz="1800" dirty="0"/>
            </a:br>
            <a:br>
              <a:rPr sz="1800" dirty="0"/>
            </a:br>
            <a:r>
              <a:rPr sz="1800" dirty="0"/>
              <a:t>m = Manager("Grace", 120_000, "L3")</a:t>
            </a:r>
            <a:br>
              <a:rPr sz="1800" dirty="0"/>
            </a:br>
            <a:r>
              <a:rPr sz="1800" dirty="0"/>
              <a:t>print(m.name, </a:t>
            </a:r>
            <a:r>
              <a:rPr sz="1800" dirty="0" err="1"/>
              <a:t>m.salary</a:t>
            </a:r>
            <a:r>
              <a:rPr sz="1800" dirty="0"/>
              <a:t>, </a:t>
            </a:r>
            <a:r>
              <a:rPr sz="1800" dirty="0" err="1"/>
              <a:t>m.level</a:t>
            </a:r>
            <a:r>
              <a:rPr sz="1800" dirty="0"/>
              <a:t>)</a:t>
            </a:r>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5276"/>
            <a:ext cx="8229600" cy="1143000"/>
          </a:xfrm>
        </p:spPr>
        <p:txBody>
          <a:bodyPr/>
          <a:lstStyle/>
          <a:p>
            <a:r>
              <a:rPr lang="en-US" dirty="0"/>
              <a:t>Dunder Methods (When Needed)</a:t>
            </a:r>
          </a:p>
        </p:txBody>
      </p:sp>
      <p:sp>
        <p:nvSpPr>
          <p:cNvPr id="3" name="Content Placeholder 2"/>
          <p:cNvSpPr>
            <a:spLocks noGrp="1"/>
          </p:cNvSpPr>
          <p:nvPr>
            <p:ph idx="1"/>
          </p:nvPr>
        </p:nvSpPr>
        <p:spPr/>
        <p:txBody>
          <a:bodyPr/>
          <a:lstStyle/>
          <a:p>
            <a:r>
              <a:rPr lang="en-US" dirty="0"/>
              <a:t>__str__, __</a:t>
            </a:r>
            <a:r>
              <a:rPr lang="en-US" dirty="0" err="1"/>
              <a:t>repr</a:t>
            </a:r>
            <a:r>
              <a:rPr lang="en-US" dirty="0"/>
              <a:t>__ → readability</a:t>
            </a:r>
          </a:p>
          <a:p>
            <a:r>
              <a:rPr lang="en-US" dirty="0"/>
              <a:t>__add__, __</a:t>
            </a:r>
            <a:r>
              <a:rPr lang="en-US" dirty="0" err="1"/>
              <a:t>len</a:t>
            </a:r>
            <a:r>
              <a:rPr lang="en-US" dirty="0"/>
              <a:t>__ → Pythonic behavior</a:t>
            </a:r>
          </a:p>
          <a:p>
            <a:r>
              <a:rPr lang="en-US" dirty="0"/>
              <a:t>Use sparingly and intentionally</a:t>
            </a: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Vector:</a:t>
            </a:r>
            <a:br>
              <a:rPr sz="1800" dirty="0"/>
            </a:br>
            <a:r>
              <a:rPr sz="1800" dirty="0"/>
              <a:t>    def __</a:t>
            </a:r>
            <a:r>
              <a:rPr sz="1800" dirty="0" err="1"/>
              <a:t>init</a:t>
            </a:r>
            <a:r>
              <a:rPr sz="1800" dirty="0"/>
              <a:t>__(self, x, y): </a:t>
            </a:r>
            <a:r>
              <a:rPr sz="1800" dirty="0" err="1"/>
              <a:t>self.x</a:t>
            </a:r>
            <a:r>
              <a:rPr sz="1800" dirty="0"/>
              <a:t>, </a:t>
            </a:r>
            <a:r>
              <a:rPr sz="1800" dirty="0" err="1"/>
              <a:t>self.y</a:t>
            </a:r>
            <a:r>
              <a:rPr sz="1800" dirty="0"/>
              <a:t> = x, y</a:t>
            </a:r>
            <a:br>
              <a:rPr sz="1800" dirty="0"/>
            </a:br>
            <a:r>
              <a:rPr sz="1800" dirty="0"/>
              <a:t>    def __add__(self, other):</a:t>
            </a:r>
            <a:br>
              <a:rPr sz="1800" dirty="0"/>
            </a:br>
            <a:r>
              <a:rPr sz="1800" dirty="0"/>
              <a:t>        return Vector(</a:t>
            </a:r>
            <a:r>
              <a:rPr sz="1800" dirty="0" err="1"/>
              <a:t>self.x</a:t>
            </a:r>
            <a:r>
              <a:rPr sz="1800" dirty="0"/>
              <a:t> + </a:t>
            </a:r>
            <a:r>
              <a:rPr sz="1800" dirty="0" err="1"/>
              <a:t>other.x</a:t>
            </a:r>
            <a:r>
              <a:rPr sz="1800" dirty="0"/>
              <a:t>, </a:t>
            </a:r>
            <a:r>
              <a:rPr sz="1800" dirty="0" err="1"/>
              <a:t>self.y</a:t>
            </a:r>
            <a:r>
              <a:rPr sz="1800" dirty="0"/>
              <a:t> + </a:t>
            </a:r>
            <a:r>
              <a:rPr sz="1800" dirty="0" err="1"/>
              <a:t>other.y</a:t>
            </a:r>
            <a:r>
              <a:rPr sz="1800" dirty="0"/>
              <a:t>)</a:t>
            </a:r>
            <a:br>
              <a:rPr sz="1800" dirty="0"/>
            </a:br>
            <a:r>
              <a:rPr sz="1800" dirty="0"/>
              <a:t>    def __</a:t>
            </a:r>
            <a:r>
              <a:rPr sz="1800" dirty="0" err="1"/>
              <a:t>mul</a:t>
            </a:r>
            <a:r>
              <a:rPr sz="1800" dirty="0"/>
              <a:t>__(self, scalar):</a:t>
            </a:r>
            <a:br>
              <a:rPr sz="1800" dirty="0"/>
            </a:br>
            <a:r>
              <a:rPr sz="1800" dirty="0"/>
              <a:t>        return Vector(</a:t>
            </a:r>
            <a:r>
              <a:rPr sz="1800" dirty="0" err="1"/>
              <a:t>self.x</a:t>
            </a:r>
            <a:r>
              <a:rPr sz="1800" dirty="0"/>
              <a:t> * scalar, </a:t>
            </a:r>
            <a:r>
              <a:rPr sz="1800" dirty="0" err="1"/>
              <a:t>self.y</a:t>
            </a:r>
            <a:r>
              <a:rPr sz="1800" dirty="0"/>
              <a:t> * scalar)</a:t>
            </a:r>
            <a:br>
              <a:rPr sz="1800" dirty="0"/>
            </a:br>
            <a:r>
              <a:rPr sz="1800" dirty="0"/>
              <a:t>    def __</a:t>
            </a:r>
            <a:r>
              <a:rPr sz="1800" dirty="0" err="1"/>
              <a:t>repr</a:t>
            </a:r>
            <a:r>
              <a:rPr sz="1800" dirty="0"/>
              <a:t>__(self): return </a:t>
            </a:r>
            <a:r>
              <a:rPr sz="1800" dirty="0" err="1"/>
              <a:t>f"Vector</a:t>
            </a:r>
            <a:r>
              <a:rPr sz="1800" dirty="0"/>
              <a:t>({</a:t>
            </a:r>
            <a:r>
              <a:rPr sz="1800" dirty="0" err="1"/>
              <a:t>self.x</a:t>
            </a:r>
            <a:r>
              <a:rPr sz="1800" dirty="0"/>
              <a:t>}, {</a:t>
            </a:r>
            <a:r>
              <a:rPr sz="1800" dirty="0" err="1"/>
              <a:t>self.y</a:t>
            </a:r>
            <a:r>
              <a:rPr sz="1800" dirty="0"/>
              <a:t>})"</a:t>
            </a:r>
            <a:br>
              <a:rPr sz="1800" dirty="0"/>
            </a:br>
            <a:br>
              <a:rPr sz="1800" dirty="0"/>
            </a:br>
            <a:r>
              <a:rPr sz="1800" dirty="0"/>
              <a:t>v1, v2 = Vector(2, 3), Vector(1, 4)</a:t>
            </a:r>
            <a:br>
              <a:rPr sz="1800" dirty="0"/>
            </a:br>
            <a:r>
              <a:rPr sz="1800" dirty="0"/>
              <a:t>print(v1 + v2)              # Vector(3, 7)</a:t>
            </a:r>
            <a:br>
              <a:rPr sz="1800" dirty="0"/>
            </a:br>
            <a:r>
              <a:rPr sz="1800" dirty="0"/>
              <a:t>print(v1 * 3)               # Vector(6, 9)</a:t>
            </a: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Modules &amp; Packages</a:t>
            </a:r>
          </a:p>
        </p:txBody>
      </p:sp>
      <p:sp>
        <p:nvSpPr>
          <p:cNvPr id="3" name="Content Placeholder 2"/>
          <p:cNvSpPr>
            <a:spLocks noGrp="1"/>
          </p:cNvSpPr>
          <p:nvPr>
            <p:ph idx="1"/>
          </p:nvPr>
        </p:nvSpPr>
        <p:spPr/>
        <p:txBody>
          <a:bodyPr>
            <a:normAutofit/>
          </a:bodyPr>
          <a:lstStyle/>
          <a:p>
            <a:r>
              <a:rPr lang="en-US" dirty="0"/>
              <a:t>Files = modules</a:t>
            </a:r>
          </a:p>
          <a:p>
            <a:r>
              <a:rPr lang="en-US" dirty="0"/>
              <a:t>Folders = packages</a:t>
            </a:r>
          </a:p>
          <a:p>
            <a:r>
              <a:rPr lang="en-US" dirty="0"/>
              <a:t>__init__.py defines public API</a:t>
            </a:r>
          </a:p>
          <a:p>
            <a:r>
              <a:rPr lang="en-US" dirty="0" err="1"/>
              <a:t>pathlib</a:t>
            </a:r>
            <a:r>
              <a:rPr lang="en-US" dirty="0"/>
              <a:t> over </a:t>
            </a:r>
            <a:r>
              <a:rPr lang="en-US" dirty="0" err="1"/>
              <a:t>os.path</a:t>
            </a:r>
            <a:endParaRPr lang="en-US" dirty="0"/>
          </a:p>
          <a:p>
            <a:r>
              <a:rPr lang="en-US" dirty="0"/>
              <a:t>JSON and CSV at boundaries</a:t>
            </a:r>
          </a:p>
          <a:p>
            <a:pPr marL="0" indent="0">
              <a:buNone/>
            </a:pPr>
            <a:endParaRPr lang="en-US" dirty="0"/>
          </a:p>
          <a:p>
            <a:r>
              <a:rPr lang="en-US" b="1" dirty="0"/>
              <a:t>Rule:</a:t>
            </a:r>
            <a:r>
              <a:rPr lang="en-US" dirty="0"/>
              <a:t> imports describe architecture</a:t>
            </a:r>
          </a:p>
          <a:p>
            <a:endParaRPr lang="en-US" dirty="0"/>
          </a:p>
          <a:p>
            <a:pPr marL="0" indent="0">
              <a:buNone/>
            </a:pP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 tree</a:t>
            </a:r>
            <a:br>
              <a:rPr sz="1600" dirty="0"/>
            </a:br>
            <a:r>
              <a:rPr sz="1600" dirty="0"/>
              <a:t>project/</a:t>
            </a:r>
            <a:br>
              <a:rPr sz="1600" dirty="0"/>
            </a:br>
            <a:r>
              <a:rPr sz="1600" dirty="0"/>
              <a:t>  ├── geometry/</a:t>
            </a:r>
            <a:br>
              <a:rPr sz="1600" dirty="0"/>
            </a:br>
            <a:r>
              <a:rPr sz="1600" dirty="0"/>
              <a:t>  │   ├── __init__.py</a:t>
            </a:r>
            <a:br>
              <a:rPr sz="1600" dirty="0"/>
            </a:br>
            <a:r>
              <a:rPr sz="1600" dirty="0"/>
              <a:t>  │   └── shapes.py</a:t>
            </a:r>
            <a:br>
              <a:rPr sz="1600" dirty="0"/>
            </a:br>
            <a:r>
              <a:rPr sz="1600" dirty="0"/>
              <a:t>  └── app.py</a:t>
            </a:r>
            <a:br>
              <a:rPr sz="1600" dirty="0"/>
            </a:br>
            <a:br>
              <a:rPr sz="1600" dirty="0"/>
            </a:br>
            <a:r>
              <a:rPr sz="1600" dirty="0"/>
              <a:t># shapes.py</a:t>
            </a:r>
            <a:br>
              <a:rPr sz="1600" dirty="0"/>
            </a:br>
            <a:r>
              <a:rPr sz="1600" dirty="0"/>
              <a:t>def </a:t>
            </a:r>
            <a:r>
              <a:rPr sz="1600" dirty="0" err="1"/>
              <a:t>area_circle</a:t>
            </a:r>
            <a:r>
              <a:rPr sz="1600" dirty="0"/>
              <a:t>(r): from math import pi; return pi * r ** 2</a:t>
            </a:r>
            <a:br>
              <a:rPr sz="1600" dirty="0"/>
            </a:br>
            <a:br>
              <a:rPr sz="1600" dirty="0"/>
            </a:br>
            <a:r>
              <a:rPr sz="1600" dirty="0"/>
              <a:t># __init__.py</a:t>
            </a:r>
            <a:br>
              <a:rPr sz="1600" dirty="0"/>
            </a:br>
            <a:r>
              <a:rPr sz="1600" dirty="0"/>
              <a:t>from .shapes import </a:t>
            </a:r>
            <a:r>
              <a:rPr sz="1600" dirty="0" err="1"/>
              <a:t>area_circle</a:t>
            </a:r>
            <a:br>
              <a:rPr sz="1600" dirty="0"/>
            </a:br>
            <a:r>
              <a:rPr sz="1600" dirty="0"/>
              <a:t>__all__ = ["</a:t>
            </a:r>
            <a:r>
              <a:rPr sz="1600" dirty="0" err="1"/>
              <a:t>area_circle</a:t>
            </a:r>
            <a:r>
              <a:rPr sz="1600" dirty="0"/>
              <a:t>"]</a:t>
            </a:r>
            <a:br>
              <a:rPr sz="1600" dirty="0"/>
            </a:br>
            <a:br>
              <a:rPr sz="1600" dirty="0"/>
            </a:br>
            <a:r>
              <a:rPr sz="1600" dirty="0"/>
              <a:t># app.py</a:t>
            </a:r>
            <a:br>
              <a:rPr sz="1600" dirty="0"/>
            </a:br>
            <a:r>
              <a:rPr sz="1600" dirty="0"/>
              <a:t>from geometry import </a:t>
            </a:r>
            <a:r>
              <a:rPr sz="1600" dirty="0" err="1"/>
              <a:t>area_circle</a:t>
            </a:r>
            <a:br>
              <a:rPr sz="1600" dirty="0"/>
            </a:br>
            <a:r>
              <a:rPr sz="1600" dirty="0"/>
              <a:t>print(</a:t>
            </a:r>
            <a:r>
              <a:rPr sz="1600" dirty="0" err="1"/>
              <a:t>area_circle</a:t>
            </a:r>
            <a:r>
              <a:rPr sz="1600" dirty="0"/>
              <a:t>(5))</a:t>
            </a:r>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import datetime as dt</a:t>
            </a:r>
            <a:br>
              <a:rPr sz="2400" dirty="0"/>
            </a:br>
            <a:r>
              <a:rPr sz="2400" dirty="0"/>
              <a:t>from </a:t>
            </a:r>
            <a:r>
              <a:rPr sz="2400" dirty="0" err="1"/>
              <a:t>pathlib</a:t>
            </a:r>
            <a:r>
              <a:rPr sz="2400" dirty="0"/>
              <a:t> import Path</a:t>
            </a:r>
            <a:br>
              <a:rPr sz="2400" dirty="0"/>
            </a:br>
            <a:r>
              <a:rPr sz="2400" dirty="0"/>
              <a:t>from collections import </a:t>
            </a:r>
            <a:r>
              <a:rPr sz="2400" dirty="0" err="1"/>
              <a:t>defaultdict</a:t>
            </a:r>
            <a:r>
              <a:rPr sz="2400" dirty="0"/>
              <a:t>, Counter</a:t>
            </a:r>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Basics</a:t>
            </a:r>
          </a:p>
        </p:txBody>
      </p:sp>
      <p:sp>
        <p:nvSpPr>
          <p:cNvPr id="3" name="Content Placeholder 2"/>
          <p:cNvSpPr>
            <a:spLocks noGrp="1"/>
          </p:cNvSpPr>
          <p:nvPr>
            <p:ph idx="1"/>
          </p:nvPr>
        </p:nvSpPr>
        <p:spPr/>
        <p:txBody>
          <a:bodyPr/>
          <a:lstStyle/>
          <a:p>
            <a:r>
              <a:t>Read and write text files</a:t>
            </a:r>
          </a:p>
          <a:p>
            <a:r>
              <a:t>Use with statement for safety</a:t>
            </a:r>
          </a:p>
          <a:p>
            <a:r>
              <a:t>Work with CSV and JSON data</a:t>
            </a:r>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0337"/>
            <a:ext cx="8229600" cy="1143000"/>
          </a:xfrm>
        </p:spPr>
        <p:txBody>
          <a:bodyPr/>
          <a:lstStyle/>
          <a:p>
            <a:r>
              <a:rPr dirty="0"/>
              <a:t>File I/O – Text &amp; CSV</a:t>
            </a:r>
          </a:p>
        </p:txBody>
      </p:sp>
      <p:sp>
        <p:nvSpPr>
          <p:cNvPr id="3" name="Content Placeholder 2"/>
          <p:cNvSpPr>
            <a:spLocks noGrp="1"/>
          </p:cNvSpPr>
          <p:nvPr>
            <p:ph idx="1"/>
          </p:nvPr>
        </p:nvSpPr>
        <p:spPr>
          <a:xfrm>
            <a:off x="457200" y="1587500"/>
            <a:ext cx="11493500" cy="4538663"/>
          </a:xfrm>
        </p:spPr>
        <p:txBody>
          <a:bodyPr>
            <a:normAutofit/>
          </a:bodyPr>
          <a:lstStyle/>
          <a:p>
            <a:pPr marL="0" indent="0" algn="l">
              <a:buNone/>
              <a:defRPr sz="1500">
                <a:latin typeface="Courier New"/>
              </a:defRPr>
            </a:pPr>
            <a:r>
              <a:rPr sz="2000" dirty="0"/>
              <a:t>with open("haiku.txt", "w") as f:</a:t>
            </a:r>
            <a:br>
              <a:rPr sz="2000" dirty="0"/>
            </a:br>
            <a:r>
              <a:rPr sz="2000" dirty="0"/>
              <a:t>    </a:t>
            </a:r>
            <a:r>
              <a:rPr sz="2000" dirty="0" err="1"/>
              <a:t>f.write</a:t>
            </a:r>
            <a:r>
              <a:rPr sz="2000" dirty="0"/>
              <a:t>("Ancient silent pond\n…")</a:t>
            </a:r>
            <a:br>
              <a:rPr sz="2000" dirty="0"/>
            </a:br>
            <a:br>
              <a:rPr sz="2000" dirty="0"/>
            </a:br>
            <a:r>
              <a:rPr sz="2000" dirty="0"/>
              <a:t>with open("haiku.txt") as f:</a:t>
            </a:r>
            <a:br>
              <a:rPr sz="2000" dirty="0"/>
            </a:br>
            <a:r>
              <a:rPr sz="2000" dirty="0"/>
              <a:t>    for </a:t>
            </a:r>
            <a:r>
              <a:rPr sz="2000" dirty="0" err="1"/>
              <a:t>i</a:t>
            </a:r>
            <a:r>
              <a:rPr sz="2000" dirty="0"/>
              <a:t>, line in enumerate(f, 1):</a:t>
            </a:r>
            <a:br>
              <a:rPr sz="2000" dirty="0"/>
            </a:br>
            <a:r>
              <a:rPr sz="2000" dirty="0"/>
              <a:t>        print(f"{</a:t>
            </a:r>
            <a:r>
              <a:rPr sz="2000" dirty="0" err="1"/>
              <a:t>i</a:t>
            </a:r>
            <a:r>
              <a:rPr sz="2000" dirty="0"/>
              <a:t>}: {</a:t>
            </a:r>
            <a:r>
              <a:rPr sz="2000" dirty="0" err="1"/>
              <a:t>line.rstrip</a:t>
            </a:r>
            <a:r>
              <a:rPr sz="2000" dirty="0"/>
              <a:t>()}")</a:t>
            </a:r>
            <a:br>
              <a:rPr sz="2000" dirty="0"/>
            </a:br>
            <a:br>
              <a:rPr sz="2000" dirty="0"/>
            </a:br>
            <a:r>
              <a:rPr sz="2000" dirty="0"/>
              <a:t>import csv</a:t>
            </a:r>
            <a:br>
              <a:rPr sz="2000" dirty="0"/>
            </a:br>
            <a:r>
              <a:rPr sz="2000" dirty="0"/>
              <a:t>rows = [{"name": "Ada", "age": 36}, {"name": "Linus", "age": 52}]</a:t>
            </a:r>
            <a:br>
              <a:rPr sz="2000" dirty="0"/>
            </a:br>
            <a:r>
              <a:rPr sz="2000" dirty="0"/>
              <a:t>with open("users.csv", "w", newline="") as f:</a:t>
            </a:r>
            <a:br>
              <a:rPr sz="2000" dirty="0"/>
            </a:br>
            <a:r>
              <a:rPr sz="2000" dirty="0"/>
              <a:t>    writer = </a:t>
            </a:r>
            <a:r>
              <a:rPr sz="2000" dirty="0" err="1"/>
              <a:t>csv.DictWriter</a:t>
            </a:r>
            <a:r>
              <a:rPr sz="2000" dirty="0"/>
              <a:t>(f, fieldnames=["name", "age"])</a:t>
            </a:r>
            <a:br>
              <a:rPr sz="2000" dirty="0"/>
            </a:br>
            <a:r>
              <a:rPr sz="2000" dirty="0"/>
              <a:t>    </a:t>
            </a:r>
            <a:r>
              <a:rPr sz="2000" dirty="0" err="1"/>
              <a:t>writer.writeheader</a:t>
            </a:r>
            <a:r>
              <a:rPr sz="2000" dirty="0"/>
              <a:t>(); </a:t>
            </a:r>
            <a:r>
              <a:rPr sz="2000" dirty="0" err="1"/>
              <a:t>writer.writerows</a:t>
            </a:r>
            <a:r>
              <a:rPr sz="2000" dirty="0"/>
              <a:t>(rows)</a:t>
            </a:r>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AC820-E7AD-86A2-AA28-236FAC7BA68C}"/>
              </a:ext>
            </a:extLst>
          </p:cNvPr>
          <p:cNvSpPr>
            <a:spLocks noGrp="1"/>
          </p:cNvSpPr>
          <p:nvPr>
            <p:ph type="title"/>
          </p:nvPr>
        </p:nvSpPr>
        <p:spPr/>
        <p:txBody>
          <a:bodyPr>
            <a:normAutofit/>
          </a:bodyPr>
          <a:lstStyle/>
          <a:p>
            <a:r>
              <a:rPr lang="en-US" b="1" dirty="0"/>
              <a:t>File I/O (Production-Safe)</a:t>
            </a:r>
            <a:endParaRPr lang="en-SG" dirty="0"/>
          </a:p>
        </p:txBody>
      </p:sp>
      <p:sp>
        <p:nvSpPr>
          <p:cNvPr id="3" name="Content Placeholder 2">
            <a:extLst>
              <a:ext uri="{FF2B5EF4-FFF2-40B4-BE49-F238E27FC236}">
                <a16:creationId xmlns:a16="http://schemas.microsoft.com/office/drawing/2014/main" id="{667F216A-AB57-7DFC-B4C2-55B0B8B00E41}"/>
              </a:ext>
            </a:extLst>
          </p:cNvPr>
          <p:cNvSpPr>
            <a:spLocks noGrp="1"/>
          </p:cNvSpPr>
          <p:nvPr>
            <p:ph idx="1"/>
          </p:nvPr>
        </p:nvSpPr>
        <p:spPr/>
        <p:txBody>
          <a:bodyPr/>
          <a:lstStyle/>
          <a:p>
            <a:r>
              <a:rPr lang="en-US" dirty="0"/>
              <a:t>Always use with</a:t>
            </a:r>
          </a:p>
          <a:p>
            <a:r>
              <a:rPr lang="en-US" dirty="0"/>
              <a:t>Prefer </a:t>
            </a:r>
            <a:r>
              <a:rPr lang="en-US" dirty="0" err="1"/>
              <a:t>pathlib</a:t>
            </a:r>
            <a:endParaRPr lang="en-US" dirty="0"/>
          </a:p>
          <a:p>
            <a:r>
              <a:rPr lang="en-US" dirty="0"/>
              <a:t>Text, CSV, JSON for system boundaries</a:t>
            </a:r>
          </a:p>
          <a:p>
            <a:endParaRPr lang="en-SG" dirty="0"/>
          </a:p>
        </p:txBody>
      </p:sp>
    </p:spTree>
    <p:extLst>
      <p:ext uri="{BB962C8B-B14F-4D97-AF65-F5344CB8AC3E}">
        <p14:creationId xmlns:p14="http://schemas.microsoft.com/office/powerpoint/2010/main" val="88351031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B5E4B-0D36-6A2A-9206-A5BE7DC6A300}"/>
              </a:ext>
            </a:extLst>
          </p:cNvPr>
          <p:cNvSpPr>
            <a:spLocks noGrp="1"/>
          </p:cNvSpPr>
          <p:nvPr>
            <p:ph type="title"/>
          </p:nvPr>
        </p:nvSpPr>
        <p:spPr>
          <a:xfrm>
            <a:off x="457200" y="274638"/>
            <a:ext cx="11036300" cy="1143000"/>
          </a:xfrm>
        </p:spPr>
        <p:txBody>
          <a:bodyPr>
            <a:normAutofit/>
          </a:bodyPr>
          <a:lstStyle/>
          <a:p>
            <a:r>
              <a:rPr lang="en-US" dirty="0"/>
              <a:t>Error Handling &amp; Context Managers</a:t>
            </a:r>
            <a:endParaRPr lang="en-SG" dirty="0"/>
          </a:p>
        </p:txBody>
      </p:sp>
      <p:sp>
        <p:nvSpPr>
          <p:cNvPr id="3" name="Content Placeholder 2">
            <a:extLst>
              <a:ext uri="{FF2B5EF4-FFF2-40B4-BE49-F238E27FC236}">
                <a16:creationId xmlns:a16="http://schemas.microsoft.com/office/drawing/2014/main" id="{2339B22E-3B9B-EFAA-DD32-D88127BF5A36}"/>
              </a:ext>
            </a:extLst>
          </p:cNvPr>
          <p:cNvSpPr>
            <a:spLocks noGrp="1"/>
          </p:cNvSpPr>
          <p:nvPr>
            <p:ph idx="1"/>
          </p:nvPr>
        </p:nvSpPr>
        <p:spPr>
          <a:xfrm>
            <a:off x="457200" y="1600200"/>
            <a:ext cx="11264900" cy="3086099"/>
          </a:xfrm>
        </p:spPr>
        <p:txBody>
          <a:bodyPr>
            <a:normAutofit fontScale="85000" lnSpcReduction="20000"/>
          </a:bodyPr>
          <a:lstStyle/>
          <a:p>
            <a:r>
              <a:rPr lang="en-US" dirty="0"/>
              <a:t>Engineering code must be resilient to failure.</a:t>
            </a:r>
          </a:p>
          <a:p>
            <a:r>
              <a:rPr lang="en-US" b="1" dirty="0"/>
              <a:t>Exception Handling:</a:t>
            </a:r>
            <a:r>
              <a:rPr lang="en-US" dirty="0"/>
              <a:t> Use try/except/finally blocks to catch specific errors (e.g., </a:t>
            </a:r>
            <a:r>
              <a:rPr lang="en-US" dirty="0" err="1"/>
              <a:t>ValueError</a:t>
            </a:r>
            <a:r>
              <a:rPr lang="en-US" dirty="0"/>
              <a:t>, </a:t>
            </a:r>
            <a:r>
              <a:rPr lang="en-US" dirty="0" err="1"/>
              <a:t>KeyError</a:t>
            </a:r>
            <a:r>
              <a:rPr lang="en-US" dirty="0"/>
              <a:t>).</a:t>
            </a:r>
          </a:p>
          <a:p>
            <a:r>
              <a:rPr lang="en-US" b="1" dirty="0"/>
              <a:t>EAFP Principle:</a:t>
            </a:r>
            <a:r>
              <a:rPr lang="en-US" dirty="0"/>
              <a:t> "Easier to Ask Forgiveness than Permission"—Pythonistas prefer trying an action and catching the error rather than checking conditions first.</a:t>
            </a:r>
          </a:p>
          <a:p>
            <a:r>
              <a:rPr lang="en-US" b="1" dirty="0"/>
              <a:t>Context Managers (with):</a:t>
            </a:r>
            <a:r>
              <a:rPr lang="en-US" dirty="0"/>
              <a:t> Ensures resources (like files or database connections) are properly closed, even if an error occurs.</a:t>
            </a:r>
          </a:p>
          <a:p>
            <a:endParaRPr lang="en-SG" dirty="0"/>
          </a:p>
        </p:txBody>
      </p:sp>
      <p:sp>
        <p:nvSpPr>
          <p:cNvPr id="5" name="TextBox 4">
            <a:extLst>
              <a:ext uri="{FF2B5EF4-FFF2-40B4-BE49-F238E27FC236}">
                <a16:creationId xmlns:a16="http://schemas.microsoft.com/office/drawing/2014/main" id="{FC50A4F6-0ED3-6FA0-E450-8E19285283E4}"/>
              </a:ext>
            </a:extLst>
          </p:cNvPr>
          <p:cNvSpPr txBox="1"/>
          <p:nvPr/>
        </p:nvSpPr>
        <p:spPr>
          <a:xfrm>
            <a:off x="571500" y="5029200"/>
            <a:ext cx="11036300" cy="138499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2800" dirty="0"/>
              <a:t>with open('data.txt', 'r') as file:</a:t>
            </a:r>
          </a:p>
          <a:p>
            <a:r>
              <a:rPr lang="en-US" sz="2800" dirty="0"/>
              <a:t>    content = </a:t>
            </a:r>
            <a:r>
              <a:rPr lang="en-US" sz="2800" dirty="0" err="1"/>
              <a:t>file.read</a:t>
            </a:r>
            <a:r>
              <a:rPr lang="en-US" sz="2800" dirty="0"/>
              <a:t>()</a:t>
            </a:r>
          </a:p>
          <a:p>
            <a:r>
              <a:rPr lang="en-US" sz="2800" dirty="0"/>
              <a:t># File is automatically closed here</a:t>
            </a:r>
            <a:endParaRPr lang="en-SG" sz="2800" dirty="0"/>
          </a:p>
        </p:txBody>
      </p:sp>
    </p:spTree>
    <p:extLst>
      <p:ext uri="{BB962C8B-B14F-4D97-AF65-F5344CB8AC3E}">
        <p14:creationId xmlns:p14="http://schemas.microsoft.com/office/powerpoint/2010/main" val="96384887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417A3-51D3-989C-8C9B-50D673F106EA}"/>
              </a:ext>
            </a:extLst>
          </p:cNvPr>
          <p:cNvSpPr>
            <a:spLocks noGrp="1"/>
          </p:cNvSpPr>
          <p:nvPr>
            <p:ph type="title"/>
          </p:nvPr>
        </p:nvSpPr>
        <p:spPr/>
        <p:txBody>
          <a:bodyPr>
            <a:normAutofit/>
          </a:bodyPr>
          <a:lstStyle/>
          <a:p>
            <a:r>
              <a:rPr lang="en-US" dirty="0"/>
              <a:t>Why Error Handling Exists</a:t>
            </a:r>
          </a:p>
        </p:txBody>
      </p:sp>
      <p:sp>
        <p:nvSpPr>
          <p:cNvPr id="3" name="Content Placeholder 2">
            <a:extLst>
              <a:ext uri="{FF2B5EF4-FFF2-40B4-BE49-F238E27FC236}">
                <a16:creationId xmlns:a16="http://schemas.microsoft.com/office/drawing/2014/main" id="{6636A299-B593-DE0B-5C60-75701260007F}"/>
              </a:ext>
            </a:extLst>
          </p:cNvPr>
          <p:cNvSpPr>
            <a:spLocks noGrp="1"/>
          </p:cNvSpPr>
          <p:nvPr>
            <p:ph idx="1"/>
          </p:nvPr>
        </p:nvSpPr>
        <p:spPr>
          <a:xfrm>
            <a:off x="457200" y="1600200"/>
            <a:ext cx="11099800" cy="4525963"/>
          </a:xfrm>
        </p:spPr>
        <p:txBody>
          <a:bodyPr/>
          <a:lstStyle/>
          <a:p>
            <a:r>
              <a:rPr lang="en-US" dirty="0"/>
              <a:t>Failures are </a:t>
            </a:r>
            <a:r>
              <a:rPr lang="en-US" b="1" dirty="0"/>
              <a:t>normal</a:t>
            </a:r>
            <a:r>
              <a:rPr lang="en-US" dirty="0"/>
              <a:t>, not exceptional</a:t>
            </a:r>
          </a:p>
          <a:p>
            <a:r>
              <a:rPr lang="en-US" dirty="0"/>
              <a:t>Systems must fail </a:t>
            </a:r>
            <a:r>
              <a:rPr lang="en-US" b="1" dirty="0"/>
              <a:t>predictably</a:t>
            </a:r>
            <a:endParaRPr lang="en-US" dirty="0"/>
          </a:p>
          <a:p>
            <a:r>
              <a:rPr lang="en-US" dirty="0"/>
              <a:t>Debuggability is a </a:t>
            </a:r>
            <a:r>
              <a:rPr lang="en-US" b="1" dirty="0"/>
              <a:t>feature</a:t>
            </a:r>
            <a:endParaRPr lang="en-US" dirty="0"/>
          </a:p>
          <a:p>
            <a:pPr marL="0" indent="0">
              <a:buNone/>
            </a:pPr>
            <a:r>
              <a:rPr lang="en-US" b="1" dirty="0"/>
              <a:t>Outcome:</a:t>
            </a:r>
            <a:r>
              <a:rPr lang="en-US" dirty="0"/>
              <a:t> engineers design software that fails </a:t>
            </a:r>
            <a:r>
              <a:rPr lang="en-US" i="1" dirty="0"/>
              <a:t>safely and visibly</a:t>
            </a:r>
            <a:endParaRPr lang="en-US" dirty="0"/>
          </a:p>
        </p:txBody>
      </p:sp>
    </p:spTree>
    <p:extLst>
      <p:ext uri="{BB962C8B-B14F-4D97-AF65-F5344CB8AC3E}">
        <p14:creationId xmlns:p14="http://schemas.microsoft.com/office/powerpoint/2010/main" val="121971188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E5163-B3B6-517A-9703-7408C821D7FE}"/>
              </a:ext>
            </a:extLst>
          </p:cNvPr>
          <p:cNvSpPr>
            <a:spLocks noGrp="1"/>
          </p:cNvSpPr>
          <p:nvPr>
            <p:ph type="title"/>
          </p:nvPr>
        </p:nvSpPr>
        <p:spPr/>
        <p:txBody>
          <a:bodyPr>
            <a:normAutofit/>
          </a:bodyPr>
          <a:lstStyle/>
          <a:p>
            <a:r>
              <a:rPr lang="en-US" dirty="0"/>
              <a:t>What Errors Really Mean</a:t>
            </a:r>
          </a:p>
        </p:txBody>
      </p:sp>
      <p:sp>
        <p:nvSpPr>
          <p:cNvPr id="3" name="Content Placeholder 2">
            <a:extLst>
              <a:ext uri="{FF2B5EF4-FFF2-40B4-BE49-F238E27FC236}">
                <a16:creationId xmlns:a16="http://schemas.microsoft.com/office/drawing/2014/main" id="{B02EFEEC-F4B5-D64F-3FC0-CB714C1F4320}"/>
              </a:ext>
            </a:extLst>
          </p:cNvPr>
          <p:cNvSpPr>
            <a:spLocks noGrp="1"/>
          </p:cNvSpPr>
          <p:nvPr>
            <p:ph idx="1"/>
          </p:nvPr>
        </p:nvSpPr>
        <p:spPr>
          <a:xfrm>
            <a:off x="457200" y="1600200"/>
            <a:ext cx="10414000" cy="4525963"/>
          </a:xfrm>
        </p:spPr>
        <p:txBody>
          <a:bodyPr>
            <a:normAutofit/>
          </a:bodyPr>
          <a:lstStyle/>
          <a:p>
            <a:pPr marL="0" indent="0">
              <a:buNone/>
            </a:pPr>
            <a:r>
              <a:rPr lang="en-US" dirty="0"/>
              <a:t>Errors indicate:</a:t>
            </a:r>
          </a:p>
          <a:p>
            <a:pPr lvl="1"/>
            <a:r>
              <a:rPr lang="en-US" dirty="0"/>
              <a:t>Invalid inputs</a:t>
            </a:r>
          </a:p>
          <a:p>
            <a:pPr lvl="1"/>
            <a:r>
              <a:rPr lang="en-US" dirty="0"/>
              <a:t>Broken assumptions</a:t>
            </a:r>
          </a:p>
          <a:p>
            <a:pPr lvl="1"/>
            <a:r>
              <a:rPr lang="en-US" dirty="0"/>
              <a:t>Missing dependencies</a:t>
            </a:r>
          </a:p>
          <a:p>
            <a:pPr lvl="1"/>
            <a:r>
              <a:rPr lang="en-US" dirty="0"/>
              <a:t>External system failures</a:t>
            </a:r>
          </a:p>
          <a:p>
            <a:pPr marL="0" indent="0">
              <a:buNone/>
            </a:pPr>
            <a:endParaRPr lang="en-US" b="1" dirty="0"/>
          </a:p>
          <a:p>
            <a:pPr marL="0" indent="0">
              <a:buNone/>
            </a:pPr>
            <a:r>
              <a:rPr lang="en-US" b="1" dirty="0"/>
              <a:t>Mental model - </a:t>
            </a:r>
            <a:r>
              <a:rPr lang="en-US" dirty="0"/>
              <a:t>Errors are </a:t>
            </a:r>
            <a:r>
              <a:rPr lang="en-US" i="1" dirty="0"/>
              <a:t>signals</a:t>
            </a:r>
            <a:r>
              <a:rPr lang="en-US" dirty="0"/>
              <a:t>, not mistakes to hide</a:t>
            </a:r>
          </a:p>
        </p:txBody>
      </p:sp>
    </p:spTree>
    <p:extLst>
      <p:ext uri="{BB962C8B-B14F-4D97-AF65-F5344CB8AC3E}">
        <p14:creationId xmlns:p14="http://schemas.microsoft.com/office/powerpoint/2010/main" val="37278674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A4CEA-74D7-0AB4-F0E7-0069B5BF2485}"/>
              </a:ext>
            </a:extLst>
          </p:cNvPr>
          <p:cNvSpPr>
            <a:spLocks noGrp="1"/>
          </p:cNvSpPr>
          <p:nvPr>
            <p:ph type="title"/>
          </p:nvPr>
        </p:nvSpPr>
        <p:spPr/>
        <p:txBody>
          <a:bodyPr>
            <a:normAutofit/>
          </a:bodyPr>
          <a:lstStyle/>
          <a:p>
            <a:r>
              <a:rPr lang="en-US" dirty="0"/>
              <a:t>Two Categories of Errors</a:t>
            </a:r>
            <a:endParaRPr lang="en-SG" dirty="0"/>
          </a:p>
        </p:txBody>
      </p:sp>
      <p:sp>
        <p:nvSpPr>
          <p:cNvPr id="3" name="Content Placeholder 2">
            <a:extLst>
              <a:ext uri="{FF2B5EF4-FFF2-40B4-BE49-F238E27FC236}">
                <a16:creationId xmlns:a16="http://schemas.microsoft.com/office/drawing/2014/main" id="{680CBBFA-071F-3D40-B6AD-3356FCC9103C}"/>
              </a:ext>
            </a:extLst>
          </p:cNvPr>
          <p:cNvSpPr>
            <a:spLocks noGrp="1"/>
          </p:cNvSpPr>
          <p:nvPr>
            <p:ph idx="1"/>
          </p:nvPr>
        </p:nvSpPr>
        <p:spPr>
          <a:xfrm>
            <a:off x="558800" y="1765300"/>
            <a:ext cx="5168900" cy="2628902"/>
          </a:xfrm>
        </p:spPr>
        <p:style>
          <a:lnRef idx="2">
            <a:schemeClr val="dk1"/>
          </a:lnRef>
          <a:fillRef idx="1">
            <a:schemeClr val="lt1"/>
          </a:fillRef>
          <a:effectRef idx="0">
            <a:schemeClr val="dk1"/>
          </a:effectRef>
          <a:fontRef idx="minor">
            <a:schemeClr val="dk1"/>
          </a:fontRef>
        </p:style>
        <p:txBody>
          <a:bodyPr>
            <a:normAutofit/>
          </a:bodyPr>
          <a:lstStyle/>
          <a:p>
            <a:r>
              <a:rPr lang="en-US" b="1" dirty="0"/>
              <a:t>Recoverable</a:t>
            </a:r>
            <a:endParaRPr lang="en-US" dirty="0"/>
          </a:p>
          <a:p>
            <a:pPr lvl="1"/>
            <a:r>
              <a:rPr lang="en-US" dirty="0"/>
              <a:t>Invalid user input</a:t>
            </a:r>
          </a:p>
          <a:p>
            <a:pPr lvl="1"/>
            <a:r>
              <a:rPr lang="en-US" dirty="0"/>
              <a:t>Missing optional data</a:t>
            </a:r>
          </a:p>
          <a:p>
            <a:pPr lvl="1"/>
            <a:r>
              <a:rPr lang="en-US" dirty="0"/>
              <a:t>Transient network failures</a:t>
            </a:r>
          </a:p>
          <a:p>
            <a:endParaRPr lang="en-SG" dirty="0"/>
          </a:p>
        </p:txBody>
      </p:sp>
      <p:sp>
        <p:nvSpPr>
          <p:cNvPr id="4" name="Content Placeholder 2">
            <a:extLst>
              <a:ext uri="{FF2B5EF4-FFF2-40B4-BE49-F238E27FC236}">
                <a16:creationId xmlns:a16="http://schemas.microsoft.com/office/drawing/2014/main" id="{077ABE26-984F-43C7-2B54-65114CEC582F}"/>
              </a:ext>
            </a:extLst>
          </p:cNvPr>
          <p:cNvSpPr txBox="1">
            <a:spLocks/>
          </p:cNvSpPr>
          <p:nvPr/>
        </p:nvSpPr>
        <p:spPr>
          <a:xfrm>
            <a:off x="6286500" y="1765301"/>
            <a:ext cx="5168900" cy="2628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Non-recoverable</a:t>
            </a:r>
            <a:endParaRPr lang="en-US" dirty="0"/>
          </a:p>
          <a:p>
            <a:pPr lvl="1"/>
            <a:r>
              <a:rPr lang="en-US" dirty="0"/>
              <a:t>Programmer errors</a:t>
            </a:r>
          </a:p>
          <a:p>
            <a:pPr lvl="1"/>
            <a:r>
              <a:rPr lang="en-US" dirty="0"/>
              <a:t>Corrupted state</a:t>
            </a:r>
          </a:p>
          <a:p>
            <a:pPr lvl="1"/>
            <a:r>
              <a:rPr lang="en-US" dirty="0"/>
              <a:t>Violated invariants</a:t>
            </a:r>
          </a:p>
          <a:p>
            <a:pPr marL="0" indent="0">
              <a:buNone/>
            </a:pPr>
            <a:endParaRPr lang="en-SG" dirty="0"/>
          </a:p>
        </p:txBody>
      </p:sp>
      <p:sp>
        <p:nvSpPr>
          <p:cNvPr id="5" name="TextBox 4">
            <a:extLst>
              <a:ext uri="{FF2B5EF4-FFF2-40B4-BE49-F238E27FC236}">
                <a16:creationId xmlns:a16="http://schemas.microsoft.com/office/drawing/2014/main" id="{B49D8E03-6435-A5B1-7AB6-8C0ABFC85F67}"/>
              </a:ext>
            </a:extLst>
          </p:cNvPr>
          <p:cNvSpPr txBox="1"/>
          <p:nvPr/>
        </p:nvSpPr>
        <p:spPr>
          <a:xfrm>
            <a:off x="558800" y="5092700"/>
            <a:ext cx="10896600" cy="107721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Rule:</a:t>
            </a:r>
            <a:r>
              <a:rPr lang="en-US" sz="3200" dirty="0"/>
              <a:t> treat them differently</a:t>
            </a:r>
          </a:p>
          <a:p>
            <a:endParaRPr lang="en-SG" sz="3200" dirty="0"/>
          </a:p>
        </p:txBody>
      </p:sp>
    </p:spTree>
    <p:extLst>
      <p:ext uri="{BB962C8B-B14F-4D97-AF65-F5344CB8AC3E}">
        <p14:creationId xmlns:p14="http://schemas.microsoft.com/office/powerpoint/2010/main" val="146949161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A5E95-836E-27D6-4E3E-F6A75DE9AC48}"/>
              </a:ext>
            </a:extLst>
          </p:cNvPr>
          <p:cNvSpPr>
            <a:spLocks noGrp="1"/>
          </p:cNvSpPr>
          <p:nvPr>
            <p:ph type="title"/>
          </p:nvPr>
        </p:nvSpPr>
        <p:spPr/>
        <p:txBody>
          <a:bodyPr>
            <a:normAutofit fontScale="90000"/>
          </a:bodyPr>
          <a:lstStyle/>
          <a:p>
            <a:r>
              <a:rPr lang="en-US" dirty="0"/>
              <a:t>Catch Specific Exceptions</a:t>
            </a:r>
            <a:br>
              <a:rPr lang="en-US" dirty="0"/>
            </a:br>
            <a:endParaRPr lang="en-SG" dirty="0"/>
          </a:p>
        </p:txBody>
      </p:sp>
      <p:sp>
        <p:nvSpPr>
          <p:cNvPr id="3" name="Content Placeholder 2">
            <a:extLst>
              <a:ext uri="{FF2B5EF4-FFF2-40B4-BE49-F238E27FC236}">
                <a16:creationId xmlns:a16="http://schemas.microsoft.com/office/drawing/2014/main" id="{8913E631-14AB-2A91-8051-4D87734A2C0A}"/>
              </a:ext>
            </a:extLst>
          </p:cNvPr>
          <p:cNvSpPr>
            <a:spLocks noGrp="1"/>
          </p:cNvSpPr>
          <p:nvPr>
            <p:ph idx="1"/>
          </p:nvPr>
        </p:nvSpPr>
        <p:spPr>
          <a:xfrm>
            <a:off x="457200" y="1079502"/>
            <a:ext cx="4724400" cy="5310980"/>
          </a:xfrm>
        </p:spPr>
        <p:style>
          <a:lnRef idx="2">
            <a:schemeClr val="dk1"/>
          </a:lnRef>
          <a:fillRef idx="1">
            <a:schemeClr val="lt1"/>
          </a:fillRef>
          <a:effectRef idx="0">
            <a:schemeClr val="dk1"/>
          </a:effectRef>
          <a:fontRef idx="minor">
            <a:schemeClr val="dk1"/>
          </a:fontRef>
        </p:style>
        <p:txBody>
          <a:bodyPr>
            <a:normAutofit lnSpcReduction="10000"/>
          </a:bodyPr>
          <a:lstStyle/>
          <a:p>
            <a:r>
              <a:rPr lang="en-US" b="1" dirty="0"/>
              <a:t>Catch Only What You Expect</a:t>
            </a:r>
          </a:p>
          <a:p>
            <a:pPr lvl="1"/>
            <a:r>
              <a:rPr lang="en-US" dirty="0"/>
              <a:t>Handle </a:t>
            </a:r>
            <a:r>
              <a:rPr lang="en-US" b="1" dirty="0"/>
              <a:t>specific</a:t>
            </a:r>
            <a:r>
              <a:rPr lang="en-US" dirty="0"/>
              <a:t> failure modes</a:t>
            </a:r>
          </a:p>
          <a:p>
            <a:pPr lvl="1"/>
            <a:r>
              <a:rPr lang="en-US" dirty="0"/>
              <a:t>Let unknown failures crash</a:t>
            </a:r>
          </a:p>
          <a:p>
            <a:pPr lvl="1"/>
            <a:r>
              <a:rPr lang="en-US" dirty="0"/>
              <a:t>Avoid except Exception</a:t>
            </a:r>
          </a:p>
          <a:p>
            <a:r>
              <a:rPr lang="en-US" b="1" dirty="0"/>
              <a:t>Why</a:t>
            </a:r>
            <a:endParaRPr lang="en-US" dirty="0"/>
          </a:p>
          <a:p>
            <a:pPr lvl="1"/>
            <a:r>
              <a:rPr lang="en-US" dirty="0"/>
              <a:t>Broad catches hide bugs</a:t>
            </a:r>
          </a:p>
          <a:p>
            <a:pPr lvl="1"/>
            <a:r>
              <a:rPr lang="en-US" dirty="0"/>
              <a:t>Specific catches document intent</a:t>
            </a:r>
          </a:p>
        </p:txBody>
      </p:sp>
      <p:sp>
        <p:nvSpPr>
          <p:cNvPr id="4" name="Content Placeholder 2">
            <a:extLst>
              <a:ext uri="{FF2B5EF4-FFF2-40B4-BE49-F238E27FC236}">
                <a16:creationId xmlns:a16="http://schemas.microsoft.com/office/drawing/2014/main" id="{E98D79E1-6C9F-E699-A990-6CCD7AD8A67E}"/>
              </a:ext>
            </a:extLst>
          </p:cNvPr>
          <p:cNvSpPr txBox="1">
            <a:spLocks/>
          </p:cNvSpPr>
          <p:nvPr/>
        </p:nvSpPr>
        <p:spPr>
          <a:xfrm>
            <a:off x="5851525" y="1079501"/>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Exception:</a:t>
            </a:r>
          </a:p>
          <a:p>
            <a:pPr marL="0" indent="0">
              <a:buNone/>
            </a:pPr>
            <a:r>
              <a:rPr lang="en-US" dirty="0"/>
              <a:t>    pass</a:t>
            </a:r>
          </a:p>
        </p:txBody>
      </p:sp>
      <p:sp>
        <p:nvSpPr>
          <p:cNvPr id="6" name="Content Placeholder 2">
            <a:extLst>
              <a:ext uri="{FF2B5EF4-FFF2-40B4-BE49-F238E27FC236}">
                <a16:creationId xmlns:a16="http://schemas.microsoft.com/office/drawing/2014/main" id="{892C82BF-D8E7-904D-F166-5EADC36037F6}"/>
              </a:ext>
            </a:extLst>
          </p:cNvPr>
          <p:cNvSpPr txBox="1">
            <a:spLocks/>
          </p:cNvSpPr>
          <p:nvPr/>
        </p:nvSpPr>
        <p:spPr>
          <a:xfrm>
            <a:off x="5851525" y="3875882"/>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190704476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B8CE5-0084-9B80-2F66-0B308B873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69AD-3C30-C134-A3D9-E7A63DDBF53B}"/>
              </a:ext>
            </a:extLst>
          </p:cNvPr>
          <p:cNvSpPr>
            <a:spLocks noGrp="1"/>
          </p:cNvSpPr>
          <p:nvPr>
            <p:ph type="title"/>
          </p:nvPr>
        </p:nvSpPr>
        <p:spPr/>
        <p:txBody>
          <a:bodyPr>
            <a:normAutofit/>
          </a:bodyPr>
          <a:lstStyle/>
          <a:p>
            <a:r>
              <a:rPr lang="en-SG" dirty="0"/>
              <a:t>Anti-Pattern: Blanket Catching</a:t>
            </a:r>
          </a:p>
        </p:txBody>
      </p:sp>
      <p:sp>
        <p:nvSpPr>
          <p:cNvPr id="3" name="Content Placeholder 2">
            <a:extLst>
              <a:ext uri="{FF2B5EF4-FFF2-40B4-BE49-F238E27FC236}">
                <a16:creationId xmlns:a16="http://schemas.microsoft.com/office/drawing/2014/main" id="{55AC2611-EA1B-F977-D75E-07AABE2B39C8}"/>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Masks defects</a:t>
            </a:r>
          </a:p>
          <a:p>
            <a:r>
              <a:rPr lang="en-US" dirty="0"/>
              <a:t>Corrupts state</a:t>
            </a:r>
          </a:p>
          <a:p>
            <a:r>
              <a:rPr lang="en-US" dirty="0"/>
              <a:t>Breaks observability</a:t>
            </a:r>
          </a:p>
          <a:p>
            <a:r>
              <a:rPr lang="en-US" b="1" dirty="0"/>
              <a:t>This is never acceptable in production</a:t>
            </a:r>
            <a:endParaRPr lang="en-US" dirty="0"/>
          </a:p>
        </p:txBody>
      </p:sp>
      <p:sp>
        <p:nvSpPr>
          <p:cNvPr id="4" name="Content Placeholder 2">
            <a:extLst>
              <a:ext uri="{FF2B5EF4-FFF2-40B4-BE49-F238E27FC236}">
                <a16:creationId xmlns:a16="http://schemas.microsoft.com/office/drawing/2014/main" id="{FF0F9E6C-BB98-6DCE-388E-A0050B52DE8C}"/>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Exception:</a:t>
            </a:r>
          </a:p>
          <a:p>
            <a:pPr marL="0" indent="0">
              <a:buNone/>
            </a:pPr>
            <a:r>
              <a:rPr lang="en-US" dirty="0"/>
              <a:t>    pass</a:t>
            </a:r>
          </a:p>
        </p:txBody>
      </p:sp>
    </p:spTree>
    <p:extLst>
      <p:ext uri="{BB962C8B-B14F-4D97-AF65-F5344CB8AC3E}">
        <p14:creationId xmlns:p14="http://schemas.microsoft.com/office/powerpoint/2010/main" val="16320257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D73E6-0033-0BB1-B59D-9A25A1D75C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F58320-8C2D-D3EE-0C93-7F506B1B5617}"/>
              </a:ext>
            </a:extLst>
          </p:cNvPr>
          <p:cNvSpPr>
            <a:spLocks noGrp="1"/>
          </p:cNvSpPr>
          <p:nvPr>
            <p:ph type="title"/>
          </p:nvPr>
        </p:nvSpPr>
        <p:spPr/>
        <p:txBody>
          <a:bodyPr>
            <a:normAutofit/>
          </a:bodyPr>
          <a:lstStyle/>
          <a:p>
            <a:r>
              <a:rPr lang="en-SG" dirty="0"/>
              <a:t>Correct Pattern: Narrow Catch</a:t>
            </a:r>
          </a:p>
        </p:txBody>
      </p:sp>
      <p:sp>
        <p:nvSpPr>
          <p:cNvPr id="3" name="Content Placeholder 2">
            <a:extLst>
              <a:ext uri="{FF2B5EF4-FFF2-40B4-BE49-F238E27FC236}">
                <a16:creationId xmlns:a16="http://schemas.microsoft.com/office/drawing/2014/main" id="{51F99217-D8B8-615F-4674-39A7EF576FFD}"/>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Clear intent</a:t>
            </a:r>
          </a:p>
          <a:p>
            <a:r>
              <a:rPr lang="en-US" dirty="0"/>
              <a:t>Predictable behavior</a:t>
            </a:r>
          </a:p>
          <a:p>
            <a:r>
              <a:rPr lang="en-US" dirty="0"/>
              <a:t>Safer recovery</a:t>
            </a:r>
          </a:p>
        </p:txBody>
      </p:sp>
      <p:sp>
        <p:nvSpPr>
          <p:cNvPr id="4" name="Content Placeholder 2">
            <a:extLst>
              <a:ext uri="{FF2B5EF4-FFF2-40B4-BE49-F238E27FC236}">
                <a16:creationId xmlns:a16="http://schemas.microsoft.com/office/drawing/2014/main" id="{CD8DC11B-1091-8C24-E1A3-D867D1ED5293}"/>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227894761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14487-9A26-17CE-7F8C-605C9723C3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F9E407-3D26-0734-1A1A-DE386066DAAD}"/>
              </a:ext>
            </a:extLst>
          </p:cNvPr>
          <p:cNvSpPr>
            <a:spLocks noGrp="1"/>
          </p:cNvSpPr>
          <p:nvPr>
            <p:ph type="title"/>
          </p:nvPr>
        </p:nvSpPr>
        <p:spPr>
          <a:xfrm>
            <a:off x="368300" y="-103982"/>
            <a:ext cx="8229600" cy="1143000"/>
          </a:xfrm>
        </p:spPr>
        <p:txBody>
          <a:bodyPr>
            <a:normAutofit/>
          </a:bodyPr>
          <a:lstStyle/>
          <a:p>
            <a:r>
              <a:rPr lang="en-US" dirty="0"/>
              <a:t>EAFP — The Pythonic Style</a:t>
            </a:r>
          </a:p>
        </p:txBody>
      </p:sp>
      <p:sp>
        <p:nvSpPr>
          <p:cNvPr id="3" name="Content Placeholder 2">
            <a:extLst>
              <a:ext uri="{FF2B5EF4-FFF2-40B4-BE49-F238E27FC236}">
                <a16:creationId xmlns:a16="http://schemas.microsoft.com/office/drawing/2014/main" id="{AE5288EE-3E88-6977-8450-63A72509D297}"/>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lstStyle/>
          <a:p>
            <a:r>
              <a:rPr lang="en-US" b="1" dirty="0"/>
              <a:t>Easier to Ask Forgiveness than Permission</a:t>
            </a:r>
            <a:endParaRPr lang="en-US" dirty="0"/>
          </a:p>
          <a:p>
            <a:r>
              <a:rPr lang="en-US" dirty="0"/>
              <a:t>Attempt the operation</a:t>
            </a:r>
          </a:p>
          <a:p>
            <a:r>
              <a:rPr lang="en-US" dirty="0"/>
              <a:t>Handle failure if it happens</a:t>
            </a:r>
          </a:p>
          <a:p>
            <a:r>
              <a:rPr lang="en-US" dirty="0"/>
              <a:t>Fewer checks, fewer races</a:t>
            </a:r>
          </a:p>
        </p:txBody>
      </p:sp>
      <p:sp>
        <p:nvSpPr>
          <p:cNvPr id="4" name="Content Placeholder 2">
            <a:extLst>
              <a:ext uri="{FF2B5EF4-FFF2-40B4-BE49-F238E27FC236}">
                <a16:creationId xmlns:a16="http://schemas.microsoft.com/office/drawing/2014/main" id="{0158841A-4948-9F5B-BBE7-02374A95D15B}"/>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Bad</a:t>
            </a:r>
          </a:p>
          <a:p>
            <a:pPr marL="0" indent="0">
              <a:buNone/>
            </a:pPr>
            <a:r>
              <a:rPr lang="en-US" dirty="0"/>
              <a:t>if key in data:</a:t>
            </a:r>
          </a:p>
          <a:p>
            <a:pPr marL="0" indent="0">
              <a:buNone/>
            </a:pPr>
            <a:r>
              <a:rPr lang="en-US" dirty="0"/>
              <a:t>    value = data[key]</a:t>
            </a:r>
          </a:p>
        </p:txBody>
      </p:sp>
      <p:sp>
        <p:nvSpPr>
          <p:cNvPr id="6" name="Content Placeholder 2">
            <a:extLst>
              <a:ext uri="{FF2B5EF4-FFF2-40B4-BE49-F238E27FC236}">
                <a16:creationId xmlns:a16="http://schemas.microsoft.com/office/drawing/2014/main" id="{289B1564-8919-08A2-6448-46FD846DC968}"/>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Good</a:t>
            </a:r>
          </a:p>
          <a:p>
            <a:pPr marL="0" indent="0">
              <a:buNone/>
            </a:pPr>
            <a:r>
              <a:rPr lang="en-US" dirty="0"/>
              <a:t>try:</a:t>
            </a:r>
          </a:p>
          <a:p>
            <a:pPr marL="0" indent="0">
              <a:buNone/>
            </a:pPr>
            <a:r>
              <a:rPr lang="en-US" dirty="0"/>
              <a:t>    value = data[key]</a:t>
            </a:r>
          </a:p>
          <a:p>
            <a:pPr marL="0" indent="0">
              <a:buNone/>
            </a:pPr>
            <a:r>
              <a:rPr lang="en-US" dirty="0"/>
              <a:t>except </a:t>
            </a:r>
            <a:r>
              <a:rPr lang="en-US" dirty="0" err="1"/>
              <a:t>KeyError</a:t>
            </a:r>
            <a:r>
              <a:rPr lang="en-US" dirty="0"/>
              <a:t>:</a:t>
            </a:r>
          </a:p>
          <a:p>
            <a:pPr marL="0" indent="0">
              <a:buNone/>
            </a:pPr>
            <a:r>
              <a:rPr lang="en-US" dirty="0"/>
              <a:t>    value = default</a:t>
            </a:r>
          </a:p>
        </p:txBody>
      </p:sp>
    </p:spTree>
    <p:extLst>
      <p:ext uri="{BB962C8B-B14F-4D97-AF65-F5344CB8AC3E}">
        <p14:creationId xmlns:p14="http://schemas.microsoft.com/office/powerpoint/2010/main" val="339250604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99637-E33B-7846-AE98-08963A430A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3D006-21AE-20B2-96CE-E46EBE5D3BDD}"/>
              </a:ext>
            </a:extLst>
          </p:cNvPr>
          <p:cNvSpPr>
            <a:spLocks noGrp="1"/>
          </p:cNvSpPr>
          <p:nvPr>
            <p:ph type="title"/>
          </p:nvPr>
        </p:nvSpPr>
        <p:spPr>
          <a:xfrm>
            <a:off x="368300" y="-103982"/>
            <a:ext cx="8229600" cy="1143000"/>
          </a:xfrm>
        </p:spPr>
        <p:txBody>
          <a:bodyPr>
            <a:normAutofit/>
          </a:bodyPr>
          <a:lstStyle/>
          <a:p>
            <a:r>
              <a:rPr lang="en-US" b="1" dirty="0"/>
              <a:t>Never Swallow Errors</a:t>
            </a:r>
          </a:p>
        </p:txBody>
      </p:sp>
      <p:sp>
        <p:nvSpPr>
          <p:cNvPr id="3" name="Content Placeholder 2">
            <a:extLst>
              <a:ext uri="{FF2B5EF4-FFF2-40B4-BE49-F238E27FC236}">
                <a16:creationId xmlns:a16="http://schemas.microsoft.com/office/drawing/2014/main" id="{EA1C85A9-B2F1-B871-0346-B14C972F92C3}"/>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If you catch an error, you must </a:t>
            </a:r>
            <a:r>
              <a:rPr lang="en-US" b="1" dirty="0"/>
              <a:t>do one thing</a:t>
            </a:r>
            <a:r>
              <a:rPr lang="en-US" dirty="0"/>
              <a:t>:</a:t>
            </a:r>
          </a:p>
          <a:p>
            <a:pPr lvl="1"/>
            <a:r>
              <a:rPr lang="en-US" b="1" dirty="0"/>
              <a:t>Recover</a:t>
            </a:r>
            <a:endParaRPr lang="en-US" dirty="0"/>
          </a:p>
          <a:p>
            <a:pPr lvl="1"/>
            <a:r>
              <a:rPr lang="en-US" b="1" dirty="0"/>
              <a:t>Escalate</a:t>
            </a:r>
            <a:endParaRPr lang="en-US" dirty="0"/>
          </a:p>
          <a:p>
            <a:pPr lvl="1"/>
            <a:r>
              <a:rPr lang="en-US" b="1" dirty="0"/>
              <a:t>Record</a:t>
            </a:r>
            <a:endParaRPr lang="en-US" dirty="0"/>
          </a:p>
          <a:p>
            <a:r>
              <a:rPr lang="en-US" dirty="0"/>
              <a:t>Anything else is a bug.</a:t>
            </a:r>
          </a:p>
          <a:p>
            <a:pPr marL="0" indent="0">
              <a:buNone/>
            </a:pPr>
            <a:endParaRPr lang="en-US" b="1" dirty="0"/>
          </a:p>
          <a:p>
            <a:pPr marL="0" indent="0">
              <a:buNone/>
            </a:pPr>
            <a:r>
              <a:rPr lang="en-US" b="1" dirty="0"/>
              <a:t>Rule -</a:t>
            </a:r>
            <a:r>
              <a:rPr lang="en-US" dirty="0"/>
              <a:t>Every caught error must do </a:t>
            </a:r>
            <a:r>
              <a:rPr lang="en-US" i="1" dirty="0"/>
              <a:t>something</a:t>
            </a:r>
            <a:endParaRPr lang="en-US" dirty="0"/>
          </a:p>
        </p:txBody>
      </p:sp>
      <p:sp>
        <p:nvSpPr>
          <p:cNvPr id="4" name="Content Placeholder 2">
            <a:extLst>
              <a:ext uri="{FF2B5EF4-FFF2-40B4-BE49-F238E27FC236}">
                <a16:creationId xmlns:a16="http://schemas.microsoft.com/office/drawing/2014/main" id="{61A1D6C7-FF0E-1BA4-587C-41EB257D5A6F}"/>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 #bad</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518117A8-1CD4-6025-786D-675D800AA9BD}"/>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try: #good</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p:txBody>
      </p:sp>
    </p:spTree>
    <p:extLst>
      <p:ext uri="{BB962C8B-B14F-4D97-AF65-F5344CB8AC3E}">
        <p14:creationId xmlns:p14="http://schemas.microsoft.com/office/powerpoint/2010/main" val="294764056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82B6C-1291-4B69-FE0B-D2EB9832C4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997409-EF2C-F34B-264B-230FE9CA770E}"/>
              </a:ext>
            </a:extLst>
          </p:cNvPr>
          <p:cNvSpPr>
            <a:spLocks noGrp="1"/>
          </p:cNvSpPr>
          <p:nvPr>
            <p:ph type="title"/>
          </p:nvPr>
        </p:nvSpPr>
        <p:spPr>
          <a:xfrm>
            <a:off x="368300" y="-103982"/>
            <a:ext cx="8229600" cy="1143000"/>
          </a:xfrm>
        </p:spPr>
        <p:txBody>
          <a:bodyPr>
            <a:normAutofit/>
          </a:bodyPr>
          <a:lstStyle/>
          <a:p>
            <a:r>
              <a:rPr lang="en-SG" b="1" dirty="0"/>
              <a:t>Bad vs Good Error Handling</a:t>
            </a:r>
          </a:p>
        </p:txBody>
      </p:sp>
      <p:sp>
        <p:nvSpPr>
          <p:cNvPr id="3" name="Content Placeholder 2">
            <a:extLst>
              <a:ext uri="{FF2B5EF4-FFF2-40B4-BE49-F238E27FC236}">
                <a16:creationId xmlns:a16="http://schemas.microsoft.com/office/drawing/2014/main" id="{3F4B044B-9DD5-6380-F996-B27FEAC1CEEA}"/>
              </a:ext>
            </a:extLst>
          </p:cNvPr>
          <p:cNvSpPr>
            <a:spLocks noGrp="1"/>
          </p:cNvSpPr>
          <p:nvPr>
            <p:ph idx="1"/>
          </p:nvPr>
        </p:nvSpPr>
        <p:spPr>
          <a:xfrm>
            <a:off x="457200" y="1079502"/>
            <a:ext cx="3505200" cy="531098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bad</a:t>
            </a:r>
          </a:p>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B0DE4CD4-9704-C1CC-ACBD-1FB87F8F9141}"/>
              </a:ext>
            </a:extLst>
          </p:cNvPr>
          <p:cNvSpPr txBox="1">
            <a:spLocks/>
          </p:cNvSpPr>
          <p:nvPr/>
        </p:nvSpPr>
        <p:spPr>
          <a:xfrm>
            <a:off x="4330700" y="1079502"/>
            <a:ext cx="7400925" cy="531098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 good</a:t>
            </a:r>
          </a:p>
          <a:p>
            <a:pPr marL="0" indent="0">
              <a:buNone/>
            </a:pPr>
            <a:r>
              <a:rPr lang="pt-BR" dirty="0"/>
              <a:t>try:</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a:p>
            <a:pPr marL="0" indent="0">
              <a:buNone/>
            </a:pPr>
            <a:endParaRPr lang="pt-BR" dirty="0"/>
          </a:p>
        </p:txBody>
      </p:sp>
    </p:spTree>
    <p:extLst>
      <p:ext uri="{BB962C8B-B14F-4D97-AF65-F5344CB8AC3E}">
        <p14:creationId xmlns:p14="http://schemas.microsoft.com/office/powerpoint/2010/main" val="2498264122"/>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0FDFF-D835-723B-E08C-5731D6587A7B}"/>
              </a:ext>
            </a:extLst>
          </p:cNvPr>
          <p:cNvSpPr>
            <a:spLocks noGrp="1"/>
          </p:cNvSpPr>
          <p:nvPr>
            <p:ph type="title"/>
          </p:nvPr>
        </p:nvSpPr>
        <p:spPr>
          <a:xfrm>
            <a:off x="457200" y="-119062"/>
            <a:ext cx="8229600" cy="1143000"/>
          </a:xfrm>
        </p:spPr>
        <p:txBody>
          <a:bodyPr>
            <a:normAutofit/>
          </a:bodyPr>
          <a:lstStyle/>
          <a:p>
            <a:r>
              <a:rPr lang="en-US" dirty="0"/>
              <a:t>Three Valid Responses to Errors</a:t>
            </a:r>
            <a:endParaRPr lang="en-SG" dirty="0"/>
          </a:p>
        </p:txBody>
      </p:sp>
      <p:sp>
        <p:nvSpPr>
          <p:cNvPr id="3" name="Content Placeholder 2">
            <a:extLst>
              <a:ext uri="{FF2B5EF4-FFF2-40B4-BE49-F238E27FC236}">
                <a16:creationId xmlns:a16="http://schemas.microsoft.com/office/drawing/2014/main" id="{6C757572-A022-1F6D-5480-0A732F4081EE}"/>
              </a:ext>
            </a:extLst>
          </p:cNvPr>
          <p:cNvSpPr>
            <a:spLocks noGrp="1"/>
          </p:cNvSpPr>
          <p:nvPr>
            <p:ph idx="1"/>
          </p:nvPr>
        </p:nvSpPr>
        <p:spPr>
          <a:xfrm>
            <a:off x="457200" y="1023938"/>
            <a:ext cx="9867900" cy="5559424"/>
          </a:xfrm>
        </p:spPr>
        <p:txBody>
          <a:bodyPr>
            <a:normAutofit lnSpcReduction="10000"/>
          </a:bodyPr>
          <a:lstStyle/>
          <a:p>
            <a:r>
              <a:rPr lang="en-US" sz="2800" b="1" dirty="0"/>
              <a:t>Recover</a:t>
            </a:r>
            <a:endParaRPr lang="en-US" sz="2800" dirty="0"/>
          </a:p>
          <a:p>
            <a:pPr lvl="1"/>
            <a:r>
              <a:rPr lang="en-US" dirty="0"/>
              <a:t>Retry</a:t>
            </a:r>
          </a:p>
          <a:p>
            <a:pPr lvl="1"/>
            <a:r>
              <a:rPr lang="en-US" dirty="0"/>
              <a:t>Default</a:t>
            </a:r>
          </a:p>
          <a:p>
            <a:pPr lvl="1"/>
            <a:r>
              <a:rPr lang="en-US" dirty="0"/>
              <a:t>Fallback path</a:t>
            </a:r>
          </a:p>
          <a:p>
            <a:r>
              <a:rPr lang="en-US" sz="2800" b="1" dirty="0"/>
              <a:t>Escalate</a:t>
            </a:r>
            <a:endParaRPr lang="en-US" sz="2800" dirty="0"/>
          </a:p>
          <a:p>
            <a:pPr lvl="1"/>
            <a:r>
              <a:rPr lang="en-US" dirty="0"/>
              <a:t>Re-raise</a:t>
            </a:r>
          </a:p>
          <a:p>
            <a:pPr lvl="1"/>
            <a:r>
              <a:rPr lang="en-US" dirty="0"/>
              <a:t>Wrap with domain meaning</a:t>
            </a:r>
          </a:p>
          <a:p>
            <a:r>
              <a:rPr lang="en-US" sz="2800" b="1" dirty="0"/>
              <a:t>Record</a:t>
            </a:r>
            <a:endParaRPr lang="en-US" sz="2800" dirty="0"/>
          </a:p>
          <a:p>
            <a:pPr lvl="1"/>
            <a:r>
              <a:rPr lang="en-US" dirty="0"/>
              <a:t>Log with context</a:t>
            </a:r>
          </a:p>
          <a:p>
            <a:pPr lvl="1"/>
            <a:r>
              <a:rPr lang="en-US" dirty="0"/>
              <a:t>Preserve traceback</a:t>
            </a:r>
          </a:p>
          <a:p>
            <a:pPr marL="0" indent="0">
              <a:buNone/>
            </a:pPr>
            <a:r>
              <a:rPr lang="en-US" sz="2800" b="1" dirty="0"/>
              <a:t>Anything else is a bug.</a:t>
            </a:r>
          </a:p>
          <a:p>
            <a:endParaRPr lang="en-SG" sz="2800" dirty="0"/>
          </a:p>
        </p:txBody>
      </p:sp>
    </p:spTree>
    <p:extLst>
      <p:ext uri="{BB962C8B-B14F-4D97-AF65-F5344CB8AC3E}">
        <p14:creationId xmlns:p14="http://schemas.microsoft.com/office/powerpoint/2010/main" val="421614501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470FC-D9A8-BBA0-B59E-AA98EE78BA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76F67-002E-94FA-3F5F-46E1F7218327}"/>
              </a:ext>
            </a:extLst>
          </p:cNvPr>
          <p:cNvSpPr>
            <a:spLocks noGrp="1"/>
          </p:cNvSpPr>
          <p:nvPr>
            <p:ph type="title"/>
          </p:nvPr>
        </p:nvSpPr>
        <p:spPr>
          <a:xfrm>
            <a:off x="368300" y="-103982"/>
            <a:ext cx="8229600" cy="1143000"/>
          </a:xfrm>
        </p:spPr>
        <p:txBody>
          <a:bodyPr>
            <a:normAutofit/>
          </a:bodyPr>
          <a:lstStyle/>
          <a:p>
            <a:r>
              <a:rPr lang="en-SG" dirty="0"/>
              <a:t>Escalation with Meaning</a:t>
            </a:r>
          </a:p>
        </p:txBody>
      </p:sp>
      <p:sp>
        <p:nvSpPr>
          <p:cNvPr id="3" name="Content Placeholder 2">
            <a:extLst>
              <a:ext uri="{FF2B5EF4-FFF2-40B4-BE49-F238E27FC236}">
                <a16:creationId xmlns:a16="http://schemas.microsoft.com/office/drawing/2014/main" id="{49F2791B-34C0-2D2E-F2F7-6F31781CDE24}"/>
              </a:ext>
            </a:extLst>
          </p:cNvPr>
          <p:cNvSpPr>
            <a:spLocks noGrp="1"/>
          </p:cNvSpPr>
          <p:nvPr>
            <p:ph idx="1"/>
          </p:nvPr>
        </p:nvSpPr>
        <p:spPr>
          <a:xfrm>
            <a:off x="457200" y="1079502"/>
            <a:ext cx="42037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Cleaner APIs</a:t>
            </a:r>
          </a:p>
          <a:p>
            <a:r>
              <a:rPr lang="en-US" dirty="0"/>
              <a:t>Better debugging</a:t>
            </a:r>
          </a:p>
          <a:p>
            <a:r>
              <a:rPr lang="en-US" dirty="0"/>
              <a:t>Business-level clarity</a:t>
            </a:r>
          </a:p>
        </p:txBody>
      </p:sp>
      <p:sp>
        <p:nvSpPr>
          <p:cNvPr id="4" name="Content Placeholder 2">
            <a:extLst>
              <a:ext uri="{FF2B5EF4-FFF2-40B4-BE49-F238E27FC236}">
                <a16:creationId xmlns:a16="http://schemas.microsoft.com/office/drawing/2014/main" id="{AE6B4477-9DF2-A2A2-1F43-53673F7C6872}"/>
              </a:ext>
            </a:extLst>
          </p:cNvPr>
          <p:cNvSpPr txBox="1">
            <a:spLocks/>
          </p:cNvSpPr>
          <p:nvPr/>
        </p:nvSpPr>
        <p:spPr>
          <a:xfrm>
            <a:off x="5054600" y="1079501"/>
            <a:ext cx="6677025" cy="531098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715870159"/>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07CC-4280-E74D-6D73-6768E837960E}"/>
              </a:ext>
            </a:extLst>
          </p:cNvPr>
          <p:cNvSpPr>
            <a:spLocks noGrp="1"/>
          </p:cNvSpPr>
          <p:nvPr>
            <p:ph type="title"/>
          </p:nvPr>
        </p:nvSpPr>
        <p:spPr/>
        <p:txBody>
          <a:bodyPr>
            <a:normAutofit/>
          </a:bodyPr>
          <a:lstStyle/>
          <a:p>
            <a:r>
              <a:rPr lang="en-US" b="1" dirty="0"/>
              <a:t>When to Catch vs Let Crash</a:t>
            </a:r>
            <a:endParaRPr lang="en-SG" dirty="0"/>
          </a:p>
        </p:txBody>
      </p:sp>
      <p:sp>
        <p:nvSpPr>
          <p:cNvPr id="3" name="Content Placeholder 2">
            <a:extLst>
              <a:ext uri="{FF2B5EF4-FFF2-40B4-BE49-F238E27FC236}">
                <a16:creationId xmlns:a16="http://schemas.microsoft.com/office/drawing/2014/main" id="{2A05727C-5AEF-2DAA-3ADF-6AE33D78B1FB}"/>
              </a:ext>
            </a:extLst>
          </p:cNvPr>
          <p:cNvSpPr>
            <a:spLocks noGrp="1"/>
          </p:cNvSpPr>
          <p:nvPr>
            <p:ph idx="1"/>
          </p:nvPr>
        </p:nvSpPr>
        <p:spPr>
          <a:xfrm>
            <a:off x="457200" y="1600200"/>
            <a:ext cx="5245100" cy="4525963"/>
          </a:xfrm>
        </p:spPr>
        <p:txBody>
          <a:bodyPr>
            <a:normAutofit/>
          </a:bodyPr>
          <a:lstStyle/>
          <a:p>
            <a:pPr marL="0" indent="0">
              <a:buNone/>
            </a:pPr>
            <a:r>
              <a:rPr lang="en-US" sz="3600" dirty="0"/>
              <a:t>Catch exceptions when:</a:t>
            </a:r>
          </a:p>
          <a:p>
            <a:pPr lvl="1"/>
            <a:r>
              <a:rPr lang="en-US" sz="3200" dirty="0"/>
              <a:t>You can recover safely</a:t>
            </a:r>
          </a:p>
          <a:p>
            <a:pPr lvl="1"/>
            <a:r>
              <a:rPr lang="en-US" sz="3200" dirty="0"/>
              <a:t>You can retry</a:t>
            </a:r>
          </a:p>
          <a:p>
            <a:pPr lvl="1"/>
            <a:r>
              <a:rPr lang="en-US" sz="3200" dirty="0"/>
              <a:t>You can provide a meaningful fallback</a:t>
            </a:r>
          </a:p>
          <a:p>
            <a:pPr lvl="1"/>
            <a:r>
              <a:rPr lang="en-US" sz="3200" dirty="0"/>
              <a:t>You are translating errors across layers</a:t>
            </a:r>
          </a:p>
        </p:txBody>
      </p:sp>
      <p:sp>
        <p:nvSpPr>
          <p:cNvPr id="4" name="Content Placeholder 2">
            <a:extLst>
              <a:ext uri="{FF2B5EF4-FFF2-40B4-BE49-F238E27FC236}">
                <a16:creationId xmlns:a16="http://schemas.microsoft.com/office/drawing/2014/main" id="{F52BFCB2-44FF-A3C2-C294-B0F9CFAAFA47}"/>
              </a:ext>
            </a:extLst>
          </p:cNvPr>
          <p:cNvSpPr txBox="1">
            <a:spLocks/>
          </p:cNvSpPr>
          <p:nvPr/>
        </p:nvSpPr>
        <p:spPr>
          <a:xfrm>
            <a:off x="6616700" y="1600200"/>
            <a:ext cx="5245100" cy="4525963"/>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4000" dirty="0"/>
              <a:t>Do </a:t>
            </a:r>
            <a:r>
              <a:rPr lang="en-US" sz="4000" b="1" dirty="0"/>
              <a:t>not</a:t>
            </a:r>
            <a:r>
              <a:rPr lang="en-US" sz="4000" dirty="0"/>
              <a:t> catch when:</a:t>
            </a:r>
          </a:p>
          <a:p>
            <a:pPr lvl="1"/>
            <a:r>
              <a:rPr lang="en-US" sz="3600" dirty="0"/>
              <a:t>State may be corrupted</a:t>
            </a:r>
          </a:p>
          <a:p>
            <a:pPr lvl="1"/>
            <a:r>
              <a:rPr lang="en-US" sz="3600" dirty="0"/>
              <a:t>Preconditions are violated</a:t>
            </a:r>
          </a:p>
          <a:p>
            <a:pPr lvl="1"/>
            <a:r>
              <a:rPr lang="en-US" sz="3600" dirty="0"/>
              <a:t>Programmer error is detected</a:t>
            </a:r>
          </a:p>
          <a:p>
            <a:pPr lvl="1"/>
            <a:r>
              <a:rPr lang="en-US" sz="3600" dirty="0"/>
              <a:t>Continuing would hide defects</a:t>
            </a:r>
          </a:p>
          <a:p>
            <a:pPr marL="0" indent="0">
              <a:buNone/>
            </a:pPr>
            <a:r>
              <a:rPr lang="en-US" sz="4000" b="1" dirty="0"/>
              <a:t>Fail fast beats fail silently</a:t>
            </a:r>
            <a:endParaRPr lang="en-US" sz="4000" dirty="0"/>
          </a:p>
        </p:txBody>
      </p:sp>
    </p:spTree>
    <p:extLst>
      <p:ext uri="{BB962C8B-B14F-4D97-AF65-F5344CB8AC3E}">
        <p14:creationId xmlns:p14="http://schemas.microsoft.com/office/powerpoint/2010/main" val="125227329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76135-333C-8B4E-6AC9-359B2FFA610B}"/>
              </a:ext>
            </a:extLst>
          </p:cNvPr>
          <p:cNvSpPr>
            <a:spLocks noGrp="1"/>
          </p:cNvSpPr>
          <p:nvPr>
            <p:ph type="title"/>
          </p:nvPr>
        </p:nvSpPr>
        <p:spPr/>
        <p:txBody>
          <a:bodyPr>
            <a:normAutofit/>
          </a:bodyPr>
          <a:lstStyle/>
          <a:p>
            <a:r>
              <a:rPr lang="en-US" dirty="0"/>
              <a:t>Best Practices</a:t>
            </a:r>
            <a:endParaRPr lang="en-SG" dirty="0"/>
          </a:p>
        </p:txBody>
      </p:sp>
      <p:sp>
        <p:nvSpPr>
          <p:cNvPr id="3" name="Content Placeholder 2">
            <a:extLst>
              <a:ext uri="{FF2B5EF4-FFF2-40B4-BE49-F238E27FC236}">
                <a16:creationId xmlns:a16="http://schemas.microsoft.com/office/drawing/2014/main" id="{D13470B1-7739-FCA0-8C35-90A6D078CC27}"/>
              </a:ext>
            </a:extLst>
          </p:cNvPr>
          <p:cNvSpPr>
            <a:spLocks noGrp="1"/>
          </p:cNvSpPr>
          <p:nvPr>
            <p:ph idx="1"/>
          </p:nvPr>
        </p:nvSpPr>
        <p:spPr/>
        <p:txBody>
          <a:bodyPr>
            <a:normAutofit/>
          </a:bodyPr>
          <a:lstStyle/>
          <a:p>
            <a:r>
              <a:rPr lang="en-US" dirty="0"/>
              <a:t>Catch specific exceptions</a:t>
            </a:r>
          </a:p>
          <a:p>
            <a:r>
              <a:rPr lang="en-US" dirty="0"/>
              <a:t>Prefer EAFP (try → handle)</a:t>
            </a:r>
          </a:p>
          <a:p>
            <a:r>
              <a:rPr lang="en-US" dirty="0"/>
              <a:t>Log with context</a:t>
            </a:r>
          </a:p>
          <a:p>
            <a:r>
              <a:rPr lang="en-US" dirty="0"/>
              <a:t>Fail fast on programmer errors</a:t>
            </a:r>
          </a:p>
          <a:p>
            <a:r>
              <a:rPr lang="en-US" dirty="0"/>
              <a:t>Never swallow errors silently</a:t>
            </a:r>
          </a:p>
          <a:p>
            <a:endParaRPr lang="en-US" dirty="0"/>
          </a:p>
          <a:p>
            <a:pPr marL="0" indent="0">
              <a:buNone/>
            </a:pPr>
            <a:endParaRPr lang="en-US" dirty="0"/>
          </a:p>
          <a:p>
            <a:endParaRPr lang="en-SG" dirty="0"/>
          </a:p>
        </p:txBody>
      </p:sp>
    </p:spTree>
    <p:extLst>
      <p:ext uri="{BB962C8B-B14F-4D97-AF65-F5344CB8AC3E}">
        <p14:creationId xmlns:p14="http://schemas.microsoft.com/office/powerpoint/2010/main" val="3296490842"/>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E4FA4-A47B-EE7B-B526-CD24BC3A2578}"/>
              </a:ext>
            </a:extLst>
          </p:cNvPr>
          <p:cNvSpPr>
            <a:spLocks noGrp="1"/>
          </p:cNvSpPr>
          <p:nvPr>
            <p:ph type="title"/>
          </p:nvPr>
        </p:nvSpPr>
        <p:spPr/>
        <p:txBody>
          <a:bodyPr>
            <a:normAutofit fontScale="90000"/>
          </a:bodyPr>
          <a:lstStyle/>
          <a:p>
            <a:r>
              <a:rPr lang="en-SG" dirty="0"/>
              <a:t>Error Boundaries (Enterprise Pattern)</a:t>
            </a:r>
          </a:p>
        </p:txBody>
      </p:sp>
      <p:sp>
        <p:nvSpPr>
          <p:cNvPr id="3" name="Content Placeholder 2">
            <a:extLst>
              <a:ext uri="{FF2B5EF4-FFF2-40B4-BE49-F238E27FC236}">
                <a16:creationId xmlns:a16="http://schemas.microsoft.com/office/drawing/2014/main" id="{15168820-65FA-5860-0868-57C8216E5240}"/>
              </a:ext>
            </a:extLst>
          </p:cNvPr>
          <p:cNvSpPr>
            <a:spLocks noGrp="1"/>
          </p:cNvSpPr>
          <p:nvPr>
            <p:ph idx="1"/>
          </p:nvPr>
        </p:nvSpPr>
        <p:spPr>
          <a:xfrm>
            <a:off x="457200" y="1600200"/>
            <a:ext cx="10210800" cy="4525963"/>
          </a:xfrm>
        </p:spPr>
        <p:txBody>
          <a:bodyPr/>
          <a:lstStyle/>
          <a:p>
            <a:r>
              <a:rPr lang="en-SG" dirty="0"/>
              <a:t>Catch errors at </a:t>
            </a:r>
            <a:r>
              <a:rPr lang="en-SG" b="1" dirty="0"/>
              <a:t>system boundaries</a:t>
            </a:r>
            <a:endParaRPr lang="en-SG" dirty="0"/>
          </a:p>
          <a:p>
            <a:pPr lvl="1"/>
            <a:r>
              <a:rPr lang="en-SG" dirty="0"/>
              <a:t>API layer</a:t>
            </a:r>
          </a:p>
          <a:p>
            <a:pPr lvl="1"/>
            <a:r>
              <a:rPr lang="en-SG" dirty="0"/>
              <a:t>CLI </a:t>
            </a:r>
            <a:r>
              <a:rPr lang="en-SG" dirty="0" err="1"/>
              <a:t>entrypoint</a:t>
            </a:r>
            <a:endParaRPr lang="en-SG" dirty="0"/>
          </a:p>
          <a:p>
            <a:pPr lvl="1"/>
            <a:r>
              <a:rPr lang="en-SG" dirty="0"/>
              <a:t>Worker/task runner</a:t>
            </a:r>
          </a:p>
          <a:p>
            <a:r>
              <a:rPr lang="en-SG" dirty="0"/>
              <a:t>Keep core logic </a:t>
            </a:r>
            <a:r>
              <a:rPr lang="en-SG" b="1" dirty="0"/>
              <a:t>exception-transparent</a:t>
            </a:r>
            <a:endParaRPr lang="en-SG" dirty="0"/>
          </a:p>
          <a:p>
            <a:pPr marL="0" indent="0">
              <a:buNone/>
            </a:pPr>
            <a:r>
              <a:rPr lang="en-SG" b="1" dirty="0"/>
              <a:t>Mental model - </a:t>
            </a:r>
            <a:r>
              <a:rPr lang="en-SG" dirty="0"/>
              <a:t>Catch errors where responsibility changes</a:t>
            </a:r>
          </a:p>
          <a:p>
            <a:endParaRPr lang="en-SG" dirty="0"/>
          </a:p>
        </p:txBody>
      </p:sp>
    </p:spTree>
    <p:extLst>
      <p:ext uri="{BB962C8B-B14F-4D97-AF65-F5344CB8AC3E}">
        <p14:creationId xmlns:p14="http://schemas.microsoft.com/office/powerpoint/2010/main" val="69543517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0327E-54C4-740F-3B2F-8EBD56023540}"/>
              </a:ext>
            </a:extLst>
          </p:cNvPr>
          <p:cNvSpPr>
            <a:spLocks noGrp="1"/>
          </p:cNvSpPr>
          <p:nvPr>
            <p:ph type="title"/>
          </p:nvPr>
        </p:nvSpPr>
        <p:spPr/>
        <p:txBody>
          <a:bodyPr>
            <a:normAutofit/>
          </a:bodyPr>
          <a:lstStyle/>
          <a:p>
            <a:r>
              <a:rPr lang="en-US" dirty="0"/>
              <a:t>Exception Translation</a:t>
            </a:r>
            <a:endParaRPr lang="en-SG" dirty="0"/>
          </a:p>
        </p:txBody>
      </p:sp>
      <p:sp>
        <p:nvSpPr>
          <p:cNvPr id="3" name="Content Placeholder 2">
            <a:extLst>
              <a:ext uri="{FF2B5EF4-FFF2-40B4-BE49-F238E27FC236}">
                <a16:creationId xmlns:a16="http://schemas.microsoft.com/office/drawing/2014/main" id="{9E4A8C77-BCE5-70BF-8CDA-FFF423BB8F4E}"/>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Convert low-level errors into domain meaning</a:t>
            </a:r>
          </a:p>
          <a:p>
            <a:r>
              <a:rPr lang="en-US" b="1" dirty="0"/>
              <a:t>Benefit</a:t>
            </a:r>
            <a:endParaRPr lang="en-US" dirty="0"/>
          </a:p>
          <a:p>
            <a:pPr lvl="1"/>
            <a:r>
              <a:rPr lang="en-US" dirty="0"/>
              <a:t>Clear intent</a:t>
            </a:r>
          </a:p>
          <a:p>
            <a:pPr lvl="1"/>
            <a:r>
              <a:rPr lang="en-US" dirty="0"/>
              <a:t>Better debugging</a:t>
            </a:r>
          </a:p>
          <a:p>
            <a:pPr lvl="1"/>
            <a:r>
              <a:rPr lang="en-US" dirty="0"/>
              <a:t>Cleaner APIs</a:t>
            </a:r>
          </a:p>
          <a:p>
            <a:endParaRPr lang="en-US" dirty="0"/>
          </a:p>
          <a:p>
            <a:endParaRPr lang="en-SG" dirty="0"/>
          </a:p>
        </p:txBody>
      </p:sp>
      <p:sp>
        <p:nvSpPr>
          <p:cNvPr id="4" name="Content Placeholder 2">
            <a:extLst>
              <a:ext uri="{FF2B5EF4-FFF2-40B4-BE49-F238E27FC236}">
                <a16:creationId xmlns:a16="http://schemas.microsoft.com/office/drawing/2014/main" id="{B0FB6B7E-CC59-E1DB-B1EF-1F72AD7051B6}"/>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11304349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C7A18-3054-B727-73EC-8F2646E3B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FBEBCF-A264-7274-C117-B70FD59E7666}"/>
              </a:ext>
            </a:extLst>
          </p:cNvPr>
          <p:cNvSpPr>
            <a:spLocks noGrp="1"/>
          </p:cNvSpPr>
          <p:nvPr>
            <p:ph type="title"/>
          </p:nvPr>
        </p:nvSpPr>
        <p:spPr/>
        <p:txBody>
          <a:bodyPr>
            <a:normAutofit/>
          </a:bodyPr>
          <a:lstStyle/>
          <a:p>
            <a:r>
              <a:rPr lang="en-US" dirty="0"/>
              <a:t>Logging Is Not Optional</a:t>
            </a:r>
          </a:p>
        </p:txBody>
      </p:sp>
      <p:sp>
        <p:nvSpPr>
          <p:cNvPr id="3" name="Content Placeholder 2">
            <a:extLst>
              <a:ext uri="{FF2B5EF4-FFF2-40B4-BE49-F238E27FC236}">
                <a16:creationId xmlns:a16="http://schemas.microsoft.com/office/drawing/2014/main" id="{CF9B991B-9D55-46F3-B365-986903910B04}"/>
              </a:ext>
            </a:extLst>
          </p:cNvPr>
          <p:cNvSpPr>
            <a:spLocks noGrp="1"/>
          </p:cNvSpPr>
          <p:nvPr>
            <p:ph idx="1"/>
          </p:nvPr>
        </p:nvSpPr>
        <p:spPr>
          <a:xfrm>
            <a:off x="457200" y="1600200"/>
            <a:ext cx="4914900" cy="4525963"/>
          </a:xfrm>
        </p:spPr>
        <p:style>
          <a:lnRef idx="2">
            <a:schemeClr val="dk1"/>
          </a:lnRef>
          <a:fillRef idx="1">
            <a:schemeClr val="lt1"/>
          </a:fillRef>
          <a:effectRef idx="0">
            <a:schemeClr val="dk1"/>
          </a:effectRef>
          <a:fontRef idx="minor">
            <a:schemeClr val="dk1"/>
          </a:fontRef>
        </p:style>
        <p:txBody>
          <a:bodyPr/>
          <a:lstStyle/>
          <a:p>
            <a:r>
              <a:rPr lang="en-US" dirty="0"/>
              <a:t>Always log:</a:t>
            </a:r>
          </a:p>
          <a:p>
            <a:pPr lvl="1"/>
            <a:r>
              <a:rPr lang="en-US" dirty="0"/>
              <a:t>What failed</a:t>
            </a:r>
          </a:p>
          <a:p>
            <a:pPr lvl="1"/>
            <a:r>
              <a:rPr lang="en-US" dirty="0"/>
              <a:t>Why it matters</a:t>
            </a:r>
          </a:p>
          <a:p>
            <a:pPr lvl="1"/>
            <a:r>
              <a:rPr lang="en-US" dirty="0"/>
              <a:t>Relevant identifiers</a:t>
            </a:r>
          </a:p>
        </p:txBody>
      </p:sp>
      <p:sp>
        <p:nvSpPr>
          <p:cNvPr id="4" name="Content Placeholder 2">
            <a:extLst>
              <a:ext uri="{FF2B5EF4-FFF2-40B4-BE49-F238E27FC236}">
                <a16:creationId xmlns:a16="http://schemas.microsoft.com/office/drawing/2014/main" id="{B5A6E009-9F41-B0CB-1591-6F039645582C}"/>
              </a:ext>
            </a:extLst>
          </p:cNvPr>
          <p:cNvSpPr txBox="1">
            <a:spLocks/>
          </p:cNvSpPr>
          <p:nvPr/>
        </p:nvSpPr>
        <p:spPr>
          <a:xfrm>
            <a:off x="5727700" y="1600200"/>
            <a:ext cx="6003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logger.error</a:t>
            </a:r>
            <a:r>
              <a:rPr lang="en-US" dirty="0"/>
              <a:t>(</a:t>
            </a:r>
          </a:p>
          <a:p>
            <a:pPr marL="0" indent="0">
              <a:buNone/>
            </a:pPr>
            <a:r>
              <a:rPr lang="en-US" dirty="0"/>
              <a:t>    "Payment processing failed",</a:t>
            </a:r>
          </a:p>
          <a:p>
            <a:pPr marL="0" indent="0">
              <a:buNone/>
            </a:pPr>
            <a:r>
              <a:rPr lang="en-US" dirty="0"/>
              <a:t>    extra={"</a:t>
            </a:r>
            <a:r>
              <a:rPr lang="en-US" dirty="0" err="1"/>
              <a:t>order_id</a:t>
            </a:r>
            <a:r>
              <a:rPr lang="en-US" dirty="0"/>
              <a:t>": order.id}</a:t>
            </a:r>
          </a:p>
          <a:p>
            <a:pPr marL="0" indent="0">
              <a:buNone/>
            </a:pPr>
            <a:r>
              <a:rPr lang="en-US" dirty="0"/>
              <a:t>)</a:t>
            </a:r>
          </a:p>
        </p:txBody>
      </p:sp>
    </p:spTree>
    <p:extLst>
      <p:ext uri="{BB962C8B-B14F-4D97-AF65-F5344CB8AC3E}">
        <p14:creationId xmlns:p14="http://schemas.microsoft.com/office/powerpoint/2010/main" val="323549286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4F7D2-F0E9-44CE-EC7B-D09337A55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5DBC61-014D-AF59-C229-248C6A4FE205}"/>
              </a:ext>
            </a:extLst>
          </p:cNvPr>
          <p:cNvSpPr>
            <a:spLocks noGrp="1"/>
          </p:cNvSpPr>
          <p:nvPr>
            <p:ph type="title"/>
          </p:nvPr>
        </p:nvSpPr>
        <p:spPr/>
        <p:txBody>
          <a:bodyPr>
            <a:normAutofit/>
          </a:bodyPr>
          <a:lstStyle/>
          <a:p>
            <a:r>
              <a:rPr lang="en-SG" dirty="0"/>
              <a:t>Context Managers = Safety Rails</a:t>
            </a:r>
          </a:p>
        </p:txBody>
      </p:sp>
      <p:sp>
        <p:nvSpPr>
          <p:cNvPr id="3" name="Content Placeholder 2">
            <a:extLst>
              <a:ext uri="{FF2B5EF4-FFF2-40B4-BE49-F238E27FC236}">
                <a16:creationId xmlns:a16="http://schemas.microsoft.com/office/drawing/2014/main" id="{B2469093-798D-3F41-F422-B1F16CC56459}"/>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Use </a:t>
            </a:r>
            <a:r>
              <a:rPr lang="en-US" b="1" dirty="0"/>
              <a:t>with</a:t>
            </a:r>
            <a:r>
              <a:rPr lang="en-US" dirty="0"/>
              <a:t> to guarantee cleanup.</a:t>
            </a:r>
          </a:p>
          <a:p>
            <a:r>
              <a:rPr lang="en-US" dirty="0"/>
              <a:t>Even if errors occur:</a:t>
            </a:r>
          </a:p>
          <a:p>
            <a:pPr lvl="1"/>
            <a:r>
              <a:rPr lang="en-US" dirty="0"/>
              <a:t>Files close</a:t>
            </a:r>
          </a:p>
          <a:p>
            <a:pPr lvl="1"/>
            <a:r>
              <a:rPr lang="en-US" dirty="0"/>
              <a:t>Locks release</a:t>
            </a:r>
          </a:p>
          <a:p>
            <a:pPr lvl="1"/>
            <a:r>
              <a:rPr lang="en-US" dirty="0"/>
              <a:t>Resources clean up</a:t>
            </a:r>
          </a:p>
          <a:p>
            <a:endParaRPr lang="en-US" dirty="0"/>
          </a:p>
        </p:txBody>
      </p:sp>
      <p:sp>
        <p:nvSpPr>
          <p:cNvPr id="4" name="Content Placeholder 2">
            <a:extLst>
              <a:ext uri="{FF2B5EF4-FFF2-40B4-BE49-F238E27FC236}">
                <a16:creationId xmlns:a16="http://schemas.microsoft.com/office/drawing/2014/main" id="{31A5612F-EFB1-A3A6-8AA3-AEC0520AA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with open("data.txt") as f:</a:t>
            </a:r>
          </a:p>
          <a:p>
            <a:pPr marL="0" indent="0">
              <a:buNone/>
            </a:pPr>
            <a:r>
              <a:rPr lang="en-US" dirty="0"/>
              <a:t>    process(f)</a:t>
            </a:r>
          </a:p>
        </p:txBody>
      </p:sp>
    </p:spTree>
    <p:extLst>
      <p:ext uri="{BB962C8B-B14F-4D97-AF65-F5344CB8AC3E}">
        <p14:creationId xmlns:p14="http://schemas.microsoft.com/office/powerpoint/2010/main" val="1453821617"/>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267AF-4329-577F-E992-47DA7AB64B58}"/>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5A69E04D-FB64-C9EF-705D-B5E5EBF0BD47}"/>
              </a:ext>
            </a:extLst>
          </p:cNvPr>
          <p:cNvSpPr>
            <a:spLocks noGrp="1"/>
          </p:cNvSpPr>
          <p:nvPr>
            <p:ph idx="1"/>
          </p:nvPr>
        </p:nvSpPr>
        <p:spPr/>
        <p:txBody>
          <a:bodyPr/>
          <a:lstStyle/>
          <a:p>
            <a:r>
              <a:rPr lang="en-US" dirty="0"/>
              <a:t>Narrow exceptions only</a:t>
            </a:r>
          </a:p>
          <a:p>
            <a:r>
              <a:rPr lang="en-US" dirty="0"/>
              <a:t>Prefer EAFP</a:t>
            </a:r>
          </a:p>
          <a:p>
            <a:r>
              <a:rPr lang="en-US" dirty="0"/>
              <a:t>Log once, at the boundary</a:t>
            </a:r>
          </a:p>
          <a:p>
            <a:r>
              <a:rPr lang="en-US" dirty="0"/>
              <a:t>Never suppress unknown failures</a:t>
            </a:r>
          </a:p>
          <a:p>
            <a:r>
              <a:rPr lang="en-US" dirty="0"/>
              <a:t>Treat error handling as design</a:t>
            </a:r>
          </a:p>
        </p:txBody>
      </p:sp>
    </p:spTree>
    <p:extLst>
      <p:ext uri="{BB962C8B-B14F-4D97-AF65-F5344CB8AC3E}">
        <p14:creationId xmlns:p14="http://schemas.microsoft.com/office/powerpoint/2010/main" val="400650407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2F8BF-5FB8-E80A-E31E-09211C333082}"/>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A539A7A5-5CEB-61F4-95C6-A7EC1670D891}"/>
              </a:ext>
            </a:extLst>
          </p:cNvPr>
          <p:cNvSpPr>
            <a:spLocks noGrp="1"/>
          </p:cNvSpPr>
          <p:nvPr>
            <p:ph idx="1"/>
          </p:nvPr>
        </p:nvSpPr>
        <p:spPr>
          <a:xfrm>
            <a:off x="457200" y="1600200"/>
            <a:ext cx="11099800" cy="4525963"/>
          </a:xfrm>
        </p:spPr>
        <p:txBody>
          <a:bodyPr/>
          <a:lstStyle/>
          <a:p>
            <a:r>
              <a:rPr lang="en-US" dirty="0"/>
              <a:t>Specific exceptions &gt; broad catches</a:t>
            </a:r>
          </a:p>
          <a:p>
            <a:r>
              <a:rPr lang="en-US" dirty="0"/>
              <a:t>EAFP is the Pythonic default</a:t>
            </a:r>
          </a:p>
          <a:p>
            <a:r>
              <a:rPr lang="en-US" dirty="0"/>
              <a:t>Silent errors are production bugs</a:t>
            </a:r>
          </a:p>
          <a:p>
            <a:r>
              <a:rPr lang="en-US" dirty="0"/>
              <a:t>Error handling is system design</a:t>
            </a:r>
          </a:p>
          <a:p>
            <a:pPr marL="0" indent="0">
              <a:buNone/>
            </a:pPr>
            <a:endParaRPr lang="en-US" b="1" dirty="0"/>
          </a:p>
          <a:p>
            <a:pPr marL="0" indent="0">
              <a:buNone/>
            </a:pPr>
            <a:r>
              <a:rPr lang="en-US" b="1" dirty="0"/>
              <a:t>Mental model: </a:t>
            </a:r>
            <a:r>
              <a:rPr lang="en-US" dirty="0"/>
              <a:t>“If it fails, fail loudly, clearly, and intentionally”</a:t>
            </a:r>
          </a:p>
        </p:txBody>
      </p:sp>
    </p:spTree>
    <p:extLst>
      <p:ext uri="{BB962C8B-B14F-4D97-AF65-F5344CB8AC3E}">
        <p14:creationId xmlns:p14="http://schemas.microsoft.com/office/powerpoint/2010/main" val="391305212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r>
              <a:t>pathlib provides object-oriented paths</a:t>
            </a:r>
          </a:p>
          <a:p>
            <a:r>
              <a:t>Cleaner, more readable code</a:t>
            </a:r>
          </a:p>
          <a:p>
            <a:r>
              <a:t>Recommended for modern Python</a:t>
            </a:r>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from </a:t>
            </a:r>
            <a:r>
              <a:rPr sz="2800" dirty="0" err="1"/>
              <a:t>pathlib</a:t>
            </a:r>
            <a:r>
              <a:rPr sz="2800" dirty="0"/>
              <a:t> import Path</a:t>
            </a:r>
            <a:br>
              <a:rPr sz="2800" dirty="0"/>
            </a:br>
            <a:r>
              <a:rPr sz="2800" dirty="0"/>
              <a:t>root = Path("docs") / "letters"</a:t>
            </a:r>
            <a:br>
              <a:rPr sz="2800" dirty="0"/>
            </a:br>
            <a:r>
              <a:rPr sz="2800" dirty="0"/>
              <a:t>for file in </a:t>
            </a:r>
            <a:r>
              <a:rPr sz="2800" dirty="0" err="1"/>
              <a:t>root.glob</a:t>
            </a:r>
            <a:r>
              <a:rPr sz="2800" dirty="0"/>
              <a:t>("*.txt"):</a:t>
            </a:r>
            <a:br>
              <a:rPr sz="2800" dirty="0"/>
            </a:br>
            <a:r>
              <a:rPr sz="2800" dirty="0"/>
              <a:t>    print(</a:t>
            </a:r>
            <a:r>
              <a:rPr sz="2800" dirty="0" err="1"/>
              <a:t>file.stem</a:t>
            </a:r>
            <a:r>
              <a:rPr sz="2800" dirty="0"/>
              <a:t>)</a:t>
            </a:r>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import </a:t>
            </a:r>
            <a:r>
              <a:rPr sz="1600" dirty="0" err="1"/>
              <a:t>json</a:t>
            </a:r>
            <a:r>
              <a:rPr sz="1600" dirty="0"/>
              <a:t>, </a:t>
            </a:r>
            <a:r>
              <a:rPr sz="1600" dirty="0" err="1"/>
              <a:t>pathlib</a:t>
            </a:r>
            <a:r>
              <a:rPr sz="1600" dirty="0"/>
              <a:t>, sys</a:t>
            </a:r>
            <a:br>
              <a:rPr sz="1600" dirty="0"/>
            </a:br>
            <a:r>
              <a:rPr sz="1600" dirty="0"/>
              <a:t>FILE = </a:t>
            </a:r>
            <a:r>
              <a:rPr sz="1600" dirty="0" err="1"/>
              <a:t>pathlib.Path</a:t>
            </a:r>
            <a:r>
              <a:rPr sz="1600" dirty="0"/>
              <a:t>("</a:t>
            </a:r>
            <a:r>
              <a:rPr sz="1600" dirty="0" err="1"/>
              <a:t>contacts.json</a:t>
            </a:r>
            <a:r>
              <a:rPr sz="1600" dirty="0"/>
              <a:t>")</a:t>
            </a:r>
            <a:br>
              <a:rPr sz="1600" dirty="0"/>
            </a:br>
            <a:r>
              <a:rPr sz="1600" dirty="0"/>
              <a:t>def load(): return </a:t>
            </a:r>
            <a:r>
              <a:rPr sz="1600" dirty="0" err="1"/>
              <a:t>json.loads</a:t>
            </a:r>
            <a:r>
              <a:rPr sz="1600" dirty="0"/>
              <a:t>(</a:t>
            </a:r>
            <a:r>
              <a:rPr sz="1600" dirty="0" err="1"/>
              <a:t>FILE.read_text</a:t>
            </a:r>
            <a:r>
              <a:rPr sz="1600" dirty="0"/>
              <a:t>()) if </a:t>
            </a:r>
            <a:r>
              <a:rPr sz="1600" dirty="0" err="1"/>
              <a:t>FILE.exists</a:t>
            </a:r>
            <a:r>
              <a:rPr sz="1600" dirty="0"/>
              <a:t>() else {}</a:t>
            </a:r>
            <a:br>
              <a:rPr sz="1600" dirty="0"/>
            </a:br>
            <a:r>
              <a:rPr sz="1600" dirty="0"/>
              <a:t>def save(data): </a:t>
            </a:r>
            <a:r>
              <a:rPr sz="1600" dirty="0" err="1"/>
              <a:t>FILE.write_text</a:t>
            </a:r>
            <a:r>
              <a:rPr sz="1600" dirty="0"/>
              <a:t>(</a:t>
            </a:r>
            <a:r>
              <a:rPr sz="1600" dirty="0" err="1"/>
              <a:t>json.dumps</a:t>
            </a:r>
            <a:r>
              <a:rPr sz="1600" dirty="0"/>
              <a:t>(data, indent=2))</a:t>
            </a:r>
            <a:br>
              <a:rPr sz="1600" dirty="0"/>
            </a:br>
            <a:r>
              <a:rPr sz="1600" dirty="0"/>
              <a:t>def add(name, phone):</a:t>
            </a:r>
            <a:br>
              <a:rPr sz="1600" dirty="0"/>
            </a:br>
            <a:r>
              <a:rPr sz="1600" dirty="0"/>
              <a:t>    book = load(); book[name] = phone; save(book); print(</a:t>
            </a:r>
            <a:r>
              <a:rPr sz="1600" dirty="0" err="1"/>
              <a:t>f"Added</a:t>
            </a:r>
            <a:r>
              <a:rPr sz="1600" dirty="0"/>
              <a:t> {name}")</a:t>
            </a:r>
            <a:br>
              <a:rPr sz="1600" dirty="0"/>
            </a:br>
            <a:r>
              <a:rPr sz="1600" dirty="0"/>
              <a:t>if </a:t>
            </a:r>
            <a:r>
              <a:rPr sz="1600" dirty="0" err="1"/>
              <a:t>sys.argv</a:t>
            </a:r>
            <a:r>
              <a:rPr sz="1600" dirty="0"/>
              <a:t>[1:2] == ["add"]: add(</a:t>
            </a:r>
            <a:r>
              <a:rPr sz="1600" dirty="0" err="1"/>
              <a:t>sys.argv</a:t>
            </a:r>
            <a:r>
              <a:rPr sz="1600" dirty="0"/>
              <a:t>[2], </a:t>
            </a:r>
            <a:r>
              <a:rPr sz="1600" dirty="0" err="1"/>
              <a:t>sys.argv</a:t>
            </a:r>
            <a:r>
              <a:rPr sz="1600" dirty="0"/>
              <a:t>[3])</a:t>
            </a:r>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96D38-FFE3-F638-D4FB-86C7DC930A7C}"/>
              </a:ext>
            </a:extLst>
          </p:cNvPr>
          <p:cNvSpPr>
            <a:spLocks noGrp="1"/>
          </p:cNvSpPr>
          <p:nvPr>
            <p:ph type="title"/>
          </p:nvPr>
        </p:nvSpPr>
        <p:spPr/>
        <p:txBody>
          <a:bodyPr>
            <a:normAutofit/>
          </a:bodyPr>
          <a:lstStyle/>
          <a:p>
            <a:r>
              <a:rPr lang="en-US" b="1" dirty="0"/>
              <a:t>Enterprise Patterns</a:t>
            </a:r>
            <a:endParaRPr lang="en-SG" dirty="0"/>
          </a:p>
        </p:txBody>
      </p:sp>
      <p:sp>
        <p:nvSpPr>
          <p:cNvPr id="3" name="Content Placeholder 2">
            <a:extLst>
              <a:ext uri="{FF2B5EF4-FFF2-40B4-BE49-F238E27FC236}">
                <a16:creationId xmlns:a16="http://schemas.microsoft.com/office/drawing/2014/main" id="{067D570C-B4E6-7E31-6655-DC41D2EBF9C7}"/>
              </a:ext>
            </a:extLst>
          </p:cNvPr>
          <p:cNvSpPr>
            <a:spLocks noGrp="1"/>
          </p:cNvSpPr>
          <p:nvPr>
            <p:ph idx="1"/>
          </p:nvPr>
        </p:nvSpPr>
        <p:spPr/>
        <p:txBody>
          <a:bodyPr/>
          <a:lstStyle/>
          <a:p>
            <a:r>
              <a:rPr lang="en-US" dirty="0"/>
              <a:t>Configuration via files</a:t>
            </a:r>
          </a:p>
          <a:p>
            <a:r>
              <a:rPr lang="en-US" dirty="0"/>
              <a:t>Logging over print</a:t>
            </a:r>
          </a:p>
          <a:p>
            <a:r>
              <a:rPr lang="en-US" dirty="0"/>
              <a:t>Pure functions for business logic</a:t>
            </a:r>
          </a:p>
          <a:p>
            <a:r>
              <a:rPr lang="en-US" dirty="0"/>
              <a:t>Side effects at the edges</a:t>
            </a:r>
          </a:p>
          <a:p>
            <a:endParaRPr lang="en-SG" dirty="0"/>
          </a:p>
        </p:txBody>
      </p:sp>
    </p:spTree>
    <p:extLst>
      <p:ext uri="{BB962C8B-B14F-4D97-AF65-F5344CB8AC3E}">
        <p14:creationId xmlns:p14="http://schemas.microsoft.com/office/powerpoint/2010/main" val="2409190535"/>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3 — Advanced</a:t>
            </a:r>
          </a:p>
        </p:txBody>
      </p:sp>
      <p:sp>
        <p:nvSpPr>
          <p:cNvPr id="3" name="Content Placeholder 2"/>
          <p:cNvSpPr>
            <a:spLocks noGrp="1"/>
          </p:cNvSpPr>
          <p:nvPr>
            <p:ph idx="1"/>
          </p:nvPr>
        </p:nvSpPr>
        <p:spPr/>
        <p:txBody>
          <a:bodyPr/>
          <a:lstStyle/>
          <a:p>
            <a:r>
              <a:t>Write efficient, scalable Python</a:t>
            </a:r>
          </a:p>
          <a:p>
            <a:r>
              <a:t>Understand concurrency options</a:t>
            </a:r>
          </a:p>
          <a:p>
            <a:r>
              <a:t>Use modern tooling</a:t>
            </a:r>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59F30-FB26-B395-071E-943E61791B07}"/>
              </a:ext>
            </a:extLst>
          </p:cNvPr>
          <p:cNvSpPr>
            <a:spLocks noGrp="1"/>
          </p:cNvSpPr>
          <p:nvPr>
            <p:ph type="title"/>
          </p:nvPr>
        </p:nvSpPr>
        <p:spPr>
          <a:xfrm>
            <a:off x="457200" y="274638"/>
            <a:ext cx="11087100" cy="1143000"/>
          </a:xfrm>
        </p:spPr>
        <p:txBody>
          <a:bodyPr/>
          <a:lstStyle/>
          <a:p>
            <a:r>
              <a:rPr lang="en-SG" b="1" dirty="0"/>
              <a:t>Type Hinting &amp; Decorators</a:t>
            </a:r>
            <a:endParaRPr lang="en-SG" dirty="0"/>
          </a:p>
        </p:txBody>
      </p:sp>
      <p:sp>
        <p:nvSpPr>
          <p:cNvPr id="3" name="Content Placeholder 2">
            <a:extLst>
              <a:ext uri="{FF2B5EF4-FFF2-40B4-BE49-F238E27FC236}">
                <a16:creationId xmlns:a16="http://schemas.microsoft.com/office/drawing/2014/main" id="{5777C4F3-D0A3-250A-7699-B104DEBCDC52}"/>
              </a:ext>
            </a:extLst>
          </p:cNvPr>
          <p:cNvSpPr>
            <a:spLocks noGrp="1"/>
          </p:cNvSpPr>
          <p:nvPr>
            <p:ph idx="1"/>
          </p:nvPr>
        </p:nvSpPr>
        <p:spPr>
          <a:xfrm>
            <a:off x="457200" y="1600201"/>
            <a:ext cx="11087100" cy="2616200"/>
          </a:xfrm>
        </p:spPr>
        <p:txBody>
          <a:bodyPr>
            <a:normAutofit fontScale="92500" lnSpcReduction="20000"/>
          </a:bodyPr>
          <a:lstStyle/>
          <a:p>
            <a:r>
              <a:rPr lang="en-SG" dirty="0"/>
              <a:t>As projects grow, "meta" features help maintain code quality.</a:t>
            </a:r>
          </a:p>
          <a:p>
            <a:r>
              <a:rPr lang="en-SG" b="1" dirty="0"/>
              <a:t>Type Hinting:</a:t>
            </a:r>
            <a:r>
              <a:rPr lang="en-SG" dirty="0"/>
              <a:t> Helps IDEs and static </a:t>
            </a:r>
            <a:r>
              <a:rPr lang="en-SG" dirty="0" err="1"/>
              <a:t>analyzers</a:t>
            </a:r>
            <a:r>
              <a:rPr lang="en-SG" dirty="0"/>
              <a:t> (like </a:t>
            </a:r>
            <a:r>
              <a:rPr lang="en-SG" dirty="0" err="1"/>
              <a:t>MyPy</a:t>
            </a:r>
            <a:r>
              <a:rPr lang="en-SG" dirty="0"/>
              <a:t>) catch bugs before they run.</a:t>
            </a:r>
          </a:p>
          <a:p>
            <a:pPr lvl="1"/>
            <a:r>
              <a:rPr lang="en-SG" dirty="0"/>
              <a:t>def process(name: str) -&gt; list[str]:</a:t>
            </a:r>
          </a:p>
          <a:p>
            <a:r>
              <a:rPr lang="en-SG" b="1" dirty="0"/>
              <a:t>Decorators:</a:t>
            </a:r>
            <a:r>
              <a:rPr lang="en-SG" dirty="0"/>
              <a:t> Functions that wrap other functions to modify their </a:t>
            </a:r>
            <a:r>
              <a:rPr lang="en-SG" dirty="0" err="1"/>
              <a:t>behavior</a:t>
            </a:r>
            <a:r>
              <a:rPr lang="en-SG" dirty="0"/>
              <a:t> (e.g., logging, timing, or access control).</a:t>
            </a:r>
          </a:p>
          <a:p>
            <a:endParaRPr lang="en-SG" dirty="0"/>
          </a:p>
        </p:txBody>
      </p:sp>
      <p:sp>
        <p:nvSpPr>
          <p:cNvPr id="4" name="TextBox 3">
            <a:extLst>
              <a:ext uri="{FF2B5EF4-FFF2-40B4-BE49-F238E27FC236}">
                <a16:creationId xmlns:a16="http://schemas.microsoft.com/office/drawing/2014/main" id="{5CF10D27-44F8-CA5C-D8D3-FBC038F32DD6}"/>
              </a:ext>
            </a:extLst>
          </p:cNvPr>
          <p:cNvSpPr txBox="1"/>
          <p:nvPr/>
        </p:nvSpPr>
        <p:spPr>
          <a:xfrm>
            <a:off x="457200" y="4648200"/>
            <a:ext cx="110871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@timer_decorator</a:t>
            </a:r>
          </a:p>
          <a:p>
            <a:r>
              <a:rPr lang="en-US" sz="3200" dirty="0"/>
              <a:t>def </a:t>
            </a:r>
            <a:r>
              <a:rPr lang="en-US" sz="3200" dirty="0" err="1"/>
              <a:t>heavy_computation</a:t>
            </a:r>
            <a:r>
              <a:rPr lang="en-US" sz="3200" dirty="0"/>
              <a:t>():</a:t>
            </a:r>
          </a:p>
          <a:p>
            <a:r>
              <a:rPr lang="en-US" sz="3200" dirty="0"/>
              <a:t>    pass</a:t>
            </a:r>
            <a:endParaRPr lang="en-SG" sz="3200" dirty="0"/>
          </a:p>
        </p:txBody>
      </p:sp>
    </p:spTree>
    <p:extLst>
      <p:ext uri="{BB962C8B-B14F-4D97-AF65-F5344CB8AC3E}">
        <p14:creationId xmlns:p14="http://schemas.microsoft.com/office/powerpoint/2010/main" val="2881143076"/>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AFB94-C97F-1D02-2030-D86022C6F880}"/>
              </a:ext>
            </a:extLst>
          </p:cNvPr>
          <p:cNvSpPr>
            <a:spLocks noGrp="1"/>
          </p:cNvSpPr>
          <p:nvPr>
            <p:ph type="title"/>
          </p:nvPr>
        </p:nvSpPr>
        <p:spPr/>
        <p:txBody>
          <a:bodyPr>
            <a:normAutofit/>
          </a:bodyPr>
          <a:lstStyle/>
          <a:p>
            <a:r>
              <a:rPr lang="en-US" dirty="0"/>
              <a:t>Type Hints</a:t>
            </a:r>
            <a:endParaRPr lang="en-SG" dirty="0"/>
          </a:p>
        </p:txBody>
      </p:sp>
      <p:sp>
        <p:nvSpPr>
          <p:cNvPr id="3" name="Content Placeholder 2">
            <a:extLst>
              <a:ext uri="{FF2B5EF4-FFF2-40B4-BE49-F238E27FC236}">
                <a16:creationId xmlns:a16="http://schemas.microsoft.com/office/drawing/2014/main" id="{4128C229-9AD8-E4EC-081E-DBB6B236A1E1}"/>
              </a:ext>
            </a:extLst>
          </p:cNvPr>
          <p:cNvSpPr>
            <a:spLocks noGrp="1"/>
          </p:cNvSpPr>
          <p:nvPr>
            <p:ph idx="1"/>
          </p:nvPr>
        </p:nvSpPr>
        <p:spPr/>
        <p:txBody>
          <a:bodyPr/>
          <a:lstStyle/>
          <a:p>
            <a:r>
              <a:rPr lang="en-US" dirty="0"/>
              <a:t>Improve readability</a:t>
            </a:r>
          </a:p>
          <a:p>
            <a:r>
              <a:rPr lang="en-US" dirty="0"/>
              <a:t>Catch bugs early</a:t>
            </a:r>
          </a:p>
          <a:p>
            <a:r>
              <a:rPr lang="en-US" dirty="0"/>
              <a:t>Still fully dynamic at runtime</a:t>
            </a:r>
          </a:p>
          <a:p>
            <a:pPr marL="0" indent="0">
              <a:buNone/>
            </a:pPr>
            <a:endParaRPr lang="en-US" b="1" dirty="0"/>
          </a:p>
          <a:p>
            <a:pPr marL="0" indent="0">
              <a:buNone/>
            </a:pPr>
            <a:r>
              <a:rPr lang="en-US" b="1" dirty="0"/>
              <a:t>Use more as code grows</a:t>
            </a:r>
            <a:endParaRPr lang="en-US" dirty="0"/>
          </a:p>
          <a:p>
            <a:endParaRPr lang="en-SG" dirty="0"/>
          </a:p>
        </p:txBody>
      </p:sp>
    </p:spTree>
    <p:extLst>
      <p:ext uri="{BB962C8B-B14F-4D97-AF65-F5344CB8AC3E}">
        <p14:creationId xmlns:p14="http://schemas.microsoft.com/office/powerpoint/2010/main" val="4171242807"/>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&amp; Generators</a:t>
            </a:r>
          </a:p>
        </p:txBody>
      </p:sp>
      <p:sp>
        <p:nvSpPr>
          <p:cNvPr id="3" name="Content Placeholder 2"/>
          <p:cNvSpPr>
            <a:spLocks noGrp="1"/>
          </p:cNvSpPr>
          <p:nvPr>
            <p:ph idx="1"/>
          </p:nvPr>
        </p:nvSpPr>
        <p:spPr/>
        <p:txBody>
          <a:bodyPr/>
          <a:lstStyle/>
          <a:p>
            <a:r>
              <a:t>Decorators add behavior cleanly</a:t>
            </a:r>
          </a:p>
          <a:p>
            <a:r>
              <a:t>Generators process data lazily</a:t>
            </a:r>
          </a:p>
          <a:p>
            <a:r>
              <a:t>Reduce duplication at scale</a:t>
            </a:r>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a:t>
            </a:r>
          </a:p>
        </p:txBody>
      </p:sp>
      <p:sp>
        <p:nvSpPr>
          <p:cNvPr id="3" name="Content Placeholder 2"/>
          <p:cNvSpPr>
            <a:spLocks noGrp="1"/>
          </p:cNvSpPr>
          <p:nvPr>
            <p:ph idx="1"/>
          </p:nvPr>
        </p:nvSpPr>
        <p:spPr/>
        <p:txBody>
          <a:bodyPr>
            <a:normAutofit/>
          </a:bodyPr>
          <a:lstStyle/>
          <a:p>
            <a:r>
              <a:rPr lang="en-US" dirty="0"/>
              <a:t>Add behavior without modifying logic</a:t>
            </a:r>
          </a:p>
          <a:p>
            <a:r>
              <a:rPr lang="en-US" dirty="0"/>
              <a:t>Common uses:</a:t>
            </a:r>
          </a:p>
          <a:p>
            <a:pPr lvl="1"/>
            <a:r>
              <a:rPr lang="en-US" dirty="0"/>
              <a:t>Logging</a:t>
            </a:r>
          </a:p>
          <a:p>
            <a:pPr lvl="1"/>
            <a:r>
              <a:rPr lang="en-US" dirty="0"/>
              <a:t>Timing</a:t>
            </a:r>
          </a:p>
          <a:p>
            <a:pPr lvl="1"/>
            <a:r>
              <a:rPr lang="en-US" dirty="0"/>
              <a:t>Authorization</a:t>
            </a:r>
          </a:p>
          <a:p>
            <a:pPr lvl="1"/>
            <a:r>
              <a:rPr lang="en-US" dirty="0"/>
              <a:t>Caching</a:t>
            </a:r>
          </a:p>
          <a:p>
            <a:r>
              <a:rPr lang="en-US" b="1" dirty="0"/>
              <a:t>Mental model:</a:t>
            </a:r>
            <a:r>
              <a:rPr lang="en-US" dirty="0"/>
              <a:t> reusable cross-cutting concerns</a:t>
            </a:r>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def debug(</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print(</a:t>
            </a:r>
            <a:r>
              <a:rPr sz="1800" dirty="0" err="1"/>
              <a:t>f"Calling</a:t>
            </a:r>
            <a:r>
              <a:rPr sz="1800" dirty="0"/>
              <a:t> {</a:t>
            </a:r>
            <a:r>
              <a:rPr sz="1800" dirty="0" err="1"/>
              <a:t>func</a:t>
            </a:r>
            <a:r>
              <a:rPr sz="1800" dirty="0"/>
              <a:t>.__name__}{</a:t>
            </a:r>
            <a:r>
              <a:rPr sz="1800" dirty="0" err="1"/>
              <a:t>args</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returned {value}")</a:t>
            </a:r>
            <a:br>
              <a:rPr sz="1800" dirty="0"/>
            </a:br>
            <a:r>
              <a:rPr sz="1800" dirty="0"/>
              <a:t>        return value</a:t>
            </a:r>
            <a:br>
              <a:rPr sz="1800" dirty="0"/>
            </a:br>
            <a:r>
              <a:rPr sz="1800" dirty="0"/>
              <a:t>    return wrapper</a:t>
            </a:r>
            <a:br>
              <a:rPr sz="1800" dirty="0"/>
            </a:br>
            <a:br>
              <a:rPr sz="1800" dirty="0"/>
            </a:br>
            <a:r>
              <a:rPr sz="1800" dirty="0"/>
              <a:t>@debug</a:t>
            </a:r>
            <a:br>
              <a:rPr sz="1800" dirty="0"/>
            </a:br>
            <a:r>
              <a:rPr sz="1800" dirty="0"/>
              <a:t>def </a:t>
            </a:r>
            <a:r>
              <a:rPr sz="1800" dirty="0" err="1"/>
              <a:t>gcd</a:t>
            </a:r>
            <a:r>
              <a:rPr sz="1800" dirty="0"/>
              <a:t>(a, b):</a:t>
            </a:r>
            <a:br>
              <a:rPr sz="1800" dirty="0"/>
            </a:br>
            <a:r>
              <a:rPr sz="1800" dirty="0"/>
              <a:t>    while b: a, b = b, a % b</a:t>
            </a:r>
            <a:br>
              <a:rPr sz="1800" dirty="0"/>
            </a:br>
            <a:r>
              <a:rPr sz="1800" dirty="0"/>
              <a:t>    return a</a:t>
            </a:r>
            <a:br>
              <a:rPr sz="1800" dirty="0"/>
            </a:br>
            <a:br>
              <a:rPr sz="1800" dirty="0"/>
            </a:br>
            <a:r>
              <a:rPr sz="1800" dirty="0" err="1"/>
              <a:t>gcd</a:t>
            </a:r>
            <a:r>
              <a:rPr sz="1800" dirty="0"/>
              <a:t>(42, 56)</a:t>
            </a:r>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a:xfrm>
            <a:off x="457200" y="1600200"/>
            <a:ext cx="9372600" cy="4525963"/>
          </a:xfrm>
        </p:spPr>
        <p:txBody>
          <a:bodyPr>
            <a:normAutofit/>
          </a:bodyPr>
          <a:lstStyle/>
          <a:p>
            <a:pPr marL="0" indent="0" algn="l">
              <a:buNone/>
              <a:defRPr sz="1500">
                <a:latin typeface="Courier New"/>
              </a:defRPr>
            </a:pPr>
            <a:r>
              <a:rPr sz="1800" dirty="0"/>
              <a:t>def repeat(times):</a:t>
            </a:r>
            <a:br>
              <a:rPr sz="1800" dirty="0"/>
            </a:br>
            <a:r>
              <a:rPr sz="1800" dirty="0"/>
              <a:t>    def decorator(</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for _ in range(times): value = </a:t>
            </a:r>
            <a:r>
              <a:rPr sz="1800" dirty="0" err="1"/>
              <a:t>func</a:t>
            </a:r>
            <a:r>
              <a:rPr sz="1800" dirty="0"/>
              <a:t>(*</a:t>
            </a:r>
            <a:r>
              <a:rPr sz="1800" dirty="0" err="1"/>
              <a:t>args</a:t>
            </a:r>
            <a:r>
              <a:rPr sz="1800" dirty="0"/>
              <a:t>, **</a:t>
            </a:r>
            <a:r>
              <a:rPr sz="1800" dirty="0" err="1"/>
              <a:t>kwargs</a:t>
            </a:r>
            <a:r>
              <a:rPr sz="1800" dirty="0"/>
              <a:t>)</a:t>
            </a:r>
            <a:br>
              <a:rPr sz="1800" dirty="0"/>
            </a:br>
            <a:r>
              <a:rPr sz="1800" dirty="0"/>
              <a:t>            return value</a:t>
            </a:r>
            <a:br>
              <a:rPr sz="1800" dirty="0"/>
            </a:br>
            <a:r>
              <a:rPr sz="1800" dirty="0"/>
              <a:t>        return wrapper</a:t>
            </a:r>
            <a:br>
              <a:rPr sz="1800" dirty="0"/>
            </a:br>
            <a:r>
              <a:rPr sz="1800" dirty="0"/>
              <a:t>    return decorator</a:t>
            </a:r>
            <a:br>
              <a:rPr sz="1800" dirty="0"/>
            </a:br>
            <a:br>
              <a:rPr sz="1800" dirty="0"/>
            </a:br>
            <a:r>
              <a:rPr sz="1800" dirty="0"/>
              <a:t>@repeat(3)</a:t>
            </a:r>
            <a:br>
              <a:rPr sz="1800" dirty="0"/>
            </a:br>
            <a:r>
              <a:rPr sz="1800" dirty="0"/>
              <a:t>def greet(): print("Hi!")</a:t>
            </a:r>
            <a:br>
              <a:rPr sz="1800" dirty="0"/>
            </a:br>
            <a:r>
              <a:rPr sz="1800" dirty="0"/>
              <a:t>greet()</a:t>
            </a:r>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a:xfrm>
            <a:off x="457200" y="1600200"/>
            <a:ext cx="9359900" cy="4525963"/>
          </a:xfrm>
        </p:spPr>
        <p:txBody>
          <a:bodyPr>
            <a:normAutofit/>
          </a:bodyPr>
          <a:lstStyle/>
          <a:p>
            <a:pPr marL="0" indent="0" algn="l">
              <a:buNone/>
              <a:defRPr sz="1500">
                <a:latin typeface="Courier New"/>
              </a:defRPr>
            </a:pPr>
            <a:r>
              <a:rPr sz="1800" dirty="0"/>
              <a:t>import time, </a:t>
            </a:r>
            <a:r>
              <a:rPr sz="1800" dirty="0" err="1"/>
              <a:t>functools</a:t>
            </a:r>
            <a:br>
              <a:rPr sz="1800" dirty="0"/>
            </a:br>
            <a:br>
              <a:rPr sz="1800" dirty="0"/>
            </a:br>
            <a:r>
              <a:rPr sz="1800" dirty="0"/>
              <a:t>def timed(</a:t>
            </a:r>
            <a:r>
              <a:rPr sz="1800" dirty="0" err="1"/>
              <a:t>func</a:t>
            </a:r>
            <a:r>
              <a:rPr sz="1800" dirty="0"/>
              <a:t>):</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t0 = </a:t>
            </a:r>
            <a:r>
              <a:rPr sz="1800" dirty="0" err="1"/>
              <a:t>time.perf_counter</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took {(</a:t>
            </a:r>
            <a:r>
              <a:rPr sz="1800" dirty="0" err="1"/>
              <a:t>time.perf_counter</a:t>
            </a:r>
            <a:r>
              <a:rPr sz="1800" dirty="0"/>
              <a:t>()-t0)*1000:.2f} </a:t>
            </a:r>
            <a:r>
              <a:rPr sz="1800" dirty="0" err="1"/>
              <a:t>ms</a:t>
            </a:r>
            <a:r>
              <a:rPr sz="1800" dirty="0"/>
              <a:t>")</a:t>
            </a:r>
            <a:br>
              <a:rPr sz="1800" dirty="0"/>
            </a:br>
            <a:r>
              <a:rPr sz="1800" dirty="0"/>
              <a:t>        return value</a:t>
            </a:r>
            <a:br>
              <a:rPr sz="1800" dirty="0"/>
            </a:br>
            <a:r>
              <a:rPr sz="1800" dirty="0"/>
              <a:t>    return wrapper</a:t>
            </a:r>
            <a:br>
              <a:rPr sz="1800" dirty="0"/>
            </a:br>
            <a:br>
              <a:rPr sz="1800" dirty="0"/>
            </a:br>
            <a:r>
              <a:rPr sz="1800" dirty="0"/>
              <a:t>@functools.lru_cache(maxsize=None)</a:t>
            </a:r>
            <a:br>
              <a:rPr sz="1800" dirty="0"/>
            </a:br>
            <a:r>
              <a:rPr sz="1800" dirty="0"/>
              <a:t>def fib(n): return n if n &lt; 2 else fib(n-1) + fib(n-2)</a:t>
            </a:r>
            <a:br>
              <a:rPr sz="1800" dirty="0"/>
            </a:br>
            <a:br>
              <a:rPr sz="1800" dirty="0"/>
            </a:br>
            <a:r>
              <a:rPr sz="1800" dirty="0"/>
              <a:t>timed(fib)(35)</a:t>
            </a:r>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a:t>
            </a:r>
          </a:p>
        </p:txBody>
      </p:sp>
      <p:sp>
        <p:nvSpPr>
          <p:cNvPr id="3" name="Content Placeholder 2"/>
          <p:cNvSpPr>
            <a:spLocks noGrp="1"/>
          </p:cNvSpPr>
          <p:nvPr>
            <p:ph idx="1"/>
          </p:nvPr>
        </p:nvSpPr>
        <p:spPr>
          <a:xfrm>
            <a:off x="457200" y="1600200"/>
            <a:ext cx="9664700" cy="4525963"/>
          </a:xfrm>
        </p:spPr>
        <p:txBody>
          <a:bodyPr/>
          <a:lstStyle/>
          <a:p>
            <a:r>
              <a:rPr lang="en-US" dirty="0"/>
              <a:t>Produce values lazily</a:t>
            </a:r>
          </a:p>
          <a:p>
            <a:r>
              <a:rPr lang="en-US" dirty="0"/>
              <a:t>Reduce memory usage</a:t>
            </a:r>
          </a:p>
          <a:p>
            <a:r>
              <a:rPr lang="en-US" dirty="0"/>
              <a:t>Essential for large files &amp; streams</a:t>
            </a:r>
          </a:p>
          <a:p>
            <a:pPr marL="0" indent="0">
              <a:buNone/>
            </a:pPr>
            <a:endParaRPr lang="en-US" b="1" dirty="0"/>
          </a:p>
          <a:p>
            <a:pPr marL="0" indent="0">
              <a:buNone/>
            </a:pPr>
            <a:r>
              <a:rPr lang="en-US" b="1" dirty="0"/>
              <a:t>Enterprise benefit:</a:t>
            </a:r>
            <a:r>
              <a:rPr lang="en-US" dirty="0"/>
              <a:t> scale without RAM explosions</a:t>
            </a:r>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evens(limit):</a:t>
            </a:r>
            <a:br>
              <a:rPr sz="2000" dirty="0"/>
            </a:br>
            <a:r>
              <a:rPr sz="2000" dirty="0"/>
              <a:t>    value = 0</a:t>
            </a:r>
            <a:br>
              <a:rPr sz="2000" dirty="0"/>
            </a:br>
            <a:r>
              <a:rPr sz="2000" dirty="0"/>
              <a:t>    while value &lt;= limit:</a:t>
            </a:r>
            <a:br>
              <a:rPr sz="2000" dirty="0"/>
            </a:br>
            <a:r>
              <a:rPr sz="2000" dirty="0"/>
              <a:t>        yield value; value += 2</a:t>
            </a:r>
            <a:br>
              <a:rPr sz="2000" dirty="0"/>
            </a:br>
            <a:br>
              <a:rPr sz="2000" dirty="0"/>
            </a:br>
            <a:r>
              <a:rPr sz="2000" dirty="0"/>
              <a:t>for n in evens(10): print(n, end=" ")   # 0 2 4 6 8 10</a:t>
            </a:r>
            <a:br>
              <a:rPr sz="2000" dirty="0"/>
            </a:br>
            <a:br>
              <a:rPr sz="2000" dirty="0"/>
            </a:br>
            <a:r>
              <a:rPr sz="2000" dirty="0"/>
              <a:t>squares = (x*x for x in range(10**6))   # ~200 B</a:t>
            </a:r>
            <a:br>
              <a:rPr sz="2000" dirty="0"/>
            </a:br>
            <a:r>
              <a:rPr sz="2000" dirty="0"/>
              <a:t>import sys, </a:t>
            </a:r>
            <a:r>
              <a:rPr sz="2000" dirty="0" err="1"/>
              <a:t>os</a:t>
            </a:r>
            <a:br>
              <a:rPr sz="2000" dirty="0"/>
            </a:br>
            <a:r>
              <a:rPr sz="2000" dirty="0"/>
              <a:t>print(</a:t>
            </a:r>
            <a:r>
              <a:rPr sz="2000" dirty="0" err="1"/>
              <a:t>sys.getsizeof</a:t>
            </a:r>
            <a:r>
              <a:rPr sz="2000" dirty="0"/>
              <a:t>(squares), "bytes")</a:t>
            </a:r>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a:xfrm>
            <a:off x="457200" y="1600200"/>
            <a:ext cx="9055100" cy="4525963"/>
          </a:xfrm>
        </p:spPr>
        <p:txBody>
          <a:bodyPr>
            <a:normAutofit/>
          </a:bodyPr>
          <a:lstStyle/>
          <a:p>
            <a:pPr marL="0" indent="0" algn="l">
              <a:buNone/>
              <a:defRPr sz="1500">
                <a:latin typeface="Courier New"/>
              </a:defRPr>
            </a:pPr>
            <a:r>
              <a:rPr sz="2000" dirty="0"/>
              <a:t>def </a:t>
            </a:r>
            <a:r>
              <a:rPr sz="2000" dirty="0" err="1"/>
              <a:t>parse_access_log</a:t>
            </a:r>
            <a:r>
              <a:rPr sz="2000" dirty="0"/>
              <a:t>(path):</a:t>
            </a:r>
            <a:br>
              <a:rPr sz="2000" dirty="0"/>
            </a:br>
            <a:r>
              <a:rPr sz="2000" dirty="0"/>
              <a:t>    with open(path) as f:</a:t>
            </a:r>
            <a:br>
              <a:rPr sz="2000" dirty="0"/>
            </a:br>
            <a:r>
              <a:rPr sz="2000" dirty="0"/>
              <a:t>        for line in f:</a:t>
            </a:r>
            <a:br>
              <a:rPr sz="2000" dirty="0"/>
            </a:br>
            <a:r>
              <a:rPr sz="2000" dirty="0"/>
              <a:t>            </a:t>
            </a:r>
            <a:r>
              <a:rPr sz="2000" dirty="0" err="1"/>
              <a:t>ip</a:t>
            </a:r>
            <a:r>
              <a:rPr sz="2000" dirty="0"/>
              <a:t>, _, _, dt, meth, </a:t>
            </a:r>
            <a:r>
              <a:rPr sz="2000" dirty="0" err="1"/>
              <a:t>url</a:t>
            </a:r>
            <a:r>
              <a:rPr sz="2000" dirty="0"/>
              <a:t>, </a:t>
            </a:r>
            <a:r>
              <a:rPr sz="2000" dirty="0" err="1"/>
              <a:t>st</a:t>
            </a:r>
            <a:r>
              <a:rPr sz="2000" dirty="0"/>
              <a:t>, </a:t>
            </a:r>
            <a:r>
              <a:rPr sz="2000" dirty="0" err="1"/>
              <a:t>sz</a:t>
            </a:r>
            <a:r>
              <a:rPr sz="2000" dirty="0"/>
              <a:t> = </a:t>
            </a:r>
            <a:r>
              <a:rPr sz="2000" dirty="0" err="1"/>
              <a:t>line.split</a:t>
            </a:r>
            <a:r>
              <a:rPr sz="2000" dirty="0"/>
              <a:t>()[:8]</a:t>
            </a:r>
            <a:br>
              <a:rPr sz="2000" dirty="0"/>
            </a:br>
            <a:r>
              <a:rPr sz="2000" dirty="0"/>
              <a:t>            yield {"</a:t>
            </a:r>
            <a:r>
              <a:rPr sz="2000" dirty="0" err="1"/>
              <a:t>ip</a:t>
            </a:r>
            <a:r>
              <a:rPr sz="2000" dirty="0"/>
              <a:t>": </a:t>
            </a:r>
            <a:r>
              <a:rPr sz="2000" dirty="0" err="1"/>
              <a:t>ip</a:t>
            </a:r>
            <a:r>
              <a:rPr sz="2000" dirty="0"/>
              <a:t>, "datetime": dt[1:],</a:t>
            </a:r>
            <a:br>
              <a:rPr sz="2000" dirty="0"/>
            </a:br>
            <a:r>
              <a:rPr sz="2000" dirty="0"/>
              <a:t>                   "method": meth[1:-1], "</a:t>
            </a:r>
            <a:r>
              <a:rPr sz="2000" dirty="0" err="1"/>
              <a:t>url</a:t>
            </a:r>
            <a:r>
              <a:rPr sz="2000" dirty="0"/>
              <a:t>": </a:t>
            </a:r>
            <a:r>
              <a:rPr sz="2000" dirty="0" err="1"/>
              <a:t>url</a:t>
            </a:r>
            <a:r>
              <a:rPr sz="2000" dirty="0"/>
              <a:t>,</a:t>
            </a:r>
            <a:br>
              <a:rPr sz="2000" dirty="0"/>
            </a:br>
            <a:r>
              <a:rPr sz="2000" dirty="0"/>
              <a:t>                   "status": int(</a:t>
            </a:r>
            <a:r>
              <a:rPr sz="2000" dirty="0" err="1"/>
              <a:t>st</a:t>
            </a:r>
            <a:r>
              <a:rPr sz="2000" dirty="0"/>
              <a:t>), "size": int(</a:t>
            </a:r>
            <a:r>
              <a:rPr sz="2000" dirty="0" err="1"/>
              <a:t>sz</a:t>
            </a:r>
            <a:r>
              <a:rPr sz="2000" dirty="0"/>
              <a:t>)}</a:t>
            </a:r>
            <a:br>
              <a:rPr sz="2000" dirty="0"/>
            </a:br>
            <a:br>
              <a:rPr sz="2000" dirty="0"/>
            </a:br>
            <a:r>
              <a:rPr sz="2000" dirty="0"/>
              <a:t>for entry in </a:t>
            </a:r>
            <a:r>
              <a:rPr sz="2000" dirty="0" err="1"/>
              <a:t>parse_access_log</a:t>
            </a:r>
            <a:r>
              <a:rPr sz="2000" dirty="0"/>
              <a:t>("access.log"):</a:t>
            </a:r>
            <a:br>
              <a:rPr sz="2000" dirty="0"/>
            </a:br>
            <a:r>
              <a:rPr sz="2000" dirty="0"/>
              <a:t>    if entry["status"] == 404:</a:t>
            </a:r>
            <a:br>
              <a:rPr sz="2000" dirty="0"/>
            </a:br>
            <a:r>
              <a:rPr sz="2000" dirty="0"/>
              <a:t>        print(entry["</a:t>
            </a:r>
            <a:r>
              <a:rPr sz="2000" dirty="0" err="1"/>
              <a:t>url</a:t>
            </a:r>
            <a:r>
              <a:rPr sz="2000" dirty="0"/>
              <a:t>"])</a:t>
            </a:r>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Matrix</a:t>
            </a:r>
          </a:p>
        </p:txBody>
      </p:sp>
      <p:sp>
        <p:nvSpPr>
          <p:cNvPr id="3" name="Content Placeholder 2"/>
          <p:cNvSpPr>
            <a:spLocks noGrp="1"/>
          </p:cNvSpPr>
          <p:nvPr>
            <p:ph idx="1"/>
          </p:nvPr>
        </p:nvSpPr>
        <p:spPr/>
        <p:txBody>
          <a:bodyPr/>
          <a:lstStyle/>
          <a:p>
            <a:r>
              <a:t>threading → I/O-bound</a:t>
            </a:r>
          </a:p>
          <a:p>
            <a:r>
              <a:t>multiprocessing → CPU-bound</a:t>
            </a:r>
          </a:p>
          <a:p>
            <a:r>
              <a:t>asyncio → high-volume async I/O</a:t>
            </a:r>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Concurrency</a:t>
            </a:r>
            <a:r>
              <a:rPr lang="en-SG" dirty="0"/>
              <a:t>: Choose Wisely</a:t>
            </a:r>
            <a:endParaRPr dirty="0"/>
          </a:p>
        </p:txBody>
      </p:sp>
      <p:graphicFrame>
        <p:nvGraphicFramePr>
          <p:cNvPr id="6" name="Table 5">
            <a:extLst>
              <a:ext uri="{FF2B5EF4-FFF2-40B4-BE49-F238E27FC236}">
                <a16:creationId xmlns:a16="http://schemas.microsoft.com/office/drawing/2014/main" id="{17D4C5B0-21E5-1195-494A-0AAE1A517DC9}"/>
              </a:ext>
            </a:extLst>
          </p:cNvPr>
          <p:cNvGraphicFramePr>
            <a:graphicFrameLocks noGrp="1"/>
          </p:cNvGraphicFramePr>
          <p:nvPr>
            <p:extLst>
              <p:ext uri="{D42A27DB-BD31-4B8C-83A1-F6EECF244321}">
                <p14:modId xmlns:p14="http://schemas.microsoft.com/office/powerpoint/2010/main" val="4150335828"/>
              </p:ext>
            </p:extLst>
          </p:nvPr>
        </p:nvGraphicFramePr>
        <p:xfrm>
          <a:off x="1397000" y="1677988"/>
          <a:ext cx="9042400" cy="2560320"/>
        </p:xfrm>
        <a:graphic>
          <a:graphicData uri="http://schemas.openxmlformats.org/drawingml/2006/table">
            <a:tbl>
              <a:tblPr/>
              <a:tblGrid>
                <a:gridCol w="4521200">
                  <a:extLst>
                    <a:ext uri="{9D8B030D-6E8A-4147-A177-3AD203B41FA5}">
                      <a16:colId xmlns:a16="http://schemas.microsoft.com/office/drawing/2014/main" val="4172774735"/>
                    </a:ext>
                  </a:extLst>
                </a:gridCol>
                <a:gridCol w="4521200">
                  <a:extLst>
                    <a:ext uri="{9D8B030D-6E8A-4147-A177-3AD203B41FA5}">
                      <a16:colId xmlns:a16="http://schemas.microsoft.com/office/drawing/2014/main" val="3540327697"/>
                    </a:ext>
                  </a:extLst>
                </a:gridCol>
              </a:tblGrid>
              <a:tr h="0">
                <a:tc>
                  <a:txBody>
                    <a:bodyPr/>
                    <a:lstStyle/>
                    <a:p>
                      <a:pPr>
                        <a:buNone/>
                      </a:pPr>
                      <a:r>
                        <a:rPr lang="en-SG" sz="3600"/>
                        <a:t>Problem Type</a:t>
                      </a:r>
                    </a:p>
                  </a:txBody>
                  <a:tcPr anchor="ctr">
                    <a:lnL>
                      <a:noFill/>
                    </a:lnL>
                    <a:lnR>
                      <a:noFill/>
                    </a:lnR>
                    <a:lnT>
                      <a:noFill/>
                    </a:lnT>
                    <a:lnB>
                      <a:noFill/>
                    </a:lnB>
                    <a:noFill/>
                  </a:tcPr>
                </a:tc>
                <a:tc>
                  <a:txBody>
                    <a:bodyPr/>
                    <a:lstStyle/>
                    <a:p>
                      <a:pPr>
                        <a:buNone/>
                      </a:pPr>
                      <a:r>
                        <a:rPr lang="en-SG" sz="3600"/>
                        <a:t>Tool</a:t>
                      </a:r>
                    </a:p>
                  </a:txBody>
                  <a:tcPr anchor="ctr">
                    <a:lnL>
                      <a:noFill/>
                    </a:lnL>
                    <a:lnR>
                      <a:noFill/>
                    </a:lnR>
                    <a:lnT>
                      <a:noFill/>
                    </a:lnT>
                    <a:lnB>
                      <a:noFill/>
                    </a:lnB>
                    <a:noFill/>
                  </a:tcPr>
                </a:tc>
                <a:extLst>
                  <a:ext uri="{0D108BD9-81ED-4DB2-BD59-A6C34878D82A}">
                    <a16:rowId xmlns:a16="http://schemas.microsoft.com/office/drawing/2014/main" val="1720516217"/>
                  </a:ext>
                </a:extLst>
              </a:tr>
              <a:tr h="0">
                <a:tc>
                  <a:txBody>
                    <a:bodyPr/>
                    <a:lstStyle/>
                    <a:p>
                      <a:pPr>
                        <a:buNone/>
                      </a:pPr>
                      <a:r>
                        <a:rPr lang="en-SG" sz="3600"/>
                        <a:t>I/O-bound</a:t>
                      </a:r>
                    </a:p>
                  </a:txBody>
                  <a:tcPr anchor="ctr">
                    <a:lnL>
                      <a:noFill/>
                    </a:lnL>
                    <a:lnR>
                      <a:noFill/>
                    </a:lnR>
                    <a:lnT>
                      <a:noFill/>
                    </a:lnT>
                    <a:lnB>
                      <a:noFill/>
                    </a:lnB>
                    <a:noFill/>
                  </a:tcPr>
                </a:tc>
                <a:tc>
                  <a:txBody>
                    <a:bodyPr/>
                    <a:lstStyle/>
                    <a:p>
                      <a:pPr>
                        <a:buNone/>
                      </a:pPr>
                      <a:r>
                        <a:rPr lang="en-SG" sz="3600">
                          <a:latin typeface="Courier New" panose="02070309020205020404" pitchFamily="49" charset="0"/>
                        </a:rPr>
                        <a:t>threading</a:t>
                      </a:r>
                      <a:endParaRPr lang="en-SG" sz="3600"/>
                    </a:p>
                  </a:txBody>
                  <a:tcPr anchor="ctr">
                    <a:lnL>
                      <a:noFill/>
                    </a:lnL>
                    <a:lnR>
                      <a:noFill/>
                    </a:lnR>
                    <a:lnT>
                      <a:noFill/>
                    </a:lnT>
                    <a:lnB>
                      <a:noFill/>
                    </a:lnB>
                    <a:noFill/>
                  </a:tcPr>
                </a:tc>
                <a:extLst>
                  <a:ext uri="{0D108BD9-81ED-4DB2-BD59-A6C34878D82A}">
                    <a16:rowId xmlns:a16="http://schemas.microsoft.com/office/drawing/2014/main" val="3186626072"/>
                  </a:ext>
                </a:extLst>
              </a:tr>
              <a:tr h="0">
                <a:tc>
                  <a:txBody>
                    <a:bodyPr/>
                    <a:lstStyle/>
                    <a:p>
                      <a:pPr>
                        <a:buNone/>
                      </a:pPr>
                      <a:r>
                        <a:rPr lang="en-SG" sz="3600" dirty="0"/>
                        <a:t>CPU-bound</a:t>
                      </a:r>
                    </a:p>
                  </a:txBody>
                  <a:tcPr anchor="ctr">
                    <a:lnL>
                      <a:noFill/>
                    </a:lnL>
                    <a:lnR>
                      <a:noFill/>
                    </a:lnR>
                    <a:lnT>
                      <a:noFill/>
                    </a:lnT>
                    <a:lnB>
                      <a:noFill/>
                    </a:lnB>
                    <a:noFill/>
                  </a:tcPr>
                </a:tc>
                <a:tc>
                  <a:txBody>
                    <a:bodyPr/>
                    <a:lstStyle/>
                    <a:p>
                      <a:pPr>
                        <a:buNone/>
                      </a:pPr>
                      <a:r>
                        <a:rPr lang="en-SG" sz="3600" dirty="0">
                          <a:latin typeface="Courier New" panose="02070309020205020404" pitchFamily="49" charset="0"/>
                        </a:rPr>
                        <a:t>multiprocessing</a:t>
                      </a:r>
                      <a:endParaRPr lang="en-SG" sz="3600" dirty="0"/>
                    </a:p>
                  </a:txBody>
                  <a:tcPr anchor="ctr">
                    <a:lnL>
                      <a:noFill/>
                    </a:lnL>
                    <a:lnR>
                      <a:noFill/>
                    </a:lnR>
                    <a:lnT>
                      <a:noFill/>
                    </a:lnT>
                    <a:lnB>
                      <a:noFill/>
                    </a:lnB>
                    <a:noFill/>
                  </a:tcPr>
                </a:tc>
                <a:extLst>
                  <a:ext uri="{0D108BD9-81ED-4DB2-BD59-A6C34878D82A}">
                    <a16:rowId xmlns:a16="http://schemas.microsoft.com/office/drawing/2014/main" val="2958736589"/>
                  </a:ext>
                </a:extLst>
              </a:tr>
              <a:tr h="0">
                <a:tc>
                  <a:txBody>
                    <a:bodyPr/>
                    <a:lstStyle/>
                    <a:p>
                      <a:pPr>
                        <a:buNone/>
                      </a:pPr>
                      <a:r>
                        <a:rPr lang="en-SG" sz="3600" dirty="0"/>
                        <a:t>High-volume I/O</a:t>
                      </a:r>
                    </a:p>
                  </a:txBody>
                  <a:tcPr anchor="ctr">
                    <a:lnL>
                      <a:noFill/>
                    </a:lnL>
                    <a:lnR>
                      <a:noFill/>
                    </a:lnR>
                    <a:lnT>
                      <a:noFill/>
                    </a:lnT>
                    <a:lnB>
                      <a:noFill/>
                    </a:lnB>
                    <a:noFill/>
                  </a:tcPr>
                </a:tc>
                <a:tc>
                  <a:txBody>
                    <a:bodyPr/>
                    <a:lstStyle/>
                    <a:p>
                      <a:pPr>
                        <a:buNone/>
                      </a:pPr>
                      <a:r>
                        <a:rPr lang="en-SG" sz="3600" dirty="0" err="1">
                          <a:latin typeface="Courier New" panose="02070309020205020404" pitchFamily="49" charset="0"/>
                        </a:rPr>
                        <a:t>asyncio</a:t>
                      </a:r>
                      <a:endParaRPr lang="en-SG" sz="3600" dirty="0"/>
                    </a:p>
                  </a:txBody>
                  <a:tcPr anchor="ctr">
                    <a:lnL>
                      <a:noFill/>
                    </a:lnL>
                    <a:lnR>
                      <a:noFill/>
                    </a:lnR>
                    <a:lnT>
                      <a:noFill/>
                    </a:lnT>
                    <a:lnB>
                      <a:noFill/>
                    </a:lnB>
                    <a:noFill/>
                  </a:tcPr>
                </a:tc>
                <a:extLst>
                  <a:ext uri="{0D108BD9-81ED-4DB2-BD59-A6C34878D82A}">
                    <a16:rowId xmlns:a16="http://schemas.microsoft.com/office/drawing/2014/main" val="1441553841"/>
                  </a:ext>
                </a:extLst>
              </a:tr>
            </a:tbl>
          </a:graphicData>
        </a:graphic>
      </p:graphicFrame>
      <p:sp>
        <p:nvSpPr>
          <p:cNvPr id="7" name="TextBox 6">
            <a:extLst>
              <a:ext uri="{FF2B5EF4-FFF2-40B4-BE49-F238E27FC236}">
                <a16:creationId xmlns:a16="http://schemas.microsoft.com/office/drawing/2014/main" id="{B9F70DFA-2591-E778-CF89-31F13D30A38C}"/>
              </a:ext>
            </a:extLst>
          </p:cNvPr>
          <p:cNvSpPr txBox="1"/>
          <p:nvPr/>
        </p:nvSpPr>
        <p:spPr>
          <a:xfrm>
            <a:off x="1079500" y="5321300"/>
            <a:ext cx="8877300" cy="646331"/>
          </a:xfrm>
          <a:prstGeom prst="rect">
            <a:avLst/>
          </a:prstGeom>
          <a:noFill/>
        </p:spPr>
        <p:txBody>
          <a:bodyPr wrap="square" rtlCol="0">
            <a:spAutoFit/>
          </a:bodyPr>
          <a:lstStyle/>
          <a:p>
            <a:r>
              <a:rPr lang="en-SG" sz="3600" b="1" dirty="0"/>
              <a:t>Wrong model = worse performance</a:t>
            </a:r>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a:xfrm>
            <a:off x="457200" y="1600200"/>
            <a:ext cx="10337800" cy="4525963"/>
          </a:xfrm>
        </p:spPr>
        <p:txBody>
          <a:bodyPr>
            <a:normAutofit/>
          </a:bodyPr>
          <a:lstStyle/>
          <a:p>
            <a:pPr marL="0" indent="0" algn="l">
              <a:buNone/>
              <a:defRPr sz="1500">
                <a:latin typeface="Courier New"/>
              </a:defRPr>
            </a:pPr>
            <a:r>
              <a:rPr sz="2400" dirty="0"/>
              <a:t>import multiprocessing as </a:t>
            </a:r>
            <a:r>
              <a:rPr sz="2400" dirty="0" err="1"/>
              <a:t>mp</a:t>
            </a:r>
            <a:r>
              <a:rPr sz="2400" dirty="0"/>
              <a:t>, random</a:t>
            </a:r>
            <a:br>
              <a:rPr sz="2400" dirty="0"/>
            </a:br>
            <a:r>
              <a:rPr sz="2400" dirty="0"/>
              <a:t>def </a:t>
            </a:r>
            <a:r>
              <a:rPr sz="2400" dirty="0" err="1"/>
              <a:t>sample_pi</a:t>
            </a:r>
            <a:r>
              <a:rPr sz="2400" dirty="0"/>
              <a:t>(n):</a:t>
            </a:r>
            <a:br>
              <a:rPr sz="2400" dirty="0"/>
            </a:br>
            <a:r>
              <a:rPr sz="2400" dirty="0"/>
              <a:t>    inside = 0</a:t>
            </a:r>
            <a:br>
              <a:rPr sz="2400" dirty="0"/>
            </a:br>
            <a:r>
              <a:rPr sz="2400" dirty="0"/>
              <a:t>    for _ in range(n):</a:t>
            </a:r>
            <a:br>
              <a:rPr sz="2400" dirty="0"/>
            </a:br>
            <a:r>
              <a:rPr sz="2400" dirty="0"/>
              <a:t>        x, y = </a:t>
            </a:r>
            <a:r>
              <a:rPr sz="2400" dirty="0" err="1"/>
              <a:t>random.random</a:t>
            </a:r>
            <a:r>
              <a:rPr sz="2400" dirty="0"/>
              <a:t>(), </a:t>
            </a:r>
            <a:r>
              <a:rPr sz="2400" dirty="0" err="1"/>
              <a:t>random.random</a:t>
            </a:r>
            <a:r>
              <a:rPr sz="2400" dirty="0"/>
              <a:t>()</a:t>
            </a:r>
            <a:br>
              <a:rPr sz="2400" dirty="0"/>
            </a:br>
            <a:r>
              <a:rPr sz="2400" dirty="0"/>
              <a:t>        if x*x + y*y &lt;= 1: inside += 1</a:t>
            </a:r>
            <a:br>
              <a:rPr sz="2400" dirty="0"/>
            </a:br>
            <a:r>
              <a:rPr sz="2400" dirty="0"/>
              <a:t>    return inside</a:t>
            </a:r>
            <a:br>
              <a:rPr sz="2400" dirty="0"/>
            </a:br>
            <a:r>
              <a:rPr sz="2400" dirty="0"/>
              <a:t>cores = </a:t>
            </a:r>
            <a:r>
              <a:rPr sz="2400" dirty="0" err="1"/>
              <a:t>mp.cpu_count</a:t>
            </a:r>
            <a:r>
              <a:rPr sz="2400" dirty="0"/>
              <a:t>()</a:t>
            </a:r>
            <a:br>
              <a:rPr sz="2400" dirty="0"/>
            </a:br>
            <a:r>
              <a:rPr sz="2400" dirty="0"/>
              <a:t>total = 1_000_000</a:t>
            </a:r>
            <a:br>
              <a:rPr sz="2400" dirty="0"/>
            </a:br>
            <a:r>
              <a:rPr sz="2400" dirty="0"/>
              <a:t>counts = </a:t>
            </a:r>
            <a:r>
              <a:rPr sz="2400" dirty="0" err="1"/>
              <a:t>mp.Pool</a:t>
            </a:r>
            <a:r>
              <a:rPr sz="2400" dirty="0"/>
              <a:t>(cores).map(</a:t>
            </a:r>
            <a:r>
              <a:rPr sz="2400" dirty="0" err="1"/>
              <a:t>sample_pi</a:t>
            </a:r>
            <a:r>
              <a:rPr sz="2400" dirty="0"/>
              <a:t>, [total//cores]*cores)</a:t>
            </a:r>
            <a:br>
              <a:rPr sz="2400" dirty="0"/>
            </a:br>
            <a:r>
              <a:rPr sz="2400" dirty="0"/>
              <a:t>print("π ≈", 4 * sum(counts) / total)</a:t>
            </a:r>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asyncio Mental Model</a:t>
            </a:r>
          </a:p>
        </p:txBody>
      </p:sp>
      <p:sp>
        <p:nvSpPr>
          <p:cNvPr id="3" name="Content Placeholder 2"/>
          <p:cNvSpPr>
            <a:spLocks noGrp="1"/>
          </p:cNvSpPr>
          <p:nvPr>
            <p:ph idx="1"/>
          </p:nvPr>
        </p:nvSpPr>
        <p:spPr/>
        <p:txBody>
          <a:bodyPr/>
          <a:lstStyle/>
          <a:p>
            <a:r>
              <a:rPr lang="en-US" dirty="0"/>
              <a:t>Single thread</a:t>
            </a:r>
          </a:p>
          <a:p>
            <a:r>
              <a:rPr lang="en-US" dirty="0"/>
              <a:t>Cooperative multitasking</a:t>
            </a:r>
          </a:p>
          <a:p>
            <a:r>
              <a:rPr lang="en-US" dirty="0"/>
              <a:t>await yields control</a:t>
            </a:r>
          </a:p>
          <a:p>
            <a:pPr marL="0" indent="0">
              <a:buNone/>
            </a:pPr>
            <a:r>
              <a:rPr lang="en-US" b="1" dirty="0"/>
              <a:t>Best for:</a:t>
            </a:r>
            <a:r>
              <a:rPr lang="en-US" dirty="0"/>
              <a:t> network-heavy workloads</a:t>
            </a:r>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a:xfrm>
            <a:off x="457200" y="1600200"/>
            <a:ext cx="11341100" cy="4525963"/>
          </a:xfrm>
        </p:spPr>
        <p:txBody>
          <a:bodyPr>
            <a:normAutofit/>
          </a:bodyPr>
          <a:lstStyle/>
          <a:p>
            <a:pPr marL="0" indent="0" algn="l">
              <a:buNone/>
              <a:defRPr sz="1500">
                <a:latin typeface="Courier New"/>
              </a:defRPr>
            </a:pPr>
            <a:r>
              <a:rPr sz="2400" dirty="0"/>
              <a:t>import </a:t>
            </a:r>
            <a:r>
              <a:rPr sz="2400" dirty="0" err="1"/>
              <a:t>aiohttp</a:t>
            </a:r>
            <a:r>
              <a:rPr sz="2400" dirty="0"/>
              <a:t>, </a:t>
            </a:r>
            <a:r>
              <a:rPr sz="2400" dirty="0" err="1"/>
              <a:t>asyncio</a:t>
            </a:r>
            <a:r>
              <a:rPr sz="2400" dirty="0"/>
              <a:t>, time</a:t>
            </a:r>
            <a:br>
              <a:rPr sz="2400" dirty="0"/>
            </a:br>
            <a:r>
              <a:rPr sz="2400" dirty="0"/>
              <a:t>async def fetch(s, </a:t>
            </a:r>
            <a:r>
              <a:rPr sz="2400" dirty="0" err="1"/>
              <a:t>url</a:t>
            </a:r>
            <a:r>
              <a:rPr sz="2400" dirty="0"/>
              <a:t>):</a:t>
            </a:r>
            <a:br>
              <a:rPr sz="2400" dirty="0"/>
            </a:br>
            <a:r>
              <a:rPr sz="2400" dirty="0"/>
              <a:t>    async with </a:t>
            </a:r>
            <a:r>
              <a:rPr sz="2400" dirty="0" err="1"/>
              <a:t>s.get</a:t>
            </a:r>
            <a:r>
              <a:rPr sz="2400" dirty="0"/>
              <a:t>(</a:t>
            </a:r>
            <a:r>
              <a:rPr sz="2400" dirty="0" err="1"/>
              <a:t>url</a:t>
            </a:r>
            <a:r>
              <a:rPr sz="2400" dirty="0"/>
              <a:t>) as r: return await </a:t>
            </a:r>
            <a:r>
              <a:rPr sz="2400" dirty="0" err="1"/>
              <a:t>r.text</a:t>
            </a:r>
            <a:r>
              <a:rPr sz="2400" dirty="0"/>
              <a:t>()</a:t>
            </a:r>
            <a:br>
              <a:rPr sz="2400" dirty="0"/>
            </a:br>
            <a:r>
              <a:rPr sz="2400" dirty="0"/>
              <a:t>async def </a:t>
            </a:r>
            <a:r>
              <a:rPr sz="2400" dirty="0" err="1"/>
              <a:t>fetch_all</a:t>
            </a:r>
            <a:r>
              <a:rPr sz="2400" dirty="0"/>
              <a:t>(</a:t>
            </a:r>
            <a:r>
              <a:rPr sz="2400" dirty="0" err="1"/>
              <a:t>urls</a:t>
            </a:r>
            <a:r>
              <a:rPr sz="2400" dirty="0"/>
              <a:t>):</a:t>
            </a:r>
            <a:br>
              <a:rPr sz="2400" dirty="0"/>
            </a:br>
            <a:r>
              <a:rPr sz="2400" dirty="0"/>
              <a:t>    async with </a:t>
            </a:r>
            <a:r>
              <a:rPr sz="2400" dirty="0" err="1"/>
              <a:t>aiohttp.ClientSession</a:t>
            </a:r>
            <a:r>
              <a:rPr sz="2400" dirty="0"/>
              <a:t>() as s:</a:t>
            </a:r>
            <a:br>
              <a:rPr sz="2400" dirty="0"/>
            </a:br>
            <a:r>
              <a:rPr sz="2400" dirty="0"/>
              <a:t>        return await </a:t>
            </a:r>
            <a:r>
              <a:rPr sz="2400" dirty="0" err="1"/>
              <a:t>asyncio.gather</a:t>
            </a:r>
            <a:r>
              <a:rPr sz="2400" dirty="0"/>
              <a:t>(*[fetch(s, u) for u in </a:t>
            </a:r>
            <a:r>
              <a:rPr sz="2400" dirty="0" err="1"/>
              <a:t>urls</a:t>
            </a:r>
            <a:r>
              <a:rPr sz="2400" dirty="0"/>
              <a:t>])</a:t>
            </a:r>
            <a:br>
              <a:rPr sz="2400" dirty="0"/>
            </a:br>
            <a:r>
              <a:rPr sz="2400" dirty="0" err="1"/>
              <a:t>urls</a:t>
            </a:r>
            <a:r>
              <a:rPr sz="2400" dirty="0"/>
              <a:t> = ["https://httpbin.org/delay/1"] * 50</a:t>
            </a:r>
            <a:br>
              <a:rPr sz="2400" dirty="0"/>
            </a:br>
            <a:r>
              <a:rPr sz="2400" dirty="0"/>
              <a:t>t0 = </a:t>
            </a:r>
            <a:r>
              <a:rPr sz="2400" dirty="0" err="1"/>
              <a:t>time.time</a:t>
            </a:r>
            <a:r>
              <a:rPr sz="2400" dirty="0"/>
              <a:t>()</a:t>
            </a:r>
            <a:br>
              <a:rPr sz="2400" dirty="0"/>
            </a:br>
            <a:r>
              <a:rPr sz="2400" dirty="0"/>
              <a:t>pages = </a:t>
            </a:r>
            <a:r>
              <a:rPr sz="2400" dirty="0" err="1"/>
              <a:t>asyncio.run</a:t>
            </a:r>
            <a:r>
              <a:rPr sz="2400" dirty="0"/>
              <a:t>(</a:t>
            </a:r>
            <a:r>
              <a:rPr sz="2400" dirty="0" err="1"/>
              <a:t>fetch_all</a:t>
            </a:r>
            <a:r>
              <a:rPr sz="2400" dirty="0"/>
              <a:t>(</a:t>
            </a:r>
            <a:r>
              <a:rPr sz="2400" dirty="0" err="1"/>
              <a:t>urls</a:t>
            </a:r>
            <a:r>
              <a:rPr sz="2400" dirty="0"/>
              <a:t>))</a:t>
            </a:r>
            <a:br>
              <a:rPr sz="2400" dirty="0"/>
            </a:br>
            <a:r>
              <a:rPr sz="2400" dirty="0"/>
              <a:t>print("Fetched", </a:t>
            </a:r>
            <a:r>
              <a:rPr sz="2400" dirty="0" err="1"/>
              <a:t>len</a:t>
            </a:r>
            <a:r>
              <a:rPr sz="2400" dirty="0"/>
              <a:t>(pages), "pages in", </a:t>
            </a:r>
            <a:r>
              <a:rPr sz="2400" dirty="0" err="1"/>
              <a:t>time.time</a:t>
            </a:r>
            <a:r>
              <a:rPr sz="2400" dirty="0"/>
              <a:t>()-t0, "s")</a:t>
            </a:r>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a:xfrm>
            <a:off x="457200" y="1600200"/>
            <a:ext cx="10845800" cy="4525963"/>
          </a:xfrm>
        </p:spPr>
        <p:txBody>
          <a:bodyPr>
            <a:normAutofit/>
          </a:bodyPr>
          <a:lstStyle/>
          <a:p>
            <a:pPr marL="0" indent="0" algn="l">
              <a:buNone/>
              <a:defRPr sz="1500">
                <a:latin typeface="Courier New"/>
              </a:defRPr>
            </a:pPr>
            <a:r>
              <a:rPr sz="2000" dirty="0"/>
              <a:t>def </a:t>
            </a:r>
            <a:r>
              <a:rPr sz="2000" dirty="0" err="1"/>
              <a:t>blocking_func</a:t>
            </a:r>
            <a:r>
              <a:rPr sz="2000" dirty="0"/>
              <a:t>():</a:t>
            </a:r>
            <a:br>
              <a:rPr sz="2000" dirty="0"/>
            </a:br>
            <a:r>
              <a:rPr sz="2000" dirty="0"/>
              <a:t>    </a:t>
            </a:r>
            <a:r>
              <a:rPr sz="2000" dirty="0" err="1"/>
              <a:t>time.sleep</a:t>
            </a:r>
            <a:r>
              <a:rPr sz="2000" dirty="0"/>
              <a:t>(1)</a:t>
            </a:r>
            <a:br>
              <a:rPr sz="2000" dirty="0"/>
            </a:br>
            <a:r>
              <a:rPr sz="2000" dirty="0"/>
              <a:t>    return 42</a:t>
            </a:r>
            <a:br>
              <a:rPr sz="2000" dirty="0"/>
            </a:br>
            <a:r>
              <a:rPr sz="2000" dirty="0"/>
              <a:t>async def main():</a:t>
            </a:r>
            <a:br>
              <a:rPr sz="2000" dirty="0"/>
            </a:br>
            <a:r>
              <a:rPr sz="2000" dirty="0"/>
              <a:t>    loop = </a:t>
            </a:r>
            <a:r>
              <a:rPr sz="2000" dirty="0" err="1"/>
              <a:t>asyncio.get_running_loop</a:t>
            </a:r>
            <a:r>
              <a:rPr sz="2000" dirty="0"/>
              <a:t>()</a:t>
            </a:r>
            <a:br>
              <a:rPr sz="2000" dirty="0"/>
            </a:br>
            <a:r>
              <a:rPr sz="2000" dirty="0"/>
              <a:t>    result = await </a:t>
            </a:r>
            <a:r>
              <a:rPr sz="2000" dirty="0" err="1"/>
              <a:t>loop.run_in_executor</a:t>
            </a:r>
            <a:r>
              <a:rPr sz="2000" dirty="0"/>
              <a:t>(None, </a:t>
            </a:r>
            <a:r>
              <a:rPr sz="2000" dirty="0" err="1"/>
              <a:t>blocking_func</a:t>
            </a:r>
            <a:r>
              <a:rPr sz="2000" dirty="0"/>
              <a:t>)</a:t>
            </a:r>
            <a:br>
              <a:rPr sz="2000" dirty="0"/>
            </a:br>
            <a:r>
              <a:rPr sz="2000" dirty="0"/>
              <a:t>    print(result)</a:t>
            </a:r>
            <a:br>
              <a:rPr sz="2000" dirty="0"/>
            </a:br>
            <a:r>
              <a:rPr sz="2000" dirty="0" err="1"/>
              <a:t>asyncio.run</a:t>
            </a:r>
            <a:r>
              <a:rPr sz="2000" dirty="0"/>
              <a:t>(main())</a:t>
            </a:r>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A8904-4F0F-9249-C933-1CD15CD93991}"/>
              </a:ext>
            </a:extLst>
          </p:cNvPr>
          <p:cNvSpPr>
            <a:spLocks noGrp="1"/>
          </p:cNvSpPr>
          <p:nvPr>
            <p:ph type="title"/>
          </p:nvPr>
        </p:nvSpPr>
        <p:spPr>
          <a:xfrm>
            <a:off x="457200" y="274638"/>
            <a:ext cx="11137900" cy="1143000"/>
          </a:xfrm>
        </p:spPr>
        <p:txBody>
          <a:bodyPr>
            <a:normAutofit/>
          </a:bodyPr>
          <a:lstStyle/>
          <a:p>
            <a:r>
              <a:rPr lang="en-SG" dirty="0"/>
              <a:t>Environments &amp; Dependency Management</a:t>
            </a:r>
          </a:p>
        </p:txBody>
      </p:sp>
      <p:sp>
        <p:nvSpPr>
          <p:cNvPr id="3" name="Content Placeholder 2">
            <a:extLst>
              <a:ext uri="{FF2B5EF4-FFF2-40B4-BE49-F238E27FC236}">
                <a16:creationId xmlns:a16="http://schemas.microsoft.com/office/drawing/2014/main" id="{E4B03D63-A40E-0AA2-EBE6-E2A7AF1392DD}"/>
              </a:ext>
            </a:extLst>
          </p:cNvPr>
          <p:cNvSpPr>
            <a:spLocks noGrp="1"/>
          </p:cNvSpPr>
          <p:nvPr>
            <p:ph idx="1"/>
          </p:nvPr>
        </p:nvSpPr>
        <p:spPr>
          <a:xfrm>
            <a:off x="457200" y="1600200"/>
            <a:ext cx="11137900" cy="4525963"/>
          </a:xfrm>
        </p:spPr>
        <p:txBody>
          <a:bodyPr>
            <a:normAutofit/>
          </a:bodyPr>
          <a:lstStyle/>
          <a:p>
            <a:r>
              <a:rPr lang="en-SG" b="1" dirty="0"/>
              <a:t>Virtual Environments (</a:t>
            </a:r>
            <a:r>
              <a:rPr lang="en-SG" b="1" dirty="0" err="1"/>
              <a:t>venv</a:t>
            </a:r>
            <a:r>
              <a:rPr lang="en-SG" b="1" dirty="0"/>
              <a:t>):</a:t>
            </a:r>
            <a:r>
              <a:rPr lang="en-SG" dirty="0"/>
              <a:t> Isolate project-specific libraries to prevent "Dependency Hell".</a:t>
            </a:r>
          </a:p>
          <a:p>
            <a:pPr lvl="1"/>
            <a:r>
              <a:rPr lang="en-SG" dirty="0"/>
              <a:t>Creation: python -m </a:t>
            </a:r>
            <a:r>
              <a:rPr lang="en-SG" dirty="0" err="1"/>
              <a:t>venv</a:t>
            </a:r>
            <a:r>
              <a:rPr lang="en-SG" dirty="0"/>
              <a:t> </a:t>
            </a:r>
            <a:r>
              <a:rPr lang="en-SG" dirty="0" err="1"/>
              <a:t>venv</a:t>
            </a:r>
            <a:r>
              <a:rPr lang="en-SG" dirty="0"/>
              <a:t>.</a:t>
            </a:r>
          </a:p>
          <a:p>
            <a:pPr lvl="1"/>
            <a:r>
              <a:rPr lang="en-SG" dirty="0"/>
              <a:t>Activation: source </a:t>
            </a:r>
            <a:r>
              <a:rPr lang="en-SG" dirty="0" err="1"/>
              <a:t>venv</a:t>
            </a:r>
            <a:r>
              <a:rPr lang="en-SG" dirty="0"/>
              <a:t>/bin/activate.</a:t>
            </a:r>
          </a:p>
          <a:p>
            <a:r>
              <a:rPr lang="en-SG" b="1" dirty="0"/>
              <a:t>Pip &amp; Requirements:</a:t>
            </a:r>
            <a:r>
              <a:rPr lang="en-SG" dirty="0"/>
              <a:t> Use pip freeze &gt; requirements.txt to lock versions for other engineers.</a:t>
            </a:r>
          </a:p>
          <a:p>
            <a:r>
              <a:rPr lang="en-SG" b="1" dirty="0"/>
              <a:t>Project Structure:</a:t>
            </a:r>
            <a:r>
              <a:rPr lang="en-SG" dirty="0"/>
              <a:t> Organizing code into modules (.</a:t>
            </a:r>
            <a:r>
              <a:rPr lang="en-SG" dirty="0" err="1"/>
              <a:t>py</a:t>
            </a:r>
            <a:r>
              <a:rPr lang="en-SG" dirty="0"/>
              <a:t> files) and packages (folders with __init__.py).</a:t>
            </a:r>
          </a:p>
          <a:p>
            <a:endParaRPr lang="en-SG" dirty="0"/>
          </a:p>
        </p:txBody>
      </p:sp>
    </p:spTree>
    <p:extLst>
      <p:ext uri="{BB962C8B-B14F-4D97-AF65-F5344CB8AC3E}">
        <p14:creationId xmlns:p14="http://schemas.microsoft.com/office/powerpoint/2010/main" val="2069389280"/>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a:t>
            </a:r>
          </a:p>
        </p:txBody>
      </p:sp>
      <p:sp>
        <p:nvSpPr>
          <p:cNvPr id="3" name="Content Placeholder 2"/>
          <p:cNvSpPr>
            <a:spLocks noGrp="1"/>
          </p:cNvSpPr>
          <p:nvPr>
            <p:ph idx="1"/>
          </p:nvPr>
        </p:nvSpPr>
        <p:spPr/>
        <p:txBody>
          <a:bodyPr/>
          <a:lstStyle/>
          <a:p>
            <a:r>
              <a:rPr lang="en-US" dirty="0"/>
              <a:t>One </a:t>
            </a:r>
            <a:r>
              <a:rPr lang="en-US" dirty="0" err="1"/>
              <a:t>venv</a:t>
            </a:r>
            <a:r>
              <a:rPr lang="en-US" dirty="0"/>
              <a:t> per project</a:t>
            </a:r>
          </a:p>
          <a:p>
            <a:r>
              <a:rPr lang="en-US" dirty="0"/>
              <a:t>Isolate dependencies</a:t>
            </a:r>
          </a:p>
          <a:p>
            <a:r>
              <a:rPr lang="en-US" dirty="0"/>
              <a:t>Prevent “works on my machine”</a:t>
            </a:r>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A7FB0-3F85-604C-4114-F7165EF77296}"/>
              </a:ext>
            </a:extLst>
          </p:cNvPr>
          <p:cNvSpPr>
            <a:spLocks noGrp="1"/>
          </p:cNvSpPr>
          <p:nvPr>
            <p:ph type="title"/>
          </p:nvPr>
        </p:nvSpPr>
        <p:spPr/>
        <p:txBody>
          <a:bodyPr>
            <a:normAutofit/>
          </a:bodyPr>
          <a:lstStyle/>
          <a:p>
            <a:r>
              <a:rPr lang="en-US" dirty="0"/>
              <a:t>Dependency Management</a:t>
            </a:r>
            <a:endParaRPr lang="en-SG" dirty="0"/>
          </a:p>
        </p:txBody>
      </p:sp>
      <p:sp>
        <p:nvSpPr>
          <p:cNvPr id="3" name="Content Placeholder 2">
            <a:extLst>
              <a:ext uri="{FF2B5EF4-FFF2-40B4-BE49-F238E27FC236}">
                <a16:creationId xmlns:a16="http://schemas.microsoft.com/office/drawing/2014/main" id="{463FD849-D103-2C58-3665-F81C40B57B19}"/>
              </a:ext>
            </a:extLst>
          </p:cNvPr>
          <p:cNvSpPr>
            <a:spLocks noGrp="1"/>
          </p:cNvSpPr>
          <p:nvPr>
            <p:ph idx="1"/>
          </p:nvPr>
        </p:nvSpPr>
        <p:spPr/>
        <p:txBody>
          <a:bodyPr/>
          <a:lstStyle/>
          <a:p>
            <a:r>
              <a:rPr lang="en-US" dirty="0"/>
              <a:t>Pin versions</a:t>
            </a:r>
          </a:p>
          <a:p>
            <a:r>
              <a:rPr lang="en-US" dirty="0"/>
              <a:t>Use </a:t>
            </a:r>
            <a:r>
              <a:rPr lang="en-US" dirty="0" err="1"/>
              <a:t>pyproject.toml</a:t>
            </a:r>
            <a:endParaRPr lang="en-US" dirty="0"/>
          </a:p>
          <a:p>
            <a:r>
              <a:rPr lang="en-US" dirty="0"/>
              <a:t>Separate prod vs dev dependencies</a:t>
            </a:r>
          </a:p>
          <a:p>
            <a:endParaRPr lang="en-SG" dirty="0"/>
          </a:p>
        </p:txBody>
      </p:sp>
    </p:spTree>
    <p:extLst>
      <p:ext uri="{BB962C8B-B14F-4D97-AF65-F5344CB8AC3E}">
        <p14:creationId xmlns:p14="http://schemas.microsoft.com/office/powerpoint/2010/main" val="2048453859"/>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a:xfrm>
            <a:off x="457200" y="1600200"/>
            <a:ext cx="10541000" cy="4525963"/>
          </a:xfrm>
        </p:spPr>
        <p:txBody>
          <a:bodyPr>
            <a:normAutofit/>
          </a:bodyPr>
          <a:lstStyle/>
          <a:p>
            <a:pPr marL="0" indent="0" algn="l">
              <a:buNone/>
              <a:defRPr sz="1500">
                <a:latin typeface="Courier New"/>
              </a:defRPr>
            </a:pPr>
            <a:r>
              <a:rPr sz="2000" dirty="0"/>
              <a:t>python -m </a:t>
            </a:r>
            <a:r>
              <a:rPr sz="2000" dirty="0" err="1"/>
              <a:t>venv</a:t>
            </a:r>
            <a:r>
              <a:rPr sz="2000" dirty="0"/>
              <a:t> .</a:t>
            </a:r>
            <a:r>
              <a:rPr sz="2000" dirty="0" err="1"/>
              <a:t>venv</a:t>
            </a:r>
            <a:br>
              <a:rPr sz="2000" dirty="0"/>
            </a:br>
            <a:r>
              <a:rPr sz="2000" dirty="0"/>
              <a:t>source .</a:t>
            </a:r>
            <a:r>
              <a:rPr sz="2000" dirty="0" err="1"/>
              <a:t>venv</a:t>
            </a:r>
            <a:r>
              <a:rPr sz="2000" dirty="0"/>
              <a:t>/bin/activate        # Windows: .</a:t>
            </a:r>
            <a:r>
              <a:rPr sz="2000" dirty="0" err="1"/>
              <a:t>venv</a:t>
            </a:r>
            <a:r>
              <a:rPr sz="2000" dirty="0"/>
              <a:t>\Scripts\activate</a:t>
            </a:r>
            <a:br>
              <a:rPr sz="2000" dirty="0"/>
            </a:br>
            <a:r>
              <a:rPr sz="2000" dirty="0"/>
              <a:t>python -m pip install -U pip </a:t>
            </a:r>
            <a:r>
              <a:rPr sz="2000" dirty="0" err="1"/>
              <a:t>setuptools</a:t>
            </a:r>
            <a:r>
              <a:rPr sz="2000" dirty="0"/>
              <a:t> wheel</a:t>
            </a:r>
            <a:br>
              <a:rPr sz="2000" dirty="0"/>
            </a:br>
            <a:r>
              <a:rPr sz="2000" dirty="0"/>
              <a:t>pip install -e .                 # looks for </a:t>
            </a:r>
            <a:r>
              <a:rPr sz="2000" dirty="0" err="1"/>
              <a:t>pyproject.toml</a:t>
            </a:r>
            <a:endParaRPr sz="20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[build-system]</a:t>
            </a:r>
            <a:br>
              <a:rPr sz="2400" dirty="0"/>
            </a:br>
            <a:r>
              <a:rPr sz="2400" dirty="0"/>
              <a:t>requires = ["</a:t>
            </a:r>
            <a:r>
              <a:rPr sz="2400" dirty="0" err="1"/>
              <a:t>setuptools</a:t>
            </a:r>
            <a:r>
              <a:rPr sz="2400" dirty="0"/>
              <a:t>&gt;=64", "wheel"]</a:t>
            </a:r>
            <a:br>
              <a:rPr sz="2400" dirty="0"/>
            </a:br>
            <a:r>
              <a:rPr sz="2400" dirty="0"/>
              <a:t>build-backend = "</a:t>
            </a:r>
            <a:r>
              <a:rPr sz="2400" dirty="0" err="1"/>
              <a:t>setuptools.build_meta</a:t>
            </a:r>
            <a:r>
              <a:rPr sz="2400" dirty="0"/>
              <a:t>"</a:t>
            </a:r>
            <a:br>
              <a:rPr sz="2400" dirty="0"/>
            </a:br>
            <a:br>
              <a:rPr sz="2400" dirty="0"/>
            </a:br>
            <a:r>
              <a:rPr sz="2400" dirty="0"/>
              <a:t>[project]</a:t>
            </a:r>
            <a:br>
              <a:rPr sz="2400" dirty="0"/>
            </a:br>
            <a:r>
              <a:rPr sz="2400" dirty="0"/>
              <a:t>name = "</a:t>
            </a:r>
            <a:r>
              <a:rPr sz="2400" dirty="0" err="1"/>
              <a:t>myutils</a:t>
            </a:r>
            <a:r>
              <a:rPr sz="2400" dirty="0"/>
              <a:t>"</a:t>
            </a:r>
            <a:br>
              <a:rPr sz="2400" dirty="0"/>
            </a:br>
            <a:r>
              <a:rPr sz="2400" dirty="0"/>
              <a:t>version = "0.1.0"</a:t>
            </a:r>
            <a:br>
              <a:rPr sz="2400" dirty="0"/>
            </a:br>
            <a:r>
              <a:rPr sz="2400" dirty="0"/>
              <a:t>dependencies = ["requests&gt;=2.28"]</a:t>
            </a:r>
            <a:br>
              <a:rPr sz="2400" dirty="0"/>
            </a:br>
            <a:br>
              <a:rPr sz="2400" dirty="0"/>
            </a:br>
            <a:r>
              <a:rPr sz="2400" dirty="0"/>
              <a:t>[</a:t>
            </a:r>
            <a:r>
              <a:rPr sz="2400" dirty="0" err="1"/>
              <a:t>project.optional</a:t>
            </a:r>
            <a:r>
              <a:rPr sz="2400" dirty="0"/>
              <a:t>-dependencies]</a:t>
            </a:r>
            <a:br>
              <a:rPr sz="2400" dirty="0"/>
            </a:br>
            <a:r>
              <a:rPr sz="2400" dirty="0"/>
              <a:t>dev = ["</a:t>
            </a:r>
            <a:r>
              <a:rPr sz="2400" dirty="0" err="1"/>
              <a:t>pytest</a:t>
            </a:r>
            <a:r>
              <a:rPr sz="2400" dirty="0"/>
              <a:t>", "black", "</a:t>
            </a:r>
            <a:r>
              <a:rPr sz="2400" dirty="0" err="1"/>
              <a:t>mypy</a:t>
            </a:r>
            <a:r>
              <a:rPr sz="2400" dirty="0"/>
              <a:t>"]</a:t>
            </a:r>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Formatting, Testing</a:t>
            </a:r>
          </a:p>
        </p:txBody>
      </p:sp>
      <p:sp>
        <p:nvSpPr>
          <p:cNvPr id="3" name="Content Placeholder 2"/>
          <p:cNvSpPr>
            <a:spLocks noGrp="1"/>
          </p:cNvSpPr>
          <p:nvPr>
            <p:ph idx="1"/>
          </p:nvPr>
        </p:nvSpPr>
        <p:spPr/>
        <p:txBody>
          <a:bodyPr/>
          <a:lstStyle/>
          <a:p>
            <a:r>
              <a:t>black for formatting</a:t>
            </a:r>
          </a:p>
          <a:p>
            <a:r>
              <a:t>flake8 / mypy for static checks</a:t>
            </a:r>
          </a:p>
          <a:p>
            <a:r>
              <a:t>pytest for automated testing</a:t>
            </a:r>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pip install black flake8 </a:t>
            </a:r>
            <a:r>
              <a:rPr sz="2400" dirty="0" err="1"/>
              <a:t>mypy</a:t>
            </a:r>
            <a:br>
              <a:rPr sz="2400" dirty="0"/>
            </a:br>
            <a:r>
              <a:rPr sz="2400" dirty="0"/>
              <a:t>black </a:t>
            </a:r>
            <a:r>
              <a:rPr sz="2400" dirty="0" err="1"/>
              <a:t>src</a:t>
            </a:r>
            <a:r>
              <a:rPr sz="2400" dirty="0"/>
              <a:t>/ tests/</a:t>
            </a:r>
            <a:br>
              <a:rPr sz="2400" dirty="0"/>
            </a:br>
            <a:r>
              <a:rPr sz="2400" dirty="0"/>
              <a:t>flake8 </a:t>
            </a:r>
            <a:r>
              <a:rPr sz="2400" dirty="0" err="1"/>
              <a:t>src</a:t>
            </a:r>
            <a:r>
              <a:rPr sz="2400" dirty="0"/>
              <a:t>/</a:t>
            </a:r>
            <a:br>
              <a:rPr sz="2400" dirty="0"/>
            </a:br>
            <a:r>
              <a:rPr sz="2400" dirty="0" err="1"/>
              <a:t>mypy</a:t>
            </a:r>
            <a:r>
              <a:rPr sz="2400" dirty="0"/>
              <a:t> </a:t>
            </a:r>
            <a:r>
              <a:rPr sz="2400" dirty="0" err="1"/>
              <a:t>src</a:t>
            </a:r>
            <a:r>
              <a:rPr sz="2400" dirty="0"/>
              <a:t>/</a:t>
            </a:r>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a:xfrm>
            <a:off x="457200" y="1600200"/>
            <a:ext cx="11569700" cy="4525963"/>
          </a:xfrm>
        </p:spPr>
        <p:txBody>
          <a:bodyPr>
            <a:normAutofit/>
          </a:bodyPr>
          <a:lstStyle/>
          <a:p>
            <a:pPr marL="0" indent="0" algn="l">
              <a:buNone/>
              <a:defRPr sz="1500">
                <a:latin typeface="Courier New"/>
              </a:defRPr>
            </a:pPr>
            <a:r>
              <a:rPr sz="2000" dirty="0"/>
              <a:t># test_math_utils.py</a:t>
            </a:r>
            <a:br>
              <a:rPr sz="2000" dirty="0"/>
            </a:br>
            <a:r>
              <a:rPr sz="2000" dirty="0"/>
              <a:t>import </a:t>
            </a:r>
            <a:r>
              <a:rPr sz="2000" dirty="0" err="1"/>
              <a:t>pytest</a:t>
            </a:r>
            <a:br>
              <a:rPr sz="2000" dirty="0"/>
            </a:br>
            <a:r>
              <a:rPr sz="2000" dirty="0"/>
              <a:t>from </a:t>
            </a:r>
            <a:r>
              <a:rPr sz="2000" dirty="0" err="1"/>
              <a:t>myutils.math</a:t>
            </a:r>
            <a:r>
              <a:rPr sz="2000" dirty="0"/>
              <a:t> import clamp</a:t>
            </a:r>
            <a:br>
              <a:rPr sz="2000" dirty="0"/>
            </a:br>
            <a:r>
              <a:rPr sz="2000" dirty="0"/>
              <a:t>@pytest.mark.parametrize("x,lo,hi,e", [(5,0,10,5), (-5,0,10,0), (15,0,10,10)])</a:t>
            </a:r>
            <a:br>
              <a:rPr sz="2000" dirty="0"/>
            </a:br>
            <a:r>
              <a:rPr sz="2000" dirty="0"/>
              <a:t>def </a:t>
            </a:r>
            <a:r>
              <a:rPr sz="2000" dirty="0" err="1"/>
              <a:t>test_clamp</a:t>
            </a:r>
            <a:r>
              <a:rPr sz="2000" dirty="0"/>
              <a:t>(x, lo, hi, e): assert clamp(x, lo, hi) == e</a:t>
            </a:r>
            <a:br>
              <a:rPr sz="2000" dirty="0"/>
            </a:br>
            <a:r>
              <a:rPr sz="2000" dirty="0"/>
              <a:t># run</a:t>
            </a:r>
            <a:br>
              <a:rPr sz="2000" dirty="0"/>
            </a:br>
            <a:r>
              <a:rPr sz="2000" dirty="0" err="1"/>
              <a:t>pytest</a:t>
            </a:r>
            <a:r>
              <a:rPr sz="2000" dirty="0"/>
              <a:t> -q</a:t>
            </a:r>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a:xfrm>
            <a:off x="457200" y="1600200"/>
            <a:ext cx="11430000" cy="4525963"/>
          </a:xfrm>
        </p:spPr>
        <p:txBody>
          <a:bodyPr>
            <a:normAutofit/>
          </a:bodyPr>
          <a:lstStyle/>
          <a:p>
            <a:pPr marL="0" indent="0" algn="l">
              <a:buNone/>
              <a:defRPr sz="1500">
                <a:latin typeface="Courier New"/>
              </a:defRPr>
            </a:pPr>
            <a:r>
              <a:rPr sz="2800" dirty="0"/>
              <a:t>from typing import List, </a:t>
            </a:r>
            <a:r>
              <a:rPr sz="2800" dirty="0" err="1"/>
              <a:t>Dict</a:t>
            </a:r>
            <a:r>
              <a:rPr sz="2800" dirty="0"/>
              <a:t>, Optional</a:t>
            </a:r>
            <a:br>
              <a:rPr sz="2800" dirty="0"/>
            </a:br>
            <a:r>
              <a:rPr sz="2800" dirty="0"/>
              <a:t>def </a:t>
            </a:r>
            <a:r>
              <a:rPr sz="2800" dirty="0" err="1"/>
              <a:t>freq</a:t>
            </a:r>
            <a:r>
              <a:rPr sz="2800" dirty="0"/>
              <a:t>(words: List[str]) -&gt; </a:t>
            </a:r>
            <a:r>
              <a:rPr sz="2800" dirty="0" err="1"/>
              <a:t>Dict</a:t>
            </a:r>
            <a:r>
              <a:rPr sz="2800" dirty="0"/>
              <a:t>[str, int]:</a:t>
            </a:r>
            <a:br>
              <a:rPr sz="2800" dirty="0"/>
            </a:br>
            <a:r>
              <a:rPr sz="2800" dirty="0"/>
              <a:t>    counts: </a:t>
            </a:r>
            <a:r>
              <a:rPr sz="2800" dirty="0" err="1"/>
              <a:t>Dict</a:t>
            </a:r>
            <a:r>
              <a:rPr sz="2800" dirty="0"/>
              <a:t>[str, int] = {}</a:t>
            </a:r>
            <a:br>
              <a:rPr sz="2800" dirty="0"/>
            </a:br>
            <a:r>
              <a:rPr sz="2800" dirty="0"/>
              <a:t>    for w in words: counts[w] = </a:t>
            </a:r>
            <a:r>
              <a:rPr sz="2800" dirty="0" err="1"/>
              <a:t>counts.get</a:t>
            </a:r>
            <a:r>
              <a:rPr sz="2800" dirty="0"/>
              <a:t>(w, 0) + 1</a:t>
            </a:r>
            <a:br>
              <a:rPr sz="2800" dirty="0"/>
            </a:br>
            <a:r>
              <a:rPr sz="2800" dirty="0"/>
              <a:t>    return counts</a:t>
            </a:r>
            <a:br>
              <a:rPr sz="2800" dirty="0"/>
            </a:br>
            <a:r>
              <a:rPr sz="2800" dirty="0"/>
              <a:t>def find(</a:t>
            </a:r>
            <a:r>
              <a:rPr sz="2800" dirty="0" err="1"/>
              <a:t>uid</a:t>
            </a:r>
            <a:r>
              <a:rPr sz="2800" dirty="0"/>
              <a:t>: int) -&gt; Optional[str]: ...</a:t>
            </a:r>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a:xfrm>
            <a:off x="457200" y="1600200"/>
            <a:ext cx="11099800" cy="4525963"/>
          </a:xfrm>
        </p:spPr>
        <p:txBody>
          <a:bodyPr>
            <a:normAutofit/>
          </a:bodyPr>
          <a:lstStyle/>
          <a:p>
            <a:pPr marL="0" indent="0" algn="l">
              <a:buNone/>
              <a:defRPr sz="1500">
                <a:latin typeface="Courier New"/>
              </a:defRPr>
            </a:pPr>
            <a:r>
              <a:rPr sz="2000" dirty="0"/>
              <a:t>pip install </a:t>
            </a:r>
            <a:r>
              <a:rPr sz="2000" dirty="0" err="1"/>
              <a:t>ipython</a:t>
            </a:r>
            <a:r>
              <a:rPr sz="2000" dirty="0"/>
              <a:t> </a:t>
            </a:r>
            <a:r>
              <a:rPr sz="2000" dirty="0" err="1"/>
              <a:t>jupyterlab</a:t>
            </a:r>
            <a:br>
              <a:rPr sz="2000" dirty="0"/>
            </a:br>
            <a:r>
              <a:rPr sz="2000" dirty="0" err="1"/>
              <a:t>ipython</a:t>
            </a:r>
            <a:r>
              <a:rPr sz="2000" dirty="0"/>
              <a:t>                           # tab-completion, ? help, %magic</a:t>
            </a:r>
            <a:br>
              <a:rPr sz="2000" dirty="0"/>
            </a:br>
            <a:r>
              <a:rPr sz="2000" dirty="0" err="1"/>
              <a:t>jupyter</a:t>
            </a:r>
            <a:r>
              <a:rPr sz="2000" dirty="0"/>
              <a:t> lab                       # browser notebooks</a:t>
            </a:r>
            <a:br>
              <a:rPr sz="2000" dirty="0"/>
            </a:br>
            <a:r>
              <a:rPr sz="2000" dirty="0"/>
              <a:t># inside notebook</a:t>
            </a:r>
            <a:br>
              <a:rPr sz="2000" dirty="0"/>
            </a:br>
            <a:r>
              <a:rPr sz="2000" dirty="0"/>
              <a:t>%matplotlib inline</a:t>
            </a:r>
            <a:br>
              <a:rPr sz="2000" dirty="0"/>
            </a:br>
            <a:r>
              <a:rPr sz="2000" dirty="0"/>
              <a:t>import </a:t>
            </a:r>
            <a:r>
              <a:rPr sz="2000" dirty="0" err="1"/>
              <a:t>matplotlib.pyplot</a:t>
            </a:r>
            <a:r>
              <a:rPr sz="2000" dirty="0"/>
              <a:t> as </a:t>
            </a:r>
            <a:r>
              <a:rPr sz="2000" dirty="0" err="1"/>
              <a:t>plt</a:t>
            </a:r>
            <a:br>
              <a:rPr sz="2000" dirty="0"/>
            </a:br>
            <a:r>
              <a:rPr sz="2000" dirty="0" err="1"/>
              <a:t>plt.plot</a:t>
            </a:r>
            <a:r>
              <a:rPr sz="2000" dirty="0"/>
              <a:t>([1,2,3], [4,5,6])</a:t>
            </a:r>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a:xfrm>
            <a:off x="457200" y="1600200"/>
            <a:ext cx="11468100" cy="4525963"/>
          </a:xfrm>
        </p:spPr>
        <p:txBody>
          <a:bodyPr>
            <a:normAutofit/>
          </a:bodyPr>
          <a:lstStyle/>
          <a:p>
            <a:pPr marL="0" indent="0" algn="l">
              <a:buNone/>
              <a:defRPr sz="1500">
                <a:latin typeface="Courier New"/>
              </a:defRPr>
            </a:pPr>
            <a:r>
              <a:rPr sz="2400" dirty="0"/>
              <a:t>• Build a REST micro-service with </a:t>
            </a:r>
            <a:r>
              <a:rPr sz="2400" dirty="0" err="1"/>
              <a:t>FastAPI</a:t>
            </a:r>
            <a:br>
              <a:rPr sz="2400" dirty="0"/>
            </a:br>
            <a:r>
              <a:rPr sz="2400" dirty="0"/>
              <a:t>• Scrape + analyze live data with </a:t>
            </a:r>
            <a:r>
              <a:rPr sz="2400" dirty="0" err="1"/>
              <a:t>asyncio</a:t>
            </a:r>
            <a:r>
              <a:rPr sz="2400" dirty="0"/>
              <a:t> &amp; pandas</a:t>
            </a:r>
            <a:br>
              <a:rPr sz="2400" dirty="0"/>
            </a:br>
            <a:r>
              <a:rPr sz="2400" dirty="0"/>
              <a:t>• Automate your own boring tasks (rename photos, merge Excel)</a:t>
            </a:r>
            <a:br>
              <a:rPr sz="2400" dirty="0"/>
            </a:br>
            <a:r>
              <a:rPr sz="2400" dirty="0"/>
              <a:t>• Create a GUI desktop app with textual or PySide6</a:t>
            </a:r>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a:xfrm>
            <a:off x="457200" y="1600200"/>
            <a:ext cx="11188700" cy="4525963"/>
          </a:xfrm>
        </p:spPr>
        <p:txBody>
          <a:bodyPr>
            <a:normAutofit/>
          </a:bodyPr>
          <a:lstStyle/>
          <a:p>
            <a:pPr algn="l">
              <a:defRPr sz="1500">
                <a:latin typeface="Courier New"/>
              </a:defRPr>
            </a:pPr>
            <a:r>
              <a:rPr sz="2400" dirty="0"/>
              <a:t>Resources</a:t>
            </a:r>
            <a:br>
              <a:rPr sz="2400" dirty="0"/>
            </a:br>
            <a:r>
              <a:rPr sz="2400" dirty="0"/>
              <a:t>• docs.python.org/3/tutorial/</a:t>
            </a:r>
            <a:br>
              <a:rPr sz="2400" dirty="0"/>
            </a:br>
            <a:r>
              <a:rPr sz="2400" dirty="0"/>
              <a:t>• realpython.com</a:t>
            </a:r>
            <a:br>
              <a:rPr sz="2400" dirty="0"/>
            </a:br>
            <a:r>
              <a:rPr sz="2400" dirty="0"/>
              <a:t>• pypi.org – 450 k+ packages</a:t>
            </a:r>
            <a:br>
              <a:rPr sz="2400" dirty="0"/>
            </a:br>
            <a:r>
              <a:rPr sz="2400" dirty="0"/>
              <a:t>• github.com/python/</a:t>
            </a:r>
            <a:r>
              <a:rPr sz="2400" dirty="0" err="1"/>
              <a:t>cpython</a:t>
            </a:r>
            <a:r>
              <a:rPr sz="2400" dirty="0"/>
              <a:t> – read the source!</a:t>
            </a:r>
            <a:br>
              <a:rPr sz="2400" dirty="0"/>
            </a:br>
            <a:r>
              <a:rPr sz="2400" dirty="0"/>
              <a:t>• mastodon, /r/python, discord.gg/python</a:t>
            </a:r>
            <a:br>
              <a:rPr sz="2400" dirty="0"/>
            </a:br>
            <a:br>
              <a:rPr sz="2400" dirty="0"/>
            </a:br>
            <a:r>
              <a:rPr sz="2400" dirty="0"/>
              <a:t>Remember:</a:t>
            </a:r>
            <a:br>
              <a:rPr sz="2400" dirty="0"/>
            </a:br>
            <a:r>
              <a:rPr sz="2400" dirty="0"/>
              <a:t>Read code → Run code → Break code → Fix code → Repeat.</a:t>
            </a:r>
            <a:br>
              <a:rPr sz="2400" dirty="0"/>
            </a:br>
            <a:r>
              <a:rPr sz="2400" dirty="0"/>
              <a:t>Happy </a:t>
            </a:r>
            <a:r>
              <a:rPr sz="2400" dirty="0" err="1"/>
              <a:t>Pythoning</a:t>
            </a:r>
            <a:r>
              <a:rPr sz="2400" dirty="0"/>
              <a:t>! 🐍</a:t>
            </a:r>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Environments &amp; Tooling</a:t>
            </a:r>
          </a:p>
        </p:txBody>
      </p:sp>
      <p:sp>
        <p:nvSpPr>
          <p:cNvPr id="3" name="Content Placeholder 2"/>
          <p:cNvSpPr>
            <a:spLocks noGrp="1"/>
          </p:cNvSpPr>
          <p:nvPr>
            <p:ph idx="1"/>
          </p:nvPr>
        </p:nvSpPr>
        <p:spPr/>
        <p:txBody>
          <a:bodyPr/>
          <a:lstStyle/>
          <a:p>
            <a:r>
              <a:t>One virtual environment per project</a:t>
            </a:r>
          </a:p>
          <a:p>
            <a:r>
              <a:t>Pinned dependencies</a:t>
            </a:r>
          </a:p>
          <a:p>
            <a:r>
              <a:t>black, pytest, type hints</a:t>
            </a:r>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6F49F-1E68-4BEB-F567-D993F4A1B8AC}"/>
              </a:ext>
            </a:extLst>
          </p:cNvPr>
          <p:cNvSpPr>
            <a:spLocks noGrp="1"/>
          </p:cNvSpPr>
          <p:nvPr>
            <p:ph type="title"/>
          </p:nvPr>
        </p:nvSpPr>
        <p:spPr/>
        <p:txBody>
          <a:bodyPr>
            <a:normAutofit/>
          </a:bodyPr>
          <a:lstStyle/>
          <a:p>
            <a:r>
              <a:rPr lang="en-SG" b="1" dirty="0"/>
              <a:t>Tooling Expectations</a:t>
            </a:r>
            <a:endParaRPr lang="en-SG" dirty="0"/>
          </a:p>
        </p:txBody>
      </p:sp>
      <p:sp>
        <p:nvSpPr>
          <p:cNvPr id="3" name="Content Placeholder 2">
            <a:extLst>
              <a:ext uri="{FF2B5EF4-FFF2-40B4-BE49-F238E27FC236}">
                <a16:creationId xmlns:a16="http://schemas.microsoft.com/office/drawing/2014/main" id="{98191168-1E5B-C9C6-6EB8-D25482866D05}"/>
              </a:ext>
            </a:extLst>
          </p:cNvPr>
          <p:cNvSpPr>
            <a:spLocks noGrp="1"/>
          </p:cNvSpPr>
          <p:nvPr>
            <p:ph idx="1"/>
          </p:nvPr>
        </p:nvSpPr>
        <p:spPr/>
        <p:txBody>
          <a:bodyPr/>
          <a:lstStyle/>
          <a:p>
            <a:r>
              <a:rPr lang="en-SG" dirty="0"/>
              <a:t>Baseline for professional teams:</a:t>
            </a:r>
          </a:p>
          <a:p>
            <a:r>
              <a:rPr lang="en-SG" dirty="0"/>
              <a:t>black → formatting</a:t>
            </a:r>
          </a:p>
          <a:p>
            <a:r>
              <a:rPr lang="en-SG" dirty="0" err="1"/>
              <a:t>pytest</a:t>
            </a:r>
            <a:r>
              <a:rPr lang="en-SG" dirty="0"/>
              <a:t> → testing</a:t>
            </a:r>
          </a:p>
          <a:p>
            <a:r>
              <a:rPr lang="en-SG" dirty="0" err="1"/>
              <a:t>mypy</a:t>
            </a:r>
            <a:r>
              <a:rPr lang="en-SG" dirty="0"/>
              <a:t> → type safety</a:t>
            </a:r>
          </a:p>
          <a:p>
            <a:r>
              <a:rPr lang="en-SG" dirty="0"/>
              <a:t>CI enforcement</a:t>
            </a:r>
          </a:p>
          <a:p>
            <a:endParaRPr lang="en-SG" dirty="0"/>
          </a:p>
        </p:txBody>
      </p:sp>
    </p:spTree>
    <p:extLst>
      <p:ext uri="{BB962C8B-B14F-4D97-AF65-F5344CB8AC3E}">
        <p14:creationId xmlns:p14="http://schemas.microsoft.com/office/powerpoint/2010/main" val="1950266042"/>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Python Ecosystem</a:t>
            </a:r>
          </a:p>
        </p:txBody>
      </p:sp>
      <p:sp>
        <p:nvSpPr>
          <p:cNvPr id="3" name="Content Placeholder 2"/>
          <p:cNvSpPr>
            <a:spLocks noGrp="1"/>
          </p:cNvSpPr>
          <p:nvPr>
            <p:ph idx="1"/>
          </p:nvPr>
        </p:nvSpPr>
        <p:spPr/>
        <p:txBody>
          <a:bodyPr/>
          <a:lstStyle/>
          <a:p>
            <a:r>
              <a:rPr lang="en-SG" dirty="0"/>
              <a:t>Web: </a:t>
            </a:r>
            <a:r>
              <a:rPr lang="en-SG" dirty="0" err="1"/>
              <a:t>FastAPI</a:t>
            </a:r>
            <a:r>
              <a:rPr lang="en-SG" dirty="0"/>
              <a:t>, Django</a:t>
            </a:r>
          </a:p>
          <a:p>
            <a:r>
              <a:rPr lang="en-SG" dirty="0"/>
              <a:t>Data: pandas, NumPy</a:t>
            </a:r>
          </a:p>
          <a:p>
            <a:r>
              <a:rPr lang="en-SG" dirty="0"/>
              <a:t>Automation: requests, rich</a:t>
            </a:r>
          </a:p>
          <a:p>
            <a:r>
              <a:rPr lang="en-SG" dirty="0"/>
              <a:t>Packaging: pip, </a:t>
            </a:r>
            <a:r>
              <a:rPr lang="en-SG" dirty="0" err="1"/>
              <a:t>PyPI</a:t>
            </a:r>
            <a:endParaRPr lang="en-SG"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Learning Path Forward</a:t>
            </a:r>
          </a:p>
        </p:txBody>
      </p:sp>
      <p:sp>
        <p:nvSpPr>
          <p:cNvPr id="3" name="Content Placeholder 2"/>
          <p:cNvSpPr>
            <a:spLocks noGrp="1"/>
          </p:cNvSpPr>
          <p:nvPr>
            <p:ph idx="1"/>
          </p:nvPr>
        </p:nvSpPr>
        <p:spPr/>
        <p:txBody>
          <a:bodyPr/>
          <a:lstStyle/>
          <a:p>
            <a:r>
              <a:rPr lang="en-SG" b="1" dirty="0"/>
              <a:t>Backend</a:t>
            </a:r>
            <a:r>
              <a:rPr lang="en-SG" dirty="0"/>
              <a:t> → </a:t>
            </a:r>
            <a:r>
              <a:rPr lang="en-SG" dirty="0" err="1"/>
              <a:t>FastAPI</a:t>
            </a:r>
            <a:r>
              <a:rPr lang="en-SG" dirty="0"/>
              <a:t>, async, SQL</a:t>
            </a:r>
          </a:p>
          <a:p>
            <a:r>
              <a:rPr lang="en-SG" b="1" dirty="0"/>
              <a:t>Data</a:t>
            </a:r>
            <a:r>
              <a:rPr lang="en-SG" dirty="0"/>
              <a:t> → pandas, visualization</a:t>
            </a:r>
          </a:p>
          <a:p>
            <a:r>
              <a:rPr lang="en-SG" b="1" dirty="0"/>
              <a:t>Platform</a:t>
            </a:r>
            <a:r>
              <a:rPr lang="en-SG" dirty="0"/>
              <a:t> → packaging, CI/CD</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Advice</a:t>
            </a:r>
          </a:p>
        </p:txBody>
      </p:sp>
      <p:sp>
        <p:nvSpPr>
          <p:cNvPr id="3" name="Content Placeholder 2"/>
          <p:cNvSpPr>
            <a:spLocks noGrp="1"/>
          </p:cNvSpPr>
          <p:nvPr>
            <p:ph idx="1"/>
          </p:nvPr>
        </p:nvSpPr>
        <p:spPr>
          <a:xfrm>
            <a:off x="457200" y="1600200"/>
            <a:ext cx="9055100" cy="4525963"/>
          </a:xfrm>
        </p:spPr>
        <p:txBody>
          <a:bodyPr/>
          <a:lstStyle/>
          <a:p>
            <a:r>
              <a:rPr dirty="0"/>
              <a:t>Read code → Run code → Break code → Fix code</a:t>
            </a:r>
          </a:p>
          <a:p>
            <a:r>
              <a:rPr dirty="0"/>
              <a:t>Mistakes are how you learn</a:t>
            </a:r>
          </a:p>
          <a:p>
            <a:r>
              <a:rPr dirty="0"/>
              <a:t>Consistency beats intensity</a:t>
            </a:r>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a:t>
            </a:r>
          </a:p>
        </p:txBody>
      </p:sp>
      <p:sp>
        <p:nvSpPr>
          <p:cNvPr id="3" name="Content Placeholder 2"/>
          <p:cNvSpPr>
            <a:spLocks noGrp="1"/>
          </p:cNvSpPr>
          <p:nvPr>
            <p:ph idx="1"/>
          </p:nvPr>
        </p:nvSpPr>
        <p:spPr/>
        <p:txBody>
          <a:bodyPr/>
          <a:lstStyle/>
          <a:p>
            <a:r>
              <a:t>Happy Pythoning 🐍</a:t>
            </a:r>
          </a:p>
          <a:p>
            <a: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523</TotalTime>
  <Words>14391</Words>
  <Application>Microsoft Office PowerPoint</Application>
  <PresentationFormat>Custom</PresentationFormat>
  <Paragraphs>2340</Paragraphs>
  <Slides>344</Slides>
  <Notes>45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344</vt:i4>
      </vt:variant>
    </vt:vector>
  </HeadingPairs>
  <TitlesOfParts>
    <vt:vector size="351" baseType="lpstr">
      <vt:lpstr>Arial Unicode MS</vt:lpstr>
      <vt:lpstr>Google Sans Text</vt:lpstr>
      <vt:lpstr>Arial</vt:lpstr>
      <vt:lpstr>Calibri</vt:lpstr>
      <vt:lpstr>Courier New</vt:lpstr>
      <vt:lpstr>Wingdings</vt:lpstr>
      <vt:lpstr>Office Theme</vt:lpstr>
      <vt:lpstr>Python Crash Course 2025</vt:lpstr>
      <vt:lpstr>Course Overview</vt:lpstr>
      <vt:lpstr>Module Roadmap</vt:lpstr>
      <vt:lpstr>Module 1  FOUNDATIONS</vt:lpstr>
      <vt:lpstr>Module 1 — Foundations</vt:lpstr>
      <vt:lpstr>What Is Python?</vt:lpstr>
      <vt:lpstr>How Python Really Runs</vt:lpstr>
      <vt:lpstr>The Pythonic Philosophy</vt:lpstr>
      <vt:lpstr>Why Python?</vt:lpstr>
      <vt:lpstr>Running Python</vt:lpstr>
      <vt:lpstr>Your First Program</vt:lpstr>
      <vt:lpstr>Installing &amp; Running</vt:lpstr>
      <vt:lpstr>Progress</vt:lpstr>
      <vt:lpstr>Variables &amp; Dynamic Typing</vt:lpstr>
      <vt:lpstr>Variables Are References (Not Boxes)</vt:lpstr>
      <vt:lpstr>Mutation vs Reassignment</vt:lpstr>
      <vt:lpstr>Changing the Object</vt:lpstr>
      <vt:lpstr>Contrast with Reassignment</vt:lpstr>
      <vt:lpstr>Dynamic Typing Explained</vt:lpstr>
      <vt:lpstr>Mutable vs Immutable Types</vt:lpstr>
      <vt:lpstr>Type Checking at Runtime</vt:lpstr>
      <vt:lpstr>Core Built-in Types</vt:lpstr>
      <vt:lpstr>Reassignment and Object Identity</vt:lpstr>
      <vt:lpstr>Python Numbers: Overview</vt:lpstr>
      <vt:lpstr>Numeric Types in Python</vt:lpstr>
      <vt:lpstr>Numbers &amp; Business Impact</vt:lpstr>
      <vt:lpstr>Integers (int)</vt:lpstr>
      <vt:lpstr>Floating-Point Numbers (float)</vt:lpstr>
      <vt:lpstr>Decimal for Precision</vt:lpstr>
      <vt:lpstr>Arithmetic Operators</vt:lpstr>
      <vt:lpstr>Operators That Matter</vt:lpstr>
      <vt:lpstr>Division Operators</vt:lpstr>
      <vt:lpstr>Modulo Operator (%)</vt:lpstr>
      <vt:lpstr>Exponentiation</vt:lpstr>
      <vt:lpstr>Assignment Operators</vt:lpstr>
      <vt:lpstr>Operator Precedence</vt:lpstr>
      <vt:lpstr>Comparing Numbers</vt:lpstr>
      <vt:lpstr>Numbers &amp; Boolean Results</vt:lpstr>
      <vt:lpstr>Type Conversion with Numbers</vt:lpstr>
      <vt:lpstr>Common Numeric Pitfalls</vt:lpstr>
      <vt:lpstr>Best Practices</vt:lpstr>
      <vt:lpstr>Hands-On Exercise</vt:lpstr>
      <vt:lpstr>Solution</vt:lpstr>
      <vt:lpstr>Key Takeaways</vt:lpstr>
      <vt:lpstr>Numbers &amp; Operators</vt:lpstr>
      <vt:lpstr>Attributes and Methods</vt:lpstr>
      <vt:lpstr>Strings</vt:lpstr>
      <vt:lpstr>String Methods &amp; Formatting</vt:lpstr>
      <vt:lpstr>String Length &amp; Indexing</vt:lpstr>
      <vt:lpstr>String Slicing</vt:lpstr>
      <vt:lpstr>String Concatenation &amp; Repetition</vt:lpstr>
      <vt:lpstr>Common String Methods</vt:lpstr>
      <vt:lpstr>Searching &amp; Checking Strings</vt:lpstr>
      <vt:lpstr>Replacing &amp; Splitting Strings</vt:lpstr>
      <vt:lpstr>Joining Strings</vt:lpstr>
      <vt:lpstr>String Formatting (f-strings)</vt:lpstr>
      <vt:lpstr>Escape Characters</vt:lpstr>
      <vt:lpstr>Strings Are Immutable</vt:lpstr>
      <vt:lpstr>Common Mistakes</vt:lpstr>
      <vt:lpstr>Key Takeaways</vt:lpstr>
      <vt:lpstr>Hands-On Exercise</vt:lpstr>
      <vt:lpstr>Solution</vt:lpstr>
      <vt:lpstr>Strings – indexing, slicing, methods</vt:lpstr>
      <vt:lpstr>What Is a Boolean?</vt:lpstr>
      <vt:lpstr>Boolean Values in Python</vt:lpstr>
      <vt:lpstr>Comparisons Produce Booleans</vt:lpstr>
      <vt:lpstr>Logical Operators</vt:lpstr>
      <vt:lpstr>Booleans &amp; Truthiness</vt:lpstr>
      <vt:lpstr>Truthy and Falsy Values</vt:lpstr>
      <vt:lpstr>Falsy Values to Remember</vt:lpstr>
      <vt:lpstr>Common Truthy Values</vt:lpstr>
      <vt:lpstr>Truthiness in if Statements</vt:lpstr>
      <vt:lpstr>Truthiness Simplifies Logic</vt:lpstr>
      <vt:lpstr>Using bool()</vt:lpstr>
      <vt:lpstr>Short-Circuit Evaluation</vt:lpstr>
      <vt:lpstr>Common Mistakes</vt:lpstr>
      <vt:lpstr>Hands-On Exercise</vt:lpstr>
      <vt:lpstr>Solution 1</vt:lpstr>
      <vt:lpstr>Data Structures — Lists, Sets, and Tuples</vt:lpstr>
      <vt:lpstr>Solution 2: Ternary</vt:lpstr>
      <vt:lpstr>Solution 3: len()</vt:lpstr>
      <vt:lpstr>Key Takeaways</vt:lpstr>
      <vt:lpstr>Booleans &amp; Truthiness</vt:lpstr>
      <vt:lpstr>Logic Flow &amp; List Comprehensions</vt:lpstr>
      <vt:lpstr>Why Type Casting &amp; Input Matter</vt:lpstr>
      <vt:lpstr>Using input()</vt:lpstr>
      <vt:lpstr>Input Is Always a String</vt:lpstr>
      <vt:lpstr>What Is Type Casting?</vt:lpstr>
      <vt:lpstr>Type Casting &amp; Input</vt:lpstr>
      <vt:lpstr>Casting Input to Float</vt:lpstr>
      <vt:lpstr>Casting to String</vt:lpstr>
      <vt:lpstr>Casting to Boolean</vt:lpstr>
      <vt:lpstr>Safe Casting with try-except</vt:lpstr>
      <vt:lpstr>Input + Casting Common Pattern</vt:lpstr>
      <vt:lpstr>Mixing Input with f-Strings</vt:lpstr>
      <vt:lpstr>Common Mistakes</vt:lpstr>
      <vt:lpstr>Key Takeaways</vt:lpstr>
      <vt:lpstr>Hands-On Exercise</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Collections – Managing Data at Scale</vt:lpstr>
      <vt:lpstr>The Core Python Collections</vt:lpstr>
      <vt:lpstr>list — Ordered, Mutable</vt:lpstr>
      <vt:lpstr>list Characteristics</vt:lpstr>
      <vt:lpstr>list – use when order matters</vt:lpstr>
      <vt:lpstr>List – Connon Pattern</vt:lpstr>
      <vt:lpstr>tuple — Ordered, Immutable</vt:lpstr>
      <vt:lpstr>Why tuple Exists</vt:lpstr>
      <vt:lpstr>Tuple – used for fixed structure</vt:lpstr>
      <vt:lpstr>tuple – function returns</vt:lpstr>
      <vt:lpstr>dict — Key → Value Mapping</vt:lpstr>
      <vt:lpstr>dict Characteristics</vt:lpstr>
      <vt:lpstr>dict — fast lookup by identifier</vt:lpstr>
      <vt:lpstr>Safe Access in Dictionaries</vt:lpstr>
      <vt:lpstr>Safe Access Using dict.get()</vt:lpstr>
      <vt:lpstr>Safe Access Example</vt:lpstr>
      <vt:lpstr>Why Safe Access?</vt:lpstr>
      <vt:lpstr>dict – iteration pattern</vt:lpstr>
      <vt:lpstr>set — Unique, Unordered</vt:lpstr>
      <vt:lpstr>set Characteristics</vt:lpstr>
      <vt:lpstr>set - deduplication</vt:lpstr>
      <vt:lpstr>set – fast membership check</vt:lpstr>
      <vt:lpstr>Choosing the Right Collection</vt:lpstr>
      <vt:lpstr>Choosing the right collection</vt:lpstr>
      <vt:lpstr>Nested Collections</vt:lpstr>
      <vt:lpstr>Common Pitfalls</vt:lpstr>
      <vt:lpstr>Common Pitfalls</vt:lpstr>
      <vt:lpstr>Mutation Pitfalls</vt:lpstr>
      <vt:lpstr>Best Practices</vt:lpstr>
      <vt:lpstr>Collections Summary</vt:lpstr>
      <vt:lpstr>Key Takeaways</vt:lpstr>
      <vt:lpstr>What are Comprehensions?</vt:lpstr>
      <vt:lpstr>list Comprehension Basics</vt:lpstr>
      <vt:lpstr>list Comprehension with Condition</vt:lpstr>
      <vt:lpstr>tuple Comprehension Basics</vt:lpstr>
      <vt:lpstr>Dictionary Comprehension</vt:lpstr>
      <vt:lpstr>Transforming Items</vt:lpstr>
      <vt:lpstr>Nested Comprehensions</vt:lpstr>
      <vt:lpstr>Use Cases / Benefits</vt:lpstr>
      <vt:lpstr>Challenge / Practice</vt:lpstr>
      <vt:lpstr>Challenge 1</vt:lpstr>
      <vt:lpstr>Challenge 2</vt:lpstr>
      <vt:lpstr>Challenge 3</vt:lpstr>
      <vt:lpstr>Notes</vt:lpstr>
      <vt:lpstr>Control Flow — if / else</vt:lpstr>
      <vt:lpstr>Conditional Statements (if)</vt:lpstr>
      <vt:lpstr>if–else Statements</vt:lpstr>
      <vt:lpstr>if–elif–else Chain</vt:lpstr>
      <vt:lpstr>Comparison Operators</vt:lpstr>
      <vt:lpstr>Logical Operators</vt:lpstr>
      <vt:lpstr>Truthy and Falsy Values</vt:lpstr>
      <vt:lpstr>Unpacking Operators: Overview</vt:lpstr>
      <vt:lpstr>What Is Unpacking?</vt:lpstr>
      <vt:lpstr>Unpacking Operators (* and **)</vt:lpstr>
      <vt:lpstr>* for Iterable Unpacking</vt:lpstr>
      <vt:lpstr>Extended Unpacking with *</vt:lpstr>
      <vt:lpstr>* Can Appear Anywhere</vt:lpstr>
      <vt:lpstr>Unpacking in Function Calls (*args)</vt:lpstr>
      <vt:lpstr>*args in Function Definitions</vt:lpstr>
      <vt:lpstr>** for Dictionary Unpacking</vt:lpstr>
      <vt:lpstr>**kwargs in Function Definitions</vt:lpstr>
      <vt:lpstr>Combining *args and **kwargs</vt:lpstr>
      <vt:lpstr>Unpacking When Calling Functions</vt:lpstr>
      <vt:lpstr>Merging Collections with Unpacking</vt:lpstr>
      <vt:lpstr>Common Mistakes</vt:lpstr>
      <vt:lpstr>When to Use Unpacking</vt:lpstr>
      <vt:lpstr>Mental Model</vt:lpstr>
      <vt:lpstr>Hands-On Exercise</vt:lpstr>
      <vt:lpstr>Exercise Solution</vt:lpstr>
      <vt:lpstr>Key Takeaways</vt:lpstr>
      <vt:lpstr>Control Flow – if / elif / else</vt:lpstr>
      <vt:lpstr>What Is a Ternary Expression?</vt:lpstr>
      <vt:lpstr>Simple Example</vt:lpstr>
      <vt:lpstr>Ternary with Expressions</vt:lpstr>
      <vt:lpstr>Ternary with Function Calls</vt:lpstr>
      <vt:lpstr>Nested Ternary Expressions (Warning)</vt:lpstr>
      <vt:lpstr>Common Pitfall: Forgetting Else</vt:lpstr>
      <vt:lpstr>Ternary vs if–else</vt:lpstr>
      <vt:lpstr>Hands-On Exercise</vt:lpstr>
      <vt:lpstr>Solution</vt:lpstr>
      <vt:lpstr>Loops — for &amp; while</vt:lpstr>
      <vt:lpstr>for Loops</vt:lpstr>
      <vt:lpstr>Looping Through Collections</vt:lpstr>
      <vt:lpstr>while Loops</vt:lpstr>
      <vt:lpstr>break and continue</vt:lpstr>
      <vt:lpstr>Nested Control Flow</vt:lpstr>
      <vt:lpstr>Common Mistakes</vt:lpstr>
      <vt:lpstr>When to Use What</vt:lpstr>
      <vt:lpstr>Hands-On Exercise</vt:lpstr>
      <vt:lpstr>Key Takeaways</vt:lpstr>
      <vt:lpstr>Solution</vt:lpstr>
      <vt:lpstr>Loops – for &amp; while</vt:lpstr>
      <vt:lpstr>Discussion</vt:lpstr>
      <vt:lpstr>Answers</vt:lpstr>
      <vt:lpstr>Break, Continue, Else</vt:lpstr>
      <vt:lpstr>What Is a Function?</vt:lpstr>
      <vt:lpstr>Why Use Functions?</vt:lpstr>
      <vt:lpstr>Functions Are Contracts</vt:lpstr>
      <vt:lpstr>Defining Functions</vt:lpstr>
      <vt:lpstr>Calling a Function</vt:lpstr>
      <vt:lpstr>Functions with Parameters</vt:lpstr>
      <vt:lpstr>Return Values</vt:lpstr>
      <vt:lpstr>Multiple Parameters</vt:lpstr>
      <vt:lpstr>Default Values</vt:lpstr>
      <vt:lpstr>Keyword Arguments</vt:lpstr>
      <vt:lpstr>Functional Foundations &amp; Scoping</vt:lpstr>
      <vt:lpstr>Scope: Local vs Global</vt:lpstr>
      <vt:lpstr>Docstrings</vt:lpstr>
      <vt:lpstr>What Are *args and **kwargs?</vt:lpstr>
      <vt:lpstr>Using *args</vt:lpstr>
      <vt:lpstr>Using **kwargs</vt:lpstr>
      <vt:lpstr>Combining *args and **kwargs</vt:lpstr>
      <vt:lpstr>When to Use Them</vt:lpstr>
      <vt:lpstr>Hands-On Exercise</vt:lpstr>
      <vt:lpstr>Solution</vt:lpstr>
      <vt:lpstr>When to Create a Function</vt:lpstr>
      <vt:lpstr>Hands-On Exercise</vt:lpstr>
      <vt:lpstr>Exercise Solution</vt:lpstr>
      <vt:lpstr>Key Takeaways</vt:lpstr>
      <vt:lpstr>Multiple Returns</vt:lpstr>
      <vt:lpstr>*args  **kwargs</vt:lpstr>
      <vt:lpstr>Lambda &amp; Sorted</vt:lpstr>
      <vt:lpstr>Python lambda — Anonymous Functions</vt:lpstr>
      <vt:lpstr>What a lambda Is</vt:lpstr>
      <vt:lpstr>Lambda Syntax</vt:lpstr>
      <vt:lpstr>Lambda vs def</vt:lpstr>
      <vt:lpstr>Where lambda Is Used Well</vt:lpstr>
      <vt:lpstr>Lambda with sorted()</vt:lpstr>
      <vt:lpstr>When NOT to Use lambda</vt:lpstr>
      <vt:lpstr>Readability Rule</vt:lpstr>
      <vt:lpstr>Lambda and Scope</vt:lpstr>
      <vt:lpstr>Common Pitfall</vt:lpstr>
      <vt:lpstr>Best Practices</vt:lpstr>
      <vt:lpstr>Key Takeaways</vt:lpstr>
      <vt:lpstr>Mini-Project: CLI Calculator</vt:lpstr>
      <vt:lpstr>Getting Help in Python</vt:lpstr>
      <vt:lpstr>help() — The Built-In Manual</vt:lpstr>
      <vt:lpstr>Using help() Effectively</vt:lpstr>
      <vt:lpstr>When to Use help()</vt:lpstr>
      <vt:lpstr>dir() — Discover What Exists</vt:lpstr>
      <vt:lpstr>Using dir()</vt:lpstr>
      <vt:lpstr>dir() vs help()</vt:lpstr>
      <vt:lpstr>dir(builtins) — The Python Toolbox</vt:lpstr>
      <vt:lpstr>Why builtins Matters</vt:lpstr>
      <vt:lpstr>Common Use Cases</vt:lpstr>
      <vt:lpstr>Best Practices</vt:lpstr>
      <vt:lpstr>Key Takeaways</vt:lpstr>
      <vt:lpstr>Module 2  INTERMEDIATE</vt:lpstr>
      <vt:lpstr>Module 2 — Intermediate</vt:lpstr>
      <vt:lpstr>Clean Code Structure</vt:lpstr>
      <vt:lpstr>Object-Oriented Programming (OOP)</vt:lpstr>
      <vt:lpstr>Why Object-Oriented Programming?</vt:lpstr>
      <vt:lpstr>Pragmatic OOP</vt:lpstr>
      <vt:lpstr>Defining a Class</vt:lpstr>
      <vt:lpstr>Object-Oriented Programming – Classes</vt:lpstr>
      <vt:lpstr>Encapsulation</vt:lpstr>
      <vt:lpstr>Encapsulation &amp; Private Attributes</vt:lpstr>
      <vt:lpstr>Encapsulation in Practice</vt:lpstr>
      <vt:lpstr>Inheritance &amp; Polymorphism</vt:lpstr>
      <vt:lpstr>Polymorphism</vt:lpstr>
      <vt:lpstr>Inheritance &amp; Polymorphism</vt:lpstr>
      <vt:lpstr>super() &amp; Cooperative Multiple Inheritance</vt:lpstr>
      <vt:lpstr>Dunder Methods (When Needed)</vt:lpstr>
      <vt:lpstr>Dunder (Magic) Methods</vt:lpstr>
      <vt:lpstr>Modules &amp; Packages</vt:lpstr>
      <vt:lpstr>Modules – Creating &amp; Importing</vt:lpstr>
      <vt:lpstr>Import Patterns &amp; Aliases</vt:lpstr>
      <vt:lpstr>File I/O Basics</vt:lpstr>
      <vt:lpstr>File I/O – Text &amp; CSV</vt:lpstr>
      <vt:lpstr>File I/O (Production-Safe)</vt:lpstr>
      <vt:lpstr>Error Handling &amp; Context Managers</vt:lpstr>
      <vt:lpstr>Why Error Handling Exists</vt:lpstr>
      <vt:lpstr>What Errors Really Mean</vt:lpstr>
      <vt:lpstr>Two Categories of Errors</vt:lpstr>
      <vt:lpstr>Catch Specific Exceptions </vt:lpstr>
      <vt:lpstr>Anti-Pattern: Blanket Catching</vt:lpstr>
      <vt:lpstr>Correct Pattern: Narrow Catch</vt:lpstr>
      <vt:lpstr>EAFP — The Pythonic Style</vt:lpstr>
      <vt:lpstr>Never Swallow Errors</vt:lpstr>
      <vt:lpstr>Bad vs Good Error Handling</vt:lpstr>
      <vt:lpstr>Three Valid Responses to Errors</vt:lpstr>
      <vt:lpstr>Escalation with Meaning</vt:lpstr>
      <vt:lpstr>When to Catch vs Let Crash</vt:lpstr>
      <vt:lpstr>Best Practices</vt:lpstr>
      <vt:lpstr>Error Boundaries (Enterprise Pattern)</vt:lpstr>
      <vt:lpstr>Exception Translation</vt:lpstr>
      <vt:lpstr>Logging Is Not Optional</vt:lpstr>
      <vt:lpstr>Context Managers = Safety Rails</vt:lpstr>
      <vt:lpstr>Best Practices</vt:lpstr>
      <vt:lpstr>Key Takeaways</vt:lpstr>
      <vt:lpstr>pathlib vs os.path</vt:lpstr>
      <vt:lpstr>pathlib vs os.path</vt:lpstr>
      <vt:lpstr>JSON Serialization</vt:lpstr>
      <vt:lpstr>Mini-Project: Contact Manager</vt:lpstr>
      <vt:lpstr>Enterprise Patterns</vt:lpstr>
      <vt:lpstr>Module 3  ADVANCED</vt:lpstr>
      <vt:lpstr>Module 3 — Advanced</vt:lpstr>
      <vt:lpstr>Type Hinting &amp; Decorators</vt:lpstr>
      <vt:lpstr>Type Hints</vt:lpstr>
      <vt:lpstr>Decorators &amp; Generators</vt:lpstr>
      <vt:lpstr>Decorators</vt:lpstr>
      <vt:lpstr>Decorators – Function Wrappers</vt:lpstr>
      <vt:lpstr>Decorators with Arguments</vt:lpstr>
      <vt:lpstr>Timing &amp; Caching Decorators</vt:lpstr>
      <vt:lpstr>Generators</vt:lpstr>
      <vt:lpstr>Generators – Lazy Iteration</vt:lpstr>
      <vt:lpstr>Reading Giant Files</vt:lpstr>
      <vt:lpstr>Concurrency Matrix</vt:lpstr>
      <vt:lpstr>Concurrency: Choose Wisely</vt:lpstr>
      <vt:lpstr>threading – Download Many Images</vt:lpstr>
      <vt:lpstr>multiprocessing – CPU-bound Pi Monte-Carlo</vt:lpstr>
      <vt:lpstr>asyncio Mental Model</vt:lpstr>
      <vt:lpstr>asyncio – Concurrent HTTP with aiohttp</vt:lpstr>
      <vt:lpstr>Mixing sync ↔ async</vt:lpstr>
      <vt:lpstr>Environments &amp; Dependency Management</vt:lpstr>
      <vt:lpstr>Virtual Environments</vt:lpstr>
      <vt:lpstr>Dependency Management</vt:lpstr>
      <vt:lpstr>Virtual Environments &amp; Packaging</vt:lpstr>
      <vt:lpstr>pyproject.toml</vt:lpstr>
      <vt:lpstr>Linting, Formatting, Testing</vt:lpstr>
      <vt:lpstr>Linting &amp; Formatting</vt:lpstr>
      <vt:lpstr>Testing with pytest</vt:lpstr>
      <vt:lpstr>Type Hints – Gradual Typing</vt:lpstr>
      <vt:lpstr>Rich REPL with ipython + jupyter</vt:lpstr>
      <vt:lpstr>Final Capstone Ideas</vt:lpstr>
      <vt:lpstr>Keep Climbing</vt:lpstr>
      <vt:lpstr>Appendix  Tooling &amp; Eco-system</vt:lpstr>
      <vt:lpstr>Environments &amp; Tooling</vt:lpstr>
      <vt:lpstr>Tooling Expectations</vt:lpstr>
      <vt:lpstr>Appendix — Python Ecosystem</vt:lpstr>
      <vt:lpstr>Learning Path Forward</vt:lpstr>
      <vt:lpstr>Final Advice</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96</cp:revision>
  <dcterms:created xsi:type="dcterms:W3CDTF">2013-01-27T09:14:16Z</dcterms:created>
  <dcterms:modified xsi:type="dcterms:W3CDTF">2025-12-19T06:13:39Z</dcterms:modified>
  <cp:category/>
</cp:coreProperties>
</file>