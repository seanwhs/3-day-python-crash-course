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0"/>
  </p:notesMasterIdLst>
  <p:sldIdLst>
    <p:sldId id="424" r:id="rId2"/>
    <p:sldId id="425" r:id="rId3"/>
    <p:sldId id="426" r:id="rId4"/>
    <p:sldId id="257" r:id="rId5"/>
    <p:sldId id="427" r:id="rId6"/>
    <p:sldId id="428" r:id="rId7"/>
    <p:sldId id="501" r:id="rId8"/>
    <p:sldId id="493" r:id="rId9"/>
    <p:sldId id="258" r:id="rId10"/>
    <p:sldId id="429" r:id="rId11"/>
    <p:sldId id="430" r:id="rId12"/>
    <p:sldId id="259" r:id="rId13"/>
    <p:sldId id="307" r:id="rId14"/>
    <p:sldId id="260" r:id="rId15"/>
    <p:sldId id="309" r:id="rId16"/>
    <p:sldId id="431" r:id="rId17"/>
    <p:sldId id="321" r:id="rId18"/>
    <p:sldId id="322" r:id="rId19"/>
    <p:sldId id="310" r:id="rId20"/>
    <p:sldId id="267" r:id="rId21"/>
    <p:sldId id="311" r:id="rId22"/>
    <p:sldId id="432" r:id="rId23"/>
    <p:sldId id="312" r:id="rId24"/>
    <p:sldId id="456" r:id="rId25"/>
    <p:sldId id="457" r:id="rId26"/>
    <p:sldId id="502" r:id="rId27"/>
    <p:sldId id="458" r:id="rId28"/>
    <p:sldId id="459" r:id="rId29"/>
    <p:sldId id="460" r:id="rId30"/>
    <p:sldId id="461" r:id="rId31"/>
    <p:sldId id="503" r:id="rId32"/>
    <p:sldId id="462" r:id="rId33"/>
    <p:sldId id="463" r:id="rId34"/>
    <p:sldId id="464" r:id="rId35"/>
    <p:sldId id="465" r:id="rId36"/>
    <p:sldId id="466" r:id="rId37"/>
    <p:sldId id="467" r:id="rId38"/>
    <p:sldId id="468" r:id="rId39"/>
    <p:sldId id="469" r:id="rId40"/>
    <p:sldId id="470" r:id="rId41"/>
    <p:sldId id="471" r:id="rId42"/>
    <p:sldId id="472" r:id="rId43"/>
    <p:sldId id="473" r:id="rId44"/>
    <p:sldId id="474" r:id="rId45"/>
    <p:sldId id="262" r:id="rId46"/>
    <p:sldId id="378" r:id="rId47"/>
    <p:sldId id="379" r:id="rId48"/>
    <p:sldId id="270" r:id="rId49"/>
    <p:sldId id="380" r:id="rId50"/>
    <p:sldId id="381" r:id="rId51"/>
    <p:sldId id="382" r:id="rId52"/>
    <p:sldId id="383" r:id="rId53"/>
    <p:sldId id="384" r:id="rId54"/>
    <p:sldId id="385" r:id="rId55"/>
    <p:sldId id="386" r:id="rId56"/>
    <p:sldId id="387" r:id="rId57"/>
    <p:sldId id="388" r:id="rId58"/>
    <p:sldId id="389" r:id="rId59"/>
    <p:sldId id="390" r:id="rId60"/>
    <p:sldId id="392" r:id="rId61"/>
    <p:sldId id="391" r:id="rId62"/>
    <p:sldId id="393" r:id="rId63"/>
    <p:sldId id="263" r:id="rId64"/>
    <p:sldId id="394" r:id="rId65"/>
    <p:sldId id="395" r:id="rId66"/>
    <p:sldId id="396" r:id="rId67"/>
    <p:sldId id="397" r:id="rId68"/>
    <p:sldId id="433" r:id="rId69"/>
    <p:sldId id="398" r:id="rId70"/>
    <p:sldId id="399" r:id="rId71"/>
    <p:sldId id="400" r:id="rId72"/>
    <p:sldId id="401" r:id="rId73"/>
    <p:sldId id="504" r:id="rId74"/>
    <p:sldId id="402" r:id="rId75"/>
    <p:sldId id="403" r:id="rId76"/>
    <p:sldId id="404" r:id="rId77"/>
    <p:sldId id="405" r:id="rId78"/>
    <p:sldId id="407" r:id="rId79"/>
    <p:sldId id="494" r:id="rId80"/>
    <p:sldId id="408" r:id="rId81"/>
    <p:sldId id="409" r:id="rId82"/>
    <p:sldId id="406" r:id="rId83"/>
    <p:sldId id="264" r:id="rId84"/>
    <p:sldId id="495" r:id="rId85"/>
    <p:sldId id="410" r:id="rId86"/>
    <p:sldId id="411" r:id="rId87"/>
    <p:sldId id="412" r:id="rId88"/>
    <p:sldId id="413" r:id="rId89"/>
    <p:sldId id="434" r:id="rId90"/>
    <p:sldId id="415" r:id="rId91"/>
    <p:sldId id="416" r:id="rId92"/>
    <p:sldId id="417" r:id="rId93"/>
    <p:sldId id="418" r:id="rId94"/>
    <p:sldId id="419" r:id="rId95"/>
    <p:sldId id="420" r:id="rId96"/>
    <p:sldId id="421" r:id="rId97"/>
    <p:sldId id="422" r:id="rId98"/>
    <p:sldId id="423" r:id="rId99"/>
    <p:sldId id="265" r:id="rId100"/>
    <p:sldId id="313" r:id="rId101"/>
    <p:sldId id="314" r:id="rId102"/>
    <p:sldId id="315" r:id="rId103"/>
    <p:sldId id="316" r:id="rId104"/>
    <p:sldId id="317" r:id="rId105"/>
    <p:sldId id="318" r:id="rId106"/>
    <p:sldId id="319" r:id="rId107"/>
    <p:sldId id="320" r:id="rId108"/>
    <p:sldId id="323" r:id="rId109"/>
    <p:sldId id="324" r:id="rId110"/>
    <p:sldId id="325" r:id="rId111"/>
    <p:sldId id="326" r:id="rId112"/>
    <p:sldId id="566" r:id="rId113"/>
    <p:sldId id="567" r:id="rId114"/>
    <p:sldId id="568" r:id="rId115"/>
    <p:sldId id="569" r:id="rId116"/>
    <p:sldId id="581" r:id="rId117"/>
    <p:sldId id="582" r:id="rId118"/>
    <p:sldId id="570" r:id="rId119"/>
    <p:sldId id="571" r:id="rId120"/>
    <p:sldId id="583" r:id="rId121"/>
    <p:sldId id="584" r:id="rId122"/>
    <p:sldId id="572" r:id="rId123"/>
    <p:sldId id="573" r:id="rId124"/>
    <p:sldId id="585" r:id="rId125"/>
    <p:sldId id="586" r:id="rId126"/>
    <p:sldId id="587" r:id="rId127"/>
    <p:sldId id="574" r:id="rId128"/>
    <p:sldId id="575" r:id="rId129"/>
    <p:sldId id="588" r:id="rId130"/>
    <p:sldId id="589" r:id="rId131"/>
    <p:sldId id="576" r:id="rId132"/>
    <p:sldId id="590" r:id="rId133"/>
    <p:sldId id="591" r:id="rId134"/>
    <p:sldId id="578" r:id="rId135"/>
    <p:sldId id="592" r:id="rId136"/>
    <p:sldId id="593" r:id="rId137"/>
    <p:sldId id="579" r:id="rId138"/>
    <p:sldId id="594" r:id="rId139"/>
    <p:sldId id="580" r:id="rId140"/>
    <p:sldId id="435" r:id="rId141"/>
    <p:sldId id="328" r:id="rId142"/>
    <p:sldId id="329" r:id="rId143"/>
    <p:sldId id="330" r:id="rId144"/>
    <p:sldId id="331" r:id="rId145"/>
    <p:sldId id="332" r:id="rId146"/>
    <p:sldId id="333" r:id="rId147"/>
    <p:sldId id="475" r:id="rId148"/>
    <p:sldId id="476" r:id="rId149"/>
    <p:sldId id="505" r:id="rId150"/>
    <p:sldId id="477" r:id="rId151"/>
    <p:sldId id="478" r:id="rId152"/>
    <p:sldId id="479" r:id="rId153"/>
    <p:sldId id="480" r:id="rId154"/>
    <p:sldId id="481" r:id="rId155"/>
    <p:sldId id="482" r:id="rId156"/>
    <p:sldId id="483" r:id="rId157"/>
    <p:sldId id="484" r:id="rId158"/>
    <p:sldId id="485" r:id="rId159"/>
    <p:sldId id="486" r:id="rId160"/>
    <p:sldId id="487" r:id="rId161"/>
    <p:sldId id="488" r:id="rId162"/>
    <p:sldId id="489" r:id="rId163"/>
    <p:sldId id="490" r:id="rId164"/>
    <p:sldId id="491" r:id="rId165"/>
    <p:sldId id="492" r:id="rId166"/>
    <p:sldId id="266" r:id="rId167"/>
    <p:sldId id="344" r:id="rId168"/>
    <p:sldId id="345" r:id="rId169"/>
    <p:sldId id="346" r:id="rId170"/>
    <p:sldId id="347" r:id="rId171"/>
    <p:sldId id="348" r:id="rId172"/>
    <p:sldId id="349" r:id="rId173"/>
    <p:sldId id="350" r:id="rId174"/>
    <p:sldId id="351" r:id="rId175"/>
    <p:sldId id="352" r:id="rId176"/>
    <p:sldId id="436" r:id="rId177"/>
    <p:sldId id="334" r:id="rId178"/>
    <p:sldId id="335" r:id="rId179"/>
    <p:sldId id="336" r:id="rId180"/>
    <p:sldId id="337" r:id="rId181"/>
    <p:sldId id="338" r:id="rId182"/>
    <p:sldId id="339" r:id="rId183"/>
    <p:sldId id="340" r:id="rId184"/>
    <p:sldId id="341" r:id="rId185"/>
    <p:sldId id="342" r:id="rId186"/>
    <p:sldId id="343" r:id="rId187"/>
    <p:sldId id="268" r:id="rId188"/>
    <p:sldId id="353" r:id="rId189"/>
    <p:sldId id="354" r:id="rId190"/>
    <p:sldId id="269" r:id="rId191"/>
    <p:sldId id="355" r:id="rId192"/>
    <p:sldId id="356" r:id="rId193"/>
    <p:sldId id="506" r:id="rId194"/>
    <p:sldId id="357" r:id="rId195"/>
    <p:sldId id="358" r:id="rId196"/>
    <p:sldId id="359" r:id="rId197"/>
    <p:sldId id="360" r:id="rId198"/>
    <p:sldId id="362" r:id="rId199"/>
    <p:sldId id="361" r:id="rId200"/>
    <p:sldId id="363" r:id="rId201"/>
    <p:sldId id="496" r:id="rId202"/>
    <p:sldId id="364" r:id="rId203"/>
    <p:sldId id="365" r:id="rId204"/>
    <p:sldId id="370" r:id="rId205"/>
    <p:sldId id="371" r:id="rId206"/>
    <p:sldId id="372" r:id="rId207"/>
    <p:sldId id="373" r:id="rId208"/>
    <p:sldId id="374" r:id="rId209"/>
    <p:sldId id="375" r:id="rId210"/>
    <p:sldId id="376" r:id="rId211"/>
    <p:sldId id="366" r:id="rId212"/>
    <p:sldId id="367" r:id="rId213"/>
    <p:sldId id="368" r:id="rId214"/>
    <p:sldId id="369" r:id="rId215"/>
    <p:sldId id="271" r:id="rId216"/>
    <p:sldId id="272" r:id="rId217"/>
    <p:sldId id="273" r:id="rId218"/>
    <p:sldId id="553" r:id="rId219"/>
    <p:sldId id="554" r:id="rId220"/>
    <p:sldId id="555" r:id="rId221"/>
    <p:sldId id="556" r:id="rId222"/>
    <p:sldId id="557" r:id="rId223"/>
    <p:sldId id="558" r:id="rId224"/>
    <p:sldId id="559" r:id="rId225"/>
    <p:sldId id="560" r:id="rId226"/>
    <p:sldId id="561" r:id="rId227"/>
    <p:sldId id="563" r:id="rId228"/>
    <p:sldId id="564" r:id="rId229"/>
    <p:sldId id="565" r:id="rId230"/>
    <p:sldId id="274" r:id="rId231"/>
    <p:sldId id="541" r:id="rId232"/>
    <p:sldId id="542" r:id="rId233"/>
    <p:sldId id="543" r:id="rId234"/>
    <p:sldId id="544" r:id="rId235"/>
    <p:sldId id="545" r:id="rId236"/>
    <p:sldId id="546" r:id="rId237"/>
    <p:sldId id="547" r:id="rId238"/>
    <p:sldId id="548" r:id="rId239"/>
    <p:sldId id="549" r:id="rId240"/>
    <p:sldId id="550" r:id="rId241"/>
    <p:sldId id="551" r:id="rId242"/>
    <p:sldId id="552" r:id="rId243"/>
    <p:sldId id="275" r:id="rId244"/>
    <p:sldId id="437" r:id="rId245"/>
    <p:sldId id="507" r:id="rId246"/>
    <p:sldId id="497" r:id="rId247"/>
    <p:sldId id="438" r:id="rId248"/>
    <p:sldId id="508" r:id="rId249"/>
    <p:sldId id="439" r:id="rId250"/>
    <p:sldId id="276" r:id="rId251"/>
    <p:sldId id="440" r:id="rId252"/>
    <p:sldId id="277" r:id="rId253"/>
    <p:sldId id="509" r:id="rId254"/>
    <p:sldId id="441" r:id="rId255"/>
    <p:sldId id="510" r:id="rId256"/>
    <p:sldId id="278" r:id="rId257"/>
    <p:sldId id="279" r:id="rId258"/>
    <p:sldId id="442" r:id="rId259"/>
    <p:sldId id="280" r:id="rId260"/>
    <p:sldId id="443" r:id="rId261"/>
    <p:sldId id="281" r:id="rId262"/>
    <p:sldId id="282" r:id="rId263"/>
    <p:sldId id="444" r:id="rId264"/>
    <p:sldId id="283" r:id="rId265"/>
    <p:sldId id="511" r:id="rId266"/>
    <p:sldId id="500" r:id="rId267"/>
    <p:sldId id="517" r:id="rId268"/>
    <p:sldId id="525" r:id="rId269"/>
    <p:sldId id="533" r:id="rId270"/>
    <p:sldId id="518" r:id="rId271"/>
    <p:sldId id="534" r:id="rId272"/>
    <p:sldId id="535" r:id="rId273"/>
    <p:sldId id="519" r:id="rId274"/>
    <p:sldId id="520" r:id="rId275"/>
    <p:sldId id="526" r:id="rId276"/>
    <p:sldId id="527" r:id="rId277"/>
    <p:sldId id="537" r:id="rId278"/>
    <p:sldId id="521" r:id="rId279"/>
    <p:sldId id="522" r:id="rId280"/>
    <p:sldId id="528" r:id="rId281"/>
    <p:sldId id="529" r:id="rId282"/>
    <p:sldId id="530" r:id="rId283"/>
    <p:sldId id="531" r:id="rId284"/>
    <p:sldId id="532" r:id="rId285"/>
    <p:sldId id="523" r:id="rId286"/>
    <p:sldId id="445" r:id="rId287"/>
    <p:sldId id="284" r:id="rId288"/>
    <p:sldId id="285" r:id="rId289"/>
    <p:sldId id="286" r:id="rId290"/>
    <p:sldId id="513" r:id="rId291"/>
    <p:sldId id="287" r:id="rId292"/>
    <p:sldId id="446" r:id="rId293"/>
    <p:sldId id="498" r:id="rId294"/>
    <p:sldId id="516" r:id="rId295"/>
    <p:sldId id="538" r:id="rId296"/>
    <p:sldId id="447" r:id="rId297"/>
    <p:sldId id="288" r:id="rId298"/>
    <p:sldId id="289" r:id="rId299"/>
    <p:sldId id="290" r:id="rId300"/>
    <p:sldId id="448" r:id="rId301"/>
    <p:sldId id="291" r:id="rId302"/>
    <p:sldId id="292" r:id="rId303"/>
    <p:sldId id="539" r:id="rId304"/>
    <p:sldId id="449" r:id="rId305"/>
    <p:sldId id="294" r:id="rId306"/>
    <p:sldId id="295" r:id="rId307"/>
    <p:sldId id="451" r:id="rId308"/>
    <p:sldId id="296" r:id="rId309"/>
    <p:sldId id="297" r:id="rId310"/>
    <p:sldId id="499" r:id="rId311"/>
    <p:sldId id="450" r:id="rId312"/>
    <p:sldId id="514" r:id="rId313"/>
    <p:sldId id="298" r:id="rId314"/>
    <p:sldId id="299" r:id="rId315"/>
    <p:sldId id="293" r:id="rId316"/>
    <p:sldId id="300" r:id="rId317"/>
    <p:sldId id="301" r:id="rId318"/>
    <p:sldId id="302" r:id="rId319"/>
    <p:sldId id="303" r:id="rId320"/>
    <p:sldId id="304" r:id="rId321"/>
    <p:sldId id="305" r:id="rId322"/>
    <p:sldId id="306" r:id="rId323"/>
    <p:sldId id="540" r:id="rId324"/>
    <p:sldId id="515" r:id="rId325"/>
    <p:sldId id="452" r:id="rId326"/>
    <p:sldId id="453" r:id="rId327"/>
    <p:sldId id="454" r:id="rId328"/>
    <p:sldId id="455" r:id="rId32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57" autoAdjust="0"/>
  </p:normalViewPr>
  <p:slideViewPr>
    <p:cSldViewPr snapToGrid="0" snapToObjects="1">
      <p:cViewPr varScale="1">
        <p:scale>
          <a:sx n="50" d="100"/>
          <a:sy n="50" d="100"/>
        </p:scale>
        <p:origin x="1260" y="4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90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notesMaster" Target="notesMasters/notesMaster1.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presProps" Target="presProps.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viewProps" Target="viewProp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theme" Target="theme/theme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tableStyles" Target="tableStyles.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47F055-BE3B-4DDE-B584-F65E45379EC7}" type="datetimeFigureOut">
              <a:rPr lang="en-SG" smtClean="0"/>
              <a:t>19/12/2025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57C094-21CE-47C2-B85E-15CC2B32E4F0}" type="slidenum">
              <a:rPr lang="en-SG" smtClean="0"/>
              <a:t>‹#›</a:t>
            </a:fld>
            <a:endParaRPr lang="en-SG"/>
          </a:p>
        </p:txBody>
      </p:sp>
    </p:spTree>
    <p:extLst>
      <p:ext uri="{BB962C8B-B14F-4D97-AF65-F5344CB8AC3E}">
        <p14:creationId xmlns:p14="http://schemas.microsoft.com/office/powerpoint/2010/main" val="137209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understand the “hello, world” command and how to run it from an interactive Python. But serious Python programs can’t be typed in live; they need to be kept in a file and Python needs to be directed to run the commands from that file. These files are called “scripts” and we are now going to look at the Python script version of “hello, world”. </a:t>
            </a:r>
            <a:endParaRPr lang="en-SG" dirty="0"/>
          </a:p>
        </p:txBody>
      </p:sp>
      <p:sp>
        <p:nvSpPr>
          <p:cNvPr id="4" name="Slide Number Placeholder 3"/>
          <p:cNvSpPr>
            <a:spLocks noGrp="1"/>
          </p:cNvSpPr>
          <p:nvPr>
            <p:ph type="sldNum" sz="quarter" idx="5"/>
          </p:nvPr>
        </p:nvSpPr>
        <p:spPr/>
        <p:txBody>
          <a:bodyPr/>
          <a:lstStyle/>
          <a:p>
            <a:fld id="{4F57C094-21CE-47C2-B85E-15CC2B32E4F0}" type="slidenum">
              <a:rPr lang="en-SG" smtClean="0"/>
              <a:t>12</a:t>
            </a:fld>
            <a:endParaRPr lang="en-SG"/>
          </a:p>
        </p:txBody>
      </p:sp>
    </p:spTree>
    <p:extLst>
      <p:ext uri="{BB962C8B-B14F-4D97-AF65-F5344CB8AC3E}">
        <p14:creationId xmlns:p14="http://schemas.microsoft.com/office/powerpoint/2010/main" val="1732500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"Everything is an Object" Principle</a:t>
            </a:r>
          </a:p>
          <a:p>
            <a:r>
              <a:rPr lang="en-US" dirty="0"/>
              <a:t>In Python, variables are not "boxes" that hold data; they are </a:t>
            </a:r>
            <a:r>
              <a:rPr lang="en-US" b="1" dirty="0"/>
              <a:t>labels (references)</a:t>
            </a:r>
            <a:r>
              <a:rPr lang="en-US" dirty="0"/>
              <a:t> bound to objects in memory.</a:t>
            </a:r>
          </a:p>
          <a:p>
            <a:r>
              <a:rPr lang="en-US" b="1" dirty="0"/>
              <a:t>Variable Binding:</a:t>
            </a:r>
            <a:r>
              <a:rPr lang="en-US" dirty="0"/>
              <a:t> Assigning </a:t>
            </a:r>
            <a:r>
              <a:rPr lang="en-US" sz="1200" kern="1200" dirty="0">
                <a:solidFill>
                  <a:schemeClr val="tx1"/>
                </a:solidFill>
                <a:latin typeface="+mn-lt"/>
                <a:ea typeface="+mn-ea"/>
                <a:cs typeface="+mn-cs"/>
              </a:rPr>
              <a:t>x = 10</a:t>
            </a:r>
            <a:r>
              <a:rPr lang="en-US" dirty="0"/>
              <a:t> tells Python to create an integer object </a:t>
            </a:r>
            <a:r>
              <a:rPr lang="en-US" sz="1200" kern="1200" dirty="0">
                <a:solidFill>
                  <a:schemeClr val="tx1"/>
                </a:solidFill>
                <a:latin typeface="+mn-lt"/>
                <a:ea typeface="+mn-ea"/>
                <a:cs typeface="+mn-cs"/>
              </a:rPr>
              <a:t>10</a:t>
            </a:r>
            <a:r>
              <a:rPr lang="en-US" dirty="0"/>
              <a:t> and point the name </a:t>
            </a:r>
            <a:r>
              <a:rPr lang="en-US" sz="1200" kern="1200" dirty="0">
                <a:solidFill>
                  <a:schemeClr val="tx1"/>
                </a:solidFill>
                <a:latin typeface="+mn-lt"/>
                <a:ea typeface="+mn-ea"/>
                <a:cs typeface="+mn-cs"/>
              </a:rPr>
              <a:t>x</a:t>
            </a:r>
            <a:r>
              <a:rPr lang="en-US" dirty="0"/>
              <a:t> to it.</a:t>
            </a:r>
          </a:p>
          <a:p>
            <a:r>
              <a:rPr lang="en-US" b="1" dirty="0"/>
              <a:t>Memory Addresses:</a:t>
            </a:r>
            <a:r>
              <a:rPr lang="en-US" dirty="0"/>
              <a:t> Use the </a:t>
            </a:r>
            <a:r>
              <a:rPr lang="en-US" sz="1200" kern="1200" dirty="0">
                <a:solidFill>
                  <a:schemeClr val="tx1"/>
                </a:solidFill>
                <a:latin typeface="+mn-lt"/>
                <a:ea typeface="+mn-ea"/>
                <a:cs typeface="+mn-cs"/>
              </a:rPr>
              <a:t>id()</a:t>
            </a:r>
            <a:r>
              <a:rPr lang="en-US" dirty="0"/>
              <a:t> function to see exactly where an object lives in memory.</a:t>
            </a:r>
          </a:p>
          <a:p>
            <a:r>
              <a:rPr lang="en-US" b="1" dirty="0"/>
              <a:t>Identity vs. Equality:</a:t>
            </a:r>
            <a:r>
              <a:rPr lang="en-US" dirty="0"/>
              <a:t> </a:t>
            </a:r>
            <a:r>
              <a:rPr lang="en-US" sz="1200" kern="1200" dirty="0">
                <a:solidFill>
                  <a:schemeClr val="tx1"/>
                </a:solidFill>
                <a:latin typeface="+mn-lt"/>
                <a:ea typeface="+mn-ea"/>
                <a:cs typeface="+mn-cs"/>
              </a:rPr>
              <a:t>==</a:t>
            </a:r>
            <a:r>
              <a:rPr lang="en-US" dirty="0"/>
              <a:t> checks if values are the same; </a:t>
            </a:r>
            <a:r>
              <a:rPr lang="en-US" sz="1200" kern="1200" dirty="0">
                <a:solidFill>
                  <a:schemeClr val="tx1"/>
                </a:solidFill>
                <a:latin typeface="+mn-lt"/>
                <a:ea typeface="+mn-ea"/>
                <a:cs typeface="+mn-cs"/>
              </a:rPr>
              <a:t>is</a:t>
            </a:r>
            <a:r>
              <a:rPr lang="en-US" dirty="0"/>
              <a:t> checks if the variables point to the exact same object in memory.</a:t>
            </a:r>
          </a:p>
          <a:p>
            <a:endParaRPr lang="en-SG" dirty="0"/>
          </a:p>
        </p:txBody>
      </p:sp>
      <p:sp>
        <p:nvSpPr>
          <p:cNvPr id="4" name="Slide Number Placeholder 3"/>
          <p:cNvSpPr>
            <a:spLocks noGrp="1"/>
          </p:cNvSpPr>
          <p:nvPr>
            <p:ph type="sldNum" sz="quarter" idx="5"/>
          </p:nvPr>
        </p:nvSpPr>
        <p:spPr/>
        <p:txBody>
          <a:bodyPr/>
          <a:lstStyle/>
          <a:p>
            <a:fld id="{4F57C094-21CE-47C2-B85E-15CC2B32E4F0}" type="slidenum">
              <a:rPr lang="en-SG" smtClean="0"/>
              <a:t>15</a:t>
            </a:fld>
            <a:endParaRPr lang="en-SG"/>
          </a:p>
        </p:txBody>
      </p:sp>
    </p:spTree>
    <p:extLst>
      <p:ext uri="{BB962C8B-B14F-4D97-AF65-F5344CB8AC3E}">
        <p14:creationId xmlns:p14="http://schemas.microsoft.com/office/powerpoint/2010/main" val="3721132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4F57C094-21CE-47C2-B85E-15CC2B32E4F0}" type="slidenum">
              <a:rPr lang="en-SG" smtClean="0"/>
              <a:t>16</a:t>
            </a:fld>
            <a:endParaRPr lang="en-SG"/>
          </a:p>
        </p:txBody>
      </p:sp>
    </p:spTree>
    <p:extLst>
      <p:ext uri="{BB962C8B-B14F-4D97-AF65-F5344CB8AC3E}">
        <p14:creationId xmlns:p14="http://schemas.microsoft.com/office/powerpoint/2010/main" val="3051704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Mutability and Shared References</a:t>
            </a:r>
          </a:p>
          <a:p>
            <a:r>
              <a:rPr lang="en-US" dirty="0"/>
              <a:t>Understanding mutability is critical for avoiding "mystery" bugs in large engineering projects.</a:t>
            </a:r>
          </a:p>
          <a:p>
            <a:r>
              <a:rPr lang="en-US" b="1" dirty="0"/>
              <a:t>Immutable Types (int, str, tuple):</a:t>
            </a:r>
            <a:r>
              <a:rPr lang="en-US" dirty="0"/>
              <a:t> These objects cannot be changed in place. "Changing" a string creates a brand-new object in memory.</a:t>
            </a:r>
          </a:p>
          <a:p>
            <a:r>
              <a:rPr lang="en-US" b="1" dirty="0"/>
              <a:t>Mutable Types (list, </a:t>
            </a:r>
            <a:r>
              <a:rPr lang="en-US" b="1" dirty="0" err="1"/>
              <a:t>dict</a:t>
            </a:r>
            <a:r>
              <a:rPr lang="en-US" b="1" dirty="0"/>
              <a:t>, set):</a:t>
            </a:r>
            <a:r>
              <a:rPr lang="en-US" dirty="0"/>
              <a:t> These can be modified in place. If two variables point to the same list, changing one changes both.</a:t>
            </a:r>
          </a:p>
          <a:p>
            <a:endParaRPr lang="en-SG" dirty="0"/>
          </a:p>
        </p:txBody>
      </p:sp>
      <p:sp>
        <p:nvSpPr>
          <p:cNvPr id="4" name="Slide Number Placeholder 3"/>
          <p:cNvSpPr>
            <a:spLocks noGrp="1"/>
          </p:cNvSpPr>
          <p:nvPr>
            <p:ph type="sldNum" sz="quarter" idx="5"/>
          </p:nvPr>
        </p:nvSpPr>
        <p:spPr/>
        <p:txBody>
          <a:bodyPr/>
          <a:lstStyle/>
          <a:p>
            <a:fld id="{4F57C094-21CE-47C2-B85E-15CC2B32E4F0}" type="slidenum">
              <a:rPr lang="en-SG" smtClean="0"/>
              <a:t>20</a:t>
            </a:fld>
            <a:endParaRPr lang="en-SG"/>
          </a:p>
        </p:txBody>
      </p:sp>
    </p:spTree>
    <p:extLst>
      <p:ext uri="{BB962C8B-B14F-4D97-AF65-F5344CB8AC3E}">
        <p14:creationId xmlns:p14="http://schemas.microsoft.com/office/powerpoint/2010/main" val="4249353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Engineering with Strings &amp; Lists</a:t>
            </a:r>
          </a:p>
          <a:p>
            <a:r>
              <a:rPr lang="en-US" sz="1200" b="1" kern="1200" dirty="0">
                <a:solidFill>
                  <a:schemeClr val="tx1"/>
                </a:solidFill>
                <a:effectLst/>
                <a:latin typeface="+mn-lt"/>
                <a:ea typeface="+mn-ea"/>
                <a:cs typeface="+mn-cs"/>
              </a:rPr>
              <a:t>Sanitizing Data:</a:t>
            </a:r>
            <a:r>
              <a:rPr lang="en-US" sz="1200" kern="1200" dirty="0">
                <a:solidFill>
                  <a:schemeClr val="tx1"/>
                </a:solidFill>
                <a:effectLst/>
                <a:latin typeface="+mn-lt"/>
                <a:ea typeface="+mn-ea"/>
                <a:cs typeface="+mn-cs"/>
              </a:rPr>
              <a:t> Professional pipelines often involve cleaning user input strings</a:t>
            </a:r>
            <a:r>
              <a:rPr lang="en-US" sz="1200" kern="1200" baseline="30000" dirty="0">
                <a:solidFill>
                  <a:schemeClr val="tx1"/>
                </a:solidFill>
                <a:effectLst/>
                <a:latin typeface="+mn-lt"/>
                <a:ea typeface="+mn-ea"/>
                <a:cs typeface="+mn-cs"/>
              </a:rPr>
              <a:t>11</a:t>
            </a:r>
            <a:r>
              <a:rPr lang="en-US" sz="1200" kern="1200" dirty="0">
                <a:solidFill>
                  <a:schemeClr val="tx1"/>
                </a:solidFill>
                <a:effectLst/>
                <a:latin typeface="+mn-lt"/>
                <a:ea typeface="+mn-ea"/>
                <a:cs typeface="+mn-cs"/>
              </a:rPr>
              <a:t>.</a:t>
            </a:r>
          </a:p>
          <a:p>
            <a:pPr lvl="1"/>
            <a:r>
              <a:rPr lang="en-US" sz="1200" kern="1200" dirty="0">
                <a:solidFill>
                  <a:schemeClr val="tx1"/>
                </a:solidFill>
                <a:effectLst/>
                <a:latin typeface="+mn-lt"/>
                <a:ea typeface="+mn-ea"/>
                <a:cs typeface="+mn-cs"/>
              </a:rPr>
              <a:t>.strip(): Removes leading/trailing whitespace</a:t>
            </a:r>
            <a:r>
              <a:rPr lang="en-US" sz="1200" kern="1200" baseline="30000" dirty="0">
                <a:solidFill>
                  <a:schemeClr val="tx1"/>
                </a:solidFill>
                <a:effectLst/>
                <a:latin typeface="+mn-lt"/>
                <a:ea typeface="+mn-ea"/>
                <a:cs typeface="+mn-cs"/>
              </a:rPr>
              <a:t>12</a:t>
            </a:r>
            <a:r>
              <a:rPr lang="en-US" sz="1200" kern="1200" dirty="0">
                <a:solidFill>
                  <a:schemeClr val="tx1"/>
                </a:solidFill>
                <a:effectLst/>
                <a:latin typeface="+mn-lt"/>
                <a:ea typeface="+mn-ea"/>
                <a:cs typeface="+mn-cs"/>
              </a:rPr>
              <a:t>.</a:t>
            </a:r>
          </a:p>
          <a:p>
            <a:pPr lvl="1"/>
            <a:r>
              <a:rPr lang="en-US" sz="1200" kern="1200" dirty="0">
                <a:solidFill>
                  <a:schemeClr val="tx1"/>
                </a:solidFill>
                <a:effectLst/>
                <a:latin typeface="+mn-lt"/>
                <a:ea typeface="+mn-ea"/>
                <a:cs typeface="+mn-cs"/>
              </a:rPr>
              <a:t>.capitalize(): Uppercases only the very first character of the string</a:t>
            </a:r>
            <a:r>
              <a:rPr lang="en-US" sz="1200" kern="1200" baseline="30000" dirty="0">
                <a:solidFill>
                  <a:schemeClr val="tx1"/>
                </a:solidFill>
                <a:effectLst/>
                <a:latin typeface="+mn-lt"/>
                <a:ea typeface="+mn-ea"/>
                <a:cs typeface="+mn-cs"/>
              </a:rPr>
              <a:t>13</a:t>
            </a:r>
            <a:r>
              <a:rPr lang="en-US" sz="1200" kern="1200" dirty="0">
                <a:solidFill>
                  <a:schemeClr val="tx1"/>
                </a:solidFill>
                <a:effectLst/>
                <a:latin typeface="+mn-lt"/>
                <a:ea typeface="+mn-ea"/>
                <a:cs typeface="+mn-cs"/>
              </a:rPr>
              <a:t>.</a:t>
            </a:r>
          </a:p>
          <a:p>
            <a:pPr lvl="1"/>
            <a:r>
              <a:rPr lang="en-US" sz="1200" kern="1200" dirty="0">
                <a:solidFill>
                  <a:schemeClr val="tx1"/>
                </a:solidFill>
                <a:effectLst/>
                <a:latin typeface="+mn-lt"/>
                <a:ea typeface="+mn-ea"/>
                <a:cs typeface="+mn-cs"/>
              </a:rPr>
              <a:t>.title(): Uppercases the first letter of </a:t>
            </a:r>
            <a:r>
              <a:rPr lang="en-US" sz="1200" i="1" kern="1200" dirty="0">
                <a:solidFill>
                  <a:schemeClr val="tx1"/>
                </a:solidFill>
                <a:effectLst/>
                <a:latin typeface="+mn-lt"/>
                <a:ea typeface="+mn-ea"/>
                <a:cs typeface="+mn-cs"/>
              </a:rPr>
              <a:t>every</a:t>
            </a:r>
            <a:r>
              <a:rPr lang="en-US" sz="1200" kern="1200" dirty="0">
                <a:solidFill>
                  <a:schemeClr val="tx1"/>
                </a:solidFill>
                <a:effectLst/>
                <a:latin typeface="+mn-lt"/>
                <a:ea typeface="+mn-ea"/>
                <a:cs typeface="+mn-cs"/>
              </a:rPr>
              <a:t> word (ideal for names like "</a:t>
            </a:r>
            <a:r>
              <a:rPr lang="en-US" sz="1200" kern="1200" dirty="0" err="1">
                <a:solidFill>
                  <a:schemeClr val="tx1"/>
                </a:solidFill>
                <a:effectLst/>
                <a:latin typeface="+mn-lt"/>
                <a:ea typeface="+mn-ea"/>
                <a:cs typeface="+mn-cs"/>
              </a:rPr>
              <a:t>sarah</a:t>
            </a:r>
            <a:r>
              <a:rPr lang="en-US" sz="1200" kern="1200" dirty="0">
                <a:solidFill>
                  <a:schemeClr val="tx1"/>
                </a:solidFill>
                <a:effectLst/>
                <a:latin typeface="+mn-lt"/>
                <a:ea typeface="+mn-ea"/>
                <a:cs typeface="+mn-cs"/>
              </a:rPr>
              <a:t> smith")</a:t>
            </a:r>
            <a:r>
              <a:rPr lang="en-US" sz="1200" kern="1200" baseline="30000" dirty="0">
                <a:solidFill>
                  <a:schemeClr val="tx1"/>
                </a:solidFill>
                <a:effectLst/>
                <a:latin typeface="+mn-lt"/>
                <a:ea typeface="+mn-ea"/>
                <a:cs typeface="+mn-cs"/>
              </a:rPr>
              <a:t>14</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Efficient Collections:</a:t>
            </a:r>
            <a:endParaRPr lang="en-US" sz="1200" kern="1200" dirty="0">
              <a:solidFill>
                <a:schemeClr val="tx1"/>
              </a:solidFill>
              <a:effectLst/>
              <a:latin typeface="+mn-lt"/>
              <a:ea typeface="+mn-ea"/>
              <a:cs typeface="+mn-cs"/>
            </a:endParaRPr>
          </a:p>
          <a:p>
            <a:pPr lvl="1"/>
            <a:r>
              <a:rPr lang="en-US" sz="1200" b="1" kern="1200" dirty="0">
                <a:solidFill>
                  <a:schemeClr val="tx1"/>
                </a:solidFill>
                <a:effectLst/>
                <a:latin typeface="+mn-lt"/>
                <a:ea typeface="+mn-ea"/>
                <a:cs typeface="+mn-cs"/>
              </a:rPr>
              <a:t>Lists []:</a:t>
            </a:r>
            <a:r>
              <a:rPr lang="en-US" sz="1200" kern="1200" dirty="0">
                <a:solidFill>
                  <a:schemeClr val="tx1"/>
                </a:solidFill>
                <a:effectLst/>
                <a:latin typeface="+mn-lt"/>
                <a:ea typeface="+mn-ea"/>
                <a:cs typeface="+mn-cs"/>
              </a:rPr>
              <a:t> Best for ordered sequences where duplicates are allowed</a:t>
            </a:r>
            <a:r>
              <a:rPr lang="en-US" sz="1200" kern="1200" baseline="30000" dirty="0">
                <a:solidFill>
                  <a:schemeClr val="tx1"/>
                </a:solidFill>
                <a:effectLst/>
                <a:latin typeface="+mn-lt"/>
                <a:ea typeface="+mn-ea"/>
                <a:cs typeface="+mn-cs"/>
              </a:rPr>
              <a:t>15</a:t>
            </a:r>
            <a:r>
              <a:rPr lang="en-US" sz="1200" kern="1200" dirty="0">
                <a:solidFill>
                  <a:schemeClr val="tx1"/>
                </a:solidFill>
                <a:effectLst/>
                <a:latin typeface="+mn-lt"/>
                <a:ea typeface="+mn-ea"/>
                <a:cs typeface="+mn-cs"/>
              </a:rPr>
              <a:t>.</a:t>
            </a:r>
          </a:p>
          <a:p>
            <a:pPr lvl="1"/>
            <a:r>
              <a:rPr lang="en-US" sz="1200" b="1" kern="1200" dirty="0">
                <a:solidFill>
                  <a:schemeClr val="tx1"/>
                </a:solidFill>
                <a:effectLst/>
                <a:latin typeface="+mn-lt"/>
                <a:ea typeface="+mn-ea"/>
                <a:cs typeface="+mn-cs"/>
              </a:rPr>
              <a:t>Sets {}:</a:t>
            </a:r>
            <a:r>
              <a:rPr lang="en-US" sz="1200" kern="1200" dirty="0">
                <a:solidFill>
                  <a:schemeClr val="tx1"/>
                </a:solidFill>
                <a:effectLst/>
                <a:latin typeface="+mn-lt"/>
                <a:ea typeface="+mn-ea"/>
                <a:cs typeface="+mn-cs"/>
              </a:rPr>
              <a:t> Optimized for membership testing ($O(1)$ lookup) and unique values</a:t>
            </a:r>
            <a:r>
              <a:rPr lang="en-US" sz="1200" kern="1200" baseline="30000" dirty="0">
                <a:solidFill>
                  <a:schemeClr val="tx1"/>
                </a:solidFill>
                <a:effectLst/>
                <a:latin typeface="+mn-lt"/>
                <a:ea typeface="+mn-ea"/>
                <a:cs typeface="+mn-cs"/>
              </a:rPr>
              <a:t>16</a:t>
            </a:r>
            <a:r>
              <a:rPr lang="en-US" sz="1200" kern="1200" dirty="0">
                <a:solidFill>
                  <a:schemeClr val="tx1"/>
                </a:solidFill>
                <a:effectLst/>
                <a:latin typeface="+mn-lt"/>
                <a:ea typeface="+mn-ea"/>
                <a:cs typeface="+mn-cs"/>
              </a:rPr>
              <a:t>.</a:t>
            </a:r>
          </a:p>
          <a:p>
            <a:pPr lvl="1"/>
            <a:r>
              <a:rPr lang="en-US" sz="1200" b="1" kern="1200" dirty="0">
                <a:solidFill>
                  <a:schemeClr val="tx1"/>
                </a:solidFill>
                <a:effectLst/>
                <a:latin typeface="+mn-lt"/>
                <a:ea typeface="+mn-ea"/>
                <a:cs typeface="+mn-cs"/>
              </a:rPr>
              <a:t>Tuples ():</a:t>
            </a:r>
            <a:r>
              <a:rPr lang="en-US" sz="1200" kern="1200" dirty="0">
                <a:solidFill>
                  <a:schemeClr val="tx1"/>
                </a:solidFill>
                <a:effectLst/>
                <a:latin typeface="+mn-lt"/>
                <a:ea typeface="+mn-ea"/>
                <a:cs typeface="+mn-cs"/>
              </a:rPr>
              <a:t> Use for fixed records or to prevent accidental modification (immutability)</a:t>
            </a:r>
            <a:r>
              <a:rPr lang="en-US" sz="1200" kern="1200" baseline="30000" dirty="0">
                <a:solidFill>
                  <a:schemeClr val="tx1"/>
                </a:solidFill>
                <a:effectLst/>
                <a:latin typeface="+mn-lt"/>
                <a:ea typeface="+mn-ea"/>
                <a:cs typeface="+mn-cs"/>
              </a:rPr>
              <a:t>17</a:t>
            </a:r>
            <a:endParaRPr lang="en-US" sz="1200" kern="1200" dirty="0">
              <a:solidFill>
                <a:schemeClr val="tx1"/>
              </a:solidFill>
              <a:effectLst/>
              <a:latin typeface="+mn-lt"/>
              <a:ea typeface="+mn-ea"/>
              <a:cs typeface="+mn-cs"/>
            </a:endParaRPr>
          </a:p>
          <a:p>
            <a:endParaRPr lang="en-SG" dirty="0"/>
          </a:p>
        </p:txBody>
      </p:sp>
      <p:sp>
        <p:nvSpPr>
          <p:cNvPr id="4" name="Slide Number Placeholder 3"/>
          <p:cNvSpPr>
            <a:spLocks noGrp="1"/>
          </p:cNvSpPr>
          <p:nvPr>
            <p:ph type="sldNum" sz="quarter" idx="5"/>
          </p:nvPr>
        </p:nvSpPr>
        <p:spPr/>
        <p:txBody>
          <a:bodyPr/>
          <a:lstStyle/>
          <a:p>
            <a:fld id="{4F57C094-21CE-47C2-B85E-15CC2B32E4F0}" type="slidenum">
              <a:rPr lang="en-SG" smtClean="0"/>
              <a:t>63</a:t>
            </a:fld>
            <a:endParaRPr lang="en-SG"/>
          </a:p>
        </p:txBody>
      </p:sp>
    </p:spTree>
    <p:extLst>
      <p:ext uri="{BB962C8B-B14F-4D97-AF65-F5344CB8AC3E}">
        <p14:creationId xmlns:p14="http://schemas.microsoft.com/office/powerpoint/2010/main" val="86139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4F57C094-21CE-47C2-B85E-15CC2B32E4F0}" type="slidenum">
              <a:rPr lang="en-SG" smtClean="0"/>
              <a:t>145</a:t>
            </a:fld>
            <a:endParaRPr lang="en-SG"/>
          </a:p>
        </p:txBody>
      </p:sp>
    </p:spTree>
    <p:extLst>
      <p:ext uri="{BB962C8B-B14F-4D97-AF65-F5344CB8AC3E}">
        <p14:creationId xmlns:p14="http://schemas.microsoft.com/office/powerpoint/2010/main" val="3221906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A53B0-D229-1441-D3CB-89F197CDB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D59E0-E54D-2E4C-9B24-04C919908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68636-9AC4-3128-F747-BEE07DB461D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521A5A7-A5AB-1FAE-A33C-C11BA5A948A0}"/>
              </a:ext>
            </a:extLst>
          </p:cNvPr>
          <p:cNvSpPr>
            <a:spLocks noGrp="1"/>
          </p:cNvSpPr>
          <p:nvPr>
            <p:ph type="sldNum" sz="quarter" idx="5"/>
          </p:nvPr>
        </p:nvSpPr>
        <p:spPr/>
        <p:txBody>
          <a:bodyPr/>
          <a:lstStyle/>
          <a:p>
            <a:fld id="{4F57C094-21CE-47C2-B85E-15CC2B32E4F0}" type="slidenum">
              <a:rPr lang="en-SG" smtClean="0"/>
              <a:t>146</a:t>
            </a:fld>
            <a:endParaRPr lang="en-SG"/>
          </a:p>
        </p:txBody>
      </p:sp>
    </p:spTree>
    <p:extLst>
      <p:ext uri="{BB962C8B-B14F-4D97-AF65-F5344CB8AC3E}">
        <p14:creationId xmlns:p14="http://schemas.microsoft.com/office/powerpoint/2010/main" val="3004334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7E50B-7E5A-D15B-B59A-E94E31D28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BE1BD-7349-8537-4DD7-8802A35BF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485DAB-303C-A164-3AFE-9CE37EE9A8C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62F506D-1A6A-5EA4-BD36-FC588DE2C457}"/>
              </a:ext>
            </a:extLst>
          </p:cNvPr>
          <p:cNvSpPr>
            <a:spLocks noGrp="1"/>
          </p:cNvSpPr>
          <p:nvPr>
            <p:ph type="sldNum" sz="quarter" idx="5"/>
          </p:nvPr>
        </p:nvSpPr>
        <p:spPr/>
        <p:txBody>
          <a:bodyPr/>
          <a:lstStyle/>
          <a:p>
            <a:fld id="{4F57C094-21CE-47C2-B85E-15CC2B32E4F0}" type="slidenum">
              <a:rPr lang="en-SG" smtClean="0"/>
              <a:t>148</a:t>
            </a:fld>
            <a:endParaRPr lang="en-SG"/>
          </a:p>
        </p:txBody>
      </p:sp>
    </p:spTree>
    <p:extLst>
      <p:ext uri="{BB962C8B-B14F-4D97-AF65-F5344CB8AC3E}">
        <p14:creationId xmlns:p14="http://schemas.microsoft.com/office/powerpoint/2010/main" val="2830843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ECBB-AEEF-E7DD-183B-FC74619EA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2385D-8E77-32FB-F45B-0310DD65E4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C6DCA-11CA-E1A0-23E8-612AD78F6F8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86F0090-3024-495D-A2F9-E1F299B79FE7}"/>
              </a:ext>
            </a:extLst>
          </p:cNvPr>
          <p:cNvSpPr>
            <a:spLocks noGrp="1"/>
          </p:cNvSpPr>
          <p:nvPr>
            <p:ph type="sldNum" sz="quarter" idx="5"/>
          </p:nvPr>
        </p:nvSpPr>
        <p:spPr/>
        <p:txBody>
          <a:bodyPr/>
          <a:lstStyle/>
          <a:p>
            <a:fld id="{4F57C094-21CE-47C2-B85E-15CC2B32E4F0}" type="slidenum">
              <a:rPr lang="en-SG" smtClean="0"/>
              <a:t>150</a:t>
            </a:fld>
            <a:endParaRPr lang="en-SG"/>
          </a:p>
        </p:txBody>
      </p:sp>
    </p:spTree>
    <p:extLst>
      <p:ext uri="{BB962C8B-B14F-4D97-AF65-F5344CB8AC3E}">
        <p14:creationId xmlns:p14="http://schemas.microsoft.com/office/powerpoint/2010/main" val="2485414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62D5E-F4D1-8D0E-8E9D-071892431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ABAC4-A52F-DCE4-23F0-36C92C1E0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7EE85-B256-45BD-7796-3055F6FA36E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0A62A8F-6A45-5B57-8150-9F1C8DDB0153}"/>
              </a:ext>
            </a:extLst>
          </p:cNvPr>
          <p:cNvSpPr>
            <a:spLocks noGrp="1"/>
          </p:cNvSpPr>
          <p:nvPr>
            <p:ph type="sldNum" sz="quarter" idx="5"/>
          </p:nvPr>
        </p:nvSpPr>
        <p:spPr/>
        <p:txBody>
          <a:bodyPr/>
          <a:lstStyle/>
          <a:p>
            <a:fld id="{4F57C094-21CE-47C2-B85E-15CC2B32E4F0}" type="slidenum">
              <a:rPr lang="en-SG" smtClean="0"/>
              <a:t>151</a:t>
            </a:fld>
            <a:endParaRPr lang="en-SG"/>
          </a:p>
        </p:txBody>
      </p:sp>
    </p:spTree>
    <p:extLst>
      <p:ext uri="{BB962C8B-B14F-4D97-AF65-F5344CB8AC3E}">
        <p14:creationId xmlns:p14="http://schemas.microsoft.com/office/powerpoint/2010/main" val="173311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AFD15-381B-80D9-C9AF-8C6DA1342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52A6E-EF27-60EB-1521-3954D0EDD8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483BCD-BD33-937F-1D49-E339A8B94F4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D812A42-FB51-BCFB-BC8C-AFDD06CF2812}"/>
              </a:ext>
            </a:extLst>
          </p:cNvPr>
          <p:cNvSpPr>
            <a:spLocks noGrp="1"/>
          </p:cNvSpPr>
          <p:nvPr>
            <p:ph type="sldNum" sz="quarter" idx="5"/>
          </p:nvPr>
        </p:nvSpPr>
        <p:spPr/>
        <p:txBody>
          <a:bodyPr/>
          <a:lstStyle/>
          <a:p>
            <a:fld id="{4F57C094-21CE-47C2-B85E-15CC2B32E4F0}" type="slidenum">
              <a:rPr lang="en-SG" smtClean="0"/>
              <a:t>152</a:t>
            </a:fld>
            <a:endParaRPr lang="en-SG"/>
          </a:p>
        </p:txBody>
      </p:sp>
    </p:spTree>
    <p:extLst>
      <p:ext uri="{BB962C8B-B14F-4D97-AF65-F5344CB8AC3E}">
        <p14:creationId xmlns:p14="http://schemas.microsoft.com/office/powerpoint/2010/main" val="4140515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D8BD-A46A-90A4-AA7A-4F4A904D5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53A85-76D0-7312-A5D0-F9FC74B618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09948-7E28-2EEE-2C8A-F6974352BFD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34DD62D-5218-92AD-417D-5C753D5813C0}"/>
              </a:ext>
            </a:extLst>
          </p:cNvPr>
          <p:cNvSpPr>
            <a:spLocks noGrp="1"/>
          </p:cNvSpPr>
          <p:nvPr>
            <p:ph type="sldNum" sz="quarter" idx="5"/>
          </p:nvPr>
        </p:nvSpPr>
        <p:spPr/>
        <p:txBody>
          <a:bodyPr/>
          <a:lstStyle/>
          <a:p>
            <a:fld id="{4F57C094-21CE-47C2-B85E-15CC2B32E4F0}" type="slidenum">
              <a:rPr lang="en-SG" smtClean="0"/>
              <a:t>153</a:t>
            </a:fld>
            <a:endParaRPr lang="en-SG"/>
          </a:p>
        </p:txBody>
      </p:sp>
    </p:spTree>
    <p:extLst>
      <p:ext uri="{BB962C8B-B14F-4D97-AF65-F5344CB8AC3E}">
        <p14:creationId xmlns:p14="http://schemas.microsoft.com/office/powerpoint/2010/main" val="2644155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CE43E-4985-4E3A-333F-39CB8E1BA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FC4E4-513A-E5BB-8CFA-0EE6B6B92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E9F54-56E3-EC8F-6266-78E58BD88B9E}"/>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A4A2EEA2-103D-5DAB-D18F-84AF83FB77E1}"/>
              </a:ext>
            </a:extLst>
          </p:cNvPr>
          <p:cNvSpPr>
            <a:spLocks noGrp="1"/>
          </p:cNvSpPr>
          <p:nvPr>
            <p:ph type="sldNum" sz="quarter" idx="5"/>
          </p:nvPr>
        </p:nvSpPr>
        <p:spPr/>
        <p:txBody>
          <a:bodyPr/>
          <a:lstStyle/>
          <a:p>
            <a:fld id="{4F57C094-21CE-47C2-B85E-15CC2B32E4F0}" type="slidenum">
              <a:rPr lang="en-SG" smtClean="0"/>
              <a:t>154</a:t>
            </a:fld>
            <a:endParaRPr lang="en-SG"/>
          </a:p>
        </p:txBody>
      </p:sp>
    </p:spTree>
    <p:extLst>
      <p:ext uri="{BB962C8B-B14F-4D97-AF65-F5344CB8AC3E}">
        <p14:creationId xmlns:p14="http://schemas.microsoft.com/office/powerpoint/2010/main" val="3235963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426A3-BAD0-4003-8EF8-A23FB827D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92D99-F63E-177A-D63F-0D4CFAFDD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39C18-3262-4406-F9E1-F4897D8173C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3577C11-B98E-1A1B-A428-EE567A203A6B}"/>
              </a:ext>
            </a:extLst>
          </p:cNvPr>
          <p:cNvSpPr>
            <a:spLocks noGrp="1"/>
          </p:cNvSpPr>
          <p:nvPr>
            <p:ph type="sldNum" sz="quarter" idx="5"/>
          </p:nvPr>
        </p:nvSpPr>
        <p:spPr/>
        <p:txBody>
          <a:bodyPr/>
          <a:lstStyle/>
          <a:p>
            <a:fld id="{4F57C094-21CE-47C2-B85E-15CC2B32E4F0}" type="slidenum">
              <a:rPr lang="en-SG" smtClean="0"/>
              <a:t>155</a:t>
            </a:fld>
            <a:endParaRPr lang="en-SG"/>
          </a:p>
        </p:txBody>
      </p:sp>
    </p:spTree>
    <p:extLst>
      <p:ext uri="{BB962C8B-B14F-4D97-AF65-F5344CB8AC3E}">
        <p14:creationId xmlns:p14="http://schemas.microsoft.com/office/powerpoint/2010/main" val="3301808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95AF3-9142-3F7D-3418-3C991BAF2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9FA16-1540-C504-43FF-B72F366590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E2C4D-3EFA-5424-EFF0-F2000623C7A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F9D6527-1B11-B518-8432-2D340E295550}"/>
              </a:ext>
            </a:extLst>
          </p:cNvPr>
          <p:cNvSpPr>
            <a:spLocks noGrp="1"/>
          </p:cNvSpPr>
          <p:nvPr>
            <p:ph type="sldNum" sz="quarter" idx="5"/>
          </p:nvPr>
        </p:nvSpPr>
        <p:spPr/>
        <p:txBody>
          <a:bodyPr/>
          <a:lstStyle/>
          <a:p>
            <a:fld id="{4F57C094-21CE-47C2-B85E-15CC2B32E4F0}" type="slidenum">
              <a:rPr lang="en-SG" smtClean="0"/>
              <a:t>156</a:t>
            </a:fld>
            <a:endParaRPr lang="en-SG"/>
          </a:p>
        </p:txBody>
      </p:sp>
    </p:spTree>
    <p:extLst>
      <p:ext uri="{BB962C8B-B14F-4D97-AF65-F5344CB8AC3E}">
        <p14:creationId xmlns:p14="http://schemas.microsoft.com/office/powerpoint/2010/main" val="478477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42853-7923-C338-DEC2-1ECC25EE2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DEB496-2093-EDD8-FE8F-60A204C0C0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69314-C697-3DDF-B64B-2D99FB0E2F34}"/>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4F9BE31-BD2C-8E3B-DAC7-E8DA1527BD47}"/>
              </a:ext>
            </a:extLst>
          </p:cNvPr>
          <p:cNvSpPr>
            <a:spLocks noGrp="1"/>
          </p:cNvSpPr>
          <p:nvPr>
            <p:ph type="sldNum" sz="quarter" idx="5"/>
          </p:nvPr>
        </p:nvSpPr>
        <p:spPr/>
        <p:txBody>
          <a:bodyPr/>
          <a:lstStyle/>
          <a:p>
            <a:fld id="{4F57C094-21CE-47C2-B85E-15CC2B32E4F0}" type="slidenum">
              <a:rPr lang="en-SG" smtClean="0"/>
              <a:t>157</a:t>
            </a:fld>
            <a:endParaRPr lang="en-SG"/>
          </a:p>
        </p:txBody>
      </p:sp>
    </p:spTree>
    <p:extLst>
      <p:ext uri="{BB962C8B-B14F-4D97-AF65-F5344CB8AC3E}">
        <p14:creationId xmlns:p14="http://schemas.microsoft.com/office/powerpoint/2010/main" val="2314329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4984-723A-8463-9262-FA3B75B1E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F9968-7331-39AF-7B52-2E6A10BCB9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B1876-4273-4F09-C719-97FE65E171D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1296972-6713-6A27-B3A7-FB4B35F03C30}"/>
              </a:ext>
            </a:extLst>
          </p:cNvPr>
          <p:cNvSpPr>
            <a:spLocks noGrp="1"/>
          </p:cNvSpPr>
          <p:nvPr>
            <p:ph type="sldNum" sz="quarter" idx="5"/>
          </p:nvPr>
        </p:nvSpPr>
        <p:spPr/>
        <p:txBody>
          <a:bodyPr/>
          <a:lstStyle/>
          <a:p>
            <a:fld id="{4F57C094-21CE-47C2-B85E-15CC2B32E4F0}" type="slidenum">
              <a:rPr lang="en-SG" smtClean="0"/>
              <a:t>159</a:t>
            </a:fld>
            <a:endParaRPr lang="en-SG"/>
          </a:p>
        </p:txBody>
      </p:sp>
    </p:spTree>
    <p:extLst>
      <p:ext uri="{BB962C8B-B14F-4D97-AF65-F5344CB8AC3E}">
        <p14:creationId xmlns:p14="http://schemas.microsoft.com/office/powerpoint/2010/main" val="2369041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1725F-836A-060E-BFB6-1F4F04DDC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15E54-805D-9E60-9438-4E77E4A6CB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96F9F-700C-9156-04D4-68833EB8DD3E}"/>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B7FB651-D9A8-0289-0A3E-2D82D9830132}"/>
              </a:ext>
            </a:extLst>
          </p:cNvPr>
          <p:cNvSpPr>
            <a:spLocks noGrp="1"/>
          </p:cNvSpPr>
          <p:nvPr>
            <p:ph type="sldNum" sz="quarter" idx="5"/>
          </p:nvPr>
        </p:nvSpPr>
        <p:spPr/>
        <p:txBody>
          <a:bodyPr/>
          <a:lstStyle/>
          <a:p>
            <a:fld id="{4F57C094-21CE-47C2-B85E-15CC2B32E4F0}" type="slidenum">
              <a:rPr lang="en-SG" smtClean="0"/>
              <a:t>168</a:t>
            </a:fld>
            <a:endParaRPr lang="en-SG"/>
          </a:p>
        </p:txBody>
      </p:sp>
    </p:spTree>
    <p:extLst>
      <p:ext uri="{BB962C8B-B14F-4D97-AF65-F5344CB8AC3E}">
        <p14:creationId xmlns:p14="http://schemas.microsoft.com/office/powerpoint/2010/main" val="4127783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BD563-23DC-D4FF-D080-93B15EE7A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F4651-359E-3981-0C4F-A5708A8318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B7E35-C0F4-9B7A-E72C-8021E97D6D1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DF7F3BD-F8BF-9FD0-C605-18C940493D9A}"/>
              </a:ext>
            </a:extLst>
          </p:cNvPr>
          <p:cNvSpPr>
            <a:spLocks noGrp="1"/>
          </p:cNvSpPr>
          <p:nvPr>
            <p:ph type="sldNum" sz="quarter" idx="5"/>
          </p:nvPr>
        </p:nvSpPr>
        <p:spPr/>
        <p:txBody>
          <a:bodyPr/>
          <a:lstStyle/>
          <a:p>
            <a:fld id="{4F57C094-21CE-47C2-B85E-15CC2B32E4F0}" type="slidenum">
              <a:rPr lang="en-SG" smtClean="0"/>
              <a:t>169</a:t>
            </a:fld>
            <a:endParaRPr lang="en-SG"/>
          </a:p>
        </p:txBody>
      </p:sp>
    </p:spTree>
    <p:extLst>
      <p:ext uri="{BB962C8B-B14F-4D97-AF65-F5344CB8AC3E}">
        <p14:creationId xmlns:p14="http://schemas.microsoft.com/office/powerpoint/2010/main" val="267441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A86C9-D0DE-C449-E394-FF86DB870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7A182-AE34-5AAF-923C-AED111617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41809-51C9-7634-2A25-4E0FE4366F0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3DDA498-440B-5478-8295-205B2BB12201}"/>
              </a:ext>
            </a:extLst>
          </p:cNvPr>
          <p:cNvSpPr>
            <a:spLocks noGrp="1"/>
          </p:cNvSpPr>
          <p:nvPr>
            <p:ph type="sldNum" sz="quarter" idx="5"/>
          </p:nvPr>
        </p:nvSpPr>
        <p:spPr/>
        <p:txBody>
          <a:bodyPr/>
          <a:lstStyle/>
          <a:p>
            <a:fld id="{4F57C094-21CE-47C2-B85E-15CC2B32E4F0}" type="slidenum">
              <a:rPr lang="en-SG" smtClean="0"/>
              <a:t>170</a:t>
            </a:fld>
            <a:endParaRPr lang="en-SG"/>
          </a:p>
        </p:txBody>
      </p:sp>
    </p:spTree>
    <p:extLst>
      <p:ext uri="{BB962C8B-B14F-4D97-AF65-F5344CB8AC3E}">
        <p14:creationId xmlns:p14="http://schemas.microsoft.com/office/powerpoint/2010/main" val="2448754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0C23B-CF57-F971-A3E2-FA91D9407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92111-C9CB-0330-C9C9-78498709A9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55F4D-9C64-B3D6-450A-A113597D594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869E19A-B909-281D-CEF7-73182D4D195E}"/>
              </a:ext>
            </a:extLst>
          </p:cNvPr>
          <p:cNvSpPr>
            <a:spLocks noGrp="1"/>
          </p:cNvSpPr>
          <p:nvPr>
            <p:ph type="sldNum" sz="quarter" idx="5"/>
          </p:nvPr>
        </p:nvSpPr>
        <p:spPr/>
        <p:txBody>
          <a:bodyPr/>
          <a:lstStyle/>
          <a:p>
            <a:fld id="{4F57C094-21CE-47C2-B85E-15CC2B32E4F0}" type="slidenum">
              <a:rPr lang="en-SG" smtClean="0"/>
              <a:t>171</a:t>
            </a:fld>
            <a:endParaRPr lang="en-SG"/>
          </a:p>
        </p:txBody>
      </p:sp>
    </p:spTree>
    <p:extLst>
      <p:ext uri="{BB962C8B-B14F-4D97-AF65-F5344CB8AC3E}">
        <p14:creationId xmlns:p14="http://schemas.microsoft.com/office/powerpoint/2010/main" val="4215919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E481F-DF8B-5F1D-618C-587B1D336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E1F19B-D02F-6DE5-4CA1-FF2669D16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010F8-C3AB-6C31-56D0-B908BCA0369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24D708F7-5634-E3A4-E2A1-08658D746FA5}"/>
              </a:ext>
            </a:extLst>
          </p:cNvPr>
          <p:cNvSpPr>
            <a:spLocks noGrp="1"/>
          </p:cNvSpPr>
          <p:nvPr>
            <p:ph type="sldNum" sz="quarter" idx="5"/>
          </p:nvPr>
        </p:nvSpPr>
        <p:spPr/>
        <p:txBody>
          <a:bodyPr/>
          <a:lstStyle/>
          <a:p>
            <a:fld id="{4F57C094-21CE-47C2-B85E-15CC2B32E4F0}" type="slidenum">
              <a:rPr lang="en-SG" smtClean="0"/>
              <a:t>172</a:t>
            </a:fld>
            <a:endParaRPr lang="en-SG"/>
          </a:p>
        </p:txBody>
      </p:sp>
    </p:spTree>
    <p:extLst>
      <p:ext uri="{BB962C8B-B14F-4D97-AF65-F5344CB8AC3E}">
        <p14:creationId xmlns:p14="http://schemas.microsoft.com/office/powerpoint/2010/main" val="237355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5068-DA73-AB27-8634-D333E6F58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6A6B5D-BE7B-240E-E882-9C2C00DCA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148ED-3F87-A508-269C-DE3AEE8CD86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E572950-7BF9-96C5-D0F1-0645EF7433D1}"/>
              </a:ext>
            </a:extLst>
          </p:cNvPr>
          <p:cNvSpPr>
            <a:spLocks noGrp="1"/>
          </p:cNvSpPr>
          <p:nvPr>
            <p:ph type="sldNum" sz="quarter" idx="5"/>
          </p:nvPr>
        </p:nvSpPr>
        <p:spPr/>
        <p:txBody>
          <a:bodyPr/>
          <a:lstStyle/>
          <a:p>
            <a:fld id="{4F57C094-21CE-47C2-B85E-15CC2B32E4F0}" type="slidenum">
              <a:rPr lang="en-SG" smtClean="0"/>
              <a:t>177</a:t>
            </a:fld>
            <a:endParaRPr lang="en-SG"/>
          </a:p>
        </p:txBody>
      </p:sp>
    </p:spTree>
    <p:extLst>
      <p:ext uri="{BB962C8B-B14F-4D97-AF65-F5344CB8AC3E}">
        <p14:creationId xmlns:p14="http://schemas.microsoft.com/office/powerpoint/2010/main" val="2634666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7FA06-8C96-6D2C-855C-DE73EF0CD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D1D36-CE97-3F63-A78F-2CB5F4796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EA971-B4BD-6E28-239D-3C64ABEBDEA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900478B-9C97-98D3-EDF3-4DE080907EBB}"/>
              </a:ext>
            </a:extLst>
          </p:cNvPr>
          <p:cNvSpPr>
            <a:spLocks noGrp="1"/>
          </p:cNvSpPr>
          <p:nvPr>
            <p:ph type="sldNum" sz="quarter" idx="5"/>
          </p:nvPr>
        </p:nvSpPr>
        <p:spPr/>
        <p:txBody>
          <a:bodyPr/>
          <a:lstStyle/>
          <a:p>
            <a:fld id="{4F57C094-21CE-47C2-B85E-15CC2B32E4F0}" type="slidenum">
              <a:rPr lang="en-SG" smtClean="0"/>
              <a:t>179</a:t>
            </a:fld>
            <a:endParaRPr lang="en-SG"/>
          </a:p>
        </p:txBody>
      </p:sp>
    </p:spTree>
    <p:extLst>
      <p:ext uri="{BB962C8B-B14F-4D97-AF65-F5344CB8AC3E}">
        <p14:creationId xmlns:p14="http://schemas.microsoft.com/office/powerpoint/2010/main" val="31810867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B66E5-08BB-AFAA-6D43-830DAC5C9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C90FC-9E8C-71DC-39B5-1AD97AC7E8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B824E-90A5-3E23-2DDD-CC31B82A491F}"/>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DF8BFA4-761F-65B7-5034-F48FC020C51D}"/>
              </a:ext>
            </a:extLst>
          </p:cNvPr>
          <p:cNvSpPr>
            <a:spLocks noGrp="1"/>
          </p:cNvSpPr>
          <p:nvPr>
            <p:ph type="sldNum" sz="quarter" idx="5"/>
          </p:nvPr>
        </p:nvSpPr>
        <p:spPr/>
        <p:txBody>
          <a:bodyPr/>
          <a:lstStyle/>
          <a:p>
            <a:fld id="{4F57C094-21CE-47C2-B85E-15CC2B32E4F0}" type="slidenum">
              <a:rPr lang="en-SG" smtClean="0"/>
              <a:t>180</a:t>
            </a:fld>
            <a:endParaRPr lang="en-SG"/>
          </a:p>
        </p:txBody>
      </p:sp>
    </p:spTree>
    <p:extLst>
      <p:ext uri="{BB962C8B-B14F-4D97-AF65-F5344CB8AC3E}">
        <p14:creationId xmlns:p14="http://schemas.microsoft.com/office/powerpoint/2010/main" val="12296518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8A6E7-CF09-B97F-4F6D-4463E494F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951C9A-21ED-7BA2-870D-E1A6C743E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E6F92-151D-DC56-02C2-287C5DC3521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4461FFE-FB84-7607-982E-6FDC97982AD5}"/>
              </a:ext>
            </a:extLst>
          </p:cNvPr>
          <p:cNvSpPr>
            <a:spLocks noGrp="1"/>
          </p:cNvSpPr>
          <p:nvPr>
            <p:ph type="sldNum" sz="quarter" idx="5"/>
          </p:nvPr>
        </p:nvSpPr>
        <p:spPr/>
        <p:txBody>
          <a:bodyPr/>
          <a:lstStyle/>
          <a:p>
            <a:fld id="{4F57C094-21CE-47C2-B85E-15CC2B32E4F0}" type="slidenum">
              <a:rPr lang="en-SG" smtClean="0"/>
              <a:t>181</a:t>
            </a:fld>
            <a:endParaRPr lang="en-SG"/>
          </a:p>
        </p:txBody>
      </p:sp>
    </p:spTree>
    <p:extLst>
      <p:ext uri="{BB962C8B-B14F-4D97-AF65-F5344CB8AC3E}">
        <p14:creationId xmlns:p14="http://schemas.microsoft.com/office/powerpoint/2010/main" val="8893835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B4694-0409-B936-ECBA-DB77E6539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B1B97-FD59-DE37-40FF-0969BAEA0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A9D10F-A148-A94B-D527-3808A3075DA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DA341BF-5D61-B7B9-3C59-1547CF59BCE2}"/>
              </a:ext>
            </a:extLst>
          </p:cNvPr>
          <p:cNvSpPr>
            <a:spLocks noGrp="1"/>
          </p:cNvSpPr>
          <p:nvPr>
            <p:ph type="sldNum" sz="quarter" idx="5"/>
          </p:nvPr>
        </p:nvSpPr>
        <p:spPr/>
        <p:txBody>
          <a:bodyPr/>
          <a:lstStyle/>
          <a:p>
            <a:fld id="{4F57C094-21CE-47C2-B85E-15CC2B32E4F0}" type="slidenum">
              <a:rPr lang="en-SG" smtClean="0"/>
              <a:t>194</a:t>
            </a:fld>
            <a:endParaRPr lang="en-SG"/>
          </a:p>
        </p:txBody>
      </p:sp>
    </p:spTree>
    <p:extLst>
      <p:ext uri="{BB962C8B-B14F-4D97-AF65-F5344CB8AC3E}">
        <p14:creationId xmlns:p14="http://schemas.microsoft.com/office/powerpoint/2010/main" val="12279692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70403-DEA8-A4EF-F14F-A355694341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28353D-9437-0172-75BF-4CD0FABDD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7E79A-ABD5-0A4A-CBF4-493A0D26EE6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F0EE3DF-A15F-CE9E-D70C-55429DCD2F02}"/>
              </a:ext>
            </a:extLst>
          </p:cNvPr>
          <p:cNvSpPr>
            <a:spLocks noGrp="1"/>
          </p:cNvSpPr>
          <p:nvPr>
            <p:ph type="sldNum" sz="quarter" idx="5"/>
          </p:nvPr>
        </p:nvSpPr>
        <p:spPr/>
        <p:txBody>
          <a:bodyPr/>
          <a:lstStyle/>
          <a:p>
            <a:fld id="{4F57C094-21CE-47C2-B85E-15CC2B32E4F0}" type="slidenum">
              <a:rPr lang="en-SG" smtClean="0"/>
              <a:t>195</a:t>
            </a:fld>
            <a:endParaRPr lang="en-SG"/>
          </a:p>
        </p:txBody>
      </p:sp>
    </p:spTree>
    <p:extLst>
      <p:ext uri="{BB962C8B-B14F-4D97-AF65-F5344CB8AC3E}">
        <p14:creationId xmlns:p14="http://schemas.microsoft.com/office/powerpoint/2010/main" val="1968068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51AFB-30FE-C368-29FE-D9358E299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75504-001B-857B-F1CF-5AAB441D92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BB1F7-4D01-451B-08FB-F996907035B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0F8D0E1-8D4D-300A-C1E1-51450EE925F8}"/>
              </a:ext>
            </a:extLst>
          </p:cNvPr>
          <p:cNvSpPr>
            <a:spLocks noGrp="1"/>
          </p:cNvSpPr>
          <p:nvPr>
            <p:ph type="sldNum" sz="quarter" idx="5"/>
          </p:nvPr>
        </p:nvSpPr>
        <p:spPr/>
        <p:txBody>
          <a:bodyPr/>
          <a:lstStyle/>
          <a:p>
            <a:fld id="{4F57C094-21CE-47C2-B85E-15CC2B32E4F0}" type="slidenum">
              <a:rPr lang="en-SG" smtClean="0"/>
              <a:t>196</a:t>
            </a:fld>
            <a:endParaRPr lang="en-SG"/>
          </a:p>
        </p:txBody>
      </p:sp>
    </p:spTree>
    <p:extLst>
      <p:ext uri="{BB962C8B-B14F-4D97-AF65-F5344CB8AC3E}">
        <p14:creationId xmlns:p14="http://schemas.microsoft.com/office/powerpoint/2010/main" val="2357945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4AB75-50B5-2459-9B63-DFAF0A1FE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FB8F6-8891-89E0-37D6-B1FCB86C6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FB3CE-DEE9-B900-6BB5-553C899691D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C771511-4FE3-B5EB-5009-A142CC0EBBC7}"/>
              </a:ext>
            </a:extLst>
          </p:cNvPr>
          <p:cNvSpPr>
            <a:spLocks noGrp="1"/>
          </p:cNvSpPr>
          <p:nvPr>
            <p:ph type="sldNum" sz="quarter" idx="5"/>
          </p:nvPr>
        </p:nvSpPr>
        <p:spPr/>
        <p:txBody>
          <a:bodyPr/>
          <a:lstStyle/>
          <a:p>
            <a:fld id="{4F57C094-21CE-47C2-B85E-15CC2B32E4F0}" type="slidenum">
              <a:rPr lang="en-SG" smtClean="0"/>
              <a:t>197</a:t>
            </a:fld>
            <a:endParaRPr lang="en-SG"/>
          </a:p>
        </p:txBody>
      </p:sp>
    </p:spTree>
    <p:extLst>
      <p:ext uri="{BB962C8B-B14F-4D97-AF65-F5344CB8AC3E}">
        <p14:creationId xmlns:p14="http://schemas.microsoft.com/office/powerpoint/2010/main" val="25836034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F937B-CC13-3BEC-2CBF-50058D708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1EA1C-C900-3D69-42C9-DD4A28A7F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DB573-F15D-6146-12FF-23892E494DCE}"/>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39A1539-90E3-8B1C-088A-7323A1B6B79F}"/>
              </a:ext>
            </a:extLst>
          </p:cNvPr>
          <p:cNvSpPr>
            <a:spLocks noGrp="1"/>
          </p:cNvSpPr>
          <p:nvPr>
            <p:ph type="sldNum" sz="quarter" idx="5"/>
          </p:nvPr>
        </p:nvSpPr>
        <p:spPr/>
        <p:txBody>
          <a:bodyPr/>
          <a:lstStyle/>
          <a:p>
            <a:fld id="{4F57C094-21CE-47C2-B85E-15CC2B32E4F0}" type="slidenum">
              <a:rPr lang="en-SG" smtClean="0"/>
              <a:t>199</a:t>
            </a:fld>
            <a:endParaRPr lang="en-SG"/>
          </a:p>
        </p:txBody>
      </p:sp>
    </p:spTree>
    <p:extLst>
      <p:ext uri="{BB962C8B-B14F-4D97-AF65-F5344CB8AC3E}">
        <p14:creationId xmlns:p14="http://schemas.microsoft.com/office/powerpoint/2010/main" val="37950584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67327-E9DD-38E8-5C38-8C50BBE3E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CC2F5-8C16-6BB8-4D5E-6DBDC2CE3A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B4E26-DD08-6B54-2530-7AEA184C6F7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C781286-22BC-B9DE-767A-E55798EDA9AB}"/>
              </a:ext>
            </a:extLst>
          </p:cNvPr>
          <p:cNvSpPr>
            <a:spLocks noGrp="1"/>
          </p:cNvSpPr>
          <p:nvPr>
            <p:ph type="sldNum" sz="quarter" idx="5"/>
          </p:nvPr>
        </p:nvSpPr>
        <p:spPr/>
        <p:txBody>
          <a:bodyPr/>
          <a:lstStyle/>
          <a:p>
            <a:fld id="{4F57C094-21CE-47C2-B85E-15CC2B32E4F0}" type="slidenum">
              <a:rPr lang="en-SG" smtClean="0"/>
              <a:t>200</a:t>
            </a:fld>
            <a:endParaRPr lang="en-SG"/>
          </a:p>
        </p:txBody>
      </p:sp>
    </p:spTree>
    <p:extLst>
      <p:ext uri="{BB962C8B-B14F-4D97-AF65-F5344CB8AC3E}">
        <p14:creationId xmlns:p14="http://schemas.microsoft.com/office/powerpoint/2010/main" val="6270092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19E66-71D7-1AEC-2AD0-99A2C0DE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99FC3-33A8-B568-78FC-EB84A3A79F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B1A82-3BE2-074A-C42F-89BAC9DE79EF}"/>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04ACED71-9206-7FCB-CAF8-92808C16FF22}"/>
              </a:ext>
            </a:extLst>
          </p:cNvPr>
          <p:cNvSpPr>
            <a:spLocks noGrp="1"/>
          </p:cNvSpPr>
          <p:nvPr>
            <p:ph type="sldNum" sz="quarter" idx="5"/>
          </p:nvPr>
        </p:nvSpPr>
        <p:spPr/>
        <p:txBody>
          <a:bodyPr/>
          <a:lstStyle/>
          <a:p>
            <a:fld id="{4F57C094-21CE-47C2-B85E-15CC2B32E4F0}" type="slidenum">
              <a:rPr lang="en-SG" smtClean="0"/>
              <a:t>202</a:t>
            </a:fld>
            <a:endParaRPr lang="en-SG"/>
          </a:p>
        </p:txBody>
      </p:sp>
    </p:spTree>
    <p:extLst>
      <p:ext uri="{BB962C8B-B14F-4D97-AF65-F5344CB8AC3E}">
        <p14:creationId xmlns:p14="http://schemas.microsoft.com/office/powerpoint/2010/main" val="29391619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E3C0B-37E3-8A85-024E-225202410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EB4D7-7305-B403-6746-29D497AFA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9ED1B-2698-6F2D-9B1D-A07AB2C15B9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DFA0989-2172-8DB8-AE3D-7A383178BD12}"/>
              </a:ext>
            </a:extLst>
          </p:cNvPr>
          <p:cNvSpPr>
            <a:spLocks noGrp="1"/>
          </p:cNvSpPr>
          <p:nvPr>
            <p:ph type="sldNum" sz="quarter" idx="5"/>
          </p:nvPr>
        </p:nvSpPr>
        <p:spPr/>
        <p:txBody>
          <a:bodyPr/>
          <a:lstStyle/>
          <a:p>
            <a:fld id="{4F57C094-21CE-47C2-B85E-15CC2B32E4F0}" type="slidenum">
              <a:rPr lang="en-SG" smtClean="0"/>
              <a:t>203</a:t>
            </a:fld>
            <a:endParaRPr lang="en-SG"/>
          </a:p>
        </p:txBody>
      </p:sp>
    </p:spTree>
    <p:extLst>
      <p:ext uri="{BB962C8B-B14F-4D97-AF65-F5344CB8AC3E}">
        <p14:creationId xmlns:p14="http://schemas.microsoft.com/office/powerpoint/2010/main" val="16127284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3E77C-0231-B711-2B55-28E5685CE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62D90A-2638-73F8-202C-E2491BB9E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2BD7B-3DA2-A820-2905-5243BCF5146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AFB366E-7084-981E-358E-4DF5EFB35B35}"/>
              </a:ext>
            </a:extLst>
          </p:cNvPr>
          <p:cNvSpPr>
            <a:spLocks noGrp="1"/>
          </p:cNvSpPr>
          <p:nvPr>
            <p:ph type="sldNum" sz="quarter" idx="5"/>
          </p:nvPr>
        </p:nvSpPr>
        <p:spPr/>
        <p:txBody>
          <a:bodyPr/>
          <a:lstStyle/>
          <a:p>
            <a:fld id="{4F57C094-21CE-47C2-B85E-15CC2B32E4F0}" type="slidenum">
              <a:rPr lang="en-SG" smtClean="0"/>
              <a:t>205</a:t>
            </a:fld>
            <a:endParaRPr lang="en-SG"/>
          </a:p>
        </p:txBody>
      </p:sp>
    </p:spTree>
    <p:extLst>
      <p:ext uri="{BB962C8B-B14F-4D97-AF65-F5344CB8AC3E}">
        <p14:creationId xmlns:p14="http://schemas.microsoft.com/office/powerpoint/2010/main" val="39250898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E43F7-0DBA-9C31-0B9D-132E59236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58D4F-B14E-8F7D-78CF-2A6EFF8343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C51EE-2BFD-6FE3-A4BD-9C2901650E8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B1DB36D-F112-9DEA-F1A4-73ED73F41A10}"/>
              </a:ext>
            </a:extLst>
          </p:cNvPr>
          <p:cNvSpPr>
            <a:spLocks noGrp="1"/>
          </p:cNvSpPr>
          <p:nvPr>
            <p:ph type="sldNum" sz="quarter" idx="5"/>
          </p:nvPr>
        </p:nvSpPr>
        <p:spPr/>
        <p:txBody>
          <a:bodyPr/>
          <a:lstStyle/>
          <a:p>
            <a:fld id="{4F57C094-21CE-47C2-B85E-15CC2B32E4F0}" type="slidenum">
              <a:rPr lang="en-SG" smtClean="0"/>
              <a:t>206</a:t>
            </a:fld>
            <a:endParaRPr lang="en-SG"/>
          </a:p>
        </p:txBody>
      </p:sp>
    </p:spTree>
    <p:extLst>
      <p:ext uri="{BB962C8B-B14F-4D97-AF65-F5344CB8AC3E}">
        <p14:creationId xmlns:p14="http://schemas.microsoft.com/office/powerpoint/2010/main" val="6474347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4E4BF-FCD2-A670-2F11-05B4E6535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F1735-3805-E213-F358-EEAAFA9EE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45D16-E0F4-A6C0-F7B2-743236DA62E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2D576525-0CA9-94FD-8EC7-4E3BECAC5296}"/>
              </a:ext>
            </a:extLst>
          </p:cNvPr>
          <p:cNvSpPr>
            <a:spLocks noGrp="1"/>
          </p:cNvSpPr>
          <p:nvPr>
            <p:ph type="sldNum" sz="quarter" idx="5"/>
          </p:nvPr>
        </p:nvSpPr>
        <p:spPr/>
        <p:txBody>
          <a:bodyPr/>
          <a:lstStyle/>
          <a:p>
            <a:fld id="{4F57C094-21CE-47C2-B85E-15CC2B32E4F0}" type="slidenum">
              <a:rPr lang="en-SG" smtClean="0"/>
              <a:t>207</a:t>
            </a:fld>
            <a:endParaRPr lang="en-SG"/>
          </a:p>
        </p:txBody>
      </p:sp>
    </p:spTree>
    <p:extLst>
      <p:ext uri="{BB962C8B-B14F-4D97-AF65-F5344CB8AC3E}">
        <p14:creationId xmlns:p14="http://schemas.microsoft.com/office/powerpoint/2010/main" val="30395599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0E917-B92F-F2F3-3E25-78CD6A19C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44CDC-FD55-0810-DB7B-11E708D0E3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B31B0-9E52-715B-FBE7-6A24D2515A7E}"/>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D328ACB-2853-CCC0-F61C-0A2B6FE1EFF4}"/>
              </a:ext>
            </a:extLst>
          </p:cNvPr>
          <p:cNvSpPr>
            <a:spLocks noGrp="1"/>
          </p:cNvSpPr>
          <p:nvPr>
            <p:ph type="sldNum" sz="quarter" idx="5"/>
          </p:nvPr>
        </p:nvSpPr>
        <p:spPr/>
        <p:txBody>
          <a:bodyPr/>
          <a:lstStyle/>
          <a:p>
            <a:fld id="{4F57C094-21CE-47C2-B85E-15CC2B32E4F0}" type="slidenum">
              <a:rPr lang="en-SG" smtClean="0"/>
              <a:t>220</a:t>
            </a:fld>
            <a:endParaRPr lang="en-SG"/>
          </a:p>
        </p:txBody>
      </p:sp>
    </p:spTree>
    <p:extLst>
      <p:ext uri="{BB962C8B-B14F-4D97-AF65-F5344CB8AC3E}">
        <p14:creationId xmlns:p14="http://schemas.microsoft.com/office/powerpoint/2010/main" val="29772079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A4FEC-27C1-230E-2EA8-3AE1329D6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045B0-2D7C-2D53-EC7D-8CA349990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B5D3E-A53D-98DB-E3E5-8325EFF7280D}"/>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AB20166-6EC4-BEF7-1B2D-167E17AFDDB4}"/>
              </a:ext>
            </a:extLst>
          </p:cNvPr>
          <p:cNvSpPr>
            <a:spLocks noGrp="1"/>
          </p:cNvSpPr>
          <p:nvPr>
            <p:ph type="sldNum" sz="quarter" idx="5"/>
          </p:nvPr>
        </p:nvSpPr>
        <p:spPr/>
        <p:txBody>
          <a:bodyPr/>
          <a:lstStyle/>
          <a:p>
            <a:fld id="{4F57C094-21CE-47C2-B85E-15CC2B32E4F0}" type="slidenum">
              <a:rPr lang="en-SG" smtClean="0"/>
              <a:t>221</a:t>
            </a:fld>
            <a:endParaRPr lang="en-SG"/>
          </a:p>
        </p:txBody>
      </p:sp>
    </p:spTree>
    <p:extLst>
      <p:ext uri="{BB962C8B-B14F-4D97-AF65-F5344CB8AC3E}">
        <p14:creationId xmlns:p14="http://schemas.microsoft.com/office/powerpoint/2010/main" val="28252237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4CAEE-EA6B-9518-0D11-74C3C3E85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6FB7B-DCFF-4710-05EA-EE09DDB9FF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6AC4B-6160-3E28-C4F5-AD13676280F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A7C93671-E2ED-D925-BE59-A7E26712B12E}"/>
              </a:ext>
            </a:extLst>
          </p:cNvPr>
          <p:cNvSpPr>
            <a:spLocks noGrp="1"/>
          </p:cNvSpPr>
          <p:nvPr>
            <p:ph type="sldNum" sz="quarter" idx="5"/>
          </p:nvPr>
        </p:nvSpPr>
        <p:spPr/>
        <p:txBody>
          <a:bodyPr/>
          <a:lstStyle/>
          <a:p>
            <a:fld id="{4F57C094-21CE-47C2-B85E-15CC2B32E4F0}" type="slidenum">
              <a:rPr lang="en-SG" smtClean="0"/>
              <a:t>222</a:t>
            </a:fld>
            <a:endParaRPr lang="en-SG"/>
          </a:p>
        </p:txBody>
      </p:sp>
    </p:spTree>
    <p:extLst>
      <p:ext uri="{BB962C8B-B14F-4D97-AF65-F5344CB8AC3E}">
        <p14:creationId xmlns:p14="http://schemas.microsoft.com/office/powerpoint/2010/main" val="32375119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D4278-28CA-62FD-89E2-4842FE6EF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49ADC-F530-A930-56BB-6EC55FE0DD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30ADE-E9A1-757F-23D2-E1A2ED66930F}"/>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E69D1C7-E74A-AD72-28D6-7EAD40D5CECA}"/>
              </a:ext>
            </a:extLst>
          </p:cNvPr>
          <p:cNvSpPr>
            <a:spLocks noGrp="1"/>
          </p:cNvSpPr>
          <p:nvPr>
            <p:ph type="sldNum" sz="quarter" idx="5"/>
          </p:nvPr>
        </p:nvSpPr>
        <p:spPr/>
        <p:txBody>
          <a:bodyPr/>
          <a:lstStyle/>
          <a:p>
            <a:fld id="{4F57C094-21CE-47C2-B85E-15CC2B32E4F0}" type="slidenum">
              <a:rPr lang="en-SG" smtClean="0"/>
              <a:t>223</a:t>
            </a:fld>
            <a:endParaRPr lang="en-SG"/>
          </a:p>
        </p:txBody>
      </p:sp>
    </p:spTree>
    <p:extLst>
      <p:ext uri="{BB962C8B-B14F-4D97-AF65-F5344CB8AC3E}">
        <p14:creationId xmlns:p14="http://schemas.microsoft.com/office/powerpoint/2010/main" val="35066446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2E1D-E328-4123-8454-0EF607E63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553EE-30F4-945A-77FE-2DD26BAD7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38A6B-6F10-D20B-B7BC-13D112D5CB5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ABAF98A4-AA5E-DA9B-F4F4-DB99BD9A8C36}"/>
              </a:ext>
            </a:extLst>
          </p:cNvPr>
          <p:cNvSpPr>
            <a:spLocks noGrp="1"/>
          </p:cNvSpPr>
          <p:nvPr>
            <p:ph type="sldNum" sz="quarter" idx="5"/>
          </p:nvPr>
        </p:nvSpPr>
        <p:spPr/>
        <p:txBody>
          <a:bodyPr/>
          <a:lstStyle/>
          <a:p>
            <a:fld id="{4F57C094-21CE-47C2-B85E-15CC2B32E4F0}" type="slidenum">
              <a:rPr lang="en-SG" smtClean="0"/>
              <a:t>227</a:t>
            </a:fld>
            <a:endParaRPr lang="en-SG"/>
          </a:p>
        </p:txBody>
      </p:sp>
    </p:spTree>
    <p:extLst>
      <p:ext uri="{BB962C8B-B14F-4D97-AF65-F5344CB8AC3E}">
        <p14:creationId xmlns:p14="http://schemas.microsoft.com/office/powerpoint/2010/main" val="16496126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02EF-1694-2E43-005F-25A4DEF25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7F2EA-5B38-57F1-58D6-36D755A49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7B254-C091-776B-32AA-BD41169F42C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E63C847-7B67-5FC9-347A-9DF8D29A673D}"/>
              </a:ext>
            </a:extLst>
          </p:cNvPr>
          <p:cNvSpPr>
            <a:spLocks noGrp="1"/>
          </p:cNvSpPr>
          <p:nvPr>
            <p:ph type="sldNum" sz="quarter" idx="5"/>
          </p:nvPr>
        </p:nvSpPr>
        <p:spPr/>
        <p:txBody>
          <a:bodyPr/>
          <a:lstStyle/>
          <a:p>
            <a:fld id="{4F57C094-21CE-47C2-B85E-15CC2B32E4F0}" type="slidenum">
              <a:rPr lang="en-SG" smtClean="0"/>
              <a:t>233</a:t>
            </a:fld>
            <a:endParaRPr lang="en-SG"/>
          </a:p>
        </p:txBody>
      </p:sp>
    </p:spTree>
    <p:extLst>
      <p:ext uri="{BB962C8B-B14F-4D97-AF65-F5344CB8AC3E}">
        <p14:creationId xmlns:p14="http://schemas.microsoft.com/office/powerpoint/2010/main" val="3021329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82860-AE90-59FC-863C-F5C38EBC5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6738A-95AA-3750-1245-03AB273303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5C73F-9356-A1D4-FF70-AB0D67A9907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4D92FB9-21C2-32F4-6340-D7D749500703}"/>
              </a:ext>
            </a:extLst>
          </p:cNvPr>
          <p:cNvSpPr>
            <a:spLocks noGrp="1"/>
          </p:cNvSpPr>
          <p:nvPr>
            <p:ph type="sldNum" sz="quarter" idx="5"/>
          </p:nvPr>
        </p:nvSpPr>
        <p:spPr/>
        <p:txBody>
          <a:bodyPr/>
          <a:lstStyle/>
          <a:p>
            <a:fld id="{4F57C094-21CE-47C2-B85E-15CC2B32E4F0}" type="slidenum">
              <a:rPr lang="en-SG" smtClean="0"/>
              <a:t>236</a:t>
            </a:fld>
            <a:endParaRPr lang="en-SG"/>
          </a:p>
        </p:txBody>
      </p:sp>
    </p:spTree>
    <p:extLst>
      <p:ext uri="{BB962C8B-B14F-4D97-AF65-F5344CB8AC3E}">
        <p14:creationId xmlns:p14="http://schemas.microsoft.com/office/powerpoint/2010/main" val="3923474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4F57C094-21CE-47C2-B85E-15CC2B32E4F0}" type="slidenum">
              <a:rPr lang="en-SG" smtClean="0"/>
              <a:t>245</a:t>
            </a:fld>
            <a:endParaRPr lang="en-SG"/>
          </a:p>
        </p:txBody>
      </p:sp>
    </p:spTree>
    <p:extLst>
      <p:ext uri="{BB962C8B-B14F-4D97-AF65-F5344CB8AC3E}">
        <p14:creationId xmlns:p14="http://schemas.microsoft.com/office/powerpoint/2010/main" val="1677635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Python Crash Course 2025</a:t>
            </a:r>
          </a:p>
        </p:txBody>
      </p:sp>
      <p:sp>
        <p:nvSpPr>
          <p:cNvPr id="3" name="Subtitle 2"/>
          <p:cNvSpPr>
            <a:spLocks noGrp="1"/>
          </p:cNvSpPr>
          <p:nvPr>
            <p:ph type="subTitle" idx="1"/>
          </p:nvPr>
        </p:nvSpPr>
        <p:spPr>
          <a:xfrm>
            <a:off x="1371600" y="4902200"/>
            <a:ext cx="6400800" cy="736600"/>
          </a:xfrm>
        </p:spPr>
        <p:txBody>
          <a:bodyPr/>
          <a:lstStyle/>
          <a:p>
            <a:r>
              <a:rPr dirty="0"/>
              <a:t>Instructor: Sean Wong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Overview</a:t>
            </a:r>
          </a:p>
        </p:txBody>
      </p:sp>
      <p:sp>
        <p:nvSpPr>
          <p:cNvPr id="3" name="Content Placeholder 2"/>
          <p:cNvSpPr>
            <a:spLocks noGrp="1"/>
          </p:cNvSpPr>
          <p:nvPr>
            <p:ph idx="1"/>
          </p:nvPr>
        </p:nvSpPr>
        <p:spPr>
          <a:xfrm>
            <a:off x="457200" y="1600200"/>
            <a:ext cx="9080500" cy="4525963"/>
          </a:xfrm>
        </p:spPr>
        <p:txBody>
          <a:bodyPr/>
          <a:lstStyle/>
          <a:p>
            <a:r>
              <a:rPr dirty="0"/>
              <a:t>Hands-on, example-driven Python training</a:t>
            </a:r>
          </a:p>
          <a:p>
            <a:r>
              <a:rPr dirty="0"/>
              <a:t>Focus on real mental models, not just syntax</a:t>
            </a:r>
          </a:p>
          <a:p>
            <a:r>
              <a:rPr dirty="0"/>
              <a:t>Build confidence from beginner to advanced topics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Roadmap</a:t>
            </a:r>
          </a:p>
        </p:txBody>
      </p:sp>
      <p:sp>
        <p:nvSpPr>
          <p:cNvPr id="3" name="Content Placeholder 2"/>
          <p:cNvSpPr>
            <a:spLocks noGrp="1"/>
          </p:cNvSpPr>
          <p:nvPr>
            <p:ph idx="1"/>
          </p:nvPr>
        </p:nvSpPr>
        <p:spPr>
          <a:xfrm>
            <a:off x="457200" y="1600200"/>
            <a:ext cx="9880600" cy="4525963"/>
          </a:xfrm>
        </p:spPr>
        <p:txBody>
          <a:bodyPr/>
          <a:lstStyle/>
          <a:p>
            <a:r>
              <a:rPr dirty="0"/>
              <a:t>Module 1 – Foundations: Core language &amp; thinking in Python</a:t>
            </a:r>
          </a:p>
          <a:p>
            <a:r>
              <a:rPr dirty="0"/>
              <a:t>Module 2 – Intermediate: OOP, modules, files, structure</a:t>
            </a:r>
          </a:p>
          <a:p>
            <a:r>
              <a:rPr dirty="0"/>
              <a:t>Module 3 – Advanced: Performance, async, tooling</a:t>
            </a:r>
          </a:p>
          <a:p>
            <a:r>
              <a:rPr dirty="0"/>
              <a:t>Appendix – Ecosystem &amp; next steps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Module 1  FOUNDATION</a:t>
            </a:r>
            <a:r>
              <a:rPr lang="en-SG" dirty="0"/>
              <a:t>S</a:t>
            </a:r>
            <a:endParaRPr dirty="0"/>
          </a:p>
        </p:txBody>
      </p:sp>
      <p:sp>
        <p:nvSpPr>
          <p:cNvPr id="3" name="Subtitle 2"/>
          <p:cNvSpPr>
            <a:spLocks noGrp="1"/>
          </p:cNvSpPr>
          <p:nvPr>
            <p:ph type="subTitle" idx="1"/>
          </p:nvPr>
        </p:nvSpPr>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 Foundations</a:t>
            </a:r>
          </a:p>
        </p:txBody>
      </p:sp>
      <p:sp>
        <p:nvSpPr>
          <p:cNvPr id="3" name="Content Placeholder 2"/>
          <p:cNvSpPr>
            <a:spLocks noGrp="1"/>
          </p:cNvSpPr>
          <p:nvPr>
            <p:ph idx="1"/>
          </p:nvPr>
        </p:nvSpPr>
        <p:spPr/>
        <p:txBody>
          <a:bodyPr/>
          <a:lstStyle/>
          <a:p>
            <a:r>
              <a:t>Understand how Python executes code</a:t>
            </a:r>
          </a:p>
          <a:p>
            <a:r>
              <a:t>Learn core syntax and built-in types</a:t>
            </a:r>
          </a:p>
          <a:p>
            <a:r>
              <a:t>Build correct mental models early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Python?</a:t>
            </a:r>
          </a:p>
        </p:txBody>
      </p:sp>
      <p:sp>
        <p:nvSpPr>
          <p:cNvPr id="3" name="Content Placeholder 2"/>
          <p:cNvSpPr>
            <a:spLocks noGrp="1"/>
          </p:cNvSpPr>
          <p:nvPr>
            <p:ph idx="1"/>
          </p:nvPr>
        </p:nvSpPr>
        <p:spPr/>
        <p:txBody>
          <a:bodyPr/>
          <a:lstStyle/>
          <a:p>
            <a:r>
              <a:t>High-level, interpreted programming language</a:t>
            </a:r>
          </a:p>
          <a:p>
            <a:r>
              <a:t>Executed at runtime by the Python interpreter</a:t>
            </a:r>
          </a:p>
          <a:p>
            <a:r>
              <a:t>Designed for readability and productivity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11650-6BF8-66F2-B486-E0858DDD5B45}"/>
              </a:ext>
            </a:extLst>
          </p:cNvPr>
          <p:cNvSpPr>
            <a:spLocks noGrp="1"/>
          </p:cNvSpPr>
          <p:nvPr>
            <p:ph type="title"/>
          </p:nvPr>
        </p:nvSpPr>
        <p:spPr/>
        <p:txBody>
          <a:bodyPr>
            <a:normAutofit/>
          </a:bodyPr>
          <a:lstStyle/>
          <a:p>
            <a:r>
              <a:rPr lang="en-US" dirty="0"/>
              <a:t>How Python Really Runs</a:t>
            </a:r>
            <a:endParaRPr lang="en-SG" dirty="0"/>
          </a:p>
        </p:txBody>
      </p:sp>
      <p:sp>
        <p:nvSpPr>
          <p:cNvPr id="3" name="Content Placeholder 2">
            <a:extLst>
              <a:ext uri="{FF2B5EF4-FFF2-40B4-BE49-F238E27FC236}">
                <a16:creationId xmlns:a16="http://schemas.microsoft.com/office/drawing/2014/main" id="{3EAEEAA0-5B6B-EC0F-FE8C-076B7BF5907C}"/>
              </a:ext>
            </a:extLst>
          </p:cNvPr>
          <p:cNvSpPr>
            <a:spLocks noGrp="1"/>
          </p:cNvSpPr>
          <p:nvPr>
            <p:ph idx="1"/>
          </p:nvPr>
        </p:nvSpPr>
        <p:spPr>
          <a:xfrm>
            <a:off x="457200" y="1600200"/>
            <a:ext cx="11239500" cy="4525963"/>
          </a:xfrm>
        </p:spPr>
        <p:txBody>
          <a:bodyPr>
            <a:normAutofit/>
          </a:bodyPr>
          <a:lstStyle/>
          <a:p>
            <a:r>
              <a:rPr lang="en-US" dirty="0"/>
              <a:t>Source code is compiled to </a:t>
            </a:r>
            <a:r>
              <a:rPr lang="en-US" b="1" dirty="0"/>
              <a:t>bytecode</a:t>
            </a:r>
            <a:endParaRPr lang="en-US" dirty="0"/>
          </a:p>
          <a:p>
            <a:r>
              <a:rPr lang="en-US" dirty="0"/>
              <a:t>Bytecode runs on the </a:t>
            </a:r>
            <a:r>
              <a:rPr lang="en-US" b="1" dirty="0"/>
              <a:t>Python Virtual Machine (PVM)</a:t>
            </a:r>
          </a:p>
          <a:p>
            <a:pPr marL="0" indent="0">
              <a:buNone/>
            </a:pPr>
            <a:r>
              <a:rPr lang="en-US" dirty="0"/>
              <a:t>Source → bytecode → Python Virtual Machine</a:t>
            </a:r>
          </a:p>
          <a:p>
            <a:r>
              <a:rPr lang="en-US" dirty="0"/>
              <a:t>Everything is an object; variables are references</a:t>
            </a:r>
          </a:p>
          <a:p>
            <a:r>
              <a:rPr lang="en-US" dirty="0"/>
              <a:t>Execution is </a:t>
            </a:r>
            <a:r>
              <a:rPr lang="en-US" b="1" dirty="0"/>
              <a:t>top-down, explicit, and predictable</a:t>
            </a:r>
            <a:endParaRPr lang="en-US" dirty="0"/>
          </a:p>
          <a:p>
            <a:r>
              <a:rPr lang="en-US" dirty="0"/>
              <a:t>Performance issues come from </a:t>
            </a:r>
            <a:r>
              <a:rPr lang="en-US" b="1" dirty="0"/>
              <a:t>design choices</a:t>
            </a:r>
            <a:r>
              <a:rPr lang="en-US" dirty="0"/>
              <a:t>, not syntax</a:t>
            </a:r>
          </a:p>
          <a:p>
            <a:r>
              <a:rPr lang="en-US" b="1" dirty="0"/>
              <a:t>Mental model:</a:t>
            </a:r>
            <a:r>
              <a:rPr lang="en-US" dirty="0"/>
              <a:t> Python is </a:t>
            </a:r>
            <a:r>
              <a:rPr lang="en-US" i="1" dirty="0"/>
              <a:t>interpreted</a:t>
            </a:r>
            <a:r>
              <a:rPr lang="en-US" dirty="0"/>
              <a:t>, but not </a:t>
            </a:r>
            <a:r>
              <a:rPr lang="en-US" i="1" dirty="0"/>
              <a:t>uncompiled</a:t>
            </a:r>
            <a:endParaRPr lang="en-US" dirty="0"/>
          </a:p>
          <a:p>
            <a:endParaRPr lang="en-SG" dirty="0"/>
          </a:p>
        </p:txBody>
      </p:sp>
    </p:spTree>
    <p:extLst>
      <p:ext uri="{BB962C8B-B14F-4D97-AF65-F5344CB8AC3E}">
        <p14:creationId xmlns:p14="http://schemas.microsoft.com/office/powerpoint/2010/main" val="1917708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E06CD-12B8-DB88-8753-84AF54434805}"/>
              </a:ext>
            </a:extLst>
          </p:cNvPr>
          <p:cNvSpPr>
            <a:spLocks noGrp="1"/>
          </p:cNvSpPr>
          <p:nvPr>
            <p:ph type="title"/>
          </p:nvPr>
        </p:nvSpPr>
        <p:spPr/>
        <p:txBody>
          <a:bodyPr/>
          <a:lstStyle/>
          <a:p>
            <a:r>
              <a:rPr lang="en-US" b="1" dirty="0"/>
              <a:t>The Pythonic Philosophy</a:t>
            </a:r>
            <a:endParaRPr lang="en-SG" dirty="0"/>
          </a:p>
        </p:txBody>
      </p:sp>
      <p:sp>
        <p:nvSpPr>
          <p:cNvPr id="3" name="Content Placeholder 2">
            <a:extLst>
              <a:ext uri="{FF2B5EF4-FFF2-40B4-BE49-F238E27FC236}">
                <a16:creationId xmlns:a16="http://schemas.microsoft.com/office/drawing/2014/main" id="{7DBF055D-5F73-E9B7-4399-E8F1E9E487E7}"/>
              </a:ext>
            </a:extLst>
          </p:cNvPr>
          <p:cNvSpPr>
            <a:spLocks noGrp="1"/>
          </p:cNvSpPr>
          <p:nvPr>
            <p:ph idx="1"/>
          </p:nvPr>
        </p:nvSpPr>
        <p:spPr/>
        <p:txBody>
          <a:bodyPr>
            <a:normAutofit fontScale="92500"/>
          </a:bodyPr>
          <a:lstStyle/>
          <a:p>
            <a:r>
              <a:rPr lang="en-US" b="1" dirty="0"/>
              <a:t>The Zen of Python (PEP 20):</a:t>
            </a:r>
            <a:r>
              <a:rPr lang="en-US" dirty="0"/>
              <a:t> "Explicit is better than implicit" and "Simple is better than complex."</a:t>
            </a:r>
          </a:p>
          <a:p>
            <a:r>
              <a:rPr lang="en-US" b="1" dirty="0"/>
              <a:t>Interpreted Nature:</a:t>
            </a:r>
            <a:r>
              <a:rPr lang="en-US" dirty="0"/>
              <a:t> Python code is compiled into </a:t>
            </a:r>
            <a:r>
              <a:rPr lang="en-US" b="1" dirty="0"/>
              <a:t>bytecode</a:t>
            </a:r>
            <a:r>
              <a:rPr lang="en-US" dirty="0"/>
              <a:t> and executed by the Python Virtual Machine (PVM).</a:t>
            </a:r>
          </a:p>
          <a:p>
            <a:r>
              <a:rPr lang="en-US" b="1" dirty="0"/>
              <a:t>Strong, Dynamic Typing:</a:t>
            </a:r>
            <a:r>
              <a:rPr lang="en-US" dirty="0"/>
              <a:t> Types are enforced at runtime, but variables can change type (though this should be used cautiously in engineering).</a:t>
            </a:r>
          </a:p>
          <a:p>
            <a:endParaRPr lang="en-SG" dirty="0"/>
          </a:p>
        </p:txBody>
      </p:sp>
    </p:spTree>
    <p:extLst>
      <p:ext uri="{BB962C8B-B14F-4D97-AF65-F5344CB8AC3E}">
        <p14:creationId xmlns:p14="http://schemas.microsoft.com/office/powerpoint/2010/main" val="1098652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Python?</a:t>
            </a:r>
          </a:p>
        </p:txBody>
      </p:sp>
      <p:sp>
        <p:nvSpPr>
          <p:cNvPr id="3" name="Content Placeholder 2"/>
          <p:cNvSpPr>
            <a:spLocks noGrp="1"/>
          </p:cNvSpPr>
          <p:nvPr>
            <p:ph idx="1"/>
          </p:nvPr>
        </p:nvSpPr>
        <p:spPr>
          <a:xfrm>
            <a:off x="457200" y="1600200"/>
            <a:ext cx="6261100" cy="4525963"/>
          </a:xfrm>
        </p:spPr>
        <p:style>
          <a:lnRef idx="2">
            <a:schemeClr val="dk1"/>
          </a:lnRef>
          <a:fillRef idx="1">
            <a:schemeClr val="lt1"/>
          </a:fillRef>
          <a:effectRef idx="0">
            <a:schemeClr val="dk1"/>
          </a:effectRef>
          <a:fontRef idx="minor">
            <a:schemeClr val="dk1"/>
          </a:fontRef>
        </p:style>
        <p:txBody>
          <a:bodyPr>
            <a:normAutofit/>
          </a:bodyPr>
          <a:lstStyle/>
          <a:p>
            <a:r>
              <a:rPr lang="en-US" sz="2400" dirty="0"/>
              <a:t>Clean, indentation-based syntax</a:t>
            </a:r>
          </a:p>
          <a:p>
            <a:r>
              <a:rPr lang="en-US" sz="2400" dirty="0"/>
              <a:t>Huge standard library ("batteries included")</a:t>
            </a:r>
          </a:p>
          <a:p>
            <a:r>
              <a:rPr lang="en-US" sz="2400" dirty="0"/>
              <a:t>Massive ecosystem and community</a:t>
            </a:r>
          </a:p>
          <a:p>
            <a:r>
              <a:rPr lang="en-US" sz="2400" dirty="0"/>
              <a:t>Used in web, data, automation, AI, DevOps</a:t>
            </a:r>
          </a:p>
        </p:txBody>
      </p:sp>
      <p:sp>
        <p:nvSpPr>
          <p:cNvPr id="4" name="Content Placeholder 2">
            <a:extLst>
              <a:ext uri="{FF2B5EF4-FFF2-40B4-BE49-F238E27FC236}">
                <a16:creationId xmlns:a16="http://schemas.microsoft.com/office/drawing/2014/main" id="{F06A1E81-676D-0A19-3E5A-A87994107402}"/>
              </a:ext>
            </a:extLst>
          </p:cNvPr>
          <p:cNvSpPr txBox="1">
            <a:spLocks/>
          </p:cNvSpPr>
          <p:nvPr/>
        </p:nvSpPr>
        <p:spPr>
          <a:xfrm>
            <a:off x="7213600" y="1587499"/>
            <a:ext cx="44069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defRPr sz="2000"/>
            </a:pPr>
            <a:r>
              <a:rPr lang="en-SG" sz="2400" b="1" dirty="0"/>
              <a:t>Who uses Python?</a:t>
            </a:r>
          </a:p>
          <a:p>
            <a:pPr marL="0" indent="0">
              <a:buNone/>
              <a:defRPr sz="2000"/>
            </a:pPr>
            <a:r>
              <a:rPr lang="en-SG" sz="2400" b="1" dirty="0"/>
              <a:t> </a:t>
            </a:r>
          </a:p>
          <a:p>
            <a:pPr>
              <a:defRPr sz="2000"/>
            </a:pPr>
            <a:r>
              <a:rPr lang="en-SG" sz="2400" dirty="0"/>
              <a:t>On-line games </a:t>
            </a:r>
          </a:p>
          <a:p>
            <a:pPr>
              <a:defRPr sz="2000"/>
            </a:pPr>
            <a:r>
              <a:rPr lang="en-SG" sz="2400" dirty="0"/>
              <a:t>Web services </a:t>
            </a:r>
          </a:p>
          <a:p>
            <a:pPr>
              <a:defRPr sz="2000"/>
            </a:pPr>
            <a:r>
              <a:rPr lang="en-SG" sz="2400" dirty="0"/>
              <a:t>Applications </a:t>
            </a:r>
          </a:p>
          <a:p>
            <a:pPr>
              <a:defRPr sz="2000"/>
            </a:pPr>
            <a:r>
              <a:rPr lang="en-SG" sz="2400" dirty="0"/>
              <a:t>Science </a:t>
            </a:r>
          </a:p>
          <a:p>
            <a:pPr>
              <a:defRPr sz="2000"/>
            </a:pPr>
            <a:endParaRPr lang="en-SG" sz="2400" dirty="0"/>
          </a:p>
          <a:p>
            <a:pPr>
              <a:defRPr sz="2000"/>
            </a:pPr>
            <a:r>
              <a:rPr lang="en-SG" sz="2400" dirty="0"/>
              <a:t>Instrument control </a:t>
            </a:r>
          </a:p>
          <a:p>
            <a:pPr>
              <a:defRPr sz="2000"/>
            </a:pPr>
            <a:r>
              <a:rPr lang="en-SG" sz="2400" dirty="0"/>
              <a:t>Embedded systems</a:t>
            </a:r>
          </a:p>
          <a:p>
            <a:pPr marL="0" indent="0">
              <a:buNone/>
              <a:defRPr sz="2000"/>
            </a:pPr>
            <a:endParaRPr lang="en-SG" sz="2400" dirty="0"/>
          </a:p>
          <a:p>
            <a:pPr marL="0" indent="0">
              <a:buNone/>
              <a:defRPr sz="2000"/>
            </a:pPr>
            <a:endParaRPr lang="en-SG" sz="2400" dirty="0"/>
          </a:p>
          <a:p>
            <a:pPr marL="0" indent="0">
              <a:buNone/>
              <a:defRPr sz="2000"/>
            </a:pPr>
            <a:endParaRPr lang="en-SG" sz="2400" dirty="0"/>
          </a:p>
          <a:p>
            <a:pPr marL="0" indent="0">
              <a:buNone/>
              <a:defRPr sz="2000"/>
            </a:pPr>
            <a:endParaRPr lang="en-SG" sz="2400" dirty="0"/>
          </a:p>
          <a:p>
            <a:pPr marL="0" indent="0">
              <a:buNone/>
              <a:defRPr sz="2000"/>
            </a:pPr>
            <a:endParaRPr lang="en-SG" sz="2400" dirty="0"/>
          </a:p>
          <a:p>
            <a:pPr marL="0" indent="0">
              <a:buNone/>
              <a:defRPr sz="2000"/>
            </a:pPr>
            <a:endParaRPr lang="en-SG" sz="2400" dirty="0"/>
          </a:p>
        </p:txBody>
      </p:sp>
      <p:sp>
        <p:nvSpPr>
          <p:cNvPr id="6" name="TextBox 5">
            <a:extLst>
              <a:ext uri="{FF2B5EF4-FFF2-40B4-BE49-F238E27FC236}">
                <a16:creationId xmlns:a16="http://schemas.microsoft.com/office/drawing/2014/main" id="{83DA36F2-B14E-9918-8762-4349117CA0EA}"/>
              </a:ext>
            </a:extLst>
          </p:cNvPr>
          <p:cNvSpPr txBox="1"/>
          <p:nvPr/>
        </p:nvSpPr>
        <p:spPr>
          <a:xfrm>
            <a:off x="723900" y="6248400"/>
            <a:ext cx="11163300" cy="830997"/>
          </a:xfrm>
          <a:prstGeom prst="rect">
            <a:avLst/>
          </a:prstGeom>
          <a:noFill/>
        </p:spPr>
        <p:txBody>
          <a:bodyPr wrap="square" rtlCol="0">
            <a:spAutoFit/>
          </a:bodyPr>
          <a:lstStyle/>
          <a:p>
            <a:r>
              <a:rPr lang="en-SG" sz="2400" dirty="0"/>
              <a:t> en.wikipedia.org/wiki/</a:t>
            </a:r>
            <a:r>
              <a:rPr lang="en-SG" sz="2400" dirty="0" err="1"/>
              <a:t>List_of_Python_software</a:t>
            </a:r>
            <a:endParaRPr lang="en-US" sz="2400" dirty="0"/>
          </a:p>
          <a:p>
            <a:endParaRPr lang="en-SG" sz="2400" dirty="0"/>
          </a:p>
        </p:txBody>
      </p:sp>
      <p:pic>
        <p:nvPicPr>
          <p:cNvPr id="8" name="Picture 7" descr="A black and white logo&#10;&#10;AI-generated content may be incorrect.">
            <a:extLst>
              <a:ext uri="{FF2B5EF4-FFF2-40B4-BE49-F238E27FC236}">
                <a16:creationId xmlns:a16="http://schemas.microsoft.com/office/drawing/2014/main" id="{837459A1-82BB-A216-7B06-F1AE9C44991B}"/>
              </a:ext>
            </a:extLst>
          </p:cNvPr>
          <p:cNvPicPr>
            <a:picLocks noChangeAspect="1"/>
          </p:cNvPicPr>
          <p:nvPr/>
        </p:nvPicPr>
        <p:blipFill>
          <a:blip r:embed="rId2"/>
          <a:stretch>
            <a:fillRect/>
          </a:stretch>
        </p:blipFill>
        <p:spPr>
          <a:xfrm>
            <a:off x="10463193" y="2584441"/>
            <a:ext cx="762039" cy="342918"/>
          </a:xfrm>
          <a:prstGeom prst="rect">
            <a:avLst/>
          </a:prstGeom>
        </p:spPr>
      </p:pic>
      <p:pic>
        <p:nvPicPr>
          <p:cNvPr id="10" name="Picture 9">
            <a:extLst>
              <a:ext uri="{FF2B5EF4-FFF2-40B4-BE49-F238E27FC236}">
                <a16:creationId xmlns:a16="http://schemas.microsoft.com/office/drawing/2014/main" id="{2BDC575C-E7A0-2458-C252-7FA6E8BA42AE}"/>
              </a:ext>
            </a:extLst>
          </p:cNvPr>
          <p:cNvPicPr>
            <a:picLocks noChangeAspect="1"/>
          </p:cNvPicPr>
          <p:nvPr/>
        </p:nvPicPr>
        <p:blipFill>
          <a:blip r:embed="rId3"/>
          <a:stretch>
            <a:fillRect/>
          </a:stretch>
        </p:blipFill>
        <p:spPr>
          <a:xfrm>
            <a:off x="10513995" y="3049596"/>
            <a:ext cx="711237" cy="273064"/>
          </a:xfrm>
          <a:prstGeom prst="rect">
            <a:avLst/>
          </a:prstGeom>
        </p:spPr>
      </p:pic>
      <p:pic>
        <p:nvPicPr>
          <p:cNvPr id="12" name="Picture 11">
            <a:extLst>
              <a:ext uri="{FF2B5EF4-FFF2-40B4-BE49-F238E27FC236}">
                <a16:creationId xmlns:a16="http://schemas.microsoft.com/office/drawing/2014/main" id="{5D628D12-BEDA-BE64-A4AC-2FB5110F03A9}"/>
              </a:ext>
            </a:extLst>
          </p:cNvPr>
          <p:cNvPicPr>
            <a:picLocks noChangeAspect="1"/>
          </p:cNvPicPr>
          <p:nvPr/>
        </p:nvPicPr>
        <p:blipFill>
          <a:blip r:embed="rId4"/>
          <a:stretch>
            <a:fillRect/>
          </a:stretch>
        </p:blipFill>
        <p:spPr>
          <a:xfrm>
            <a:off x="10463193" y="3527404"/>
            <a:ext cx="990651" cy="273064"/>
          </a:xfrm>
          <a:prstGeom prst="rect">
            <a:avLst/>
          </a:prstGeom>
        </p:spPr>
      </p:pic>
      <p:pic>
        <p:nvPicPr>
          <p:cNvPr id="14" name="Picture 13" descr="A blue circle with a white letter s in it&#10;&#10;AI-generated content may be incorrect.">
            <a:extLst>
              <a:ext uri="{FF2B5EF4-FFF2-40B4-BE49-F238E27FC236}">
                <a16:creationId xmlns:a16="http://schemas.microsoft.com/office/drawing/2014/main" id="{31902172-3116-2DE0-E24E-533778859C60}"/>
              </a:ext>
            </a:extLst>
          </p:cNvPr>
          <p:cNvPicPr>
            <a:picLocks noChangeAspect="1"/>
          </p:cNvPicPr>
          <p:nvPr/>
        </p:nvPicPr>
        <p:blipFill>
          <a:blip r:embed="rId5"/>
          <a:stretch>
            <a:fillRect/>
          </a:stretch>
        </p:blipFill>
        <p:spPr>
          <a:xfrm>
            <a:off x="10463193" y="3912384"/>
            <a:ext cx="520727" cy="425472"/>
          </a:xfrm>
          <a:prstGeom prst="rect">
            <a:avLst/>
          </a:prstGeom>
        </p:spPr>
      </p:pic>
      <p:pic>
        <p:nvPicPr>
          <p:cNvPr id="16" name="Picture 15" descr="A small robot with wheels&#10;&#10;AI-generated content may be incorrect.">
            <a:extLst>
              <a:ext uri="{FF2B5EF4-FFF2-40B4-BE49-F238E27FC236}">
                <a16:creationId xmlns:a16="http://schemas.microsoft.com/office/drawing/2014/main" id="{37099B68-BA9A-97BC-B5C9-4519EB01DEE2}"/>
              </a:ext>
            </a:extLst>
          </p:cNvPr>
          <p:cNvPicPr>
            <a:picLocks noChangeAspect="1"/>
          </p:cNvPicPr>
          <p:nvPr/>
        </p:nvPicPr>
        <p:blipFill>
          <a:blip r:embed="rId6"/>
          <a:stretch>
            <a:fillRect/>
          </a:stretch>
        </p:blipFill>
        <p:spPr>
          <a:xfrm>
            <a:off x="10602899" y="4621321"/>
            <a:ext cx="711237" cy="615982"/>
          </a:xfrm>
          <a:prstGeom prst="rect">
            <a:avLst/>
          </a:prstGeom>
        </p:spPr>
      </p:pic>
      <p:pic>
        <p:nvPicPr>
          <p:cNvPr id="18" name="Picture 17" descr="A green circuit board with a white square&#10;&#10;AI-generated content may be incorrect.">
            <a:extLst>
              <a:ext uri="{FF2B5EF4-FFF2-40B4-BE49-F238E27FC236}">
                <a16:creationId xmlns:a16="http://schemas.microsoft.com/office/drawing/2014/main" id="{6007EBCD-3742-EFFC-76C8-B5A1CB604776}"/>
              </a:ext>
            </a:extLst>
          </p:cNvPr>
          <p:cNvPicPr>
            <a:picLocks noChangeAspect="1"/>
          </p:cNvPicPr>
          <p:nvPr/>
        </p:nvPicPr>
        <p:blipFill>
          <a:blip r:embed="rId7"/>
          <a:stretch>
            <a:fillRect/>
          </a:stretch>
        </p:blipFill>
        <p:spPr>
          <a:xfrm>
            <a:off x="10628301" y="5156301"/>
            <a:ext cx="711237" cy="5969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Running Python</a:t>
            </a:r>
          </a:p>
        </p:txBody>
      </p:sp>
      <p:sp>
        <p:nvSpPr>
          <p:cNvPr id="3" name="Content Placeholder 2"/>
          <p:cNvSpPr>
            <a:spLocks noGrp="1"/>
          </p:cNvSpPr>
          <p:nvPr>
            <p:ph idx="1"/>
          </p:nvPr>
        </p:nvSpPr>
        <p:spPr/>
        <p:txBody>
          <a:bodyPr/>
          <a:lstStyle/>
          <a:p>
            <a:r>
              <a:t>Interactive mode (REPL) for experimentation</a:t>
            </a:r>
          </a:p>
          <a:p>
            <a:r>
              <a:t>Script mode for real programs</a:t>
            </a:r>
          </a:p>
          <a:p>
            <a:r>
              <a:t>Python files use the .py extension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Your First Program</a:t>
            </a:r>
          </a:p>
        </p:txBody>
      </p:sp>
      <p:sp>
        <p:nvSpPr>
          <p:cNvPr id="3" name="Content Placeholder 2"/>
          <p:cNvSpPr>
            <a:spLocks noGrp="1"/>
          </p:cNvSpPr>
          <p:nvPr>
            <p:ph idx="1"/>
          </p:nvPr>
        </p:nvSpPr>
        <p:spPr/>
        <p:txBody>
          <a:bodyPr/>
          <a:lstStyle/>
          <a:p>
            <a:r>
              <a:t>print() outputs text to the console</a:t>
            </a:r>
          </a:p>
          <a:p>
            <a:r>
              <a:t>Python is case-sensitive</a:t>
            </a:r>
          </a:p>
          <a:p>
            <a:r>
              <a:t>Programs execute top to bottom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Installing &amp; Running</a:t>
            </a:r>
          </a:p>
        </p:txBody>
      </p:sp>
      <p:sp>
        <p:nvSpPr>
          <p:cNvPr id="3" name="Content Placeholder 2"/>
          <p:cNvSpPr>
            <a:spLocks noGrp="1"/>
          </p:cNvSpPr>
          <p:nvPr>
            <p:ph idx="1"/>
          </p:nvPr>
        </p:nvSpPr>
        <p:spPr>
          <a:xfrm>
            <a:off x="206828" y="1600200"/>
            <a:ext cx="6770915" cy="4525963"/>
          </a:xfrm>
        </p:spPr>
        <p:style>
          <a:lnRef idx="2">
            <a:schemeClr val="dk1"/>
          </a:lnRef>
          <a:fillRef idx="1">
            <a:schemeClr val="lt1"/>
          </a:fillRef>
          <a:effectRef idx="0">
            <a:schemeClr val="dk1"/>
          </a:effectRef>
          <a:fontRef idx="minor">
            <a:schemeClr val="dk1"/>
          </a:fontRef>
        </p:style>
        <p:txBody>
          <a:bodyPr/>
          <a:lstStyle/>
          <a:p>
            <a:pPr marL="0" indent="0" algn="l">
              <a:buNone/>
              <a:defRPr sz="1500">
                <a:latin typeface="Courier New"/>
              </a:defRPr>
            </a:pPr>
            <a:r>
              <a:rPr dirty="0"/>
              <a:t># Official installer (Windows/macOS)</a:t>
            </a:r>
            <a:br>
              <a:rPr dirty="0"/>
            </a:br>
            <a:r>
              <a:rPr dirty="0"/>
              <a:t>https://www.python.org/downloads/</a:t>
            </a:r>
            <a:br>
              <a:rPr dirty="0"/>
            </a:br>
            <a:br>
              <a:rPr dirty="0"/>
            </a:br>
            <a:r>
              <a:rPr dirty="0"/>
              <a:t># Linux</a:t>
            </a:r>
            <a:br>
              <a:rPr dirty="0"/>
            </a:br>
            <a:r>
              <a:rPr dirty="0" err="1"/>
              <a:t>sudo</a:t>
            </a:r>
            <a:r>
              <a:rPr dirty="0"/>
              <a:t> apt update &amp;&amp; </a:t>
            </a:r>
            <a:r>
              <a:rPr dirty="0" err="1"/>
              <a:t>sudo</a:t>
            </a:r>
            <a:r>
              <a:rPr dirty="0"/>
              <a:t> apt install python3 python3-venv</a:t>
            </a:r>
            <a:br>
              <a:rPr dirty="0"/>
            </a:br>
            <a:br>
              <a:rPr dirty="0"/>
            </a:br>
            <a:r>
              <a:rPr dirty="0"/>
              <a:t># Verify</a:t>
            </a:r>
            <a:br>
              <a:rPr dirty="0"/>
            </a:br>
            <a:r>
              <a:rPr dirty="0"/>
              <a:t>python3 -V              # ≥ 3.9 recommended</a:t>
            </a:r>
            <a:br>
              <a:rPr dirty="0"/>
            </a:br>
            <a:r>
              <a:rPr dirty="0"/>
              <a:t>python3 -m pip --version</a:t>
            </a:r>
            <a:br>
              <a:rPr dirty="0"/>
            </a:br>
            <a:br>
              <a:rPr dirty="0"/>
            </a:br>
            <a:r>
              <a:rPr dirty="0"/>
              <a:t># </a:t>
            </a:r>
            <a:r>
              <a:rPr lang="en-SG" dirty="0"/>
              <a:t>Staring Python</a:t>
            </a:r>
            <a:br>
              <a:rPr dirty="0"/>
            </a:br>
            <a:r>
              <a:rPr lang="en-SG" dirty="0"/>
              <a:t>python</a:t>
            </a:r>
          </a:p>
          <a:p>
            <a:pPr marL="0" indent="0" algn="l">
              <a:buNone/>
              <a:defRPr sz="1500">
                <a:latin typeface="Courier New"/>
              </a:defRPr>
            </a:pPr>
            <a:endParaRPr lang="en-SG" dirty="0"/>
          </a:p>
          <a:p>
            <a:pPr marL="0" indent="0">
              <a:buNone/>
              <a:defRPr sz="1500">
                <a:latin typeface="Courier New"/>
              </a:defRPr>
            </a:pPr>
            <a:r>
              <a:rPr lang="en-SG" sz="1500" dirty="0">
                <a:latin typeface="Courier New"/>
              </a:rPr>
              <a:t># Quitting Python</a:t>
            </a:r>
          </a:p>
          <a:p>
            <a:pPr marL="0" indent="0">
              <a:buNone/>
              <a:defRPr sz="1500">
                <a:latin typeface="Courier New"/>
              </a:defRPr>
            </a:pPr>
            <a:r>
              <a:rPr lang="en-SG" sz="1500" dirty="0"/>
              <a:t>&gt;&gt;&gt; exit() </a:t>
            </a:r>
          </a:p>
          <a:p>
            <a:pPr marL="0" indent="0">
              <a:buNone/>
              <a:defRPr sz="1500">
                <a:latin typeface="Courier New"/>
              </a:defRPr>
            </a:pPr>
            <a:r>
              <a:rPr lang="en-SG" sz="1500" dirty="0"/>
              <a:t>&gt;&gt;&gt; quit() </a:t>
            </a:r>
          </a:p>
          <a:p>
            <a:pPr marL="0" indent="0" algn="l">
              <a:buNone/>
              <a:defRPr sz="1500">
                <a:latin typeface="Courier New"/>
              </a:defRPr>
            </a:pPr>
            <a:endParaRPr dirty="0"/>
          </a:p>
        </p:txBody>
      </p:sp>
      <p:sp>
        <p:nvSpPr>
          <p:cNvPr id="4" name="Content Placeholder 2">
            <a:extLst>
              <a:ext uri="{FF2B5EF4-FFF2-40B4-BE49-F238E27FC236}">
                <a16:creationId xmlns:a16="http://schemas.microsoft.com/office/drawing/2014/main" id="{79C03360-D471-7C57-8975-2FF90494E5DA}"/>
              </a:ext>
            </a:extLst>
          </p:cNvPr>
          <p:cNvSpPr txBox="1">
            <a:spLocks/>
          </p:cNvSpPr>
          <p:nvPr/>
        </p:nvSpPr>
        <p:spPr>
          <a:xfrm>
            <a:off x="7097486" y="1600199"/>
            <a:ext cx="4884511"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defRPr sz="1500">
                <a:latin typeface="Courier New"/>
              </a:defRPr>
            </a:pPr>
            <a:r>
              <a:rPr lang="en-US" dirty="0"/>
              <a:t># REPL quick start</a:t>
            </a:r>
            <a:br>
              <a:rPr lang="en-US" dirty="0"/>
            </a:br>
            <a:r>
              <a:rPr lang="en-US" dirty="0"/>
              <a:t>&gt;&gt;&gt; 2 + 2</a:t>
            </a:r>
            <a:br>
              <a:rPr lang="en-US" dirty="0"/>
            </a:br>
            <a:r>
              <a:rPr lang="en-US" dirty="0"/>
              <a:t>4</a:t>
            </a:r>
            <a:br>
              <a:rPr lang="en-US" dirty="0"/>
            </a:br>
            <a:r>
              <a:rPr lang="en-US" dirty="0"/>
              <a:t>&gt;&gt;&gt; print("Hello", "world", </a:t>
            </a:r>
            <a:r>
              <a:rPr lang="en-US" dirty="0" err="1"/>
              <a:t>sep</a:t>
            </a:r>
            <a:r>
              <a:rPr lang="en-US" dirty="0"/>
              <a:t>=" 🐍 ")</a:t>
            </a:r>
            <a:br>
              <a:rPr lang="en-US" dirty="0"/>
            </a:br>
            <a:r>
              <a:rPr lang="en-US" dirty="0"/>
              <a:t>Hello 🐍 world</a:t>
            </a:r>
          </a:p>
          <a:p>
            <a:pPr marL="0" indent="0">
              <a:buNone/>
              <a:defRPr sz="1500">
                <a:latin typeface="Courier New"/>
              </a:defRPr>
            </a:pPr>
            <a:endParaRPr lang="en-US" sz="1500" dirty="0"/>
          </a:p>
          <a:p>
            <a:pPr marL="0" indent="0">
              <a:buNone/>
              <a:defRPr sz="1500">
                <a:latin typeface="Courier New"/>
              </a:defRPr>
            </a:pPr>
            <a:endParaRPr lang="en-US" sz="1500" dirty="0"/>
          </a:p>
          <a:p>
            <a:pPr marL="0" indent="0">
              <a:buNone/>
              <a:defRPr sz="1500">
                <a:latin typeface="Courier New"/>
              </a:defRPr>
            </a:pPr>
            <a:r>
              <a:rPr lang="en-US" sz="1500" dirty="0"/>
              <a:t># </a:t>
            </a:r>
            <a:r>
              <a:rPr lang="en-SG" sz="1500" dirty="0"/>
              <a:t>print ≠ PRINT “Case sensitive” </a:t>
            </a:r>
          </a:p>
          <a:p>
            <a:pPr marL="0" indent="0">
              <a:buNone/>
              <a:defRPr sz="1500">
                <a:latin typeface="Courier New"/>
              </a:defRPr>
            </a:pPr>
            <a:endParaRPr lang="en-SG" sz="1500" dirty="0"/>
          </a:p>
          <a:p>
            <a:pPr marL="0" indent="0">
              <a:buNone/>
              <a:defRPr sz="1500">
                <a:latin typeface="Courier New"/>
              </a:defRPr>
            </a:pPr>
            <a:r>
              <a:rPr lang="en-SG" sz="1500" dirty="0"/>
              <a:t># print </a:t>
            </a:r>
            <a:r>
              <a:rPr lang="en-SG" sz="1500" dirty="0">
                <a:sym typeface="Wingdings" panose="05000000000000000000" pitchFamily="2" charset="2"/>
              </a:rPr>
              <a:t> command</a:t>
            </a:r>
          </a:p>
          <a:p>
            <a:pPr marL="0" indent="0">
              <a:buNone/>
              <a:defRPr sz="1500">
                <a:latin typeface="Courier New"/>
              </a:defRPr>
            </a:pPr>
            <a:r>
              <a:rPr lang="en-SG" sz="1500" dirty="0">
                <a:sym typeface="Wingdings" panose="05000000000000000000" pitchFamily="2" charset="2"/>
              </a:rPr>
              <a:t>#’print’  text</a:t>
            </a:r>
          </a:p>
          <a:p>
            <a:pPr marL="0" indent="0">
              <a:buNone/>
              <a:defRPr sz="1500">
                <a:latin typeface="Courier New"/>
              </a:defRPr>
            </a:pPr>
            <a:endParaRPr lang="en-SG" sz="1500" dirty="0">
              <a:sym typeface="Wingdings" panose="05000000000000000000" pitchFamily="2" charset="2"/>
            </a:endParaRPr>
          </a:p>
          <a:p>
            <a:pPr marL="0" indent="0">
              <a:buNone/>
              <a:defRPr sz="1500">
                <a:latin typeface="Courier New"/>
              </a:defRPr>
            </a:pPr>
            <a:r>
              <a:rPr lang="en-SG" sz="1500" dirty="0">
                <a:sym typeface="Wingdings" panose="05000000000000000000" pitchFamily="2" charset="2"/>
              </a:rPr>
              <a:t># python script</a:t>
            </a:r>
          </a:p>
          <a:p>
            <a:pPr marL="0" indent="0">
              <a:buNone/>
              <a:defRPr sz="1500">
                <a:latin typeface="Courier New"/>
              </a:defRPr>
            </a:pPr>
            <a:r>
              <a:rPr lang="en-SG" sz="1500" dirty="0" err="1">
                <a:sym typeface="Wingdings" panose="05000000000000000000" pitchFamily="2" charset="2"/>
              </a:rPr>
              <a:t>py</a:t>
            </a:r>
            <a:r>
              <a:rPr lang="en-SG" sz="1500" dirty="0">
                <a:sym typeface="Wingdings" panose="05000000000000000000" pitchFamily="2" charset="2"/>
              </a:rPr>
              <a:t> hello.py</a:t>
            </a:r>
            <a:endParaRPr lang="en-SG" sz="1500" dirty="0"/>
          </a:p>
          <a:p>
            <a:pPr marL="0" indent="0">
              <a:buNone/>
              <a:defRPr sz="1500">
                <a:latin typeface="Courier New"/>
              </a:defRPr>
            </a:pPr>
            <a:endParaRPr lang="en-SG" sz="1500" dirty="0">
              <a:latin typeface="Courier New"/>
            </a:endParaRPr>
          </a:p>
          <a:p>
            <a:pPr marL="0" indent="0">
              <a:buNone/>
              <a:defRPr sz="1500">
                <a:latin typeface="Courier New"/>
              </a:defRPr>
            </a:pPr>
            <a:endParaRPr lang="en-SG" sz="1500" dirty="0">
              <a:latin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D699E-A351-ABCC-15E0-61648D7F7630}"/>
              </a:ext>
            </a:extLst>
          </p:cNvPr>
          <p:cNvSpPr>
            <a:spLocks noGrp="1"/>
          </p:cNvSpPr>
          <p:nvPr>
            <p:ph type="title"/>
          </p:nvPr>
        </p:nvSpPr>
        <p:spPr/>
        <p:txBody>
          <a:bodyPr/>
          <a:lstStyle/>
          <a:p>
            <a:r>
              <a:rPr lang="en-SG" dirty="0"/>
              <a:t>Progress</a:t>
            </a:r>
          </a:p>
        </p:txBody>
      </p:sp>
      <p:sp>
        <p:nvSpPr>
          <p:cNvPr id="3" name="Content Placeholder 2">
            <a:extLst>
              <a:ext uri="{FF2B5EF4-FFF2-40B4-BE49-F238E27FC236}">
                <a16:creationId xmlns:a16="http://schemas.microsoft.com/office/drawing/2014/main" id="{D720DEEC-5D17-9318-B11B-503F613BC605}"/>
              </a:ext>
            </a:extLst>
          </p:cNvPr>
          <p:cNvSpPr>
            <a:spLocks noGrp="1"/>
          </p:cNvSpPr>
          <p:nvPr>
            <p:ph idx="1"/>
          </p:nvPr>
        </p:nvSpPr>
        <p:spPr>
          <a:xfrm>
            <a:off x="457200" y="1600200"/>
            <a:ext cx="3937000" cy="4525963"/>
          </a:xfrm>
        </p:spPr>
        <p:style>
          <a:lnRef idx="2">
            <a:schemeClr val="dk1"/>
          </a:lnRef>
          <a:fillRef idx="1">
            <a:schemeClr val="lt1"/>
          </a:fillRef>
          <a:effectRef idx="0">
            <a:schemeClr val="dk1"/>
          </a:effectRef>
          <a:fontRef idx="minor">
            <a:schemeClr val="dk1"/>
          </a:fontRef>
        </p:style>
        <p:txBody>
          <a:bodyPr/>
          <a:lstStyle/>
          <a:p>
            <a:r>
              <a:rPr lang="en-SG" dirty="0"/>
              <a:t>Interactive Python </a:t>
            </a:r>
          </a:p>
          <a:p>
            <a:r>
              <a:rPr lang="en-SG" dirty="0"/>
              <a:t>Python scripts </a:t>
            </a:r>
          </a:p>
          <a:p>
            <a:r>
              <a:rPr lang="en-SG" dirty="0"/>
              <a:t>print() command </a:t>
            </a:r>
          </a:p>
          <a:p>
            <a:r>
              <a:rPr lang="en-SG" dirty="0"/>
              <a:t>Simple Python text</a:t>
            </a:r>
          </a:p>
        </p:txBody>
      </p:sp>
      <p:sp>
        <p:nvSpPr>
          <p:cNvPr id="4" name="Content Placeholder 2">
            <a:extLst>
              <a:ext uri="{FF2B5EF4-FFF2-40B4-BE49-F238E27FC236}">
                <a16:creationId xmlns:a16="http://schemas.microsoft.com/office/drawing/2014/main" id="{3662257F-6D7D-6F6C-2E0F-924249AD7D90}"/>
              </a:ext>
            </a:extLst>
          </p:cNvPr>
          <p:cNvSpPr txBox="1">
            <a:spLocks/>
          </p:cNvSpPr>
          <p:nvPr/>
        </p:nvSpPr>
        <p:spPr>
          <a:xfrm>
            <a:off x="4584700" y="1600200"/>
            <a:ext cx="7427912"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None/>
            </a:pPr>
            <a:r>
              <a:rPr lang="en-US" b="1" dirty="0"/>
              <a:t>Exercise </a:t>
            </a:r>
          </a:p>
          <a:p>
            <a:r>
              <a:rPr lang="en-US" dirty="0"/>
              <a:t>Print “Goodbye, cruel world!” from interactive Python. </a:t>
            </a:r>
          </a:p>
          <a:p>
            <a:r>
              <a:rPr lang="en-US" dirty="0"/>
              <a:t>Edit exercise1.py to print the same text. </a:t>
            </a:r>
          </a:p>
          <a:p>
            <a:r>
              <a:rPr lang="en-US" dirty="0"/>
              <a:t>Run the modified exercise1.py script. </a:t>
            </a:r>
            <a:endParaRPr lang="en-SG" dirty="0"/>
          </a:p>
        </p:txBody>
      </p:sp>
    </p:spTree>
    <p:extLst>
      <p:ext uri="{BB962C8B-B14F-4D97-AF65-F5344CB8AC3E}">
        <p14:creationId xmlns:p14="http://schemas.microsoft.com/office/powerpoint/2010/main" val="2653039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Variables &amp; Dynamic Typing</a:t>
            </a:r>
          </a:p>
        </p:txBody>
      </p:sp>
      <p:sp>
        <p:nvSpPr>
          <p:cNvPr id="3" name="Content Placeholder 2"/>
          <p:cNvSpPr>
            <a:spLocks noGrp="1"/>
          </p:cNvSpPr>
          <p:nvPr>
            <p:ph idx="1"/>
          </p:nvPr>
        </p:nvSpPr>
        <p:spPr>
          <a:xfrm>
            <a:off x="5778500" y="1574802"/>
            <a:ext cx="6038850" cy="3539430"/>
          </a:xfrm>
        </p:spPr>
        <p:style>
          <a:lnRef idx="2">
            <a:schemeClr val="dk1"/>
          </a:lnRef>
          <a:fillRef idx="1">
            <a:schemeClr val="lt1"/>
          </a:fillRef>
          <a:effectRef idx="0">
            <a:schemeClr val="dk1"/>
          </a:effectRef>
          <a:fontRef idx="minor">
            <a:schemeClr val="dk1"/>
          </a:fontRef>
        </p:style>
        <p:txBody>
          <a:bodyPr/>
          <a:lstStyle/>
          <a:p>
            <a:pPr marL="0" indent="0" algn="l">
              <a:buNone/>
              <a:defRPr sz="1500">
                <a:latin typeface="Courier New"/>
              </a:defRPr>
            </a:pPr>
            <a:r>
              <a:rPr dirty="0"/>
              <a:t># No declarations</a:t>
            </a:r>
            <a:br>
              <a:rPr dirty="0"/>
            </a:br>
            <a:r>
              <a:rPr dirty="0"/>
              <a:t>age = 25                # int</a:t>
            </a:r>
            <a:br>
              <a:rPr dirty="0"/>
            </a:br>
            <a:r>
              <a:rPr dirty="0"/>
              <a:t>price = 19.99           # float</a:t>
            </a:r>
            <a:br>
              <a:rPr dirty="0"/>
            </a:br>
            <a:r>
              <a:rPr dirty="0"/>
              <a:t>name = "Monty"          # str</a:t>
            </a:r>
            <a:br>
              <a:rPr dirty="0"/>
            </a:br>
            <a:r>
              <a:rPr dirty="0"/>
              <a:t>found = True            # bool</a:t>
            </a:r>
            <a:br>
              <a:rPr dirty="0"/>
            </a:br>
            <a:br>
              <a:rPr dirty="0"/>
            </a:br>
            <a:r>
              <a:rPr dirty="0"/>
              <a:t># Re-assign freely</a:t>
            </a:r>
            <a:br>
              <a:rPr dirty="0"/>
            </a:br>
            <a:r>
              <a:rPr dirty="0"/>
              <a:t>age = "twenty-five"     # now str</a:t>
            </a:r>
            <a:br>
              <a:rPr dirty="0"/>
            </a:br>
            <a:br>
              <a:rPr dirty="0"/>
            </a:br>
            <a:r>
              <a:rPr dirty="0"/>
              <a:t># id() shows memory address</a:t>
            </a:r>
            <a:br>
              <a:rPr dirty="0"/>
            </a:br>
            <a:r>
              <a:rPr dirty="0"/>
              <a:t>x = 10</a:t>
            </a:r>
            <a:br>
              <a:rPr dirty="0"/>
            </a:br>
            <a:r>
              <a:rPr dirty="0"/>
              <a:t>print(id(x))            # 140735…</a:t>
            </a:r>
            <a:br>
              <a:rPr dirty="0"/>
            </a:br>
            <a:r>
              <a:rPr dirty="0"/>
              <a:t>x = x + 1               # new int object, id changes!</a:t>
            </a:r>
          </a:p>
        </p:txBody>
      </p:sp>
      <p:sp>
        <p:nvSpPr>
          <p:cNvPr id="4" name="Rectangle 1">
            <a:extLst>
              <a:ext uri="{FF2B5EF4-FFF2-40B4-BE49-F238E27FC236}">
                <a16:creationId xmlns:a16="http://schemas.microsoft.com/office/drawing/2014/main" id="{6600F3B0-8641-5D16-3E50-D4C070EEBA87}"/>
              </a:ext>
            </a:extLst>
          </p:cNvPr>
          <p:cNvSpPr txBox="1">
            <a:spLocks noChangeArrowheads="1"/>
          </p:cNvSpPr>
          <p:nvPr/>
        </p:nvSpPr>
        <p:spPr bwMode="auto">
          <a:xfrm>
            <a:off x="371475" y="2116886"/>
            <a:ext cx="4965700" cy="2419124"/>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dirty="0"/>
              <a:t>No type declarations required</a:t>
            </a:r>
          </a:p>
          <a:p>
            <a:r>
              <a:rPr lang="en-US" sz="2800" dirty="0"/>
              <a:t>Variables bind names to objects</a:t>
            </a:r>
          </a:p>
          <a:p>
            <a:r>
              <a:rPr lang="en-US" sz="2800" dirty="0"/>
              <a:t>Type belongs to the object, not the variable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8130-74B1-BC65-1076-A3480E73E291}"/>
              </a:ext>
            </a:extLst>
          </p:cNvPr>
          <p:cNvSpPr>
            <a:spLocks noGrp="1"/>
          </p:cNvSpPr>
          <p:nvPr>
            <p:ph type="title"/>
          </p:nvPr>
        </p:nvSpPr>
        <p:spPr/>
        <p:txBody>
          <a:bodyPr>
            <a:normAutofit fontScale="90000"/>
          </a:bodyPr>
          <a:lstStyle/>
          <a:p>
            <a:r>
              <a:rPr lang="en-US" dirty="0"/>
              <a:t>Variables Are References (Not Boxes)</a:t>
            </a:r>
            <a:endParaRPr lang="en-SG" dirty="0"/>
          </a:p>
        </p:txBody>
      </p:sp>
      <p:sp>
        <p:nvSpPr>
          <p:cNvPr id="4" name="Rectangle 1">
            <a:extLst>
              <a:ext uri="{FF2B5EF4-FFF2-40B4-BE49-F238E27FC236}">
                <a16:creationId xmlns:a16="http://schemas.microsoft.com/office/drawing/2014/main" id="{8E1D9732-0116-36FE-5F1F-2F3388272396}"/>
              </a:ext>
            </a:extLst>
          </p:cNvPr>
          <p:cNvSpPr>
            <a:spLocks noGrp="1" noChangeArrowheads="1"/>
          </p:cNvSpPr>
          <p:nvPr>
            <p:ph idx="1"/>
          </p:nvPr>
        </p:nvSpPr>
        <p:spPr bwMode="auto">
          <a:xfrm>
            <a:off x="368299" y="1624041"/>
            <a:ext cx="5524500" cy="1348061"/>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r>
              <a:rPr lang="en-US" sz="2400" dirty="0"/>
              <a:t>Variables do not store values</a:t>
            </a:r>
          </a:p>
          <a:p>
            <a:r>
              <a:rPr lang="en-US" sz="2400" dirty="0"/>
              <a:t>They refer to objects in memory</a:t>
            </a:r>
          </a:p>
          <a:p>
            <a:r>
              <a:rPr lang="en-US" sz="2400" dirty="0"/>
              <a:t>Assignment never copies objects</a:t>
            </a:r>
          </a:p>
        </p:txBody>
      </p:sp>
      <p:sp>
        <p:nvSpPr>
          <p:cNvPr id="5" name="Rectangle 1">
            <a:extLst>
              <a:ext uri="{FF2B5EF4-FFF2-40B4-BE49-F238E27FC236}">
                <a16:creationId xmlns:a16="http://schemas.microsoft.com/office/drawing/2014/main" id="{EB4B23CD-404D-787D-55CB-91BF2F24E5A5}"/>
              </a:ext>
            </a:extLst>
          </p:cNvPr>
          <p:cNvSpPr txBox="1">
            <a:spLocks noChangeArrowheads="1"/>
          </p:cNvSpPr>
          <p:nvPr/>
        </p:nvSpPr>
        <p:spPr bwMode="auto">
          <a:xfrm>
            <a:off x="6094412" y="1624041"/>
            <a:ext cx="5905499" cy="4524315"/>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defTabSz="914400" eaLnBrk="0" fontAlgn="base" hangingPunct="0">
              <a:spcBef>
                <a:spcPct val="0"/>
              </a:spcBef>
              <a:spcAft>
                <a:spcPct val="0"/>
              </a:spcAft>
              <a:buNone/>
            </a:pPr>
            <a:r>
              <a:rPr lang="pt-BR" altLang="en-US" sz="2400" dirty="0">
                <a:solidFill>
                  <a:schemeClr val="tx1"/>
                </a:solidFill>
                <a:latin typeface="Arial" panose="020B0604020202020204" pitchFamily="34" charset="0"/>
              </a:rPr>
              <a:t>a = [1, 2, 3]</a:t>
            </a:r>
          </a:p>
          <a:p>
            <a:pPr marL="0" indent="0" defTabSz="914400" eaLnBrk="0" fontAlgn="base" hangingPunct="0">
              <a:spcBef>
                <a:spcPct val="0"/>
              </a:spcBef>
              <a:spcAft>
                <a:spcPct val="0"/>
              </a:spcAft>
              <a:buNone/>
            </a:pPr>
            <a:r>
              <a:rPr lang="pt-BR" altLang="en-US" sz="2400" dirty="0">
                <a:solidFill>
                  <a:schemeClr val="tx1"/>
                </a:solidFill>
                <a:latin typeface="Arial" panose="020B0604020202020204" pitchFamily="34" charset="0"/>
              </a:rPr>
              <a:t>b = a</a:t>
            </a:r>
          </a:p>
          <a:p>
            <a:pPr marL="0" indent="0" defTabSz="914400" eaLnBrk="0" fontAlgn="base" hangingPunct="0">
              <a:spcBef>
                <a:spcPct val="0"/>
              </a:spcBef>
              <a:spcAft>
                <a:spcPct val="0"/>
              </a:spcAft>
              <a:buNone/>
            </a:pPr>
            <a:endParaRPr lang="pt-BR" altLang="en-US" sz="2400" dirty="0">
              <a:solidFill>
                <a:schemeClr val="tx1"/>
              </a:solidFill>
              <a:latin typeface="Arial" panose="020B0604020202020204" pitchFamily="34" charset="0"/>
            </a:endParaRPr>
          </a:p>
          <a:p>
            <a:pPr marL="0" indent="0">
              <a:buNone/>
            </a:pPr>
            <a:r>
              <a:rPr lang="pt-BR" altLang="en-US" sz="2400" dirty="0">
                <a:solidFill>
                  <a:schemeClr val="tx1"/>
                </a:solidFill>
                <a:latin typeface="Arial" panose="020B0604020202020204" pitchFamily="34" charset="0"/>
              </a:rPr>
              <a:t># </a:t>
            </a:r>
            <a:r>
              <a:rPr lang="en-US" sz="2400" dirty="0"/>
              <a:t>Python creates </a:t>
            </a:r>
            <a:r>
              <a:rPr lang="en-US" sz="2400" b="1" dirty="0"/>
              <a:t>one list object</a:t>
            </a:r>
            <a:r>
              <a:rPr lang="en-US" sz="2400" dirty="0"/>
              <a:t>: [1, 2, 3]</a:t>
            </a:r>
          </a:p>
          <a:p>
            <a:pPr marL="0" indent="0">
              <a:buNone/>
            </a:pPr>
            <a:r>
              <a:rPr lang="en-US" sz="2400" dirty="0"/>
              <a:t># The name a refers to that list</a:t>
            </a:r>
          </a:p>
          <a:p>
            <a:pPr marL="0" indent="0">
              <a:buNone/>
            </a:pPr>
            <a:r>
              <a:rPr lang="en-US" sz="2400" dirty="0"/>
              <a:t># The name b is assigned to </a:t>
            </a:r>
            <a:r>
              <a:rPr lang="en-US" sz="2400" b="1" dirty="0"/>
              <a:t>the same list object</a:t>
            </a:r>
            <a:endParaRPr lang="en-US" sz="2400" dirty="0"/>
          </a:p>
          <a:p>
            <a:pPr marL="0" indent="0">
              <a:buNone/>
            </a:pPr>
            <a:r>
              <a:rPr lang="en-US" sz="2400" dirty="0"/>
              <a:t># a and b </a:t>
            </a:r>
            <a:r>
              <a:rPr lang="en-US" sz="2400" b="1" dirty="0"/>
              <a:t>point to the same object</a:t>
            </a:r>
            <a:endParaRPr lang="en-US" sz="2400" dirty="0"/>
          </a:p>
          <a:p>
            <a:pPr marL="0" indent="0">
              <a:buNone/>
            </a:pPr>
            <a:r>
              <a:rPr lang="en-US" sz="2400" dirty="0"/>
              <a:t># No copy is made</a:t>
            </a:r>
          </a:p>
          <a:p>
            <a:pPr marL="0" indent="0" defTabSz="914400" eaLnBrk="0" fontAlgn="base" hangingPunct="0">
              <a:spcBef>
                <a:spcPct val="0"/>
              </a:spcBef>
              <a:spcAft>
                <a:spcPct val="0"/>
              </a:spcAft>
              <a:buNone/>
            </a:pPr>
            <a:endParaRPr lang="pt-BR" altLang="en-US" sz="2400" dirty="0">
              <a:solidFill>
                <a:schemeClr val="tx1"/>
              </a:solidFill>
              <a:latin typeface="Arial" panose="020B0604020202020204" pitchFamily="34" charset="0"/>
            </a:endParaRPr>
          </a:p>
          <a:p>
            <a:pPr marL="0" indent="0" defTabSz="914400" eaLnBrk="0" fontAlgn="base" hangingPunct="0">
              <a:spcBef>
                <a:spcPct val="0"/>
              </a:spcBef>
              <a:spcAft>
                <a:spcPct val="0"/>
              </a:spcAft>
              <a:buNone/>
            </a:pPr>
            <a:endParaRPr lang="en-US" altLang="en-US" sz="2400" dirty="0">
              <a:solidFill>
                <a:schemeClr val="tx1"/>
              </a:solidFill>
              <a:latin typeface="Arial" panose="020B0604020202020204" pitchFamily="34" charset="0"/>
            </a:endParaRPr>
          </a:p>
        </p:txBody>
      </p:sp>
      <p:sp>
        <p:nvSpPr>
          <p:cNvPr id="8" name="TextBox 7">
            <a:extLst>
              <a:ext uri="{FF2B5EF4-FFF2-40B4-BE49-F238E27FC236}">
                <a16:creationId xmlns:a16="http://schemas.microsoft.com/office/drawing/2014/main" id="{15FBA06E-D3B5-1976-3492-1C67E3817518}"/>
              </a:ext>
            </a:extLst>
          </p:cNvPr>
          <p:cNvSpPr txBox="1"/>
          <p:nvPr/>
        </p:nvSpPr>
        <p:spPr>
          <a:xfrm>
            <a:off x="1562100" y="3285734"/>
            <a:ext cx="2641600" cy="1200329"/>
          </a:xfrm>
          <a:prstGeom prst="rect">
            <a:avLst/>
          </a:prstGeom>
          <a:noFill/>
        </p:spPr>
        <p:txBody>
          <a:bodyPr wrap="square">
            <a:spAutoFit/>
          </a:bodyPr>
          <a:lstStyle/>
          <a:p>
            <a:r>
              <a:rPr lang="en-SG" sz="2400" dirty="0"/>
              <a:t>a ──┐</a:t>
            </a:r>
          </a:p>
          <a:p>
            <a:r>
              <a:rPr lang="en-SG" sz="2400" dirty="0"/>
              <a:t>       ├──&gt; [1, 2, 3]</a:t>
            </a:r>
          </a:p>
          <a:p>
            <a:r>
              <a:rPr lang="en-SG" sz="2400" dirty="0"/>
              <a:t>b ──┘</a:t>
            </a:r>
          </a:p>
        </p:txBody>
      </p:sp>
      <p:sp>
        <p:nvSpPr>
          <p:cNvPr id="3" name="Rectangle 1">
            <a:extLst>
              <a:ext uri="{FF2B5EF4-FFF2-40B4-BE49-F238E27FC236}">
                <a16:creationId xmlns:a16="http://schemas.microsoft.com/office/drawing/2014/main" id="{9E6EBE4E-876C-A284-C1CA-C8093A30751C}"/>
              </a:ext>
            </a:extLst>
          </p:cNvPr>
          <p:cNvSpPr txBox="1">
            <a:spLocks noChangeArrowheads="1"/>
          </p:cNvSpPr>
          <p:nvPr/>
        </p:nvSpPr>
        <p:spPr bwMode="auto">
          <a:xfrm>
            <a:off x="368299" y="4500075"/>
            <a:ext cx="5524500" cy="1717393"/>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None/>
            </a:pPr>
            <a:r>
              <a:rPr lang="en-US" sz="2400" b="1" dirty="0"/>
              <a:t>Why this matters</a:t>
            </a:r>
            <a:endParaRPr lang="en-US" sz="2400" dirty="0"/>
          </a:p>
          <a:p>
            <a:r>
              <a:rPr lang="en-US" sz="2400" dirty="0"/>
              <a:t>Shared references cause hidden bugs</a:t>
            </a:r>
          </a:p>
          <a:p>
            <a:r>
              <a:rPr lang="en-US" sz="2400" dirty="0"/>
              <a:t>Mutation vs reassignment is a critical distinction</a:t>
            </a:r>
          </a:p>
        </p:txBody>
      </p:sp>
    </p:spTree>
    <p:extLst>
      <p:ext uri="{BB962C8B-B14F-4D97-AF65-F5344CB8AC3E}">
        <p14:creationId xmlns:p14="http://schemas.microsoft.com/office/powerpoint/2010/main" val="1283407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Mutation vs Reassignment</a:t>
            </a:r>
          </a:p>
        </p:txBody>
      </p:sp>
      <p:sp>
        <p:nvSpPr>
          <p:cNvPr id="3" name="Content Placeholder 2"/>
          <p:cNvSpPr>
            <a:spLocks noGrp="1"/>
          </p:cNvSpPr>
          <p:nvPr>
            <p:ph idx="1"/>
          </p:nvPr>
        </p:nvSpPr>
        <p:spPr>
          <a:xfrm>
            <a:off x="457200" y="1600200"/>
            <a:ext cx="11188700" cy="4525963"/>
          </a:xfrm>
        </p:spPr>
        <p:txBody>
          <a:bodyPr/>
          <a:lstStyle/>
          <a:p>
            <a:r>
              <a:rPr lang="en-US" b="1" dirty="0"/>
              <a:t>Mutation</a:t>
            </a:r>
            <a:r>
              <a:rPr lang="en-US" dirty="0"/>
              <a:t> changes the object</a:t>
            </a:r>
          </a:p>
          <a:p>
            <a:r>
              <a:rPr lang="en-US" b="1" dirty="0"/>
              <a:t>Reassignment</a:t>
            </a:r>
            <a:r>
              <a:rPr lang="en-US" dirty="0"/>
              <a:t> changes the reference</a:t>
            </a:r>
          </a:p>
          <a:p>
            <a:r>
              <a:rPr lang="en-US" dirty="0"/>
              <a:t>Mutable objects share changes</a:t>
            </a:r>
          </a:p>
          <a:p>
            <a:r>
              <a:rPr lang="en-US" dirty="0"/>
              <a:t>Immutable objects create new ones</a:t>
            </a:r>
          </a:p>
          <a:p>
            <a:pPr marL="0" indent="0">
              <a:buNone/>
            </a:pPr>
            <a:r>
              <a:rPr lang="en-US" b="1" dirty="0"/>
              <a:t>Common pitfall:</a:t>
            </a:r>
            <a:r>
              <a:rPr lang="en-US" dirty="0"/>
              <a:t> unexpected side effects across functions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8C755-D846-762F-818D-63E73764775D}"/>
              </a:ext>
            </a:extLst>
          </p:cNvPr>
          <p:cNvSpPr>
            <a:spLocks noGrp="1"/>
          </p:cNvSpPr>
          <p:nvPr>
            <p:ph type="title"/>
          </p:nvPr>
        </p:nvSpPr>
        <p:spPr/>
        <p:txBody>
          <a:bodyPr/>
          <a:lstStyle/>
          <a:p>
            <a:r>
              <a:rPr lang="en-SG" dirty="0"/>
              <a:t>Changing the Object</a:t>
            </a:r>
          </a:p>
        </p:txBody>
      </p:sp>
      <p:sp>
        <p:nvSpPr>
          <p:cNvPr id="3" name="Content Placeholder 2">
            <a:extLst>
              <a:ext uri="{FF2B5EF4-FFF2-40B4-BE49-F238E27FC236}">
                <a16:creationId xmlns:a16="http://schemas.microsoft.com/office/drawing/2014/main" id="{C9681B9C-3017-6624-922D-5ECB0AB29B0F}"/>
              </a:ext>
            </a:extLst>
          </p:cNvPr>
          <p:cNvSpPr>
            <a:spLocks noGrp="1"/>
          </p:cNvSpPr>
          <p:nvPr>
            <p:ph idx="1"/>
          </p:nvPr>
        </p:nvSpPr>
        <p:spPr>
          <a:xfrm>
            <a:off x="457200" y="1600200"/>
            <a:ext cx="46228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pt-BR" dirty="0"/>
              <a:t>a = [1, 2, 3]</a:t>
            </a:r>
          </a:p>
          <a:p>
            <a:pPr marL="0" indent="0">
              <a:buNone/>
            </a:pPr>
            <a:r>
              <a:rPr lang="pt-BR" dirty="0"/>
              <a:t>b = a</a:t>
            </a:r>
          </a:p>
          <a:p>
            <a:pPr marL="0" indent="0">
              <a:buNone/>
            </a:pPr>
            <a:endParaRPr lang="en-SG" dirty="0"/>
          </a:p>
          <a:p>
            <a:pPr marL="0" indent="0">
              <a:buNone/>
            </a:pPr>
            <a:r>
              <a:rPr lang="en-SG" dirty="0" err="1"/>
              <a:t>a.append</a:t>
            </a:r>
            <a:r>
              <a:rPr lang="en-SG" dirty="0"/>
              <a:t>(4)</a:t>
            </a:r>
          </a:p>
          <a:p>
            <a:pPr marL="0" indent="0">
              <a:buNone/>
            </a:pPr>
            <a:endParaRPr lang="en-SG" dirty="0"/>
          </a:p>
          <a:p>
            <a:pPr marL="0" indent="0">
              <a:buNone/>
            </a:pPr>
            <a:r>
              <a:rPr lang="en-SG" dirty="0"/>
              <a:t>print(a)  # [1, 2, 3, 4]</a:t>
            </a:r>
          </a:p>
          <a:p>
            <a:pPr marL="0" indent="0">
              <a:buNone/>
            </a:pPr>
            <a:r>
              <a:rPr lang="en-SG" dirty="0"/>
              <a:t>print(b)  # [1, 2, 3, 4]</a:t>
            </a:r>
          </a:p>
          <a:p>
            <a:pPr marL="0" indent="0">
              <a:buNone/>
            </a:pPr>
            <a:endParaRPr lang="en-SG" dirty="0"/>
          </a:p>
        </p:txBody>
      </p:sp>
      <p:sp>
        <p:nvSpPr>
          <p:cNvPr id="4" name="Content Placeholder 2">
            <a:extLst>
              <a:ext uri="{FF2B5EF4-FFF2-40B4-BE49-F238E27FC236}">
                <a16:creationId xmlns:a16="http://schemas.microsoft.com/office/drawing/2014/main" id="{024524E2-F85B-AEDE-4A13-6F7C949429EB}"/>
              </a:ext>
            </a:extLst>
          </p:cNvPr>
          <p:cNvSpPr txBox="1">
            <a:spLocks/>
          </p:cNvSpPr>
          <p:nvPr/>
        </p:nvSpPr>
        <p:spPr>
          <a:xfrm>
            <a:off x="5499100" y="1587500"/>
            <a:ext cx="63754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dirty="0"/>
              <a:t>Why does b change?</a:t>
            </a:r>
          </a:p>
          <a:p>
            <a:pPr lvl="1"/>
            <a:r>
              <a:rPr lang="en-US" dirty="0"/>
              <a:t>Because </a:t>
            </a:r>
            <a:r>
              <a:rPr lang="en-US" b="1" dirty="0"/>
              <a:t>both names refer to the same list object</a:t>
            </a:r>
            <a:r>
              <a:rPr lang="en-US" dirty="0"/>
              <a:t>, and the list is </a:t>
            </a:r>
            <a:r>
              <a:rPr lang="en-US" b="1" dirty="0"/>
              <a:t>mutable</a:t>
            </a:r>
            <a:r>
              <a:rPr lang="en-US" dirty="0"/>
              <a:t>.</a:t>
            </a:r>
          </a:p>
          <a:p>
            <a:pPr lvl="1"/>
            <a:endParaRPr lang="en-US" dirty="0"/>
          </a:p>
          <a:p>
            <a:r>
              <a:rPr lang="en-US" b="1" dirty="0"/>
              <a:t>Important Distinction</a:t>
            </a:r>
          </a:p>
          <a:p>
            <a:pPr lvl="1"/>
            <a:r>
              <a:rPr lang="en-US" dirty="0"/>
              <a:t>You did </a:t>
            </a:r>
            <a:r>
              <a:rPr lang="en-US" b="1" dirty="0"/>
              <a:t>not</a:t>
            </a:r>
            <a:r>
              <a:rPr lang="en-US" dirty="0"/>
              <a:t> change a</a:t>
            </a:r>
          </a:p>
          <a:p>
            <a:pPr lvl="1"/>
            <a:r>
              <a:rPr lang="en-US" dirty="0"/>
              <a:t>You changed </a:t>
            </a:r>
            <a:r>
              <a:rPr lang="en-US" b="1" dirty="0"/>
              <a:t>the object</a:t>
            </a:r>
            <a:r>
              <a:rPr lang="en-US" dirty="0"/>
              <a:t> that both a and b refer to</a:t>
            </a:r>
          </a:p>
          <a:p>
            <a:endParaRPr lang="en-US" dirty="0"/>
          </a:p>
          <a:p>
            <a:pPr lvl="1"/>
            <a:endParaRPr lang="en-US" dirty="0"/>
          </a:p>
          <a:p>
            <a:pPr marL="457200" lvl="1" indent="0">
              <a:buNone/>
            </a:pPr>
            <a:endParaRPr lang="en-US" dirty="0"/>
          </a:p>
          <a:p>
            <a:pPr marL="0" indent="0">
              <a:buFont typeface="Arial"/>
              <a:buNone/>
            </a:pPr>
            <a:endParaRPr lang="en-SG" dirty="0"/>
          </a:p>
        </p:txBody>
      </p:sp>
    </p:spTree>
    <p:extLst>
      <p:ext uri="{BB962C8B-B14F-4D97-AF65-F5344CB8AC3E}">
        <p14:creationId xmlns:p14="http://schemas.microsoft.com/office/powerpoint/2010/main" val="3808699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4A71B-CEED-5A43-1A81-48AFCBB33A76}"/>
              </a:ext>
            </a:extLst>
          </p:cNvPr>
          <p:cNvSpPr>
            <a:spLocks noGrp="1"/>
          </p:cNvSpPr>
          <p:nvPr>
            <p:ph type="title"/>
          </p:nvPr>
        </p:nvSpPr>
        <p:spPr/>
        <p:txBody>
          <a:bodyPr>
            <a:normAutofit/>
          </a:bodyPr>
          <a:lstStyle/>
          <a:p>
            <a:r>
              <a:rPr lang="en-SG" dirty="0"/>
              <a:t>Contrast with Reassignment</a:t>
            </a:r>
          </a:p>
        </p:txBody>
      </p:sp>
      <p:sp>
        <p:nvSpPr>
          <p:cNvPr id="3" name="Content Placeholder 2">
            <a:extLst>
              <a:ext uri="{FF2B5EF4-FFF2-40B4-BE49-F238E27FC236}">
                <a16:creationId xmlns:a16="http://schemas.microsoft.com/office/drawing/2014/main" id="{160B4F3B-CF9A-C79B-3A9C-460539FFBC6B}"/>
              </a:ext>
            </a:extLst>
          </p:cNvPr>
          <p:cNvSpPr>
            <a:spLocks noGrp="1"/>
          </p:cNvSpPr>
          <p:nvPr>
            <p:ph idx="1"/>
          </p:nvPr>
        </p:nvSpPr>
        <p:spPr>
          <a:xfrm>
            <a:off x="457200" y="1600200"/>
            <a:ext cx="48006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pt-BR" dirty="0"/>
              <a:t>a = [1, 2, 3]</a:t>
            </a:r>
          </a:p>
          <a:p>
            <a:pPr marL="0" indent="0">
              <a:buNone/>
            </a:pPr>
            <a:r>
              <a:rPr lang="pt-BR" dirty="0"/>
              <a:t>b = a</a:t>
            </a:r>
          </a:p>
          <a:p>
            <a:pPr marL="0" indent="0">
              <a:buNone/>
            </a:pPr>
            <a:endParaRPr lang="pt-BR" dirty="0"/>
          </a:p>
          <a:p>
            <a:pPr marL="0" indent="0">
              <a:buNone/>
            </a:pPr>
            <a:r>
              <a:rPr lang="pt-BR" dirty="0"/>
              <a:t>a = [9, 9, 9]</a:t>
            </a:r>
          </a:p>
          <a:p>
            <a:pPr marL="0" indent="0">
              <a:buNone/>
            </a:pPr>
            <a:endParaRPr lang="en-SG" dirty="0"/>
          </a:p>
        </p:txBody>
      </p:sp>
      <p:sp>
        <p:nvSpPr>
          <p:cNvPr id="4" name="Content Placeholder 2">
            <a:extLst>
              <a:ext uri="{FF2B5EF4-FFF2-40B4-BE49-F238E27FC236}">
                <a16:creationId xmlns:a16="http://schemas.microsoft.com/office/drawing/2014/main" id="{E719216D-1FAE-13DB-B019-D31860643FED}"/>
              </a:ext>
            </a:extLst>
          </p:cNvPr>
          <p:cNvSpPr txBox="1">
            <a:spLocks/>
          </p:cNvSpPr>
          <p:nvPr/>
        </p:nvSpPr>
        <p:spPr>
          <a:xfrm>
            <a:off x="5499100" y="1587500"/>
            <a:ext cx="58420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sz="2800" dirty="0"/>
              <a:t>Now:</a:t>
            </a:r>
          </a:p>
          <a:p>
            <a:pPr lvl="1"/>
            <a:r>
              <a:rPr lang="en-US" dirty="0"/>
              <a:t>a refers to a </a:t>
            </a:r>
            <a:r>
              <a:rPr lang="en-US" b="1" dirty="0"/>
              <a:t>new list</a:t>
            </a:r>
            <a:endParaRPr lang="en-US" dirty="0"/>
          </a:p>
          <a:p>
            <a:pPr lvl="1"/>
            <a:r>
              <a:rPr lang="en-US" dirty="0"/>
              <a:t>b still refers to the old list</a:t>
            </a:r>
          </a:p>
          <a:p>
            <a:pPr marL="457200" lvl="1" indent="0">
              <a:buNone/>
            </a:pPr>
            <a:endParaRPr lang="en-US" dirty="0"/>
          </a:p>
          <a:p>
            <a:pPr marL="57150" indent="0">
              <a:buNone/>
            </a:pPr>
            <a:r>
              <a:rPr lang="pt-BR" sz="2800" dirty="0"/>
              <a:t>a ──&gt; [9, 9, 9]</a:t>
            </a:r>
          </a:p>
          <a:p>
            <a:pPr marL="57150" indent="0">
              <a:buNone/>
            </a:pPr>
            <a:r>
              <a:rPr lang="pt-BR" sz="2800" dirty="0"/>
              <a:t>b ──&gt; [1, 2, 3]</a:t>
            </a:r>
          </a:p>
          <a:p>
            <a:pPr marL="457200" lvl="1" indent="0">
              <a:buNone/>
            </a:pPr>
            <a:endParaRPr lang="en-US" dirty="0"/>
          </a:p>
          <a:p>
            <a:pPr marL="457200" lvl="1" indent="0">
              <a:buNone/>
            </a:pPr>
            <a:endParaRPr lang="en-US" dirty="0"/>
          </a:p>
          <a:p>
            <a:pPr marL="0" indent="0">
              <a:buFont typeface="Arial"/>
              <a:buNone/>
            </a:pPr>
            <a:endParaRPr lang="en-SG" sz="2800" dirty="0"/>
          </a:p>
        </p:txBody>
      </p:sp>
    </p:spTree>
    <p:extLst>
      <p:ext uri="{BB962C8B-B14F-4D97-AF65-F5344CB8AC3E}">
        <p14:creationId xmlns:p14="http://schemas.microsoft.com/office/powerpoint/2010/main" val="2802457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21E3-9A1E-C572-E764-A1351E7FA206}"/>
              </a:ext>
            </a:extLst>
          </p:cNvPr>
          <p:cNvSpPr>
            <a:spLocks noGrp="1"/>
          </p:cNvSpPr>
          <p:nvPr>
            <p:ph type="title"/>
          </p:nvPr>
        </p:nvSpPr>
        <p:spPr/>
        <p:txBody>
          <a:bodyPr/>
          <a:lstStyle/>
          <a:p>
            <a:r>
              <a:rPr lang="en-SG" dirty="0"/>
              <a:t>Dynamic Typing Explained</a:t>
            </a:r>
          </a:p>
        </p:txBody>
      </p:sp>
      <p:sp>
        <p:nvSpPr>
          <p:cNvPr id="4" name="Rectangle 1">
            <a:extLst>
              <a:ext uri="{FF2B5EF4-FFF2-40B4-BE49-F238E27FC236}">
                <a16:creationId xmlns:a16="http://schemas.microsoft.com/office/drawing/2014/main" id="{B3AE3B94-CB4F-A01F-3C1E-7B5D657FBA39}"/>
              </a:ext>
            </a:extLst>
          </p:cNvPr>
          <p:cNvSpPr>
            <a:spLocks noGrp="1" noChangeArrowheads="1"/>
          </p:cNvSpPr>
          <p:nvPr>
            <p:ph idx="1"/>
          </p:nvPr>
        </p:nvSpPr>
        <p:spPr bwMode="auto">
          <a:xfrm>
            <a:off x="457200" y="1687508"/>
            <a:ext cx="8458199" cy="155734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r>
              <a:rPr lang="en-US" sz="2800" dirty="0"/>
              <a:t>Types belong to </a:t>
            </a:r>
            <a:r>
              <a:rPr lang="en-US" sz="2800" b="1" dirty="0"/>
              <a:t>objects</a:t>
            </a:r>
            <a:r>
              <a:rPr lang="en-US" sz="2800" dirty="0"/>
              <a:t>, not variables</a:t>
            </a:r>
          </a:p>
          <a:p>
            <a:r>
              <a:rPr lang="en-US" sz="2800" dirty="0"/>
              <a:t>Variables may rebind to new types</a:t>
            </a:r>
          </a:p>
          <a:p>
            <a:r>
              <a:rPr lang="en-US" sz="2800" dirty="0"/>
              <a:t>Errors appear </a:t>
            </a:r>
            <a:r>
              <a:rPr lang="en-US" sz="2800" b="1" dirty="0"/>
              <a:t>at runtime</a:t>
            </a:r>
            <a:endParaRPr lang="en-US" sz="2800" dirty="0"/>
          </a:p>
        </p:txBody>
      </p:sp>
      <p:sp>
        <p:nvSpPr>
          <p:cNvPr id="5" name="Rectangle 1">
            <a:extLst>
              <a:ext uri="{FF2B5EF4-FFF2-40B4-BE49-F238E27FC236}">
                <a16:creationId xmlns:a16="http://schemas.microsoft.com/office/drawing/2014/main" id="{931B9AEA-65C8-984D-0F30-1C72FFE8E74F}"/>
              </a:ext>
            </a:extLst>
          </p:cNvPr>
          <p:cNvSpPr txBox="1">
            <a:spLocks noChangeArrowheads="1"/>
          </p:cNvSpPr>
          <p:nvPr/>
        </p:nvSpPr>
        <p:spPr bwMode="auto">
          <a:xfrm>
            <a:off x="9483725" y="1687508"/>
            <a:ext cx="2247900" cy="181588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eaLnBrk="0" fontAlgn="base" hangingPunct="0">
              <a:spcBef>
                <a:spcPct val="0"/>
              </a:spcBef>
              <a:spcAft>
                <a:spcPct val="0"/>
              </a:spcAft>
              <a:buNone/>
            </a:pPr>
            <a:r>
              <a:rPr lang="pl-PL" altLang="en-US" sz="2800" dirty="0">
                <a:latin typeface="Arial" panose="020B0604020202020204" pitchFamily="34" charset="0"/>
              </a:rPr>
              <a:t>x = 10</a:t>
            </a:r>
          </a:p>
          <a:p>
            <a:pPr marL="0" indent="0" defTabSz="914400" eaLnBrk="0" fontAlgn="base" hangingPunct="0">
              <a:spcBef>
                <a:spcPct val="0"/>
              </a:spcBef>
              <a:spcAft>
                <a:spcPct val="0"/>
              </a:spcAft>
              <a:buNone/>
            </a:pPr>
            <a:r>
              <a:rPr lang="pl-PL" altLang="en-US" sz="2800" dirty="0">
                <a:latin typeface="Arial" panose="020B0604020202020204" pitchFamily="34" charset="0"/>
              </a:rPr>
              <a:t>x = "ten"</a:t>
            </a:r>
          </a:p>
          <a:p>
            <a:pPr marL="0" indent="0" defTabSz="914400" eaLnBrk="0" fontAlgn="base" hangingPunct="0">
              <a:spcBef>
                <a:spcPct val="0"/>
              </a:spcBef>
              <a:spcAft>
                <a:spcPct val="0"/>
              </a:spcAft>
              <a:buNone/>
            </a:pPr>
            <a:r>
              <a:rPr lang="pl-PL" altLang="en-US" sz="2800" dirty="0">
                <a:latin typeface="Arial" panose="020B0604020202020204" pitchFamily="34" charset="0"/>
              </a:rPr>
              <a:t>x = [10]</a:t>
            </a:r>
          </a:p>
          <a:p>
            <a:pPr marL="0" indent="0" defTabSz="914400" eaLnBrk="0" fontAlgn="base" hangingPunct="0">
              <a:spcBef>
                <a:spcPct val="0"/>
              </a:spcBef>
              <a:spcAft>
                <a:spcPct val="0"/>
              </a:spcAft>
              <a:buNone/>
            </a:pPr>
            <a:endParaRPr lang="en-US" altLang="en-US" sz="2800" dirty="0">
              <a:latin typeface="Arial" panose="020B0604020202020204" pitchFamily="34" charset="0"/>
            </a:endParaRPr>
          </a:p>
        </p:txBody>
      </p:sp>
      <p:sp>
        <p:nvSpPr>
          <p:cNvPr id="3" name="Rectangle 1">
            <a:extLst>
              <a:ext uri="{FF2B5EF4-FFF2-40B4-BE49-F238E27FC236}">
                <a16:creationId xmlns:a16="http://schemas.microsoft.com/office/drawing/2014/main" id="{A838CB88-4EC8-AFAC-4E44-11489426397A}"/>
              </a:ext>
            </a:extLst>
          </p:cNvPr>
          <p:cNvSpPr txBox="1">
            <a:spLocks noChangeArrowheads="1"/>
          </p:cNvSpPr>
          <p:nvPr/>
        </p:nvSpPr>
        <p:spPr bwMode="auto">
          <a:xfrm>
            <a:off x="457200" y="3537176"/>
            <a:ext cx="8458199" cy="2074414"/>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None/>
            </a:pPr>
            <a:r>
              <a:rPr lang="en-US" sz="2800" b="1" dirty="0"/>
              <a:t>Best practice</a:t>
            </a:r>
            <a:endParaRPr lang="en-US" sz="2800" dirty="0"/>
          </a:p>
          <a:p>
            <a:r>
              <a:rPr lang="en-US" sz="2800" dirty="0"/>
              <a:t>Be consistent</a:t>
            </a:r>
          </a:p>
          <a:p>
            <a:r>
              <a:rPr lang="en-US" sz="2800" dirty="0"/>
              <a:t>Use </a:t>
            </a:r>
            <a:r>
              <a:rPr lang="en-US" sz="2800" b="1" dirty="0"/>
              <a:t>type hints</a:t>
            </a:r>
            <a:r>
              <a:rPr lang="en-US" sz="2800" dirty="0"/>
              <a:t> as projects scale</a:t>
            </a:r>
          </a:p>
          <a:p>
            <a:r>
              <a:rPr lang="en-US" sz="2800" dirty="0"/>
              <a:t>Prefer clarity over cleverness</a:t>
            </a:r>
          </a:p>
        </p:txBody>
      </p:sp>
    </p:spTree>
    <p:extLst>
      <p:ext uri="{BB962C8B-B14F-4D97-AF65-F5344CB8AC3E}">
        <p14:creationId xmlns:p14="http://schemas.microsoft.com/office/powerpoint/2010/main" val="601899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Mutable vs Immutable Types</a:t>
            </a:r>
          </a:p>
        </p:txBody>
      </p:sp>
      <p:sp>
        <p:nvSpPr>
          <p:cNvPr id="3" name="Content Placeholder 2"/>
          <p:cNvSpPr>
            <a:spLocks noGrp="1"/>
          </p:cNvSpPr>
          <p:nvPr>
            <p:ph idx="1"/>
          </p:nvPr>
        </p:nvSpPr>
        <p:spPr/>
        <p:txBody>
          <a:bodyPr/>
          <a:lstStyle/>
          <a:p>
            <a:r>
              <a:rPr dirty="0"/>
              <a:t>Immutable: int, float, str, tuple</a:t>
            </a:r>
          </a:p>
          <a:p>
            <a:r>
              <a:rPr dirty="0"/>
              <a:t>Mutable: list, </a:t>
            </a:r>
            <a:r>
              <a:rPr dirty="0" err="1"/>
              <a:t>dict</a:t>
            </a:r>
            <a:r>
              <a:rPr dirty="0"/>
              <a:t>, set</a:t>
            </a:r>
          </a:p>
          <a:p>
            <a:r>
              <a:rPr dirty="0"/>
              <a:t>Mutability affects shared references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BF447-5621-1924-76A5-1BF244455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29EE4-EEF4-23A7-2767-D287ACC41DA2}"/>
              </a:ext>
            </a:extLst>
          </p:cNvPr>
          <p:cNvSpPr>
            <a:spLocks noGrp="1"/>
          </p:cNvSpPr>
          <p:nvPr>
            <p:ph type="title"/>
          </p:nvPr>
        </p:nvSpPr>
        <p:spPr/>
        <p:txBody>
          <a:bodyPr/>
          <a:lstStyle/>
          <a:p>
            <a:r>
              <a:rPr lang="en-SG" dirty="0"/>
              <a:t>Type Checking at Runtime</a:t>
            </a:r>
          </a:p>
        </p:txBody>
      </p:sp>
      <p:sp>
        <p:nvSpPr>
          <p:cNvPr id="5" name="Rectangle 1">
            <a:extLst>
              <a:ext uri="{FF2B5EF4-FFF2-40B4-BE49-F238E27FC236}">
                <a16:creationId xmlns:a16="http://schemas.microsoft.com/office/drawing/2014/main" id="{89C48289-BF63-6779-7B35-23C6DA6B46AA}"/>
              </a:ext>
            </a:extLst>
          </p:cNvPr>
          <p:cNvSpPr txBox="1">
            <a:spLocks noChangeArrowheads="1"/>
          </p:cNvSpPr>
          <p:nvPr/>
        </p:nvSpPr>
        <p:spPr bwMode="auto">
          <a:xfrm>
            <a:off x="8953500" y="3170685"/>
            <a:ext cx="3073400" cy="138499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eaLnBrk="0" fontAlgn="base" hangingPunct="0">
              <a:spcBef>
                <a:spcPct val="0"/>
              </a:spcBef>
              <a:spcAft>
                <a:spcPct val="0"/>
              </a:spcAft>
              <a:buNone/>
            </a:pPr>
            <a:r>
              <a:rPr lang="en-US" altLang="en-US" sz="2800" dirty="0">
                <a:latin typeface="Arial" panose="020B0604020202020204" pitchFamily="34" charset="0"/>
              </a:rPr>
              <a:t>type(x)</a:t>
            </a:r>
          </a:p>
          <a:p>
            <a:pPr marL="0" indent="0" defTabSz="914400" eaLnBrk="0" fontAlgn="base" hangingPunct="0">
              <a:spcBef>
                <a:spcPct val="0"/>
              </a:spcBef>
              <a:spcAft>
                <a:spcPct val="0"/>
              </a:spcAft>
              <a:buNone/>
            </a:pPr>
            <a:r>
              <a:rPr lang="en-US" altLang="en-US" sz="2800" dirty="0" err="1">
                <a:latin typeface="Arial" panose="020B0604020202020204" pitchFamily="34" charset="0"/>
              </a:rPr>
              <a:t>isinstance</a:t>
            </a:r>
            <a:r>
              <a:rPr lang="en-US" altLang="en-US" sz="2800" dirty="0">
                <a:latin typeface="Arial" panose="020B0604020202020204" pitchFamily="34" charset="0"/>
              </a:rPr>
              <a:t>(x, int)</a:t>
            </a:r>
          </a:p>
          <a:p>
            <a:pPr marL="0" indent="0" defTabSz="914400" eaLnBrk="0" fontAlgn="base" hangingPunct="0">
              <a:spcBef>
                <a:spcPct val="0"/>
              </a:spcBef>
              <a:spcAft>
                <a:spcPct val="0"/>
              </a:spcAft>
              <a:buNone/>
            </a:pPr>
            <a:endParaRPr lang="en-US" altLang="en-US" sz="2800" dirty="0">
              <a:latin typeface="Arial" panose="020B0604020202020204" pitchFamily="34" charset="0"/>
            </a:endParaRPr>
          </a:p>
        </p:txBody>
      </p:sp>
      <p:sp>
        <p:nvSpPr>
          <p:cNvPr id="6" name="Rectangle 2">
            <a:extLst>
              <a:ext uri="{FF2B5EF4-FFF2-40B4-BE49-F238E27FC236}">
                <a16:creationId xmlns:a16="http://schemas.microsoft.com/office/drawing/2014/main" id="{948BB2EA-BDF3-D5B5-CBAF-DE98C4843344}"/>
              </a:ext>
            </a:extLst>
          </p:cNvPr>
          <p:cNvSpPr>
            <a:spLocks noGrp="1" noChangeArrowheads="1"/>
          </p:cNvSpPr>
          <p:nvPr>
            <p:ph idx="1"/>
          </p:nvPr>
        </p:nvSpPr>
        <p:spPr bwMode="auto">
          <a:xfrm>
            <a:off x="457200" y="3201462"/>
            <a:ext cx="8104526" cy="1323439"/>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Types are determined </a:t>
            </a:r>
            <a:r>
              <a:rPr kumimoji="0" lang="en-US" altLang="en-US" sz="2800" b="1" i="0" u="none" strike="noStrike" cap="none" normalizeH="0" baseline="0" dirty="0">
                <a:ln>
                  <a:noFill/>
                </a:ln>
                <a:solidFill>
                  <a:schemeClr val="tx1"/>
                </a:solidFill>
                <a:effectLst/>
                <a:latin typeface="Arial" panose="020B0604020202020204" pitchFamily="34" charset="0"/>
              </a:rPr>
              <a:t>when the program runs</a:t>
            </a:r>
          </a:p>
          <a:p>
            <a:pPr marL="0" indent="0" defTabSz="914400" eaLnBrk="0" fontAlgn="base" hangingPunct="0">
              <a:spcBef>
                <a:spcPct val="0"/>
              </a:spcBef>
              <a:spcAft>
                <a:spcPct val="0"/>
              </a:spcAft>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Use </a:t>
            </a:r>
            <a:r>
              <a:rPr kumimoji="0" lang="en-US" altLang="en-US" sz="2800" b="0" i="0" u="none" strike="noStrike" cap="none" normalizeH="0" baseline="0" dirty="0">
                <a:ln>
                  <a:noFill/>
                </a:ln>
                <a:solidFill>
                  <a:schemeClr val="tx1"/>
                </a:solidFill>
                <a:effectLst/>
                <a:latin typeface="Arial Unicode MS"/>
              </a:rPr>
              <a:t>type()</a:t>
            </a:r>
            <a:r>
              <a:rPr kumimoji="0" lang="en-US" altLang="en-US" sz="1800" b="0" i="0" u="none" strike="noStrike" cap="none" normalizeH="0" baseline="0" dirty="0">
                <a:ln>
                  <a:noFill/>
                </a:ln>
                <a:solidFill>
                  <a:schemeClr val="tx1"/>
                </a:solidFill>
                <a:effectLst/>
              </a:rPr>
              <a:t> </a:t>
            </a:r>
            <a:r>
              <a:rPr kumimoji="0" lang="en-US" altLang="en-US" sz="2800" b="0" i="0" u="none" strike="noStrike" cap="none" normalizeH="0" baseline="0" dirty="0">
                <a:ln>
                  <a:noFill/>
                </a:ln>
                <a:solidFill>
                  <a:schemeClr val="tx1"/>
                </a:solidFill>
                <a:effectLst/>
              </a:rPr>
              <a:t>and</a:t>
            </a:r>
            <a:r>
              <a:rPr kumimoji="0" lang="en-US" altLang="en-US" sz="1800" b="0" i="0" u="none" strike="noStrike" cap="none" normalizeH="0" baseline="0" dirty="0">
                <a:ln>
                  <a:noFill/>
                </a:ln>
                <a:solidFill>
                  <a:schemeClr val="tx1"/>
                </a:solidFill>
                <a:effectLst/>
              </a:rPr>
              <a:t> </a:t>
            </a:r>
            <a:r>
              <a:rPr kumimoji="0" lang="en-US" altLang="en-US" sz="2800" b="0" i="0" u="none" strike="noStrike" cap="none" normalizeH="0" baseline="0" dirty="0" err="1">
                <a:ln>
                  <a:noFill/>
                </a:ln>
                <a:solidFill>
                  <a:schemeClr val="tx1"/>
                </a:solidFill>
                <a:effectLst/>
                <a:latin typeface="Arial Unicode MS"/>
              </a:rPr>
              <a:t>isinstance</a:t>
            </a:r>
            <a:r>
              <a:rPr kumimoji="0" lang="en-US" altLang="en-US" sz="2800" b="0" i="0" u="none" strike="noStrike" cap="none" normalizeH="0" baseline="0" dirty="0">
                <a:ln>
                  <a:noFill/>
                </a:ln>
                <a:solidFill>
                  <a:schemeClr val="tx1"/>
                </a:solidFill>
                <a:effectLst/>
                <a:latin typeface="Arial Unicode MS"/>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59446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Built-in Types</a:t>
            </a:r>
          </a:p>
        </p:txBody>
      </p:sp>
      <p:sp>
        <p:nvSpPr>
          <p:cNvPr id="3" name="Content Placeholder 2"/>
          <p:cNvSpPr>
            <a:spLocks noGrp="1"/>
          </p:cNvSpPr>
          <p:nvPr>
            <p:ph idx="1"/>
          </p:nvPr>
        </p:nvSpPr>
        <p:spPr/>
        <p:txBody>
          <a:bodyPr/>
          <a:lstStyle/>
          <a:p>
            <a:r>
              <a:rPr lang="en-US" dirty="0"/>
              <a:t>Numbers: int, float, Decimal</a:t>
            </a:r>
          </a:p>
          <a:p>
            <a:r>
              <a:rPr lang="en-US" dirty="0"/>
              <a:t>Text: str</a:t>
            </a:r>
          </a:p>
          <a:p>
            <a:r>
              <a:rPr lang="en-US" dirty="0"/>
              <a:t>Logic: bool, None</a:t>
            </a:r>
          </a:p>
          <a:p>
            <a:r>
              <a:rPr lang="en-US" dirty="0"/>
              <a:t>Collections: list, tuple, </a:t>
            </a:r>
            <a:r>
              <a:rPr lang="en-US" dirty="0" err="1"/>
              <a:t>dict</a:t>
            </a:r>
            <a:r>
              <a:rPr lang="en-US" dirty="0"/>
              <a:t>, set</a:t>
            </a:r>
          </a:p>
          <a:p>
            <a:pPr marL="0" indent="0">
              <a:buNone/>
            </a:pPr>
            <a:r>
              <a:rPr lang="en-US" b="1" dirty="0"/>
              <a:t>Rule:</a:t>
            </a:r>
            <a:r>
              <a:rPr lang="en-US" dirty="0"/>
              <a:t> correct type → correct outcome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79561-E6F8-C063-8FF0-92A65C8E8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58441-08A2-3F32-68B9-7299751E0669}"/>
              </a:ext>
            </a:extLst>
          </p:cNvPr>
          <p:cNvSpPr>
            <a:spLocks noGrp="1"/>
          </p:cNvSpPr>
          <p:nvPr>
            <p:ph type="title"/>
          </p:nvPr>
        </p:nvSpPr>
        <p:spPr/>
        <p:txBody>
          <a:bodyPr>
            <a:normAutofit/>
          </a:bodyPr>
          <a:lstStyle/>
          <a:p>
            <a:r>
              <a:rPr lang="en-SG" dirty="0"/>
              <a:t>Reassignment and Object Identity</a:t>
            </a:r>
          </a:p>
        </p:txBody>
      </p:sp>
      <p:sp>
        <p:nvSpPr>
          <p:cNvPr id="5" name="Rectangle 1">
            <a:extLst>
              <a:ext uri="{FF2B5EF4-FFF2-40B4-BE49-F238E27FC236}">
                <a16:creationId xmlns:a16="http://schemas.microsoft.com/office/drawing/2014/main" id="{EA21959D-7CAE-C3DA-B60C-3C0CE852627D}"/>
              </a:ext>
            </a:extLst>
          </p:cNvPr>
          <p:cNvSpPr txBox="1">
            <a:spLocks noChangeArrowheads="1"/>
          </p:cNvSpPr>
          <p:nvPr/>
        </p:nvSpPr>
        <p:spPr bwMode="auto">
          <a:xfrm>
            <a:off x="6388100" y="1859153"/>
            <a:ext cx="5524500" cy="1569660"/>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x = 5</a:t>
            </a:r>
          </a:p>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x = x + 1</a:t>
            </a:r>
          </a:p>
          <a:p>
            <a:pPr marL="0" indent="0" defTabSz="914400" eaLnBrk="0" fontAlgn="base" hangingPunct="0">
              <a:spcBef>
                <a:spcPct val="0"/>
              </a:spcBef>
              <a:spcAft>
                <a:spcPct val="0"/>
              </a:spcAft>
              <a:buNone/>
            </a:pPr>
            <a:endParaRPr lang="en-US" altLang="en-US" sz="2400" dirty="0">
              <a:solidFill>
                <a:schemeClr val="tx1"/>
              </a:solidFill>
              <a:latin typeface="Arial" panose="020B0604020202020204" pitchFamily="34" charset="0"/>
            </a:endParaRPr>
          </a:p>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 new object, new reference</a:t>
            </a:r>
          </a:p>
        </p:txBody>
      </p:sp>
      <p:sp>
        <p:nvSpPr>
          <p:cNvPr id="3" name="Rectangle 1">
            <a:extLst>
              <a:ext uri="{FF2B5EF4-FFF2-40B4-BE49-F238E27FC236}">
                <a16:creationId xmlns:a16="http://schemas.microsoft.com/office/drawing/2014/main" id="{DAF6679A-CA38-33ED-5535-1F3F2B3459C5}"/>
              </a:ext>
            </a:extLst>
          </p:cNvPr>
          <p:cNvSpPr>
            <a:spLocks noGrp="1" noChangeArrowheads="1"/>
          </p:cNvSpPr>
          <p:nvPr>
            <p:ph idx="1"/>
          </p:nvPr>
        </p:nvSpPr>
        <p:spPr bwMode="auto">
          <a:xfrm>
            <a:off x="457200" y="1674487"/>
            <a:ext cx="5637212" cy="224676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Reassigning does </a:t>
            </a:r>
            <a:r>
              <a:rPr kumimoji="0" lang="en-US" altLang="en-US" sz="2800" b="1" i="0" u="none" strike="noStrike" cap="none" normalizeH="0" baseline="0" dirty="0">
                <a:ln>
                  <a:noFill/>
                </a:ln>
                <a:solidFill>
                  <a:schemeClr val="tx1"/>
                </a:solidFill>
                <a:effectLst/>
                <a:latin typeface="Arial" panose="020B0604020202020204" pitchFamily="34" charset="0"/>
              </a:rPr>
              <a:t>not modify the object</a:t>
            </a:r>
          </a:p>
          <a:p>
            <a:pPr defTabSz="914400"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It changes what the variable refers to</a:t>
            </a:r>
          </a:p>
        </p:txBody>
      </p:sp>
    </p:spTree>
    <p:extLst>
      <p:ext uri="{BB962C8B-B14F-4D97-AF65-F5344CB8AC3E}">
        <p14:creationId xmlns:p14="http://schemas.microsoft.com/office/powerpoint/2010/main" val="2437790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7B67E-C0BE-A92A-5F39-3BB0D833BB6D}"/>
              </a:ext>
            </a:extLst>
          </p:cNvPr>
          <p:cNvSpPr>
            <a:spLocks noGrp="1"/>
          </p:cNvSpPr>
          <p:nvPr>
            <p:ph type="title"/>
          </p:nvPr>
        </p:nvSpPr>
        <p:spPr/>
        <p:txBody>
          <a:bodyPr/>
          <a:lstStyle/>
          <a:p>
            <a:r>
              <a:rPr lang="en-US" dirty="0"/>
              <a:t>Python Numbers: Overview</a:t>
            </a:r>
            <a:endParaRPr lang="en-SG" dirty="0"/>
          </a:p>
        </p:txBody>
      </p:sp>
      <p:sp>
        <p:nvSpPr>
          <p:cNvPr id="3" name="Content Placeholder 2">
            <a:extLst>
              <a:ext uri="{FF2B5EF4-FFF2-40B4-BE49-F238E27FC236}">
                <a16:creationId xmlns:a16="http://schemas.microsoft.com/office/drawing/2014/main" id="{F2A281FF-0143-5195-BE93-671B3F2F37A1}"/>
              </a:ext>
            </a:extLst>
          </p:cNvPr>
          <p:cNvSpPr>
            <a:spLocks noGrp="1"/>
          </p:cNvSpPr>
          <p:nvPr>
            <p:ph idx="1"/>
          </p:nvPr>
        </p:nvSpPr>
        <p:spPr/>
        <p:txBody>
          <a:bodyPr>
            <a:normAutofit/>
          </a:bodyPr>
          <a:lstStyle/>
          <a:p>
            <a:r>
              <a:rPr lang="en-US" dirty="0"/>
              <a:t>Numbers represent numeric data in Python</a:t>
            </a:r>
          </a:p>
          <a:p>
            <a:r>
              <a:rPr lang="en-US" dirty="0"/>
              <a:t>Used for calculations, comparisons, and logic</a:t>
            </a:r>
          </a:p>
          <a:p>
            <a:r>
              <a:rPr lang="en-US" dirty="0"/>
              <a:t>Python supports multiple numeric types</a:t>
            </a:r>
            <a:endParaRPr lang="en-US" b="1" dirty="0"/>
          </a:p>
          <a:p>
            <a:r>
              <a:rPr lang="en-US" dirty="0"/>
              <a:t>Correct numeric type = correct results</a:t>
            </a:r>
          </a:p>
          <a:p>
            <a:r>
              <a:rPr lang="en-US" dirty="0"/>
              <a:t>Avoids precision and logic bugs</a:t>
            </a:r>
          </a:p>
          <a:p>
            <a:endParaRPr lang="en-SG" dirty="0"/>
          </a:p>
        </p:txBody>
      </p:sp>
    </p:spTree>
    <p:extLst>
      <p:ext uri="{BB962C8B-B14F-4D97-AF65-F5344CB8AC3E}">
        <p14:creationId xmlns:p14="http://schemas.microsoft.com/office/powerpoint/2010/main" val="3970567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86CEC-1CDA-70C6-F3D3-F6411FEA06A7}"/>
              </a:ext>
            </a:extLst>
          </p:cNvPr>
          <p:cNvSpPr>
            <a:spLocks noGrp="1"/>
          </p:cNvSpPr>
          <p:nvPr>
            <p:ph type="title"/>
          </p:nvPr>
        </p:nvSpPr>
        <p:spPr/>
        <p:txBody>
          <a:bodyPr/>
          <a:lstStyle/>
          <a:p>
            <a:r>
              <a:rPr lang="en-US" dirty="0"/>
              <a:t>Numeric Types in Python</a:t>
            </a:r>
            <a:endParaRPr lang="en-SG" dirty="0"/>
          </a:p>
        </p:txBody>
      </p:sp>
      <p:sp>
        <p:nvSpPr>
          <p:cNvPr id="3" name="Content Placeholder 2">
            <a:extLst>
              <a:ext uri="{FF2B5EF4-FFF2-40B4-BE49-F238E27FC236}">
                <a16:creationId xmlns:a16="http://schemas.microsoft.com/office/drawing/2014/main" id="{63C43032-EB3B-5F48-A314-0A486E916D17}"/>
              </a:ext>
            </a:extLst>
          </p:cNvPr>
          <p:cNvSpPr>
            <a:spLocks noGrp="1"/>
          </p:cNvSpPr>
          <p:nvPr>
            <p:ph idx="1"/>
          </p:nvPr>
        </p:nvSpPr>
        <p:spPr/>
        <p:txBody>
          <a:bodyPr/>
          <a:lstStyle/>
          <a:p>
            <a:r>
              <a:rPr lang="en-US" dirty="0"/>
              <a:t>int – whole numbers</a:t>
            </a:r>
          </a:p>
          <a:p>
            <a:pPr lvl="1"/>
            <a:r>
              <a:rPr lang="en-US" dirty="0"/>
              <a:t>Examples: 0, -42, 1_000_000</a:t>
            </a:r>
          </a:p>
          <a:p>
            <a:endParaRPr lang="en-US" dirty="0"/>
          </a:p>
          <a:p>
            <a:r>
              <a:rPr lang="en-US" dirty="0"/>
              <a:t>float – decimal numbers</a:t>
            </a:r>
          </a:p>
          <a:p>
            <a:pPr lvl="1"/>
            <a:r>
              <a:rPr lang="en-US" dirty="0"/>
              <a:t>Examples: 3.14, 0.5, 6.02e23</a:t>
            </a:r>
          </a:p>
          <a:p>
            <a:endParaRPr lang="en-US" dirty="0"/>
          </a:p>
          <a:p>
            <a:r>
              <a:rPr lang="en-US" dirty="0"/>
              <a:t>complex – real + imaginary</a:t>
            </a:r>
          </a:p>
          <a:p>
            <a:pPr lvl="1"/>
            <a:r>
              <a:rPr lang="en-US" dirty="0"/>
              <a:t>Example: 3 + 4j</a:t>
            </a:r>
          </a:p>
          <a:p>
            <a:endParaRPr lang="en-SG" dirty="0"/>
          </a:p>
        </p:txBody>
      </p:sp>
    </p:spTree>
    <p:extLst>
      <p:ext uri="{BB962C8B-B14F-4D97-AF65-F5344CB8AC3E}">
        <p14:creationId xmlns:p14="http://schemas.microsoft.com/office/powerpoint/2010/main" val="271436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8D996-FA41-FB72-3484-65ED2FC652F6}"/>
              </a:ext>
            </a:extLst>
          </p:cNvPr>
          <p:cNvSpPr>
            <a:spLocks noGrp="1"/>
          </p:cNvSpPr>
          <p:nvPr>
            <p:ph type="title"/>
          </p:nvPr>
        </p:nvSpPr>
        <p:spPr/>
        <p:txBody>
          <a:bodyPr>
            <a:normAutofit/>
          </a:bodyPr>
          <a:lstStyle/>
          <a:p>
            <a:r>
              <a:rPr lang="en-US" dirty="0"/>
              <a:t>Numbers &amp; Business Impact</a:t>
            </a:r>
            <a:endParaRPr lang="en-SG" dirty="0"/>
          </a:p>
        </p:txBody>
      </p:sp>
      <p:sp>
        <p:nvSpPr>
          <p:cNvPr id="3" name="Content Placeholder 2">
            <a:extLst>
              <a:ext uri="{FF2B5EF4-FFF2-40B4-BE49-F238E27FC236}">
                <a16:creationId xmlns:a16="http://schemas.microsoft.com/office/drawing/2014/main" id="{87870E60-2C51-4F7C-2A36-EADE8B5AE1D1}"/>
              </a:ext>
            </a:extLst>
          </p:cNvPr>
          <p:cNvSpPr>
            <a:spLocks noGrp="1"/>
          </p:cNvSpPr>
          <p:nvPr>
            <p:ph idx="1"/>
          </p:nvPr>
        </p:nvSpPr>
        <p:spPr/>
        <p:txBody>
          <a:bodyPr/>
          <a:lstStyle/>
          <a:p>
            <a:r>
              <a:rPr lang="en-US" dirty="0"/>
              <a:t>int: counts, IDs, indexes</a:t>
            </a:r>
          </a:p>
          <a:p>
            <a:r>
              <a:rPr lang="en-US" dirty="0"/>
              <a:t>float: scientific values (⚠ precision)</a:t>
            </a:r>
          </a:p>
          <a:p>
            <a:r>
              <a:rPr lang="en-US" dirty="0"/>
              <a:t>Decimal: </a:t>
            </a:r>
            <a:r>
              <a:rPr lang="en-US" b="1" dirty="0"/>
              <a:t>money and finance</a:t>
            </a:r>
            <a:endParaRPr lang="en-US" dirty="0"/>
          </a:p>
          <a:p>
            <a:r>
              <a:rPr lang="en-US" b="1" dirty="0"/>
              <a:t>Never</a:t>
            </a:r>
            <a:r>
              <a:rPr lang="en-US" dirty="0"/>
              <a:t> use float for currency</a:t>
            </a:r>
          </a:p>
          <a:p>
            <a:endParaRPr lang="en-SG" dirty="0"/>
          </a:p>
        </p:txBody>
      </p:sp>
    </p:spTree>
    <p:extLst>
      <p:ext uri="{BB962C8B-B14F-4D97-AF65-F5344CB8AC3E}">
        <p14:creationId xmlns:p14="http://schemas.microsoft.com/office/powerpoint/2010/main" val="2846941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CFE33-D55D-103B-65B1-9BCCEA079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7C124-CEC1-AE62-849B-F209150D01F9}"/>
              </a:ext>
            </a:extLst>
          </p:cNvPr>
          <p:cNvSpPr>
            <a:spLocks noGrp="1"/>
          </p:cNvSpPr>
          <p:nvPr>
            <p:ph type="title"/>
          </p:nvPr>
        </p:nvSpPr>
        <p:spPr/>
        <p:txBody>
          <a:bodyPr>
            <a:normAutofit/>
          </a:bodyPr>
          <a:lstStyle/>
          <a:p>
            <a:r>
              <a:rPr lang="en-US" dirty="0"/>
              <a:t>Integers (int)</a:t>
            </a:r>
          </a:p>
        </p:txBody>
      </p:sp>
      <p:sp>
        <p:nvSpPr>
          <p:cNvPr id="3" name="Content Placeholder 2">
            <a:extLst>
              <a:ext uri="{FF2B5EF4-FFF2-40B4-BE49-F238E27FC236}">
                <a16:creationId xmlns:a16="http://schemas.microsoft.com/office/drawing/2014/main" id="{4034A20B-BC26-5CB2-D78A-CC992985B34D}"/>
              </a:ext>
            </a:extLst>
          </p:cNvPr>
          <p:cNvSpPr>
            <a:spLocks noGrp="1"/>
          </p:cNvSpPr>
          <p:nvPr>
            <p:ph idx="1"/>
          </p:nvPr>
        </p:nvSpPr>
        <p:spPr>
          <a:xfrm>
            <a:off x="457200" y="1600200"/>
            <a:ext cx="35687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pt-BR" dirty="0"/>
              <a:t>a = 10</a:t>
            </a:r>
          </a:p>
          <a:p>
            <a:pPr marL="0" indent="0">
              <a:buNone/>
            </a:pPr>
            <a:r>
              <a:rPr lang="pt-BR" dirty="0"/>
              <a:t>b = -5</a:t>
            </a:r>
          </a:p>
          <a:p>
            <a:pPr marL="0" indent="0">
              <a:buNone/>
            </a:pPr>
            <a:r>
              <a:rPr lang="pt-BR" dirty="0"/>
              <a:t>c = 1_000_000</a:t>
            </a:r>
          </a:p>
        </p:txBody>
      </p:sp>
      <p:sp>
        <p:nvSpPr>
          <p:cNvPr id="4" name="Content Placeholder 2">
            <a:extLst>
              <a:ext uri="{FF2B5EF4-FFF2-40B4-BE49-F238E27FC236}">
                <a16:creationId xmlns:a16="http://schemas.microsoft.com/office/drawing/2014/main" id="{4B873657-F492-BE3F-F148-A3DFF8A4B192}"/>
              </a:ext>
            </a:extLst>
          </p:cNvPr>
          <p:cNvSpPr txBox="1">
            <a:spLocks/>
          </p:cNvSpPr>
          <p:nvPr/>
        </p:nvSpPr>
        <p:spPr>
          <a:xfrm>
            <a:off x="4648200" y="1587500"/>
            <a:ext cx="66929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sz="2800" dirty="0"/>
              <a:t>Whole numbers only</a:t>
            </a:r>
          </a:p>
          <a:p>
            <a:r>
              <a:rPr lang="en-US" sz="2800" dirty="0"/>
              <a:t>Arbitrary precision</a:t>
            </a:r>
          </a:p>
          <a:p>
            <a:r>
              <a:rPr lang="en-US" sz="2800" dirty="0"/>
              <a:t>Commonly used for counts, indexes, IDs</a:t>
            </a:r>
          </a:p>
        </p:txBody>
      </p:sp>
    </p:spTree>
    <p:extLst>
      <p:ext uri="{BB962C8B-B14F-4D97-AF65-F5344CB8AC3E}">
        <p14:creationId xmlns:p14="http://schemas.microsoft.com/office/powerpoint/2010/main" val="1516900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93B04-4A3E-95DF-F903-C13F1E2E9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6D2DE-7265-4C8B-218D-10EBF9B98D49}"/>
              </a:ext>
            </a:extLst>
          </p:cNvPr>
          <p:cNvSpPr>
            <a:spLocks noGrp="1"/>
          </p:cNvSpPr>
          <p:nvPr>
            <p:ph type="title"/>
          </p:nvPr>
        </p:nvSpPr>
        <p:spPr/>
        <p:txBody>
          <a:bodyPr>
            <a:normAutofit/>
          </a:bodyPr>
          <a:lstStyle/>
          <a:p>
            <a:r>
              <a:rPr lang="en-US" dirty="0"/>
              <a:t>Floating-Point Numbers (float)</a:t>
            </a:r>
          </a:p>
        </p:txBody>
      </p:sp>
      <p:sp>
        <p:nvSpPr>
          <p:cNvPr id="3" name="Content Placeholder 2">
            <a:extLst>
              <a:ext uri="{FF2B5EF4-FFF2-40B4-BE49-F238E27FC236}">
                <a16:creationId xmlns:a16="http://schemas.microsoft.com/office/drawing/2014/main" id="{985FC629-98E7-4AB4-17D6-0F6025A0A3E7}"/>
              </a:ext>
            </a:extLst>
          </p:cNvPr>
          <p:cNvSpPr>
            <a:spLocks noGrp="1"/>
          </p:cNvSpPr>
          <p:nvPr>
            <p:ph idx="1"/>
          </p:nvPr>
        </p:nvSpPr>
        <p:spPr>
          <a:xfrm>
            <a:off x="457200" y="1600200"/>
            <a:ext cx="51689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price = 19.99</a:t>
            </a:r>
          </a:p>
          <a:p>
            <a:pPr marL="0" indent="0">
              <a:buNone/>
            </a:pPr>
            <a:endParaRPr lang="en-US" dirty="0"/>
          </a:p>
          <a:p>
            <a:pPr marL="0" indent="0">
              <a:buNone/>
            </a:pPr>
            <a:r>
              <a:rPr lang="en-US" dirty="0"/>
              <a:t># 0.30000000000000004</a:t>
            </a:r>
          </a:p>
          <a:p>
            <a:pPr marL="0" indent="0">
              <a:buNone/>
            </a:pPr>
            <a:r>
              <a:rPr lang="en-US" dirty="0"/>
              <a:t>ratio = 0.1 + 0.2   </a:t>
            </a:r>
          </a:p>
          <a:p>
            <a:pPr marL="0" indent="0">
              <a:buNone/>
            </a:pPr>
            <a:endParaRPr lang="en-US" dirty="0"/>
          </a:p>
        </p:txBody>
      </p:sp>
      <p:sp>
        <p:nvSpPr>
          <p:cNvPr id="4" name="Content Placeholder 2">
            <a:extLst>
              <a:ext uri="{FF2B5EF4-FFF2-40B4-BE49-F238E27FC236}">
                <a16:creationId xmlns:a16="http://schemas.microsoft.com/office/drawing/2014/main" id="{B680B099-452E-63CF-59F8-5283C09EDEA0}"/>
              </a:ext>
            </a:extLst>
          </p:cNvPr>
          <p:cNvSpPr txBox="1">
            <a:spLocks/>
          </p:cNvSpPr>
          <p:nvPr/>
        </p:nvSpPr>
        <p:spPr>
          <a:xfrm>
            <a:off x="5867400" y="1587500"/>
            <a:ext cx="54737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sz="2800" dirty="0"/>
              <a:t>Represent decimal values</a:t>
            </a:r>
          </a:p>
          <a:p>
            <a:r>
              <a:rPr lang="en-US" sz="2800" dirty="0"/>
              <a:t>Stored using binary floating-point</a:t>
            </a:r>
          </a:p>
          <a:p>
            <a:r>
              <a:rPr lang="en-US" sz="2800" dirty="0"/>
              <a:t>May introduce rounding errors</a:t>
            </a:r>
          </a:p>
        </p:txBody>
      </p:sp>
    </p:spTree>
    <p:extLst>
      <p:ext uri="{BB962C8B-B14F-4D97-AF65-F5344CB8AC3E}">
        <p14:creationId xmlns:p14="http://schemas.microsoft.com/office/powerpoint/2010/main" val="983726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8E96F-9D53-5220-0CA9-B0C0E5ECB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D9F38-9240-547F-38A9-02A6CB08DA61}"/>
              </a:ext>
            </a:extLst>
          </p:cNvPr>
          <p:cNvSpPr>
            <a:spLocks noGrp="1"/>
          </p:cNvSpPr>
          <p:nvPr>
            <p:ph type="title"/>
          </p:nvPr>
        </p:nvSpPr>
        <p:spPr/>
        <p:txBody>
          <a:bodyPr>
            <a:normAutofit/>
          </a:bodyPr>
          <a:lstStyle/>
          <a:p>
            <a:r>
              <a:rPr lang="en-US" dirty="0"/>
              <a:t>Decimal for Precision</a:t>
            </a:r>
          </a:p>
        </p:txBody>
      </p:sp>
      <p:sp>
        <p:nvSpPr>
          <p:cNvPr id="3" name="Content Placeholder 2">
            <a:extLst>
              <a:ext uri="{FF2B5EF4-FFF2-40B4-BE49-F238E27FC236}">
                <a16:creationId xmlns:a16="http://schemas.microsoft.com/office/drawing/2014/main" id="{F6AD3492-C1B7-0279-55FE-3401BAAED6A9}"/>
              </a:ext>
            </a:extLst>
          </p:cNvPr>
          <p:cNvSpPr>
            <a:spLocks noGrp="1"/>
          </p:cNvSpPr>
          <p:nvPr>
            <p:ph idx="1"/>
          </p:nvPr>
        </p:nvSpPr>
        <p:spPr>
          <a:xfrm>
            <a:off x="457200" y="1600200"/>
            <a:ext cx="51689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b="1" dirty="0"/>
              <a:t>from decimal import Decimal</a:t>
            </a:r>
          </a:p>
          <a:p>
            <a:pPr marL="0" indent="0">
              <a:buNone/>
            </a:pPr>
            <a:endParaRPr lang="en-US" dirty="0"/>
          </a:p>
          <a:p>
            <a:pPr marL="0" indent="0">
              <a:buNone/>
            </a:pPr>
            <a:r>
              <a:rPr lang="en-US" dirty="0"/>
              <a:t>price = Decimal("19.99")</a:t>
            </a:r>
          </a:p>
          <a:p>
            <a:pPr marL="0" indent="0">
              <a:buNone/>
            </a:pPr>
            <a:r>
              <a:rPr lang="en-US" dirty="0"/>
              <a:t>tax = price * Decimal("0.07")</a:t>
            </a:r>
          </a:p>
        </p:txBody>
      </p:sp>
      <p:sp>
        <p:nvSpPr>
          <p:cNvPr id="4" name="Content Placeholder 2">
            <a:extLst>
              <a:ext uri="{FF2B5EF4-FFF2-40B4-BE49-F238E27FC236}">
                <a16:creationId xmlns:a16="http://schemas.microsoft.com/office/drawing/2014/main" id="{D6BFA9CB-337B-97A1-64A9-15D43CFDCB29}"/>
              </a:ext>
            </a:extLst>
          </p:cNvPr>
          <p:cNvSpPr txBox="1">
            <a:spLocks/>
          </p:cNvSpPr>
          <p:nvPr/>
        </p:nvSpPr>
        <p:spPr>
          <a:xfrm>
            <a:off x="5867400" y="1587500"/>
            <a:ext cx="54737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sz="2800" dirty="0"/>
              <a:t>Financial calculations</a:t>
            </a:r>
          </a:p>
          <a:p>
            <a:r>
              <a:rPr lang="en-US" sz="2800" dirty="0"/>
              <a:t>Exact decimal precision required</a:t>
            </a:r>
          </a:p>
        </p:txBody>
      </p:sp>
    </p:spTree>
    <p:extLst>
      <p:ext uri="{BB962C8B-B14F-4D97-AF65-F5344CB8AC3E}">
        <p14:creationId xmlns:p14="http://schemas.microsoft.com/office/powerpoint/2010/main" val="1215316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7A398-EDB8-2346-AC5D-EAFC1D8F77BE}"/>
              </a:ext>
            </a:extLst>
          </p:cNvPr>
          <p:cNvSpPr>
            <a:spLocks noGrp="1"/>
          </p:cNvSpPr>
          <p:nvPr>
            <p:ph type="title"/>
          </p:nvPr>
        </p:nvSpPr>
        <p:spPr/>
        <p:txBody>
          <a:bodyPr/>
          <a:lstStyle/>
          <a:p>
            <a:r>
              <a:rPr lang="en-SG" dirty="0"/>
              <a:t>Arithmetic Operators</a:t>
            </a:r>
          </a:p>
        </p:txBody>
      </p:sp>
      <p:graphicFrame>
        <p:nvGraphicFramePr>
          <p:cNvPr id="4" name="Table 3">
            <a:extLst>
              <a:ext uri="{FF2B5EF4-FFF2-40B4-BE49-F238E27FC236}">
                <a16:creationId xmlns:a16="http://schemas.microsoft.com/office/drawing/2014/main" id="{04842946-80E1-2E7D-5D8A-D46DE3DF8787}"/>
              </a:ext>
            </a:extLst>
          </p:cNvPr>
          <p:cNvGraphicFramePr>
            <a:graphicFrameLocks noGrp="1"/>
          </p:cNvGraphicFramePr>
          <p:nvPr>
            <p:extLst>
              <p:ext uri="{D42A27DB-BD31-4B8C-83A1-F6EECF244321}">
                <p14:modId xmlns:p14="http://schemas.microsoft.com/office/powerpoint/2010/main" val="2988513176"/>
              </p:ext>
            </p:extLst>
          </p:nvPr>
        </p:nvGraphicFramePr>
        <p:xfrm>
          <a:off x="1725612" y="1561941"/>
          <a:ext cx="8229600" cy="4632960"/>
        </p:xfrm>
        <a:graphic>
          <a:graphicData uri="http://schemas.openxmlformats.org/drawingml/2006/table">
            <a:tbl>
              <a:tblPr/>
              <a:tblGrid>
                <a:gridCol w="4114800">
                  <a:extLst>
                    <a:ext uri="{9D8B030D-6E8A-4147-A177-3AD203B41FA5}">
                      <a16:colId xmlns:a16="http://schemas.microsoft.com/office/drawing/2014/main" val="4190395564"/>
                    </a:ext>
                  </a:extLst>
                </a:gridCol>
                <a:gridCol w="4114800">
                  <a:extLst>
                    <a:ext uri="{9D8B030D-6E8A-4147-A177-3AD203B41FA5}">
                      <a16:colId xmlns:a16="http://schemas.microsoft.com/office/drawing/2014/main" val="2544141463"/>
                    </a:ext>
                  </a:extLst>
                </a:gridCol>
              </a:tblGrid>
              <a:tr h="0">
                <a:tc>
                  <a:txBody>
                    <a:bodyPr/>
                    <a:lstStyle/>
                    <a:p>
                      <a:pPr>
                        <a:buNone/>
                      </a:pPr>
                      <a:r>
                        <a:rPr lang="en-SG" sz="3200" b="1" dirty="0"/>
                        <a:t>Operator</a:t>
                      </a:r>
                    </a:p>
                  </a:txBody>
                  <a:tcPr anchor="ctr">
                    <a:lnL>
                      <a:noFill/>
                    </a:lnL>
                    <a:lnR>
                      <a:noFill/>
                    </a:lnR>
                    <a:lnT>
                      <a:noFill/>
                    </a:lnT>
                    <a:lnB>
                      <a:noFill/>
                    </a:lnB>
                    <a:noFill/>
                  </a:tcPr>
                </a:tc>
                <a:tc>
                  <a:txBody>
                    <a:bodyPr/>
                    <a:lstStyle/>
                    <a:p>
                      <a:pPr>
                        <a:buNone/>
                      </a:pPr>
                      <a:r>
                        <a:rPr lang="en-SG" sz="3200" b="1" dirty="0"/>
                        <a:t>Meaning</a:t>
                      </a:r>
                    </a:p>
                  </a:txBody>
                  <a:tcPr anchor="ctr">
                    <a:lnL>
                      <a:noFill/>
                    </a:lnL>
                    <a:lnR>
                      <a:noFill/>
                    </a:lnR>
                    <a:lnT>
                      <a:noFill/>
                    </a:lnT>
                    <a:lnB>
                      <a:noFill/>
                    </a:lnB>
                    <a:noFill/>
                  </a:tcPr>
                </a:tc>
                <a:extLst>
                  <a:ext uri="{0D108BD9-81ED-4DB2-BD59-A6C34878D82A}">
                    <a16:rowId xmlns:a16="http://schemas.microsoft.com/office/drawing/2014/main" val="2521506097"/>
                  </a:ext>
                </a:extLst>
              </a:tr>
              <a:tr h="0">
                <a:tc>
                  <a:txBody>
                    <a:bodyPr/>
                    <a:lstStyle/>
                    <a:p>
                      <a:pPr>
                        <a:buNone/>
                      </a:pPr>
                      <a:r>
                        <a:rPr lang="en-SG" sz="3200">
                          <a:latin typeface="Courier New" panose="02070309020205020404" pitchFamily="49" charset="0"/>
                        </a:rPr>
                        <a:t>+</a:t>
                      </a:r>
                      <a:endParaRPr lang="en-SG" sz="3200"/>
                    </a:p>
                  </a:txBody>
                  <a:tcPr anchor="ctr">
                    <a:lnL>
                      <a:noFill/>
                    </a:lnL>
                    <a:lnR>
                      <a:noFill/>
                    </a:lnR>
                    <a:lnT>
                      <a:noFill/>
                    </a:lnT>
                    <a:lnB>
                      <a:noFill/>
                    </a:lnB>
                    <a:noFill/>
                  </a:tcPr>
                </a:tc>
                <a:tc>
                  <a:txBody>
                    <a:bodyPr/>
                    <a:lstStyle/>
                    <a:p>
                      <a:pPr>
                        <a:buNone/>
                      </a:pPr>
                      <a:r>
                        <a:rPr lang="en-SG" sz="3200"/>
                        <a:t>Addition</a:t>
                      </a:r>
                    </a:p>
                  </a:txBody>
                  <a:tcPr anchor="ctr">
                    <a:lnL>
                      <a:noFill/>
                    </a:lnL>
                    <a:lnR>
                      <a:noFill/>
                    </a:lnR>
                    <a:lnT>
                      <a:noFill/>
                    </a:lnT>
                    <a:lnB>
                      <a:noFill/>
                    </a:lnB>
                    <a:noFill/>
                  </a:tcPr>
                </a:tc>
                <a:extLst>
                  <a:ext uri="{0D108BD9-81ED-4DB2-BD59-A6C34878D82A}">
                    <a16:rowId xmlns:a16="http://schemas.microsoft.com/office/drawing/2014/main" val="2610393482"/>
                  </a:ext>
                </a:extLst>
              </a:tr>
              <a:tr h="0">
                <a:tc>
                  <a:txBody>
                    <a:bodyPr/>
                    <a:lstStyle/>
                    <a:p>
                      <a:pPr>
                        <a:buNone/>
                      </a:pPr>
                      <a:r>
                        <a:rPr lang="en-SG" sz="3200">
                          <a:latin typeface="Courier New" panose="02070309020205020404" pitchFamily="49" charset="0"/>
                        </a:rPr>
                        <a:t>-</a:t>
                      </a:r>
                      <a:endParaRPr lang="en-SG" sz="3200"/>
                    </a:p>
                  </a:txBody>
                  <a:tcPr anchor="ctr">
                    <a:lnL>
                      <a:noFill/>
                    </a:lnL>
                    <a:lnR>
                      <a:noFill/>
                    </a:lnR>
                    <a:lnT>
                      <a:noFill/>
                    </a:lnT>
                    <a:lnB>
                      <a:noFill/>
                    </a:lnB>
                    <a:noFill/>
                  </a:tcPr>
                </a:tc>
                <a:tc>
                  <a:txBody>
                    <a:bodyPr/>
                    <a:lstStyle/>
                    <a:p>
                      <a:pPr>
                        <a:buNone/>
                      </a:pPr>
                      <a:r>
                        <a:rPr lang="en-SG" sz="3200"/>
                        <a:t>Subtraction</a:t>
                      </a:r>
                    </a:p>
                  </a:txBody>
                  <a:tcPr anchor="ctr">
                    <a:lnL>
                      <a:noFill/>
                    </a:lnL>
                    <a:lnR>
                      <a:noFill/>
                    </a:lnR>
                    <a:lnT>
                      <a:noFill/>
                    </a:lnT>
                    <a:lnB>
                      <a:noFill/>
                    </a:lnB>
                    <a:noFill/>
                  </a:tcPr>
                </a:tc>
                <a:extLst>
                  <a:ext uri="{0D108BD9-81ED-4DB2-BD59-A6C34878D82A}">
                    <a16:rowId xmlns:a16="http://schemas.microsoft.com/office/drawing/2014/main" val="2603205561"/>
                  </a:ext>
                </a:extLst>
              </a:tr>
              <a:tr h="0">
                <a:tc>
                  <a:txBody>
                    <a:bodyPr/>
                    <a:lstStyle/>
                    <a:p>
                      <a:pPr>
                        <a:buNone/>
                      </a:pPr>
                      <a:r>
                        <a:rPr lang="en-SG" sz="3200">
                          <a:latin typeface="Courier New" panose="02070309020205020404" pitchFamily="49" charset="0"/>
                        </a:rPr>
                        <a:t>*</a:t>
                      </a:r>
                      <a:endParaRPr lang="en-SG" sz="3200"/>
                    </a:p>
                  </a:txBody>
                  <a:tcPr anchor="ctr">
                    <a:lnL>
                      <a:noFill/>
                    </a:lnL>
                    <a:lnR>
                      <a:noFill/>
                    </a:lnR>
                    <a:lnT>
                      <a:noFill/>
                    </a:lnT>
                    <a:lnB>
                      <a:noFill/>
                    </a:lnB>
                    <a:noFill/>
                  </a:tcPr>
                </a:tc>
                <a:tc>
                  <a:txBody>
                    <a:bodyPr/>
                    <a:lstStyle/>
                    <a:p>
                      <a:pPr>
                        <a:buNone/>
                      </a:pPr>
                      <a:r>
                        <a:rPr lang="en-SG" sz="3200"/>
                        <a:t>Multiplication</a:t>
                      </a:r>
                    </a:p>
                  </a:txBody>
                  <a:tcPr anchor="ctr">
                    <a:lnL>
                      <a:noFill/>
                    </a:lnL>
                    <a:lnR>
                      <a:noFill/>
                    </a:lnR>
                    <a:lnT>
                      <a:noFill/>
                    </a:lnT>
                    <a:lnB>
                      <a:noFill/>
                    </a:lnB>
                    <a:noFill/>
                  </a:tcPr>
                </a:tc>
                <a:extLst>
                  <a:ext uri="{0D108BD9-81ED-4DB2-BD59-A6C34878D82A}">
                    <a16:rowId xmlns:a16="http://schemas.microsoft.com/office/drawing/2014/main" val="2354695756"/>
                  </a:ext>
                </a:extLst>
              </a:tr>
              <a:tr h="0">
                <a:tc>
                  <a:txBody>
                    <a:bodyPr/>
                    <a:lstStyle/>
                    <a:p>
                      <a:pPr>
                        <a:buNone/>
                      </a:pPr>
                      <a:r>
                        <a:rPr lang="en-SG" sz="3200">
                          <a:latin typeface="Courier New" panose="02070309020205020404" pitchFamily="49" charset="0"/>
                        </a:rPr>
                        <a:t>/</a:t>
                      </a:r>
                      <a:endParaRPr lang="en-SG" sz="3200"/>
                    </a:p>
                  </a:txBody>
                  <a:tcPr anchor="ctr">
                    <a:lnL>
                      <a:noFill/>
                    </a:lnL>
                    <a:lnR>
                      <a:noFill/>
                    </a:lnR>
                    <a:lnT>
                      <a:noFill/>
                    </a:lnT>
                    <a:lnB>
                      <a:noFill/>
                    </a:lnB>
                    <a:noFill/>
                  </a:tcPr>
                </a:tc>
                <a:tc>
                  <a:txBody>
                    <a:bodyPr/>
                    <a:lstStyle/>
                    <a:p>
                      <a:pPr>
                        <a:buNone/>
                      </a:pPr>
                      <a:r>
                        <a:rPr lang="en-SG" sz="3200"/>
                        <a:t>True division</a:t>
                      </a:r>
                    </a:p>
                  </a:txBody>
                  <a:tcPr anchor="ctr">
                    <a:lnL>
                      <a:noFill/>
                    </a:lnL>
                    <a:lnR>
                      <a:noFill/>
                    </a:lnR>
                    <a:lnT>
                      <a:noFill/>
                    </a:lnT>
                    <a:lnB>
                      <a:noFill/>
                    </a:lnB>
                    <a:noFill/>
                  </a:tcPr>
                </a:tc>
                <a:extLst>
                  <a:ext uri="{0D108BD9-81ED-4DB2-BD59-A6C34878D82A}">
                    <a16:rowId xmlns:a16="http://schemas.microsoft.com/office/drawing/2014/main" val="3893318786"/>
                  </a:ext>
                </a:extLst>
              </a:tr>
              <a:tr h="0">
                <a:tc>
                  <a:txBody>
                    <a:bodyPr/>
                    <a:lstStyle/>
                    <a:p>
                      <a:pPr>
                        <a:buNone/>
                      </a:pPr>
                      <a:r>
                        <a:rPr lang="en-SG" sz="3200">
                          <a:latin typeface="Courier New" panose="02070309020205020404" pitchFamily="49" charset="0"/>
                        </a:rPr>
                        <a:t>//</a:t>
                      </a:r>
                      <a:endParaRPr lang="en-SG" sz="3200"/>
                    </a:p>
                  </a:txBody>
                  <a:tcPr anchor="ctr">
                    <a:lnL>
                      <a:noFill/>
                    </a:lnL>
                    <a:lnR>
                      <a:noFill/>
                    </a:lnR>
                    <a:lnT>
                      <a:noFill/>
                    </a:lnT>
                    <a:lnB>
                      <a:noFill/>
                    </a:lnB>
                    <a:noFill/>
                  </a:tcPr>
                </a:tc>
                <a:tc>
                  <a:txBody>
                    <a:bodyPr/>
                    <a:lstStyle/>
                    <a:p>
                      <a:pPr>
                        <a:buNone/>
                      </a:pPr>
                      <a:r>
                        <a:rPr lang="en-SG" sz="3200"/>
                        <a:t>Floor division</a:t>
                      </a:r>
                    </a:p>
                  </a:txBody>
                  <a:tcPr anchor="ctr">
                    <a:lnL>
                      <a:noFill/>
                    </a:lnL>
                    <a:lnR>
                      <a:noFill/>
                    </a:lnR>
                    <a:lnT>
                      <a:noFill/>
                    </a:lnT>
                    <a:lnB>
                      <a:noFill/>
                    </a:lnB>
                    <a:noFill/>
                  </a:tcPr>
                </a:tc>
                <a:extLst>
                  <a:ext uri="{0D108BD9-81ED-4DB2-BD59-A6C34878D82A}">
                    <a16:rowId xmlns:a16="http://schemas.microsoft.com/office/drawing/2014/main" val="3744205803"/>
                  </a:ext>
                </a:extLst>
              </a:tr>
              <a:tr h="0">
                <a:tc>
                  <a:txBody>
                    <a:bodyPr/>
                    <a:lstStyle/>
                    <a:p>
                      <a:pPr>
                        <a:buNone/>
                      </a:pPr>
                      <a:r>
                        <a:rPr lang="en-SG" sz="3200">
                          <a:latin typeface="Courier New" panose="02070309020205020404" pitchFamily="49" charset="0"/>
                        </a:rPr>
                        <a:t>%</a:t>
                      </a:r>
                      <a:endParaRPr lang="en-SG" sz="3200"/>
                    </a:p>
                  </a:txBody>
                  <a:tcPr anchor="ctr">
                    <a:lnL>
                      <a:noFill/>
                    </a:lnL>
                    <a:lnR>
                      <a:noFill/>
                    </a:lnR>
                    <a:lnT>
                      <a:noFill/>
                    </a:lnT>
                    <a:lnB>
                      <a:noFill/>
                    </a:lnB>
                    <a:noFill/>
                  </a:tcPr>
                </a:tc>
                <a:tc>
                  <a:txBody>
                    <a:bodyPr/>
                    <a:lstStyle/>
                    <a:p>
                      <a:pPr>
                        <a:buNone/>
                      </a:pPr>
                      <a:r>
                        <a:rPr lang="en-SG" sz="3200"/>
                        <a:t>Modulo (remainder)</a:t>
                      </a:r>
                    </a:p>
                  </a:txBody>
                  <a:tcPr anchor="ctr">
                    <a:lnL>
                      <a:noFill/>
                    </a:lnL>
                    <a:lnR>
                      <a:noFill/>
                    </a:lnR>
                    <a:lnT>
                      <a:noFill/>
                    </a:lnT>
                    <a:lnB>
                      <a:noFill/>
                    </a:lnB>
                    <a:noFill/>
                  </a:tcPr>
                </a:tc>
                <a:extLst>
                  <a:ext uri="{0D108BD9-81ED-4DB2-BD59-A6C34878D82A}">
                    <a16:rowId xmlns:a16="http://schemas.microsoft.com/office/drawing/2014/main" val="2102220020"/>
                  </a:ext>
                </a:extLst>
              </a:tr>
              <a:tr h="0">
                <a:tc>
                  <a:txBody>
                    <a:bodyPr/>
                    <a:lstStyle/>
                    <a:p>
                      <a:pPr>
                        <a:buNone/>
                      </a:pPr>
                      <a:r>
                        <a:rPr lang="en-SG" sz="3200">
                          <a:latin typeface="Courier New" panose="02070309020205020404" pitchFamily="49" charset="0"/>
                        </a:rPr>
                        <a:t>**</a:t>
                      </a:r>
                      <a:endParaRPr lang="en-SG" sz="3200"/>
                    </a:p>
                  </a:txBody>
                  <a:tcPr anchor="ctr">
                    <a:lnL>
                      <a:noFill/>
                    </a:lnL>
                    <a:lnR>
                      <a:noFill/>
                    </a:lnR>
                    <a:lnT>
                      <a:noFill/>
                    </a:lnT>
                    <a:lnB>
                      <a:noFill/>
                    </a:lnB>
                    <a:noFill/>
                  </a:tcPr>
                </a:tc>
                <a:tc>
                  <a:txBody>
                    <a:bodyPr/>
                    <a:lstStyle/>
                    <a:p>
                      <a:pPr>
                        <a:buNone/>
                      </a:pPr>
                      <a:r>
                        <a:rPr lang="en-SG" sz="3200" dirty="0"/>
                        <a:t>Exponentiation</a:t>
                      </a:r>
                    </a:p>
                  </a:txBody>
                  <a:tcPr anchor="ctr">
                    <a:lnL>
                      <a:noFill/>
                    </a:lnL>
                    <a:lnR>
                      <a:noFill/>
                    </a:lnR>
                    <a:lnT>
                      <a:noFill/>
                    </a:lnT>
                    <a:lnB>
                      <a:noFill/>
                    </a:lnB>
                    <a:noFill/>
                  </a:tcPr>
                </a:tc>
                <a:extLst>
                  <a:ext uri="{0D108BD9-81ED-4DB2-BD59-A6C34878D82A}">
                    <a16:rowId xmlns:a16="http://schemas.microsoft.com/office/drawing/2014/main" val="4151499989"/>
                  </a:ext>
                </a:extLst>
              </a:tr>
            </a:tbl>
          </a:graphicData>
        </a:graphic>
      </p:graphicFrame>
    </p:spTree>
    <p:extLst>
      <p:ext uri="{BB962C8B-B14F-4D97-AF65-F5344CB8AC3E}">
        <p14:creationId xmlns:p14="http://schemas.microsoft.com/office/powerpoint/2010/main" val="4281506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FB00A-0287-53B5-222F-C9DD6E7E87C6}"/>
              </a:ext>
            </a:extLst>
          </p:cNvPr>
          <p:cNvSpPr>
            <a:spLocks noGrp="1"/>
          </p:cNvSpPr>
          <p:nvPr>
            <p:ph type="title"/>
          </p:nvPr>
        </p:nvSpPr>
        <p:spPr/>
        <p:txBody>
          <a:bodyPr>
            <a:normAutofit/>
          </a:bodyPr>
          <a:lstStyle/>
          <a:p>
            <a:r>
              <a:rPr lang="en-US" dirty="0"/>
              <a:t>Operators That Matter</a:t>
            </a:r>
            <a:endParaRPr lang="en-SG" dirty="0"/>
          </a:p>
        </p:txBody>
      </p:sp>
      <p:sp>
        <p:nvSpPr>
          <p:cNvPr id="3" name="Content Placeholder 2">
            <a:extLst>
              <a:ext uri="{FF2B5EF4-FFF2-40B4-BE49-F238E27FC236}">
                <a16:creationId xmlns:a16="http://schemas.microsoft.com/office/drawing/2014/main" id="{34BD1336-9F49-ECBE-B8CA-D1480CE78482}"/>
              </a:ext>
            </a:extLst>
          </p:cNvPr>
          <p:cNvSpPr>
            <a:spLocks noGrp="1"/>
          </p:cNvSpPr>
          <p:nvPr>
            <p:ph idx="1"/>
          </p:nvPr>
        </p:nvSpPr>
        <p:spPr/>
        <p:txBody>
          <a:bodyPr/>
          <a:lstStyle/>
          <a:p>
            <a:r>
              <a:rPr lang="en-US" dirty="0"/>
              <a:t>/ vs // vs % → different business logic</a:t>
            </a:r>
          </a:p>
          <a:p>
            <a:r>
              <a:rPr lang="en-US" dirty="0"/>
              <a:t>** → exponentiation, not multiplication</a:t>
            </a:r>
          </a:p>
          <a:p>
            <a:r>
              <a:rPr lang="en-US" dirty="0"/>
              <a:t>Operator choice affects </a:t>
            </a:r>
            <a:r>
              <a:rPr lang="en-US" b="1" dirty="0"/>
              <a:t>correctness</a:t>
            </a:r>
            <a:endParaRPr lang="en-US" dirty="0"/>
          </a:p>
          <a:p>
            <a:endParaRPr lang="en-SG" dirty="0"/>
          </a:p>
        </p:txBody>
      </p:sp>
    </p:spTree>
    <p:extLst>
      <p:ext uri="{BB962C8B-B14F-4D97-AF65-F5344CB8AC3E}">
        <p14:creationId xmlns:p14="http://schemas.microsoft.com/office/powerpoint/2010/main" val="2454252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1BF7-BF83-5AE6-5994-E8BD9D0DF83C}"/>
              </a:ext>
            </a:extLst>
          </p:cNvPr>
          <p:cNvSpPr>
            <a:spLocks noGrp="1"/>
          </p:cNvSpPr>
          <p:nvPr>
            <p:ph type="title"/>
          </p:nvPr>
        </p:nvSpPr>
        <p:spPr/>
        <p:txBody>
          <a:bodyPr/>
          <a:lstStyle/>
          <a:p>
            <a:r>
              <a:rPr lang="en-SG" dirty="0"/>
              <a:t>Division Operators</a:t>
            </a:r>
          </a:p>
        </p:txBody>
      </p:sp>
      <p:sp>
        <p:nvSpPr>
          <p:cNvPr id="3" name="Content Placeholder 2">
            <a:extLst>
              <a:ext uri="{FF2B5EF4-FFF2-40B4-BE49-F238E27FC236}">
                <a16:creationId xmlns:a16="http://schemas.microsoft.com/office/drawing/2014/main" id="{F63B24DE-56A1-B3BA-37D3-B6C90F614357}"/>
              </a:ext>
            </a:extLst>
          </p:cNvPr>
          <p:cNvSpPr>
            <a:spLocks noGrp="1"/>
          </p:cNvSpPr>
          <p:nvPr>
            <p:ph idx="1"/>
          </p:nvPr>
        </p:nvSpPr>
        <p:spPr>
          <a:xfrm>
            <a:off x="457200" y="1600200"/>
            <a:ext cx="10172700" cy="4525963"/>
          </a:xfrm>
        </p:spPr>
        <p:txBody>
          <a:bodyPr>
            <a:normAutofit fontScale="92500"/>
          </a:bodyPr>
          <a:lstStyle/>
          <a:p>
            <a:pPr marL="0" indent="0">
              <a:buNone/>
            </a:pPr>
            <a:r>
              <a:rPr lang="en-SG" dirty="0"/>
              <a:t># Division</a:t>
            </a:r>
          </a:p>
          <a:p>
            <a:pPr marL="0" indent="0">
              <a:buNone/>
            </a:pPr>
            <a:r>
              <a:rPr lang="en-SG" dirty="0"/>
              <a:t>7 / 3     # 2.3333333333333335</a:t>
            </a:r>
          </a:p>
          <a:p>
            <a:pPr marL="0" indent="0">
              <a:buNone/>
            </a:pPr>
            <a:endParaRPr lang="en-SG" dirty="0"/>
          </a:p>
          <a:p>
            <a:pPr marL="0" indent="0">
              <a:buNone/>
            </a:pPr>
            <a:r>
              <a:rPr lang="en-SG" dirty="0"/>
              <a:t># Floor Division</a:t>
            </a:r>
          </a:p>
          <a:p>
            <a:pPr marL="0" indent="0">
              <a:buNone/>
            </a:pPr>
            <a:r>
              <a:rPr lang="en-SG" dirty="0"/>
              <a:t>7 // 3    # 2</a:t>
            </a:r>
          </a:p>
          <a:p>
            <a:pPr marL="0" indent="0">
              <a:buNone/>
            </a:pPr>
            <a:r>
              <a:rPr lang="en-SG" dirty="0"/>
              <a:t>-7 // 3   # -3</a:t>
            </a:r>
          </a:p>
          <a:p>
            <a:pPr marL="0" indent="0">
              <a:buNone/>
            </a:pPr>
            <a:endParaRPr lang="en-SG" dirty="0"/>
          </a:p>
          <a:p>
            <a:r>
              <a:rPr lang="en-SG" dirty="0"/>
              <a:t># </a:t>
            </a:r>
            <a:r>
              <a:rPr lang="en-US" b="1" dirty="0"/>
              <a:t>Key Insight - </a:t>
            </a:r>
            <a:r>
              <a:rPr lang="en-US" dirty="0"/>
              <a:t>Floor division rounds </a:t>
            </a:r>
            <a:r>
              <a:rPr lang="en-US" b="1" dirty="0"/>
              <a:t>down</a:t>
            </a:r>
            <a:r>
              <a:rPr lang="en-US" dirty="0"/>
              <a:t>, not toward zero</a:t>
            </a:r>
          </a:p>
          <a:p>
            <a:pPr marL="0" indent="0">
              <a:buNone/>
            </a:pPr>
            <a:endParaRPr lang="en-SG" dirty="0"/>
          </a:p>
        </p:txBody>
      </p:sp>
    </p:spTree>
    <p:extLst>
      <p:ext uri="{BB962C8B-B14F-4D97-AF65-F5344CB8AC3E}">
        <p14:creationId xmlns:p14="http://schemas.microsoft.com/office/powerpoint/2010/main" val="28725608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2A6B9-3D4B-95DE-E78E-1CF7A5862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727D3-F936-2285-236C-2763A3DD2AC0}"/>
              </a:ext>
            </a:extLst>
          </p:cNvPr>
          <p:cNvSpPr>
            <a:spLocks noGrp="1"/>
          </p:cNvSpPr>
          <p:nvPr>
            <p:ph type="title"/>
          </p:nvPr>
        </p:nvSpPr>
        <p:spPr/>
        <p:txBody>
          <a:bodyPr>
            <a:normAutofit/>
          </a:bodyPr>
          <a:lstStyle/>
          <a:p>
            <a:r>
              <a:rPr lang="en-SG" dirty="0"/>
              <a:t>Modulo Operator (%)</a:t>
            </a:r>
            <a:endParaRPr lang="en-US" dirty="0"/>
          </a:p>
        </p:txBody>
      </p:sp>
      <p:sp>
        <p:nvSpPr>
          <p:cNvPr id="3" name="Content Placeholder 2">
            <a:extLst>
              <a:ext uri="{FF2B5EF4-FFF2-40B4-BE49-F238E27FC236}">
                <a16:creationId xmlns:a16="http://schemas.microsoft.com/office/drawing/2014/main" id="{167202C2-C3B9-C8B7-C54A-050254CE346F}"/>
              </a:ext>
            </a:extLst>
          </p:cNvPr>
          <p:cNvSpPr>
            <a:spLocks noGrp="1"/>
          </p:cNvSpPr>
          <p:nvPr>
            <p:ph idx="1"/>
          </p:nvPr>
        </p:nvSpPr>
        <p:spPr>
          <a:xfrm>
            <a:off x="457200" y="1600200"/>
            <a:ext cx="41275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7 % 3     # 1</a:t>
            </a:r>
          </a:p>
          <a:p>
            <a:pPr marL="0" indent="0">
              <a:buNone/>
            </a:pPr>
            <a:r>
              <a:rPr lang="en-US" dirty="0"/>
              <a:t>10 % 2    # 0</a:t>
            </a:r>
          </a:p>
        </p:txBody>
      </p:sp>
      <p:sp>
        <p:nvSpPr>
          <p:cNvPr id="4" name="Content Placeholder 2">
            <a:extLst>
              <a:ext uri="{FF2B5EF4-FFF2-40B4-BE49-F238E27FC236}">
                <a16:creationId xmlns:a16="http://schemas.microsoft.com/office/drawing/2014/main" id="{880E34A5-4B5E-07EB-F729-E1C0FD14CF97}"/>
              </a:ext>
            </a:extLst>
          </p:cNvPr>
          <p:cNvSpPr txBox="1">
            <a:spLocks/>
          </p:cNvSpPr>
          <p:nvPr/>
        </p:nvSpPr>
        <p:spPr>
          <a:xfrm>
            <a:off x="4940300" y="1587500"/>
            <a:ext cx="64008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sz="2800" b="1" dirty="0"/>
              <a:t>Purpose</a:t>
            </a:r>
            <a:endParaRPr lang="en-US" sz="2800" dirty="0"/>
          </a:p>
          <a:p>
            <a:pPr lvl="1"/>
            <a:r>
              <a:rPr lang="en-US" sz="2400" dirty="0"/>
              <a:t>Returns the remainder of division</a:t>
            </a:r>
          </a:p>
          <a:p>
            <a:pPr lvl="1"/>
            <a:endParaRPr lang="en-US" sz="2400" dirty="0"/>
          </a:p>
          <a:p>
            <a:r>
              <a:rPr lang="en-US" sz="2800" b="1" dirty="0"/>
              <a:t>Common Uses</a:t>
            </a:r>
            <a:endParaRPr lang="en-US" sz="2800" dirty="0"/>
          </a:p>
          <a:p>
            <a:pPr lvl="1"/>
            <a:r>
              <a:rPr lang="en-US" sz="2400" dirty="0"/>
              <a:t>Even / odd checks</a:t>
            </a:r>
          </a:p>
          <a:p>
            <a:pPr lvl="1"/>
            <a:r>
              <a:rPr lang="en-US" sz="2400" dirty="0"/>
              <a:t>Cycling values</a:t>
            </a:r>
          </a:p>
          <a:p>
            <a:pPr lvl="1"/>
            <a:r>
              <a:rPr lang="en-US" sz="2400" dirty="0"/>
              <a:t>Time and clock arithmetic</a:t>
            </a:r>
          </a:p>
          <a:p>
            <a:endParaRPr lang="en-US" sz="2800" dirty="0"/>
          </a:p>
        </p:txBody>
      </p:sp>
    </p:spTree>
    <p:extLst>
      <p:ext uri="{BB962C8B-B14F-4D97-AF65-F5344CB8AC3E}">
        <p14:creationId xmlns:p14="http://schemas.microsoft.com/office/powerpoint/2010/main" val="35927396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13291-65A7-BA2A-7BE8-262F1F89E68C}"/>
              </a:ext>
            </a:extLst>
          </p:cNvPr>
          <p:cNvSpPr>
            <a:spLocks noGrp="1"/>
          </p:cNvSpPr>
          <p:nvPr>
            <p:ph type="title"/>
          </p:nvPr>
        </p:nvSpPr>
        <p:spPr/>
        <p:txBody>
          <a:bodyPr/>
          <a:lstStyle/>
          <a:p>
            <a:r>
              <a:rPr lang="en-SG" dirty="0"/>
              <a:t>Exponentiation</a:t>
            </a:r>
          </a:p>
        </p:txBody>
      </p:sp>
      <p:sp>
        <p:nvSpPr>
          <p:cNvPr id="3" name="Content Placeholder 2">
            <a:extLst>
              <a:ext uri="{FF2B5EF4-FFF2-40B4-BE49-F238E27FC236}">
                <a16:creationId xmlns:a16="http://schemas.microsoft.com/office/drawing/2014/main" id="{F508C48A-F330-3B83-78F5-8C3E19DA6E3E}"/>
              </a:ext>
            </a:extLst>
          </p:cNvPr>
          <p:cNvSpPr>
            <a:spLocks noGrp="1"/>
          </p:cNvSpPr>
          <p:nvPr>
            <p:ph idx="1"/>
          </p:nvPr>
        </p:nvSpPr>
        <p:spPr/>
        <p:txBody>
          <a:bodyPr/>
          <a:lstStyle/>
          <a:p>
            <a:pPr marL="0" indent="0">
              <a:buNone/>
            </a:pPr>
            <a:r>
              <a:rPr lang="en-SG" dirty="0"/>
              <a:t># Using **</a:t>
            </a:r>
          </a:p>
          <a:p>
            <a:pPr marL="0" indent="0">
              <a:buNone/>
            </a:pPr>
            <a:r>
              <a:rPr lang="en-SG" dirty="0"/>
              <a:t>2 ** 10   # 1024</a:t>
            </a:r>
          </a:p>
          <a:p>
            <a:pPr marL="0" indent="0">
              <a:buNone/>
            </a:pPr>
            <a:endParaRPr lang="en-SG" dirty="0"/>
          </a:p>
          <a:p>
            <a:pPr marL="0" indent="0">
              <a:buNone/>
            </a:pPr>
            <a:r>
              <a:rPr lang="en-SG" dirty="0"/>
              <a:t># Using pow()</a:t>
            </a:r>
          </a:p>
          <a:p>
            <a:pPr marL="0" indent="0">
              <a:buNone/>
            </a:pPr>
            <a:r>
              <a:rPr lang="en-US" dirty="0"/>
              <a:t>pow(2, 10)        # 1024</a:t>
            </a:r>
          </a:p>
          <a:p>
            <a:pPr marL="0" indent="0">
              <a:buNone/>
            </a:pPr>
            <a:r>
              <a:rPr lang="en-US" dirty="0"/>
              <a:t>pow(2, 10, 100)  # 24  (modular exponentiation)</a:t>
            </a:r>
          </a:p>
          <a:p>
            <a:pPr marL="0" indent="0">
              <a:buNone/>
            </a:pPr>
            <a:endParaRPr lang="en-SG" dirty="0"/>
          </a:p>
        </p:txBody>
      </p:sp>
    </p:spTree>
    <p:extLst>
      <p:ext uri="{BB962C8B-B14F-4D97-AF65-F5344CB8AC3E}">
        <p14:creationId xmlns:p14="http://schemas.microsoft.com/office/powerpoint/2010/main" val="31295181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7FC40-69D6-E00E-1FB7-4D0EF823C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7366F-4A27-A58E-3EE1-1E6A3F0EACC1}"/>
              </a:ext>
            </a:extLst>
          </p:cNvPr>
          <p:cNvSpPr>
            <a:spLocks noGrp="1"/>
          </p:cNvSpPr>
          <p:nvPr>
            <p:ph type="title"/>
          </p:nvPr>
        </p:nvSpPr>
        <p:spPr/>
        <p:txBody>
          <a:bodyPr/>
          <a:lstStyle/>
          <a:p>
            <a:r>
              <a:rPr lang="en-SG" dirty="0"/>
              <a:t>Assignment Operators</a:t>
            </a:r>
          </a:p>
        </p:txBody>
      </p:sp>
      <p:sp>
        <p:nvSpPr>
          <p:cNvPr id="3" name="Content Placeholder 2">
            <a:extLst>
              <a:ext uri="{FF2B5EF4-FFF2-40B4-BE49-F238E27FC236}">
                <a16:creationId xmlns:a16="http://schemas.microsoft.com/office/drawing/2014/main" id="{C370E644-9C65-A86C-36CB-5626F21D75E8}"/>
              </a:ext>
            </a:extLst>
          </p:cNvPr>
          <p:cNvSpPr>
            <a:spLocks noGrp="1"/>
          </p:cNvSpPr>
          <p:nvPr>
            <p:ph idx="1"/>
          </p:nvPr>
        </p:nvSpPr>
        <p:spPr>
          <a:xfrm>
            <a:off x="457200" y="1600200"/>
            <a:ext cx="9550400" cy="4525963"/>
          </a:xfrm>
        </p:spPr>
        <p:txBody>
          <a:bodyPr>
            <a:normAutofit/>
          </a:bodyPr>
          <a:lstStyle/>
          <a:p>
            <a:pPr marL="0" indent="0">
              <a:buNone/>
            </a:pPr>
            <a:r>
              <a:rPr lang="en-SG" dirty="0"/>
              <a:t>x = 10</a:t>
            </a:r>
          </a:p>
          <a:p>
            <a:pPr marL="0" indent="0">
              <a:buNone/>
            </a:pPr>
            <a:r>
              <a:rPr lang="en-SG" dirty="0"/>
              <a:t>x += 1    # x = x + 1</a:t>
            </a:r>
          </a:p>
          <a:p>
            <a:pPr marL="0" indent="0">
              <a:buNone/>
            </a:pPr>
            <a:r>
              <a:rPr lang="en-SG" dirty="0"/>
              <a:t>x -= 2</a:t>
            </a:r>
          </a:p>
          <a:p>
            <a:pPr marL="0" indent="0">
              <a:buNone/>
            </a:pPr>
            <a:r>
              <a:rPr lang="en-SG" dirty="0"/>
              <a:t>x *= 3</a:t>
            </a:r>
          </a:p>
          <a:p>
            <a:pPr marL="0" indent="0">
              <a:buNone/>
            </a:pPr>
            <a:r>
              <a:rPr lang="en-SG" dirty="0"/>
              <a:t>x //= 2</a:t>
            </a:r>
          </a:p>
          <a:p>
            <a:pPr marL="0" indent="0">
              <a:buNone/>
            </a:pPr>
            <a:endParaRPr lang="en-SG" dirty="0"/>
          </a:p>
          <a:p>
            <a:pPr marL="0" indent="0">
              <a:buNone/>
            </a:pPr>
            <a:r>
              <a:rPr lang="en-SG" dirty="0"/>
              <a:t># </a:t>
            </a:r>
            <a:r>
              <a:rPr lang="en-US" dirty="0"/>
              <a:t>Assignment operators rebind variables to new objects</a:t>
            </a:r>
          </a:p>
          <a:p>
            <a:pPr marL="0" indent="0">
              <a:buNone/>
            </a:pPr>
            <a:endParaRPr lang="en-SG" dirty="0"/>
          </a:p>
        </p:txBody>
      </p:sp>
    </p:spTree>
    <p:extLst>
      <p:ext uri="{BB962C8B-B14F-4D97-AF65-F5344CB8AC3E}">
        <p14:creationId xmlns:p14="http://schemas.microsoft.com/office/powerpoint/2010/main" val="4471376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E7F0F-DDCD-F2EC-F850-8AB2D71BF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B7A6E-8629-EC14-A2BA-B938848B153C}"/>
              </a:ext>
            </a:extLst>
          </p:cNvPr>
          <p:cNvSpPr>
            <a:spLocks noGrp="1"/>
          </p:cNvSpPr>
          <p:nvPr>
            <p:ph type="title"/>
          </p:nvPr>
        </p:nvSpPr>
        <p:spPr/>
        <p:txBody>
          <a:bodyPr>
            <a:normAutofit/>
          </a:bodyPr>
          <a:lstStyle/>
          <a:p>
            <a:r>
              <a:rPr lang="en-US" dirty="0"/>
              <a:t>Operator Precedence</a:t>
            </a:r>
          </a:p>
        </p:txBody>
      </p:sp>
      <p:sp>
        <p:nvSpPr>
          <p:cNvPr id="3" name="Content Placeholder 2">
            <a:extLst>
              <a:ext uri="{FF2B5EF4-FFF2-40B4-BE49-F238E27FC236}">
                <a16:creationId xmlns:a16="http://schemas.microsoft.com/office/drawing/2014/main" id="{A3E05C29-3FBE-7BDF-C881-0BD223C7570C}"/>
              </a:ext>
            </a:extLst>
          </p:cNvPr>
          <p:cNvSpPr>
            <a:spLocks noGrp="1"/>
          </p:cNvSpPr>
          <p:nvPr>
            <p:ph idx="1"/>
          </p:nvPr>
        </p:nvSpPr>
        <p:spPr>
          <a:xfrm>
            <a:off x="457200" y="1600200"/>
            <a:ext cx="5246688"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result = 2 + 3 * 4   # 14</a:t>
            </a:r>
          </a:p>
        </p:txBody>
      </p:sp>
      <p:sp>
        <p:nvSpPr>
          <p:cNvPr id="4" name="Content Placeholder 2">
            <a:extLst>
              <a:ext uri="{FF2B5EF4-FFF2-40B4-BE49-F238E27FC236}">
                <a16:creationId xmlns:a16="http://schemas.microsoft.com/office/drawing/2014/main" id="{03EA6AD0-F977-1B5D-BDE9-19C332169FD6}"/>
              </a:ext>
            </a:extLst>
          </p:cNvPr>
          <p:cNvSpPr txBox="1">
            <a:spLocks/>
          </p:cNvSpPr>
          <p:nvPr/>
        </p:nvSpPr>
        <p:spPr>
          <a:xfrm>
            <a:off x="6094412" y="1587500"/>
            <a:ext cx="5246688"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dirty="0"/>
              <a:t>()</a:t>
            </a:r>
            <a:r>
              <a:rPr lang="en-US" sz="2800" dirty="0"/>
              <a:t> parentheses</a:t>
            </a:r>
          </a:p>
          <a:p>
            <a:r>
              <a:rPr lang="en-US" dirty="0"/>
              <a:t>**</a:t>
            </a:r>
            <a:r>
              <a:rPr lang="en-US" sz="2800" dirty="0"/>
              <a:t> exponentiation</a:t>
            </a:r>
          </a:p>
          <a:p>
            <a:r>
              <a:rPr lang="en-US" dirty="0"/>
              <a:t>* / // %</a:t>
            </a:r>
            <a:endParaRPr lang="en-US" sz="2800" dirty="0"/>
          </a:p>
          <a:p>
            <a:r>
              <a:rPr lang="en-US" dirty="0"/>
              <a:t>+ -</a:t>
            </a:r>
            <a:endParaRPr lang="en-US" sz="2800" dirty="0"/>
          </a:p>
        </p:txBody>
      </p:sp>
    </p:spTree>
    <p:extLst>
      <p:ext uri="{BB962C8B-B14F-4D97-AF65-F5344CB8AC3E}">
        <p14:creationId xmlns:p14="http://schemas.microsoft.com/office/powerpoint/2010/main" val="1062973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CD1DD-F7DB-90E7-41CA-010220643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1B0E6-0698-8847-8904-A084A75607B9}"/>
              </a:ext>
            </a:extLst>
          </p:cNvPr>
          <p:cNvSpPr>
            <a:spLocks noGrp="1"/>
          </p:cNvSpPr>
          <p:nvPr>
            <p:ph type="title"/>
          </p:nvPr>
        </p:nvSpPr>
        <p:spPr/>
        <p:txBody>
          <a:bodyPr>
            <a:normAutofit/>
          </a:bodyPr>
          <a:lstStyle/>
          <a:p>
            <a:r>
              <a:rPr lang="en-US" dirty="0"/>
              <a:t>Comparing Numbers</a:t>
            </a:r>
          </a:p>
        </p:txBody>
      </p:sp>
      <p:sp>
        <p:nvSpPr>
          <p:cNvPr id="3" name="Content Placeholder 2">
            <a:extLst>
              <a:ext uri="{FF2B5EF4-FFF2-40B4-BE49-F238E27FC236}">
                <a16:creationId xmlns:a16="http://schemas.microsoft.com/office/drawing/2014/main" id="{DE104900-8F50-E0A9-493B-31541B426457}"/>
              </a:ext>
            </a:extLst>
          </p:cNvPr>
          <p:cNvSpPr>
            <a:spLocks noGrp="1"/>
          </p:cNvSpPr>
          <p:nvPr>
            <p:ph idx="1"/>
          </p:nvPr>
        </p:nvSpPr>
        <p:spPr>
          <a:xfrm>
            <a:off x="457200" y="1600200"/>
            <a:ext cx="5246688"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 Comparison Operators</a:t>
            </a:r>
          </a:p>
          <a:p>
            <a:pPr marL="0" indent="0">
              <a:buNone/>
            </a:pPr>
            <a:r>
              <a:rPr lang="en-US" dirty="0"/>
              <a:t>==   !=</a:t>
            </a:r>
          </a:p>
          <a:p>
            <a:pPr marL="0" indent="0">
              <a:buNone/>
            </a:pPr>
            <a:r>
              <a:rPr lang="en-US" dirty="0"/>
              <a:t>&gt;    &lt;</a:t>
            </a:r>
          </a:p>
          <a:p>
            <a:pPr marL="0" indent="0">
              <a:buNone/>
            </a:pPr>
            <a:r>
              <a:rPr lang="en-US" dirty="0"/>
              <a:t>&gt;=   &lt;=</a:t>
            </a:r>
          </a:p>
        </p:txBody>
      </p:sp>
      <p:sp>
        <p:nvSpPr>
          <p:cNvPr id="4" name="Content Placeholder 2">
            <a:extLst>
              <a:ext uri="{FF2B5EF4-FFF2-40B4-BE49-F238E27FC236}">
                <a16:creationId xmlns:a16="http://schemas.microsoft.com/office/drawing/2014/main" id="{62E2DCB9-C381-6C49-693F-0ACFAD14C901}"/>
              </a:ext>
            </a:extLst>
          </p:cNvPr>
          <p:cNvSpPr txBox="1">
            <a:spLocks/>
          </p:cNvSpPr>
          <p:nvPr/>
        </p:nvSpPr>
        <p:spPr>
          <a:xfrm>
            <a:off x="6094412" y="1587500"/>
            <a:ext cx="5246688"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None/>
            </a:pPr>
            <a:r>
              <a:rPr lang="en-US" dirty="0"/>
              <a:t>x = 10</a:t>
            </a:r>
          </a:p>
          <a:p>
            <a:pPr marL="0" indent="0">
              <a:buNone/>
            </a:pPr>
            <a:r>
              <a:rPr lang="en-US" dirty="0"/>
              <a:t>x &gt; 5     # True</a:t>
            </a:r>
          </a:p>
        </p:txBody>
      </p:sp>
    </p:spTree>
    <p:extLst>
      <p:ext uri="{BB962C8B-B14F-4D97-AF65-F5344CB8AC3E}">
        <p14:creationId xmlns:p14="http://schemas.microsoft.com/office/powerpoint/2010/main" val="9745681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D546-D756-E922-836A-171662F48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2BA85-DB94-C1D8-38B2-0EE127BC0DB9}"/>
              </a:ext>
            </a:extLst>
          </p:cNvPr>
          <p:cNvSpPr>
            <a:spLocks noGrp="1"/>
          </p:cNvSpPr>
          <p:nvPr>
            <p:ph type="title"/>
          </p:nvPr>
        </p:nvSpPr>
        <p:spPr/>
        <p:txBody>
          <a:bodyPr>
            <a:normAutofit/>
          </a:bodyPr>
          <a:lstStyle/>
          <a:p>
            <a:r>
              <a:rPr lang="en-US" dirty="0"/>
              <a:t>Numbers &amp; Boolean Results</a:t>
            </a:r>
          </a:p>
        </p:txBody>
      </p:sp>
      <p:sp>
        <p:nvSpPr>
          <p:cNvPr id="3" name="Content Placeholder 2">
            <a:extLst>
              <a:ext uri="{FF2B5EF4-FFF2-40B4-BE49-F238E27FC236}">
                <a16:creationId xmlns:a16="http://schemas.microsoft.com/office/drawing/2014/main" id="{5AA0564D-84FC-B23E-86FD-DEED9739BB7F}"/>
              </a:ext>
            </a:extLst>
          </p:cNvPr>
          <p:cNvSpPr>
            <a:spLocks noGrp="1"/>
          </p:cNvSpPr>
          <p:nvPr>
            <p:ph idx="1"/>
          </p:nvPr>
        </p:nvSpPr>
        <p:spPr>
          <a:xfrm>
            <a:off x="457200" y="1600200"/>
            <a:ext cx="5246688" cy="4525963"/>
          </a:xfrm>
        </p:spPr>
        <p:style>
          <a:lnRef idx="2">
            <a:schemeClr val="dk1"/>
          </a:lnRef>
          <a:fillRef idx="1">
            <a:schemeClr val="lt1"/>
          </a:fillRef>
          <a:effectRef idx="0">
            <a:schemeClr val="dk1"/>
          </a:effectRef>
          <a:fontRef idx="minor">
            <a:schemeClr val="dk1"/>
          </a:fontRef>
        </p:style>
        <p:txBody>
          <a:bodyPr/>
          <a:lstStyle/>
          <a:p>
            <a:r>
              <a:rPr lang="en-US" dirty="0"/>
              <a:t>Comparisons Return Booleans</a:t>
            </a:r>
          </a:p>
          <a:p>
            <a:endParaRPr lang="en-US" dirty="0"/>
          </a:p>
          <a:p>
            <a:r>
              <a:rPr lang="en-US" dirty="0"/>
              <a:t>Used in</a:t>
            </a:r>
          </a:p>
          <a:p>
            <a:pPr lvl="1"/>
            <a:r>
              <a:rPr lang="en-US" dirty="0"/>
              <a:t>if statements</a:t>
            </a:r>
          </a:p>
          <a:p>
            <a:pPr lvl="1"/>
            <a:r>
              <a:rPr lang="en-US" dirty="0"/>
              <a:t>loops</a:t>
            </a:r>
          </a:p>
          <a:p>
            <a:pPr lvl="1"/>
            <a:r>
              <a:rPr lang="en-US" dirty="0"/>
              <a:t>conditional expressions</a:t>
            </a:r>
          </a:p>
          <a:p>
            <a:endParaRPr lang="en-US" dirty="0"/>
          </a:p>
        </p:txBody>
      </p:sp>
      <p:sp>
        <p:nvSpPr>
          <p:cNvPr id="4" name="Content Placeholder 2">
            <a:extLst>
              <a:ext uri="{FF2B5EF4-FFF2-40B4-BE49-F238E27FC236}">
                <a16:creationId xmlns:a16="http://schemas.microsoft.com/office/drawing/2014/main" id="{9BA328F4-4CCE-8765-BE89-7FFFE9B4FACA}"/>
              </a:ext>
            </a:extLst>
          </p:cNvPr>
          <p:cNvSpPr txBox="1">
            <a:spLocks/>
          </p:cNvSpPr>
          <p:nvPr/>
        </p:nvSpPr>
        <p:spPr>
          <a:xfrm>
            <a:off x="6094412" y="1587500"/>
            <a:ext cx="5246688"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None/>
            </a:pPr>
            <a:r>
              <a:rPr lang="da-DK" dirty="0"/>
              <a:t>5 &gt; 3          # True</a:t>
            </a:r>
          </a:p>
          <a:p>
            <a:pPr marL="0" indent="0">
              <a:buNone/>
            </a:pPr>
            <a:r>
              <a:rPr lang="da-DK" dirty="0"/>
              <a:t>10 == 5        # False</a:t>
            </a:r>
          </a:p>
        </p:txBody>
      </p:sp>
    </p:spTree>
    <p:extLst>
      <p:ext uri="{BB962C8B-B14F-4D97-AF65-F5344CB8AC3E}">
        <p14:creationId xmlns:p14="http://schemas.microsoft.com/office/powerpoint/2010/main" val="346180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9AA33-B2D9-3421-BE7E-D3A6DFC4A4C6}"/>
              </a:ext>
            </a:extLst>
          </p:cNvPr>
          <p:cNvSpPr>
            <a:spLocks noGrp="1"/>
          </p:cNvSpPr>
          <p:nvPr>
            <p:ph type="title"/>
          </p:nvPr>
        </p:nvSpPr>
        <p:spPr/>
        <p:txBody>
          <a:bodyPr/>
          <a:lstStyle/>
          <a:p>
            <a:r>
              <a:rPr lang="en-SG" dirty="0"/>
              <a:t>Type Conversion with Numbers</a:t>
            </a:r>
          </a:p>
        </p:txBody>
      </p:sp>
      <p:sp>
        <p:nvSpPr>
          <p:cNvPr id="3" name="Content Placeholder 2">
            <a:extLst>
              <a:ext uri="{FF2B5EF4-FFF2-40B4-BE49-F238E27FC236}">
                <a16:creationId xmlns:a16="http://schemas.microsoft.com/office/drawing/2014/main" id="{82A75FAB-C388-750F-EF87-4C86AC813260}"/>
              </a:ext>
            </a:extLst>
          </p:cNvPr>
          <p:cNvSpPr>
            <a:spLocks noGrp="1"/>
          </p:cNvSpPr>
          <p:nvPr>
            <p:ph idx="1"/>
          </p:nvPr>
        </p:nvSpPr>
        <p:spPr/>
        <p:txBody>
          <a:bodyPr/>
          <a:lstStyle/>
          <a:p>
            <a:pPr marL="0" indent="0">
              <a:buNone/>
            </a:pPr>
            <a:r>
              <a:rPr lang="en-SG" dirty="0"/>
              <a:t>int("10")      # 10</a:t>
            </a:r>
          </a:p>
          <a:p>
            <a:pPr marL="0" indent="0">
              <a:buNone/>
            </a:pPr>
            <a:r>
              <a:rPr lang="en-SG" dirty="0"/>
              <a:t>float("3.14")  # 3.14</a:t>
            </a:r>
          </a:p>
          <a:p>
            <a:pPr marL="0" indent="0">
              <a:buNone/>
            </a:pPr>
            <a:r>
              <a:rPr lang="en-SG" dirty="0"/>
              <a:t>int(3.9)       # 3</a:t>
            </a:r>
          </a:p>
          <a:p>
            <a:pPr marL="0" indent="0">
              <a:buNone/>
            </a:pPr>
            <a:endParaRPr lang="en-SG" dirty="0"/>
          </a:p>
          <a:p>
            <a:r>
              <a:rPr lang="en-SG" dirty="0"/>
              <a:t># </a:t>
            </a:r>
            <a:r>
              <a:rPr lang="en-US" dirty="0"/>
              <a:t>Casting truncates, not rounds</a:t>
            </a:r>
          </a:p>
          <a:p>
            <a:pPr marL="0" indent="0">
              <a:buNone/>
            </a:pPr>
            <a:endParaRPr lang="en-SG" dirty="0"/>
          </a:p>
        </p:txBody>
      </p:sp>
    </p:spTree>
    <p:extLst>
      <p:ext uri="{BB962C8B-B14F-4D97-AF65-F5344CB8AC3E}">
        <p14:creationId xmlns:p14="http://schemas.microsoft.com/office/powerpoint/2010/main" val="3941521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132CF-4819-C9F5-78E4-201E0348A3D0}"/>
              </a:ext>
            </a:extLst>
          </p:cNvPr>
          <p:cNvSpPr>
            <a:spLocks noGrp="1"/>
          </p:cNvSpPr>
          <p:nvPr>
            <p:ph type="title"/>
          </p:nvPr>
        </p:nvSpPr>
        <p:spPr/>
        <p:txBody>
          <a:bodyPr/>
          <a:lstStyle/>
          <a:p>
            <a:r>
              <a:rPr lang="en-US" dirty="0"/>
              <a:t>Common Numeric Pitfalls</a:t>
            </a:r>
            <a:endParaRPr lang="en-SG" dirty="0"/>
          </a:p>
        </p:txBody>
      </p:sp>
      <p:sp>
        <p:nvSpPr>
          <p:cNvPr id="3" name="Content Placeholder 2">
            <a:extLst>
              <a:ext uri="{FF2B5EF4-FFF2-40B4-BE49-F238E27FC236}">
                <a16:creationId xmlns:a16="http://schemas.microsoft.com/office/drawing/2014/main" id="{E2B33AE8-C5B3-7B88-E836-E7A2AD00E6EC}"/>
              </a:ext>
            </a:extLst>
          </p:cNvPr>
          <p:cNvSpPr>
            <a:spLocks noGrp="1"/>
          </p:cNvSpPr>
          <p:nvPr>
            <p:ph idx="1"/>
          </p:nvPr>
        </p:nvSpPr>
        <p:spPr/>
        <p:txBody>
          <a:bodyPr/>
          <a:lstStyle/>
          <a:p>
            <a:r>
              <a:rPr lang="en-US" dirty="0"/>
              <a:t>Floating-point precision errors</a:t>
            </a:r>
          </a:p>
          <a:p>
            <a:r>
              <a:rPr lang="en-US" dirty="0"/>
              <a:t>Dividing integers expecting integers</a:t>
            </a:r>
          </a:p>
          <a:p>
            <a:r>
              <a:rPr lang="en-US" dirty="0"/>
              <a:t>Using == with floats</a:t>
            </a:r>
          </a:p>
          <a:p>
            <a:r>
              <a:rPr lang="en-US" dirty="0"/>
              <a:t>Floor division with negative numbers</a:t>
            </a:r>
          </a:p>
          <a:p>
            <a:endParaRPr lang="en-SG" dirty="0"/>
          </a:p>
        </p:txBody>
      </p:sp>
    </p:spTree>
    <p:extLst>
      <p:ext uri="{BB962C8B-B14F-4D97-AF65-F5344CB8AC3E}">
        <p14:creationId xmlns:p14="http://schemas.microsoft.com/office/powerpoint/2010/main" val="1542112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63E25-4811-4BBF-74BA-C0EF882BECCE}"/>
              </a:ext>
            </a:extLst>
          </p:cNvPr>
          <p:cNvSpPr>
            <a:spLocks noGrp="1"/>
          </p:cNvSpPr>
          <p:nvPr>
            <p:ph type="title"/>
          </p:nvPr>
        </p:nvSpPr>
        <p:spPr/>
        <p:txBody>
          <a:bodyPr/>
          <a:lstStyle/>
          <a:p>
            <a:r>
              <a:rPr lang="en-SG" dirty="0"/>
              <a:t>Best Practices</a:t>
            </a:r>
          </a:p>
        </p:txBody>
      </p:sp>
      <p:sp>
        <p:nvSpPr>
          <p:cNvPr id="3" name="Content Placeholder 2">
            <a:extLst>
              <a:ext uri="{FF2B5EF4-FFF2-40B4-BE49-F238E27FC236}">
                <a16:creationId xmlns:a16="http://schemas.microsoft.com/office/drawing/2014/main" id="{2285A6F8-D947-3FF2-6A24-B46EB4C20D95}"/>
              </a:ext>
            </a:extLst>
          </p:cNvPr>
          <p:cNvSpPr>
            <a:spLocks noGrp="1"/>
          </p:cNvSpPr>
          <p:nvPr>
            <p:ph idx="1"/>
          </p:nvPr>
        </p:nvSpPr>
        <p:spPr/>
        <p:txBody>
          <a:bodyPr/>
          <a:lstStyle/>
          <a:p>
            <a:r>
              <a:rPr lang="en-US" dirty="0"/>
              <a:t>Use Decimal for money</a:t>
            </a:r>
          </a:p>
          <a:p>
            <a:r>
              <a:rPr lang="en-US" dirty="0"/>
              <a:t>Use integers for counts</a:t>
            </a:r>
          </a:p>
          <a:p>
            <a:r>
              <a:rPr lang="en-US" dirty="0"/>
              <a:t>Use // and % intentionally</a:t>
            </a:r>
          </a:p>
          <a:p>
            <a:r>
              <a:rPr lang="en-US" dirty="0"/>
              <a:t>Group expressions with parentheses</a:t>
            </a:r>
          </a:p>
          <a:p>
            <a:endParaRPr lang="en-SG" dirty="0"/>
          </a:p>
        </p:txBody>
      </p:sp>
    </p:spTree>
    <p:extLst>
      <p:ext uri="{BB962C8B-B14F-4D97-AF65-F5344CB8AC3E}">
        <p14:creationId xmlns:p14="http://schemas.microsoft.com/office/powerpoint/2010/main" val="1250581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F920-9D3F-421F-0F1A-2CD702CA6688}"/>
              </a:ext>
            </a:extLst>
          </p:cNvPr>
          <p:cNvSpPr>
            <a:spLocks noGrp="1"/>
          </p:cNvSpPr>
          <p:nvPr>
            <p:ph type="title"/>
          </p:nvPr>
        </p:nvSpPr>
        <p:spPr/>
        <p:txBody>
          <a:bodyPr/>
          <a:lstStyle/>
          <a:p>
            <a:r>
              <a:rPr lang="en-US" dirty="0"/>
              <a:t>Hands-On Exercise</a:t>
            </a:r>
            <a:endParaRPr lang="en-SG" dirty="0"/>
          </a:p>
        </p:txBody>
      </p:sp>
      <p:sp>
        <p:nvSpPr>
          <p:cNvPr id="3" name="Content Placeholder 2">
            <a:extLst>
              <a:ext uri="{FF2B5EF4-FFF2-40B4-BE49-F238E27FC236}">
                <a16:creationId xmlns:a16="http://schemas.microsoft.com/office/drawing/2014/main" id="{D797C996-680F-2593-A35D-380A8967E0E3}"/>
              </a:ext>
            </a:extLst>
          </p:cNvPr>
          <p:cNvSpPr>
            <a:spLocks noGrp="1"/>
          </p:cNvSpPr>
          <p:nvPr>
            <p:ph idx="1"/>
          </p:nvPr>
        </p:nvSpPr>
        <p:spPr/>
        <p:txBody>
          <a:bodyPr/>
          <a:lstStyle/>
          <a:p>
            <a:r>
              <a:rPr lang="en-US" dirty="0"/>
              <a:t>Ask the user for two numbers</a:t>
            </a:r>
          </a:p>
          <a:p>
            <a:endParaRPr lang="en-US" dirty="0"/>
          </a:p>
          <a:p>
            <a:r>
              <a:rPr lang="en-US" dirty="0"/>
              <a:t>Print:</a:t>
            </a:r>
          </a:p>
          <a:p>
            <a:pPr lvl="1"/>
            <a:r>
              <a:rPr lang="en-US" dirty="0"/>
              <a:t>Sum</a:t>
            </a:r>
          </a:p>
          <a:p>
            <a:pPr lvl="1"/>
            <a:r>
              <a:rPr lang="en-US" dirty="0"/>
              <a:t>Difference</a:t>
            </a:r>
          </a:p>
          <a:p>
            <a:pPr lvl="1"/>
            <a:r>
              <a:rPr lang="en-US" dirty="0"/>
              <a:t>Product</a:t>
            </a:r>
          </a:p>
          <a:p>
            <a:pPr lvl="1"/>
            <a:r>
              <a:rPr lang="en-US" dirty="0"/>
              <a:t>Quotient (float)</a:t>
            </a:r>
          </a:p>
          <a:p>
            <a:endParaRPr lang="en-SG" dirty="0"/>
          </a:p>
        </p:txBody>
      </p:sp>
    </p:spTree>
    <p:extLst>
      <p:ext uri="{BB962C8B-B14F-4D97-AF65-F5344CB8AC3E}">
        <p14:creationId xmlns:p14="http://schemas.microsoft.com/office/powerpoint/2010/main" val="41650023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BBA6-53A4-6534-2C34-5A94061664F5}"/>
              </a:ext>
            </a:extLst>
          </p:cNvPr>
          <p:cNvSpPr>
            <a:spLocks noGrp="1"/>
          </p:cNvSpPr>
          <p:nvPr>
            <p:ph type="title"/>
          </p:nvPr>
        </p:nvSpPr>
        <p:spPr/>
        <p:txBody>
          <a:bodyPr/>
          <a:lstStyle/>
          <a:p>
            <a:r>
              <a:rPr lang="en-SG" dirty="0"/>
              <a:t>Solution</a:t>
            </a:r>
          </a:p>
        </p:txBody>
      </p:sp>
      <p:sp>
        <p:nvSpPr>
          <p:cNvPr id="3" name="Content Placeholder 2">
            <a:extLst>
              <a:ext uri="{FF2B5EF4-FFF2-40B4-BE49-F238E27FC236}">
                <a16:creationId xmlns:a16="http://schemas.microsoft.com/office/drawing/2014/main" id="{8DDEFB3B-326D-B11C-DA90-9312FE9E35D1}"/>
              </a:ext>
            </a:extLst>
          </p:cNvPr>
          <p:cNvSpPr>
            <a:spLocks noGrp="1"/>
          </p:cNvSpPr>
          <p:nvPr>
            <p:ph idx="1"/>
          </p:nvPr>
        </p:nvSpPr>
        <p:spPr/>
        <p:txBody>
          <a:bodyPr/>
          <a:lstStyle/>
          <a:p>
            <a:pPr marL="0" indent="0">
              <a:buNone/>
            </a:pPr>
            <a:r>
              <a:rPr lang="en-US" dirty="0"/>
              <a:t>a = float(input("Enter first number: "))</a:t>
            </a:r>
          </a:p>
          <a:p>
            <a:pPr marL="0" indent="0">
              <a:buNone/>
            </a:pPr>
            <a:r>
              <a:rPr lang="en-US" dirty="0"/>
              <a:t>b = float(input("Enter second number: "))</a:t>
            </a:r>
          </a:p>
          <a:p>
            <a:pPr marL="0" indent="0">
              <a:buNone/>
            </a:pPr>
            <a:endParaRPr lang="en-US" dirty="0"/>
          </a:p>
          <a:p>
            <a:pPr marL="0" indent="0">
              <a:buNone/>
            </a:pPr>
            <a:r>
              <a:rPr lang="en-US" dirty="0"/>
              <a:t>print("Sum:", a + b)</a:t>
            </a:r>
          </a:p>
          <a:p>
            <a:pPr marL="0" indent="0">
              <a:buNone/>
            </a:pPr>
            <a:r>
              <a:rPr lang="en-US" dirty="0"/>
              <a:t>print("Difference:", a - b)</a:t>
            </a:r>
          </a:p>
          <a:p>
            <a:pPr marL="0" indent="0">
              <a:buNone/>
            </a:pPr>
            <a:r>
              <a:rPr lang="en-US" dirty="0"/>
              <a:t>print("Product:", a * b)</a:t>
            </a:r>
          </a:p>
          <a:p>
            <a:pPr marL="0" indent="0">
              <a:buNone/>
            </a:pPr>
            <a:r>
              <a:rPr lang="en-US" dirty="0"/>
              <a:t>print("Quotient:", a / b)</a:t>
            </a:r>
          </a:p>
          <a:p>
            <a:pPr marL="0" indent="0">
              <a:buNone/>
            </a:pPr>
            <a:endParaRPr lang="en-SG" dirty="0"/>
          </a:p>
        </p:txBody>
      </p:sp>
    </p:spTree>
    <p:extLst>
      <p:ext uri="{BB962C8B-B14F-4D97-AF65-F5344CB8AC3E}">
        <p14:creationId xmlns:p14="http://schemas.microsoft.com/office/powerpoint/2010/main" val="36767301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EC874-8C58-E955-9F43-BE98606C8193}"/>
              </a:ext>
            </a:extLst>
          </p:cNvPr>
          <p:cNvSpPr>
            <a:spLocks noGrp="1"/>
          </p:cNvSpPr>
          <p:nvPr>
            <p:ph type="title"/>
          </p:nvPr>
        </p:nvSpPr>
        <p:spPr/>
        <p:txBody>
          <a:bodyPr/>
          <a:lstStyle/>
          <a:p>
            <a:r>
              <a:rPr lang="en-US" dirty="0"/>
              <a:t>Key Takeaways</a:t>
            </a:r>
            <a:endParaRPr lang="en-SG" dirty="0"/>
          </a:p>
        </p:txBody>
      </p:sp>
      <p:sp>
        <p:nvSpPr>
          <p:cNvPr id="3" name="Content Placeholder 2">
            <a:extLst>
              <a:ext uri="{FF2B5EF4-FFF2-40B4-BE49-F238E27FC236}">
                <a16:creationId xmlns:a16="http://schemas.microsoft.com/office/drawing/2014/main" id="{221A9ED1-5A58-F025-D60A-80A827BE713C}"/>
              </a:ext>
            </a:extLst>
          </p:cNvPr>
          <p:cNvSpPr>
            <a:spLocks noGrp="1"/>
          </p:cNvSpPr>
          <p:nvPr>
            <p:ph idx="1"/>
          </p:nvPr>
        </p:nvSpPr>
        <p:spPr/>
        <p:txBody>
          <a:bodyPr/>
          <a:lstStyle/>
          <a:p>
            <a:r>
              <a:rPr lang="en-US" dirty="0"/>
              <a:t>Python supports multiple numeric types</a:t>
            </a:r>
          </a:p>
          <a:p>
            <a:r>
              <a:rPr lang="en-US" dirty="0"/>
              <a:t>Operator choice affects results</a:t>
            </a:r>
          </a:p>
          <a:p>
            <a:r>
              <a:rPr lang="en-US" dirty="0"/>
              <a:t>Floating-point math has limitations</a:t>
            </a:r>
          </a:p>
          <a:p>
            <a:r>
              <a:rPr lang="en-US" dirty="0"/>
              <a:t>Clarity beats cleverness in numeric code</a:t>
            </a:r>
          </a:p>
          <a:p>
            <a:endParaRPr lang="en-SG" dirty="0"/>
          </a:p>
        </p:txBody>
      </p:sp>
    </p:spTree>
    <p:extLst>
      <p:ext uri="{BB962C8B-B14F-4D97-AF65-F5344CB8AC3E}">
        <p14:creationId xmlns:p14="http://schemas.microsoft.com/office/powerpoint/2010/main" val="39148844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Numbers &amp; Operators</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400" dirty="0"/>
              <a:t>7 / 3            # 2.333…  (float)</a:t>
            </a:r>
            <a:br>
              <a:rPr sz="2400" dirty="0"/>
            </a:br>
            <a:r>
              <a:rPr sz="2400" dirty="0"/>
              <a:t>7 // 3           # 2       (floor int)</a:t>
            </a:r>
            <a:br>
              <a:rPr sz="2400" dirty="0"/>
            </a:br>
            <a:r>
              <a:rPr sz="2400" dirty="0"/>
              <a:t>7 % 3            # 1       (modulo)</a:t>
            </a:r>
            <a:br>
              <a:rPr sz="2400" dirty="0"/>
            </a:br>
            <a:r>
              <a:rPr sz="2400" dirty="0" err="1"/>
              <a:t>divmod</a:t>
            </a:r>
            <a:r>
              <a:rPr sz="2400" dirty="0"/>
              <a:t>(7, 3)     # (2, 1)</a:t>
            </a:r>
            <a:br>
              <a:rPr sz="2400" dirty="0"/>
            </a:br>
            <a:br>
              <a:rPr sz="2400" dirty="0"/>
            </a:br>
            <a:r>
              <a:rPr sz="2400" dirty="0"/>
              <a:t>2 ** 10          # 1024</a:t>
            </a:r>
            <a:br>
              <a:rPr sz="2400" dirty="0"/>
            </a:br>
            <a:r>
              <a:rPr sz="2400" dirty="0"/>
              <a:t>pow(2, 10, 100)  # 24  (modular exponentiation)</a:t>
            </a:r>
            <a:br>
              <a:rPr sz="2400" dirty="0"/>
            </a:br>
            <a:br>
              <a:rPr sz="2400" dirty="0"/>
            </a:br>
            <a:r>
              <a:rPr sz="2400" dirty="0"/>
              <a:t>from decimal import Decimal</a:t>
            </a:r>
            <a:br>
              <a:rPr sz="2400" dirty="0"/>
            </a:br>
            <a:r>
              <a:rPr sz="2400" dirty="0"/>
              <a:t>price = Decimal('19.99')</a:t>
            </a:r>
            <a:br>
              <a:rPr sz="2400" dirty="0"/>
            </a:br>
            <a:r>
              <a:rPr sz="2400" dirty="0"/>
              <a:t>tax   = price * Decimal('0.07')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EDBEF-D376-5E7E-2F51-E597F0E9A040}"/>
              </a:ext>
            </a:extLst>
          </p:cNvPr>
          <p:cNvSpPr>
            <a:spLocks noGrp="1"/>
          </p:cNvSpPr>
          <p:nvPr>
            <p:ph type="title"/>
          </p:nvPr>
        </p:nvSpPr>
        <p:spPr/>
        <p:txBody>
          <a:bodyPr/>
          <a:lstStyle/>
          <a:p>
            <a:r>
              <a:rPr lang="en-SG" dirty="0"/>
              <a:t>Attributes and Methods</a:t>
            </a:r>
          </a:p>
        </p:txBody>
      </p:sp>
      <p:sp>
        <p:nvSpPr>
          <p:cNvPr id="3" name="Content Placeholder 2">
            <a:extLst>
              <a:ext uri="{FF2B5EF4-FFF2-40B4-BE49-F238E27FC236}">
                <a16:creationId xmlns:a16="http://schemas.microsoft.com/office/drawing/2014/main" id="{D400DD97-CB3B-C333-B251-F749C8C26444}"/>
              </a:ext>
            </a:extLst>
          </p:cNvPr>
          <p:cNvSpPr>
            <a:spLocks noGrp="1"/>
          </p:cNvSpPr>
          <p:nvPr>
            <p:ph idx="1"/>
          </p:nvPr>
        </p:nvSpPr>
        <p:spPr/>
        <p:txBody>
          <a:bodyPr/>
          <a:lstStyle/>
          <a:p>
            <a:r>
              <a:rPr lang="en-US" dirty="0"/>
              <a:t>Different data types will have various attributes/methods that are associated with them.</a:t>
            </a:r>
          </a:p>
          <a:p>
            <a:r>
              <a:rPr lang="en-US" dirty="0"/>
              <a:t>We can access these attributes by using a period: [</a:t>
            </a:r>
            <a:r>
              <a:rPr lang="en-US" dirty="0" err="1"/>
              <a:t>var_name</a:t>
            </a:r>
            <a:r>
              <a:rPr lang="en-US" dirty="0"/>
              <a:t>].[attribute]</a:t>
            </a:r>
            <a:endParaRPr lang="en-SG" dirty="0"/>
          </a:p>
        </p:txBody>
      </p:sp>
    </p:spTree>
    <p:extLst>
      <p:ext uri="{BB962C8B-B14F-4D97-AF65-F5344CB8AC3E}">
        <p14:creationId xmlns:p14="http://schemas.microsoft.com/office/powerpoint/2010/main" val="14119773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36BCB-A5CF-82F4-5B90-6E0B4CF53EFE}"/>
              </a:ext>
            </a:extLst>
          </p:cNvPr>
          <p:cNvSpPr>
            <a:spLocks noGrp="1"/>
          </p:cNvSpPr>
          <p:nvPr>
            <p:ph type="title"/>
          </p:nvPr>
        </p:nvSpPr>
        <p:spPr/>
        <p:txBody>
          <a:bodyPr/>
          <a:lstStyle/>
          <a:p>
            <a:r>
              <a:rPr lang="en-SG" dirty="0"/>
              <a:t>Strings</a:t>
            </a:r>
          </a:p>
        </p:txBody>
      </p:sp>
      <p:sp>
        <p:nvSpPr>
          <p:cNvPr id="3" name="Content Placeholder 2">
            <a:extLst>
              <a:ext uri="{FF2B5EF4-FFF2-40B4-BE49-F238E27FC236}">
                <a16:creationId xmlns:a16="http://schemas.microsoft.com/office/drawing/2014/main" id="{1F2E1D83-BFB6-344E-AF06-1EFAA12E572B}"/>
              </a:ext>
            </a:extLst>
          </p:cNvPr>
          <p:cNvSpPr>
            <a:spLocks noGrp="1"/>
          </p:cNvSpPr>
          <p:nvPr>
            <p:ph idx="1"/>
          </p:nvPr>
        </p:nvSpPr>
        <p:spPr>
          <a:xfrm>
            <a:off x="571500" y="1600198"/>
            <a:ext cx="6604000" cy="4525963"/>
          </a:xfrm>
        </p:spPr>
        <p:style>
          <a:lnRef idx="2">
            <a:schemeClr val="dk1"/>
          </a:lnRef>
          <a:fillRef idx="1">
            <a:schemeClr val="lt1"/>
          </a:fillRef>
          <a:effectRef idx="0">
            <a:schemeClr val="dk1"/>
          </a:effectRef>
          <a:fontRef idx="minor">
            <a:schemeClr val="dk1"/>
          </a:fontRef>
        </p:style>
        <p:txBody>
          <a:bodyPr/>
          <a:lstStyle/>
          <a:p>
            <a:r>
              <a:rPr lang="en-US" b="1" dirty="0"/>
              <a:t>Strings: Immutable by Design</a:t>
            </a:r>
          </a:p>
          <a:p>
            <a:pPr lvl="1"/>
            <a:r>
              <a:rPr lang="en-US" dirty="0"/>
              <a:t>Strings cannot change in place</a:t>
            </a:r>
          </a:p>
          <a:p>
            <a:pPr lvl="1"/>
            <a:r>
              <a:rPr lang="en-US" dirty="0"/>
              <a:t>Methods always return </a:t>
            </a:r>
            <a:r>
              <a:rPr lang="en-US" b="1" dirty="0"/>
              <a:t>new strings</a:t>
            </a:r>
            <a:endParaRPr lang="en-US" dirty="0"/>
          </a:p>
          <a:p>
            <a:pPr lvl="1"/>
            <a:r>
              <a:rPr lang="en-US" dirty="0"/>
              <a:t>Use </a:t>
            </a:r>
            <a:r>
              <a:rPr lang="en-US" b="1" dirty="0"/>
              <a:t>f-strings</a:t>
            </a:r>
            <a:r>
              <a:rPr lang="en-US" dirty="0"/>
              <a:t> exclusively</a:t>
            </a:r>
          </a:p>
          <a:p>
            <a:pPr lvl="1"/>
            <a:endParaRPr lang="en-US" dirty="0"/>
          </a:p>
          <a:p>
            <a:r>
              <a:rPr lang="en-US" b="1" dirty="0"/>
              <a:t>Why this matters</a:t>
            </a:r>
            <a:endParaRPr lang="en-US" dirty="0"/>
          </a:p>
          <a:p>
            <a:pPr lvl="1"/>
            <a:r>
              <a:rPr lang="en-US" dirty="0"/>
              <a:t>Prevents accidental side effects</a:t>
            </a:r>
          </a:p>
          <a:p>
            <a:pPr lvl="1"/>
            <a:r>
              <a:rPr lang="en-US" dirty="0"/>
              <a:t>Enables safer text processing</a:t>
            </a:r>
          </a:p>
        </p:txBody>
      </p:sp>
      <p:sp>
        <p:nvSpPr>
          <p:cNvPr id="7" name="Content Placeholder 2">
            <a:extLst>
              <a:ext uri="{FF2B5EF4-FFF2-40B4-BE49-F238E27FC236}">
                <a16:creationId xmlns:a16="http://schemas.microsoft.com/office/drawing/2014/main" id="{B9882589-B8AD-D557-ACA0-1FC895A4A797}"/>
              </a:ext>
            </a:extLst>
          </p:cNvPr>
          <p:cNvSpPr txBox="1">
            <a:spLocks/>
          </p:cNvSpPr>
          <p:nvPr/>
        </p:nvSpPr>
        <p:spPr>
          <a:xfrm>
            <a:off x="7454900" y="1600199"/>
            <a:ext cx="42767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800" dirty="0"/>
              <a:t>#Small example </a:t>
            </a:r>
          </a:p>
          <a:p>
            <a:pPr marL="0" indent="0">
              <a:buNone/>
            </a:pPr>
            <a:r>
              <a:rPr lang="en-US" sz="2800" dirty="0"/>
              <a:t>x = "Hello World!" </a:t>
            </a:r>
          </a:p>
          <a:p>
            <a:pPr marL="0" indent="0">
              <a:buNone/>
            </a:pPr>
            <a:r>
              <a:rPr lang="en-US" sz="2800" dirty="0" err="1"/>
              <a:t>x.split</a:t>
            </a:r>
            <a:r>
              <a:rPr lang="en-US" sz="2800" dirty="0"/>
              <a:t>(" ") </a:t>
            </a:r>
          </a:p>
          <a:p>
            <a:pPr marL="0" indent="0">
              <a:buNone/>
            </a:pPr>
            <a:endParaRPr lang="en-US" sz="2800" dirty="0"/>
          </a:p>
          <a:p>
            <a:pPr marL="0" indent="0">
              <a:buNone/>
            </a:pPr>
            <a:r>
              <a:rPr lang="en-US" sz="2800" dirty="0"/>
              <a:t># Output</a:t>
            </a:r>
          </a:p>
          <a:p>
            <a:pPr marL="0" indent="0">
              <a:buNone/>
            </a:pPr>
            <a:r>
              <a:rPr lang="en-US" sz="2800" dirty="0"/>
              <a:t>"Hello" "World!"</a:t>
            </a:r>
            <a:endParaRPr lang="en-SG" sz="2800" dirty="0"/>
          </a:p>
        </p:txBody>
      </p:sp>
    </p:spTree>
    <p:extLst>
      <p:ext uri="{BB962C8B-B14F-4D97-AF65-F5344CB8AC3E}">
        <p14:creationId xmlns:p14="http://schemas.microsoft.com/office/powerpoint/2010/main" val="1910798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9862"/>
            <a:ext cx="8229600" cy="1143000"/>
          </a:xfrm>
        </p:spPr>
        <p:txBody>
          <a:bodyPr/>
          <a:lstStyle/>
          <a:p>
            <a:r>
              <a:rPr dirty="0"/>
              <a:t>String Methods &amp; Formatting</a:t>
            </a:r>
          </a:p>
        </p:txBody>
      </p:sp>
      <p:sp>
        <p:nvSpPr>
          <p:cNvPr id="3" name="Content Placeholder 2"/>
          <p:cNvSpPr>
            <a:spLocks noGrp="1"/>
          </p:cNvSpPr>
          <p:nvPr>
            <p:ph idx="1"/>
          </p:nvPr>
        </p:nvSpPr>
        <p:spPr>
          <a:xfrm>
            <a:off x="457200" y="973138"/>
            <a:ext cx="11391900" cy="5757862"/>
          </a:xfrm>
        </p:spPr>
        <p:txBody>
          <a:bodyPr>
            <a:normAutofit/>
          </a:bodyPr>
          <a:lstStyle/>
          <a:p>
            <a:r>
              <a:rPr lang="en-US" sz="2400" dirty="0"/>
              <a:t>Case Manipulation:</a:t>
            </a:r>
          </a:p>
          <a:p>
            <a:endParaRPr lang="en-US" sz="2400" dirty="0"/>
          </a:p>
          <a:p>
            <a:pPr lvl="1"/>
            <a:r>
              <a:rPr lang="en-US" sz="2400" dirty="0"/>
              <a:t>.capitalize(): Uppercases only the first character of the entire string.</a:t>
            </a:r>
          </a:p>
          <a:p>
            <a:endParaRPr lang="en-US" sz="2400" dirty="0"/>
          </a:p>
          <a:p>
            <a:pPr lvl="1"/>
            <a:r>
              <a:rPr lang="en-US" sz="2400" dirty="0"/>
              <a:t>.title(): Uppercases the first character of every word (ideal for names).</a:t>
            </a:r>
          </a:p>
          <a:p>
            <a:endParaRPr lang="en-US" sz="2400" dirty="0"/>
          </a:p>
          <a:p>
            <a:pPr lvl="1"/>
            <a:r>
              <a:rPr lang="en-US" sz="2400" dirty="0"/>
              <a:t>.upper() / .lower(): For standardizing data for comparison.</a:t>
            </a:r>
          </a:p>
          <a:p>
            <a:endParaRPr lang="en-US" sz="2400" dirty="0"/>
          </a:p>
          <a:p>
            <a:r>
              <a:rPr lang="en-US" sz="2400" dirty="0"/>
              <a:t>Stripping &amp; Splitting: Use .strip() to remove whitespace and .split() to tokenize strings into lists.</a:t>
            </a:r>
          </a:p>
          <a:p>
            <a:endParaRPr lang="en-US" sz="2400" dirty="0"/>
          </a:p>
          <a:p>
            <a:r>
              <a:rPr lang="en-US" sz="2400" dirty="0"/>
              <a:t>F-Strings (Python 3.6+): The modern standard for string interpolation, allowing embedded expressions: </a:t>
            </a:r>
            <a:r>
              <a:rPr lang="en-US" sz="2400" dirty="0" err="1"/>
              <a:t>f"Result</a:t>
            </a:r>
            <a:r>
              <a:rPr lang="en-US" sz="2400" dirty="0"/>
              <a:t>: {value:.2f}".</a:t>
            </a:r>
            <a:endParaRPr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5B096-4217-FB31-C64B-1FA0E42B6162}"/>
              </a:ext>
            </a:extLst>
          </p:cNvPr>
          <p:cNvSpPr>
            <a:spLocks noGrp="1"/>
          </p:cNvSpPr>
          <p:nvPr>
            <p:ph type="title"/>
          </p:nvPr>
        </p:nvSpPr>
        <p:spPr/>
        <p:txBody>
          <a:bodyPr>
            <a:normAutofit/>
          </a:bodyPr>
          <a:lstStyle/>
          <a:p>
            <a:r>
              <a:rPr lang="en-SG" dirty="0"/>
              <a:t>String Length &amp; Indexing</a:t>
            </a:r>
          </a:p>
        </p:txBody>
      </p:sp>
      <p:sp>
        <p:nvSpPr>
          <p:cNvPr id="3" name="Content Placeholder 2">
            <a:extLst>
              <a:ext uri="{FF2B5EF4-FFF2-40B4-BE49-F238E27FC236}">
                <a16:creationId xmlns:a16="http://schemas.microsoft.com/office/drawing/2014/main" id="{8EC399F5-F139-FEF0-12D5-E3B058FBEDA3}"/>
              </a:ext>
            </a:extLst>
          </p:cNvPr>
          <p:cNvSpPr>
            <a:spLocks noGrp="1"/>
          </p:cNvSpPr>
          <p:nvPr>
            <p:ph idx="1"/>
          </p:nvPr>
        </p:nvSpPr>
        <p:spPr>
          <a:xfrm>
            <a:off x="457200" y="1600200"/>
            <a:ext cx="41021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word = "Python"</a:t>
            </a:r>
          </a:p>
          <a:p>
            <a:pPr marL="0" indent="0">
              <a:buNone/>
            </a:pPr>
            <a:r>
              <a:rPr lang="en-US" dirty="0"/>
              <a:t>print(</a:t>
            </a:r>
            <a:r>
              <a:rPr lang="en-US" dirty="0" err="1"/>
              <a:t>len</a:t>
            </a:r>
            <a:r>
              <a:rPr lang="en-US" dirty="0"/>
              <a:t>(word))</a:t>
            </a:r>
          </a:p>
          <a:p>
            <a:pPr marL="0" indent="0">
              <a:buNone/>
            </a:pPr>
            <a:r>
              <a:rPr lang="en-US" dirty="0"/>
              <a:t>print(word[0])</a:t>
            </a:r>
          </a:p>
          <a:p>
            <a:pPr marL="0" indent="0">
              <a:buNone/>
            </a:pPr>
            <a:r>
              <a:rPr lang="en-US" dirty="0"/>
              <a:t>print(word[-1])</a:t>
            </a:r>
          </a:p>
          <a:p>
            <a:pPr marL="0" indent="0">
              <a:buNone/>
            </a:pPr>
            <a:endParaRPr lang="en-SG" dirty="0"/>
          </a:p>
        </p:txBody>
      </p:sp>
      <p:sp>
        <p:nvSpPr>
          <p:cNvPr id="4" name="Content Placeholder 2">
            <a:extLst>
              <a:ext uri="{FF2B5EF4-FFF2-40B4-BE49-F238E27FC236}">
                <a16:creationId xmlns:a16="http://schemas.microsoft.com/office/drawing/2014/main" id="{0C1A0489-A9EF-D7A9-ABF8-5A6E67046EAE}"/>
              </a:ext>
            </a:extLst>
          </p:cNvPr>
          <p:cNvSpPr txBox="1">
            <a:spLocks/>
          </p:cNvSpPr>
          <p:nvPr/>
        </p:nvSpPr>
        <p:spPr>
          <a:xfrm>
            <a:off x="4813300" y="1600199"/>
            <a:ext cx="70993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Indexing starts at </a:t>
            </a:r>
            <a:r>
              <a:rPr lang="en-US" b="1" dirty="0"/>
              <a:t>0</a:t>
            </a:r>
            <a:endParaRPr lang="en-US" dirty="0"/>
          </a:p>
          <a:p>
            <a:r>
              <a:rPr lang="en-US" dirty="0"/>
              <a:t>Negative indexing counts from the end</a:t>
            </a:r>
          </a:p>
        </p:txBody>
      </p:sp>
    </p:spTree>
    <p:extLst>
      <p:ext uri="{BB962C8B-B14F-4D97-AF65-F5344CB8AC3E}">
        <p14:creationId xmlns:p14="http://schemas.microsoft.com/office/powerpoint/2010/main" val="1386909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5E237-3914-1BB3-6DA9-7B6023E09A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506C1-F2C2-5468-9694-01D2B652D419}"/>
              </a:ext>
            </a:extLst>
          </p:cNvPr>
          <p:cNvSpPr>
            <a:spLocks noGrp="1"/>
          </p:cNvSpPr>
          <p:nvPr>
            <p:ph type="title"/>
          </p:nvPr>
        </p:nvSpPr>
        <p:spPr/>
        <p:txBody>
          <a:bodyPr>
            <a:normAutofit/>
          </a:bodyPr>
          <a:lstStyle/>
          <a:p>
            <a:r>
              <a:rPr lang="en-SG" dirty="0"/>
              <a:t>String Slicing</a:t>
            </a:r>
          </a:p>
        </p:txBody>
      </p:sp>
      <p:sp>
        <p:nvSpPr>
          <p:cNvPr id="3" name="Content Placeholder 2">
            <a:extLst>
              <a:ext uri="{FF2B5EF4-FFF2-40B4-BE49-F238E27FC236}">
                <a16:creationId xmlns:a16="http://schemas.microsoft.com/office/drawing/2014/main" id="{61146DA2-6A56-6A37-4796-D6AC5E99A940}"/>
              </a:ext>
            </a:extLst>
          </p:cNvPr>
          <p:cNvSpPr>
            <a:spLocks noGrp="1"/>
          </p:cNvSpPr>
          <p:nvPr>
            <p:ph idx="1"/>
          </p:nvPr>
        </p:nvSpPr>
        <p:spPr>
          <a:xfrm>
            <a:off x="457200" y="1600200"/>
            <a:ext cx="41021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text = "Programming"</a:t>
            </a:r>
          </a:p>
          <a:p>
            <a:pPr marL="0" indent="0">
              <a:buNone/>
            </a:pPr>
            <a:r>
              <a:rPr lang="en-US" dirty="0"/>
              <a:t>print(text[0:6])</a:t>
            </a:r>
          </a:p>
          <a:p>
            <a:pPr marL="0" indent="0">
              <a:buNone/>
            </a:pPr>
            <a:r>
              <a:rPr lang="en-US" dirty="0"/>
              <a:t>print(text[:6])</a:t>
            </a:r>
          </a:p>
          <a:p>
            <a:pPr marL="0" indent="0">
              <a:buNone/>
            </a:pPr>
            <a:r>
              <a:rPr lang="en-US" dirty="0"/>
              <a:t>print(text[3:])</a:t>
            </a:r>
          </a:p>
        </p:txBody>
      </p:sp>
      <p:sp>
        <p:nvSpPr>
          <p:cNvPr id="4" name="Content Placeholder 2">
            <a:extLst>
              <a:ext uri="{FF2B5EF4-FFF2-40B4-BE49-F238E27FC236}">
                <a16:creationId xmlns:a16="http://schemas.microsoft.com/office/drawing/2014/main" id="{34AE2250-E4F4-765E-821B-AEB8D93A1EF7}"/>
              </a:ext>
            </a:extLst>
          </p:cNvPr>
          <p:cNvSpPr txBox="1">
            <a:spLocks/>
          </p:cNvSpPr>
          <p:nvPr/>
        </p:nvSpPr>
        <p:spPr>
          <a:xfrm>
            <a:off x="4813300" y="1600199"/>
            <a:ext cx="70993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Extract substrings</a:t>
            </a:r>
          </a:p>
          <a:p>
            <a:r>
              <a:rPr lang="en-US" dirty="0"/>
              <a:t>Start index inclusive, end index exclusive</a:t>
            </a:r>
          </a:p>
        </p:txBody>
      </p:sp>
    </p:spTree>
    <p:extLst>
      <p:ext uri="{BB962C8B-B14F-4D97-AF65-F5344CB8AC3E}">
        <p14:creationId xmlns:p14="http://schemas.microsoft.com/office/powerpoint/2010/main" val="579725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08F3E-2CC7-17B5-8A4D-87ACC4057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FA907-D8BD-0499-6A06-18CE497A92F8}"/>
              </a:ext>
            </a:extLst>
          </p:cNvPr>
          <p:cNvSpPr>
            <a:spLocks noGrp="1"/>
          </p:cNvSpPr>
          <p:nvPr>
            <p:ph type="title"/>
          </p:nvPr>
        </p:nvSpPr>
        <p:spPr/>
        <p:txBody>
          <a:bodyPr>
            <a:normAutofit/>
          </a:bodyPr>
          <a:lstStyle/>
          <a:p>
            <a:r>
              <a:rPr lang="en-SG" dirty="0"/>
              <a:t>String Concatenation &amp; Repetition</a:t>
            </a:r>
          </a:p>
        </p:txBody>
      </p:sp>
      <p:sp>
        <p:nvSpPr>
          <p:cNvPr id="3" name="Content Placeholder 2">
            <a:extLst>
              <a:ext uri="{FF2B5EF4-FFF2-40B4-BE49-F238E27FC236}">
                <a16:creationId xmlns:a16="http://schemas.microsoft.com/office/drawing/2014/main" id="{BE653EFF-BECC-FEE5-B6B5-320AE6E9F9F5}"/>
              </a:ext>
            </a:extLst>
          </p:cNvPr>
          <p:cNvSpPr>
            <a:spLocks noGrp="1"/>
          </p:cNvSpPr>
          <p:nvPr>
            <p:ph idx="1"/>
          </p:nvPr>
        </p:nvSpPr>
        <p:spPr>
          <a:xfrm>
            <a:off x="457199" y="1600200"/>
            <a:ext cx="80010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first = "Hello"</a:t>
            </a:r>
          </a:p>
          <a:p>
            <a:pPr marL="0" indent="0">
              <a:buNone/>
            </a:pPr>
            <a:r>
              <a:rPr lang="en-US" dirty="0"/>
              <a:t>second = "World"</a:t>
            </a:r>
          </a:p>
          <a:p>
            <a:pPr marL="0" indent="0">
              <a:buNone/>
            </a:pPr>
            <a:endParaRPr lang="en-US" dirty="0"/>
          </a:p>
          <a:p>
            <a:pPr marL="0" indent="0">
              <a:buNone/>
            </a:pPr>
            <a:r>
              <a:rPr lang="en-US" dirty="0"/>
              <a:t>print(first + " " + second)</a:t>
            </a:r>
          </a:p>
          <a:p>
            <a:pPr marL="0" indent="0">
              <a:buNone/>
            </a:pPr>
            <a:r>
              <a:rPr lang="en-US" dirty="0"/>
              <a:t>print(first * 3)</a:t>
            </a:r>
          </a:p>
        </p:txBody>
      </p:sp>
    </p:spTree>
    <p:extLst>
      <p:ext uri="{BB962C8B-B14F-4D97-AF65-F5344CB8AC3E}">
        <p14:creationId xmlns:p14="http://schemas.microsoft.com/office/powerpoint/2010/main" val="1350195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B508C-4832-C0AA-C1C2-72A24A8DF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64BEC-5503-6AD8-C568-A5189F477DDD}"/>
              </a:ext>
            </a:extLst>
          </p:cNvPr>
          <p:cNvSpPr>
            <a:spLocks noGrp="1"/>
          </p:cNvSpPr>
          <p:nvPr>
            <p:ph type="title"/>
          </p:nvPr>
        </p:nvSpPr>
        <p:spPr/>
        <p:txBody>
          <a:bodyPr>
            <a:normAutofit/>
          </a:bodyPr>
          <a:lstStyle/>
          <a:p>
            <a:r>
              <a:rPr lang="en-SG" dirty="0"/>
              <a:t>Common String Methods</a:t>
            </a:r>
          </a:p>
        </p:txBody>
      </p:sp>
      <p:sp>
        <p:nvSpPr>
          <p:cNvPr id="3" name="Content Placeholder 2">
            <a:extLst>
              <a:ext uri="{FF2B5EF4-FFF2-40B4-BE49-F238E27FC236}">
                <a16:creationId xmlns:a16="http://schemas.microsoft.com/office/drawing/2014/main" id="{7E3822BC-2820-39EA-E2F7-0F1074EB346C}"/>
              </a:ext>
            </a:extLst>
          </p:cNvPr>
          <p:cNvSpPr>
            <a:spLocks noGrp="1"/>
          </p:cNvSpPr>
          <p:nvPr>
            <p:ph idx="1"/>
          </p:nvPr>
        </p:nvSpPr>
        <p:spPr>
          <a:xfrm>
            <a:off x="457199" y="1600200"/>
            <a:ext cx="52959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SG" dirty="0" err="1"/>
              <a:t>msg</a:t>
            </a:r>
            <a:r>
              <a:rPr lang="en-SG" dirty="0"/>
              <a:t> = "python programming"</a:t>
            </a:r>
          </a:p>
          <a:p>
            <a:pPr marL="0" indent="0">
              <a:buNone/>
            </a:pPr>
            <a:endParaRPr lang="en-SG" dirty="0"/>
          </a:p>
          <a:p>
            <a:pPr marL="0" indent="0">
              <a:buNone/>
            </a:pPr>
            <a:r>
              <a:rPr lang="en-SG" dirty="0"/>
              <a:t>print(</a:t>
            </a:r>
            <a:r>
              <a:rPr lang="en-SG" dirty="0" err="1"/>
              <a:t>msg.upper</a:t>
            </a:r>
            <a:r>
              <a:rPr lang="en-SG" dirty="0"/>
              <a:t>())</a:t>
            </a:r>
          </a:p>
          <a:p>
            <a:pPr marL="0" indent="0">
              <a:buNone/>
            </a:pPr>
            <a:r>
              <a:rPr lang="en-SG" dirty="0"/>
              <a:t>print(</a:t>
            </a:r>
            <a:r>
              <a:rPr lang="en-SG" dirty="0" err="1"/>
              <a:t>msg.lower</a:t>
            </a:r>
            <a:r>
              <a:rPr lang="en-SG" dirty="0"/>
              <a:t>())</a:t>
            </a:r>
          </a:p>
          <a:p>
            <a:pPr marL="0" indent="0">
              <a:buNone/>
            </a:pPr>
            <a:r>
              <a:rPr lang="en-SG" dirty="0"/>
              <a:t>print(</a:t>
            </a:r>
            <a:r>
              <a:rPr lang="en-SG" dirty="0" err="1"/>
              <a:t>msg.title</a:t>
            </a:r>
            <a:r>
              <a:rPr lang="en-SG" dirty="0"/>
              <a:t>())</a:t>
            </a:r>
          </a:p>
          <a:p>
            <a:pPr marL="0" indent="0">
              <a:buNone/>
            </a:pPr>
            <a:r>
              <a:rPr lang="en-SG" dirty="0"/>
              <a:t>print(</a:t>
            </a:r>
            <a:r>
              <a:rPr lang="en-SG" dirty="0" err="1"/>
              <a:t>msg.strip</a:t>
            </a:r>
            <a:r>
              <a:rPr lang="en-SG" dirty="0"/>
              <a:t>())</a:t>
            </a:r>
          </a:p>
        </p:txBody>
      </p:sp>
      <p:sp>
        <p:nvSpPr>
          <p:cNvPr id="4" name="Content Placeholder 2">
            <a:extLst>
              <a:ext uri="{FF2B5EF4-FFF2-40B4-BE49-F238E27FC236}">
                <a16:creationId xmlns:a16="http://schemas.microsoft.com/office/drawing/2014/main" id="{479D9F21-99D3-4AC0-2352-FDEBC88FD872}"/>
              </a:ext>
            </a:extLst>
          </p:cNvPr>
          <p:cNvSpPr txBox="1">
            <a:spLocks/>
          </p:cNvSpPr>
          <p:nvPr/>
        </p:nvSpPr>
        <p:spPr>
          <a:xfrm>
            <a:off x="6337300" y="1600199"/>
            <a:ext cx="55753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Methods return </a:t>
            </a:r>
            <a:r>
              <a:rPr lang="en-US" b="1" dirty="0"/>
              <a:t>new strings</a:t>
            </a:r>
            <a:r>
              <a:rPr lang="en-US" dirty="0"/>
              <a:t> (immutability)</a:t>
            </a:r>
          </a:p>
        </p:txBody>
      </p:sp>
    </p:spTree>
    <p:extLst>
      <p:ext uri="{BB962C8B-B14F-4D97-AF65-F5344CB8AC3E}">
        <p14:creationId xmlns:p14="http://schemas.microsoft.com/office/powerpoint/2010/main" val="1341202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62805-1DA4-79CC-278A-7A4975B8E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E00A9-A182-4B8E-8B3B-897A1A472916}"/>
              </a:ext>
            </a:extLst>
          </p:cNvPr>
          <p:cNvSpPr>
            <a:spLocks noGrp="1"/>
          </p:cNvSpPr>
          <p:nvPr>
            <p:ph type="title"/>
          </p:nvPr>
        </p:nvSpPr>
        <p:spPr/>
        <p:txBody>
          <a:bodyPr>
            <a:normAutofit/>
          </a:bodyPr>
          <a:lstStyle/>
          <a:p>
            <a:r>
              <a:rPr lang="en-SG" dirty="0"/>
              <a:t>Searching &amp; Checking Strings</a:t>
            </a:r>
          </a:p>
        </p:txBody>
      </p:sp>
      <p:sp>
        <p:nvSpPr>
          <p:cNvPr id="3" name="Content Placeholder 2">
            <a:extLst>
              <a:ext uri="{FF2B5EF4-FFF2-40B4-BE49-F238E27FC236}">
                <a16:creationId xmlns:a16="http://schemas.microsoft.com/office/drawing/2014/main" id="{758111DC-9291-BACD-8D3B-0EB3DDA0F018}"/>
              </a:ext>
            </a:extLst>
          </p:cNvPr>
          <p:cNvSpPr>
            <a:spLocks noGrp="1"/>
          </p:cNvSpPr>
          <p:nvPr>
            <p:ph idx="1"/>
          </p:nvPr>
        </p:nvSpPr>
        <p:spPr>
          <a:xfrm>
            <a:off x="1320799" y="1587500"/>
            <a:ext cx="67056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text = "learning python"</a:t>
            </a:r>
          </a:p>
          <a:p>
            <a:pPr marL="0" indent="0">
              <a:buNone/>
            </a:pPr>
            <a:endParaRPr lang="en-US" dirty="0"/>
          </a:p>
          <a:p>
            <a:pPr marL="0" indent="0">
              <a:buNone/>
            </a:pPr>
            <a:r>
              <a:rPr lang="en-US" dirty="0"/>
              <a:t>print("python" in text)</a:t>
            </a:r>
          </a:p>
          <a:p>
            <a:pPr marL="0" indent="0">
              <a:buNone/>
            </a:pPr>
            <a:r>
              <a:rPr lang="en-US" dirty="0"/>
              <a:t>print(</a:t>
            </a:r>
            <a:r>
              <a:rPr lang="en-US" dirty="0" err="1"/>
              <a:t>text.startswith</a:t>
            </a:r>
            <a:r>
              <a:rPr lang="en-US" dirty="0"/>
              <a:t>("learn"))</a:t>
            </a:r>
          </a:p>
          <a:p>
            <a:pPr marL="0" indent="0">
              <a:buNone/>
            </a:pPr>
            <a:r>
              <a:rPr lang="en-US" dirty="0"/>
              <a:t>print(</a:t>
            </a:r>
            <a:r>
              <a:rPr lang="en-US" dirty="0" err="1"/>
              <a:t>text.endswith</a:t>
            </a:r>
            <a:r>
              <a:rPr lang="en-US" dirty="0"/>
              <a:t>("on"))</a:t>
            </a:r>
          </a:p>
        </p:txBody>
      </p:sp>
    </p:spTree>
    <p:extLst>
      <p:ext uri="{BB962C8B-B14F-4D97-AF65-F5344CB8AC3E}">
        <p14:creationId xmlns:p14="http://schemas.microsoft.com/office/powerpoint/2010/main" val="37809180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85A83-8218-208A-47C9-3A6AE267E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CF148-FD2F-E6DB-6AAF-FECE6271258B}"/>
              </a:ext>
            </a:extLst>
          </p:cNvPr>
          <p:cNvSpPr>
            <a:spLocks noGrp="1"/>
          </p:cNvSpPr>
          <p:nvPr>
            <p:ph type="title"/>
          </p:nvPr>
        </p:nvSpPr>
        <p:spPr/>
        <p:txBody>
          <a:bodyPr>
            <a:normAutofit/>
          </a:bodyPr>
          <a:lstStyle/>
          <a:p>
            <a:r>
              <a:rPr lang="en-SG" dirty="0"/>
              <a:t>Replacing &amp; Splitting Strings</a:t>
            </a:r>
          </a:p>
        </p:txBody>
      </p:sp>
      <p:sp>
        <p:nvSpPr>
          <p:cNvPr id="3" name="Content Placeholder 2">
            <a:extLst>
              <a:ext uri="{FF2B5EF4-FFF2-40B4-BE49-F238E27FC236}">
                <a16:creationId xmlns:a16="http://schemas.microsoft.com/office/drawing/2014/main" id="{BD8BA225-F5BF-B3BA-25D4-E6076B77D900}"/>
              </a:ext>
            </a:extLst>
          </p:cNvPr>
          <p:cNvSpPr>
            <a:spLocks noGrp="1"/>
          </p:cNvSpPr>
          <p:nvPr>
            <p:ph idx="1"/>
          </p:nvPr>
        </p:nvSpPr>
        <p:spPr>
          <a:xfrm>
            <a:off x="1320799" y="1587500"/>
            <a:ext cx="68834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sentence = "I love Python"</a:t>
            </a:r>
          </a:p>
          <a:p>
            <a:pPr marL="0" indent="0">
              <a:buNone/>
            </a:pPr>
            <a:endParaRPr lang="en-US" dirty="0"/>
          </a:p>
          <a:p>
            <a:pPr marL="0" indent="0">
              <a:buNone/>
            </a:pPr>
            <a:r>
              <a:rPr lang="en-US" dirty="0"/>
              <a:t>print(</a:t>
            </a:r>
            <a:r>
              <a:rPr lang="en-US" dirty="0" err="1"/>
              <a:t>sentence.replace</a:t>
            </a:r>
            <a:r>
              <a:rPr lang="en-US" dirty="0"/>
              <a:t>("love", "enjoy"))</a:t>
            </a:r>
          </a:p>
          <a:p>
            <a:pPr marL="0" indent="0">
              <a:buNone/>
            </a:pPr>
            <a:r>
              <a:rPr lang="en-US" dirty="0"/>
              <a:t>print(</a:t>
            </a:r>
            <a:r>
              <a:rPr lang="en-US" dirty="0" err="1"/>
              <a:t>sentence.split</a:t>
            </a:r>
            <a:r>
              <a:rPr lang="en-US" dirty="0"/>
              <a:t>())</a:t>
            </a:r>
          </a:p>
        </p:txBody>
      </p:sp>
    </p:spTree>
    <p:extLst>
      <p:ext uri="{BB962C8B-B14F-4D97-AF65-F5344CB8AC3E}">
        <p14:creationId xmlns:p14="http://schemas.microsoft.com/office/powerpoint/2010/main" val="39324142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443B-ED52-A679-F09E-296E11FBA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44576-DFFF-AE7D-9CA0-55D2EE68A6E5}"/>
              </a:ext>
            </a:extLst>
          </p:cNvPr>
          <p:cNvSpPr>
            <a:spLocks noGrp="1"/>
          </p:cNvSpPr>
          <p:nvPr>
            <p:ph type="title"/>
          </p:nvPr>
        </p:nvSpPr>
        <p:spPr/>
        <p:txBody>
          <a:bodyPr>
            <a:normAutofit/>
          </a:bodyPr>
          <a:lstStyle/>
          <a:p>
            <a:r>
              <a:rPr lang="en-SG" dirty="0"/>
              <a:t>Joining Strings</a:t>
            </a:r>
          </a:p>
        </p:txBody>
      </p:sp>
      <p:sp>
        <p:nvSpPr>
          <p:cNvPr id="3" name="Content Placeholder 2">
            <a:extLst>
              <a:ext uri="{FF2B5EF4-FFF2-40B4-BE49-F238E27FC236}">
                <a16:creationId xmlns:a16="http://schemas.microsoft.com/office/drawing/2014/main" id="{8A9C42D5-6994-85DB-A737-E05A65E2BCA7}"/>
              </a:ext>
            </a:extLst>
          </p:cNvPr>
          <p:cNvSpPr>
            <a:spLocks noGrp="1"/>
          </p:cNvSpPr>
          <p:nvPr>
            <p:ph idx="1"/>
          </p:nvPr>
        </p:nvSpPr>
        <p:spPr>
          <a:xfrm>
            <a:off x="1320799" y="1587500"/>
            <a:ext cx="68834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words = ["Python", "is", "fun"]</a:t>
            </a:r>
          </a:p>
          <a:p>
            <a:pPr marL="0" indent="0">
              <a:buNone/>
            </a:pPr>
            <a:r>
              <a:rPr lang="en-US" dirty="0"/>
              <a:t>sentence = " ".join(words)</a:t>
            </a:r>
          </a:p>
          <a:p>
            <a:pPr marL="0" indent="0">
              <a:buNone/>
            </a:pPr>
            <a:r>
              <a:rPr lang="en-US" dirty="0"/>
              <a:t>print(sentence)</a:t>
            </a:r>
          </a:p>
        </p:txBody>
      </p:sp>
    </p:spTree>
    <p:extLst>
      <p:ext uri="{BB962C8B-B14F-4D97-AF65-F5344CB8AC3E}">
        <p14:creationId xmlns:p14="http://schemas.microsoft.com/office/powerpoint/2010/main" val="10023612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5FDCE-89CD-7116-F268-79C51C839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9D1B0-0E93-25CF-A94F-82838D219837}"/>
              </a:ext>
            </a:extLst>
          </p:cNvPr>
          <p:cNvSpPr>
            <a:spLocks noGrp="1"/>
          </p:cNvSpPr>
          <p:nvPr>
            <p:ph type="title"/>
          </p:nvPr>
        </p:nvSpPr>
        <p:spPr/>
        <p:txBody>
          <a:bodyPr>
            <a:normAutofit/>
          </a:bodyPr>
          <a:lstStyle/>
          <a:p>
            <a:r>
              <a:rPr lang="en-SG" dirty="0"/>
              <a:t>String Formatting (f-strings)</a:t>
            </a:r>
          </a:p>
        </p:txBody>
      </p:sp>
      <p:sp>
        <p:nvSpPr>
          <p:cNvPr id="3" name="Content Placeholder 2">
            <a:extLst>
              <a:ext uri="{FF2B5EF4-FFF2-40B4-BE49-F238E27FC236}">
                <a16:creationId xmlns:a16="http://schemas.microsoft.com/office/drawing/2014/main" id="{F055F6D5-79E6-8CF4-3BC4-EDAF57AE84CB}"/>
              </a:ext>
            </a:extLst>
          </p:cNvPr>
          <p:cNvSpPr>
            <a:spLocks noGrp="1"/>
          </p:cNvSpPr>
          <p:nvPr>
            <p:ph idx="1"/>
          </p:nvPr>
        </p:nvSpPr>
        <p:spPr>
          <a:xfrm>
            <a:off x="457200" y="1587500"/>
            <a:ext cx="57658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name = "Alex"</a:t>
            </a:r>
          </a:p>
          <a:p>
            <a:pPr marL="0" indent="0">
              <a:buNone/>
            </a:pPr>
            <a:r>
              <a:rPr lang="en-US" dirty="0"/>
              <a:t>age = 25</a:t>
            </a:r>
          </a:p>
          <a:p>
            <a:pPr marL="0" indent="0">
              <a:buNone/>
            </a:pPr>
            <a:endParaRPr lang="en-US" dirty="0"/>
          </a:p>
          <a:p>
            <a:pPr marL="0" indent="0">
              <a:buNone/>
            </a:pPr>
            <a:r>
              <a:rPr lang="en-US" dirty="0"/>
              <a:t>print(f"{name} is {age} years old")</a:t>
            </a:r>
          </a:p>
        </p:txBody>
      </p:sp>
      <p:sp>
        <p:nvSpPr>
          <p:cNvPr id="4" name="Content Placeholder 2">
            <a:extLst>
              <a:ext uri="{FF2B5EF4-FFF2-40B4-BE49-F238E27FC236}">
                <a16:creationId xmlns:a16="http://schemas.microsoft.com/office/drawing/2014/main" id="{472431FE-D0D2-88C4-FFA7-126534A057B7}"/>
              </a:ext>
            </a:extLst>
          </p:cNvPr>
          <p:cNvSpPr txBox="1">
            <a:spLocks/>
          </p:cNvSpPr>
          <p:nvPr/>
        </p:nvSpPr>
        <p:spPr>
          <a:xfrm>
            <a:off x="6413499" y="1587499"/>
            <a:ext cx="53181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b="1" dirty="0"/>
              <a:t>Why f-strings?</a:t>
            </a:r>
          </a:p>
          <a:p>
            <a:pPr lvl="1"/>
            <a:r>
              <a:rPr lang="en-US" dirty="0"/>
              <a:t>Clean</a:t>
            </a:r>
          </a:p>
          <a:p>
            <a:pPr lvl="1"/>
            <a:r>
              <a:rPr lang="en-US" dirty="0"/>
              <a:t>Readable</a:t>
            </a:r>
          </a:p>
          <a:p>
            <a:pPr lvl="1"/>
            <a:r>
              <a:rPr lang="en-US" dirty="0"/>
              <a:t>Efficient</a:t>
            </a:r>
          </a:p>
        </p:txBody>
      </p:sp>
    </p:spTree>
    <p:extLst>
      <p:ext uri="{BB962C8B-B14F-4D97-AF65-F5344CB8AC3E}">
        <p14:creationId xmlns:p14="http://schemas.microsoft.com/office/powerpoint/2010/main" val="3821208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38324-9E2C-19F3-4AC3-E657CC5F4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24399-F764-A999-6680-DB144714049A}"/>
              </a:ext>
            </a:extLst>
          </p:cNvPr>
          <p:cNvSpPr>
            <a:spLocks noGrp="1"/>
          </p:cNvSpPr>
          <p:nvPr>
            <p:ph type="title"/>
          </p:nvPr>
        </p:nvSpPr>
        <p:spPr/>
        <p:txBody>
          <a:bodyPr>
            <a:normAutofit/>
          </a:bodyPr>
          <a:lstStyle/>
          <a:p>
            <a:r>
              <a:rPr lang="en-SG" dirty="0"/>
              <a:t>Escape Characters</a:t>
            </a:r>
          </a:p>
        </p:txBody>
      </p:sp>
      <p:sp>
        <p:nvSpPr>
          <p:cNvPr id="3" name="Content Placeholder 2">
            <a:extLst>
              <a:ext uri="{FF2B5EF4-FFF2-40B4-BE49-F238E27FC236}">
                <a16:creationId xmlns:a16="http://schemas.microsoft.com/office/drawing/2014/main" id="{ED7DACCD-97D6-F19B-6862-C82A16DE4C42}"/>
              </a:ext>
            </a:extLst>
          </p:cNvPr>
          <p:cNvSpPr>
            <a:spLocks noGrp="1"/>
          </p:cNvSpPr>
          <p:nvPr>
            <p:ph idx="1"/>
          </p:nvPr>
        </p:nvSpPr>
        <p:spPr>
          <a:xfrm>
            <a:off x="1320799" y="1587500"/>
            <a:ext cx="68834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print("Line 1\</a:t>
            </a:r>
            <a:r>
              <a:rPr lang="en-US" dirty="0" err="1"/>
              <a:t>nLine</a:t>
            </a:r>
            <a:r>
              <a:rPr lang="en-US" dirty="0"/>
              <a:t> 2")</a:t>
            </a:r>
          </a:p>
          <a:p>
            <a:pPr marL="0" indent="0">
              <a:buNone/>
            </a:pPr>
            <a:r>
              <a:rPr lang="en-US" dirty="0"/>
              <a:t>print("He said, \"Hello\"")</a:t>
            </a:r>
          </a:p>
        </p:txBody>
      </p:sp>
    </p:spTree>
    <p:extLst>
      <p:ext uri="{BB962C8B-B14F-4D97-AF65-F5344CB8AC3E}">
        <p14:creationId xmlns:p14="http://schemas.microsoft.com/office/powerpoint/2010/main" val="12117287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8F92A-D7BE-F963-36FD-FD407B2D2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4EDBD-3D4D-7AD9-C579-4C4961BF2244}"/>
              </a:ext>
            </a:extLst>
          </p:cNvPr>
          <p:cNvSpPr>
            <a:spLocks noGrp="1"/>
          </p:cNvSpPr>
          <p:nvPr>
            <p:ph type="title"/>
          </p:nvPr>
        </p:nvSpPr>
        <p:spPr/>
        <p:txBody>
          <a:bodyPr>
            <a:normAutofit/>
          </a:bodyPr>
          <a:lstStyle/>
          <a:p>
            <a:r>
              <a:rPr lang="en-SG" dirty="0"/>
              <a:t>Strings Are Immutable</a:t>
            </a:r>
          </a:p>
        </p:txBody>
      </p:sp>
      <p:sp>
        <p:nvSpPr>
          <p:cNvPr id="3" name="Content Placeholder 2">
            <a:extLst>
              <a:ext uri="{FF2B5EF4-FFF2-40B4-BE49-F238E27FC236}">
                <a16:creationId xmlns:a16="http://schemas.microsoft.com/office/drawing/2014/main" id="{7508A068-1496-BECB-9FD9-831BDDD9A961}"/>
              </a:ext>
            </a:extLst>
          </p:cNvPr>
          <p:cNvSpPr>
            <a:spLocks noGrp="1"/>
          </p:cNvSpPr>
          <p:nvPr>
            <p:ph idx="1"/>
          </p:nvPr>
        </p:nvSpPr>
        <p:spPr>
          <a:xfrm>
            <a:off x="457200" y="1587500"/>
            <a:ext cx="57658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s = "hello"</a:t>
            </a:r>
          </a:p>
          <a:p>
            <a:pPr marL="0" indent="0">
              <a:buNone/>
            </a:pPr>
            <a:r>
              <a:rPr lang="en-US" dirty="0"/>
              <a:t>s = </a:t>
            </a:r>
            <a:r>
              <a:rPr lang="en-US" dirty="0" err="1"/>
              <a:t>s.upper</a:t>
            </a:r>
            <a:r>
              <a:rPr lang="en-US" dirty="0"/>
              <a:t>()</a:t>
            </a:r>
          </a:p>
          <a:p>
            <a:pPr marL="0" indent="0">
              <a:buNone/>
            </a:pPr>
            <a:r>
              <a:rPr lang="en-US" dirty="0"/>
              <a:t>print(s)</a:t>
            </a:r>
          </a:p>
        </p:txBody>
      </p:sp>
      <p:sp>
        <p:nvSpPr>
          <p:cNvPr id="4" name="Content Placeholder 2">
            <a:extLst>
              <a:ext uri="{FF2B5EF4-FFF2-40B4-BE49-F238E27FC236}">
                <a16:creationId xmlns:a16="http://schemas.microsoft.com/office/drawing/2014/main" id="{ECA001BE-501B-5962-B548-C3D95138369F}"/>
              </a:ext>
            </a:extLst>
          </p:cNvPr>
          <p:cNvSpPr txBox="1">
            <a:spLocks/>
          </p:cNvSpPr>
          <p:nvPr/>
        </p:nvSpPr>
        <p:spPr>
          <a:xfrm>
            <a:off x="6413499" y="1587499"/>
            <a:ext cx="53181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dirty="0"/>
              <a:t>Strings cannot be modified in place</a:t>
            </a:r>
          </a:p>
          <a:p>
            <a:r>
              <a:rPr lang="en-US" dirty="0"/>
              <a:t>Operations create </a:t>
            </a:r>
            <a:r>
              <a:rPr lang="en-US" b="1" dirty="0"/>
              <a:t>new strings</a:t>
            </a:r>
            <a:endParaRPr lang="en-US" dirty="0"/>
          </a:p>
        </p:txBody>
      </p:sp>
    </p:spTree>
    <p:extLst>
      <p:ext uri="{BB962C8B-B14F-4D97-AF65-F5344CB8AC3E}">
        <p14:creationId xmlns:p14="http://schemas.microsoft.com/office/powerpoint/2010/main" val="26992651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CA45-4DF4-E0AD-6406-128EACBEB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A7A09-472E-ED32-A1F8-1BBF3CB1B870}"/>
              </a:ext>
            </a:extLst>
          </p:cNvPr>
          <p:cNvSpPr>
            <a:spLocks noGrp="1"/>
          </p:cNvSpPr>
          <p:nvPr>
            <p:ph type="title"/>
          </p:nvPr>
        </p:nvSpPr>
        <p:spPr/>
        <p:txBody>
          <a:bodyPr>
            <a:normAutofit/>
          </a:bodyPr>
          <a:lstStyle/>
          <a:p>
            <a:r>
              <a:rPr lang="en-SG" dirty="0"/>
              <a:t>Common Mistakes</a:t>
            </a:r>
          </a:p>
        </p:txBody>
      </p:sp>
      <p:sp>
        <p:nvSpPr>
          <p:cNvPr id="3" name="Content Placeholder 2">
            <a:extLst>
              <a:ext uri="{FF2B5EF4-FFF2-40B4-BE49-F238E27FC236}">
                <a16:creationId xmlns:a16="http://schemas.microsoft.com/office/drawing/2014/main" id="{C8505F7E-F6A5-02BC-F0B3-D4ABFF934996}"/>
              </a:ext>
            </a:extLst>
          </p:cNvPr>
          <p:cNvSpPr>
            <a:spLocks noGrp="1"/>
          </p:cNvSpPr>
          <p:nvPr>
            <p:ph idx="1"/>
          </p:nvPr>
        </p:nvSpPr>
        <p:spPr>
          <a:xfrm>
            <a:off x="457200" y="1587500"/>
            <a:ext cx="5765801"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 Error</a:t>
            </a:r>
          </a:p>
          <a:p>
            <a:pPr marL="0" indent="0">
              <a:buNone/>
            </a:pPr>
            <a:r>
              <a:rPr lang="en-US" dirty="0"/>
              <a:t>"Age: " + 25</a:t>
            </a:r>
          </a:p>
        </p:txBody>
      </p:sp>
      <p:sp>
        <p:nvSpPr>
          <p:cNvPr id="4" name="Content Placeholder 2">
            <a:extLst>
              <a:ext uri="{FF2B5EF4-FFF2-40B4-BE49-F238E27FC236}">
                <a16:creationId xmlns:a16="http://schemas.microsoft.com/office/drawing/2014/main" id="{FC3B14BA-3814-E8BD-A569-D389569CC554}"/>
              </a:ext>
            </a:extLst>
          </p:cNvPr>
          <p:cNvSpPr txBox="1">
            <a:spLocks/>
          </p:cNvSpPr>
          <p:nvPr/>
        </p:nvSpPr>
        <p:spPr>
          <a:xfrm>
            <a:off x="6413499" y="1587499"/>
            <a:ext cx="53181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dirty="0"/>
              <a:t>Index out of range</a:t>
            </a:r>
          </a:p>
          <a:p>
            <a:r>
              <a:rPr lang="en-US" dirty="0"/>
              <a:t>Forgetting strings are immutable</a:t>
            </a:r>
          </a:p>
          <a:p>
            <a:r>
              <a:rPr lang="en-US" dirty="0"/>
              <a:t>Mixing strings and numbers without conversion</a:t>
            </a:r>
          </a:p>
        </p:txBody>
      </p:sp>
    </p:spTree>
    <p:extLst>
      <p:ext uri="{BB962C8B-B14F-4D97-AF65-F5344CB8AC3E}">
        <p14:creationId xmlns:p14="http://schemas.microsoft.com/office/powerpoint/2010/main" val="23643028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AD84-CEC1-4FF2-344F-0EE5D96621C6}"/>
              </a:ext>
            </a:extLst>
          </p:cNvPr>
          <p:cNvSpPr>
            <a:spLocks noGrp="1"/>
          </p:cNvSpPr>
          <p:nvPr>
            <p:ph type="title"/>
          </p:nvPr>
        </p:nvSpPr>
        <p:spPr/>
        <p:txBody>
          <a:bodyPr/>
          <a:lstStyle/>
          <a:p>
            <a:r>
              <a:rPr lang="en-US" dirty="0"/>
              <a:t>Key Takeaways</a:t>
            </a:r>
            <a:endParaRPr lang="en-SG" dirty="0"/>
          </a:p>
        </p:txBody>
      </p:sp>
      <p:sp>
        <p:nvSpPr>
          <p:cNvPr id="3" name="Content Placeholder 2">
            <a:extLst>
              <a:ext uri="{FF2B5EF4-FFF2-40B4-BE49-F238E27FC236}">
                <a16:creationId xmlns:a16="http://schemas.microsoft.com/office/drawing/2014/main" id="{F821F046-422A-C743-25A1-2C2D54CC5390}"/>
              </a:ext>
            </a:extLst>
          </p:cNvPr>
          <p:cNvSpPr>
            <a:spLocks noGrp="1"/>
          </p:cNvSpPr>
          <p:nvPr>
            <p:ph idx="1"/>
          </p:nvPr>
        </p:nvSpPr>
        <p:spPr/>
        <p:txBody>
          <a:bodyPr/>
          <a:lstStyle/>
          <a:p>
            <a:r>
              <a:rPr lang="en-US" dirty="0"/>
              <a:t>Strings are sequences and immutable</a:t>
            </a:r>
          </a:p>
          <a:p>
            <a:r>
              <a:rPr lang="en-US" dirty="0"/>
              <a:t>Many built-in methods simplify text processing</a:t>
            </a:r>
          </a:p>
          <a:p>
            <a:r>
              <a:rPr lang="en-US" dirty="0"/>
              <a:t>f-strings are the preferred formatting method</a:t>
            </a:r>
          </a:p>
          <a:p>
            <a:endParaRPr lang="en-SG" dirty="0"/>
          </a:p>
        </p:txBody>
      </p:sp>
    </p:spTree>
    <p:extLst>
      <p:ext uri="{BB962C8B-B14F-4D97-AF65-F5344CB8AC3E}">
        <p14:creationId xmlns:p14="http://schemas.microsoft.com/office/powerpoint/2010/main" val="37102863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4C972-34EC-07EF-D1DF-4548E8FCC4EB}"/>
              </a:ext>
            </a:extLst>
          </p:cNvPr>
          <p:cNvSpPr>
            <a:spLocks noGrp="1"/>
          </p:cNvSpPr>
          <p:nvPr>
            <p:ph type="title"/>
          </p:nvPr>
        </p:nvSpPr>
        <p:spPr/>
        <p:txBody>
          <a:bodyPr/>
          <a:lstStyle/>
          <a:p>
            <a:r>
              <a:rPr lang="en-SG" dirty="0"/>
              <a:t>Hands-On Exercise</a:t>
            </a:r>
          </a:p>
        </p:txBody>
      </p:sp>
      <p:sp>
        <p:nvSpPr>
          <p:cNvPr id="3" name="Content Placeholder 2">
            <a:extLst>
              <a:ext uri="{FF2B5EF4-FFF2-40B4-BE49-F238E27FC236}">
                <a16:creationId xmlns:a16="http://schemas.microsoft.com/office/drawing/2014/main" id="{91879F81-7551-89BA-58C4-C175EC54400E}"/>
              </a:ext>
            </a:extLst>
          </p:cNvPr>
          <p:cNvSpPr>
            <a:spLocks noGrp="1"/>
          </p:cNvSpPr>
          <p:nvPr>
            <p:ph idx="1"/>
          </p:nvPr>
        </p:nvSpPr>
        <p:spPr/>
        <p:txBody>
          <a:bodyPr/>
          <a:lstStyle/>
          <a:p>
            <a:r>
              <a:rPr lang="en-US" dirty="0"/>
              <a:t>Ask the user for a sentence</a:t>
            </a:r>
          </a:p>
          <a:p>
            <a:r>
              <a:rPr lang="en-US" dirty="0"/>
              <a:t>Print:</a:t>
            </a:r>
          </a:p>
          <a:p>
            <a:pPr lvl="1"/>
            <a:r>
              <a:rPr lang="en-US" dirty="0"/>
              <a:t>Length of the sentence</a:t>
            </a:r>
          </a:p>
          <a:p>
            <a:pPr lvl="1"/>
            <a:r>
              <a:rPr lang="en-US" dirty="0"/>
              <a:t>Uppercase version</a:t>
            </a:r>
          </a:p>
          <a:p>
            <a:pPr lvl="1"/>
            <a:r>
              <a:rPr lang="en-US" dirty="0"/>
              <a:t>Number of words</a:t>
            </a:r>
          </a:p>
          <a:p>
            <a:endParaRPr lang="en-SG" dirty="0"/>
          </a:p>
        </p:txBody>
      </p:sp>
    </p:spTree>
    <p:extLst>
      <p:ext uri="{BB962C8B-B14F-4D97-AF65-F5344CB8AC3E}">
        <p14:creationId xmlns:p14="http://schemas.microsoft.com/office/powerpoint/2010/main" val="6354800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4080D-8A6A-B3A4-88A5-B78093C2179F}"/>
              </a:ext>
            </a:extLst>
          </p:cNvPr>
          <p:cNvSpPr>
            <a:spLocks noGrp="1"/>
          </p:cNvSpPr>
          <p:nvPr>
            <p:ph type="title"/>
          </p:nvPr>
        </p:nvSpPr>
        <p:spPr>
          <a:xfrm>
            <a:off x="457200" y="-76200"/>
            <a:ext cx="8229600" cy="1143000"/>
          </a:xfrm>
        </p:spPr>
        <p:txBody>
          <a:bodyPr/>
          <a:lstStyle/>
          <a:p>
            <a:r>
              <a:rPr lang="en-SG" dirty="0"/>
              <a:t>Solution</a:t>
            </a:r>
          </a:p>
        </p:txBody>
      </p:sp>
      <p:sp>
        <p:nvSpPr>
          <p:cNvPr id="3" name="Content Placeholder 2">
            <a:extLst>
              <a:ext uri="{FF2B5EF4-FFF2-40B4-BE49-F238E27FC236}">
                <a16:creationId xmlns:a16="http://schemas.microsoft.com/office/drawing/2014/main" id="{93E029F3-8EB0-047B-26AB-9BD1FBD5213A}"/>
              </a:ext>
            </a:extLst>
          </p:cNvPr>
          <p:cNvSpPr>
            <a:spLocks noGrp="1"/>
          </p:cNvSpPr>
          <p:nvPr>
            <p:ph idx="1"/>
          </p:nvPr>
        </p:nvSpPr>
        <p:spPr>
          <a:xfrm>
            <a:off x="292100" y="1066800"/>
            <a:ext cx="6527800" cy="5295900"/>
          </a:xfrm>
        </p:spPr>
        <p:style>
          <a:lnRef idx="2">
            <a:schemeClr val="dk1"/>
          </a:lnRef>
          <a:fillRef idx="1">
            <a:schemeClr val="lt1"/>
          </a:fillRef>
          <a:effectRef idx="0">
            <a:schemeClr val="dk1"/>
          </a:effectRef>
          <a:fontRef idx="minor">
            <a:schemeClr val="dk1"/>
          </a:fontRef>
        </p:style>
        <p:txBody>
          <a:bodyPr>
            <a:normAutofit fontScale="92500" lnSpcReduction="20000"/>
          </a:bodyPr>
          <a:lstStyle/>
          <a:p>
            <a:pPr marL="0" indent="0">
              <a:buNone/>
            </a:pPr>
            <a:r>
              <a:rPr lang="en-US" dirty="0"/>
              <a:t>sentence = input("Enter a sentence: ")</a:t>
            </a:r>
          </a:p>
          <a:p>
            <a:pPr marL="0" indent="0">
              <a:buNone/>
            </a:pPr>
            <a:endParaRPr lang="en-US" dirty="0"/>
          </a:p>
          <a:p>
            <a:pPr marL="0" indent="0">
              <a:buNone/>
            </a:pPr>
            <a:r>
              <a:rPr lang="en-US" dirty="0"/>
              <a:t># Length of the sentence</a:t>
            </a:r>
          </a:p>
          <a:p>
            <a:pPr marL="0" indent="0">
              <a:buNone/>
            </a:pPr>
            <a:r>
              <a:rPr lang="en-US" dirty="0"/>
              <a:t>print("Length:", </a:t>
            </a:r>
            <a:r>
              <a:rPr lang="en-US" dirty="0" err="1"/>
              <a:t>len</a:t>
            </a:r>
            <a:r>
              <a:rPr lang="en-US" dirty="0"/>
              <a:t>(sentence))</a:t>
            </a:r>
          </a:p>
          <a:p>
            <a:pPr marL="0" indent="0">
              <a:buNone/>
            </a:pPr>
            <a:endParaRPr lang="en-US" dirty="0"/>
          </a:p>
          <a:p>
            <a:pPr marL="0" indent="0">
              <a:buNone/>
            </a:pPr>
            <a:r>
              <a:rPr lang="en-US" dirty="0"/>
              <a:t># Uppercase version</a:t>
            </a:r>
          </a:p>
          <a:p>
            <a:pPr marL="0" indent="0">
              <a:buNone/>
            </a:pPr>
            <a:r>
              <a:rPr lang="en-US" dirty="0"/>
              <a:t>print("Uppercase:", </a:t>
            </a:r>
            <a:r>
              <a:rPr lang="en-US" dirty="0" err="1"/>
              <a:t>sentence.upper</a:t>
            </a:r>
            <a:r>
              <a:rPr lang="en-US" dirty="0"/>
              <a:t>())</a:t>
            </a:r>
          </a:p>
          <a:p>
            <a:pPr marL="0" indent="0">
              <a:buNone/>
            </a:pPr>
            <a:endParaRPr lang="en-US" dirty="0"/>
          </a:p>
          <a:p>
            <a:pPr marL="0" indent="0">
              <a:buNone/>
            </a:pPr>
            <a:r>
              <a:rPr lang="en-US" dirty="0"/>
              <a:t># Number of words</a:t>
            </a:r>
          </a:p>
          <a:p>
            <a:pPr marL="0" indent="0">
              <a:buNone/>
            </a:pPr>
            <a:r>
              <a:rPr lang="en-US" dirty="0"/>
              <a:t>words = </a:t>
            </a:r>
            <a:r>
              <a:rPr lang="en-US" dirty="0" err="1"/>
              <a:t>sentence.split</a:t>
            </a:r>
            <a:r>
              <a:rPr lang="en-US" dirty="0"/>
              <a:t>()</a:t>
            </a:r>
          </a:p>
          <a:p>
            <a:pPr marL="0" indent="0">
              <a:buNone/>
            </a:pPr>
            <a:r>
              <a:rPr lang="en-US" dirty="0"/>
              <a:t>print("Number of words:", </a:t>
            </a:r>
            <a:r>
              <a:rPr lang="en-US" dirty="0" err="1"/>
              <a:t>len</a:t>
            </a:r>
            <a:r>
              <a:rPr lang="en-US" dirty="0"/>
              <a:t>(words))</a:t>
            </a:r>
          </a:p>
          <a:p>
            <a:pPr marL="0" indent="0">
              <a:buNone/>
            </a:pPr>
            <a:endParaRPr lang="en-SG" dirty="0"/>
          </a:p>
        </p:txBody>
      </p:sp>
      <p:sp>
        <p:nvSpPr>
          <p:cNvPr id="4" name="Content Placeholder 2">
            <a:extLst>
              <a:ext uri="{FF2B5EF4-FFF2-40B4-BE49-F238E27FC236}">
                <a16:creationId xmlns:a16="http://schemas.microsoft.com/office/drawing/2014/main" id="{86FF1BB5-C277-F9BD-9CB4-8C4DAC373758}"/>
              </a:ext>
            </a:extLst>
          </p:cNvPr>
          <p:cNvSpPr txBox="1">
            <a:spLocks/>
          </p:cNvSpPr>
          <p:nvPr/>
        </p:nvSpPr>
        <p:spPr>
          <a:xfrm>
            <a:off x="7086599" y="1054100"/>
            <a:ext cx="4746625" cy="52959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input() reads the sentence as a </a:t>
            </a:r>
            <a:r>
              <a:rPr lang="en-US" b="1" dirty="0"/>
              <a:t>string</a:t>
            </a:r>
            <a:endParaRPr lang="en-US" dirty="0"/>
          </a:p>
          <a:p>
            <a:r>
              <a:rPr lang="en-US" dirty="0" err="1"/>
              <a:t>len</a:t>
            </a:r>
            <a:r>
              <a:rPr lang="en-US" dirty="0"/>
              <a:t>(sentence) counts </a:t>
            </a:r>
            <a:r>
              <a:rPr lang="en-US" b="1" dirty="0"/>
              <a:t>all characters</a:t>
            </a:r>
            <a:r>
              <a:rPr lang="en-US" dirty="0"/>
              <a:t>, including spaces</a:t>
            </a:r>
          </a:p>
          <a:p>
            <a:r>
              <a:rPr lang="en-US" dirty="0"/>
              <a:t>upper() returns a </a:t>
            </a:r>
            <a:r>
              <a:rPr lang="en-US" b="1" dirty="0"/>
              <a:t>new uppercase string</a:t>
            </a:r>
            <a:endParaRPr lang="en-US" dirty="0"/>
          </a:p>
          <a:p>
            <a:r>
              <a:rPr lang="en-US" dirty="0"/>
              <a:t>split() separates the sentence into words using spaces</a:t>
            </a:r>
          </a:p>
        </p:txBody>
      </p:sp>
    </p:spTree>
    <p:extLst>
      <p:ext uri="{BB962C8B-B14F-4D97-AF65-F5344CB8AC3E}">
        <p14:creationId xmlns:p14="http://schemas.microsoft.com/office/powerpoint/2010/main" val="16340231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Strings – indexing, slicing, methods</a:t>
            </a:r>
          </a:p>
        </p:txBody>
      </p:sp>
      <p:sp>
        <p:nvSpPr>
          <p:cNvPr id="3" name="Content Placeholder 2"/>
          <p:cNvSpPr>
            <a:spLocks noGrp="1"/>
          </p:cNvSpPr>
          <p:nvPr>
            <p:ph idx="1"/>
          </p:nvPr>
        </p:nvSpPr>
        <p:spPr>
          <a:xfrm>
            <a:off x="457200" y="1600200"/>
            <a:ext cx="9550400" cy="4525963"/>
          </a:xfrm>
        </p:spPr>
        <p:txBody>
          <a:bodyPr>
            <a:normAutofit fontScale="92500" lnSpcReduction="20000"/>
          </a:bodyPr>
          <a:lstStyle/>
          <a:p>
            <a:pPr algn="l">
              <a:defRPr sz="1500">
                <a:latin typeface="Courier New"/>
              </a:defRPr>
            </a:pPr>
            <a:r>
              <a:rPr sz="2400" dirty="0"/>
              <a:t>s = "Python"</a:t>
            </a:r>
            <a:br>
              <a:rPr sz="2400" dirty="0"/>
            </a:br>
            <a:r>
              <a:rPr sz="2400" dirty="0"/>
              <a:t>s[0]            # 'P'</a:t>
            </a:r>
            <a:br>
              <a:rPr sz="2400" dirty="0"/>
            </a:br>
            <a:r>
              <a:rPr sz="2400" dirty="0"/>
              <a:t>s[-1]           # 'n'</a:t>
            </a:r>
            <a:br>
              <a:rPr sz="2400" dirty="0"/>
            </a:br>
            <a:r>
              <a:rPr sz="2400" dirty="0"/>
              <a:t>s[1:4]          # '</a:t>
            </a:r>
            <a:r>
              <a:rPr sz="2400" dirty="0" err="1"/>
              <a:t>yth</a:t>
            </a:r>
            <a:r>
              <a:rPr sz="2400" dirty="0"/>
              <a:t>'</a:t>
            </a:r>
            <a:br>
              <a:rPr sz="2400" dirty="0"/>
            </a:br>
            <a:r>
              <a:rPr sz="2400" dirty="0"/>
              <a:t>s[::-1]         # '</a:t>
            </a:r>
            <a:r>
              <a:rPr sz="2400" dirty="0" err="1"/>
              <a:t>nohtyP</a:t>
            </a:r>
            <a:r>
              <a:rPr sz="2400" dirty="0"/>
              <a:t>'</a:t>
            </a:r>
            <a:br>
              <a:rPr sz="2400" dirty="0"/>
            </a:br>
            <a:br>
              <a:rPr sz="2400" dirty="0"/>
            </a:br>
            <a:r>
              <a:rPr sz="2400" dirty="0"/>
              <a:t>"</a:t>
            </a:r>
            <a:r>
              <a:rPr sz="2400" dirty="0" err="1"/>
              <a:t>hello".upper</a:t>
            </a:r>
            <a:r>
              <a:rPr sz="2400" dirty="0"/>
              <a:t>()                 # 'HELLO'</a:t>
            </a:r>
            <a:br>
              <a:rPr sz="2400" dirty="0"/>
            </a:br>
            <a:r>
              <a:rPr sz="2400" dirty="0"/>
              <a:t>"  spaced  ".strip()            # 'spaced'</a:t>
            </a:r>
            <a:br>
              <a:rPr sz="2400" dirty="0"/>
            </a:br>
            <a:r>
              <a:rPr sz="2400" dirty="0"/>
              <a:t>"</a:t>
            </a:r>
            <a:r>
              <a:rPr sz="2400" dirty="0" err="1"/>
              <a:t>cat,dog,bird".split</a:t>
            </a:r>
            <a:r>
              <a:rPr sz="2400" dirty="0"/>
              <a:t>(",")       # ['cat', 'dog', 'bird']</a:t>
            </a:r>
            <a:br>
              <a:rPr sz="2400" dirty="0"/>
            </a:br>
            <a:r>
              <a:rPr sz="2400" dirty="0"/>
              <a:t>"-".join(["A", "B", "C"])       # 'A-B-C'</a:t>
            </a:r>
            <a:br>
              <a:rPr sz="2400" dirty="0"/>
            </a:br>
            <a:br>
              <a:rPr sz="2400" dirty="0"/>
            </a:br>
            <a:r>
              <a:rPr sz="2400" dirty="0"/>
              <a:t>name, age = "Ada", 36</a:t>
            </a:r>
            <a:br>
              <a:rPr sz="2400" dirty="0"/>
            </a:br>
            <a:r>
              <a:rPr sz="2400" dirty="0"/>
              <a:t>f"{name=} is {age=}"            # name='Ada' is age=36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29143-C99B-001C-9CA5-3B88F816A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1E049-DD3F-9F86-23B3-A52F3A7D9AC7}"/>
              </a:ext>
            </a:extLst>
          </p:cNvPr>
          <p:cNvSpPr>
            <a:spLocks noGrp="1"/>
          </p:cNvSpPr>
          <p:nvPr>
            <p:ph type="title"/>
          </p:nvPr>
        </p:nvSpPr>
        <p:spPr>
          <a:xfrm>
            <a:off x="457200" y="-76200"/>
            <a:ext cx="8229600" cy="1143000"/>
          </a:xfrm>
        </p:spPr>
        <p:txBody>
          <a:bodyPr/>
          <a:lstStyle/>
          <a:p>
            <a:r>
              <a:rPr lang="en-SG" dirty="0"/>
              <a:t>What Is a Boolean?</a:t>
            </a:r>
          </a:p>
        </p:txBody>
      </p:sp>
      <p:sp>
        <p:nvSpPr>
          <p:cNvPr id="3" name="Content Placeholder 2">
            <a:extLst>
              <a:ext uri="{FF2B5EF4-FFF2-40B4-BE49-F238E27FC236}">
                <a16:creationId xmlns:a16="http://schemas.microsoft.com/office/drawing/2014/main" id="{719DDE9C-211E-5770-64C8-4CB35ED88FDF}"/>
              </a:ext>
            </a:extLst>
          </p:cNvPr>
          <p:cNvSpPr>
            <a:spLocks noGrp="1"/>
          </p:cNvSpPr>
          <p:nvPr>
            <p:ph idx="1"/>
          </p:nvPr>
        </p:nvSpPr>
        <p:spPr>
          <a:xfrm>
            <a:off x="609600" y="1079500"/>
            <a:ext cx="7035800" cy="5295900"/>
          </a:xfrm>
        </p:spPr>
        <p:style>
          <a:lnRef idx="2">
            <a:schemeClr val="dk1"/>
          </a:lnRef>
          <a:fillRef idx="1">
            <a:schemeClr val="lt1"/>
          </a:fillRef>
          <a:effectRef idx="0">
            <a:schemeClr val="dk1"/>
          </a:effectRef>
          <a:fontRef idx="minor">
            <a:schemeClr val="dk1"/>
          </a:fontRef>
        </p:style>
        <p:txBody>
          <a:bodyPr>
            <a:normAutofit/>
          </a:bodyPr>
          <a:lstStyle/>
          <a:p>
            <a:r>
              <a:rPr lang="en-US" dirty="0"/>
              <a:t>Boolean represents </a:t>
            </a:r>
            <a:r>
              <a:rPr lang="en-US" b="1" dirty="0"/>
              <a:t>True or False</a:t>
            </a:r>
            <a:endParaRPr lang="en-US" dirty="0"/>
          </a:p>
          <a:p>
            <a:r>
              <a:rPr lang="en-US" dirty="0"/>
              <a:t>Result of comparisons and conditions</a:t>
            </a:r>
          </a:p>
          <a:p>
            <a:r>
              <a:rPr lang="en-US" dirty="0"/>
              <a:t>Core to decision-making in Python</a:t>
            </a:r>
          </a:p>
        </p:txBody>
      </p:sp>
      <p:sp>
        <p:nvSpPr>
          <p:cNvPr id="4" name="Content Placeholder 2">
            <a:extLst>
              <a:ext uri="{FF2B5EF4-FFF2-40B4-BE49-F238E27FC236}">
                <a16:creationId xmlns:a16="http://schemas.microsoft.com/office/drawing/2014/main" id="{A7C10B56-194D-997D-5DE6-FB0BB2C2E6C4}"/>
              </a:ext>
            </a:extLst>
          </p:cNvPr>
          <p:cNvSpPr txBox="1">
            <a:spLocks/>
          </p:cNvSpPr>
          <p:nvPr/>
        </p:nvSpPr>
        <p:spPr>
          <a:xfrm>
            <a:off x="7937501" y="1079500"/>
            <a:ext cx="3641724" cy="52959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err="1"/>
              <a:t>is_active</a:t>
            </a:r>
            <a:r>
              <a:rPr lang="en-US" dirty="0"/>
              <a:t> = True</a:t>
            </a:r>
          </a:p>
          <a:p>
            <a:pPr marL="0" indent="0">
              <a:buNone/>
            </a:pPr>
            <a:r>
              <a:rPr lang="en-US" dirty="0" err="1"/>
              <a:t>is_admin</a:t>
            </a:r>
            <a:r>
              <a:rPr lang="en-US" dirty="0"/>
              <a:t> = False</a:t>
            </a:r>
          </a:p>
        </p:txBody>
      </p:sp>
    </p:spTree>
    <p:extLst>
      <p:ext uri="{BB962C8B-B14F-4D97-AF65-F5344CB8AC3E}">
        <p14:creationId xmlns:p14="http://schemas.microsoft.com/office/powerpoint/2010/main" val="38924197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209F-ACF2-F272-F013-EC25A724A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2CB21-BCCC-F83E-0D7F-EB7CA0880269}"/>
              </a:ext>
            </a:extLst>
          </p:cNvPr>
          <p:cNvSpPr>
            <a:spLocks noGrp="1"/>
          </p:cNvSpPr>
          <p:nvPr>
            <p:ph type="title"/>
          </p:nvPr>
        </p:nvSpPr>
        <p:spPr>
          <a:xfrm>
            <a:off x="457200" y="-76200"/>
            <a:ext cx="8229600" cy="1143000"/>
          </a:xfrm>
        </p:spPr>
        <p:txBody>
          <a:bodyPr/>
          <a:lstStyle/>
          <a:p>
            <a:r>
              <a:rPr lang="en-SG" dirty="0"/>
              <a:t>Boolean Values in Python</a:t>
            </a:r>
          </a:p>
        </p:txBody>
      </p:sp>
      <p:sp>
        <p:nvSpPr>
          <p:cNvPr id="3" name="Content Placeholder 2">
            <a:extLst>
              <a:ext uri="{FF2B5EF4-FFF2-40B4-BE49-F238E27FC236}">
                <a16:creationId xmlns:a16="http://schemas.microsoft.com/office/drawing/2014/main" id="{4E94AE7A-0C57-8845-908E-5AF2D036BE11}"/>
              </a:ext>
            </a:extLst>
          </p:cNvPr>
          <p:cNvSpPr>
            <a:spLocks noGrp="1"/>
          </p:cNvSpPr>
          <p:nvPr>
            <p:ph idx="1"/>
          </p:nvPr>
        </p:nvSpPr>
        <p:spPr>
          <a:xfrm>
            <a:off x="1268412" y="1079500"/>
            <a:ext cx="4826000" cy="5295900"/>
          </a:xfrm>
        </p:spPr>
        <p:style>
          <a:lnRef idx="2">
            <a:schemeClr val="dk1"/>
          </a:lnRef>
          <a:fillRef idx="1">
            <a:schemeClr val="lt1"/>
          </a:fillRef>
          <a:effectRef idx="0">
            <a:schemeClr val="dk1"/>
          </a:effectRef>
          <a:fontRef idx="minor">
            <a:schemeClr val="dk1"/>
          </a:fontRef>
        </p:style>
        <p:txBody>
          <a:bodyPr>
            <a:normAutofit/>
          </a:bodyPr>
          <a:lstStyle/>
          <a:p>
            <a:r>
              <a:rPr lang="en-US" b="1" dirty="0"/>
              <a:t>Two Boolean Literals</a:t>
            </a:r>
          </a:p>
          <a:p>
            <a:pPr lvl="1"/>
            <a:r>
              <a:rPr lang="en-US" dirty="0"/>
              <a:t>True</a:t>
            </a:r>
          </a:p>
          <a:p>
            <a:pPr lvl="1"/>
            <a:r>
              <a:rPr lang="en-US" dirty="0"/>
              <a:t>False</a:t>
            </a:r>
          </a:p>
        </p:txBody>
      </p:sp>
      <p:sp>
        <p:nvSpPr>
          <p:cNvPr id="4" name="Content Placeholder 2">
            <a:extLst>
              <a:ext uri="{FF2B5EF4-FFF2-40B4-BE49-F238E27FC236}">
                <a16:creationId xmlns:a16="http://schemas.microsoft.com/office/drawing/2014/main" id="{CF3E497A-28E9-D532-5855-4EEC81C15214}"/>
              </a:ext>
            </a:extLst>
          </p:cNvPr>
          <p:cNvSpPr txBox="1">
            <a:spLocks/>
          </p:cNvSpPr>
          <p:nvPr/>
        </p:nvSpPr>
        <p:spPr>
          <a:xfrm>
            <a:off x="6524625" y="1079500"/>
            <a:ext cx="4826000" cy="52959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print(type(True))</a:t>
            </a:r>
          </a:p>
          <a:p>
            <a:pPr marL="0" indent="0">
              <a:buNone/>
            </a:pPr>
            <a:r>
              <a:rPr lang="en-US" dirty="0"/>
              <a:t>print(type(False))</a:t>
            </a:r>
          </a:p>
        </p:txBody>
      </p:sp>
    </p:spTree>
    <p:extLst>
      <p:ext uri="{BB962C8B-B14F-4D97-AF65-F5344CB8AC3E}">
        <p14:creationId xmlns:p14="http://schemas.microsoft.com/office/powerpoint/2010/main" val="11832790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23000-335A-6F9A-B4D9-536A1F51C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8C2DE-9F2D-184C-85DE-E3D1ADB53B04}"/>
              </a:ext>
            </a:extLst>
          </p:cNvPr>
          <p:cNvSpPr>
            <a:spLocks noGrp="1"/>
          </p:cNvSpPr>
          <p:nvPr>
            <p:ph type="title"/>
          </p:nvPr>
        </p:nvSpPr>
        <p:spPr>
          <a:xfrm>
            <a:off x="457200" y="381000"/>
            <a:ext cx="8229600" cy="1143000"/>
          </a:xfrm>
        </p:spPr>
        <p:txBody>
          <a:bodyPr>
            <a:normAutofit/>
          </a:bodyPr>
          <a:lstStyle/>
          <a:p>
            <a:r>
              <a:rPr lang="en-SG" dirty="0"/>
              <a:t>Comparisons Produce Booleans</a:t>
            </a:r>
          </a:p>
        </p:txBody>
      </p:sp>
      <p:sp>
        <p:nvSpPr>
          <p:cNvPr id="3" name="Content Placeholder 2">
            <a:extLst>
              <a:ext uri="{FF2B5EF4-FFF2-40B4-BE49-F238E27FC236}">
                <a16:creationId xmlns:a16="http://schemas.microsoft.com/office/drawing/2014/main" id="{970A2573-BAD7-059B-FF8C-355B67F8A125}"/>
              </a:ext>
            </a:extLst>
          </p:cNvPr>
          <p:cNvSpPr>
            <a:spLocks noGrp="1"/>
          </p:cNvSpPr>
          <p:nvPr>
            <p:ph idx="1"/>
          </p:nvPr>
        </p:nvSpPr>
        <p:spPr>
          <a:xfrm>
            <a:off x="1003300" y="1828800"/>
            <a:ext cx="7327900" cy="45466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x = 10</a:t>
            </a:r>
          </a:p>
          <a:p>
            <a:pPr marL="0" indent="0">
              <a:buNone/>
            </a:pPr>
            <a:endParaRPr lang="en-US" dirty="0"/>
          </a:p>
          <a:p>
            <a:pPr marL="0" indent="0">
              <a:buNone/>
            </a:pPr>
            <a:r>
              <a:rPr lang="en-US" dirty="0"/>
              <a:t>print(x &gt; 5)</a:t>
            </a:r>
          </a:p>
          <a:p>
            <a:pPr marL="0" indent="0">
              <a:buNone/>
            </a:pPr>
            <a:r>
              <a:rPr lang="en-US" dirty="0"/>
              <a:t>print(x == 10)</a:t>
            </a:r>
          </a:p>
          <a:p>
            <a:pPr marL="0" indent="0">
              <a:buNone/>
            </a:pPr>
            <a:r>
              <a:rPr lang="en-US" dirty="0"/>
              <a:t>print(x != 3)</a:t>
            </a:r>
          </a:p>
        </p:txBody>
      </p:sp>
    </p:spTree>
    <p:extLst>
      <p:ext uri="{BB962C8B-B14F-4D97-AF65-F5344CB8AC3E}">
        <p14:creationId xmlns:p14="http://schemas.microsoft.com/office/powerpoint/2010/main" val="5777880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0599-CCC0-5A31-FAD0-E79A7EA9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9A1D2-F027-FF6F-F12F-E376B0C928B0}"/>
              </a:ext>
            </a:extLst>
          </p:cNvPr>
          <p:cNvSpPr>
            <a:spLocks noGrp="1"/>
          </p:cNvSpPr>
          <p:nvPr>
            <p:ph type="title"/>
          </p:nvPr>
        </p:nvSpPr>
        <p:spPr>
          <a:xfrm>
            <a:off x="457200" y="228600"/>
            <a:ext cx="8229600" cy="1143000"/>
          </a:xfrm>
        </p:spPr>
        <p:txBody>
          <a:bodyPr/>
          <a:lstStyle/>
          <a:p>
            <a:r>
              <a:rPr lang="en-SG" dirty="0"/>
              <a:t>Logical Operators</a:t>
            </a:r>
          </a:p>
        </p:txBody>
      </p:sp>
      <p:sp>
        <p:nvSpPr>
          <p:cNvPr id="3" name="Content Placeholder 2">
            <a:extLst>
              <a:ext uri="{FF2B5EF4-FFF2-40B4-BE49-F238E27FC236}">
                <a16:creationId xmlns:a16="http://schemas.microsoft.com/office/drawing/2014/main" id="{040DDE43-A6D6-220D-B9BE-8D59A792763D}"/>
              </a:ext>
            </a:extLst>
          </p:cNvPr>
          <p:cNvSpPr>
            <a:spLocks noGrp="1"/>
          </p:cNvSpPr>
          <p:nvPr>
            <p:ph idx="1"/>
          </p:nvPr>
        </p:nvSpPr>
        <p:spPr>
          <a:xfrm>
            <a:off x="457200" y="1676400"/>
            <a:ext cx="5005388"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age = 20</a:t>
            </a:r>
          </a:p>
          <a:p>
            <a:pPr marL="0" indent="0">
              <a:buNone/>
            </a:pPr>
            <a:r>
              <a:rPr lang="en-US" dirty="0"/>
              <a:t>student = True</a:t>
            </a:r>
          </a:p>
          <a:p>
            <a:pPr marL="0" indent="0">
              <a:buNone/>
            </a:pPr>
            <a:endParaRPr lang="en-US" dirty="0"/>
          </a:p>
          <a:p>
            <a:pPr marL="0" indent="0">
              <a:buNone/>
            </a:pPr>
            <a:r>
              <a:rPr lang="en-US" dirty="0"/>
              <a:t>print(age &gt;= 18 and student)</a:t>
            </a:r>
          </a:p>
        </p:txBody>
      </p:sp>
      <p:sp>
        <p:nvSpPr>
          <p:cNvPr id="4" name="Content Placeholder 2">
            <a:extLst>
              <a:ext uri="{FF2B5EF4-FFF2-40B4-BE49-F238E27FC236}">
                <a16:creationId xmlns:a16="http://schemas.microsoft.com/office/drawing/2014/main" id="{20ABF535-DD48-1571-79B3-77F53857EB11}"/>
              </a:ext>
            </a:extLst>
          </p:cNvPr>
          <p:cNvSpPr txBox="1">
            <a:spLocks/>
          </p:cNvSpPr>
          <p:nvPr/>
        </p:nvSpPr>
        <p:spPr>
          <a:xfrm>
            <a:off x="5702300" y="1676400"/>
            <a:ext cx="6235700" cy="4699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and → all conditions must be True</a:t>
            </a:r>
          </a:p>
          <a:p>
            <a:r>
              <a:rPr lang="en-US" dirty="0"/>
              <a:t>or → at least one condition is True</a:t>
            </a:r>
          </a:p>
          <a:p>
            <a:r>
              <a:rPr lang="en-US" dirty="0"/>
              <a:t>not → reverses a Boolean value</a:t>
            </a:r>
          </a:p>
        </p:txBody>
      </p:sp>
    </p:spTree>
    <p:extLst>
      <p:ext uri="{BB962C8B-B14F-4D97-AF65-F5344CB8AC3E}">
        <p14:creationId xmlns:p14="http://schemas.microsoft.com/office/powerpoint/2010/main" val="40998267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Booleans &amp; Truthiness</a:t>
            </a:r>
          </a:p>
        </p:txBody>
      </p:sp>
      <p:sp>
        <p:nvSpPr>
          <p:cNvPr id="3" name="Content Placeholder 2"/>
          <p:cNvSpPr>
            <a:spLocks noGrp="1"/>
          </p:cNvSpPr>
          <p:nvPr>
            <p:ph idx="1"/>
          </p:nvPr>
        </p:nvSpPr>
        <p:spPr/>
        <p:txBody>
          <a:bodyPr/>
          <a:lstStyle/>
          <a:p>
            <a:r>
              <a:t>Boolean values: True and False</a:t>
            </a:r>
          </a:p>
          <a:p>
            <a:r>
              <a:t>Conditions rely on truthy / falsy values</a:t>
            </a:r>
          </a:p>
          <a:p>
            <a:r>
              <a:t>Empty values evaluate to False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F10CD-6BCB-6D42-5C87-16C03C9DC596}"/>
              </a:ext>
            </a:extLst>
          </p:cNvPr>
          <p:cNvSpPr>
            <a:spLocks noGrp="1"/>
          </p:cNvSpPr>
          <p:nvPr>
            <p:ph type="title"/>
          </p:nvPr>
        </p:nvSpPr>
        <p:spPr/>
        <p:txBody>
          <a:bodyPr/>
          <a:lstStyle/>
          <a:p>
            <a:r>
              <a:rPr lang="en-SG" dirty="0"/>
              <a:t>Truthy and </a:t>
            </a:r>
            <a:r>
              <a:rPr lang="en-SG" dirty="0" err="1"/>
              <a:t>Falsy</a:t>
            </a:r>
            <a:r>
              <a:rPr lang="en-SG" dirty="0"/>
              <a:t> Values</a:t>
            </a:r>
          </a:p>
        </p:txBody>
      </p:sp>
      <p:sp>
        <p:nvSpPr>
          <p:cNvPr id="3" name="Content Placeholder 2">
            <a:extLst>
              <a:ext uri="{FF2B5EF4-FFF2-40B4-BE49-F238E27FC236}">
                <a16:creationId xmlns:a16="http://schemas.microsoft.com/office/drawing/2014/main" id="{ECABB4D3-D173-7785-A0A0-F3413F81D156}"/>
              </a:ext>
            </a:extLst>
          </p:cNvPr>
          <p:cNvSpPr>
            <a:spLocks noGrp="1"/>
          </p:cNvSpPr>
          <p:nvPr>
            <p:ph idx="1"/>
          </p:nvPr>
        </p:nvSpPr>
        <p:spPr/>
        <p:txBody>
          <a:bodyPr/>
          <a:lstStyle/>
          <a:p>
            <a:r>
              <a:rPr lang="en-US" dirty="0"/>
              <a:t>Not all conditions are explicitly True or False</a:t>
            </a:r>
          </a:p>
          <a:p>
            <a:r>
              <a:rPr lang="en-US" dirty="0"/>
              <a:t>Python treats some values as </a:t>
            </a:r>
            <a:r>
              <a:rPr lang="en-US" b="1" dirty="0"/>
              <a:t>truthy</a:t>
            </a:r>
            <a:r>
              <a:rPr lang="en-US" dirty="0"/>
              <a:t> or </a:t>
            </a:r>
            <a:r>
              <a:rPr lang="en-US" b="1" dirty="0" err="1"/>
              <a:t>falsy</a:t>
            </a:r>
            <a:endParaRPr lang="en-US" dirty="0"/>
          </a:p>
          <a:p>
            <a:endParaRPr lang="en-SG" dirty="0"/>
          </a:p>
        </p:txBody>
      </p:sp>
    </p:spTree>
    <p:extLst>
      <p:ext uri="{BB962C8B-B14F-4D97-AF65-F5344CB8AC3E}">
        <p14:creationId xmlns:p14="http://schemas.microsoft.com/office/powerpoint/2010/main" val="42213955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B8160-E6CC-A4E6-DDCC-691BAA543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063FC-196C-2FE6-47C8-FB1A4CA51ACB}"/>
              </a:ext>
            </a:extLst>
          </p:cNvPr>
          <p:cNvSpPr>
            <a:spLocks noGrp="1"/>
          </p:cNvSpPr>
          <p:nvPr>
            <p:ph type="title"/>
          </p:nvPr>
        </p:nvSpPr>
        <p:spPr>
          <a:xfrm>
            <a:off x="457200" y="228600"/>
            <a:ext cx="8229600" cy="1143000"/>
          </a:xfrm>
        </p:spPr>
        <p:txBody>
          <a:bodyPr/>
          <a:lstStyle/>
          <a:p>
            <a:r>
              <a:rPr lang="en-SG" dirty="0" err="1"/>
              <a:t>Falsy</a:t>
            </a:r>
            <a:r>
              <a:rPr lang="en-SG" dirty="0"/>
              <a:t> Values to Remember</a:t>
            </a:r>
          </a:p>
        </p:txBody>
      </p:sp>
      <p:sp>
        <p:nvSpPr>
          <p:cNvPr id="3" name="Content Placeholder 2">
            <a:extLst>
              <a:ext uri="{FF2B5EF4-FFF2-40B4-BE49-F238E27FC236}">
                <a16:creationId xmlns:a16="http://schemas.microsoft.com/office/drawing/2014/main" id="{E5AC3908-1420-4EF8-5CB3-338F5785D505}"/>
              </a:ext>
            </a:extLst>
          </p:cNvPr>
          <p:cNvSpPr>
            <a:spLocks noGrp="1"/>
          </p:cNvSpPr>
          <p:nvPr>
            <p:ph idx="1"/>
          </p:nvPr>
        </p:nvSpPr>
        <p:spPr>
          <a:xfrm>
            <a:off x="457200" y="1676400"/>
            <a:ext cx="5005388"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if []:</a:t>
            </a:r>
          </a:p>
          <a:p>
            <a:pPr marL="0" indent="0">
              <a:buNone/>
            </a:pPr>
            <a:r>
              <a:rPr lang="en-US" dirty="0"/>
              <a:t>    print("This will not run")</a:t>
            </a:r>
          </a:p>
        </p:txBody>
      </p:sp>
      <p:sp>
        <p:nvSpPr>
          <p:cNvPr id="4" name="Content Placeholder 2">
            <a:extLst>
              <a:ext uri="{FF2B5EF4-FFF2-40B4-BE49-F238E27FC236}">
                <a16:creationId xmlns:a16="http://schemas.microsoft.com/office/drawing/2014/main" id="{7C0F3385-2ABB-CB95-F9E0-5CDD6FB76C44}"/>
              </a:ext>
            </a:extLst>
          </p:cNvPr>
          <p:cNvSpPr txBox="1">
            <a:spLocks/>
          </p:cNvSpPr>
          <p:nvPr/>
        </p:nvSpPr>
        <p:spPr>
          <a:xfrm>
            <a:off x="5702300" y="1676400"/>
            <a:ext cx="6235700" cy="4699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False, None</a:t>
            </a:r>
          </a:p>
          <a:p>
            <a:r>
              <a:rPr lang="en-US" dirty="0"/>
              <a:t>0, 0.0</a:t>
            </a:r>
          </a:p>
          <a:p>
            <a:r>
              <a:rPr lang="en-US" dirty="0"/>
              <a:t>Empty string, list, </a:t>
            </a:r>
            <a:r>
              <a:rPr lang="en-US" dirty="0" err="1"/>
              <a:t>dict</a:t>
            </a:r>
            <a:r>
              <a:rPr lang="en-US" dirty="0"/>
              <a:t>, set</a:t>
            </a:r>
          </a:p>
        </p:txBody>
      </p:sp>
    </p:spTree>
    <p:extLst>
      <p:ext uri="{BB962C8B-B14F-4D97-AF65-F5344CB8AC3E}">
        <p14:creationId xmlns:p14="http://schemas.microsoft.com/office/powerpoint/2010/main" val="352698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4C84B-0ECA-C777-B42D-2988C5F0F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32824-EA41-2466-2F35-85958214E121}"/>
              </a:ext>
            </a:extLst>
          </p:cNvPr>
          <p:cNvSpPr>
            <a:spLocks noGrp="1"/>
          </p:cNvSpPr>
          <p:nvPr>
            <p:ph type="title"/>
          </p:nvPr>
        </p:nvSpPr>
        <p:spPr>
          <a:xfrm>
            <a:off x="457200" y="228600"/>
            <a:ext cx="8229600" cy="1143000"/>
          </a:xfrm>
        </p:spPr>
        <p:txBody>
          <a:bodyPr/>
          <a:lstStyle/>
          <a:p>
            <a:r>
              <a:rPr lang="en-SG" dirty="0"/>
              <a:t>Common Truthy Values</a:t>
            </a:r>
          </a:p>
        </p:txBody>
      </p:sp>
      <p:sp>
        <p:nvSpPr>
          <p:cNvPr id="3" name="Content Placeholder 2">
            <a:extLst>
              <a:ext uri="{FF2B5EF4-FFF2-40B4-BE49-F238E27FC236}">
                <a16:creationId xmlns:a16="http://schemas.microsoft.com/office/drawing/2014/main" id="{A6FE32E8-F74D-2D28-7BEA-954152DF052C}"/>
              </a:ext>
            </a:extLst>
          </p:cNvPr>
          <p:cNvSpPr>
            <a:spLocks noGrp="1"/>
          </p:cNvSpPr>
          <p:nvPr>
            <p:ph idx="1"/>
          </p:nvPr>
        </p:nvSpPr>
        <p:spPr>
          <a:xfrm>
            <a:off x="457200" y="1676400"/>
            <a:ext cx="5005388"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if "hello":</a:t>
            </a:r>
          </a:p>
          <a:p>
            <a:pPr marL="0" indent="0">
              <a:buNone/>
            </a:pPr>
            <a:r>
              <a:rPr lang="en-US" dirty="0"/>
              <a:t>    print("This will run")</a:t>
            </a:r>
          </a:p>
        </p:txBody>
      </p:sp>
      <p:sp>
        <p:nvSpPr>
          <p:cNvPr id="4" name="Content Placeholder 2">
            <a:extLst>
              <a:ext uri="{FF2B5EF4-FFF2-40B4-BE49-F238E27FC236}">
                <a16:creationId xmlns:a16="http://schemas.microsoft.com/office/drawing/2014/main" id="{4F6B4319-A1DD-66FA-4136-BB3DBF9A3600}"/>
              </a:ext>
            </a:extLst>
          </p:cNvPr>
          <p:cNvSpPr txBox="1">
            <a:spLocks/>
          </p:cNvSpPr>
          <p:nvPr/>
        </p:nvSpPr>
        <p:spPr>
          <a:xfrm>
            <a:off x="5702300" y="1676400"/>
            <a:ext cx="6235700" cy="4699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Non-zero numbers</a:t>
            </a:r>
          </a:p>
          <a:p>
            <a:r>
              <a:rPr lang="en-US" dirty="0"/>
              <a:t>Non-empty strings</a:t>
            </a:r>
          </a:p>
          <a:p>
            <a:r>
              <a:rPr lang="en-US" dirty="0"/>
              <a:t>Non-empty collections</a:t>
            </a:r>
          </a:p>
          <a:p>
            <a:r>
              <a:rPr lang="en-US" dirty="0"/>
              <a:t>Most objects</a:t>
            </a:r>
          </a:p>
        </p:txBody>
      </p:sp>
    </p:spTree>
    <p:extLst>
      <p:ext uri="{BB962C8B-B14F-4D97-AF65-F5344CB8AC3E}">
        <p14:creationId xmlns:p14="http://schemas.microsoft.com/office/powerpoint/2010/main" val="449841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9C117-A5F5-8D50-49CC-751928513CB0}"/>
              </a:ext>
            </a:extLst>
          </p:cNvPr>
          <p:cNvSpPr>
            <a:spLocks noGrp="1"/>
          </p:cNvSpPr>
          <p:nvPr>
            <p:ph type="title"/>
          </p:nvPr>
        </p:nvSpPr>
        <p:spPr/>
        <p:txBody>
          <a:bodyPr>
            <a:normAutofit/>
          </a:bodyPr>
          <a:lstStyle/>
          <a:p>
            <a:r>
              <a:rPr lang="en-US" dirty="0"/>
              <a:t>Truthiness in if Statements</a:t>
            </a:r>
            <a:endParaRPr lang="en-SG" dirty="0"/>
          </a:p>
        </p:txBody>
      </p:sp>
      <p:sp>
        <p:nvSpPr>
          <p:cNvPr id="3" name="Content Placeholder 2">
            <a:extLst>
              <a:ext uri="{FF2B5EF4-FFF2-40B4-BE49-F238E27FC236}">
                <a16:creationId xmlns:a16="http://schemas.microsoft.com/office/drawing/2014/main" id="{0FAE71B0-954D-39C3-9C8C-0971DDD654E0}"/>
              </a:ext>
            </a:extLst>
          </p:cNvPr>
          <p:cNvSpPr>
            <a:spLocks noGrp="1"/>
          </p:cNvSpPr>
          <p:nvPr>
            <p:ph idx="1"/>
          </p:nvPr>
        </p:nvSpPr>
        <p:spPr/>
        <p:txBody>
          <a:bodyPr/>
          <a:lstStyle/>
          <a:p>
            <a:pPr marL="0" indent="0">
              <a:buNone/>
            </a:pPr>
            <a:r>
              <a:rPr lang="en-US" dirty="0"/>
              <a:t>name = ""</a:t>
            </a:r>
          </a:p>
          <a:p>
            <a:pPr marL="0" indent="0">
              <a:buNone/>
            </a:pPr>
            <a:endParaRPr lang="en-US" dirty="0"/>
          </a:p>
          <a:p>
            <a:pPr marL="0" indent="0">
              <a:buNone/>
            </a:pPr>
            <a:r>
              <a:rPr lang="en-US" dirty="0"/>
              <a:t>if name:</a:t>
            </a:r>
          </a:p>
          <a:p>
            <a:pPr marL="0" indent="0">
              <a:buNone/>
            </a:pPr>
            <a:r>
              <a:rPr lang="en-US" dirty="0"/>
              <a:t>    print("Name provided")</a:t>
            </a:r>
          </a:p>
          <a:p>
            <a:pPr marL="0" indent="0">
              <a:buNone/>
            </a:pPr>
            <a:r>
              <a:rPr lang="en-US" dirty="0"/>
              <a:t>else:</a:t>
            </a:r>
          </a:p>
          <a:p>
            <a:pPr marL="0" indent="0">
              <a:buNone/>
            </a:pPr>
            <a:r>
              <a:rPr lang="en-US" dirty="0"/>
              <a:t>    print("Name missing")</a:t>
            </a:r>
          </a:p>
          <a:p>
            <a:pPr marL="0" indent="0">
              <a:buNone/>
            </a:pPr>
            <a:endParaRPr lang="en-SG" dirty="0"/>
          </a:p>
        </p:txBody>
      </p:sp>
    </p:spTree>
    <p:extLst>
      <p:ext uri="{BB962C8B-B14F-4D97-AF65-F5344CB8AC3E}">
        <p14:creationId xmlns:p14="http://schemas.microsoft.com/office/powerpoint/2010/main" val="14336078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86C48-3307-B294-F23A-70052987DB66}"/>
              </a:ext>
            </a:extLst>
          </p:cNvPr>
          <p:cNvSpPr>
            <a:spLocks noGrp="1"/>
          </p:cNvSpPr>
          <p:nvPr>
            <p:ph type="title"/>
          </p:nvPr>
        </p:nvSpPr>
        <p:spPr/>
        <p:txBody>
          <a:bodyPr>
            <a:normAutofit/>
          </a:bodyPr>
          <a:lstStyle/>
          <a:p>
            <a:r>
              <a:rPr lang="en-SG" dirty="0"/>
              <a:t>Truthiness Simplifies Logic</a:t>
            </a:r>
          </a:p>
        </p:txBody>
      </p:sp>
      <p:sp>
        <p:nvSpPr>
          <p:cNvPr id="3" name="Content Placeholder 2">
            <a:extLst>
              <a:ext uri="{FF2B5EF4-FFF2-40B4-BE49-F238E27FC236}">
                <a16:creationId xmlns:a16="http://schemas.microsoft.com/office/drawing/2014/main" id="{C665FE19-9B0B-F2D5-132A-55F9672B7B80}"/>
              </a:ext>
            </a:extLst>
          </p:cNvPr>
          <p:cNvSpPr>
            <a:spLocks noGrp="1"/>
          </p:cNvSpPr>
          <p:nvPr>
            <p:ph idx="1"/>
          </p:nvPr>
        </p:nvSpPr>
        <p:spPr/>
        <p:txBody>
          <a:bodyPr/>
          <a:lstStyle/>
          <a:p>
            <a:r>
              <a:rPr lang="en-SG" dirty="0" err="1"/>
              <a:t>Falsy</a:t>
            </a:r>
            <a:r>
              <a:rPr lang="en-SG" dirty="0"/>
              <a:t> values:</a:t>
            </a:r>
          </a:p>
          <a:p>
            <a:pPr lvl="1"/>
            <a:r>
              <a:rPr lang="en-SG" dirty="0"/>
              <a:t>False, None</a:t>
            </a:r>
          </a:p>
          <a:p>
            <a:pPr lvl="1"/>
            <a:r>
              <a:rPr lang="en-SG" dirty="0"/>
              <a:t>0, 0.0</a:t>
            </a:r>
          </a:p>
          <a:p>
            <a:pPr lvl="1"/>
            <a:r>
              <a:rPr lang="en-SG" dirty="0"/>
              <a:t>"", [], {}, set()</a:t>
            </a:r>
          </a:p>
          <a:p>
            <a:endParaRPr lang="en-SG" b="1" dirty="0"/>
          </a:p>
          <a:p>
            <a:r>
              <a:rPr lang="en-SG" b="1" dirty="0"/>
              <a:t>Mental model:</a:t>
            </a:r>
            <a:endParaRPr lang="en-SG" dirty="0"/>
          </a:p>
          <a:p>
            <a:pPr lvl="1"/>
            <a:r>
              <a:rPr lang="en-SG" dirty="0"/>
              <a:t>“Empty means false”</a:t>
            </a:r>
          </a:p>
          <a:p>
            <a:endParaRPr lang="en-SG" dirty="0"/>
          </a:p>
        </p:txBody>
      </p:sp>
    </p:spTree>
    <p:extLst>
      <p:ext uri="{BB962C8B-B14F-4D97-AF65-F5344CB8AC3E}">
        <p14:creationId xmlns:p14="http://schemas.microsoft.com/office/powerpoint/2010/main" val="6141432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74C43-5727-83BE-5992-40219A2CE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C093-CF32-65C4-B78A-B8C38D239BF6}"/>
              </a:ext>
            </a:extLst>
          </p:cNvPr>
          <p:cNvSpPr>
            <a:spLocks noGrp="1"/>
          </p:cNvSpPr>
          <p:nvPr>
            <p:ph type="title"/>
          </p:nvPr>
        </p:nvSpPr>
        <p:spPr/>
        <p:txBody>
          <a:bodyPr>
            <a:normAutofit/>
          </a:bodyPr>
          <a:lstStyle/>
          <a:p>
            <a:r>
              <a:rPr lang="en-SG" dirty="0"/>
              <a:t>Using bool()</a:t>
            </a:r>
          </a:p>
        </p:txBody>
      </p:sp>
      <p:sp>
        <p:nvSpPr>
          <p:cNvPr id="3" name="Content Placeholder 2">
            <a:extLst>
              <a:ext uri="{FF2B5EF4-FFF2-40B4-BE49-F238E27FC236}">
                <a16:creationId xmlns:a16="http://schemas.microsoft.com/office/drawing/2014/main" id="{C6EB74F7-D3CA-1E5A-9BAD-079247ACF5E1}"/>
              </a:ext>
            </a:extLst>
          </p:cNvPr>
          <p:cNvSpPr>
            <a:spLocks noGrp="1"/>
          </p:cNvSpPr>
          <p:nvPr>
            <p:ph idx="1"/>
          </p:nvPr>
        </p:nvSpPr>
        <p:spPr/>
        <p:txBody>
          <a:bodyPr>
            <a:normAutofit/>
          </a:bodyPr>
          <a:lstStyle/>
          <a:p>
            <a:pPr marL="0" indent="0">
              <a:buNone/>
            </a:pPr>
            <a:r>
              <a:rPr lang="en-US" dirty="0"/>
              <a:t># bool() reveals how Python evaluates truthiness</a:t>
            </a:r>
          </a:p>
          <a:p>
            <a:pPr marL="0" indent="0">
              <a:buNone/>
            </a:pPr>
            <a:endParaRPr lang="en-US" dirty="0"/>
          </a:p>
          <a:p>
            <a:pPr marL="0" indent="0">
              <a:buNone/>
            </a:pPr>
            <a:endParaRPr lang="en-US" dirty="0"/>
          </a:p>
          <a:p>
            <a:pPr marL="0" indent="0">
              <a:buNone/>
            </a:pPr>
            <a:r>
              <a:rPr lang="en-US" dirty="0"/>
              <a:t>print(bool(0))</a:t>
            </a:r>
          </a:p>
          <a:p>
            <a:pPr marL="0" indent="0">
              <a:buNone/>
            </a:pPr>
            <a:r>
              <a:rPr lang="en-US" dirty="0"/>
              <a:t>print(bool("Python"))</a:t>
            </a:r>
          </a:p>
          <a:p>
            <a:pPr marL="0" indent="0">
              <a:buNone/>
            </a:pPr>
            <a:r>
              <a:rPr lang="en-US" dirty="0"/>
              <a:t>print(bool([]))</a:t>
            </a:r>
          </a:p>
        </p:txBody>
      </p:sp>
    </p:spTree>
    <p:extLst>
      <p:ext uri="{BB962C8B-B14F-4D97-AF65-F5344CB8AC3E}">
        <p14:creationId xmlns:p14="http://schemas.microsoft.com/office/powerpoint/2010/main" val="27325165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5AB84-EA1F-E379-A9BE-18D12CBB2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798FC-9D77-CDB7-D9AA-C99DB52FCEA7}"/>
              </a:ext>
            </a:extLst>
          </p:cNvPr>
          <p:cNvSpPr>
            <a:spLocks noGrp="1"/>
          </p:cNvSpPr>
          <p:nvPr>
            <p:ph type="title"/>
          </p:nvPr>
        </p:nvSpPr>
        <p:spPr>
          <a:xfrm>
            <a:off x="457200" y="228600"/>
            <a:ext cx="8229600" cy="1143000"/>
          </a:xfrm>
        </p:spPr>
        <p:txBody>
          <a:bodyPr/>
          <a:lstStyle/>
          <a:p>
            <a:r>
              <a:rPr lang="en-SG" dirty="0"/>
              <a:t>Short-Circuit Evaluation</a:t>
            </a:r>
          </a:p>
        </p:txBody>
      </p:sp>
      <p:sp>
        <p:nvSpPr>
          <p:cNvPr id="3" name="Content Placeholder 2">
            <a:extLst>
              <a:ext uri="{FF2B5EF4-FFF2-40B4-BE49-F238E27FC236}">
                <a16:creationId xmlns:a16="http://schemas.microsoft.com/office/drawing/2014/main" id="{0B646BA0-8A10-2092-D0C3-AB6672EF43EC}"/>
              </a:ext>
            </a:extLst>
          </p:cNvPr>
          <p:cNvSpPr>
            <a:spLocks noGrp="1"/>
          </p:cNvSpPr>
          <p:nvPr>
            <p:ph idx="1"/>
          </p:nvPr>
        </p:nvSpPr>
        <p:spPr>
          <a:xfrm>
            <a:off x="457200" y="1676400"/>
            <a:ext cx="5005388"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x = 0</a:t>
            </a:r>
          </a:p>
          <a:p>
            <a:pPr marL="0" indent="0">
              <a:buNone/>
            </a:pPr>
            <a:r>
              <a:rPr lang="en-US" dirty="0"/>
              <a:t>print(x != 0 and 10 / x)</a:t>
            </a:r>
          </a:p>
        </p:txBody>
      </p:sp>
      <p:sp>
        <p:nvSpPr>
          <p:cNvPr id="4" name="Content Placeholder 2">
            <a:extLst>
              <a:ext uri="{FF2B5EF4-FFF2-40B4-BE49-F238E27FC236}">
                <a16:creationId xmlns:a16="http://schemas.microsoft.com/office/drawing/2014/main" id="{9E4D7B9F-EC1F-883E-AD44-68523FF7A5B1}"/>
              </a:ext>
            </a:extLst>
          </p:cNvPr>
          <p:cNvSpPr txBox="1">
            <a:spLocks/>
          </p:cNvSpPr>
          <p:nvPr/>
        </p:nvSpPr>
        <p:spPr>
          <a:xfrm>
            <a:off x="5702300" y="1676400"/>
            <a:ext cx="6235700" cy="4699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and</a:t>
            </a:r>
            <a:r>
              <a:rPr lang="en-US" dirty="0"/>
              <a:t> stops at first False</a:t>
            </a:r>
          </a:p>
          <a:p>
            <a:r>
              <a:rPr lang="en-US" b="1" dirty="0"/>
              <a:t>or</a:t>
            </a:r>
            <a:r>
              <a:rPr lang="en-US" dirty="0"/>
              <a:t> stops at first True</a:t>
            </a:r>
          </a:p>
        </p:txBody>
      </p:sp>
    </p:spTree>
    <p:extLst>
      <p:ext uri="{BB962C8B-B14F-4D97-AF65-F5344CB8AC3E}">
        <p14:creationId xmlns:p14="http://schemas.microsoft.com/office/powerpoint/2010/main" val="25548997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CBED-323C-9DFF-3E85-2A6F17E12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15D93-9AB9-E864-CC35-F084D0036101}"/>
              </a:ext>
            </a:extLst>
          </p:cNvPr>
          <p:cNvSpPr>
            <a:spLocks noGrp="1"/>
          </p:cNvSpPr>
          <p:nvPr>
            <p:ph type="title"/>
          </p:nvPr>
        </p:nvSpPr>
        <p:spPr>
          <a:xfrm>
            <a:off x="457200" y="228600"/>
            <a:ext cx="8229600" cy="1143000"/>
          </a:xfrm>
        </p:spPr>
        <p:txBody>
          <a:bodyPr/>
          <a:lstStyle/>
          <a:p>
            <a:r>
              <a:rPr lang="en-SG" dirty="0"/>
              <a:t>Common Mistakes</a:t>
            </a:r>
          </a:p>
        </p:txBody>
      </p:sp>
      <p:sp>
        <p:nvSpPr>
          <p:cNvPr id="3" name="Content Placeholder 2">
            <a:extLst>
              <a:ext uri="{FF2B5EF4-FFF2-40B4-BE49-F238E27FC236}">
                <a16:creationId xmlns:a16="http://schemas.microsoft.com/office/drawing/2014/main" id="{2F80F0AB-ADDB-D097-7E02-7964BA92CA9B}"/>
              </a:ext>
            </a:extLst>
          </p:cNvPr>
          <p:cNvSpPr>
            <a:spLocks noGrp="1"/>
          </p:cNvSpPr>
          <p:nvPr>
            <p:ph idx="1"/>
          </p:nvPr>
        </p:nvSpPr>
        <p:spPr>
          <a:xfrm>
            <a:off x="457200" y="1676400"/>
            <a:ext cx="5005388"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if </a:t>
            </a:r>
            <a:r>
              <a:rPr lang="en-US" dirty="0" err="1"/>
              <a:t>is_ready</a:t>
            </a:r>
            <a:r>
              <a:rPr lang="en-US" dirty="0"/>
              <a:t> == True:  #bad</a:t>
            </a:r>
          </a:p>
          <a:p>
            <a:pPr marL="0" indent="0">
              <a:buNone/>
            </a:pPr>
            <a:endParaRPr lang="en-US" dirty="0"/>
          </a:p>
          <a:p>
            <a:pPr marL="0" indent="0">
              <a:buNone/>
            </a:pPr>
            <a:r>
              <a:rPr lang="en-US" dirty="0"/>
              <a:t>if </a:t>
            </a:r>
            <a:r>
              <a:rPr lang="en-US" dirty="0" err="1"/>
              <a:t>is_ready</a:t>
            </a:r>
            <a:r>
              <a:rPr lang="en-US" dirty="0"/>
              <a:t>:                 #good</a:t>
            </a:r>
          </a:p>
          <a:p>
            <a:pPr marL="0" indent="0">
              <a:buNone/>
            </a:pPr>
            <a:endParaRPr lang="en-US" dirty="0"/>
          </a:p>
        </p:txBody>
      </p:sp>
      <p:sp>
        <p:nvSpPr>
          <p:cNvPr id="4" name="Content Placeholder 2">
            <a:extLst>
              <a:ext uri="{FF2B5EF4-FFF2-40B4-BE49-F238E27FC236}">
                <a16:creationId xmlns:a16="http://schemas.microsoft.com/office/drawing/2014/main" id="{E955F866-2EC2-6368-3A1A-7D31324425B9}"/>
              </a:ext>
            </a:extLst>
          </p:cNvPr>
          <p:cNvSpPr txBox="1">
            <a:spLocks/>
          </p:cNvSpPr>
          <p:nvPr/>
        </p:nvSpPr>
        <p:spPr>
          <a:xfrm>
            <a:off x="5702300" y="1676400"/>
            <a:ext cx="6235700" cy="4699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Comparing to True or False explicitly</a:t>
            </a:r>
          </a:p>
          <a:p>
            <a:r>
              <a:rPr lang="en-US" dirty="0"/>
              <a:t>Confusing None with False</a:t>
            </a:r>
          </a:p>
          <a:p>
            <a:r>
              <a:rPr lang="en-US" dirty="0"/>
              <a:t>Assuming empty collections are True</a:t>
            </a:r>
          </a:p>
        </p:txBody>
      </p:sp>
    </p:spTree>
    <p:extLst>
      <p:ext uri="{BB962C8B-B14F-4D97-AF65-F5344CB8AC3E}">
        <p14:creationId xmlns:p14="http://schemas.microsoft.com/office/powerpoint/2010/main" val="19901643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FE668-0829-A4DA-E2FA-9B997E2C70EF}"/>
              </a:ext>
            </a:extLst>
          </p:cNvPr>
          <p:cNvSpPr>
            <a:spLocks noGrp="1"/>
          </p:cNvSpPr>
          <p:nvPr>
            <p:ph type="title"/>
          </p:nvPr>
        </p:nvSpPr>
        <p:spPr/>
        <p:txBody>
          <a:bodyPr>
            <a:normAutofit/>
          </a:bodyPr>
          <a:lstStyle/>
          <a:p>
            <a:r>
              <a:rPr lang="en-US" dirty="0"/>
              <a:t>Hands-On Exercise</a:t>
            </a:r>
            <a:endParaRPr lang="en-SG" dirty="0"/>
          </a:p>
        </p:txBody>
      </p:sp>
      <p:sp>
        <p:nvSpPr>
          <p:cNvPr id="3" name="Content Placeholder 2">
            <a:extLst>
              <a:ext uri="{FF2B5EF4-FFF2-40B4-BE49-F238E27FC236}">
                <a16:creationId xmlns:a16="http://schemas.microsoft.com/office/drawing/2014/main" id="{1F3D3B31-D388-E6BC-17C8-00E703254856}"/>
              </a:ext>
            </a:extLst>
          </p:cNvPr>
          <p:cNvSpPr>
            <a:spLocks noGrp="1"/>
          </p:cNvSpPr>
          <p:nvPr>
            <p:ph idx="1"/>
          </p:nvPr>
        </p:nvSpPr>
        <p:spPr/>
        <p:txBody>
          <a:bodyPr/>
          <a:lstStyle/>
          <a:p>
            <a:r>
              <a:rPr lang="en-US" dirty="0"/>
              <a:t>Ask the user for a string</a:t>
            </a:r>
          </a:p>
          <a:p>
            <a:r>
              <a:rPr lang="en-US" dirty="0"/>
              <a:t>Print:</a:t>
            </a:r>
          </a:p>
          <a:p>
            <a:pPr lvl="1"/>
            <a:r>
              <a:rPr lang="en-US" dirty="0"/>
              <a:t>"Empty" if no input</a:t>
            </a:r>
          </a:p>
          <a:p>
            <a:pPr lvl="1"/>
            <a:r>
              <a:rPr lang="en-US" dirty="0"/>
              <a:t>"Not empty" otherwise</a:t>
            </a:r>
          </a:p>
          <a:p>
            <a:endParaRPr lang="en-SG" dirty="0"/>
          </a:p>
        </p:txBody>
      </p:sp>
    </p:spTree>
    <p:extLst>
      <p:ext uri="{BB962C8B-B14F-4D97-AF65-F5344CB8AC3E}">
        <p14:creationId xmlns:p14="http://schemas.microsoft.com/office/powerpoint/2010/main" val="4029593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A8C4E-9C3B-0447-3ACD-1EFECB590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F7F27-E9E5-239F-2921-3CCC50980CD3}"/>
              </a:ext>
            </a:extLst>
          </p:cNvPr>
          <p:cNvSpPr>
            <a:spLocks noGrp="1"/>
          </p:cNvSpPr>
          <p:nvPr>
            <p:ph type="title"/>
          </p:nvPr>
        </p:nvSpPr>
        <p:spPr>
          <a:xfrm>
            <a:off x="457200" y="228600"/>
            <a:ext cx="8229600" cy="1143000"/>
          </a:xfrm>
        </p:spPr>
        <p:txBody>
          <a:bodyPr/>
          <a:lstStyle/>
          <a:p>
            <a:r>
              <a:rPr lang="en-SG" dirty="0"/>
              <a:t>Solution 1</a:t>
            </a:r>
          </a:p>
        </p:txBody>
      </p:sp>
      <p:sp>
        <p:nvSpPr>
          <p:cNvPr id="3" name="Content Placeholder 2">
            <a:extLst>
              <a:ext uri="{FF2B5EF4-FFF2-40B4-BE49-F238E27FC236}">
                <a16:creationId xmlns:a16="http://schemas.microsoft.com/office/drawing/2014/main" id="{8D514EFF-F943-C67F-B923-2CBF6E814A05}"/>
              </a:ext>
            </a:extLst>
          </p:cNvPr>
          <p:cNvSpPr>
            <a:spLocks noGrp="1"/>
          </p:cNvSpPr>
          <p:nvPr>
            <p:ph idx="1"/>
          </p:nvPr>
        </p:nvSpPr>
        <p:spPr>
          <a:xfrm>
            <a:off x="457200" y="1676400"/>
            <a:ext cx="5245100"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text = input("Enter a string: ")</a:t>
            </a:r>
          </a:p>
          <a:p>
            <a:pPr marL="0" indent="0">
              <a:buNone/>
            </a:pPr>
            <a:endParaRPr lang="en-US" dirty="0"/>
          </a:p>
          <a:p>
            <a:pPr marL="0" indent="0">
              <a:buNone/>
            </a:pPr>
            <a:r>
              <a:rPr lang="en-US" dirty="0"/>
              <a:t>if text:</a:t>
            </a:r>
          </a:p>
          <a:p>
            <a:pPr marL="0" indent="0">
              <a:buNone/>
            </a:pPr>
            <a:r>
              <a:rPr lang="en-US" dirty="0"/>
              <a:t>    print("Not empty")</a:t>
            </a:r>
          </a:p>
          <a:p>
            <a:pPr marL="0" indent="0">
              <a:buNone/>
            </a:pPr>
            <a:r>
              <a:rPr lang="en-US" dirty="0"/>
              <a:t>else:</a:t>
            </a:r>
          </a:p>
          <a:p>
            <a:pPr marL="0" indent="0">
              <a:buNone/>
            </a:pPr>
            <a:r>
              <a:rPr lang="en-US" dirty="0"/>
              <a:t>    print("Empty")</a:t>
            </a:r>
          </a:p>
        </p:txBody>
      </p:sp>
      <p:sp>
        <p:nvSpPr>
          <p:cNvPr id="4" name="Content Placeholder 2">
            <a:extLst>
              <a:ext uri="{FF2B5EF4-FFF2-40B4-BE49-F238E27FC236}">
                <a16:creationId xmlns:a16="http://schemas.microsoft.com/office/drawing/2014/main" id="{43373FEB-6339-1B4D-2721-45118BCE6BD8}"/>
              </a:ext>
            </a:extLst>
          </p:cNvPr>
          <p:cNvSpPr txBox="1">
            <a:spLocks/>
          </p:cNvSpPr>
          <p:nvPr/>
        </p:nvSpPr>
        <p:spPr>
          <a:xfrm>
            <a:off x="6094412" y="1676400"/>
            <a:ext cx="5843588" cy="4699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An </a:t>
            </a:r>
            <a:r>
              <a:rPr lang="en-US" b="1" dirty="0"/>
              <a:t>empty string</a:t>
            </a:r>
            <a:r>
              <a:rPr lang="en-US" dirty="0"/>
              <a:t> ("") is </a:t>
            </a:r>
            <a:r>
              <a:rPr lang="en-US" i="1" dirty="0" err="1"/>
              <a:t>falsy</a:t>
            </a:r>
            <a:endParaRPr lang="en-US" dirty="0"/>
          </a:p>
          <a:p>
            <a:r>
              <a:rPr lang="en-US" dirty="0"/>
              <a:t>A </a:t>
            </a:r>
            <a:r>
              <a:rPr lang="en-US" b="1" dirty="0"/>
              <a:t>non-empty string</a:t>
            </a:r>
            <a:r>
              <a:rPr lang="en-US" dirty="0"/>
              <a:t> is </a:t>
            </a:r>
            <a:r>
              <a:rPr lang="en-US" i="1" dirty="0"/>
              <a:t>truthy</a:t>
            </a:r>
            <a:endParaRPr lang="en-US" dirty="0"/>
          </a:p>
          <a:p>
            <a:r>
              <a:rPr lang="en-US" dirty="0"/>
              <a:t>Python evaluates the string directly in the if condition</a:t>
            </a:r>
          </a:p>
        </p:txBody>
      </p:sp>
    </p:spTree>
    <p:extLst>
      <p:ext uri="{BB962C8B-B14F-4D97-AF65-F5344CB8AC3E}">
        <p14:creationId xmlns:p14="http://schemas.microsoft.com/office/powerpoint/2010/main" val="41081384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8BD9C-73E6-2085-231F-F6213375A9E8}"/>
              </a:ext>
            </a:extLst>
          </p:cNvPr>
          <p:cNvSpPr>
            <a:spLocks noGrp="1"/>
          </p:cNvSpPr>
          <p:nvPr>
            <p:ph type="title"/>
          </p:nvPr>
        </p:nvSpPr>
        <p:spPr>
          <a:xfrm>
            <a:off x="457200" y="-182562"/>
            <a:ext cx="10833100" cy="1143000"/>
          </a:xfrm>
        </p:spPr>
        <p:txBody>
          <a:bodyPr>
            <a:normAutofit/>
          </a:bodyPr>
          <a:lstStyle/>
          <a:p>
            <a:r>
              <a:rPr lang="en-US" dirty="0"/>
              <a:t>Data Structures — Lists, Sets, and Tuples</a:t>
            </a:r>
            <a:endParaRPr lang="en-SG" dirty="0"/>
          </a:p>
        </p:txBody>
      </p:sp>
      <p:graphicFrame>
        <p:nvGraphicFramePr>
          <p:cNvPr id="4" name="Table 3">
            <a:extLst>
              <a:ext uri="{FF2B5EF4-FFF2-40B4-BE49-F238E27FC236}">
                <a16:creationId xmlns:a16="http://schemas.microsoft.com/office/drawing/2014/main" id="{A4EA0EE4-3388-37F9-D288-B3D55C688A49}"/>
              </a:ext>
            </a:extLst>
          </p:cNvPr>
          <p:cNvGraphicFramePr>
            <a:graphicFrameLocks noGrp="1"/>
          </p:cNvGraphicFramePr>
          <p:nvPr>
            <p:extLst>
              <p:ext uri="{D42A27DB-BD31-4B8C-83A1-F6EECF244321}">
                <p14:modId xmlns:p14="http://schemas.microsoft.com/office/powerpoint/2010/main" val="3513351184"/>
              </p:ext>
            </p:extLst>
          </p:nvPr>
        </p:nvGraphicFramePr>
        <p:xfrm>
          <a:off x="292100" y="850901"/>
          <a:ext cx="11747500" cy="5871892"/>
        </p:xfrm>
        <a:graphic>
          <a:graphicData uri="http://schemas.openxmlformats.org/drawingml/2006/table">
            <a:tbl>
              <a:tblPr/>
              <a:tblGrid>
                <a:gridCol w="2349500">
                  <a:extLst>
                    <a:ext uri="{9D8B030D-6E8A-4147-A177-3AD203B41FA5}">
                      <a16:colId xmlns:a16="http://schemas.microsoft.com/office/drawing/2014/main" val="24851224"/>
                    </a:ext>
                  </a:extLst>
                </a:gridCol>
                <a:gridCol w="2349500">
                  <a:extLst>
                    <a:ext uri="{9D8B030D-6E8A-4147-A177-3AD203B41FA5}">
                      <a16:colId xmlns:a16="http://schemas.microsoft.com/office/drawing/2014/main" val="3390414847"/>
                    </a:ext>
                  </a:extLst>
                </a:gridCol>
                <a:gridCol w="2349500">
                  <a:extLst>
                    <a:ext uri="{9D8B030D-6E8A-4147-A177-3AD203B41FA5}">
                      <a16:colId xmlns:a16="http://schemas.microsoft.com/office/drawing/2014/main" val="3146186434"/>
                    </a:ext>
                  </a:extLst>
                </a:gridCol>
                <a:gridCol w="2349500">
                  <a:extLst>
                    <a:ext uri="{9D8B030D-6E8A-4147-A177-3AD203B41FA5}">
                      <a16:colId xmlns:a16="http://schemas.microsoft.com/office/drawing/2014/main" val="1258871052"/>
                    </a:ext>
                  </a:extLst>
                </a:gridCol>
                <a:gridCol w="2349500">
                  <a:extLst>
                    <a:ext uri="{9D8B030D-6E8A-4147-A177-3AD203B41FA5}">
                      <a16:colId xmlns:a16="http://schemas.microsoft.com/office/drawing/2014/main" val="65556977"/>
                    </a:ext>
                  </a:extLst>
                </a:gridCol>
              </a:tblGrid>
              <a:tr h="428718">
                <a:tc>
                  <a:txBody>
                    <a:bodyPr/>
                    <a:lstStyle/>
                    <a:p>
                      <a:pPr rtl="0">
                        <a:buNone/>
                      </a:pPr>
                      <a:r>
                        <a:rPr lang="en-SG" sz="2400" b="1">
                          <a:solidFill>
                            <a:srgbClr val="1F1F1F"/>
                          </a:solidFill>
                          <a:effectLst/>
                          <a:latin typeface="Google Sans Text"/>
                        </a:rPr>
                        <a:t>Structure</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b="1">
                          <a:solidFill>
                            <a:srgbClr val="1F1F1F"/>
                          </a:solidFill>
                          <a:effectLst/>
                          <a:latin typeface="Google Sans Text"/>
                        </a:rPr>
                        <a:t>Ordered?</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b="1">
                          <a:solidFill>
                            <a:srgbClr val="1F1F1F"/>
                          </a:solidFill>
                          <a:effectLst/>
                          <a:latin typeface="Google Sans Text"/>
                        </a:rPr>
                        <a:t>Mutable?</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b="1">
                          <a:solidFill>
                            <a:srgbClr val="1F1F1F"/>
                          </a:solidFill>
                          <a:effectLst/>
                          <a:latin typeface="Google Sans Text"/>
                        </a:rPr>
                        <a:t>Unique?</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b="1">
                          <a:solidFill>
                            <a:srgbClr val="1F1F1F"/>
                          </a:solidFill>
                          <a:effectLst/>
                          <a:latin typeface="Google Sans Text"/>
                        </a:rPr>
                        <a:t>Use Case</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77812970"/>
                  </a:ext>
                </a:extLst>
              </a:tr>
              <a:tr h="1215708">
                <a:tc>
                  <a:txBody>
                    <a:bodyPr/>
                    <a:lstStyle/>
                    <a:p>
                      <a:pPr rtl="0">
                        <a:buNone/>
                      </a:pPr>
                      <a:r>
                        <a:rPr lang="en-SG" sz="2400" b="1">
                          <a:solidFill>
                            <a:srgbClr val="1F1F1F"/>
                          </a:solidFill>
                          <a:effectLst/>
                          <a:latin typeface="Google Sans Text"/>
                        </a:rPr>
                        <a:t>List</a:t>
                      </a:r>
                      <a:r>
                        <a:rPr lang="en-SG" sz="2400">
                          <a:solidFill>
                            <a:srgbClr val="1F1F1F"/>
                          </a:solidFill>
                          <a:effectLst/>
                          <a:latin typeface="Google Sans Text"/>
                        </a:rPr>
                        <a:t> </a:t>
                      </a:r>
                      <a:r>
                        <a:rPr lang="en-SG" sz="2400">
                          <a:solidFill>
                            <a:srgbClr val="444746"/>
                          </a:solidFill>
                          <a:effectLst/>
                          <a:latin typeface="Google Sans Text"/>
                        </a:rPr>
                        <a:t>[]</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Yes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Yes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No</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General purpose collections (e.g., </a:t>
                      </a:r>
                      <a:r>
                        <a:rPr lang="en-US" sz="2400">
                          <a:solidFill>
                            <a:srgbClr val="444746"/>
                          </a:solidFill>
                          <a:effectLst/>
                          <a:latin typeface="Google Sans Text"/>
                        </a:rPr>
                        <a:t>[cap, title]</a:t>
                      </a:r>
                      <a:r>
                        <a:rPr lang="en-US" sz="2400">
                          <a:solidFill>
                            <a:srgbClr val="1F1F1F"/>
                          </a:solidFill>
                          <a:effectLst/>
                          <a:latin typeface="Google Sans Text"/>
                        </a:rPr>
                        <a:t>).</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25069397"/>
                  </a:ext>
                </a:extLst>
              </a:tr>
              <a:tr h="1118473">
                <a:tc>
                  <a:txBody>
                    <a:bodyPr/>
                    <a:lstStyle/>
                    <a:p>
                      <a:pPr rtl="0">
                        <a:buNone/>
                      </a:pPr>
                      <a:r>
                        <a:rPr lang="en-SG" sz="2400" b="1">
                          <a:solidFill>
                            <a:srgbClr val="1F1F1F"/>
                          </a:solidFill>
                          <a:effectLst/>
                          <a:latin typeface="Google Sans Text"/>
                        </a:rPr>
                        <a:t>Tuple</a:t>
                      </a:r>
                      <a:r>
                        <a:rPr lang="en-SG" sz="2400">
                          <a:solidFill>
                            <a:srgbClr val="1F1F1F"/>
                          </a:solidFill>
                          <a:effectLst/>
                          <a:latin typeface="Google Sans Text"/>
                        </a:rPr>
                        <a:t> </a:t>
                      </a:r>
                      <a:r>
                        <a:rPr lang="en-SG" sz="2400">
                          <a:solidFill>
                            <a:srgbClr val="444746"/>
                          </a:solidFill>
                          <a:effectLst/>
                          <a:latin typeface="Google Sans Text"/>
                        </a:rPr>
                        <a:t>()</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Yes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No</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No</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Fixed records, coordinates, or dictionary keys.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88626009"/>
                  </a:ext>
                </a:extLst>
              </a:tr>
              <a:tr h="1463350">
                <a:tc>
                  <a:txBody>
                    <a:bodyPr/>
                    <a:lstStyle/>
                    <a:p>
                      <a:pPr rtl="0">
                        <a:buNone/>
                      </a:pPr>
                      <a:r>
                        <a:rPr lang="en-SG" sz="2400" b="1">
                          <a:solidFill>
                            <a:srgbClr val="1F1F1F"/>
                          </a:solidFill>
                          <a:effectLst/>
                          <a:latin typeface="Google Sans Text"/>
                        </a:rPr>
                        <a:t>Set</a:t>
                      </a:r>
                      <a:r>
                        <a:rPr lang="en-SG" sz="2400">
                          <a:solidFill>
                            <a:srgbClr val="1F1F1F"/>
                          </a:solidFill>
                          <a:effectLst/>
                          <a:latin typeface="Google Sans Text"/>
                        </a:rPr>
                        <a:t> </a:t>
                      </a:r>
                      <a:r>
                        <a:rPr lang="en-SG" sz="2400">
                          <a:solidFill>
                            <a:srgbClr val="444746"/>
                          </a:solidFill>
                          <a:effectLst/>
                          <a:latin typeface="Google Sans Text"/>
                        </a:rPr>
                        <a:t>{}</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No</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Yes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Yes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Membership testing and removing duplicates.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77294078"/>
                  </a:ext>
                </a:extLst>
              </a:tr>
              <a:tr h="1463350">
                <a:tc>
                  <a:txBody>
                    <a:bodyPr/>
                    <a:lstStyle/>
                    <a:p>
                      <a:pPr rtl="0">
                        <a:buNone/>
                      </a:pPr>
                      <a:r>
                        <a:rPr lang="en-SG" sz="2400" b="1">
                          <a:solidFill>
                            <a:srgbClr val="1F1F1F"/>
                          </a:solidFill>
                          <a:effectLst/>
                          <a:latin typeface="Google Sans Text"/>
                        </a:rPr>
                        <a:t>Dict</a:t>
                      </a:r>
                      <a:r>
                        <a:rPr lang="en-SG" sz="2400">
                          <a:solidFill>
                            <a:srgbClr val="1F1F1F"/>
                          </a:solidFill>
                          <a:effectLst/>
                          <a:latin typeface="Google Sans Text"/>
                        </a:rPr>
                        <a:t> </a:t>
                      </a:r>
                      <a:r>
                        <a:rPr lang="en-SG" sz="2400">
                          <a:solidFill>
                            <a:srgbClr val="444746"/>
                          </a:solidFill>
                          <a:effectLst/>
                          <a:latin typeface="Google Sans Text"/>
                        </a:rPr>
                        <a:t>{k:v}</a:t>
                      </a:r>
                      <a:endParaRPr lang="en-SG" sz="2400">
                        <a:solidFill>
                          <a:srgbClr val="1F1F1F"/>
                        </a:solidFill>
                        <a:effectLst/>
                        <a:latin typeface="Google Sans Text"/>
                      </a:endParaRP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Yes (3.7+)</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dirty="0">
                          <a:solidFill>
                            <a:srgbClr val="1F1F1F"/>
                          </a:solidFill>
                          <a:effectLst/>
                          <a:latin typeface="Google Sans Text"/>
                        </a:rPr>
                        <a:t>Yes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SG" sz="2400">
                          <a:solidFill>
                            <a:srgbClr val="1F1F1F"/>
                          </a:solidFill>
                          <a:effectLst/>
                          <a:latin typeface="Google Sans Text"/>
                        </a:rPr>
                        <a:t>Keys: Yes</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sz="2400" dirty="0">
                          <a:solidFill>
                            <a:srgbClr val="1F1F1F"/>
                          </a:solidFill>
                          <a:effectLst/>
                          <a:latin typeface="Google Sans Text"/>
                        </a:rPr>
                        <a:t>Key-value mapping for fast lookups ($O(1)$).</a:t>
                      </a:r>
                    </a:p>
                  </a:txBody>
                  <a:tcPr marL="66689" marR="66689" marT="44459" marB="44459"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49885563"/>
                  </a:ext>
                </a:extLst>
              </a:tr>
            </a:tbl>
          </a:graphicData>
        </a:graphic>
      </p:graphicFrame>
    </p:spTree>
    <p:extLst>
      <p:ext uri="{BB962C8B-B14F-4D97-AF65-F5344CB8AC3E}">
        <p14:creationId xmlns:p14="http://schemas.microsoft.com/office/powerpoint/2010/main" val="41485101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F5674-2506-496C-A8D8-8F47D2DDBE30}"/>
              </a:ext>
            </a:extLst>
          </p:cNvPr>
          <p:cNvSpPr>
            <a:spLocks noGrp="1"/>
          </p:cNvSpPr>
          <p:nvPr>
            <p:ph type="title"/>
          </p:nvPr>
        </p:nvSpPr>
        <p:spPr/>
        <p:txBody>
          <a:bodyPr/>
          <a:lstStyle/>
          <a:p>
            <a:r>
              <a:rPr lang="en-SG" dirty="0"/>
              <a:t>Solution 2: Ternary</a:t>
            </a:r>
          </a:p>
        </p:txBody>
      </p:sp>
      <p:sp>
        <p:nvSpPr>
          <p:cNvPr id="3" name="Content Placeholder 2">
            <a:extLst>
              <a:ext uri="{FF2B5EF4-FFF2-40B4-BE49-F238E27FC236}">
                <a16:creationId xmlns:a16="http://schemas.microsoft.com/office/drawing/2014/main" id="{034A91F2-2167-B172-B1C0-42D97EE8DE96}"/>
              </a:ext>
            </a:extLst>
          </p:cNvPr>
          <p:cNvSpPr>
            <a:spLocks noGrp="1"/>
          </p:cNvSpPr>
          <p:nvPr>
            <p:ph idx="1"/>
          </p:nvPr>
        </p:nvSpPr>
        <p:spPr/>
        <p:txBody>
          <a:bodyPr/>
          <a:lstStyle/>
          <a:p>
            <a:pPr marL="0" indent="0">
              <a:buNone/>
            </a:pPr>
            <a:r>
              <a:rPr lang="en-US" dirty="0"/>
              <a:t>text = input("Enter a string: ")</a:t>
            </a:r>
          </a:p>
          <a:p>
            <a:pPr marL="0" indent="0">
              <a:buNone/>
            </a:pPr>
            <a:r>
              <a:rPr lang="en-US" dirty="0"/>
              <a:t>print("Not empty" if text else "Empty")</a:t>
            </a:r>
          </a:p>
          <a:p>
            <a:pPr marL="0" indent="0">
              <a:buNone/>
            </a:pPr>
            <a:endParaRPr lang="en-SG" dirty="0"/>
          </a:p>
        </p:txBody>
      </p:sp>
    </p:spTree>
    <p:extLst>
      <p:ext uri="{BB962C8B-B14F-4D97-AF65-F5344CB8AC3E}">
        <p14:creationId xmlns:p14="http://schemas.microsoft.com/office/powerpoint/2010/main" val="27624177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35253-35D0-DF65-6D8F-8519BCD6C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2F5CF-B16F-FFB0-11D3-5478C4BA169C}"/>
              </a:ext>
            </a:extLst>
          </p:cNvPr>
          <p:cNvSpPr>
            <a:spLocks noGrp="1"/>
          </p:cNvSpPr>
          <p:nvPr>
            <p:ph type="title"/>
          </p:nvPr>
        </p:nvSpPr>
        <p:spPr/>
        <p:txBody>
          <a:bodyPr/>
          <a:lstStyle/>
          <a:p>
            <a:r>
              <a:rPr lang="en-SG" dirty="0"/>
              <a:t>Solution 3: </a:t>
            </a:r>
            <a:r>
              <a:rPr lang="en-SG" dirty="0" err="1"/>
              <a:t>len</a:t>
            </a:r>
            <a:r>
              <a:rPr lang="en-SG" dirty="0"/>
              <a:t>()</a:t>
            </a:r>
          </a:p>
        </p:txBody>
      </p:sp>
      <p:sp>
        <p:nvSpPr>
          <p:cNvPr id="3" name="Content Placeholder 2">
            <a:extLst>
              <a:ext uri="{FF2B5EF4-FFF2-40B4-BE49-F238E27FC236}">
                <a16:creationId xmlns:a16="http://schemas.microsoft.com/office/drawing/2014/main" id="{6A00E301-8BF1-1359-E0FB-713AF06FDE01}"/>
              </a:ext>
            </a:extLst>
          </p:cNvPr>
          <p:cNvSpPr>
            <a:spLocks noGrp="1"/>
          </p:cNvSpPr>
          <p:nvPr>
            <p:ph idx="1"/>
          </p:nvPr>
        </p:nvSpPr>
        <p:spPr/>
        <p:txBody>
          <a:bodyPr/>
          <a:lstStyle/>
          <a:p>
            <a:pPr marL="0" indent="0">
              <a:buNone/>
            </a:pPr>
            <a:r>
              <a:rPr lang="en-US" dirty="0"/>
              <a:t>text = input("Enter a string: ")</a:t>
            </a:r>
          </a:p>
          <a:p>
            <a:pPr marL="0" indent="0">
              <a:buNone/>
            </a:pPr>
            <a:endParaRPr lang="en-US" dirty="0"/>
          </a:p>
          <a:p>
            <a:pPr marL="0" indent="0">
              <a:buNone/>
            </a:pPr>
            <a:r>
              <a:rPr lang="en-US" dirty="0"/>
              <a:t>if </a:t>
            </a:r>
            <a:r>
              <a:rPr lang="en-US" dirty="0" err="1"/>
              <a:t>len</a:t>
            </a:r>
            <a:r>
              <a:rPr lang="en-US" dirty="0"/>
              <a:t>(text) == 0:</a:t>
            </a:r>
          </a:p>
          <a:p>
            <a:pPr marL="0" indent="0">
              <a:buNone/>
            </a:pPr>
            <a:r>
              <a:rPr lang="en-US" dirty="0"/>
              <a:t>    print("Empty")</a:t>
            </a:r>
          </a:p>
          <a:p>
            <a:pPr marL="0" indent="0">
              <a:buNone/>
            </a:pPr>
            <a:r>
              <a:rPr lang="en-US" dirty="0"/>
              <a:t>else:</a:t>
            </a:r>
          </a:p>
          <a:p>
            <a:pPr marL="0" indent="0">
              <a:buNone/>
            </a:pPr>
            <a:r>
              <a:rPr lang="en-US" dirty="0"/>
              <a:t>    print("Not empty")</a:t>
            </a:r>
          </a:p>
        </p:txBody>
      </p:sp>
    </p:spTree>
    <p:extLst>
      <p:ext uri="{BB962C8B-B14F-4D97-AF65-F5344CB8AC3E}">
        <p14:creationId xmlns:p14="http://schemas.microsoft.com/office/powerpoint/2010/main" val="40117345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C6517-6CA0-9A2C-BCEF-A288B253B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30B80-5FC2-EF7B-E7AB-353789D3097B}"/>
              </a:ext>
            </a:extLst>
          </p:cNvPr>
          <p:cNvSpPr>
            <a:spLocks noGrp="1"/>
          </p:cNvSpPr>
          <p:nvPr>
            <p:ph type="title"/>
          </p:nvPr>
        </p:nvSpPr>
        <p:spPr/>
        <p:txBody>
          <a:bodyPr>
            <a:normAutofit/>
          </a:bodyPr>
          <a:lstStyle/>
          <a:p>
            <a:r>
              <a:rPr lang="en-US" dirty="0"/>
              <a:t>Key Takeaways</a:t>
            </a:r>
          </a:p>
        </p:txBody>
      </p:sp>
      <p:sp>
        <p:nvSpPr>
          <p:cNvPr id="3" name="Content Placeholder 2">
            <a:extLst>
              <a:ext uri="{FF2B5EF4-FFF2-40B4-BE49-F238E27FC236}">
                <a16:creationId xmlns:a16="http://schemas.microsoft.com/office/drawing/2014/main" id="{A1BDC9C0-8F9B-358C-8A6B-9D986391005C}"/>
              </a:ext>
            </a:extLst>
          </p:cNvPr>
          <p:cNvSpPr>
            <a:spLocks noGrp="1"/>
          </p:cNvSpPr>
          <p:nvPr>
            <p:ph idx="1"/>
          </p:nvPr>
        </p:nvSpPr>
        <p:spPr/>
        <p:txBody>
          <a:bodyPr/>
          <a:lstStyle/>
          <a:p>
            <a:r>
              <a:rPr lang="en-US" dirty="0"/>
              <a:t>Booleans drive program logic</a:t>
            </a:r>
          </a:p>
          <a:p>
            <a:r>
              <a:rPr lang="en-US" dirty="0"/>
              <a:t>Truthiness simplifies conditions</a:t>
            </a:r>
          </a:p>
          <a:p>
            <a:r>
              <a:rPr lang="en-US" dirty="0"/>
              <a:t>Understanding </a:t>
            </a:r>
            <a:r>
              <a:rPr lang="en-US" dirty="0" err="1"/>
              <a:t>falsy</a:t>
            </a:r>
            <a:r>
              <a:rPr lang="en-US" dirty="0"/>
              <a:t> values prevents bugs</a:t>
            </a:r>
          </a:p>
        </p:txBody>
      </p:sp>
    </p:spTree>
    <p:extLst>
      <p:ext uri="{BB962C8B-B14F-4D97-AF65-F5344CB8AC3E}">
        <p14:creationId xmlns:p14="http://schemas.microsoft.com/office/powerpoint/2010/main" val="20501814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Booleans &amp; Truthiness</a:t>
            </a:r>
          </a:p>
        </p:txBody>
      </p:sp>
      <p:sp>
        <p:nvSpPr>
          <p:cNvPr id="3" name="Content Placeholder 2"/>
          <p:cNvSpPr>
            <a:spLocks noGrp="1"/>
          </p:cNvSpPr>
          <p:nvPr>
            <p:ph idx="1"/>
          </p:nvPr>
        </p:nvSpPr>
        <p:spPr/>
        <p:txBody>
          <a:bodyPr>
            <a:normAutofit/>
          </a:bodyPr>
          <a:lstStyle/>
          <a:p>
            <a:pPr algn="l">
              <a:defRPr sz="1500">
                <a:latin typeface="Courier New"/>
              </a:defRPr>
            </a:pPr>
            <a:r>
              <a:rPr sz="2800" dirty="0"/>
              <a:t># Explicit</a:t>
            </a:r>
            <a:br>
              <a:rPr sz="2800" dirty="0"/>
            </a:br>
            <a:r>
              <a:rPr sz="2800" dirty="0" err="1"/>
              <a:t>is_valid</a:t>
            </a:r>
            <a:r>
              <a:rPr sz="2800" dirty="0"/>
              <a:t> = True</a:t>
            </a:r>
            <a:br>
              <a:rPr sz="2800" dirty="0"/>
            </a:br>
            <a:br>
              <a:rPr sz="2800" dirty="0"/>
            </a:br>
            <a:r>
              <a:rPr sz="2800" dirty="0"/>
              <a:t># Implicit (</a:t>
            </a:r>
            <a:r>
              <a:rPr sz="2800" dirty="0" err="1"/>
              <a:t>falsy</a:t>
            </a:r>
            <a:r>
              <a:rPr sz="2800" dirty="0"/>
              <a:t> values)</a:t>
            </a:r>
            <a:br>
              <a:rPr sz="2800" dirty="0"/>
            </a:br>
            <a:r>
              <a:rPr sz="2800" dirty="0"/>
              <a:t>0  0.0  ""  []  {}  None  set()</a:t>
            </a:r>
            <a:br>
              <a:rPr sz="2800" dirty="0"/>
            </a:br>
            <a:br>
              <a:rPr sz="2800" dirty="0"/>
            </a:br>
            <a:r>
              <a:rPr sz="2800" dirty="0"/>
              <a:t># Quick filter</a:t>
            </a:r>
            <a:br>
              <a:rPr sz="2800" dirty="0"/>
            </a:br>
            <a:r>
              <a:rPr sz="2800" dirty="0"/>
              <a:t>users = ["", "Ada", "", "Linus"]</a:t>
            </a:r>
            <a:br>
              <a:rPr sz="2800" dirty="0"/>
            </a:br>
            <a:r>
              <a:rPr sz="2800" dirty="0" err="1"/>
              <a:t>real_users</a:t>
            </a:r>
            <a:r>
              <a:rPr sz="2800" dirty="0"/>
              <a:t> = [u for u in users if u]   # ['Ada', 'Linus']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6764-731A-41D6-6189-61DF4690616A}"/>
              </a:ext>
            </a:extLst>
          </p:cNvPr>
          <p:cNvSpPr>
            <a:spLocks noGrp="1"/>
          </p:cNvSpPr>
          <p:nvPr>
            <p:ph type="title"/>
          </p:nvPr>
        </p:nvSpPr>
        <p:spPr>
          <a:xfrm>
            <a:off x="457200" y="274638"/>
            <a:ext cx="10985500" cy="1143000"/>
          </a:xfrm>
        </p:spPr>
        <p:txBody>
          <a:bodyPr/>
          <a:lstStyle/>
          <a:p>
            <a:r>
              <a:rPr lang="en-SG" dirty="0"/>
              <a:t>Logic Flow &amp; List Comprehensions</a:t>
            </a:r>
          </a:p>
        </p:txBody>
      </p:sp>
      <p:sp>
        <p:nvSpPr>
          <p:cNvPr id="3" name="Content Placeholder 2">
            <a:extLst>
              <a:ext uri="{FF2B5EF4-FFF2-40B4-BE49-F238E27FC236}">
                <a16:creationId xmlns:a16="http://schemas.microsoft.com/office/drawing/2014/main" id="{AFDB1925-D781-7449-3170-24071630EAA8}"/>
              </a:ext>
            </a:extLst>
          </p:cNvPr>
          <p:cNvSpPr>
            <a:spLocks noGrp="1"/>
          </p:cNvSpPr>
          <p:nvPr>
            <p:ph idx="1"/>
          </p:nvPr>
        </p:nvSpPr>
        <p:spPr>
          <a:xfrm>
            <a:off x="203200" y="1392238"/>
            <a:ext cx="11671300" cy="2481262"/>
          </a:xfrm>
        </p:spPr>
        <p:txBody>
          <a:bodyPr>
            <a:normAutofit fontScale="92500" lnSpcReduction="10000"/>
          </a:bodyPr>
          <a:lstStyle/>
          <a:p>
            <a:r>
              <a:rPr lang="en-US" dirty="0"/>
              <a:t>Conditional Logic: Standard if/</a:t>
            </a:r>
            <a:r>
              <a:rPr lang="en-US" dirty="0" err="1"/>
              <a:t>elif</a:t>
            </a:r>
            <a:r>
              <a:rPr lang="en-US" dirty="0"/>
              <a:t>/else blocks and the "Ternary Operator": x = a if condition else b.</a:t>
            </a:r>
          </a:p>
          <a:p>
            <a:endParaRPr lang="en-US" dirty="0"/>
          </a:p>
          <a:p>
            <a:r>
              <a:rPr lang="en-US" dirty="0"/>
              <a:t>List Comprehensions: A powerful syntax to create new lists from existing </a:t>
            </a:r>
            <a:r>
              <a:rPr lang="en-US" dirty="0" err="1"/>
              <a:t>iterables</a:t>
            </a:r>
            <a:r>
              <a:rPr lang="en-US" dirty="0"/>
              <a:t>.</a:t>
            </a:r>
          </a:p>
          <a:p>
            <a:endParaRPr lang="en-US" dirty="0"/>
          </a:p>
          <a:p>
            <a:pPr marL="0" indent="0">
              <a:buNone/>
            </a:pPr>
            <a:endParaRPr lang="en-US" dirty="0"/>
          </a:p>
          <a:p>
            <a:endParaRPr lang="en-US" dirty="0"/>
          </a:p>
          <a:p>
            <a:endParaRPr lang="en-US" dirty="0"/>
          </a:p>
        </p:txBody>
      </p:sp>
      <p:sp>
        <p:nvSpPr>
          <p:cNvPr id="6" name="TextBox 5">
            <a:extLst>
              <a:ext uri="{FF2B5EF4-FFF2-40B4-BE49-F238E27FC236}">
                <a16:creationId xmlns:a16="http://schemas.microsoft.com/office/drawing/2014/main" id="{7939AF17-BCAB-ADC4-7837-822598D72295}"/>
              </a:ext>
            </a:extLst>
          </p:cNvPr>
          <p:cNvSpPr txBox="1"/>
          <p:nvPr/>
        </p:nvSpPr>
        <p:spPr>
          <a:xfrm>
            <a:off x="1525588" y="4252734"/>
            <a:ext cx="38989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SG" dirty="0"/>
              <a:t># Verbose</a:t>
            </a:r>
            <a:br>
              <a:rPr lang="en-SG" dirty="0"/>
            </a:br>
            <a:r>
              <a:rPr lang="en-US" dirty="0" err="1"/>
              <a:t>new_list</a:t>
            </a:r>
            <a:r>
              <a:rPr lang="en-US" dirty="0"/>
              <a:t> = []</a:t>
            </a:r>
          </a:p>
          <a:p>
            <a:r>
              <a:rPr lang="en-US" dirty="0"/>
              <a:t>for x in </a:t>
            </a:r>
            <a:r>
              <a:rPr lang="en-US" dirty="0" err="1"/>
              <a:t>old_list</a:t>
            </a:r>
            <a:r>
              <a:rPr lang="en-US" dirty="0"/>
              <a:t>:</a:t>
            </a:r>
          </a:p>
          <a:p>
            <a:r>
              <a:rPr lang="en-US" dirty="0"/>
              <a:t>    if x &gt; 0: </a:t>
            </a:r>
            <a:r>
              <a:rPr lang="en-US" dirty="0" err="1"/>
              <a:t>new_list.append</a:t>
            </a:r>
            <a:r>
              <a:rPr lang="en-US" dirty="0"/>
              <a:t>(x)</a:t>
            </a:r>
            <a:endParaRPr lang="en-SG" dirty="0"/>
          </a:p>
        </p:txBody>
      </p:sp>
      <p:sp>
        <p:nvSpPr>
          <p:cNvPr id="7" name="TextBox 6">
            <a:extLst>
              <a:ext uri="{FF2B5EF4-FFF2-40B4-BE49-F238E27FC236}">
                <a16:creationId xmlns:a16="http://schemas.microsoft.com/office/drawing/2014/main" id="{2154DB07-DE9A-74FB-CD88-D34AF530A0AF}"/>
              </a:ext>
            </a:extLst>
          </p:cNvPr>
          <p:cNvSpPr txBox="1"/>
          <p:nvPr/>
        </p:nvSpPr>
        <p:spPr>
          <a:xfrm>
            <a:off x="6802438" y="4252734"/>
            <a:ext cx="38989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Pythonic</a:t>
            </a:r>
          </a:p>
          <a:p>
            <a:r>
              <a:rPr lang="en-US" dirty="0" err="1"/>
              <a:t>new_list</a:t>
            </a:r>
            <a:r>
              <a:rPr lang="en-US" dirty="0"/>
              <a:t> = [x for x in </a:t>
            </a:r>
            <a:r>
              <a:rPr lang="en-US" dirty="0" err="1"/>
              <a:t>old_list</a:t>
            </a:r>
            <a:r>
              <a:rPr lang="en-US" dirty="0"/>
              <a:t> if x &gt; 0]</a:t>
            </a:r>
            <a:endParaRPr lang="en-SG" dirty="0"/>
          </a:p>
        </p:txBody>
      </p:sp>
      <p:sp>
        <p:nvSpPr>
          <p:cNvPr id="9" name="Content Placeholder 2">
            <a:extLst>
              <a:ext uri="{FF2B5EF4-FFF2-40B4-BE49-F238E27FC236}">
                <a16:creationId xmlns:a16="http://schemas.microsoft.com/office/drawing/2014/main" id="{33097FFA-9B05-14DF-2286-94ED2F4FEB63}"/>
              </a:ext>
            </a:extLst>
          </p:cNvPr>
          <p:cNvSpPr txBox="1">
            <a:spLocks/>
          </p:cNvSpPr>
          <p:nvPr/>
        </p:nvSpPr>
        <p:spPr>
          <a:xfrm>
            <a:off x="203200" y="5619745"/>
            <a:ext cx="11671300" cy="13970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Enumerate &amp; Zip: Use enumerate() to get indexes and zip() to iterate over two lists simultaneously.</a:t>
            </a:r>
          </a:p>
        </p:txBody>
      </p:sp>
    </p:spTree>
    <p:extLst>
      <p:ext uri="{BB962C8B-B14F-4D97-AF65-F5344CB8AC3E}">
        <p14:creationId xmlns:p14="http://schemas.microsoft.com/office/powerpoint/2010/main" val="22902362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F71B3-2EC1-9554-B479-279FCE8390C5}"/>
              </a:ext>
            </a:extLst>
          </p:cNvPr>
          <p:cNvSpPr>
            <a:spLocks noGrp="1"/>
          </p:cNvSpPr>
          <p:nvPr>
            <p:ph type="title"/>
          </p:nvPr>
        </p:nvSpPr>
        <p:spPr/>
        <p:txBody>
          <a:bodyPr>
            <a:normAutofit/>
          </a:bodyPr>
          <a:lstStyle/>
          <a:p>
            <a:r>
              <a:rPr lang="en-US" dirty="0"/>
              <a:t>Why Type Casting &amp; Input Matter</a:t>
            </a:r>
            <a:endParaRPr lang="en-SG" dirty="0"/>
          </a:p>
        </p:txBody>
      </p:sp>
      <p:sp>
        <p:nvSpPr>
          <p:cNvPr id="3" name="Content Placeholder 2">
            <a:extLst>
              <a:ext uri="{FF2B5EF4-FFF2-40B4-BE49-F238E27FC236}">
                <a16:creationId xmlns:a16="http://schemas.microsoft.com/office/drawing/2014/main" id="{2C38C9B6-CFA3-A508-C121-7D5AE8A0C147}"/>
              </a:ext>
            </a:extLst>
          </p:cNvPr>
          <p:cNvSpPr>
            <a:spLocks noGrp="1"/>
          </p:cNvSpPr>
          <p:nvPr>
            <p:ph idx="1"/>
          </p:nvPr>
        </p:nvSpPr>
        <p:spPr/>
        <p:txBody>
          <a:bodyPr/>
          <a:lstStyle/>
          <a:p>
            <a:r>
              <a:rPr lang="en-US" dirty="0"/>
              <a:t>Programs often need </a:t>
            </a:r>
            <a:r>
              <a:rPr lang="en-US" b="1" dirty="0"/>
              <a:t>user input</a:t>
            </a:r>
            <a:endParaRPr lang="en-US" dirty="0"/>
          </a:p>
          <a:p>
            <a:r>
              <a:rPr lang="en-US" dirty="0"/>
              <a:t>Input comes in as </a:t>
            </a:r>
            <a:r>
              <a:rPr lang="en-US" b="1" dirty="0"/>
              <a:t>strings</a:t>
            </a:r>
            <a:endParaRPr lang="en-US" dirty="0"/>
          </a:p>
          <a:p>
            <a:r>
              <a:rPr lang="en-US" dirty="0"/>
              <a:t>Type casting converts data to the </a:t>
            </a:r>
            <a:r>
              <a:rPr lang="en-US" b="1" dirty="0"/>
              <a:t>correct type</a:t>
            </a:r>
            <a:endParaRPr lang="en-US" dirty="0"/>
          </a:p>
          <a:p>
            <a:endParaRPr lang="en-SG" dirty="0"/>
          </a:p>
        </p:txBody>
      </p:sp>
    </p:spTree>
    <p:extLst>
      <p:ext uri="{BB962C8B-B14F-4D97-AF65-F5344CB8AC3E}">
        <p14:creationId xmlns:p14="http://schemas.microsoft.com/office/powerpoint/2010/main" val="10339876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DC5A-A887-2620-5809-B4B9914CB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A268C-D76A-6BAE-9004-F80764452F57}"/>
              </a:ext>
            </a:extLst>
          </p:cNvPr>
          <p:cNvSpPr>
            <a:spLocks noGrp="1"/>
          </p:cNvSpPr>
          <p:nvPr>
            <p:ph type="title"/>
          </p:nvPr>
        </p:nvSpPr>
        <p:spPr>
          <a:xfrm>
            <a:off x="457200" y="228600"/>
            <a:ext cx="8229600" cy="1143000"/>
          </a:xfrm>
        </p:spPr>
        <p:txBody>
          <a:bodyPr/>
          <a:lstStyle/>
          <a:p>
            <a:r>
              <a:rPr lang="en-SG" dirty="0"/>
              <a:t>Using input()</a:t>
            </a:r>
          </a:p>
        </p:txBody>
      </p:sp>
      <p:sp>
        <p:nvSpPr>
          <p:cNvPr id="3" name="Content Placeholder 2">
            <a:extLst>
              <a:ext uri="{FF2B5EF4-FFF2-40B4-BE49-F238E27FC236}">
                <a16:creationId xmlns:a16="http://schemas.microsoft.com/office/drawing/2014/main" id="{A64ACC18-2450-F769-661D-C67D6444080D}"/>
              </a:ext>
            </a:extLst>
          </p:cNvPr>
          <p:cNvSpPr>
            <a:spLocks noGrp="1"/>
          </p:cNvSpPr>
          <p:nvPr>
            <p:ph idx="1"/>
          </p:nvPr>
        </p:nvSpPr>
        <p:spPr>
          <a:xfrm>
            <a:off x="457200" y="1676400"/>
            <a:ext cx="6121400"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name = input("Enter your name: ")</a:t>
            </a:r>
          </a:p>
          <a:p>
            <a:pPr marL="0" indent="0">
              <a:buNone/>
            </a:pPr>
            <a:r>
              <a:rPr lang="en-US" dirty="0"/>
              <a:t>print(name)</a:t>
            </a:r>
          </a:p>
        </p:txBody>
      </p:sp>
      <p:sp>
        <p:nvSpPr>
          <p:cNvPr id="4" name="Content Placeholder 2">
            <a:extLst>
              <a:ext uri="{FF2B5EF4-FFF2-40B4-BE49-F238E27FC236}">
                <a16:creationId xmlns:a16="http://schemas.microsoft.com/office/drawing/2014/main" id="{C16A0BCA-E380-BC0D-EABF-6E769C30ECA2}"/>
              </a:ext>
            </a:extLst>
          </p:cNvPr>
          <p:cNvSpPr txBox="1">
            <a:spLocks/>
          </p:cNvSpPr>
          <p:nvPr/>
        </p:nvSpPr>
        <p:spPr>
          <a:xfrm>
            <a:off x="6743700" y="1676400"/>
            <a:ext cx="5194300" cy="4699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Always returns a </a:t>
            </a:r>
            <a:r>
              <a:rPr lang="en-US" b="1" dirty="0"/>
              <a:t>string</a:t>
            </a:r>
            <a:endParaRPr lang="en-US" dirty="0"/>
          </a:p>
          <a:p>
            <a:r>
              <a:rPr lang="en-US" dirty="0"/>
              <a:t>Prompt text is optional but recommended</a:t>
            </a:r>
          </a:p>
        </p:txBody>
      </p:sp>
    </p:spTree>
    <p:extLst>
      <p:ext uri="{BB962C8B-B14F-4D97-AF65-F5344CB8AC3E}">
        <p14:creationId xmlns:p14="http://schemas.microsoft.com/office/powerpoint/2010/main" val="23318860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F47ED-E9D3-C56B-FC70-D505D44218C9}"/>
              </a:ext>
            </a:extLst>
          </p:cNvPr>
          <p:cNvSpPr>
            <a:spLocks noGrp="1"/>
          </p:cNvSpPr>
          <p:nvPr>
            <p:ph type="title"/>
          </p:nvPr>
        </p:nvSpPr>
        <p:spPr/>
        <p:txBody>
          <a:bodyPr/>
          <a:lstStyle/>
          <a:p>
            <a:r>
              <a:rPr lang="en-US" dirty="0"/>
              <a:t>Input Is Always a String</a:t>
            </a:r>
            <a:endParaRPr lang="en-SG" dirty="0"/>
          </a:p>
        </p:txBody>
      </p:sp>
      <p:sp>
        <p:nvSpPr>
          <p:cNvPr id="3" name="Content Placeholder 2">
            <a:extLst>
              <a:ext uri="{FF2B5EF4-FFF2-40B4-BE49-F238E27FC236}">
                <a16:creationId xmlns:a16="http://schemas.microsoft.com/office/drawing/2014/main" id="{8912829C-91C8-074C-EBC2-AD5864B471B6}"/>
              </a:ext>
            </a:extLst>
          </p:cNvPr>
          <p:cNvSpPr>
            <a:spLocks noGrp="1"/>
          </p:cNvSpPr>
          <p:nvPr>
            <p:ph idx="1"/>
          </p:nvPr>
        </p:nvSpPr>
        <p:spPr/>
        <p:txBody>
          <a:bodyPr/>
          <a:lstStyle/>
          <a:p>
            <a:pPr marL="0" indent="0">
              <a:buNone/>
            </a:pPr>
            <a:r>
              <a:rPr lang="en-US" dirty="0"/>
              <a:t>age = input("Enter your age: ")</a:t>
            </a:r>
          </a:p>
          <a:p>
            <a:pPr marL="0" indent="0">
              <a:buNone/>
            </a:pPr>
            <a:r>
              <a:rPr lang="en-US" dirty="0"/>
              <a:t>print(type(age))</a:t>
            </a:r>
          </a:p>
          <a:p>
            <a:pPr marL="0" indent="0">
              <a:buNone/>
            </a:pPr>
            <a:endParaRPr lang="en-SG" dirty="0"/>
          </a:p>
          <a:p>
            <a:pPr marL="0" indent="0">
              <a:buNone/>
            </a:pPr>
            <a:r>
              <a:rPr lang="en-SG" dirty="0"/>
              <a:t>&lt;class 'str'&gt;</a:t>
            </a:r>
          </a:p>
          <a:p>
            <a:pPr marL="0" indent="0">
              <a:buNone/>
            </a:pPr>
            <a:endParaRPr lang="en-SG" dirty="0"/>
          </a:p>
        </p:txBody>
      </p:sp>
    </p:spTree>
    <p:extLst>
      <p:ext uri="{BB962C8B-B14F-4D97-AF65-F5344CB8AC3E}">
        <p14:creationId xmlns:p14="http://schemas.microsoft.com/office/powerpoint/2010/main" val="9762607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84F49-09CE-6317-1836-767D67266017}"/>
              </a:ext>
            </a:extLst>
          </p:cNvPr>
          <p:cNvSpPr>
            <a:spLocks noGrp="1"/>
          </p:cNvSpPr>
          <p:nvPr>
            <p:ph type="title"/>
          </p:nvPr>
        </p:nvSpPr>
        <p:spPr/>
        <p:txBody>
          <a:bodyPr>
            <a:normAutofit/>
          </a:bodyPr>
          <a:lstStyle/>
          <a:p>
            <a:r>
              <a:rPr lang="en-US" dirty="0"/>
              <a:t>What Is Type Casting?</a:t>
            </a:r>
            <a:endParaRPr lang="en-SG" dirty="0"/>
          </a:p>
        </p:txBody>
      </p:sp>
      <p:sp>
        <p:nvSpPr>
          <p:cNvPr id="3" name="Content Placeholder 2">
            <a:extLst>
              <a:ext uri="{FF2B5EF4-FFF2-40B4-BE49-F238E27FC236}">
                <a16:creationId xmlns:a16="http://schemas.microsoft.com/office/drawing/2014/main" id="{3283A7EB-848C-45A6-DBF6-869B1C8A97D4}"/>
              </a:ext>
            </a:extLst>
          </p:cNvPr>
          <p:cNvSpPr>
            <a:spLocks noGrp="1"/>
          </p:cNvSpPr>
          <p:nvPr>
            <p:ph idx="1"/>
          </p:nvPr>
        </p:nvSpPr>
        <p:spPr/>
        <p:txBody>
          <a:bodyPr>
            <a:normAutofit/>
          </a:bodyPr>
          <a:lstStyle/>
          <a:p>
            <a:r>
              <a:rPr lang="en-US" b="1" dirty="0"/>
              <a:t>Definition</a:t>
            </a:r>
          </a:p>
          <a:p>
            <a:pPr lvl="1"/>
            <a:r>
              <a:rPr lang="en-US" dirty="0"/>
              <a:t>Converting a value from one type to another</a:t>
            </a:r>
          </a:p>
          <a:p>
            <a:pPr lvl="1"/>
            <a:endParaRPr lang="en-US" dirty="0"/>
          </a:p>
          <a:p>
            <a:r>
              <a:rPr lang="en-US" b="1" dirty="0"/>
              <a:t>Common Casting Functions</a:t>
            </a:r>
          </a:p>
          <a:p>
            <a:pPr lvl="1"/>
            <a:r>
              <a:rPr lang="en-US" dirty="0"/>
              <a:t>int()</a:t>
            </a:r>
          </a:p>
          <a:p>
            <a:pPr lvl="1"/>
            <a:r>
              <a:rPr lang="en-US" dirty="0"/>
              <a:t>float()</a:t>
            </a:r>
          </a:p>
          <a:p>
            <a:pPr lvl="1"/>
            <a:r>
              <a:rPr lang="en-US" dirty="0"/>
              <a:t>str()</a:t>
            </a:r>
          </a:p>
          <a:p>
            <a:pPr lvl="1"/>
            <a:r>
              <a:rPr lang="en-US" dirty="0"/>
              <a:t>bool()</a:t>
            </a:r>
          </a:p>
          <a:p>
            <a:endParaRPr lang="en-SG" dirty="0"/>
          </a:p>
        </p:txBody>
      </p:sp>
    </p:spTree>
    <p:extLst>
      <p:ext uri="{BB962C8B-B14F-4D97-AF65-F5344CB8AC3E}">
        <p14:creationId xmlns:p14="http://schemas.microsoft.com/office/powerpoint/2010/main" val="2539972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 Casting &amp; Input</a:t>
            </a:r>
          </a:p>
        </p:txBody>
      </p:sp>
      <p:sp>
        <p:nvSpPr>
          <p:cNvPr id="3" name="Content Placeholder 2"/>
          <p:cNvSpPr>
            <a:spLocks noGrp="1"/>
          </p:cNvSpPr>
          <p:nvPr>
            <p:ph idx="1"/>
          </p:nvPr>
        </p:nvSpPr>
        <p:spPr>
          <a:xfrm>
            <a:off x="457200" y="1600201"/>
            <a:ext cx="8229600" cy="1968500"/>
          </a:xfrm>
        </p:spPr>
        <p:style>
          <a:lnRef idx="2">
            <a:schemeClr val="dk1"/>
          </a:lnRef>
          <a:fillRef idx="1">
            <a:schemeClr val="lt1"/>
          </a:fillRef>
          <a:effectRef idx="0">
            <a:schemeClr val="dk1"/>
          </a:effectRef>
          <a:fontRef idx="minor">
            <a:schemeClr val="dk1"/>
          </a:fontRef>
        </p:style>
        <p:txBody>
          <a:bodyPr/>
          <a:lstStyle/>
          <a:p>
            <a:r>
              <a:rPr dirty="0"/>
              <a:t>input() always returns a string</a:t>
            </a:r>
          </a:p>
          <a:p>
            <a:r>
              <a:rPr dirty="0"/>
              <a:t>Use int(), float(), str(), bool()</a:t>
            </a:r>
          </a:p>
          <a:p>
            <a:r>
              <a:rPr dirty="0"/>
              <a:t>Validate input to avoid runtime errors</a:t>
            </a:r>
          </a:p>
        </p:txBody>
      </p:sp>
      <p:sp>
        <p:nvSpPr>
          <p:cNvPr id="4" name="TextBox 3">
            <a:extLst>
              <a:ext uri="{FF2B5EF4-FFF2-40B4-BE49-F238E27FC236}">
                <a16:creationId xmlns:a16="http://schemas.microsoft.com/office/drawing/2014/main" id="{0972A754-9016-1F20-3769-52F073D2754D}"/>
              </a:ext>
            </a:extLst>
          </p:cNvPr>
          <p:cNvSpPr txBox="1"/>
          <p:nvPr/>
        </p:nvSpPr>
        <p:spPr>
          <a:xfrm>
            <a:off x="457200" y="4191000"/>
            <a:ext cx="8229600"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3200" dirty="0"/>
              <a:t>age = int(input("Enter your age: "))</a:t>
            </a:r>
          </a:p>
          <a:p>
            <a:r>
              <a:rPr lang="en-US" sz="3200" dirty="0"/>
              <a:t>print(age + 1)</a:t>
            </a:r>
          </a:p>
          <a:p>
            <a:endParaRPr lang="en-SG" sz="3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21BDA-5226-320D-EC70-2D51CB4F4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4074C-8DA8-CEED-3D3C-B5B2897F5FDF}"/>
              </a:ext>
            </a:extLst>
          </p:cNvPr>
          <p:cNvSpPr>
            <a:spLocks noGrp="1"/>
          </p:cNvSpPr>
          <p:nvPr>
            <p:ph type="title"/>
          </p:nvPr>
        </p:nvSpPr>
        <p:spPr>
          <a:xfrm>
            <a:off x="457200" y="228600"/>
            <a:ext cx="8229600" cy="1143000"/>
          </a:xfrm>
        </p:spPr>
        <p:txBody>
          <a:bodyPr/>
          <a:lstStyle/>
          <a:p>
            <a:r>
              <a:rPr lang="en-US" dirty="0"/>
              <a:t>Casting Input to Float</a:t>
            </a:r>
          </a:p>
        </p:txBody>
      </p:sp>
      <p:sp>
        <p:nvSpPr>
          <p:cNvPr id="3" name="Content Placeholder 2">
            <a:extLst>
              <a:ext uri="{FF2B5EF4-FFF2-40B4-BE49-F238E27FC236}">
                <a16:creationId xmlns:a16="http://schemas.microsoft.com/office/drawing/2014/main" id="{ECCF02C3-4217-921E-133C-D87A98A87DB6}"/>
              </a:ext>
            </a:extLst>
          </p:cNvPr>
          <p:cNvSpPr>
            <a:spLocks noGrp="1"/>
          </p:cNvSpPr>
          <p:nvPr>
            <p:ph idx="1"/>
          </p:nvPr>
        </p:nvSpPr>
        <p:spPr>
          <a:xfrm>
            <a:off x="1447800" y="1676400"/>
            <a:ext cx="7239000"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price = float(input("Enter price: "))</a:t>
            </a:r>
          </a:p>
          <a:p>
            <a:pPr marL="0" indent="0">
              <a:buNone/>
            </a:pPr>
            <a:r>
              <a:rPr lang="en-US" dirty="0"/>
              <a:t>print(price * 1.08)</a:t>
            </a:r>
          </a:p>
        </p:txBody>
      </p:sp>
    </p:spTree>
    <p:extLst>
      <p:ext uri="{BB962C8B-B14F-4D97-AF65-F5344CB8AC3E}">
        <p14:creationId xmlns:p14="http://schemas.microsoft.com/office/powerpoint/2010/main" val="42282147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F31AF-8F2C-3553-C3EB-1ACF66247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00C8F-DAA2-0778-6A96-CE3D5AA2AA58}"/>
              </a:ext>
            </a:extLst>
          </p:cNvPr>
          <p:cNvSpPr>
            <a:spLocks noGrp="1"/>
          </p:cNvSpPr>
          <p:nvPr>
            <p:ph type="title"/>
          </p:nvPr>
        </p:nvSpPr>
        <p:spPr>
          <a:xfrm>
            <a:off x="457200" y="228600"/>
            <a:ext cx="8229600" cy="1143000"/>
          </a:xfrm>
        </p:spPr>
        <p:txBody>
          <a:bodyPr/>
          <a:lstStyle/>
          <a:p>
            <a:r>
              <a:rPr lang="en-US" dirty="0"/>
              <a:t>Casting to String</a:t>
            </a:r>
          </a:p>
        </p:txBody>
      </p:sp>
      <p:sp>
        <p:nvSpPr>
          <p:cNvPr id="3" name="Content Placeholder 2">
            <a:extLst>
              <a:ext uri="{FF2B5EF4-FFF2-40B4-BE49-F238E27FC236}">
                <a16:creationId xmlns:a16="http://schemas.microsoft.com/office/drawing/2014/main" id="{6A43D2B2-6147-65FF-3D18-7C5C7F714ABF}"/>
              </a:ext>
            </a:extLst>
          </p:cNvPr>
          <p:cNvSpPr>
            <a:spLocks noGrp="1"/>
          </p:cNvSpPr>
          <p:nvPr>
            <p:ph idx="1"/>
          </p:nvPr>
        </p:nvSpPr>
        <p:spPr>
          <a:xfrm>
            <a:off x="1447800" y="1676400"/>
            <a:ext cx="7239000"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year = 2025</a:t>
            </a:r>
          </a:p>
          <a:p>
            <a:pPr marL="0" indent="0">
              <a:buNone/>
            </a:pPr>
            <a:r>
              <a:rPr lang="en-US" dirty="0"/>
              <a:t>text = str(year)</a:t>
            </a:r>
          </a:p>
          <a:p>
            <a:pPr marL="0" indent="0">
              <a:buNone/>
            </a:pPr>
            <a:r>
              <a:rPr lang="en-US" dirty="0"/>
              <a:t>print("Year: " + text)</a:t>
            </a:r>
          </a:p>
        </p:txBody>
      </p:sp>
    </p:spTree>
    <p:extLst>
      <p:ext uri="{BB962C8B-B14F-4D97-AF65-F5344CB8AC3E}">
        <p14:creationId xmlns:p14="http://schemas.microsoft.com/office/powerpoint/2010/main" val="33781906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A33C4-75B8-0C76-C139-FEA7AB857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68768-97B6-A65B-0579-F631DABF0C69}"/>
              </a:ext>
            </a:extLst>
          </p:cNvPr>
          <p:cNvSpPr>
            <a:spLocks noGrp="1"/>
          </p:cNvSpPr>
          <p:nvPr>
            <p:ph type="title"/>
          </p:nvPr>
        </p:nvSpPr>
        <p:spPr>
          <a:xfrm>
            <a:off x="1320800" y="304800"/>
            <a:ext cx="7137400" cy="1143000"/>
          </a:xfrm>
        </p:spPr>
        <p:txBody>
          <a:bodyPr>
            <a:normAutofit/>
          </a:bodyPr>
          <a:lstStyle/>
          <a:p>
            <a:r>
              <a:rPr lang="en-US" dirty="0"/>
              <a:t>Casting to Boolean</a:t>
            </a:r>
          </a:p>
        </p:txBody>
      </p:sp>
      <p:sp>
        <p:nvSpPr>
          <p:cNvPr id="3" name="Content Placeholder 2">
            <a:extLst>
              <a:ext uri="{FF2B5EF4-FFF2-40B4-BE49-F238E27FC236}">
                <a16:creationId xmlns:a16="http://schemas.microsoft.com/office/drawing/2014/main" id="{D096118A-142E-841D-53B3-D33E2FF3C34B}"/>
              </a:ext>
            </a:extLst>
          </p:cNvPr>
          <p:cNvSpPr>
            <a:spLocks noGrp="1"/>
          </p:cNvSpPr>
          <p:nvPr>
            <p:ph idx="1"/>
          </p:nvPr>
        </p:nvSpPr>
        <p:spPr>
          <a:xfrm>
            <a:off x="1447800" y="1676400"/>
            <a:ext cx="7239000"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 </a:t>
            </a:r>
            <a:r>
              <a:rPr lang="en-SG" dirty="0"/>
              <a:t>Truthiness Reminder</a:t>
            </a:r>
            <a:endParaRPr lang="en-US" dirty="0"/>
          </a:p>
          <a:p>
            <a:pPr marL="0" indent="0">
              <a:buNone/>
            </a:pPr>
            <a:endParaRPr lang="en-US" dirty="0"/>
          </a:p>
          <a:p>
            <a:pPr marL="0" indent="0">
              <a:buNone/>
            </a:pPr>
            <a:r>
              <a:rPr lang="en-US" dirty="0"/>
              <a:t>print(bool(0))</a:t>
            </a:r>
          </a:p>
          <a:p>
            <a:pPr marL="0" indent="0">
              <a:buNone/>
            </a:pPr>
            <a:r>
              <a:rPr lang="en-US" dirty="0"/>
              <a:t>print(bool(""))</a:t>
            </a:r>
          </a:p>
          <a:p>
            <a:pPr marL="0" indent="0">
              <a:buNone/>
            </a:pPr>
            <a:r>
              <a:rPr lang="en-US" dirty="0"/>
              <a:t>print(bool("Python"))</a:t>
            </a:r>
          </a:p>
        </p:txBody>
      </p:sp>
    </p:spTree>
    <p:extLst>
      <p:ext uri="{BB962C8B-B14F-4D97-AF65-F5344CB8AC3E}">
        <p14:creationId xmlns:p14="http://schemas.microsoft.com/office/powerpoint/2010/main" val="162613169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11319-48DF-2990-1863-55B0F64D3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2C1C1-DFFF-E4E9-3188-2C26BA95D814}"/>
              </a:ext>
            </a:extLst>
          </p:cNvPr>
          <p:cNvSpPr>
            <a:spLocks noGrp="1"/>
          </p:cNvSpPr>
          <p:nvPr>
            <p:ph type="title"/>
          </p:nvPr>
        </p:nvSpPr>
        <p:spPr>
          <a:xfrm>
            <a:off x="1320800" y="304800"/>
            <a:ext cx="7137400" cy="1143000"/>
          </a:xfrm>
        </p:spPr>
        <p:txBody>
          <a:bodyPr>
            <a:normAutofit/>
          </a:bodyPr>
          <a:lstStyle/>
          <a:p>
            <a:r>
              <a:rPr lang="en-SG" dirty="0"/>
              <a:t>Safe Casting with try-except</a:t>
            </a:r>
            <a:endParaRPr lang="en-US" dirty="0"/>
          </a:p>
        </p:txBody>
      </p:sp>
      <p:sp>
        <p:nvSpPr>
          <p:cNvPr id="3" name="Content Placeholder 2">
            <a:extLst>
              <a:ext uri="{FF2B5EF4-FFF2-40B4-BE49-F238E27FC236}">
                <a16:creationId xmlns:a16="http://schemas.microsoft.com/office/drawing/2014/main" id="{2ABF811B-73B2-7394-6C57-036BF79F3C53}"/>
              </a:ext>
            </a:extLst>
          </p:cNvPr>
          <p:cNvSpPr>
            <a:spLocks noGrp="1"/>
          </p:cNvSpPr>
          <p:nvPr>
            <p:ph idx="1"/>
          </p:nvPr>
        </p:nvSpPr>
        <p:spPr>
          <a:xfrm>
            <a:off x="1447800" y="1676400"/>
            <a:ext cx="7239000"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try:</a:t>
            </a:r>
          </a:p>
          <a:p>
            <a:pPr marL="0" indent="0">
              <a:buNone/>
            </a:pPr>
            <a:r>
              <a:rPr lang="en-US" dirty="0"/>
              <a:t>    age = int(input("Enter age: "))</a:t>
            </a:r>
          </a:p>
          <a:p>
            <a:pPr marL="0" indent="0">
              <a:buNone/>
            </a:pPr>
            <a:r>
              <a:rPr lang="en-US" dirty="0"/>
              <a:t>    print("Next year:", age + 1)</a:t>
            </a:r>
          </a:p>
          <a:p>
            <a:pPr marL="0" indent="0">
              <a:buNone/>
            </a:pPr>
            <a:r>
              <a:rPr lang="en-US" dirty="0"/>
              <a:t>except </a:t>
            </a:r>
            <a:r>
              <a:rPr lang="en-US" dirty="0" err="1"/>
              <a:t>ValueError</a:t>
            </a:r>
            <a:r>
              <a:rPr lang="en-US" dirty="0"/>
              <a:t>:</a:t>
            </a:r>
          </a:p>
          <a:p>
            <a:pPr marL="0" indent="0">
              <a:buNone/>
            </a:pPr>
            <a:r>
              <a:rPr lang="en-US" dirty="0"/>
              <a:t>    print("Please enter a valid number")</a:t>
            </a:r>
          </a:p>
        </p:txBody>
      </p:sp>
    </p:spTree>
    <p:extLst>
      <p:ext uri="{BB962C8B-B14F-4D97-AF65-F5344CB8AC3E}">
        <p14:creationId xmlns:p14="http://schemas.microsoft.com/office/powerpoint/2010/main" val="34375060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AA277-726C-9050-A48C-089A93924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C8CBA-C3E6-5827-7079-2B4286D5FD4A}"/>
              </a:ext>
            </a:extLst>
          </p:cNvPr>
          <p:cNvSpPr>
            <a:spLocks noGrp="1"/>
          </p:cNvSpPr>
          <p:nvPr>
            <p:ph type="title"/>
          </p:nvPr>
        </p:nvSpPr>
        <p:spPr>
          <a:xfrm>
            <a:off x="457200" y="228600"/>
            <a:ext cx="8229600" cy="1143000"/>
          </a:xfrm>
        </p:spPr>
        <p:txBody>
          <a:bodyPr/>
          <a:lstStyle/>
          <a:p>
            <a:r>
              <a:rPr lang="en-US" dirty="0"/>
              <a:t>Input + Casting Common Pattern</a:t>
            </a:r>
          </a:p>
        </p:txBody>
      </p:sp>
      <p:sp>
        <p:nvSpPr>
          <p:cNvPr id="3" name="Content Placeholder 2">
            <a:extLst>
              <a:ext uri="{FF2B5EF4-FFF2-40B4-BE49-F238E27FC236}">
                <a16:creationId xmlns:a16="http://schemas.microsoft.com/office/drawing/2014/main" id="{29B3819F-932C-6D49-BF2E-72A4A86F32E6}"/>
              </a:ext>
            </a:extLst>
          </p:cNvPr>
          <p:cNvSpPr>
            <a:spLocks noGrp="1"/>
          </p:cNvSpPr>
          <p:nvPr>
            <p:ph idx="1"/>
          </p:nvPr>
        </p:nvSpPr>
        <p:spPr>
          <a:xfrm>
            <a:off x="266700" y="1676400"/>
            <a:ext cx="5270500"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value = type(input("Prompt"))</a:t>
            </a:r>
          </a:p>
        </p:txBody>
      </p:sp>
      <p:sp>
        <p:nvSpPr>
          <p:cNvPr id="4" name="Content Placeholder 2">
            <a:extLst>
              <a:ext uri="{FF2B5EF4-FFF2-40B4-BE49-F238E27FC236}">
                <a16:creationId xmlns:a16="http://schemas.microsoft.com/office/drawing/2014/main" id="{7AC9CD96-CFF1-ADDE-7ED1-E8CFD475F9D2}"/>
              </a:ext>
            </a:extLst>
          </p:cNvPr>
          <p:cNvSpPr txBox="1">
            <a:spLocks/>
          </p:cNvSpPr>
          <p:nvPr/>
        </p:nvSpPr>
        <p:spPr>
          <a:xfrm>
            <a:off x="5867400" y="1676400"/>
            <a:ext cx="6184900" cy="4699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count = int(input("Enter count: "))</a:t>
            </a:r>
          </a:p>
        </p:txBody>
      </p:sp>
    </p:spTree>
    <p:extLst>
      <p:ext uri="{BB962C8B-B14F-4D97-AF65-F5344CB8AC3E}">
        <p14:creationId xmlns:p14="http://schemas.microsoft.com/office/powerpoint/2010/main" val="11620424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A6134-3812-5831-03F6-D38FD64F8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B13CA-8AA9-16C1-ADE6-38C59DCE01C6}"/>
              </a:ext>
            </a:extLst>
          </p:cNvPr>
          <p:cNvSpPr>
            <a:spLocks noGrp="1"/>
          </p:cNvSpPr>
          <p:nvPr>
            <p:ph type="title"/>
          </p:nvPr>
        </p:nvSpPr>
        <p:spPr>
          <a:xfrm>
            <a:off x="1320800" y="304800"/>
            <a:ext cx="7137400" cy="1143000"/>
          </a:xfrm>
        </p:spPr>
        <p:txBody>
          <a:bodyPr>
            <a:normAutofit/>
          </a:bodyPr>
          <a:lstStyle/>
          <a:p>
            <a:r>
              <a:rPr lang="en-US" dirty="0"/>
              <a:t>Mixing Input with f-Strings</a:t>
            </a:r>
          </a:p>
        </p:txBody>
      </p:sp>
      <p:sp>
        <p:nvSpPr>
          <p:cNvPr id="3" name="Content Placeholder 2">
            <a:extLst>
              <a:ext uri="{FF2B5EF4-FFF2-40B4-BE49-F238E27FC236}">
                <a16:creationId xmlns:a16="http://schemas.microsoft.com/office/drawing/2014/main" id="{DC80FC08-09D1-0453-8AB3-1C496112C609}"/>
              </a:ext>
            </a:extLst>
          </p:cNvPr>
          <p:cNvSpPr>
            <a:spLocks noGrp="1"/>
          </p:cNvSpPr>
          <p:nvPr>
            <p:ph idx="1"/>
          </p:nvPr>
        </p:nvSpPr>
        <p:spPr>
          <a:xfrm>
            <a:off x="1447800" y="1676400"/>
            <a:ext cx="7239000" cy="46990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name = input("Name: ")</a:t>
            </a:r>
          </a:p>
          <a:p>
            <a:pPr marL="0" indent="0">
              <a:buNone/>
            </a:pPr>
            <a:r>
              <a:rPr lang="en-US" dirty="0"/>
              <a:t>age = int(input("Age: "))</a:t>
            </a:r>
          </a:p>
          <a:p>
            <a:pPr marL="0" indent="0">
              <a:buNone/>
            </a:pPr>
            <a:endParaRPr lang="en-US" dirty="0"/>
          </a:p>
          <a:p>
            <a:pPr marL="0" indent="0">
              <a:buNone/>
            </a:pPr>
            <a:r>
              <a:rPr lang="en-US" dirty="0"/>
              <a:t>print(f"{name} will be {age + 1} next year")</a:t>
            </a:r>
          </a:p>
        </p:txBody>
      </p:sp>
    </p:spTree>
    <p:extLst>
      <p:ext uri="{BB962C8B-B14F-4D97-AF65-F5344CB8AC3E}">
        <p14:creationId xmlns:p14="http://schemas.microsoft.com/office/powerpoint/2010/main" val="33704496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B6BEC-D10A-0417-9BC2-11E559A052D2}"/>
              </a:ext>
            </a:extLst>
          </p:cNvPr>
          <p:cNvSpPr>
            <a:spLocks noGrp="1"/>
          </p:cNvSpPr>
          <p:nvPr>
            <p:ph type="title"/>
          </p:nvPr>
        </p:nvSpPr>
        <p:spPr/>
        <p:txBody>
          <a:bodyPr>
            <a:normAutofit/>
          </a:bodyPr>
          <a:lstStyle/>
          <a:p>
            <a:r>
              <a:rPr lang="en-US" dirty="0"/>
              <a:t>Common Mistakes</a:t>
            </a:r>
            <a:endParaRPr lang="en-SG" dirty="0"/>
          </a:p>
        </p:txBody>
      </p:sp>
      <p:sp>
        <p:nvSpPr>
          <p:cNvPr id="3" name="Content Placeholder 2">
            <a:extLst>
              <a:ext uri="{FF2B5EF4-FFF2-40B4-BE49-F238E27FC236}">
                <a16:creationId xmlns:a16="http://schemas.microsoft.com/office/drawing/2014/main" id="{BE98B4DE-E6F2-3240-C004-04A8A8DD652E}"/>
              </a:ext>
            </a:extLst>
          </p:cNvPr>
          <p:cNvSpPr>
            <a:spLocks noGrp="1"/>
          </p:cNvSpPr>
          <p:nvPr>
            <p:ph idx="1"/>
          </p:nvPr>
        </p:nvSpPr>
        <p:spPr/>
        <p:txBody>
          <a:bodyPr/>
          <a:lstStyle/>
          <a:p>
            <a:r>
              <a:rPr lang="en-US" dirty="0"/>
              <a:t>Forgetting to cast input</a:t>
            </a:r>
          </a:p>
          <a:p>
            <a:r>
              <a:rPr lang="en-US" dirty="0"/>
              <a:t>Casting before validation</a:t>
            </a:r>
          </a:p>
          <a:p>
            <a:r>
              <a:rPr lang="en-US" dirty="0"/>
              <a:t>Assuming input is always valid</a:t>
            </a:r>
          </a:p>
          <a:p>
            <a:endParaRPr lang="en-SG" dirty="0"/>
          </a:p>
        </p:txBody>
      </p:sp>
    </p:spTree>
    <p:extLst>
      <p:ext uri="{BB962C8B-B14F-4D97-AF65-F5344CB8AC3E}">
        <p14:creationId xmlns:p14="http://schemas.microsoft.com/office/powerpoint/2010/main" val="36441236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247EF-0529-924F-F1B4-FE6A2F6D2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D888B-BC43-C5FB-14AC-669B7B675770}"/>
              </a:ext>
            </a:extLst>
          </p:cNvPr>
          <p:cNvSpPr>
            <a:spLocks noGrp="1"/>
          </p:cNvSpPr>
          <p:nvPr>
            <p:ph type="title"/>
          </p:nvPr>
        </p:nvSpPr>
        <p:spPr/>
        <p:txBody>
          <a:bodyPr>
            <a:normAutofit/>
          </a:bodyPr>
          <a:lstStyle/>
          <a:p>
            <a:r>
              <a:rPr lang="en-US" dirty="0"/>
              <a:t>Key Takeaways</a:t>
            </a:r>
          </a:p>
        </p:txBody>
      </p:sp>
      <p:sp>
        <p:nvSpPr>
          <p:cNvPr id="3" name="Content Placeholder 2">
            <a:extLst>
              <a:ext uri="{FF2B5EF4-FFF2-40B4-BE49-F238E27FC236}">
                <a16:creationId xmlns:a16="http://schemas.microsoft.com/office/drawing/2014/main" id="{0FCFBC39-17FA-63C7-119A-497136D084CC}"/>
              </a:ext>
            </a:extLst>
          </p:cNvPr>
          <p:cNvSpPr>
            <a:spLocks noGrp="1"/>
          </p:cNvSpPr>
          <p:nvPr>
            <p:ph idx="1"/>
          </p:nvPr>
        </p:nvSpPr>
        <p:spPr/>
        <p:txBody>
          <a:bodyPr/>
          <a:lstStyle/>
          <a:p>
            <a:r>
              <a:rPr lang="en-US" dirty="0"/>
              <a:t>input() always returns a string</a:t>
            </a:r>
          </a:p>
          <a:p>
            <a:r>
              <a:rPr lang="en-US" dirty="0"/>
              <a:t>Type casting enables correct operations</a:t>
            </a:r>
          </a:p>
          <a:p>
            <a:r>
              <a:rPr lang="en-US" dirty="0"/>
              <a:t>Validate input to avoid runtime errors</a:t>
            </a:r>
          </a:p>
        </p:txBody>
      </p:sp>
    </p:spTree>
    <p:extLst>
      <p:ext uri="{BB962C8B-B14F-4D97-AF65-F5344CB8AC3E}">
        <p14:creationId xmlns:p14="http://schemas.microsoft.com/office/powerpoint/2010/main" val="283277512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D3F31-CCCF-3C03-F821-DD358B8B37DD}"/>
              </a:ext>
            </a:extLst>
          </p:cNvPr>
          <p:cNvSpPr>
            <a:spLocks noGrp="1"/>
          </p:cNvSpPr>
          <p:nvPr>
            <p:ph type="title"/>
          </p:nvPr>
        </p:nvSpPr>
        <p:spPr/>
        <p:txBody>
          <a:bodyPr>
            <a:normAutofit/>
          </a:bodyPr>
          <a:lstStyle/>
          <a:p>
            <a:r>
              <a:rPr lang="en-US" dirty="0"/>
              <a:t>Hands-On Exercise</a:t>
            </a:r>
            <a:endParaRPr lang="en-SG" dirty="0"/>
          </a:p>
        </p:txBody>
      </p:sp>
      <p:sp>
        <p:nvSpPr>
          <p:cNvPr id="3" name="Content Placeholder 2">
            <a:extLst>
              <a:ext uri="{FF2B5EF4-FFF2-40B4-BE49-F238E27FC236}">
                <a16:creationId xmlns:a16="http://schemas.microsoft.com/office/drawing/2014/main" id="{9FF537C0-241F-2DBB-7CD4-ADC0875EF0AB}"/>
              </a:ext>
            </a:extLst>
          </p:cNvPr>
          <p:cNvSpPr>
            <a:spLocks noGrp="1"/>
          </p:cNvSpPr>
          <p:nvPr>
            <p:ph idx="1"/>
          </p:nvPr>
        </p:nvSpPr>
        <p:spPr>
          <a:xfrm>
            <a:off x="457200" y="1435101"/>
            <a:ext cx="8229600" cy="1524000"/>
          </a:xfrm>
        </p:spPr>
        <p:style>
          <a:lnRef idx="2">
            <a:schemeClr val="dk1"/>
          </a:lnRef>
          <a:fillRef idx="1">
            <a:schemeClr val="lt1"/>
          </a:fillRef>
          <a:effectRef idx="0">
            <a:schemeClr val="dk1"/>
          </a:effectRef>
          <a:fontRef idx="minor">
            <a:schemeClr val="dk1"/>
          </a:fontRef>
        </p:style>
        <p:txBody>
          <a:bodyPr/>
          <a:lstStyle/>
          <a:p>
            <a:r>
              <a:rPr lang="en-US" dirty="0"/>
              <a:t>Ask the user for two numbers</a:t>
            </a:r>
          </a:p>
          <a:p>
            <a:r>
              <a:rPr lang="en-US" dirty="0"/>
              <a:t>Print their sum</a:t>
            </a:r>
          </a:p>
          <a:p>
            <a:endParaRPr lang="en-SG" dirty="0"/>
          </a:p>
        </p:txBody>
      </p:sp>
      <p:sp>
        <p:nvSpPr>
          <p:cNvPr id="4" name="Content Placeholder 2">
            <a:extLst>
              <a:ext uri="{FF2B5EF4-FFF2-40B4-BE49-F238E27FC236}">
                <a16:creationId xmlns:a16="http://schemas.microsoft.com/office/drawing/2014/main" id="{B56CD778-A185-780D-D461-1AABBEFD4115}"/>
              </a:ext>
            </a:extLst>
          </p:cNvPr>
          <p:cNvSpPr txBox="1">
            <a:spLocks/>
          </p:cNvSpPr>
          <p:nvPr/>
        </p:nvSpPr>
        <p:spPr>
          <a:xfrm>
            <a:off x="457200" y="3340100"/>
            <a:ext cx="8229600" cy="29972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num1 = int(input("Enter the first number: "))</a:t>
            </a:r>
          </a:p>
          <a:p>
            <a:pPr marL="0" indent="0">
              <a:buNone/>
            </a:pPr>
            <a:r>
              <a:rPr lang="en-US" dirty="0"/>
              <a:t>num2 = int(input("Enter the second number: "))</a:t>
            </a:r>
          </a:p>
          <a:p>
            <a:pPr marL="0" indent="0">
              <a:buNone/>
            </a:pPr>
            <a:endParaRPr lang="en-US" dirty="0"/>
          </a:p>
          <a:p>
            <a:pPr marL="0" indent="0">
              <a:buNone/>
            </a:pPr>
            <a:r>
              <a:rPr lang="en-US" dirty="0"/>
              <a:t>total = num1 + num2</a:t>
            </a:r>
          </a:p>
          <a:p>
            <a:pPr marL="0" indent="0">
              <a:buNone/>
            </a:pPr>
            <a:r>
              <a:rPr lang="en-US" dirty="0"/>
              <a:t>print("Sum:", total)</a:t>
            </a:r>
          </a:p>
          <a:p>
            <a:pPr marL="0" indent="0">
              <a:buNone/>
            </a:pPr>
            <a:endParaRPr lang="en-SG" dirty="0"/>
          </a:p>
        </p:txBody>
      </p:sp>
    </p:spTree>
    <p:extLst>
      <p:ext uri="{BB962C8B-B14F-4D97-AF65-F5344CB8AC3E}">
        <p14:creationId xmlns:p14="http://schemas.microsoft.com/office/powerpoint/2010/main" val="38149191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Type Casting &amp; Input</a:t>
            </a:r>
          </a:p>
        </p:txBody>
      </p:sp>
      <p:sp>
        <p:nvSpPr>
          <p:cNvPr id="3" name="Content Placeholder 2"/>
          <p:cNvSpPr>
            <a:spLocks noGrp="1"/>
          </p:cNvSpPr>
          <p:nvPr>
            <p:ph idx="1"/>
          </p:nvPr>
        </p:nvSpPr>
        <p:spPr/>
        <p:txBody>
          <a:bodyPr>
            <a:normAutofit/>
          </a:bodyPr>
          <a:lstStyle/>
          <a:p>
            <a:pPr algn="l">
              <a:defRPr sz="1500">
                <a:latin typeface="Courier New"/>
              </a:defRPr>
            </a:pPr>
            <a:r>
              <a:rPr sz="2800" dirty="0"/>
              <a:t>def </a:t>
            </a:r>
            <a:r>
              <a:rPr sz="2800" dirty="0" err="1"/>
              <a:t>to_int</a:t>
            </a:r>
            <a:r>
              <a:rPr sz="2800" dirty="0"/>
              <a:t>(text, default=None):</a:t>
            </a:r>
            <a:br>
              <a:rPr sz="2800" dirty="0"/>
            </a:br>
            <a:r>
              <a:rPr sz="2800" dirty="0"/>
              <a:t>    try:</a:t>
            </a:r>
            <a:br>
              <a:rPr sz="2800" dirty="0"/>
            </a:br>
            <a:r>
              <a:rPr sz="2800" dirty="0"/>
              <a:t>        return int(text)</a:t>
            </a:r>
            <a:br>
              <a:rPr sz="2800" dirty="0"/>
            </a:br>
            <a:r>
              <a:rPr sz="2800" dirty="0"/>
              <a:t>    except </a:t>
            </a:r>
            <a:r>
              <a:rPr sz="2800" dirty="0" err="1"/>
              <a:t>ValueError</a:t>
            </a:r>
            <a:r>
              <a:rPr sz="2800" dirty="0"/>
              <a:t>:</a:t>
            </a:r>
            <a:br>
              <a:rPr sz="2800" dirty="0"/>
            </a:br>
            <a:r>
              <a:rPr sz="2800" dirty="0"/>
              <a:t>        return default</a:t>
            </a:r>
            <a:br>
              <a:rPr sz="2800" dirty="0"/>
            </a:br>
            <a:br>
              <a:rPr sz="2800" dirty="0"/>
            </a:br>
            <a:r>
              <a:rPr sz="2800" dirty="0"/>
              <a:t>birth = input("Birth year: ")</a:t>
            </a:r>
            <a:br>
              <a:rPr sz="2800" dirty="0"/>
            </a:br>
            <a:r>
              <a:rPr sz="2800" dirty="0"/>
              <a:t>age = 2025 - int(birth)</a:t>
            </a:r>
            <a:br>
              <a:rPr sz="2800" dirty="0"/>
            </a:br>
            <a:r>
              <a:rPr sz="2800" dirty="0"/>
              <a:t>print(</a:t>
            </a:r>
            <a:r>
              <a:rPr sz="2800" dirty="0" err="1"/>
              <a:t>f"You</a:t>
            </a:r>
            <a:r>
              <a:rPr sz="2800" dirty="0"/>
              <a:t> turn {age} this year")</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C2859-9DF8-9D6D-34D4-B07150B1B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721DA-2C9E-5EF4-C56E-0F053E71B061}"/>
              </a:ext>
            </a:extLst>
          </p:cNvPr>
          <p:cNvSpPr>
            <a:spLocks noGrp="1"/>
          </p:cNvSpPr>
          <p:nvPr>
            <p:ph type="title"/>
          </p:nvPr>
        </p:nvSpPr>
        <p:spPr/>
        <p:txBody>
          <a:bodyPr>
            <a:normAutofit/>
          </a:bodyPr>
          <a:lstStyle/>
          <a:p>
            <a:r>
              <a:rPr lang="en-SG" dirty="0"/>
              <a:t>Mutable vs Immutable Objects</a:t>
            </a:r>
          </a:p>
        </p:txBody>
      </p:sp>
      <p:sp>
        <p:nvSpPr>
          <p:cNvPr id="5" name="Rectangle 1">
            <a:extLst>
              <a:ext uri="{FF2B5EF4-FFF2-40B4-BE49-F238E27FC236}">
                <a16:creationId xmlns:a16="http://schemas.microsoft.com/office/drawing/2014/main" id="{1F58EA1E-317D-4729-A230-C80DB7A86520}"/>
              </a:ext>
            </a:extLst>
          </p:cNvPr>
          <p:cNvSpPr txBox="1">
            <a:spLocks noChangeArrowheads="1"/>
          </p:cNvSpPr>
          <p:nvPr/>
        </p:nvSpPr>
        <p:spPr bwMode="auto">
          <a:xfrm>
            <a:off x="6388100" y="2090172"/>
            <a:ext cx="5524500" cy="2677656"/>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 Immutable</a:t>
            </a:r>
          </a:p>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a = 10</a:t>
            </a:r>
          </a:p>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a += 1</a:t>
            </a:r>
          </a:p>
          <a:p>
            <a:pPr marL="0" indent="0" defTabSz="914400" eaLnBrk="0" fontAlgn="base" hangingPunct="0">
              <a:spcBef>
                <a:spcPct val="0"/>
              </a:spcBef>
              <a:spcAft>
                <a:spcPct val="0"/>
              </a:spcAft>
              <a:buNone/>
            </a:pPr>
            <a:endParaRPr lang="en-US" altLang="en-US" sz="2400" dirty="0">
              <a:solidFill>
                <a:schemeClr val="tx1"/>
              </a:solidFill>
              <a:latin typeface="Arial" panose="020B0604020202020204" pitchFamily="34" charset="0"/>
            </a:endParaRPr>
          </a:p>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 Mutable</a:t>
            </a:r>
          </a:p>
          <a:p>
            <a:pPr marL="0" indent="0" defTabSz="914400" eaLnBrk="0" fontAlgn="base" hangingPunct="0">
              <a:spcBef>
                <a:spcPct val="0"/>
              </a:spcBef>
              <a:spcAft>
                <a:spcPct val="0"/>
              </a:spcAft>
              <a:buNone/>
            </a:pPr>
            <a:r>
              <a:rPr lang="en-US" altLang="en-US" sz="2400" dirty="0" err="1">
                <a:solidFill>
                  <a:schemeClr val="tx1"/>
                </a:solidFill>
                <a:latin typeface="Arial" panose="020B0604020202020204" pitchFamily="34" charset="0"/>
              </a:rPr>
              <a:t>lst</a:t>
            </a:r>
            <a:r>
              <a:rPr lang="en-US" altLang="en-US" sz="2400" dirty="0">
                <a:solidFill>
                  <a:schemeClr val="tx1"/>
                </a:solidFill>
                <a:latin typeface="Arial" panose="020B0604020202020204" pitchFamily="34" charset="0"/>
              </a:rPr>
              <a:t> = [1, 2]</a:t>
            </a:r>
          </a:p>
          <a:p>
            <a:pPr marL="0" indent="0" defTabSz="914400" eaLnBrk="0" fontAlgn="base" hangingPunct="0">
              <a:spcBef>
                <a:spcPct val="0"/>
              </a:spcBef>
              <a:spcAft>
                <a:spcPct val="0"/>
              </a:spcAft>
              <a:buNone/>
            </a:pPr>
            <a:r>
              <a:rPr lang="en-US" altLang="en-US" sz="2400" dirty="0" err="1">
                <a:solidFill>
                  <a:schemeClr val="tx1"/>
                </a:solidFill>
                <a:latin typeface="Arial" panose="020B0604020202020204" pitchFamily="34" charset="0"/>
              </a:rPr>
              <a:t>lst.append</a:t>
            </a:r>
            <a:r>
              <a:rPr lang="en-US" altLang="en-US" sz="2400" dirty="0">
                <a:solidFill>
                  <a:schemeClr val="tx1"/>
                </a:solidFill>
                <a:latin typeface="Arial" panose="020B0604020202020204" pitchFamily="34" charset="0"/>
              </a:rPr>
              <a:t>(3)</a:t>
            </a:r>
          </a:p>
        </p:txBody>
      </p:sp>
      <p:sp>
        <p:nvSpPr>
          <p:cNvPr id="4" name="Rectangle 1">
            <a:extLst>
              <a:ext uri="{FF2B5EF4-FFF2-40B4-BE49-F238E27FC236}">
                <a16:creationId xmlns:a16="http://schemas.microsoft.com/office/drawing/2014/main" id="{8201B2A5-46C5-605A-E338-9FBAFDE2380A}"/>
              </a:ext>
            </a:extLst>
          </p:cNvPr>
          <p:cNvSpPr>
            <a:spLocks noGrp="1" noChangeArrowheads="1"/>
          </p:cNvSpPr>
          <p:nvPr>
            <p:ph idx="1"/>
          </p:nvPr>
        </p:nvSpPr>
        <p:spPr bwMode="auto">
          <a:xfrm>
            <a:off x="457201" y="2105479"/>
            <a:ext cx="5637212" cy="138499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Immutable</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Unicode MS"/>
              </a:rPr>
              <a:t>int</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a:ln>
                  <a:noFill/>
                </a:ln>
                <a:solidFill>
                  <a:schemeClr val="tx1"/>
                </a:solidFill>
                <a:effectLst/>
                <a:latin typeface="Arial Unicode MS"/>
              </a:rPr>
              <a:t>float</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a:ln>
                  <a:noFill/>
                </a:ln>
                <a:solidFill>
                  <a:schemeClr val="tx1"/>
                </a:solidFill>
                <a:effectLst/>
                <a:latin typeface="Arial Unicode MS"/>
              </a:rPr>
              <a:t>str</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a:ln>
                  <a:noFill/>
                </a:ln>
                <a:solidFill>
                  <a:schemeClr val="tx1"/>
                </a:solidFill>
                <a:effectLst/>
                <a:latin typeface="Arial Unicode MS"/>
              </a:rPr>
              <a:t>tuple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Mutable</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Unicode MS"/>
              </a:rPr>
              <a:t>list</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err="1">
                <a:ln>
                  <a:noFill/>
                </a:ln>
                <a:solidFill>
                  <a:schemeClr val="tx1"/>
                </a:solidFill>
                <a:effectLst/>
                <a:latin typeface="Arial Unicode MS"/>
              </a:rPr>
              <a:t>dict</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a:ln>
                  <a:noFill/>
                </a:ln>
                <a:solidFill>
                  <a:schemeClr val="tx1"/>
                </a:solidFill>
                <a:effectLst/>
                <a:latin typeface="Arial Unicode MS"/>
              </a:rPr>
              <a:t>set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64093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6E78B-1337-F795-D099-ACD01C2A3231}"/>
              </a:ext>
            </a:extLst>
          </p:cNvPr>
          <p:cNvSpPr>
            <a:spLocks noGrp="1"/>
          </p:cNvSpPr>
          <p:nvPr>
            <p:ph type="title"/>
          </p:nvPr>
        </p:nvSpPr>
        <p:spPr/>
        <p:txBody>
          <a:bodyPr/>
          <a:lstStyle/>
          <a:p>
            <a:r>
              <a:rPr lang="en-US" dirty="0"/>
              <a:t>Why Dynamic Typing Is Powerful</a:t>
            </a:r>
            <a:endParaRPr lang="en-SG" dirty="0"/>
          </a:p>
        </p:txBody>
      </p:sp>
      <p:sp>
        <p:nvSpPr>
          <p:cNvPr id="4" name="Rectangle 1">
            <a:extLst>
              <a:ext uri="{FF2B5EF4-FFF2-40B4-BE49-F238E27FC236}">
                <a16:creationId xmlns:a16="http://schemas.microsoft.com/office/drawing/2014/main" id="{2C79C809-E069-3BC3-AE7E-0C42DFC2B821}"/>
              </a:ext>
            </a:extLst>
          </p:cNvPr>
          <p:cNvSpPr>
            <a:spLocks noGrp="1" noChangeArrowheads="1"/>
          </p:cNvSpPr>
          <p:nvPr>
            <p:ph idx="1"/>
          </p:nvPr>
        </p:nvSpPr>
        <p:spPr bwMode="auto">
          <a:xfrm>
            <a:off x="457200" y="2432022"/>
            <a:ext cx="1002088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3600" b="0" i="0" u="none" strike="noStrike" cap="none" normalizeH="0" baseline="0" dirty="0">
                <a:ln>
                  <a:noFill/>
                </a:ln>
                <a:solidFill>
                  <a:schemeClr val="tx1"/>
                </a:solidFill>
                <a:effectLst/>
                <a:latin typeface="Arial" panose="020B0604020202020204" pitchFamily="34" charset="0"/>
              </a:rPr>
              <a:t>Faster development</a:t>
            </a:r>
          </a:p>
          <a:p>
            <a:pPr defTabSz="914400" eaLnBrk="0" fontAlgn="base" hangingPunct="0">
              <a:spcBef>
                <a:spcPct val="0"/>
              </a:spcBef>
              <a:spcAft>
                <a:spcPct val="0"/>
              </a:spcAf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sz="3600" b="0" i="0" u="none" strike="noStrike" cap="none" normalizeH="0" baseline="0" dirty="0">
                <a:ln>
                  <a:noFill/>
                </a:ln>
                <a:solidFill>
                  <a:schemeClr val="tx1"/>
                </a:solidFill>
                <a:effectLst/>
                <a:latin typeface="Arial" panose="020B0604020202020204" pitchFamily="34" charset="0"/>
              </a:rPr>
              <a:t>Less boilerplate code</a:t>
            </a:r>
          </a:p>
          <a:p>
            <a:pPr defTabSz="914400" eaLnBrk="0" fontAlgn="base" hangingPunct="0">
              <a:spcBef>
                <a:spcPct val="0"/>
              </a:spcBef>
              <a:spcAft>
                <a:spcPct val="0"/>
              </a:spcAf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sz="3600" b="0" i="0" u="none" strike="noStrike" cap="none" normalizeH="0" baseline="0" dirty="0">
                <a:ln>
                  <a:noFill/>
                </a:ln>
                <a:solidFill>
                  <a:schemeClr val="tx1"/>
                </a:solidFill>
                <a:effectLst/>
                <a:latin typeface="Arial" panose="020B0604020202020204" pitchFamily="34" charset="0"/>
              </a:rPr>
              <a:t>Natural for scripting, data science, AI, web dev</a:t>
            </a:r>
          </a:p>
        </p:txBody>
      </p:sp>
    </p:spTree>
    <p:extLst>
      <p:ext uri="{BB962C8B-B14F-4D97-AF65-F5344CB8AC3E}">
        <p14:creationId xmlns:p14="http://schemas.microsoft.com/office/powerpoint/2010/main" val="18956183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0C6BD-E9DD-57C6-F4B3-C3300C6BB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386B7-E1CA-E987-1A49-51E953D40AF8}"/>
              </a:ext>
            </a:extLst>
          </p:cNvPr>
          <p:cNvSpPr>
            <a:spLocks noGrp="1"/>
          </p:cNvSpPr>
          <p:nvPr>
            <p:ph type="title"/>
          </p:nvPr>
        </p:nvSpPr>
        <p:spPr/>
        <p:txBody>
          <a:bodyPr>
            <a:normAutofit/>
          </a:bodyPr>
          <a:lstStyle/>
          <a:p>
            <a:r>
              <a:rPr lang="en-SG" dirty="0"/>
              <a:t>Risks of Dynamic Typing</a:t>
            </a:r>
          </a:p>
        </p:txBody>
      </p:sp>
      <p:sp>
        <p:nvSpPr>
          <p:cNvPr id="5" name="Rectangle 1">
            <a:extLst>
              <a:ext uri="{FF2B5EF4-FFF2-40B4-BE49-F238E27FC236}">
                <a16:creationId xmlns:a16="http://schemas.microsoft.com/office/drawing/2014/main" id="{FB0F4174-64A3-ECE8-3B17-D0AE0C748DDE}"/>
              </a:ext>
            </a:extLst>
          </p:cNvPr>
          <p:cNvSpPr txBox="1">
            <a:spLocks noChangeArrowheads="1"/>
          </p:cNvSpPr>
          <p:nvPr/>
        </p:nvSpPr>
        <p:spPr bwMode="auto">
          <a:xfrm>
            <a:off x="7645400" y="2639704"/>
            <a:ext cx="4267200" cy="830997"/>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x = 10</a:t>
            </a:r>
          </a:p>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x + "5"   # </a:t>
            </a:r>
            <a:r>
              <a:rPr lang="en-US" altLang="en-US" sz="2400" dirty="0" err="1">
                <a:solidFill>
                  <a:schemeClr val="tx1"/>
                </a:solidFill>
                <a:latin typeface="Arial" panose="020B0604020202020204" pitchFamily="34" charset="0"/>
              </a:rPr>
              <a:t>TypeError</a:t>
            </a:r>
            <a:endParaRPr lang="en-US" altLang="en-US" sz="2400" dirty="0">
              <a:solidFill>
                <a:schemeClr val="tx1"/>
              </a:solidFill>
              <a:latin typeface="Arial" panose="020B0604020202020204" pitchFamily="34" charset="0"/>
            </a:endParaRPr>
          </a:p>
        </p:txBody>
      </p:sp>
      <p:sp>
        <p:nvSpPr>
          <p:cNvPr id="3" name="Rectangle 1">
            <a:extLst>
              <a:ext uri="{FF2B5EF4-FFF2-40B4-BE49-F238E27FC236}">
                <a16:creationId xmlns:a16="http://schemas.microsoft.com/office/drawing/2014/main" id="{6B409602-FABF-7BA2-3F6D-6767214251A9}"/>
              </a:ext>
            </a:extLst>
          </p:cNvPr>
          <p:cNvSpPr>
            <a:spLocks noGrp="1" noChangeArrowheads="1"/>
          </p:cNvSpPr>
          <p:nvPr>
            <p:ph idx="1"/>
          </p:nvPr>
        </p:nvSpPr>
        <p:spPr bwMode="auto">
          <a:xfrm>
            <a:off x="457200" y="2644170"/>
            <a:ext cx="6085127" cy="1569660"/>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Type errors appear </a:t>
            </a:r>
            <a:r>
              <a:rPr kumimoji="0" lang="en-US" altLang="en-US" b="1" i="0" u="none" strike="noStrike" cap="none" normalizeH="0" baseline="0" dirty="0">
                <a:ln>
                  <a:noFill/>
                </a:ln>
                <a:solidFill>
                  <a:schemeClr val="tx1"/>
                </a:solidFill>
                <a:effectLst/>
                <a:latin typeface="Arial" panose="020B0604020202020204" pitchFamily="34" charset="0"/>
              </a:rPr>
              <a:t>at runtime</a:t>
            </a:r>
          </a:p>
          <a:p>
            <a:pPr marL="0" indent="0" defTabSz="914400" eaLnBrk="0" fontAlgn="base" hangingPunct="0">
              <a:spcBef>
                <a:spcPct val="0"/>
              </a:spcBef>
              <a:spcAft>
                <a:spcPct val="0"/>
              </a:spcAft>
              <a:buNone/>
            </a:pP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Harder to detect bugs early</a:t>
            </a:r>
          </a:p>
        </p:txBody>
      </p:sp>
    </p:spTree>
    <p:extLst>
      <p:ext uri="{BB962C8B-B14F-4D97-AF65-F5344CB8AC3E}">
        <p14:creationId xmlns:p14="http://schemas.microsoft.com/office/powerpoint/2010/main" val="5488932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C6B17-1467-C226-9C5A-BF76288E8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2C61BB-033B-5098-7A61-4636CE4F922B}"/>
              </a:ext>
            </a:extLst>
          </p:cNvPr>
          <p:cNvSpPr>
            <a:spLocks noGrp="1"/>
          </p:cNvSpPr>
          <p:nvPr>
            <p:ph type="title"/>
          </p:nvPr>
        </p:nvSpPr>
        <p:spPr/>
        <p:txBody>
          <a:bodyPr>
            <a:normAutofit/>
          </a:bodyPr>
          <a:lstStyle/>
          <a:p>
            <a:r>
              <a:rPr lang="en-SG" dirty="0"/>
              <a:t>Type Hints</a:t>
            </a:r>
          </a:p>
        </p:txBody>
      </p:sp>
      <p:sp>
        <p:nvSpPr>
          <p:cNvPr id="5" name="Rectangle 1">
            <a:extLst>
              <a:ext uri="{FF2B5EF4-FFF2-40B4-BE49-F238E27FC236}">
                <a16:creationId xmlns:a16="http://schemas.microsoft.com/office/drawing/2014/main" id="{A58892B6-8D64-228E-9154-2E703CECAF90}"/>
              </a:ext>
            </a:extLst>
          </p:cNvPr>
          <p:cNvSpPr txBox="1">
            <a:spLocks noChangeArrowheads="1"/>
          </p:cNvSpPr>
          <p:nvPr/>
        </p:nvSpPr>
        <p:spPr bwMode="auto">
          <a:xfrm>
            <a:off x="6578601" y="1494551"/>
            <a:ext cx="5276766" cy="830997"/>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def add(a: int, b: int) -&gt; int:</a:t>
            </a:r>
          </a:p>
          <a:p>
            <a:pPr marL="0" indent="0" defTabSz="914400" eaLnBrk="0" fontAlgn="base" hangingPunct="0">
              <a:spcBef>
                <a:spcPct val="0"/>
              </a:spcBef>
              <a:spcAft>
                <a:spcPct val="0"/>
              </a:spcAft>
              <a:buNone/>
            </a:pPr>
            <a:r>
              <a:rPr lang="en-US" altLang="en-US" sz="2400" dirty="0">
                <a:solidFill>
                  <a:schemeClr val="tx1"/>
                </a:solidFill>
                <a:latin typeface="Arial" panose="020B0604020202020204" pitchFamily="34" charset="0"/>
              </a:rPr>
              <a:t>    return a + b</a:t>
            </a:r>
          </a:p>
        </p:txBody>
      </p:sp>
      <p:sp>
        <p:nvSpPr>
          <p:cNvPr id="3" name="Rectangle 1">
            <a:extLst>
              <a:ext uri="{FF2B5EF4-FFF2-40B4-BE49-F238E27FC236}">
                <a16:creationId xmlns:a16="http://schemas.microsoft.com/office/drawing/2014/main" id="{D2A1D269-CB1A-0161-ABD1-69DE510619C1}"/>
              </a:ext>
            </a:extLst>
          </p:cNvPr>
          <p:cNvSpPr>
            <a:spLocks noGrp="1" noChangeArrowheads="1"/>
          </p:cNvSpPr>
          <p:nvPr>
            <p:ph idx="1"/>
          </p:nvPr>
        </p:nvSpPr>
        <p:spPr bwMode="auto">
          <a:xfrm>
            <a:off x="457200" y="1494551"/>
            <a:ext cx="5623014" cy="4832092"/>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Use Type hints when code grow</a:t>
            </a:r>
          </a:p>
          <a:p>
            <a:pPr defTabSz="914400"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lang="en-US" altLang="en-US" sz="2800" dirty="0">
                <a:solidFill>
                  <a:schemeClr val="tx1"/>
                </a:solidFill>
                <a:latin typeface="Arial" panose="020B0604020202020204" pitchFamily="34" charset="0"/>
              </a:rPr>
              <a:t>Type hints are optional</a:t>
            </a:r>
          </a:p>
          <a:p>
            <a:pPr defTabSz="914400" eaLnBrk="0" fontAlgn="base" hangingPunct="0">
              <a:spcBef>
                <a:spcPct val="0"/>
              </a:spcBef>
              <a:spcAft>
                <a:spcPct val="0"/>
              </a:spcAft>
            </a:pPr>
            <a:endParaRPr lang="en-US" altLang="en-US" sz="2800" dirty="0">
              <a:solidFill>
                <a:schemeClr val="tx1"/>
              </a:solidFill>
              <a:latin typeface="Arial" panose="020B0604020202020204" pitchFamily="34" charset="0"/>
            </a:endParaRPr>
          </a:p>
          <a:p>
            <a:pPr defTabSz="914400" eaLnBrk="0" fontAlgn="base" hangingPunct="0">
              <a:spcBef>
                <a:spcPct val="0"/>
              </a:spcBef>
              <a:spcAft>
                <a:spcPct val="0"/>
              </a:spcAft>
            </a:pPr>
            <a:r>
              <a:rPr lang="en-US" altLang="en-US" sz="2800" dirty="0">
                <a:solidFill>
                  <a:schemeClr val="tx1"/>
                </a:solidFill>
                <a:latin typeface="Arial" panose="020B0604020202020204" pitchFamily="34" charset="0"/>
              </a:rPr>
              <a:t>Used by:</a:t>
            </a:r>
          </a:p>
          <a:p>
            <a:pPr lvl="1" defTabSz="914400" eaLnBrk="0" fontAlgn="base" hangingPunct="0">
              <a:spcBef>
                <a:spcPct val="0"/>
              </a:spcBef>
              <a:spcAft>
                <a:spcPct val="0"/>
              </a:spcAft>
            </a:pPr>
            <a:r>
              <a:rPr lang="en-US" altLang="en-US" sz="2400" dirty="0">
                <a:solidFill>
                  <a:schemeClr val="tx1"/>
                </a:solidFill>
                <a:latin typeface="Arial" panose="020B0604020202020204" pitchFamily="34" charset="0"/>
              </a:rPr>
              <a:t>IDEs</a:t>
            </a:r>
          </a:p>
          <a:p>
            <a:pPr lvl="1" defTabSz="914400" eaLnBrk="0" fontAlgn="base" hangingPunct="0">
              <a:spcBef>
                <a:spcPct val="0"/>
              </a:spcBef>
              <a:spcAft>
                <a:spcPct val="0"/>
              </a:spcAft>
            </a:pPr>
            <a:r>
              <a:rPr lang="en-US" altLang="en-US" sz="2800" dirty="0">
                <a:solidFill>
                  <a:schemeClr val="tx1"/>
                </a:solidFill>
                <a:latin typeface="Arial" panose="020B0604020202020204" pitchFamily="34" charset="0"/>
              </a:rPr>
              <a:t>Linters</a:t>
            </a:r>
            <a:endParaRPr lang="en-US" altLang="en-US" dirty="0">
              <a:solidFill>
                <a:schemeClr val="tx1"/>
              </a:solidFill>
              <a:latin typeface="Arial" panose="020B0604020202020204" pitchFamily="34" charset="0"/>
            </a:endParaRPr>
          </a:p>
          <a:p>
            <a:pPr lvl="1" defTabSz="914400" eaLnBrk="0" fontAlgn="base" hangingPunct="0">
              <a:spcBef>
                <a:spcPct val="0"/>
              </a:spcBef>
              <a:spcAft>
                <a:spcPct val="0"/>
              </a:spcAft>
            </a:pPr>
            <a:r>
              <a:rPr lang="en-US" altLang="en-US" sz="2800" dirty="0">
                <a:solidFill>
                  <a:schemeClr val="tx1"/>
                </a:solidFill>
                <a:latin typeface="Arial" panose="020B0604020202020204" pitchFamily="34" charset="0"/>
              </a:rPr>
              <a:t>Static analyzers (</a:t>
            </a:r>
            <a:r>
              <a:rPr lang="en-US" altLang="en-US" sz="2800" dirty="0" err="1">
                <a:solidFill>
                  <a:schemeClr val="tx1"/>
                </a:solidFill>
                <a:latin typeface="Arial" panose="020B0604020202020204" pitchFamily="34" charset="0"/>
              </a:rPr>
              <a:t>mypy</a:t>
            </a:r>
            <a:r>
              <a:rPr lang="en-US" altLang="en-US" sz="2800" dirty="0">
                <a:solidFill>
                  <a:schemeClr val="tx1"/>
                </a:solidFill>
                <a:latin typeface="Arial" panose="020B0604020202020204" pitchFamily="34" charset="0"/>
              </a:rPr>
              <a:t>)</a:t>
            </a:r>
          </a:p>
          <a:p>
            <a:pPr lvl="1" defTabSz="914400" eaLnBrk="0" fontAlgn="base" hangingPunct="0">
              <a:spcBef>
                <a:spcPct val="0"/>
              </a:spcBef>
              <a:spcAft>
                <a:spcPct val="0"/>
              </a:spcAft>
            </a:pPr>
            <a:endParaRPr lang="en-US" altLang="en-US" dirty="0">
              <a:solidFill>
                <a:schemeClr val="tx1"/>
              </a:solidFill>
              <a:latin typeface="Arial" panose="020B0604020202020204" pitchFamily="34" charset="0"/>
            </a:endParaRPr>
          </a:p>
          <a:p>
            <a:pPr defTabSz="914400" eaLnBrk="0" fontAlgn="base" hangingPunct="0">
              <a:spcBef>
                <a:spcPct val="0"/>
              </a:spcBef>
              <a:spcAft>
                <a:spcPct val="0"/>
              </a:spcAft>
            </a:pPr>
            <a:r>
              <a:rPr lang="en-SG" dirty="0"/>
              <a:t>Python still runs dynamically.</a:t>
            </a:r>
            <a:endParaRPr lang="en-US" altLang="en-US" dirty="0">
              <a:solidFill>
                <a:schemeClr val="tx1"/>
              </a:solidFill>
              <a:latin typeface="Arial" panose="020B0604020202020204" pitchFamily="34" charset="0"/>
            </a:endParaRPr>
          </a:p>
          <a:p>
            <a:pPr defTabSz="914400"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10344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73D6A-DC6E-0F83-BC68-B80BA8244554}"/>
              </a:ext>
            </a:extLst>
          </p:cNvPr>
          <p:cNvSpPr>
            <a:spLocks noGrp="1"/>
          </p:cNvSpPr>
          <p:nvPr>
            <p:ph type="title"/>
          </p:nvPr>
        </p:nvSpPr>
        <p:spPr/>
        <p:txBody>
          <a:bodyPr/>
          <a:lstStyle/>
          <a:p>
            <a:r>
              <a:rPr lang="en-SG" dirty="0"/>
              <a:t>Comparison with Static Typing</a:t>
            </a:r>
          </a:p>
        </p:txBody>
      </p:sp>
      <p:graphicFrame>
        <p:nvGraphicFramePr>
          <p:cNvPr id="4" name="Table 3">
            <a:extLst>
              <a:ext uri="{FF2B5EF4-FFF2-40B4-BE49-F238E27FC236}">
                <a16:creationId xmlns:a16="http://schemas.microsoft.com/office/drawing/2014/main" id="{11637F1B-76F9-64ED-5439-AB0CF0627629}"/>
              </a:ext>
            </a:extLst>
          </p:cNvPr>
          <p:cNvGraphicFramePr>
            <a:graphicFrameLocks noGrp="1"/>
          </p:cNvGraphicFramePr>
          <p:nvPr>
            <p:extLst>
              <p:ext uri="{D42A27DB-BD31-4B8C-83A1-F6EECF244321}">
                <p14:modId xmlns:p14="http://schemas.microsoft.com/office/powerpoint/2010/main" val="401191911"/>
              </p:ext>
            </p:extLst>
          </p:nvPr>
        </p:nvGraphicFramePr>
        <p:xfrm>
          <a:off x="457200" y="2153761"/>
          <a:ext cx="8229600" cy="3413760"/>
        </p:xfrm>
        <a:graphic>
          <a:graphicData uri="http://schemas.openxmlformats.org/drawingml/2006/table">
            <a:tbl>
              <a:tblPr/>
              <a:tblGrid>
                <a:gridCol w="4114800">
                  <a:extLst>
                    <a:ext uri="{9D8B030D-6E8A-4147-A177-3AD203B41FA5}">
                      <a16:colId xmlns:a16="http://schemas.microsoft.com/office/drawing/2014/main" val="3760077077"/>
                    </a:ext>
                  </a:extLst>
                </a:gridCol>
                <a:gridCol w="4114800">
                  <a:extLst>
                    <a:ext uri="{9D8B030D-6E8A-4147-A177-3AD203B41FA5}">
                      <a16:colId xmlns:a16="http://schemas.microsoft.com/office/drawing/2014/main" val="1780269911"/>
                    </a:ext>
                  </a:extLst>
                </a:gridCol>
              </a:tblGrid>
              <a:tr h="0">
                <a:tc>
                  <a:txBody>
                    <a:bodyPr/>
                    <a:lstStyle/>
                    <a:p>
                      <a:pPr>
                        <a:buNone/>
                      </a:pPr>
                      <a:r>
                        <a:rPr lang="en-SG" sz="4000" b="1" dirty="0"/>
                        <a:t>Python</a:t>
                      </a:r>
                    </a:p>
                  </a:txBody>
                  <a:tcPr anchor="ctr">
                    <a:lnL>
                      <a:noFill/>
                    </a:lnL>
                    <a:lnR>
                      <a:noFill/>
                    </a:lnR>
                    <a:lnT>
                      <a:noFill/>
                    </a:lnT>
                    <a:lnB>
                      <a:noFill/>
                    </a:lnB>
                    <a:noFill/>
                  </a:tcPr>
                </a:tc>
                <a:tc>
                  <a:txBody>
                    <a:bodyPr/>
                    <a:lstStyle/>
                    <a:p>
                      <a:pPr>
                        <a:buNone/>
                      </a:pPr>
                      <a:r>
                        <a:rPr lang="en-SG" sz="4000" b="1" dirty="0"/>
                        <a:t>Java / C</a:t>
                      </a:r>
                    </a:p>
                  </a:txBody>
                  <a:tcPr anchor="ctr">
                    <a:lnL>
                      <a:noFill/>
                    </a:lnL>
                    <a:lnR>
                      <a:noFill/>
                    </a:lnR>
                    <a:lnT>
                      <a:noFill/>
                    </a:lnT>
                    <a:lnB>
                      <a:noFill/>
                    </a:lnB>
                    <a:noFill/>
                  </a:tcPr>
                </a:tc>
                <a:extLst>
                  <a:ext uri="{0D108BD9-81ED-4DB2-BD59-A6C34878D82A}">
                    <a16:rowId xmlns:a16="http://schemas.microsoft.com/office/drawing/2014/main" val="2511939339"/>
                  </a:ext>
                </a:extLst>
              </a:tr>
              <a:tr h="0">
                <a:tc>
                  <a:txBody>
                    <a:bodyPr/>
                    <a:lstStyle/>
                    <a:p>
                      <a:pPr>
                        <a:buNone/>
                      </a:pPr>
                      <a:r>
                        <a:rPr lang="en-SG" sz="4000" dirty="0"/>
                        <a:t>Dynamic typing</a:t>
                      </a:r>
                    </a:p>
                  </a:txBody>
                  <a:tcPr anchor="ctr">
                    <a:lnL>
                      <a:noFill/>
                    </a:lnL>
                    <a:lnR>
                      <a:noFill/>
                    </a:lnR>
                    <a:lnT>
                      <a:noFill/>
                    </a:lnT>
                    <a:lnB>
                      <a:noFill/>
                    </a:lnB>
                    <a:noFill/>
                  </a:tcPr>
                </a:tc>
                <a:tc>
                  <a:txBody>
                    <a:bodyPr/>
                    <a:lstStyle/>
                    <a:p>
                      <a:pPr>
                        <a:buNone/>
                      </a:pPr>
                      <a:r>
                        <a:rPr lang="en-SG" sz="4000"/>
                        <a:t>Static typing</a:t>
                      </a:r>
                    </a:p>
                  </a:txBody>
                  <a:tcPr anchor="ctr">
                    <a:lnL>
                      <a:noFill/>
                    </a:lnL>
                    <a:lnR>
                      <a:noFill/>
                    </a:lnR>
                    <a:lnT>
                      <a:noFill/>
                    </a:lnT>
                    <a:lnB>
                      <a:noFill/>
                    </a:lnB>
                    <a:noFill/>
                  </a:tcPr>
                </a:tc>
                <a:extLst>
                  <a:ext uri="{0D108BD9-81ED-4DB2-BD59-A6C34878D82A}">
                    <a16:rowId xmlns:a16="http://schemas.microsoft.com/office/drawing/2014/main" val="1402665816"/>
                  </a:ext>
                </a:extLst>
              </a:tr>
              <a:tr h="0">
                <a:tc>
                  <a:txBody>
                    <a:bodyPr/>
                    <a:lstStyle/>
                    <a:p>
                      <a:pPr>
                        <a:buNone/>
                      </a:pPr>
                      <a:r>
                        <a:rPr lang="en-SG" sz="4000"/>
                        <a:t>Flexible</a:t>
                      </a:r>
                    </a:p>
                  </a:txBody>
                  <a:tcPr anchor="ctr">
                    <a:lnL>
                      <a:noFill/>
                    </a:lnL>
                    <a:lnR>
                      <a:noFill/>
                    </a:lnR>
                    <a:lnT>
                      <a:noFill/>
                    </a:lnT>
                    <a:lnB>
                      <a:noFill/>
                    </a:lnB>
                    <a:noFill/>
                  </a:tcPr>
                </a:tc>
                <a:tc>
                  <a:txBody>
                    <a:bodyPr/>
                    <a:lstStyle/>
                    <a:p>
                      <a:pPr>
                        <a:buNone/>
                      </a:pPr>
                      <a:r>
                        <a:rPr lang="en-SG" sz="4000"/>
                        <a:t>Strict</a:t>
                      </a:r>
                    </a:p>
                  </a:txBody>
                  <a:tcPr anchor="ctr">
                    <a:lnL>
                      <a:noFill/>
                    </a:lnL>
                    <a:lnR>
                      <a:noFill/>
                    </a:lnR>
                    <a:lnT>
                      <a:noFill/>
                    </a:lnT>
                    <a:lnB>
                      <a:noFill/>
                    </a:lnB>
                    <a:noFill/>
                  </a:tcPr>
                </a:tc>
                <a:extLst>
                  <a:ext uri="{0D108BD9-81ED-4DB2-BD59-A6C34878D82A}">
                    <a16:rowId xmlns:a16="http://schemas.microsoft.com/office/drawing/2014/main" val="1060654472"/>
                  </a:ext>
                </a:extLst>
              </a:tr>
              <a:tr h="0">
                <a:tc>
                  <a:txBody>
                    <a:bodyPr/>
                    <a:lstStyle/>
                    <a:p>
                      <a:pPr>
                        <a:buNone/>
                      </a:pPr>
                      <a:r>
                        <a:rPr lang="en-SG" sz="4000"/>
                        <a:t>Faster to write</a:t>
                      </a:r>
                    </a:p>
                  </a:txBody>
                  <a:tcPr anchor="ctr">
                    <a:lnL>
                      <a:noFill/>
                    </a:lnL>
                    <a:lnR>
                      <a:noFill/>
                    </a:lnR>
                    <a:lnT>
                      <a:noFill/>
                    </a:lnT>
                    <a:lnB>
                      <a:noFill/>
                    </a:lnB>
                    <a:noFill/>
                  </a:tcPr>
                </a:tc>
                <a:tc>
                  <a:txBody>
                    <a:bodyPr/>
                    <a:lstStyle/>
                    <a:p>
                      <a:pPr>
                        <a:buNone/>
                      </a:pPr>
                      <a:r>
                        <a:rPr lang="en-SG" sz="4000" dirty="0"/>
                        <a:t>Safer at compile time</a:t>
                      </a:r>
                    </a:p>
                  </a:txBody>
                  <a:tcPr anchor="ctr">
                    <a:lnL>
                      <a:noFill/>
                    </a:lnL>
                    <a:lnR>
                      <a:noFill/>
                    </a:lnR>
                    <a:lnT>
                      <a:noFill/>
                    </a:lnT>
                    <a:lnB>
                      <a:noFill/>
                    </a:lnB>
                    <a:noFill/>
                  </a:tcPr>
                </a:tc>
                <a:extLst>
                  <a:ext uri="{0D108BD9-81ED-4DB2-BD59-A6C34878D82A}">
                    <a16:rowId xmlns:a16="http://schemas.microsoft.com/office/drawing/2014/main" val="1067344882"/>
                  </a:ext>
                </a:extLst>
              </a:tr>
            </a:tbl>
          </a:graphicData>
        </a:graphic>
      </p:graphicFrame>
    </p:spTree>
    <p:extLst>
      <p:ext uri="{BB962C8B-B14F-4D97-AF65-F5344CB8AC3E}">
        <p14:creationId xmlns:p14="http://schemas.microsoft.com/office/powerpoint/2010/main" val="42933870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62C3-4EC0-8648-5621-9B11447A4125}"/>
              </a:ext>
            </a:extLst>
          </p:cNvPr>
          <p:cNvSpPr>
            <a:spLocks noGrp="1"/>
          </p:cNvSpPr>
          <p:nvPr>
            <p:ph type="title"/>
          </p:nvPr>
        </p:nvSpPr>
        <p:spPr/>
        <p:txBody>
          <a:bodyPr/>
          <a:lstStyle/>
          <a:p>
            <a:r>
              <a:rPr lang="en-SG" dirty="0"/>
              <a:t>Common Beginner Mistakes</a:t>
            </a:r>
          </a:p>
        </p:txBody>
      </p:sp>
      <p:sp>
        <p:nvSpPr>
          <p:cNvPr id="4" name="Rectangle 1">
            <a:extLst>
              <a:ext uri="{FF2B5EF4-FFF2-40B4-BE49-F238E27FC236}">
                <a16:creationId xmlns:a16="http://schemas.microsoft.com/office/drawing/2014/main" id="{C78EA60E-7E0F-3BA1-5377-1B0B09F66037}"/>
              </a:ext>
            </a:extLst>
          </p:cNvPr>
          <p:cNvSpPr>
            <a:spLocks noGrp="1" noChangeArrowheads="1"/>
          </p:cNvSpPr>
          <p:nvPr>
            <p:ph idx="1"/>
          </p:nvPr>
        </p:nvSpPr>
        <p:spPr bwMode="auto">
          <a:xfrm>
            <a:off x="457200" y="2585910"/>
            <a:ext cx="1034610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Reusing variable names for different purposes</a:t>
            </a:r>
          </a:p>
          <a:p>
            <a:pPr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Assuming variables store values instead of references</a:t>
            </a:r>
          </a:p>
          <a:p>
            <a:pPr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Confusing mutability behavior</a:t>
            </a:r>
          </a:p>
        </p:txBody>
      </p:sp>
    </p:spTree>
    <p:extLst>
      <p:ext uri="{BB962C8B-B14F-4D97-AF65-F5344CB8AC3E}">
        <p14:creationId xmlns:p14="http://schemas.microsoft.com/office/powerpoint/2010/main" val="197040944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4AB2-1B35-4291-92A5-15B752EB69CA}"/>
              </a:ext>
            </a:extLst>
          </p:cNvPr>
          <p:cNvSpPr>
            <a:spLocks noGrp="1"/>
          </p:cNvSpPr>
          <p:nvPr>
            <p:ph type="title"/>
          </p:nvPr>
        </p:nvSpPr>
        <p:spPr/>
        <p:txBody>
          <a:bodyPr/>
          <a:lstStyle/>
          <a:p>
            <a:r>
              <a:rPr lang="en-SG" dirty="0"/>
              <a:t>Key Takeaways</a:t>
            </a:r>
          </a:p>
        </p:txBody>
      </p:sp>
      <p:sp>
        <p:nvSpPr>
          <p:cNvPr id="4" name="Rectangle 1">
            <a:extLst>
              <a:ext uri="{FF2B5EF4-FFF2-40B4-BE49-F238E27FC236}">
                <a16:creationId xmlns:a16="http://schemas.microsoft.com/office/drawing/2014/main" id="{E61BBC93-FD8D-6A17-F917-DB8EB5B9DB66}"/>
              </a:ext>
            </a:extLst>
          </p:cNvPr>
          <p:cNvSpPr>
            <a:spLocks noGrp="1" noChangeArrowheads="1"/>
          </p:cNvSpPr>
          <p:nvPr>
            <p:ph idx="1"/>
          </p:nvPr>
        </p:nvSpPr>
        <p:spPr bwMode="auto">
          <a:xfrm>
            <a:off x="702992" y="1715326"/>
            <a:ext cx="92903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Variables are </a:t>
            </a:r>
            <a:r>
              <a:rPr kumimoji="0" lang="en-US" altLang="en-US" b="1" i="0" u="none" strike="noStrike" cap="none" normalizeH="0" baseline="0" dirty="0">
                <a:ln>
                  <a:noFill/>
                </a:ln>
                <a:solidFill>
                  <a:schemeClr val="tx1"/>
                </a:solidFill>
                <a:effectLst/>
                <a:latin typeface="Arial" panose="020B0604020202020204" pitchFamily="34" charset="0"/>
              </a:rPr>
              <a:t>names bound to objects</a:t>
            </a:r>
          </a:p>
          <a:p>
            <a:pPr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Python uses </a:t>
            </a:r>
            <a:r>
              <a:rPr kumimoji="0" lang="en-US" altLang="en-US" b="1" i="0" u="none" strike="noStrike" cap="none" normalizeH="0" baseline="0" dirty="0">
                <a:ln>
                  <a:noFill/>
                </a:ln>
                <a:solidFill>
                  <a:schemeClr val="tx1"/>
                </a:solidFill>
                <a:effectLst/>
                <a:latin typeface="Arial" panose="020B0604020202020204" pitchFamily="34" charset="0"/>
              </a:rPr>
              <a:t>dynamic typing</a:t>
            </a: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lang="en-US" altLang="en-US" dirty="0">
                <a:latin typeface="Arial" panose="020B0604020202020204" pitchFamily="34" charset="0"/>
              </a:rPr>
              <a:t>Changes to mutable objects affect all references</a:t>
            </a:r>
          </a:p>
          <a:p>
            <a:pPr marL="0" indent="0" defTabSz="914400" eaLnBrk="0" fontAlgn="base" hangingPunct="0">
              <a:spcBef>
                <a:spcPct val="0"/>
              </a:spcBef>
              <a:spcAft>
                <a:spcPct val="0"/>
              </a:spcAft>
              <a:buNone/>
            </a:pP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Type hints help readability and safety</a:t>
            </a:r>
          </a:p>
          <a:p>
            <a:pPr defTabSz="914400" eaLnBrk="0" fontAlgn="base" hangingPunct="0">
              <a:spcBef>
                <a:spcPct val="0"/>
              </a:spcBef>
              <a:spcAft>
                <a:spcPct val="0"/>
              </a:spcAft>
            </a:pPr>
            <a:endParaRPr lang="en-US" altLang="en-US" dirty="0">
              <a:latin typeface="Arial" panose="020B0604020202020204" pitchFamily="34" charset="0"/>
            </a:endParaRPr>
          </a:p>
          <a:p>
            <a:pPr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972732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6105-1F3B-B20D-9699-4F9A039ABA15}"/>
              </a:ext>
            </a:extLst>
          </p:cNvPr>
          <p:cNvSpPr>
            <a:spLocks noGrp="1"/>
          </p:cNvSpPr>
          <p:nvPr>
            <p:ph type="title"/>
          </p:nvPr>
        </p:nvSpPr>
        <p:spPr/>
        <p:txBody>
          <a:bodyPr/>
          <a:lstStyle/>
          <a:p>
            <a:r>
              <a:rPr lang="en-SG" dirty="0"/>
              <a:t>Practice Exercise</a:t>
            </a:r>
          </a:p>
        </p:txBody>
      </p:sp>
      <p:sp>
        <p:nvSpPr>
          <p:cNvPr id="4" name="Rectangle 1">
            <a:extLst>
              <a:ext uri="{FF2B5EF4-FFF2-40B4-BE49-F238E27FC236}">
                <a16:creationId xmlns:a16="http://schemas.microsoft.com/office/drawing/2014/main" id="{9BE66867-26C2-5979-2D77-230C316AC9B5}"/>
              </a:ext>
            </a:extLst>
          </p:cNvPr>
          <p:cNvSpPr>
            <a:spLocks noGrp="1" noChangeArrowheads="1"/>
          </p:cNvSpPr>
          <p:nvPr>
            <p:ph idx="1"/>
          </p:nvPr>
        </p:nvSpPr>
        <p:spPr bwMode="auto">
          <a:xfrm>
            <a:off x="457200" y="2739803"/>
            <a:ext cx="792717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Assign a variable different types</a:t>
            </a:r>
          </a:p>
          <a:p>
            <a:pPr defTabSz="914400"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Check types using </a:t>
            </a:r>
            <a:r>
              <a:rPr kumimoji="0" lang="en-US" altLang="en-US" sz="2800" b="0" i="0" u="none" strike="noStrike" cap="none" normalizeH="0" baseline="0" dirty="0">
                <a:ln>
                  <a:noFill/>
                </a:ln>
                <a:solidFill>
                  <a:schemeClr val="tx1"/>
                </a:solidFill>
                <a:effectLst/>
                <a:latin typeface="Arial Unicode MS"/>
              </a:rPr>
              <a:t>type()</a:t>
            </a:r>
            <a:endParaRPr kumimoji="0" lang="en-US" altLang="en-US" sz="2800" b="0" i="0" u="none" strike="noStrike" cap="none" normalizeH="0" baseline="0" dirty="0">
              <a:ln>
                <a:noFill/>
              </a:ln>
              <a:solidFill>
                <a:schemeClr val="tx1"/>
              </a:solidFill>
              <a:effectLst/>
            </a:endParaRPr>
          </a:p>
          <a:p>
            <a:pPr defTabSz="914400"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Experiment with mutable vs immutable objects</a:t>
            </a:r>
          </a:p>
        </p:txBody>
      </p:sp>
    </p:spTree>
    <p:extLst>
      <p:ext uri="{BB962C8B-B14F-4D97-AF65-F5344CB8AC3E}">
        <p14:creationId xmlns:p14="http://schemas.microsoft.com/office/powerpoint/2010/main" val="345120580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28AEC-3BAF-B672-A60B-0B064A596C49}"/>
              </a:ext>
            </a:extLst>
          </p:cNvPr>
          <p:cNvSpPr>
            <a:spLocks noGrp="1"/>
          </p:cNvSpPr>
          <p:nvPr>
            <p:ph type="title"/>
          </p:nvPr>
        </p:nvSpPr>
        <p:spPr/>
        <p:txBody>
          <a:bodyPr/>
          <a:lstStyle/>
          <a:p>
            <a:r>
              <a:rPr lang="en-SG" dirty="0"/>
              <a:t>Exercise 1: Assign Different Types</a:t>
            </a:r>
          </a:p>
        </p:txBody>
      </p:sp>
      <p:sp>
        <p:nvSpPr>
          <p:cNvPr id="3" name="Content Placeholder 2">
            <a:extLst>
              <a:ext uri="{FF2B5EF4-FFF2-40B4-BE49-F238E27FC236}">
                <a16:creationId xmlns:a16="http://schemas.microsoft.com/office/drawing/2014/main" id="{154F78CD-4D3B-150A-7A0C-3FC73DE0B8AF}"/>
              </a:ext>
            </a:extLst>
          </p:cNvPr>
          <p:cNvSpPr>
            <a:spLocks noGrp="1"/>
          </p:cNvSpPr>
          <p:nvPr>
            <p:ph idx="1"/>
          </p:nvPr>
        </p:nvSpPr>
        <p:spPr>
          <a:xfrm>
            <a:off x="457200" y="1600200"/>
            <a:ext cx="4267200" cy="4525963"/>
          </a:xfrm>
        </p:spPr>
        <p:txBody>
          <a:bodyPr>
            <a:normAutofit fontScale="92500" lnSpcReduction="20000"/>
          </a:bodyPr>
          <a:lstStyle/>
          <a:p>
            <a:pPr marL="0" indent="0">
              <a:buNone/>
            </a:pPr>
            <a:r>
              <a:rPr lang="nb-NO" sz="2800" dirty="0"/>
              <a:t>x = 10</a:t>
            </a:r>
          </a:p>
          <a:p>
            <a:pPr marL="0" indent="0">
              <a:buNone/>
            </a:pPr>
            <a:r>
              <a:rPr lang="nb-NO" sz="2800" dirty="0"/>
              <a:t>print(x, type(x))</a:t>
            </a:r>
          </a:p>
          <a:p>
            <a:pPr marL="0" indent="0">
              <a:buNone/>
            </a:pPr>
            <a:endParaRPr lang="nb-NO" sz="2800" dirty="0"/>
          </a:p>
          <a:p>
            <a:pPr marL="0" indent="0">
              <a:buNone/>
            </a:pPr>
            <a:r>
              <a:rPr lang="nb-NO" sz="2800" dirty="0"/>
              <a:t>x = 3.14</a:t>
            </a:r>
          </a:p>
          <a:p>
            <a:pPr marL="0" indent="0">
              <a:buNone/>
            </a:pPr>
            <a:r>
              <a:rPr lang="nb-NO" sz="2800" dirty="0"/>
              <a:t>print(x, type(x))</a:t>
            </a:r>
          </a:p>
          <a:p>
            <a:pPr marL="0" indent="0">
              <a:buNone/>
            </a:pPr>
            <a:endParaRPr lang="nb-NO" sz="2800" dirty="0"/>
          </a:p>
          <a:p>
            <a:pPr marL="0" indent="0">
              <a:buNone/>
            </a:pPr>
            <a:r>
              <a:rPr lang="nb-NO" sz="2800" dirty="0"/>
              <a:t>x = "hello"</a:t>
            </a:r>
          </a:p>
          <a:p>
            <a:pPr marL="0" indent="0">
              <a:buNone/>
            </a:pPr>
            <a:r>
              <a:rPr lang="nb-NO" sz="2800" dirty="0"/>
              <a:t>print(x, type(x))</a:t>
            </a:r>
          </a:p>
          <a:p>
            <a:pPr marL="0" indent="0">
              <a:buNone/>
            </a:pPr>
            <a:endParaRPr lang="nb-NO" sz="2800" dirty="0"/>
          </a:p>
          <a:p>
            <a:pPr marL="0" indent="0">
              <a:buNone/>
            </a:pPr>
            <a:r>
              <a:rPr lang="nb-NO" sz="2800" dirty="0"/>
              <a:t>x = True</a:t>
            </a:r>
          </a:p>
          <a:p>
            <a:pPr marL="0" indent="0">
              <a:buNone/>
            </a:pPr>
            <a:r>
              <a:rPr lang="nb-NO" sz="2800" dirty="0"/>
              <a:t>print(x, type(x))</a:t>
            </a:r>
          </a:p>
          <a:p>
            <a:pPr marL="0" indent="0">
              <a:buNone/>
            </a:pPr>
            <a:endParaRPr lang="en-SG" sz="2800" dirty="0"/>
          </a:p>
        </p:txBody>
      </p:sp>
      <p:sp>
        <p:nvSpPr>
          <p:cNvPr id="4" name="Content Placeholder 2">
            <a:extLst>
              <a:ext uri="{FF2B5EF4-FFF2-40B4-BE49-F238E27FC236}">
                <a16:creationId xmlns:a16="http://schemas.microsoft.com/office/drawing/2014/main" id="{24FF7DB8-69DD-7B6F-517E-7CDB8DEE42D6}"/>
              </a:ext>
            </a:extLst>
          </p:cNvPr>
          <p:cNvSpPr txBox="1">
            <a:spLocks/>
          </p:cNvSpPr>
          <p:nvPr/>
        </p:nvSpPr>
        <p:spPr>
          <a:xfrm>
            <a:off x="6553200" y="1600199"/>
            <a:ext cx="42672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Same variable name holds different types</a:t>
            </a:r>
          </a:p>
          <a:p>
            <a:pPr marL="0" indent="0">
              <a:buNone/>
            </a:pPr>
            <a:endParaRPr lang="en-US" dirty="0"/>
          </a:p>
          <a:p>
            <a:r>
              <a:rPr lang="en-US" dirty="0"/>
              <a:t>No type declaration is required in Python</a:t>
            </a:r>
            <a:endParaRPr lang="en-SG" dirty="0"/>
          </a:p>
        </p:txBody>
      </p:sp>
    </p:spTree>
    <p:extLst>
      <p:ext uri="{BB962C8B-B14F-4D97-AF65-F5344CB8AC3E}">
        <p14:creationId xmlns:p14="http://schemas.microsoft.com/office/powerpoint/2010/main" val="19781598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BFD75-7789-0547-72CB-F14172542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743AE-E5EE-4CB4-BF1F-355C30013132}"/>
              </a:ext>
            </a:extLst>
          </p:cNvPr>
          <p:cNvSpPr>
            <a:spLocks noGrp="1"/>
          </p:cNvSpPr>
          <p:nvPr>
            <p:ph type="title"/>
          </p:nvPr>
        </p:nvSpPr>
        <p:spPr/>
        <p:txBody>
          <a:bodyPr>
            <a:normAutofit fontScale="90000"/>
          </a:bodyPr>
          <a:lstStyle/>
          <a:p>
            <a:r>
              <a:rPr lang="en-SG" dirty="0"/>
              <a:t>Exercise 2 — Checking Types Explicitly</a:t>
            </a:r>
          </a:p>
        </p:txBody>
      </p:sp>
      <p:sp>
        <p:nvSpPr>
          <p:cNvPr id="3" name="Content Placeholder 2">
            <a:extLst>
              <a:ext uri="{FF2B5EF4-FFF2-40B4-BE49-F238E27FC236}">
                <a16:creationId xmlns:a16="http://schemas.microsoft.com/office/drawing/2014/main" id="{D3386EE9-1178-0E04-B06F-62EB4604D9BF}"/>
              </a:ext>
            </a:extLst>
          </p:cNvPr>
          <p:cNvSpPr>
            <a:spLocks noGrp="1"/>
          </p:cNvSpPr>
          <p:nvPr>
            <p:ph idx="1"/>
          </p:nvPr>
        </p:nvSpPr>
        <p:spPr>
          <a:xfrm>
            <a:off x="457200" y="1600200"/>
            <a:ext cx="54483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2800" dirty="0"/>
              <a:t>value = [1, 2, 3]</a:t>
            </a:r>
          </a:p>
          <a:p>
            <a:pPr marL="0" indent="0">
              <a:buNone/>
            </a:pPr>
            <a:endParaRPr lang="en-US" sz="2800" dirty="0"/>
          </a:p>
          <a:p>
            <a:pPr marL="0" indent="0">
              <a:buNone/>
            </a:pPr>
            <a:r>
              <a:rPr lang="en-US" sz="2800" dirty="0"/>
              <a:t>print(type(value))</a:t>
            </a:r>
          </a:p>
          <a:p>
            <a:pPr marL="0" indent="0">
              <a:buNone/>
            </a:pPr>
            <a:r>
              <a:rPr lang="en-US" sz="2800" dirty="0"/>
              <a:t>print(</a:t>
            </a:r>
            <a:r>
              <a:rPr lang="en-US" sz="2800" dirty="0" err="1"/>
              <a:t>isinstance</a:t>
            </a:r>
            <a:r>
              <a:rPr lang="en-US" sz="2800" dirty="0"/>
              <a:t>(value, list))</a:t>
            </a:r>
          </a:p>
          <a:p>
            <a:pPr marL="0" indent="0">
              <a:buNone/>
            </a:pPr>
            <a:r>
              <a:rPr lang="en-US" sz="2800" dirty="0"/>
              <a:t>print(</a:t>
            </a:r>
            <a:r>
              <a:rPr lang="en-US" sz="2800" dirty="0" err="1"/>
              <a:t>isinstance</a:t>
            </a:r>
            <a:r>
              <a:rPr lang="en-US" sz="2800" dirty="0"/>
              <a:t>(value, tuple))</a:t>
            </a:r>
          </a:p>
        </p:txBody>
      </p:sp>
      <p:sp>
        <p:nvSpPr>
          <p:cNvPr id="4" name="Content Placeholder 2">
            <a:extLst>
              <a:ext uri="{FF2B5EF4-FFF2-40B4-BE49-F238E27FC236}">
                <a16:creationId xmlns:a16="http://schemas.microsoft.com/office/drawing/2014/main" id="{7EE761D7-91F4-6F93-0963-A6887EB180A0}"/>
              </a:ext>
            </a:extLst>
          </p:cNvPr>
          <p:cNvSpPr txBox="1">
            <a:spLocks/>
          </p:cNvSpPr>
          <p:nvPr/>
        </p:nvSpPr>
        <p:spPr>
          <a:xfrm>
            <a:off x="6553200" y="1600199"/>
            <a:ext cx="42672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type() vs </a:t>
            </a:r>
            <a:r>
              <a:rPr lang="en-US" dirty="0" err="1"/>
              <a:t>isinstance</a:t>
            </a:r>
            <a:r>
              <a:rPr lang="en-US" dirty="0"/>
              <a:t>()</a:t>
            </a:r>
          </a:p>
          <a:p>
            <a:endParaRPr lang="en-US" dirty="0"/>
          </a:p>
          <a:p>
            <a:r>
              <a:rPr lang="en-US" dirty="0"/>
              <a:t>When </a:t>
            </a:r>
            <a:r>
              <a:rPr lang="en-US" dirty="0" err="1"/>
              <a:t>isinstance</a:t>
            </a:r>
            <a:r>
              <a:rPr lang="en-US" dirty="0"/>
              <a:t>() is preferred</a:t>
            </a:r>
            <a:endParaRPr lang="en-SG" dirty="0"/>
          </a:p>
        </p:txBody>
      </p:sp>
    </p:spTree>
    <p:extLst>
      <p:ext uri="{BB962C8B-B14F-4D97-AF65-F5344CB8AC3E}">
        <p14:creationId xmlns:p14="http://schemas.microsoft.com/office/powerpoint/2010/main" val="16386231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6C518-E538-07C8-4F92-BE4E32820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61DA8-A744-435F-FB61-1F902C78B881}"/>
              </a:ext>
            </a:extLst>
          </p:cNvPr>
          <p:cNvSpPr>
            <a:spLocks noGrp="1"/>
          </p:cNvSpPr>
          <p:nvPr>
            <p:ph type="title"/>
          </p:nvPr>
        </p:nvSpPr>
        <p:spPr>
          <a:xfrm>
            <a:off x="457200" y="274638"/>
            <a:ext cx="11137900" cy="1143000"/>
          </a:xfrm>
        </p:spPr>
        <p:txBody>
          <a:bodyPr>
            <a:normAutofit fontScale="90000"/>
          </a:bodyPr>
          <a:lstStyle/>
          <a:p>
            <a:r>
              <a:rPr lang="en-SG" dirty="0"/>
              <a:t>Exercise 3 — Immutable Objects (Integers &amp; Strings)</a:t>
            </a:r>
          </a:p>
        </p:txBody>
      </p:sp>
      <p:sp>
        <p:nvSpPr>
          <p:cNvPr id="3" name="Content Placeholder 2">
            <a:extLst>
              <a:ext uri="{FF2B5EF4-FFF2-40B4-BE49-F238E27FC236}">
                <a16:creationId xmlns:a16="http://schemas.microsoft.com/office/drawing/2014/main" id="{4893D2CD-DAF7-A117-54D5-2F05E9D91FA7}"/>
              </a:ext>
            </a:extLst>
          </p:cNvPr>
          <p:cNvSpPr>
            <a:spLocks noGrp="1"/>
          </p:cNvSpPr>
          <p:nvPr>
            <p:ph idx="1"/>
          </p:nvPr>
        </p:nvSpPr>
        <p:spPr>
          <a:xfrm>
            <a:off x="457200" y="1600200"/>
            <a:ext cx="22987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pt-BR" sz="2800" dirty="0"/>
              <a:t>a = 10</a:t>
            </a:r>
          </a:p>
          <a:p>
            <a:pPr marL="0" indent="0">
              <a:buNone/>
            </a:pPr>
            <a:r>
              <a:rPr lang="pt-BR" sz="2800" dirty="0"/>
              <a:t>b = a</a:t>
            </a:r>
          </a:p>
          <a:p>
            <a:pPr marL="0" indent="0">
              <a:buNone/>
            </a:pPr>
            <a:endParaRPr lang="pt-BR" sz="2800" dirty="0"/>
          </a:p>
          <a:p>
            <a:pPr marL="0" indent="0">
              <a:buNone/>
            </a:pPr>
            <a:r>
              <a:rPr lang="pt-BR" sz="2800" dirty="0"/>
              <a:t>a = a + 5</a:t>
            </a:r>
          </a:p>
          <a:p>
            <a:pPr marL="0" indent="0">
              <a:buNone/>
            </a:pPr>
            <a:endParaRPr lang="pt-BR" sz="2800" dirty="0"/>
          </a:p>
          <a:p>
            <a:pPr marL="0" indent="0">
              <a:buNone/>
            </a:pPr>
            <a:r>
              <a:rPr lang="pt-BR" sz="2800" dirty="0"/>
              <a:t>print(a)</a:t>
            </a:r>
          </a:p>
          <a:p>
            <a:pPr marL="0" indent="0">
              <a:buNone/>
            </a:pPr>
            <a:r>
              <a:rPr lang="pt-BR" sz="2800" dirty="0"/>
              <a:t>print(b)</a:t>
            </a:r>
          </a:p>
          <a:p>
            <a:pPr marL="0" indent="0">
              <a:buNone/>
            </a:pPr>
            <a:endParaRPr lang="pt-BR" sz="2800" b="1" dirty="0"/>
          </a:p>
        </p:txBody>
      </p:sp>
      <p:sp>
        <p:nvSpPr>
          <p:cNvPr id="4" name="Content Placeholder 2">
            <a:extLst>
              <a:ext uri="{FF2B5EF4-FFF2-40B4-BE49-F238E27FC236}">
                <a16:creationId xmlns:a16="http://schemas.microsoft.com/office/drawing/2014/main" id="{97CD2D77-283F-0905-6940-AA1776AA0D92}"/>
              </a:ext>
            </a:extLst>
          </p:cNvPr>
          <p:cNvSpPr txBox="1">
            <a:spLocks/>
          </p:cNvSpPr>
          <p:nvPr/>
        </p:nvSpPr>
        <p:spPr>
          <a:xfrm>
            <a:off x="6553199" y="1600199"/>
            <a:ext cx="51784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Observe</a:t>
            </a:r>
            <a:endParaRPr lang="en-US" dirty="0"/>
          </a:p>
          <a:p>
            <a:pPr lvl="1"/>
            <a:r>
              <a:rPr lang="en-US" dirty="0"/>
              <a:t>Original objects are unchanged</a:t>
            </a:r>
          </a:p>
          <a:p>
            <a:pPr lvl="1"/>
            <a:r>
              <a:rPr lang="en-US" dirty="0"/>
              <a:t>New objects are created on reassignment</a:t>
            </a:r>
          </a:p>
        </p:txBody>
      </p:sp>
      <p:sp>
        <p:nvSpPr>
          <p:cNvPr id="7" name="Content Placeholder 2">
            <a:extLst>
              <a:ext uri="{FF2B5EF4-FFF2-40B4-BE49-F238E27FC236}">
                <a16:creationId xmlns:a16="http://schemas.microsoft.com/office/drawing/2014/main" id="{0E0AF157-D84B-6883-D3E2-954C7194F558}"/>
              </a:ext>
            </a:extLst>
          </p:cNvPr>
          <p:cNvSpPr txBox="1">
            <a:spLocks/>
          </p:cNvSpPr>
          <p:nvPr/>
        </p:nvSpPr>
        <p:spPr>
          <a:xfrm>
            <a:off x="3124200" y="1587499"/>
            <a:ext cx="30607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None/>
            </a:pPr>
            <a:r>
              <a:rPr lang="en-US" sz="2800" dirty="0"/>
              <a:t>s1 = "python"</a:t>
            </a:r>
          </a:p>
          <a:p>
            <a:pPr marL="0" indent="0">
              <a:buNone/>
            </a:pPr>
            <a:r>
              <a:rPr lang="en-US" sz="2800" dirty="0"/>
              <a:t>s2 = s1</a:t>
            </a:r>
          </a:p>
          <a:p>
            <a:pPr marL="0" indent="0">
              <a:buNone/>
            </a:pPr>
            <a:endParaRPr lang="en-US" sz="2800" dirty="0"/>
          </a:p>
          <a:p>
            <a:pPr marL="0" indent="0">
              <a:buNone/>
            </a:pPr>
            <a:r>
              <a:rPr lang="en-US" sz="2800" dirty="0"/>
              <a:t>s1 = s1.upper()</a:t>
            </a:r>
          </a:p>
          <a:p>
            <a:pPr marL="0" indent="0">
              <a:buNone/>
            </a:pPr>
            <a:endParaRPr lang="en-US" sz="2800" dirty="0"/>
          </a:p>
          <a:p>
            <a:pPr marL="0" indent="0">
              <a:buNone/>
            </a:pPr>
            <a:r>
              <a:rPr lang="en-US" sz="2800" dirty="0"/>
              <a:t>print(s1)</a:t>
            </a:r>
          </a:p>
          <a:p>
            <a:pPr marL="0" indent="0">
              <a:buNone/>
            </a:pPr>
            <a:r>
              <a:rPr lang="en-US" sz="2800" dirty="0"/>
              <a:t>print(s2)</a:t>
            </a:r>
          </a:p>
        </p:txBody>
      </p:sp>
    </p:spTree>
    <p:extLst>
      <p:ext uri="{BB962C8B-B14F-4D97-AF65-F5344CB8AC3E}">
        <p14:creationId xmlns:p14="http://schemas.microsoft.com/office/powerpoint/2010/main" val="292691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C90AC-780C-DF2F-5A91-A9BAD88F4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C3B6F-9145-62B1-1672-4FAC042D77AD}"/>
              </a:ext>
            </a:extLst>
          </p:cNvPr>
          <p:cNvSpPr>
            <a:spLocks noGrp="1"/>
          </p:cNvSpPr>
          <p:nvPr>
            <p:ph type="title"/>
          </p:nvPr>
        </p:nvSpPr>
        <p:spPr>
          <a:xfrm>
            <a:off x="457200" y="261938"/>
            <a:ext cx="8229600" cy="1143000"/>
          </a:xfrm>
        </p:spPr>
        <p:txBody>
          <a:bodyPr>
            <a:normAutofit fontScale="90000"/>
          </a:bodyPr>
          <a:lstStyle/>
          <a:p>
            <a:r>
              <a:rPr lang="en-SG" dirty="0"/>
              <a:t>Exercise 4 — Mutable Objects (Lists)</a:t>
            </a:r>
          </a:p>
        </p:txBody>
      </p:sp>
      <p:sp>
        <p:nvSpPr>
          <p:cNvPr id="3" name="Content Placeholder 2">
            <a:extLst>
              <a:ext uri="{FF2B5EF4-FFF2-40B4-BE49-F238E27FC236}">
                <a16:creationId xmlns:a16="http://schemas.microsoft.com/office/drawing/2014/main" id="{224F148C-6C48-9C19-178B-8E3BCDED8C37}"/>
              </a:ext>
            </a:extLst>
          </p:cNvPr>
          <p:cNvSpPr>
            <a:spLocks noGrp="1"/>
          </p:cNvSpPr>
          <p:nvPr>
            <p:ph idx="1"/>
          </p:nvPr>
        </p:nvSpPr>
        <p:spPr>
          <a:xfrm>
            <a:off x="457200" y="1600200"/>
            <a:ext cx="36068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2800" dirty="0"/>
              <a:t>list1 = [1, 2, 3]</a:t>
            </a:r>
          </a:p>
          <a:p>
            <a:pPr marL="0" indent="0">
              <a:buNone/>
            </a:pPr>
            <a:r>
              <a:rPr lang="en-US" sz="2800" dirty="0"/>
              <a:t>list2 = list1</a:t>
            </a:r>
          </a:p>
          <a:p>
            <a:pPr marL="0" indent="0">
              <a:buNone/>
            </a:pPr>
            <a:endParaRPr lang="en-US" sz="2800" dirty="0"/>
          </a:p>
          <a:p>
            <a:pPr marL="0" indent="0">
              <a:buNone/>
            </a:pPr>
            <a:r>
              <a:rPr lang="en-US" sz="2800" dirty="0"/>
              <a:t>list1.append(4)</a:t>
            </a:r>
          </a:p>
          <a:p>
            <a:pPr marL="0" indent="0">
              <a:buNone/>
            </a:pPr>
            <a:endParaRPr lang="en-US" sz="2800" dirty="0"/>
          </a:p>
          <a:p>
            <a:pPr marL="0" indent="0">
              <a:buNone/>
            </a:pPr>
            <a:r>
              <a:rPr lang="en-US" sz="2800" dirty="0"/>
              <a:t>print(list1)</a:t>
            </a:r>
          </a:p>
          <a:p>
            <a:pPr marL="0" indent="0">
              <a:buNone/>
            </a:pPr>
            <a:r>
              <a:rPr lang="en-US" sz="2800" dirty="0"/>
              <a:t>print(list2)</a:t>
            </a:r>
          </a:p>
        </p:txBody>
      </p:sp>
      <p:sp>
        <p:nvSpPr>
          <p:cNvPr id="4" name="Content Placeholder 2">
            <a:extLst>
              <a:ext uri="{FF2B5EF4-FFF2-40B4-BE49-F238E27FC236}">
                <a16:creationId xmlns:a16="http://schemas.microsoft.com/office/drawing/2014/main" id="{728F70B7-71AF-5810-A83A-C6132703DE4D}"/>
              </a:ext>
            </a:extLst>
          </p:cNvPr>
          <p:cNvSpPr txBox="1">
            <a:spLocks/>
          </p:cNvSpPr>
          <p:nvPr/>
        </p:nvSpPr>
        <p:spPr>
          <a:xfrm>
            <a:off x="4749800" y="1600199"/>
            <a:ext cx="60706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Observe</a:t>
            </a:r>
            <a:endParaRPr lang="en-US" dirty="0"/>
          </a:p>
          <a:p>
            <a:pPr lvl="1"/>
            <a:r>
              <a:rPr lang="en-US" dirty="0"/>
              <a:t>Both variables reflect the change</a:t>
            </a:r>
          </a:p>
          <a:p>
            <a:pPr lvl="1"/>
            <a:r>
              <a:rPr lang="en-US" dirty="0"/>
              <a:t>They reference the same object</a:t>
            </a:r>
          </a:p>
          <a:p>
            <a:pPr lvl="1"/>
            <a:r>
              <a:rPr lang="en-US" dirty="0"/>
              <a:t>Python variables are </a:t>
            </a:r>
            <a:r>
              <a:rPr lang="en-US" b="1" dirty="0"/>
              <a:t>references</a:t>
            </a:r>
            <a:r>
              <a:rPr lang="en-US" dirty="0"/>
              <a:t>,</a:t>
            </a:r>
            <a:br>
              <a:rPr lang="en-US" dirty="0"/>
            </a:br>
            <a:r>
              <a:rPr lang="en-US" dirty="0"/>
              <a:t>and mutability determines whether changes are shared.</a:t>
            </a:r>
          </a:p>
        </p:txBody>
      </p:sp>
    </p:spTree>
    <p:extLst>
      <p:ext uri="{BB962C8B-B14F-4D97-AF65-F5344CB8AC3E}">
        <p14:creationId xmlns:p14="http://schemas.microsoft.com/office/powerpoint/2010/main" val="159259699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E03B6-7AD6-E602-3393-6E7C1822C7C9}"/>
              </a:ext>
            </a:extLst>
          </p:cNvPr>
          <p:cNvSpPr>
            <a:spLocks noGrp="1"/>
          </p:cNvSpPr>
          <p:nvPr>
            <p:ph type="title"/>
          </p:nvPr>
        </p:nvSpPr>
        <p:spPr/>
        <p:txBody>
          <a:bodyPr>
            <a:normAutofit fontScale="90000"/>
          </a:bodyPr>
          <a:lstStyle/>
          <a:p>
            <a:r>
              <a:rPr lang="en-SG" dirty="0"/>
              <a:t>Collections – Managing Data at Scale</a:t>
            </a:r>
          </a:p>
        </p:txBody>
      </p:sp>
      <p:sp>
        <p:nvSpPr>
          <p:cNvPr id="3" name="Content Placeholder 2">
            <a:extLst>
              <a:ext uri="{FF2B5EF4-FFF2-40B4-BE49-F238E27FC236}">
                <a16:creationId xmlns:a16="http://schemas.microsoft.com/office/drawing/2014/main" id="{93D6685B-A736-3A28-B574-DDCCC7525D5B}"/>
              </a:ext>
            </a:extLst>
          </p:cNvPr>
          <p:cNvSpPr>
            <a:spLocks noGrp="1"/>
          </p:cNvSpPr>
          <p:nvPr>
            <p:ph idx="1"/>
          </p:nvPr>
        </p:nvSpPr>
        <p:spPr>
          <a:xfrm>
            <a:off x="457200" y="1600200"/>
            <a:ext cx="11214100" cy="4525963"/>
          </a:xfrm>
        </p:spPr>
        <p:txBody>
          <a:bodyPr/>
          <a:lstStyle/>
          <a:p>
            <a:r>
              <a:rPr lang="en-US" dirty="0"/>
              <a:t>Most business logic is </a:t>
            </a:r>
            <a:r>
              <a:rPr lang="en-US" b="1" dirty="0"/>
              <a:t>data manipulation</a:t>
            </a:r>
            <a:endParaRPr lang="en-US" dirty="0"/>
          </a:p>
          <a:p>
            <a:r>
              <a:rPr lang="en-US" dirty="0"/>
              <a:t>Correct collection choice:</a:t>
            </a:r>
          </a:p>
          <a:p>
            <a:pPr lvl="1"/>
            <a:r>
              <a:rPr lang="en-US" dirty="0"/>
              <a:t>simplifies code</a:t>
            </a:r>
          </a:p>
          <a:p>
            <a:pPr lvl="1"/>
            <a:r>
              <a:rPr lang="en-US" dirty="0"/>
              <a:t>improves performance</a:t>
            </a:r>
          </a:p>
          <a:p>
            <a:pPr lvl="1"/>
            <a:r>
              <a:rPr lang="en-US" dirty="0"/>
              <a:t>reduces bugs</a:t>
            </a:r>
          </a:p>
          <a:p>
            <a:pPr marL="0" indent="0">
              <a:buNone/>
            </a:pPr>
            <a:endParaRPr lang="en-US" b="1" dirty="0"/>
          </a:p>
          <a:p>
            <a:pPr marL="0" indent="0">
              <a:buNone/>
            </a:pPr>
            <a:r>
              <a:rPr lang="en-US" b="1" dirty="0"/>
              <a:t>Outcome:</a:t>
            </a:r>
            <a:r>
              <a:rPr lang="en-US" dirty="0"/>
              <a:t> engineers model data correctly and write clearer logic</a:t>
            </a:r>
          </a:p>
          <a:p>
            <a:endParaRPr lang="en-SG" dirty="0"/>
          </a:p>
        </p:txBody>
      </p:sp>
    </p:spTree>
    <p:extLst>
      <p:ext uri="{BB962C8B-B14F-4D97-AF65-F5344CB8AC3E}">
        <p14:creationId xmlns:p14="http://schemas.microsoft.com/office/powerpoint/2010/main" val="270135924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FFD56-4D38-A511-787F-9754A320F653}"/>
              </a:ext>
            </a:extLst>
          </p:cNvPr>
          <p:cNvSpPr>
            <a:spLocks noGrp="1"/>
          </p:cNvSpPr>
          <p:nvPr>
            <p:ph type="title"/>
          </p:nvPr>
        </p:nvSpPr>
        <p:spPr/>
        <p:txBody>
          <a:bodyPr>
            <a:normAutofit/>
          </a:bodyPr>
          <a:lstStyle/>
          <a:p>
            <a:r>
              <a:rPr lang="en-US" dirty="0"/>
              <a:t>The Core Python Collections</a:t>
            </a:r>
            <a:endParaRPr lang="en-SG" dirty="0"/>
          </a:p>
        </p:txBody>
      </p:sp>
      <p:sp>
        <p:nvSpPr>
          <p:cNvPr id="3" name="Content Placeholder 2">
            <a:extLst>
              <a:ext uri="{FF2B5EF4-FFF2-40B4-BE49-F238E27FC236}">
                <a16:creationId xmlns:a16="http://schemas.microsoft.com/office/drawing/2014/main" id="{E80739CB-C872-1FD1-1CA5-9D999F15BD96}"/>
              </a:ext>
            </a:extLst>
          </p:cNvPr>
          <p:cNvSpPr>
            <a:spLocks noGrp="1"/>
          </p:cNvSpPr>
          <p:nvPr>
            <p:ph idx="1"/>
          </p:nvPr>
        </p:nvSpPr>
        <p:spPr>
          <a:xfrm>
            <a:off x="457200" y="1600200"/>
            <a:ext cx="10718800" cy="4525963"/>
          </a:xfrm>
        </p:spPr>
        <p:txBody>
          <a:bodyPr/>
          <a:lstStyle/>
          <a:p>
            <a:r>
              <a:rPr lang="en-US" dirty="0"/>
              <a:t>list</a:t>
            </a:r>
          </a:p>
          <a:p>
            <a:r>
              <a:rPr lang="en-US" dirty="0"/>
              <a:t>tuple</a:t>
            </a:r>
          </a:p>
          <a:p>
            <a:r>
              <a:rPr lang="en-US" dirty="0" err="1"/>
              <a:t>dict</a:t>
            </a:r>
            <a:endParaRPr lang="en-US" dirty="0"/>
          </a:p>
          <a:p>
            <a:r>
              <a:rPr lang="en-US" dirty="0"/>
              <a:t>set</a:t>
            </a:r>
          </a:p>
          <a:p>
            <a:endParaRPr lang="en-US" b="1" dirty="0"/>
          </a:p>
          <a:p>
            <a:pPr marL="0" indent="0">
              <a:buNone/>
            </a:pPr>
            <a:r>
              <a:rPr lang="en-US" b="1" dirty="0"/>
              <a:t>Mental model: </a:t>
            </a:r>
            <a:r>
              <a:rPr lang="en-US" dirty="0"/>
              <a:t>Different collections solve different problems</a:t>
            </a:r>
          </a:p>
          <a:p>
            <a:endParaRPr lang="en-SG" dirty="0"/>
          </a:p>
        </p:txBody>
      </p:sp>
    </p:spTree>
    <p:extLst>
      <p:ext uri="{BB962C8B-B14F-4D97-AF65-F5344CB8AC3E}">
        <p14:creationId xmlns:p14="http://schemas.microsoft.com/office/powerpoint/2010/main" val="14200902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23DA9-61FF-E402-1A36-A825C43C8EB8}"/>
              </a:ext>
            </a:extLst>
          </p:cNvPr>
          <p:cNvSpPr>
            <a:spLocks noGrp="1"/>
          </p:cNvSpPr>
          <p:nvPr>
            <p:ph type="title"/>
          </p:nvPr>
        </p:nvSpPr>
        <p:spPr/>
        <p:txBody>
          <a:bodyPr>
            <a:normAutofit/>
          </a:bodyPr>
          <a:lstStyle/>
          <a:p>
            <a:r>
              <a:rPr lang="en-US" dirty="0"/>
              <a:t>list — Ordered, Mutable</a:t>
            </a:r>
            <a:endParaRPr lang="en-SG" dirty="0"/>
          </a:p>
        </p:txBody>
      </p:sp>
      <p:sp>
        <p:nvSpPr>
          <p:cNvPr id="3" name="Content Placeholder 2">
            <a:extLst>
              <a:ext uri="{FF2B5EF4-FFF2-40B4-BE49-F238E27FC236}">
                <a16:creationId xmlns:a16="http://schemas.microsoft.com/office/drawing/2014/main" id="{CB8B6562-4DFA-530D-E6F4-E8B29D1922B0}"/>
              </a:ext>
            </a:extLst>
          </p:cNvPr>
          <p:cNvSpPr>
            <a:spLocks noGrp="1"/>
          </p:cNvSpPr>
          <p:nvPr>
            <p:ph idx="1"/>
          </p:nvPr>
        </p:nvSpPr>
        <p:spPr>
          <a:xfrm>
            <a:off x="457200" y="2362201"/>
            <a:ext cx="5637212" cy="2882900"/>
          </a:xfrm>
        </p:spPr>
        <p:txBody>
          <a:bodyPr>
            <a:normAutofit/>
          </a:bodyPr>
          <a:lstStyle/>
          <a:p>
            <a:pPr marL="0" indent="0">
              <a:buNone/>
            </a:pPr>
            <a:r>
              <a:rPr lang="en-US" sz="3600" b="1" dirty="0"/>
              <a:t>Use when</a:t>
            </a:r>
            <a:endParaRPr lang="en-US" sz="3600" dirty="0"/>
          </a:p>
          <a:p>
            <a:pPr marL="457200" lvl="1" indent="0">
              <a:buNone/>
            </a:pPr>
            <a:r>
              <a:rPr lang="en-US" sz="3200" dirty="0"/>
              <a:t>Order matters</a:t>
            </a:r>
          </a:p>
          <a:p>
            <a:pPr marL="457200" lvl="1" indent="0">
              <a:buNone/>
            </a:pPr>
            <a:r>
              <a:rPr lang="en-US" sz="3200" dirty="0"/>
              <a:t>Items change over time</a:t>
            </a:r>
          </a:p>
          <a:p>
            <a:pPr marL="457200" lvl="1" indent="0">
              <a:buNone/>
            </a:pPr>
            <a:r>
              <a:rPr lang="en-US" sz="3200" dirty="0"/>
              <a:t>Duplicates are allowed</a:t>
            </a:r>
          </a:p>
          <a:p>
            <a:pPr marL="0" indent="0">
              <a:buNone/>
            </a:pPr>
            <a:endParaRPr lang="en-SG" sz="3600" dirty="0"/>
          </a:p>
        </p:txBody>
      </p:sp>
      <p:sp>
        <p:nvSpPr>
          <p:cNvPr id="4" name="Content Placeholder 2">
            <a:extLst>
              <a:ext uri="{FF2B5EF4-FFF2-40B4-BE49-F238E27FC236}">
                <a16:creationId xmlns:a16="http://schemas.microsoft.com/office/drawing/2014/main" id="{F2DDA9F3-85A8-4284-EB9E-24FE0EB9BFB5}"/>
              </a:ext>
            </a:extLst>
          </p:cNvPr>
          <p:cNvSpPr txBox="1">
            <a:spLocks/>
          </p:cNvSpPr>
          <p:nvPr/>
        </p:nvSpPr>
        <p:spPr>
          <a:xfrm>
            <a:off x="5969000" y="2362200"/>
            <a:ext cx="5537200" cy="28829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3600" b="1" dirty="0"/>
              <a:t>Examples</a:t>
            </a:r>
            <a:endParaRPr lang="en-US" sz="3600" dirty="0"/>
          </a:p>
          <a:p>
            <a:pPr marL="457200" lvl="1" indent="0">
              <a:buNone/>
            </a:pPr>
            <a:r>
              <a:rPr lang="en-US" sz="3200" dirty="0"/>
              <a:t>Records in sequence</a:t>
            </a:r>
          </a:p>
          <a:p>
            <a:pPr marL="457200" lvl="1" indent="0">
              <a:buNone/>
            </a:pPr>
            <a:r>
              <a:rPr lang="en-US" sz="3200" dirty="0"/>
              <a:t>Queues, stacks</a:t>
            </a:r>
          </a:p>
          <a:p>
            <a:pPr marL="457200" lvl="1" indent="0">
              <a:buNone/>
            </a:pPr>
            <a:r>
              <a:rPr lang="en-US" sz="3200" dirty="0"/>
              <a:t>Aggregated results</a:t>
            </a:r>
          </a:p>
          <a:p>
            <a:pPr marL="0" indent="0">
              <a:buNone/>
            </a:pPr>
            <a:endParaRPr lang="en-SG" sz="3600" dirty="0"/>
          </a:p>
        </p:txBody>
      </p:sp>
    </p:spTree>
    <p:extLst>
      <p:ext uri="{BB962C8B-B14F-4D97-AF65-F5344CB8AC3E}">
        <p14:creationId xmlns:p14="http://schemas.microsoft.com/office/powerpoint/2010/main" val="227874879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5BBC-6F63-84CF-E0C2-59369EF25C23}"/>
              </a:ext>
            </a:extLst>
          </p:cNvPr>
          <p:cNvSpPr>
            <a:spLocks noGrp="1"/>
          </p:cNvSpPr>
          <p:nvPr>
            <p:ph type="title"/>
          </p:nvPr>
        </p:nvSpPr>
        <p:spPr/>
        <p:txBody>
          <a:bodyPr>
            <a:normAutofit/>
          </a:bodyPr>
          <a:lstStyle/>
          <a:p>
            <a:r>
              <a:rPr lang="en-US" dirty="0"/>
              <a:t>list Characteristics</a:t>
            </a:r>
            <a:endParaRPr lang="en-SG" dirty="0"/>
          </a:p>
        </p:txBody>
      </p:sp>
      <p:sp>
        <p:nvSpPr>
          <p:cNvPr id="3" name="Content Placeholder 2">
            <a:extLst>
              <a:ext uri="{FF2B5EF4-FFF2-40B4-BE49-F238E27FC236}">
                <a16:creationId xmlns:a16="http://schemas.microsoft.com/office/drawing/2014/main" id="{CF4C7557-396F-9A32-2870-99D199C343D6}"/>
              </a:ext>
            </a:extLst>
          </p:cNvPr>
          <p:cNvSpPr>
            <a:spLocks noGrp="1"/>
          </p:cNvSpPr>
          <p:nvPr>
            <p:ph idx="1"/>
          </p:nvPr>
        </p:nvSpPr>
        <p:spPr/>
        <p:txBody>
          <a:bodyPr/>
          <a:lstStyle/>
          <a:p>
            <a:r>
              <a:rPr lang="en-US" dirty="0"/>
              <a:t>Indexed access</a:t>
            </a:r>
          </a:p>
          <a:p>
            <a:r>
              <a:rPr lang="en-US" dirty="0"/>
              <a:t>Append is cheap</a:t>
            </a:r>
          </a:p>
          <a:p>
            <a:r>
              <a:rPr lang="en-US" dirty="0"/>
              <a:t>Insert/remove in the middle is expensive</a:t>
            </a:r>
          </a:p>
          <a:p>
            <a:pPr marL="0" indent="0">
              <a:buNone/>
            </a:pPr>
            <a:endParaRPr lang="en-US" b="1" dirty="0"/>
          </a:p>
          <a:p>
            <a:pPr marL="0" indent="0">
              <a:buNone/>
            </a:pPr>
            <a:r>
              <a:rPr lang="en-US" b="1" dirty="0"/>
              <a:t>Note:</a:t>
            </a:r>
            <a:r>
              <a:rPr lang="en-US" dirty="0"/>
              <a:t> avoid frequent middle inserts on large lists</a:t>
            </a:r>
          </a:p>
          <a:p>
            <a:endParaRPr lang="en-SG" dirty="0"/>
          </a:p>
        </p:txBody>
      </p:sp>
    </p:spTree>
    <p:extLst>
      <p:ext uri="{BB962C8B-B14F-4D97-AF65-F5344CB8AC3E}">
        <p14:creationId xmlns:p14="http://schemas.microsoft.com/office/powerpoint/2010/main" val="379908743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E8463-2272-E52B-2A37-4FCB5B672BA4}"/>
              </a:ext>
            </a:extLst>
          </p:cNvPr>
          <p:cNvSpPr>
            <a:spLocks noGrp="1"/>
          </p:cNvSpPr>
          <p:nvPr>
            <p:ph type="title"/>
          </p:nvPr>
        </p:nvSpPr>
        <p:spPr/>
        <p:txBody>
          <a:bodyPr/>
          <a:lstStyle/>
          <a:p>
            <a:r>
              <a:rPr lang="en-SG" dirty="0"/>
              <a:t>list – use when order matters</a:t>
            </a:r>
          </a:p>
        </p:txBody>
      </p:sp>
      <p:sp>
        <p:nvSpPr>
          <p:cNvPr id="3" name="Content Placeholder 2">
            <a:extLst>
              <a:ext uri="{FF2B5EF4-FFF2-40B4-BE49-F238E27FC236}">
                <a16:creationId xmlns:a16="http://schemas.microsoft.com/office/drawing/2014/main" id="{8D834E43-E0F2-470F-5F8A-9DA6FE99A322}"/>
              </a:ext>
            </a:extLst>
          </p:cNvPr>
          <p:cNvSpPr>
            <a:spLocks noGrp="1"/>
          </p:cNvSpPr>
          <p:nvPr>
            <p:ph idx="1"/>
          </p:nvPr>
        </p:nvSpPr>
        <p:spPr/>
        <p:txBody>
          <a:bodyPr/>
          <a:lstStyle/>
          <a:p>
            <a:pPr marL="0" indent="0">
              <a:buNone/>
            </a:pPr>
            <a:r>
              <a:rPr lang="en-US" dirty="0"/>
              <a:t>tasks = ["design", "build", "test"]</a:t>
            </a:r>
          </a:p>
          <a:p>
            <a:pPr marL="0" indent="0">
              <a:buNone/>
            </a:pPr>
            <a:r>
              <a:rPr lang="en-US" dirty="0" err="1"/>
              <a:t>tasks.append</a:t>
            </a:r>
            <a:r>
              <a:rPr lang="en-US" dirty="0"/>
              <a:t>("deploy")</a:t>
            </a:r>
          </a:p>
          <a:p>
            <a:pPr marL="0" indent="0">
              <a:buNone/>
            </a:pPr>
            <a:endParaRPr lang="en-US" dirty="0"/>
          </a:p>
          <a:p>
            <a:pPr marL="0" indent="0">
              <a:buNone/>
            </a:pPr>
            <a:r>
              <a:rPr lang="en-US" dirty="0"/>
              <a:t>print(tasks[0])      # design</a:t>
            </a:r>
          </a:p>
          <a:p>
            <a:pPr marL="0" indent="0">
              <a:buNone/>
            </a:pPr>
            <a:r>
              <a:rPr lang="en-US" dirty="0"/>
              <a:t>print(</a:t>
            </a:r>
            <a:r>
              <a:rPr lang="en-US" dirty="0" err="1"/>
              <a:t>len</a:t>
            </a:r>
            <a:r>
              <a:rPr lang="en-US" dirty="0"/>
              <a:t>(tasks))    # 4</a:t>
            </a:r>
          </a:p>
          <a:p>
            <a:pPr marL="0" indent="0">
              <a:buNone/>
            </a:pPr>
            <a:endParaRPr lang="en-SG" dirty="0"/>
          </a:p>
        </p:txBody>
      </p:sp>
    </p:spTree>
    <p:extLst>
      <p:ext uri="{BB962C8B-B14F-4D97-AF65-F5344CB8AC3E}">
        <p14:creationId xmlns:p14="http://schemas.microsoft.com/office/powerpoint/2010/main" val="194481262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9A0F-0965-377B-BE4A-2BEED039C6FB}"/>
              </a:ext>
            </a:extLst>
          </p:cNvPr>
          <p:cNvSpPr>
            <a:spLocks noGrp="1"/>
          </p:cNvSpPr>
          <p:nvPr>
            <p:ph type="title"/>
          </p:nvPr>
        </p:nvSpPr>
        <p:spPr/>
        <p:txBody>
          <a:bodyPr/>
          <a:lstStyle/>
          <a:p>
            <a:r>
              <a:rPr lang="en-SG" dirty="0"/>
              <a:t>List – Connon Pattern</a:t>
            </a:r>
          </a:p>
        </p:txBody>
      </p:sp>
      <p:sp>
        <p:nvSpPr>
          <p:cNvPr id="3" name="Content Placeholder 2">
            <a:extLst>
              <a:ext uri="{FF2B5EF4-FFF2-40B4-BE49-F238E27FC236}">
                <a16:creationId xmlns:a16="http://schemas.microsoft.com/office/drawing/2014/main" id="{053E56F8-B86C-C3C9-5B68-7F9021A5BD9B}"/>
              </a:ext>
            </a:extLst>
          </p:cNvPr>
          <p:cNvSpPr>
            <a:spLocks noGrp="1"/>
          </p:cNvSpPr>
          <p:nvPr>
            <p:ph idx="1"/>
          </p:nvPr>
        </p:nvSpPr>
        <p:spPr/>
        <p:txBody>
          <a:bodyPr/>
          <a:lstStyle/>
          <a:p>
            <a:pPr marL="0" indent="0">
              <a:buNone/>
            </a:pPr>
            <a:r>
              <a:rPr lang="en-US" dirty="0"/>
              <a:t>results = []</a:t>
            </a:r>
          </a:p>
          <a:p>
            <a:pPr marL="0" indent="0">
              <a:buNone/>
            </a:pPr>
            <a:endParaRPr lang="en-US" dirty="0"/>
          </a:p>
          <a:p>
            <a:pPr marL="0" indent="0">
              <a:buNone/>
            </a:pPr>
            <a:r>
              <a:rPr lang="en-US" dirty="0"/>
              <a:t>for value in data:</a:t>
            </a:r>
          </a:p>
          <a:p>
            <a:pPr marL="0" indent="0">
              <a:buNone/>
            </a:pPr>
            <a:r>
              <a:rPr lang="en-US" dirty="0"/>
              <a:t>    if value &gt; 0:</a:t>
            </a:r>
          </a:p>
          <a:p>
            <a:pPr marL="0" indent="0">
              <a:buNone/>
            </a:pPr>
            <a:r>
              <a:rPr lang="en-US" dirty="0"/>
              <a:t>        </a:t>
            </a:r>
            <a:r>
              <a:rPr lang="en-US" dirty="0" err="1"/>
              <a:t>results.append</a:t>
            </a:r>
            <a:r>
              <a:rPr lang="en-US" dirty="0"/>
              <a:t>(value)</a:t>
            </a:r>
          </a:p>
          <a:p>
            <a:pPr marL="0" indent="0">
              <a:buNone/>
            </a:pPr>
            <a:endParaRPr lang="en-SG" dirty="0"/>
          </a:p>
        </p:txBody>
      </p:sp>
    </p:spTree>
    <p:extLst>
      <p:ext uri="{BB962C8B-B14F-4D97-AF65-F5344CB8AC3E}">
        <p14:creationId xmlns:p14="http://schemas.microsoft.com/office/powerpoint/2010/main" val="39828915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EF76C-E2A3-FA99-8550-EF7A82A66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EB19A-2103-027A-672F-DD4C363E92EC}"/>
              </a:ext>
            </a:extLst>
          </p:cNvPr>
          <p:cNvSpPr>
            <a:spLocks noGrp="1"/>
          </p:cNvSpPr>
          <p:nvPr>
            <p:ph type="title"/>
          </p:nvPr>
        </p:nvSpPr>
        <p:spPr/>
        <p:txBody>
          <a:bodyPr>
            <a:normAutofit/>
          </a:bodyPr>
          <a:lstStyle/>
          <a:p>
            <a:r>
              <a:rPr lang="en-US" dirty="0"/>
              <a:t>tuple — Ordered, Immutable</a:t>
            </a:r>
          </a:p>
        </p:txBody>
      </p:sp>
      <p:sp>
        <p:nvSpPr>
          <p:cNvPr id="3" name="Content Placeholder 2">
            <a:extLst>
              <a:ext uri="{FF2B5EF4-FFF2-40B4-BE49-F238E27FC236}">
                <a16:creationId xmlns:a16="http://schemas.microsoft.com/office/drawing/2014/main" id="{26939D1B-D95A-4774-4C10-D77B87A07604}"/>
              </a:ext>
            </a:extLst>
          </p:cNvPr>
          <p:cNvSpPr>
            <a:spLocks noGrp="1"/>
          </p:cNvSpPr>
          <p:nvPr>
            <p:ph idx="1"/>
          </p:nvPr>
        </p:nvSpPr>
        <p:spPr>
          <a:xfrm>
            <a:off x="457200" y="2362201"/>
            <a:ext cx="5637212" cy="2882900"/>
          </a:xfrm>
        </p:spPr>
        <p:txBody>
          <a:bodyPr>
            <a:normAutofit/>
          </a:bodyPr>
          <a:lstStyle/>
          <a:p>
            <a:pPr marL="0" indent="0">
              <a:buNone/>
            </a:pPr>
            <a:r>
              <a:rPr lang="en-US" sz="3600" b="1" dirty="0"/>
              <a:t>Use when</a:t>
            </a:r>
            <a:endParaRPr lang="en-US" sz="3600" dirty="0"/>
          </a:p>
          <a:p>
            <a:r>
              <a:rPr lang="en-US" sz="3600" dirty="0"/>
              <a:t>Structure matters</a:t>
            </a:r>
          </a:p>
          <a:p>
            <a:r>
              <a:rPr lang="en-US" sz="3600" dirty="0"/>
              <a:t>Data should not change</a:t>
            </a:r>
          </a:p>
          <a:p>
            <a:r>
              <a:rPr lang="en-US" sz="3600" dirty="0"/>
              <a:t>Values belong together</a:t>
            </a:r>
          </a:p>
          <a:p>
            <a:endParaRPr lang="en-US" sz="3600" dirty="0"/>
          </a:p>
        </p:txBody>
      </p:sp>
      <p:sp>
        <p:nvSpPr>
          <p:cNvPr id="4" name="Content Placeholder 2">
            <a:extLst>
              <a:ext uri="{FF2B5EF4-FFF2-40B4-BE49-F238E27FC236}">
                <a16:creationId xmlns:a16="http://schemas.microsoft.com/office/drawing/2014/main" id="{DA795570-A017-FF89-A9AA-C85046D5C9C8}"/>
              </a:ext>
            </a:extLst>
          </p:cNvPr>
          <p:cNvSpPr txBox="1">
            <a:spLocks/>
          </p:cNvSpPr>
          <p:nvPr/>
        </p:nvSpPr>
        <p:spPr>
          <a:xfrm>
            <a:off x="5969000" y="2362200"/>
            <a:ext cx="5537200" cy="28829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3600" b="1" dirty="0"/>
              <a:t>Examples</a:t>
            </a:r>
            <a:endParaRPr lang="en-US" sz="3600" dirty="0"/>
          </a:p>
          <a:p>
            <a:r>
              <a:rPr lang="en-US" sz="3600" dirty="0"/>
              <a:t>Coordinates</a:t>
            </a:r>
          </a:p>
          <a:p>
            <a:r>
              <a:rPr lang="en-US" sz="3600" dirty="0"/>
              <a:t>Function returns</a:t>
            </a:r>
          </a:p>
          <a:p>
            <a:r>
              <a:rPr lang="en-US" sz="3600" dirty="0"/>
              <a:t>Fixed records</a:t>
            </a:r>
          </a:p>
        </p:txBody>
      </p:sp>
    </p:spTree>
    <p:extLst>
      <p:ext uri="{BB962C8B-B14F-4D97-AF65-F5344CB8AC3E}">
        <p14:creationId xmlns:p14="http://schemas.microsoft.com/office/powerpoint/2010/main" val="35115126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372C5-929C-E679-A97F-2AFC1D035CA7}"/>
              </a:ext>
            </a:extLst>
          </p:cNvPr>
          <p:cNvSpPr>
            <a:spLocks noGrp="1"/>
          </p:cNvSpPr>
          <p:nvPr>
            <p:ph type="title"/>
          </p:nvPr>
        </p:nvSpPr>
        <p:spPr/>
        <p:txBody>
          <a:bodyPr>
            <a:normAutofit/>
          </a:bodyPr>
          <a:lstStyle/>
          <a:p>
            <a:r>
              <a:rPr lang="en-US" dirty="0"/>
              <a:t>Why tuple Exists</a:t>
            </a:r>
            <a:endParaRPr lang="en-SG" dirty="0"/>
          </a:p>
        </p:txBody>
      </p:sp>
      <p:sp>
        <p:nvSpPr>
          <p:cNvPr id="3" name="Content Placeholder 2">
            <a:extLst>
              <a:ext uri="{FF2B5EF4-FFF2-40B4-BE49-F238E27FC236}">
                <a16:creationId xmlns:a16="http://schemas.microsoft.com/office/drawing/2014/main" id="{CD4C6215-47A2-E8CE-B732-6A6D397428EB}"/>
              </a:ext>
            </a:extLst>
          </p:cNvPr>
          <p:cNvSpPr>
            <a:spLocks noGrp="1"/>
          </p:cNvSpPr>
          <p:nvPr>
            <p:ph idx="1"/>
          </p:nvPr>
        </p:nvSpPr>
        <p:spPr/>
        <p:txBody>
          <a:bodyPr/>
          <a:lstStyle/>
          <a:p>
            <a:r>
              <a:rPr lang="en-US" dirty="0"/>
              <a:t>Prevents accidental mutation</a:t>
            </a:r>
          </a:p>
          <a:p>
            <a:r>
              <a:rPr lang="en-US" dirty="0" err="1"/>
              <a:t>Hashable</a:t>
            </a:r>
            <a:r>
              <a:rPr lang="en-US" dirty="0"/>
              <a:t> (can be </a:t>
            </a:r>
            <a:r>
              <a:rPr lang="en-US" dirty="0" err="1"/>
              <a:t>dict</a:t>
            </a:r>
            <a:r>
              <a:rPr lang="en-US" dirty="0"/>
              <a:t> keys)</a:t>
            </a:r>
          </a:p>
          <a:p>
            <a:r>
              <a:rPr lang="en-US" dirty="0"/>
              <a:t>Communicates intent</a:t>
            </a:r>
          </a:p>
          <a:p>
            <a:endParaRPr lang="en-US" b="1" dirty="0"/>
          </a:p>
          <a:p>
            <a:pPr marL="0" indent="0">
              <a:buNone/>
            </a:pPr>
            <a:r>
              <a:rPr lang="en-US" b="1" dirty="0"/>
              <a:t>Mental model: </a:t>
            </a:r>
            <a:r>
              <a:rPr lang="en-US" dirty="0"/>
              <a:t>tuple = fixed structure</a:t>
            </a:r>
          </a:p>
          <a:p>
            <a:endParaRPr lang="en-SG" dirty="0"/>
          </a:p>
        </p:txBody>
      </p:sp>
    </p:spTree>
    <p:extLst>
      <p:ext uri="{BB962C8B-B14F-4D97-AF65-F5344CB8AC3E}">
        <p14:creationId xmlns:p14="http://schemas.microsoft.com/office/powerpoint/2010/main" val="92255857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1404-0B23-A195-389D-85236904750B}"/>
              </a:ext>
            </a:extLst>
          </p:cNvPr>
          <p:cNvSpPr>
            <a:spLocks noGrp="1"/>
          </p:cNvSpPr>
          <p:nvPr>
            <p:ph type="title"/>
          </p:nvPr>
        </p:nvSpPr>
        <p:spPr/>
        <p:txBody>
          <a:bodyPr/>
          <a:lstStyle/>
          <a:p>
            <a:r>
              <a:rPr lang="en-SG" dirty="0"/>
              <a:t>Tuple – used for fixed structure</a:t>
            </a:r>
          </a:p>
        </p:txBody>
      </p:sp>
      <p:sp>
        <p:nvSpPr>
          <p:cNvPr id="3" name="Content Placeholder 2">
            <a:extLst>
              <a:ext uri="{FF2B5EF4-FFF2-40B4-BE49-F238E27FC236}">
                <a16:creationId xmlns:a16="http://schemas.microsoft.com/office/drawing/2014/main" id="{6FD577A1-4457-72BB-7799-9B861E217F19}"/>
              </a:ext>
            </a:extLst>
          </p:cNvPr>
          <p:cNvSpPr>
            <a:spLocks noGrp="1"/>
          </p:cNvSpPr>
          <p:nvPr>
            <p:ph idx="1"/>
          </p:nvPr>
        </p:nvSpPr>
        <p:spPr/>
        <p:txBody>
          <a:bodyPr/>
          <a:lstStyle/>
          <a:p>
            <a:pPr marL="0" indent="0">
              <a:buNone/>
            </a:pPr>
            <a:r>
              <a:rPr lang="fr-FR" dirty="0"/>
              <a:t>point = (10, 20)</a:t>
            </a:r>
          </a:p>
          <a:p>
            <a:pPr marL="0" indent="0">
              <a:buNone/>
            </a:pPr>
            <a:endParaRPr lang="fr-FR" dirty="0"/>
          </a:p>
          <a:p>
            <a:pPr marL="0" indent="0">
              <a:buNone/>
            </a:pPr>
            <a:r>
              <a:rPr lang="fr-FR" dirty="0"/>
              <a:t>x, y = point</a:t>
            </a:r>
          </a:p>
          <a:p>
            <a:pPr marL="0" indent="0">
              <a:buNone/>
            </a:pPr>
            <a:r>
              <a:rPr lang="fr-FR" dirty="0" err="1"/>
              <a:t>print</a:t>
            </a:r>
            <a:r>
              <a:rPr lang="fr-FR" dirty="0"/>
              <a:t>(x, y)</a:t>
            </a:r>
          </a:p>
          <a:p>
            <a:pPr marL="0" indent="0">
              <a:buNone/>
            </a:pPr>
            <a:endParaRPr lang="en-SG" dirty="0"/>
          </a:p>
        </p:txBody>
      </p:sp>
    </p:spTree>
    <p:extLst>
      <p:ext uri="{BB962C8B-B14F-4D97-AF65-F5344CB8AC3E}">
        <p14:creationId xmlns:p14="http://schemas.microsoft.com/office/powerpoint/2010/main" val="28323768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F89A4-7F55-2CBE-D751-7B4410B9FFC8}"/>
              </a:ext>
            </a:extLst>
          </p:cNvPr>
          <p:cNvSpPr>
            <a:spLocks noGrp="1"/>
          </p:cNvSpPr>
          <p:nvPr>
            <p:ph type="title"/>
          </p:nvPr>
        </p:nvSpPr>
        <p:spPr/>
        <p:txBody>
          <a:bodyPr/>
          <a:lstStyle/>
          <a:p>
            <a:r>
              <a:rPr lang="en-SG" dirty="0"/>
              <a:t>tuple – function returns</a:t>
            </a:r>
          </a:p>
        </p:txBody>
      </p:sp>
      <p:sp>
        <p:nvSpPr>
          <p:cNvPr id="3" name="Content Placeholder 2">
            <a:extLst>
              <a:ext uri="{FF2B5EF4-FFF2-40B4-BE49-F238E27FC236}">
                <a16:creationId xmlns:a16="http://schemas.microsoft.com/office/drawing/2014/main" id="{ECADE829-FF26-650F-6697-4DB0339028F6}"/>
              </a:ext>
            </a:extLst>
          </p:cNvPr>
          <p:cNvSpPr>
            <a:spLocks noGrp="1"/>
          </p:cNvSpPr>
          <p:nvPr>
            <p:ph idx="1"/>
          </p:nvPr>
        </p:nvSpPr>
        <p:spPr/>
        <p:txBody>
          <a:bodyPr/>
          <a:lstStyle/>
          <a:p>
            <a:pPr marL="0" indent="0">
              <a:buNone/>
            </a:pPr>
            <a:r>
              <a:rPr lang="en-US" dirty="0"/>
              <a:t># </a:t>
            </a:r>
            <a:r>
              <a:rPr lang="en-SG" dirty="0"/>
              <a:t>Multiple values, one return</a:t>
            </a:r>
          </a:p>
          <a:p>
            <a:pPr marL="0" indent="0">
              <a:buNone/>
            </a:pPr>
            <a:endParaRPr lang="en-US" dirty="0"/>
          </a:p>
          <a:p>
            <a:pPr marL="0" indent="0">
              <a:buNone/>
            </a:pPr>
            <a:r>
              <a:rPr lang="en-US" dirty="0"/>
              <a:t>def </a:t>
            </a:r>
            <a:r>
              <a:rPr lang="en-US" dirty="0" err="1"/>
              <a:t>get_user</a:t>
            </a:r>
            <a:r>
              <a:rPr lang="en-US" dirty="0"/>
              <a:t>():</a:t>
            </a:r>
          </a:p>
          <a:p>
            <a:pPr marL="0" indent="0">
              <a:buNone/>
            </a:pPr>
            <a:r>
              <a:rPr lang="en-US" dirty="0"/>
              <a:t>    return "</a:t>
            </a:r>
            <a:r>
              <a:rPr lang="en-US" dirty="0" err="1"/>
              <a:t>alice</a:t>
            </a:r>
            <a:r>
              <a:rPr lang="en-US" dirty="0"/>
              <a:t>", "admin"</a:t>
            </a:r>
          </a:p>
          <a:p>
            <a:pPr marL="0" indent="0">
              <a:buNone/>
            </a:pPr>
            <a:endParaRPr lang="en-US" dirty="0"/>
          </a:p>
          <a:p>
            <a:pPr marL="0" indent="0">
              <a:buNone/>
            </a:pPr>
            <a:r>
              <a:rPr lang="en-US" dirty="0"/>
              <a:t>name, role = </a:t>
            </a:r>
            <a:r>
              <a:rPr lang="en-US" dirty="0" err="1"/>
              <a:t>get_user</a:t>
            </a:r>
            <a:r>
              <a:rPr lang="en-US" dirty="0"/>
              <a:t>()</a:t>
            </a:r>
          </a:p>
          <a:p>
            <a:pPr marL="0" indent="0">
              <a:buNone/>
            </a:pPr>
            <a:endParaRPr lang="en-SG" dirty="0"/>
          </a:p>
        </p:txBody>
      </p:sp>
    </p:spTree>
    <p:extLst>
      <p:ext uri="{BB962C8B-B14F-4D97-AF65-F5344CB8AC3E}">
        <p14:creationId xmlns:p14="http://schemas.microsoft.com/office/powerpoint/2010/main" val="95378737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89A1D-F52F-C9B8-2B8F-51E82ADAE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25927-9671-FC6B-0696-FC28838590DF}"/>
              </a:ext>
            </a:extLst>
          </p:cNvPr>
          <p:cNvSpPr>
            <a:spLocks noGrp="1"/>
          </p:cNvSpPr>
          <p:nvPr>
            <p:ph type="title"/>
          </p:nvPr>
        </p:nvSpPr>
        <p:spPr/>
        <p:txBody>
          <a:bodyPr>
            <a:normAutofit/>
          </a:bodyPr>
          <a:lstStyle/>
          <a:p>
            <a:r>
              <a:rPr lang="en-US" b="1" dirty="0" err="1"/>
              <a:t>dict</a:t>
            </a:r>
            <a:r>
              <a:rPr lang="en-US" b="1" dirty="0"/>
              <a:t> — Key → Value Mapping</a:t>
            </a:r>
          </a:p>
        </p:txBody>
      </p:sp>
      <p:sp>
        <p:nvSpPr>
          <p:cNvPr id="3" name="Content Placeholder 2">
            <a:extLst>
              <a:ext uri="{FF2B5EF4-FFF2-40B4-BE49-F238E27FC236}">
                <a16:creationId xmlns:a16="http://schemas.microsoft.com/office/drawing/2014/main" id="{4B17D377-1683-70D2-5092-DB10EDF9F4C2}"/>
              </a:ext>
            </a:extLst>
          </p:cNvPr>
          <p:cNvSpPr>
            <a:spLocks noGrp="1"/>
          </p:cNvSpPr>
          <p:nvPr>
            <p:ph idx="1"/>
          </p:nvPr>
        </p:nvSpPr>
        <p:spPr>
          <a:xfrm>
            <a:off x="457200" y="2362201"/>
            <a:ext cx="5637212" cy="2882900"/>
          </a:xfrm>
        </p:spPr>
        <p:txBody>
          <a:bodyPr>
            <a:normAutofit/>
          </a:bodyPr>
          <a:lstStyle/>
          <a:p>
            <a:pPr marL="0" indent="0">
              <a:buNone/>
            </a:pPr>
            <a:r>
              <a:rPr lang="en-US" sz="3600" b="1" dirty="0"/>
              <a:t>Use when</a:t>
            </a:r>
            <a:endParaRPr lang="en-US" sz="3600" dirty="0"/>
          </a:p>
          <a:p>
            <a:r>
              <a:rPr lang="en-US" sz="3600" dirty="0"/>
              <a:t>You need fast lookup</a:t>
            </a:r>
          </a:p>
          <a:p>
            <a:r>
              <a:rPr lang="en-US" sz="3600" dirty="0"/>
              <a:t>Data is identified by keys</a:t>
            </a:r>
          </a:p>
          <a:p>
            <a:r>
              <a:rPr lang="en-US" sz="3600" dirty="0"/>
              <a:t>Relationships matter</a:t>
            </a:r>
          </a:p>
        </p:txBody>
      </p:sp>
      <p:sp>
        <p:nvSpPr>
          <p:cNvPr id="4" name="Content Placeholder 2">
            <a:extLst>
              <a:ext uri="{FF2B5EF4-FFF2-40B4-BE49-F238E27FC236}">
                <a16:creationId xmlns:a16="http://schemas.microsoft.com/office/drawing/2014/main" id="{57F256C4-A388-E72C-1BF0-20600B1574E4}"/>
              </a:ext>
            </a:extLst>
          </p:cNvPr>
          <p:cNvSpPr txBox="1">
            <a:spLocks/>
          </p:cNvSpPr>
          <p:nvPr/>
        </p:nvSpPr>
        <p:spPr>
          <a:xfrm>
            <a:off x="5969000" y="2362200"/>
            <a:ext cx="5537200" cy="28829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3600" b="1" dirty="0"/>
              <a:t>Examples</a:t>
            </a:r>
            <a:endParaRPr lang="en-US" sz="3600" dirty="0"/>
          </a:p>
          <a:p>
            <a:r>
              <a:rPr lang="en-US" sz="3600" dirty="0"/>
              <a:t>Configuration</a:t>
            </a:r>
          </a:p>
          <a:p>
            <a:r>
              <a:rPr lang="en-US" sz="3600" dirty="0"/>
              <a:t>Caches</a:t>
            </a:r>
          </a:p>
          <a:p>
            <a:r>
              <a:rPr lang="en-US" sz="3600" dirty="0"/>
              <a:t>Object lookup tables</a:t>
            </a:r>
          </a:p>
        </p:txBody>
      </p:sp>
    </p:spTree>
    <p:extLst>
      <p:ext uri="{BB962C8B-B14F-4D97-AF65-F5344CB8AC3E}">
        <p14:creationId xmlns:p14="http://schemas.microsoft.com/office/powerpoint/2010/main" val="165838477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1793B-C5C6-A260-EA58-8DE09D4040C5}"/>
              </a:ext>
            </a:extLst>
          </p:cNvPr>
          <p:cNvSpPr>
            <a:spLocks noGrp="1"/>
          </p:cNvSpPr>
          <p:nvPr>
            <p:ph type="title"/>
          </p:nvPr>
        </p:nvSpPr>
        <p:spPr/>
        <p:txBody>
          <a:bodyPr>
            <a:normAutofit/>
          </a:bodyPr>
          <a:lstStyle/>
          <a:p>
            <a:r>
              <a:rPr lang="en-US" dirty="0" err="1"/>
              <a:t>dict</a:t>
            </a:r>
            <a:r>
              <a:rPr lang="en-US" dirty="0"/>
              <a:t> Characteristics</a:t>
            </a:r>
            <a:endParaRPr lang="en-SG" dirty="0"/>
          </a:p>
        </p:txBody>
      </p:sp>
      <p:sp>
        <p:nvSpPr>
          <p:cNvPr id="3" name="Content Placeholder 2">
            <a:extLst>
              <a:ext uri="{FF2B5EF4-FFF2-40B4-BE49-F238E27FC236}">
                <a16:creationId xmlns:a16="http://schemas.microsoft.com/office/drawing/2014/main" id="{DBF6C38F-5810-AEF9-9695-8702B5049A9A}"/>
              </a:ext>
            </a:extLst>
          </p:cNvPr>
          <p:cNvSpPr>
            <a:spLocks noGrp="1"/>
          </p:cNvSpPr>
          <p:nvPr>
            <p:ph idx="1"/>
          </p:nvPr>
        </p:nvSpPr>
        <p:spPr/>
        <p:txBody>
          <a:bodyPr/>
          <a:lstStyle/>
          <a:p>
            <a:r>
              <a:rPr lang="en-US" dirty="0"/>
              <a:t>Keys must be unique and </a:t>
            </a:r>
            <a:r>
              <a:rPr lang="en-US" dirty="0" err="1"/>
              <a:t>hashable</a:t>
            </a:r>
            <a:endParaRPr lang="en-US" dirty="0"/>
          </a:p>
          <a:p>
            <a:r>
              <a:rPr lang="en-US" dirty="0"/>
              <a:t>Lookup is fast</a:t>
            </a:r>
          </a:p>
          <a:p>
            <a:r>
              <a:rPr lang="en-US" dirty="0"/>
              <a:t>Order preserved (Python 3.7+)</a:t>
            </a:r>
          </a:p>
          <a:p>
            <a:pPr marL="0" indent="0">
              <a:buNone/>
            </a:pPr>
            <a:endParaRPr lang="en-US" b="1" dirty="0"/>
          </a:p>
          <a:p>
            <a:pPr marL="0" indent="0">
              <a:buNone/>
            </a:pPr>
            <a:r>
              <a:rPr lang="en-US" b="1" dirty="0"/>
              <a:t>Enterprise pattern:</a:t>
            </a:r>
            <a:r>
              <a:rPr lang="en-US" dirty="0"/>
              <a:t> model entities by ID</a:t>
            </a:r>
          </a:p>
          <a:p>
            <a:endParaRPr lang="en-SG" dirty="0"/>
          </a:p>
        </p:txBody>
      </p:sp>
    </p:spTree>
    <p:extLst>
      <p:ext uri="{BB962C8B-B14F-4D97-AF65-F5344CB8AC3E}">
        <p14:creationId xmlns:p14="http://schemas.microsoft.com/office/powerpoint/2010/main" val="369958733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8B691-777E-2030-DF49-321362D6FA28}"/>
              </a:ext>
            </a:extLst>
          </p:cNvPr>
          <p:cNvSpPr>
            <a:spLocks noGrp="1"/>
          </p:cNvSpPr>
          <p:nvPr>
            <p:ph type="title"/>
          </p:nvPr>
        </p:nvSpPr>
        <p:spPr/>
        <p:txBody>
          <a:bodyPr>
            <a:normAutofit/>
          </a:bodyPr>
          <a:lstStyle/>
          <a:p>
            <a:r>
              <a:rPr lang="en-SG" dirty="0" err="1"/>
              <a:t>dict</a:t>
            </a:r>
            <a:r>
              <a:rPr lang="en-SG" dirty="0"/>
              <a:t> — fast lookup by identifier</a:t>
            </a:r>
          </a:p>
        </p:txBody>
      </p:sp>
      <p:sp>
        <p:nvSpPr>
          <p:cNvPr id="3" name="Content Placeholder 2">
            <a:extLst>
              <a:ext uri="{FF2B5EF4-FFF2-40B4-BE49-F238E27FC236}">
                <a16:creationId xmlns:a16="http://schemas.microsoft.com/office/drawing/2014/main" id="{E772FC93-B391-57DE-2878-F5DCDEC18EB2}"/>
              </a:ext>
            </a:extLst>
          </p:cNvPr>
          <p:cNvSpPr>
            <a:spLocks noGrp="1"/>
          </p:cNvSpPr>
          <p:nvPr>
            <p:ph idx="1"/>
          </p:nvPr>
        </p:nvSpPr>
        <p:spPr/>
        <p:txBody>
          <a:bodyPr/>
          <a:lstStyle/>
          <a:p>
            <a:pPr marL="0" indent="0">
              <a:buNone/>
            </a:pPr>
            <a:r>
              <a:rPr lang="en-US" dirty="0"/>
              <a:t>user = {</a:t>
            </a:r>
          </a:p>
          <a:p>
            <a:pPr marL="0" indent="0">
              <a:buNone/>
            </a:pPr>
            <a:r>
              <a:rPr lang="en-US" dirty="0"/>
              <a:t>    "id": 42,</a:t>
            </a:r>
          </a:p>
          <a:p>
            <a:pPr marL="0" indent="0">
              <a:buNone/>
            </a:pPr>
            <a:r>
              <a:rPr lang="en-US" dirty="0"/>
              <a:t>    "name": "Alice",</a:t>
            </a:r>
          </a:p>
          <a:p>
            <a:pPr marL="0" indent="0">
              <a:buNone/>
            </a:pPr>
            <a:r>
              <a:rPr lang="en-US" dirty="0"/>
              <a:t>    "role": "admin"</a:t>
            </a:r>
          </a:p>
          <a:p>
            <a:pPr marL="0" indent="0">
              <a:buNone/>
            </a:pPr>
            <a:r>
              <a:rPr lang="en-US" dirty="0"/>
              <a:t>}</a:t>
            </a:r>
          </a:p>
          <a:p>
            <a:pPr marL="0" indent="0">
              <a:buNone/>
            </a:pPr>
            <a:endParaRPr lang="en-US" dirty="0"/>
          </a:p>
          <a:p>
            <a:pPr marL="0" indent="0">
              <a:buNone/>
            </a:pPr>
            <a:r>
              <a:rPr lang="en-US" dirty="0"/>
              <a:t>print(user["name"])</a:t>
            </a:r>
          </a:p>
          <a:p>
            <a:pPr marL="0" indent="0">
              <a:buNone/>
            </a:pPr>
            <a:endParaRPr lang="en-SG" dirty="0"/>
          </a:p>
        </p:txBody>
      </p:sp>
    </p:spTree>
    <p:extLst>
      <p:ext uri="{BB962C8B-B14F-4D97-AF65-F5344CB8AC3E}">
        <p14:creationId xmlns:p14="http://schemas.microsoft.com/office/powerpoint/2010/main" val="237103070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BEE14-6F78-95DE-0934-5C9297474F80}"/>
              </a:ext>
            </a:extLst>
          </p:cNvPr>
          <p:cNvSpPr>
            <a:spLocks noGrp="1"/>
          </p:cNvSpPr>
          <p:nvPr>
            <p:ph type="title"/>
          </p:nvPr>
        </p:nvSpPr>
        <p:spPr/>
        <p:txBody>
          <a:bodyPr/>
          <a:lstStyle/>
          <a:p>
            <a:r>
              <a:rPr lang="en-SG" dirty="0" err="1"/>
              <a:t>dict</a:t>
            </a:r>
            <a:r>
              <a:rPr lang="en-SG" dirty="0"/>
              <a:t> – safe access</a:t>
            </a:r>
          </a:p>
        </p:txBody>
      </p:sp>
      <p:sp>
        <p:nvSpPr>
          <p:cNvPr id="3" name="Content Placeholder 2">
            <a:extLst>
              <a:ext uri="{FF2B5EF4-FFF2-40B4-BE49-F238E27FC236}">
                <a16:creationId xmlns:a16="http://schemas.microsoft.com/office/drawing/2014/main" id="{5EADFA6A-415C-07E2-9B58-E64867851F7B}"/>
              </a:ext>
            </a:extLst>
          </p:cNvPr>
          <p:cNvSpPr>
            <a:spLocks noGrp="1"/>
          </p:cNvSpPr>
          <p:nvPr>
            <p:ph idx="1"/>
          </p:nvPr>
        </p:nvSpPr>
        <p:spPr/>
        <p:txBody>
          <a:bodyPr/>
          <a:lstStyle/>
          <a:p>
            <a:pPr marL="0" indent="0">
              <a:buNone/>
            </a:pPr>
            <a:r>
              <a:rPr lang="en-US" dirty="0"/>
              <a:t># avoid key error</a:t>
            </a:r>
          </a:p>
          <a:p>
            <a:pPr marL="0" indent="0">
              <a:buNone/>
            </a:pPr>
            <a:r>
              <a:rPr lang="en-US" dirty="0"/>
              <a:t>role = </a:t>
            </a:r>
            <a:r>
              <a:rPr lang="en-US" dirty="0" err="1"/>
              <a:t>user.get</a:t>
            </a:r>
            <a:r>
              <a:rPr lang="en-US" dirty="0"/>
              <a:t>("role", "viewer")</a:t>
            </a:r>
          </a:p>
          <a:p>
            <a:pPr marL="0" indent="0">
              <a:buNone/>
            </a:pPr>
            <a:endParaRPr lang="en-SG" dirty="0"/>
          </a:p>
        </p:txBody>
      </p:sp>
    </p:spTree>
    <p:extLst>
      <p:ext uri="{BB962C8B-B14F-4D97-AF65-F5344CB8AC3E}">
        <p14:creationId xmlns:p14="http://schemas.microsoft.com/office/powerpoint/2010/main" val="17242742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593EA-69A2-5C46-E2B4-D468740F6CE1}"/>
              </a:ext>
            </a:extLst>
          </p:cNvPr>
          <p:cNvSpPr>
            <a:spLocks noGrp="1"/>
          </p:cNvSpPr>
          <p:nvPr>
            <p:ph type="title"/>
          </p:nvPr>
        </p:nvSpPr>
        <p:spPr/>
        <p:txBody>
          <a:bodyPr/>
          <a:lstStyle/>
          <a:p>
            <a:r>
              <a:rPr lang="en-SG" dirty="0" err="1"/>
              <a:t>dict</a:t>
            </a:r>
            <a:r>
              <a:rPr lang="en-SG" dirty="0"/>
              <a:t> – iteration pattern</a:t>
            </a:r>
          </a:p>
        </p:txBody>
      </p:sp>
      <p:sp>
        <p:nvSpPr>
          <p:cNvPr id="3" name="Content Placeholder 2">
            <a:extLst>
              <a:ext uri="{FF2B5EF4-FFF2-40B4-BE49-F238E27FC236}">
                <a16:creationId xmlns:a16="http://schemas.microsoft.com/office/drawing/2014/main" id="{5C189C35-2ED2-190A-BDF1-A29E7EA8CC31}"/>
              </a:ext>
            </a:extLst>
          </p:cNvPr>
          <p:cNvSpPr>
            <a:spLocks noGrp="1"/>
          </p:cNvSpPr>
          <p:nvPr>
            <p:ph idx="1"/>
          </p:nvPr>
        </p:nvSpPr>
        <p:spPr/>
        <p:txBody>
          <a:bodyPr/>
          <a:lstStyle/>
          <a:p>
            <a:pPr marL="0" indent="0">
              <a:buNone/>
            </a:pPr>
            <a:r>
              <a:rPr lang="en-US" dirty="0"/>
              <a:t>for key, value in </a:t>
            </a:r>
            <a:r>
              <a:rPr lang="en-US" dirty="0" err="1"/>
              <a:t>user.items</a:t>
            </a:r>
            <a:r>
              <a:rPr lang="en-US" dirty="0"/>
              <a:t>():</a:t>
            </a:r>
          </a:p>
          <a:p>
            <a:pPr marL="0" indent="0">
              <a:buNone/>
            </a:pPr>
            <a:r>
              <a:rPr lang="en-US" dirty="0"/>
              <a:t>    print(key, value)</a:t>
            </a:r>
          </a:p>
          <a:p>
            <a:pPr marL="0" indent="0">
              <a:buNone/>
            </a:pPr>
            <a:endParaRPr lang="en-SG" dirty="0"/>
          </a:p>
        </p:txBody>
      </p:sp>
    </p:spTree>
    <p:extLst>
      <p:ext uri="{BB962C8B-B14F-4D97-AF65-F5344CB8AC3E}">
        <p14:creationId xmlns:p14="http://schemas.microsoft.com/office/powerpoint/2010/main" val="20131665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9AD36-8700-92C0-6DDA-5B36440A7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91A24-0FD8-E2F5-8C36-5FFDDD888F87}"/>
              </a:ext>
            </a:extLst>
          </p:cNvPr>
          <p:cNvSpPr>
            <a:spLocks noGrp="1"/>
          </p:cNvSpPr>
          <p:nvPr>
            <p:ph type="title"/>
          </p:nvPr>
        </p:nvSpPr>
        <p:spPr/>
        <p:txBody>
          <a:bodyPr>
            <a:normAutofit/>
          </a:bodyPr>
          <a:lstStyle/>
          <a:p>
            <a:r>
              <a:rPr lang="en-SG" b="1" dirty="0"/>
              <a:t>set — Unique, Unordered</a:t>
            </a:r>
          </a:p>
        </p:txBody>
      </p:sp>
      <p:sp>
        <p:nvSpPr>
          <p:cNvPr id="3" name="Content Placeholder 2">
            <a:extLst>
              <a:ext uri="{FF2B5EF4-FFF2-40B4-BE49-F238E27FC236}">
                <a16:creationId xmlns:a16="http://schemas.microsoft.com/office/drawing/2014/main" id="{931BA0E9-7F1E-E24E-6D9A-6B7A28EC03BD}"/>
              </a:ext>
            </a:extLst>
          </p:cNvPr>
          <p:cNvSpPr>
            <a:spLocks noGrp="1"/>
          </p:cNvSpPr>
          <p:nvPr>
            <p:ph idx="1"/>
          </p:nvPr>
        </p:nvSpPr>
        <p:spPr>
          <a:xfrm>
            <a:off x="457200" y="2362201"/>
            <a:ext cx="5637212" cy="2882900"/>
          </a:xfrm>
        </p:spPr>
        <p:txBody>
          <a:bodyPr>
            <a:normAutofit fontScale="92500" lnSpcReduction="10000"/>
          </a:bodyPr>
          <a:lstStyle/>
          <a:p>
            <a:pPr marL="0" indent="0">
              <a:buNone/>
            </a:pPr>
            <a:r>
              <a:rPr lang="en-US" sz="3600" b="1" dirty="0"/>
              <a:t>Use when</a:t>
            </a:r>
            <a:endParaRPr lang="en-US" sz="3600" dirty="0"/>
          </a:p>
          <a:p>
            <a:r>
              <a:rPr lang="en-US" sz="3600" dirty="0"/>
              <a:t>Membership matters</a:t>
            </a:r>
          </a:p>
          <a:p>
            <a:r>
              <a:rPr lang="en-US" sz="3600" dirty="0"/>
              <a:t>Duplicates must be removed</a:t>
            </a:r>
          </a:p>
          <a:p>
            <a:r>
              <a:rPr lang="en-US" sz="3600" dirty="0"/>
              <a:t>You need fast containment checks</a:t>
            </a:r>
          </a:p>
        </p:txBody>
      </p:sp>
      <p:sp>
        <p:nvSpPr>
          <p:cNvPr id="4" name="Content Placeholder 2">
            <a:extLst>
              <a:ext uri="{FF2B5EF4-FFF2-40B4-BE49-F238E27FC236}">
                <a16:creationId xmlns:a16="http://schemas.microsoft.com/office/drawing/2014/main" id="{383E36AC-4B12-01BA-5442-FC1BDFB2C013}"/>
              </a:ext>
            </a:extLst>
          </p:cNvPr>
          <p:cNvSpPr txBox="1">
            <a:spLocks/>
          </p:cNvSpPr>
          <p:nvPr/>
        </p:nvSpPr>
        <p:spPr>
          <a:xfrm>
            <a:off x="5969000" y="2362200"/>
            <a:ext cx="5537200" cy="28829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3600" b="1" dirty="0"/>
              <a:t>Examples</a:t>
            </a:r>
            <a:endParaRPr lang="en-US" sz="3600" dirty="0"/>
          </a:p>
          <a:p>
            <a:r>
              <a:rPr lang="en-US" sz="3600" dirty="0"/>
              <a:t>Permissions</a:t>
            </a:r>
          </a:p>
          <a:p>
            <a:r>
              <a:rPr lang="en-US" sz="3600" dirty="0"/>
              <a:t>Feature flags</a:t>
            </a:r>
          </a:p>
          <a:p>
            <a:r>
              <a:rPr lang="en-US" sz="3600" dirty="0"/>
              <a:t>Deduplication</a:t>
            </a:r>
          </a:p>
        </p:txBody>
      </p:sp>
    </p:spTree>
    <p:extLst>
      <p:ext uri="{BB962C8B-B14F-4D97-AF65-F5344CB8AC3E}">
        <p14:creationId xmlns:p14="http://schemas.microsoft.com/office/powerpoint/2010/main" val="100354974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05F9-4C4E-B672-518F-F464B435AE2A}"/>
              </a:ext>
            </a:extLst>
          </p:cNvPr>
          <p:cNvSpPr>
            <a:spLocks noGrp="1"/>
          </p:cNvSpPr>
          <p:nvPr>
            <p:ph type="title"/>
          </p:nvPr>
        </p:nvSpPr>
        <p:spPr/>
        <p:txBody>
          <a:bodyPr>
            <a:normAutofit/>
          </a:bodyPr>
          <a:lstStyle/>
          <a:p>
            <a:r>
              <a:rPr lang="en-US" dirty="0"/>
              <a:t>set Characteristics</a:t>
            </a:r>
            <a:endParaRPr lang="en-SG" dirty="0"/>
          </a:p>
        </p:txBody>
      </p:sp>
      <p:sp>
        <p:nvSpPr>
          <p:cNvPr id="3" name="Content Placeholder 2">
            <a:extLst>
              <a:ext uri="{FF2B5EF4-FFF2-40B4-BE49-F238E27FC236}">
                <a16:creationId xmlns:a16="http://schemas.microsoft.com/office/drawing/2014/main" id="{9CA6E96B-A05F-3690-1DAE-437D3DBCC0A8}"/>
              </a:ext>
            </a:extLst>
          </p:cNvPr>
          <p:cNvSpPr>
            <a:spLocks noGrp="1"/>
          </p:cNvSpPr>
          <p:nvPr>
            <p:ph idx="1"/>
          </p:nvPr>
        </p:nvSpPr>
        <p:spPr/>
        <p:txBody>
          <a:bodyPr/>
          <a:lstStyle/>
          <a:p>
            <a:r>
              <a:rPr lang="en-US" dirty="0"/>
              <a:t>No duplicates</a:t>
            </a:r>
          </a:p>
          <a:p>
            <a:r>
              <a:rPr lang="en-US" dirty="0"/>
              <a:t>No indexing</a:t>
            </a:r>
          </a:p>
          <a:p>
            <a:r>
              <a:rPr lang="en-US" dirty="0"/>
              <a:t>Very fast in checks</a:t>
            </a:r>
          </a:p>
          <a:p>
            <a:pPr marL="0" indent="0">
              <a:buNone/>
            </a:pPr>
            <a:endParaRPr lang="en-US" b="1" dirty="0"/>
          </a:p>
          <a:p>
            <a:pPr marL="0" indent="0">
              <a:buNone/>
            </a:pPr>
            <a:r>
              <a:rPr lang="en-US" b="1" dirty="0"/>
              <a:t>Mental model: </a:t>
            </a:r>
            <a:r>
              <a:rPr lang="en-US" dirty="0"/>
              <a:t>set answers “is it present?”</a:t>
            </a:r>
          </a:p>
          <a:p>
            <a:endParaRPr lang="en-SG" dirty="0"/>
          </a:p>
        </p:txBody>
      </p:sp>
    </p:spTree>
    <p:extLst>
      <p:ext uri="{BB962C8B-B14F-4D97-AF65-F5344CB8AC3E}">
        <p14:creationId xmlns:p14="http://schemas.microsoft.com/office/powerpoint/2010/main" val="206342943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3A7D8-08EF-3803-536F-F43FD26885BF}"/>
              </a:ext>
            </a:extLst>
          </p:cNvPr>
          <p:cNvSpPr>
            <a:spLocks noGrp="1"/>
          </p:cNvSpPr>
          <p:nvPr>
            <p:ph type="title"/>
          </p:nvPr>
        </p:nvSpPr>
        <p:spPr/>
        <p:txBody>
          <a:bodyPr/>
          <a:lstStyle/>
          <a:p>
            <a:r>
              <a:rPr lang="en-SG" dirty="0"/>
              <a:t>set - deduplication</a:t>
            </a:r>
          </a:p>
        </p:txBody>
      </p:sp>
      <p:sp>
        <p:nvSpPr>
          <p:cNvPr id="3" name="Content Placeholder 2">
            <a:extLst>
              <a:ext uri="{FF2B5EF4-FFF2-40B4-BE49-F238E27FC236}">
                <a16:creationId xmlns:a16="http://schemas.microsoft.com/office/drawing/2014/main" id="{A95022DC-04D8-76BB-F29A-535FCE5E2219}"/>
              </a:ext>
            </a:extLst>
          </p:cNvPr>
          <p:cNvSpPr>
            <a:spLocks noGrp="1"/>
          </p:cNvSpPr>
          <p:nvPr>
            <p:ph idx="1"/>
          </p:nvPr>
        </p:nvSpPr>
        <p:spPr/>
        <p:txBody>
          <a:bodyPr/>
          <a:lstStyle/>
          <a:p>
            <a:pPr marL="0" indent="0">
              <a:buNone/>
            </a:pPr>
            <a:r>
              <a:rPr lang="en-SG" dirty="0"/>
              <a:t>emails = ["a@test.com", "b@test.com", "a@test.com"]</a:t>
            </a:r>
          </a:p>
          <a:p>
            <a:pPr marL="0" indent="0">
              <a:buNone/>
            </a:pPr>
            <a:r>
              <a:rPr lang="en-SG" dirty="0" err="1"/>
              <a:t>unique_emails</a:t>
            </a:r>
            <a:r>
              <a:rPr lang="en-SG" dirty="0"/>
              <a:t> = set(emails)</a:t>
            </a:r>
          </a:p>
          <a:p>
            <a:pPr marL="0" indent="0">
              <a:buNone/>
            </a:pPr>
            <a:endParaRPr lang="en-SG" dirty="0"/>
          </a:p>
          <a:p>
            <a:pPr marL="0" indent="0">
              <a:buNone/>
            </a:pPr>
            <a:r>
              <a:rPr lang="en-SG" dirty="0"/>
              <a:t>print(</a:t>
            </a:r>
            <a:r>
              <a:rPr lang="en-SG" dirty="0" err="1"/>
              <a:t>unique_emails</a:t>
            </a:r>
            <a:r>
              <a:rPr lang="en-SG" dirty="0"/>
              <a:t>)</a:t>
            </a:r>
          </a:p>
          <a:p>
            <a:pPr marL="0" indent="0">
              <a:buNone/>
            </a:pPr>
            <a:endParaRPr lang="en-SG" dirty="0"/>
          </a:p>
        </p:txBody>
      </p:sp>
    </p:spTree>
    <p:extLst>
      <p:ext uri="{BB962C8B-B14F-4D97-AF65-F5344CB8AC3E}">
        <p14:creationId xmlns:p14="http://schemas.microsoft.com/office/powerpoint/2010/main" val="199737281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AA69A-F27A-55D9-3875-7A026ECEC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972E8-025A-2D85-55F4-B614DEA42FAB}"/>
              </a:ext>
            </a:extLst>
          </p:cNvPr>
          <p:cNvSpPr>
            <a:spLocks noGrp="1"/>
          </p:cNvSpPr>
          <p:nvPr>
            <p:ph type="title"/>
          </p:nvPr>
        </p:nvSpPr>
        <p:spPr/>
        <p:txBody>
          <a:bodyPr/>
          <a:lstStyle/>
          <a:p>
            <a:r>
              <a:rPr lang="en-SG" dirty="0"/>
              <a:t>set – fast membership check</a:t>
            </a:r>
          </a:p>
        </p:txBody>
      </p:sp>
      <p:sp>
        <p:nvSpPr>
          <p:cNvPr id="3" name="Content Placeholder 2">
            <a:extLst>
              <a:ext uri="{FF2B5EF4-FFF2-40B4-BE49-F238E27FC236}">
                <a16:creationId xmlns:a16="http://schemas.microsoft.com/office/drawing/2014/main" id="{ACFD96B2-6A11-CE6C-830E-6C9779863525}"/>
              </a:ext>
            </a:extLst>
          </p:cNvPr>
          <p:cNvSpPr>
            <a:spLocks noGrp="1"/>
          </p:cNvSpPr>
          <p:nvPr>
            <p:ph idx="1"/>
          </p:nvPr>
        </p:nvSpPr>
        <p:spPr/>
        <p:txBody>
          <a:bodyPr/>
          <a:lstStyle/>
          <a:p>
            <a:pPr marL="0" indent="0">
              <a:buNone/>
            </a:pPr>
            <a:r>
              <a:rPr lang="en-US" dirty="0"/>
              <a:t>admins = {"</a:t>
            </a:r>
            <a:r>
              <a:rPr lang="en-US" dirty="0" err="1"/>
              <a:t>alice</a:t>
            </a:r>
            <a:r>
              <a:rPr lang="en-US" dirty="0"/>
              <a:t>", "bob"}</a:t>
            </a:r>
          </a:p>
          <a:p>
            <a:pPr marL="0" indent="0">
              <a:buNone/>
            </a:pPr>
            <a:endParaRPr lang="en-US" dirty="0"/>
          </a:p>
          <a:p>
            <a:pPr marL="0" indent="0">
              <a:buNone/>
            </a:pPr>
            <a:r>
              <a:rPr lang="en-US" dirty="0"/>
              <a:t>if "</a:t>
            </a:r>
            <a:r>
              <a:rPr lang="en-US" dirty="0" err="1"/>
              <a:t>alice</a:t>
            </a:r>
            <a:r>
              <a:rPr lang="en-US" dirty="0"/>
              <a:t>" in admins:</a:t>
            </a:r>
          </a:p>
          <a:p>
            <a:pPr marL="0" indent="0">
              <a:buNone/>
            </a:pPr>
            <a:r>
              <a:rPr lang="en-US" dirty="0"/>
              <a:t>    </a:t>
            </a:r>
            <a:r>
              <a:rPr lang="en-US" dirty="0" err="1"/>
              <a:t>grant_access</a:t>
            </a:r>
            <a:r>
              <a:rPr lang="en-US" dirty="0"/>
              <a:t>()</a:t>
            </a:r>
          </a:p>
        </p:txBody>
      </p:sp>
    </p:spTree>
    <p:extLst>
      <p:ext uri="{BB962C8B-B14F-4D97-AF65-F5344CB8AC3E}">
        <p14:creationId xmlns:p14="http://schemas.microsoft.com/office/powerpoint/2010/main" val="351521710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72A62-2208-DF2B-62B9-411CC548EAB3}"/>
              </a:ext>
            </a:extLst>
          </p:cNvPr>
          <p:cNvSpPr>
            <a:spLocks noGrp="1"/>
          </p:cNvSpPr>
          <p:nvPr>
            <p:ph type="title"/>
          </p:nvPr>
        </p:nvSpPr>
        <p:spPr/>
        <p:txBody>
          <a:bodyPr>
            <a:normAutofit/>
          </a:bodyPr>
          <a:lstStyle/>
          <a:p>
            <a:r>
              <a:rPr lang="en-SG" dirty="0"/>
              <a:t>Choosing the Right Collection</a:t>
            </a:r>
          </a:p>
        </p:txBody>
      </p:sp>
      <p:graphicFrame>
        <p:nvGraphicFramePr>
          <p:cNvPr id="4" name="Table 3">
            <a:extLst>
              <a:ext uri="{FF2B5EF4-FFF2-40B4-BE49-F238E27FC236}">
                <a16:creationId xmlns:a16="http://schemas.microsoft.com/office/drawing/2014/main" id="{0674AECC-B828-3B13-37EF-749E3ED13920}"/>
              </a:ext>
            </a:extLst>
          </p:cNvPr>
          <p:cNvGraphicFramePr>
            <a:graphicFrameLocks noGrp="1"/>
          </p:cNvGraphicFramePr>
          <p:nvPr>
            <p:extLst>
              <p:ext uri="{D42A27DB-BD31-4B8C-83A1-F6EECF244321}">
                <p14:modId xmlns:p14="http://schemas.microsoft.com/office/powerpoint/2010/main" val="1348105497"/>
              </p:ext>
            </p:extLst>
          </p:nvPr>
        </p:nvGraphicFramePr>
        <p:xfrm>
          <a:off x="914400" y="1795462"/>
          <a:ext cx="9944100" cy="3810000"/>
        </p:xfrm>
        <a:graphic>
          <a:graphicData uri="http://schemas.openxmlformats.org/drawingml/2006/table">
            <a:tbl>
              <a:tblPr/>
              <a:tblGrid>
                <a:gridCol w="4972050">
                  <a:extLst>
                    <a:ext uri="{9D8B030D-6E8A-4147-A177-3AD203B41FA5}">
                      <a16:colId xmlns:a16="http://schemas.microsoft.com/office/drawing/2014/main" val="3375835313"/>
                    </a:ext>
                  </a:extLst>
                </a:gridCol>
                <a:gridCol w="4972050">
                  <a:extLst>
                    <a:ext uri="{9D8B030D-6E8A-4147-A177-3AD203B41FA5}">
                      <a16:colId xmlns:a16="http://schemas.microsoft.com/office/drawing/2014/main" val="1816517094"/>
                    </a:ext>
                  </a:extLst>
                </a:gridCol>
              </a:tblGrid>
              <a:tr h="0">
                <a:tc>
                  <a:txBody>
                    <a:bodyPr/>
                    <a:lstStyle/>
                    <a:p>
                      <a:pPr>
                        <a:buNone/>
                      </a:pPr>
                      <a:r>
                        <a:rPr lang="en-SG" sz="4400" b="1" dirty="0"/>
                        <a:t>Need</a:t>
                      </a:r>
                    </a:p>
                  </a:txBody>
                  <a:tcPr anchor="ctr">
                    <a:lnL>
                      <a:noFill/>
                    </a:lnL>
                    <a:lnR>
                      <a:noFill/>
                    </a:lnR>
                    <a:lnT>
                      <a:noFill/>
                    </a:lnT>
                    <a:lnB>
                      <a:noFill/>
                    </a:lnB>
                    <a:noFill/>
                  </a:tcPr>
                </a:tc>
                <a:tc>
                  <a:txBody>
                    <a:bodyPr/>
                    <a:lstStyle/>
                    <a:p>
                      <a:pPr>
                        <a:buNone/>
                      </a:pPr>
                      <a:r>
                        <a:rPr lang="en-SG" sz="4400" b="1" dirty="0"/>
                        <a:t>Use</a:t>
                      </a:r>
                    </a:p>
                  </a:txBody>
                  <a:tcPr anchor="ctr">
                    <a:lnL>
                      <a:noFill/>
                    </a:lnL>
                    <a:lnR>
                      <a:noFill/>
                    </a:lnR>
                    <a:lnT>
                      <a:noFill/>
                    </a:lnT>
                    <a:lnB>
                      <a:noFill/>
                    </a:lnB>
                    <a:noFill/>
                  </a:tcPr>
                </a:tc>
                <a:extLst>
                  <a:ext uri="{0D108BD9-81ED-4DB2-BD59-A6C34878D82A}">
                    <a16:rowId xmlns:a16="http://schemas.microsoft.com/office/drawing/2014/main" val="2475493792"/>
                  </a:ext>
                </a:extLst>
              </a:tr>
              <a:tr h="0">
                <a:tc>
                  <a:txBody>
                    <a:bodyPr/>
                    <a:lstStyle/>
                    <a:p>
                      <a:pPr>
                        <a:buNone/>
                      </a:pPr>
                      <a:r>
                        <a:rPr lang="en-SG" sz="4400"/>
                        <a:t>Ordered, mutable</a:t>
                      </a:r>
                    </a:p>
                  </a:txBody>
                  <a:tcPr anchor="ctr">
                    <a:lnL>
                      <a:noFill/>
                    </a:lnL>
                    <a:lnR>
                      <a:noFill/>
                    </a:lnR>
                    <a:lnT>
                      <a:noFill/>
                    </a:lnT>
                    <a:lnB>
                      <a:noFill/>
                    </a:lnB>
                    <a:noFill/>
                  </a:tcPr>
                </a:tc>
                <a:tc>
                  <a:txBody>
                    <a:bodyPr/>
                    <a:lstStyle/>
                    <a:p>
                      <a:pPr>
                        <a:buNone/>
                      </a:pPr>
                      <a:r>
                        <a:rPr lang="en-SG" sz="4400">
                          <a:latin typeface="Courier New" panose="02070309020205020404" pitchFamily="49" charset="0"/>
                        </a:rPr>
                        <a:t>list</a:t>
                      </a:r>
                      <a:endParaRPr lang="en-SG" sz="4400"/>
                    </a:p>
                  </a:txBody>
                  <a:tcPr anchor="ctr">
                    <a:lnL>
                      <a:noFill/>
                    </a:lnL>
                    <a:lnR>
                      <a:noFill/>
                    </a:lnR>
                    <a:lnT>
                      <a:noFill/>
                    </a:lnT>
                    <a:lnB>
                      <a:noFill/>
                    </a:lnB>
                    <a:noFill/>
                  </a:tcPr>
                </a:tc>
                <a:extLst>
                  <a:ext uri="{0D108BD9-81ED-4DB2-BD59-A6C34878D82A}">
                    <a16:rowId xmlns:a16="http://schemas.microsoft.com/office/drawing/2014/main" val="3707143948"/>
                  </a:ext>
                </a:extLst>
              </a:tr>
              <a:tr h="0">
                <a:tc>
                  <a:txBody>
                    <a:bodyPr/>
                    <a:lstStyle/>
                    <a:p>
                      <a:pPr>
                        <a:buNone/>
                      </a:pPr>
                      <a:r>
                        <a:rPr lang="en-SG" sz="4400"/>
                        <a:t>Fixed structure</a:t>
                      </a:r>
                    </a:p>
                  </a:txBody>
                  <a:tcPr anchor="ctr">
                    <a:lnL>
                      <a:noFill/>
                    </a:lnL>
                    <a:lnR>
                      <a:noFill/>
                    </a:lnR>
                    <a:lnT>
                      <a:noFill/>
                    </a:lnT>
                    <a:lnB>
                      <a:noFill/>
                    </a:lnB>
                    <a:noFill/>
                  </a:tcPr>
                </a:tc>
                <a:tc>
                  <a:txBody>
                    <a:bodyPr/>
                    <a:lstStyle/>
                    <a:p>
                      <a:pPr>
                        <a:buNone/>
                      </a:pPr>
                      <a:r>
                        <a:rPr lang="en-SG" sz="4400">
                          <a:latin typeface="Courier New" panose="02070309020205020404" pitchFamily="49" charset="0"/>
                        </a:rPr>
                        <a:t>tuple</a:t>
                      </a:r>
                      <a:endParaRPr lang="en-SG" sz="4400"/>
                    </a:p>
                  </a:txBody>
                  <a:tcPr anchor="ctr">
                    <a:lnL>
                      <a:noFill/>
                    </a:lnL>
                    <a:lnR>
                      <a:noFill/>
                    </a:lnR>
                    <a:lnT>
                      <a:noFill/>
                    </a:lnT>
                    <a:lnB>
                      <a:noFill/>
                    </a:lnB>
                    <a:noFill/>
                  </a:tcPr>
                </a:tc>
                <a:extLst>
                  <a:ext uri="{0D108BD9-81ED-4DB2-BD59-A6C34878D82A}">
                    <a16:rowId xmlns:a16="http://schemas.microsoft.com/office/drawing/2014/main" val="2700501105"/>
                  </a:ext>
                </a:extLst>
              </a:tr>
              <a:tr h="0">
                <a:tc>
                  <a:txBody>
                    <a:bodyPr/>
                    <a:lstStyle/>
                    <a:p>
                      <a:pPr>
                        <a:buNone/>
                      </a:pPr>
                      <a:r>
                        <a:rPr lang="en-SG" sz="4400"/>
                        <a:t>Fast lookup</a:t>
                      </a:r>
                    </a:p>
                  </a:txBody>
                  <a:tcPr anchor="ctr">
                    <a:lnL>
                      <a:noFill/>
                    </a:lnL>
                    <a:lnR>
                      <a:noFill/>
                    </a:lnR>
                    <a:lnT>
                      <a:noFill/>
                    </a:lnT>
                    <a:lnB>
                      <a:noFill/>
                    </a:lnB>
                    <a:noFill/>
                  </a:tcPr>
                </a:tc>
                <a:tc>
                  <a:txBody>
                    <a:bodyPr/>
                    <a:lstStyle/>
                    <a:p>
                      <a:pPr>
                        <a:buNone/>
                      </a:pPr>
                      <a:r>
                        <a:rPr lang="en-SG" sz="4400">
                          <a:latin typeface="Courier New" panose="02070309020205020404" pitchFamily="49" charset="0"/>
                        </a:rPr>
                        <a:t>dict</a:t>
                      </a:r>
                      <a:endParaRPr lang="en-SG" sz="4400"/>
                    </a:p>
                  </a:txBody>
                  <a:tcPr anchor="ctr">
                    <a:lnL>
                      <a:noFill/>
                    </a:lnL>
                    <a:lnR>
                      <a:noFill/>
                    </a:lnR>
                    <a:lnT>
                      <a:noFill/>
                    </a:lnT>
                    <a:lnB>
                      <a:noFill/>
                    </a:lnB>
                    <a:noFill/>
                  </a:tcPr>
                </a:tc>
                <a:extLst>
                  <a:ext uri="{0D108BD9-81ED-4DB2-BD59-A6C34878D82A}">
                    <a16:rowId xmlns:a16="http://schemas.microsoft.com/office/drawing/2014/main" val="895305057"/>
                  </a:ext>
                </a:extLst>
              </a:tr>
              <a:tr h="0">
                <a:tc>
                  <a:txBody>
                    <a:bodyPr/>
                    <a:lstStyle/>
                    <a:p>
                      <a:pPr>
                        <a:buNone/>
                      </a:pPr>
                      <a:r>
                        <a:rPr lang="en-SG" sz="4400"/>
                        <a:t>Uniqueness</a:t>
                      </a:r>
                    </a:p>
                  </a:txBody>
                  <a:tcPr anchor="ctr">
                    <a:lnL>
                      <a:noFill/>
                    </a:lnL>
                    <a:lnR>
                      <a:noFill/>
                    </a:lnR>
                    <a:lnT>
                      <a:noFill/>
                    </a:lnT>
                    <a:lnB>
                      <a:noFill/>
                    </a:lnB>
                    <a:noFill/>
                  </a:tcPr>
                </a:tc>
                <a:tc>
                  <a:txBody>
                    <a:bodyPr/>
                    <a:lstStyle/>
                    <a:p>
                      <a:pPr>
                        <a:buNone/>
                      </a:pPr>
                      <a:r>
                        <a:rPr lang="en-SG" sz="4400" dirty="0">
                          <a:latin typeface="Courier New" panose="02070309020205020404" pitchFamily="49" charset="0"/>
                        </a:rPr>
                        <a:t>set</a:t>
                      </a:r>
                      <a:endParaRPr lang="en-SG" sz="4400" dirty="0"/>
                    </a:p>
                  </a:txBody>
                  <a:tcPr anchor="ctr">
                    <a:lnL>
                      <a:noFill/>
                    </a:lnL>
                    <a:lnR>
                      <a:noFill/>
                    </a:lnR>
                    <a:lnT>
                      <a:noFill/>
                    </a:lnT>
                    <a:lnB>
                      <a:noFill/>
                    </a:lnB>
                    <a:noFill/>
                  </a:tcPr>
                </a:tc>
                <a:extLst>
                  <a:ext uri="{0D108BD9-81ED-4DB2-BD59-A6C34878D82A}">
                    <a16:rowId xmlns:a16="http://schemas.microsoft.com/office/drawing/2014/main" val="1345957204"/>
                  </a:ext>
                </a:extLst>
              </a:tr>
            </a:tbl>
          </a:graphicData>
        </a:graphic>
      </p:graphicFrame>
    </p:spTree>
    <p:extLst>
      <p:ext uri="{BB962C8B-B14F-4D97-AF65-F5344CB8AC3E}">
        <p14:creationId xmlns:p14="http://schemas.microsoft.com/office/powerpoint/2010/main" val="82242919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C2637-5C4C-3549-DF63-E7AB69375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970B1-4202-79D3-C8D5-A39C926E241A}"/>
              </a:ext>
            </a:extLst>
          </p:cNvPr>
          <p:cNvSpPr>
            <a:spLocks noGrp="1"/>
          </p:cNvSpPr>
          <p:nvPr>
            <p:ph type="title"/>
          </p:nvPr>
        </p:nvSpPr>
        <p:spPr/>
        <p:txBody>
          <a:bodyPr/>
          <a:lstStyle/>
          <a:p>
            <a:r>
              <a:rPr lang="en-SG" dirty="0"/>
              <a:t>Choosing the right collection</a:t>
            </a:r>
          </a:p>
        </p:txBody>
      </p:sp>
      <p:sp>
        <p:nvSpPr>
          <p:cNvPr id="3" name="Content Placeholder 2">
            <a:extLst>
              <a:ext uri="{FF2B5EF4-FFF2-40B4-BE49-F238E27FC236}">
                <a16:creationId xmlns:a16="http://schemas.microsoft.com/office/drawing/2014/main" id="{8D748447-0635-7278-80FF-E3352E90C3C2}"/>
              </a:ext>
            </a:extLst>
          </p:cNvPr>
          <p:cNvSpPr>
            <a:spLocks noGrp="1"/>
          </p:cNvSpPr>
          <p:nvPr>
            <p:ph idx="1"/>
          </p:nvPr>
        </p:nvSpPr>
        <p:spPr>
          <a:xfrm>
            <a:off x="419099" y="1828800"/>
            <a:ext cx="5537200" cy="35687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3600" dirty="0"/>
              <a:t># Ordered history</a:t>
            </a:r>
          </a:p>
          <a:p>
            <a:pPr marL="0" indent="0">
              <a:buNone/>
            </a:pPr>
            <a:r>
              <a:rPr lang="en-US" sz="3600" dirty="0"/>
              <a:t>events = []</a:t>
            </a:r>
          </a:p>
          <a:p>
            <a:pPr marL="0" indent="0">
              <a:buNone/>
            </a:pPr>
            <a:endParaRPr lang="en-US" sz="3600" dirty="0"/>
          </a:p>
          <a:p>
            <a:pPr marL="0" indent="0">
              <a:buNone/>
            </a:pPr>
            <a:r>
              <a:rPr lang="en-US" sz="3600" dirty="0"/>
              <a:t># Fixed configuration</a:t>
            </a:r>
          </a:p>
          <a:p>
            <a:pPr marL="0" indent="0">
              <a:buNone/>
            </a:pPr>
            <a:r>
              <a:rPr lang="en-US" sz="3600" dirty="0"/>
              <a:t>config = ("localhost", 5432)</a:t>
            </a:r>
          </a:p>
        </p:txBody>
      </p:sp>
      <p:sp>
        <p:nvSpPr>
          <p:cNvPr id="4" name="Content Placeholder 2">
            <a:extLst>
              <a:ext uri="{FF2B5EF4-FFF2-40B4-BE49-F238E27FC236}">
                <a16:creationId xmlns:a16="http://schemas.microsoft.com/office/drawing/2014/main" id="{C808EA53-8A92-2DA0-7F65-B2ACBB09BBD0}"/>
              </a:ext>
            </a:extLst>
          </p:cNvPr>
          <p:cNvSpPr txBox="1">
            <a:spLocks/>
          </p:cNvSpPr>
          <p:nvPr/>
        </p:nvSpPr>
        <p:spPr>
          <a:xfrm>
            <a:off x="6232526" y="1854200"/>
            <a:ext cx="5537200" cy="35687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t># Lookup by ID</a:t>
            </a:r>
          </a:p>
          <a:p>
            <a:pPr marL="0" indent="0">
              <a:buFont typeface="Arial"/>
              <a:buNone/>
            </a:pPr>
            <a:r>
              <a:rPr lang="en-US" sz="3600" dirty="0"/>
              <a:t>users = {1: "Alice", 2: "Bob"}</a:t>
            </a:r>
          </a:p>
          <a:p>
            <a:pPr marL="0" indent="0">
              <a:buFont typeface="Arial"/>
              <a:buNone/>
            </a:pPr>
            <a:endParaRPr lang="en-US" sz="3600" dirty="0"/>
          </a:p>
          <a:p>
            <a:pPr marL="0" indent="0">
              <a:buFont typeface="Arial"/>
              <a:buNone/>
            </a:pPr>
            <a:r>
              <a:rPr lang="en-US" sz="3600" dirty="0"/>
              <a:t># Unique permissions</a:t>
            </a:r>
          </a:p>
          <a:p>
            <a:pPr marL="0" indent="0">
              <a:buFont typeface="Arial"/>
              <a:buNone/>
            </a:pPr>
            <a:r>
              <a:rPr lang="en-US" sz="3600" dirty="0"/>
              <a:t>permissions = {"read", "write"}</a:t>
            </a:r>
          </a:p>
        </p:txBody>
      </p:sp>
    </p:spTree>
    <p:extLst>
      <p:ext uri="{BB962C8B-B14F-4D97-AF65-F5344CB8AC3E}">
        <p14:creationId xmlns:p14="http://schemas.microsoft.com/office/powerpoint/2010/main" val="222795725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8D865-9060-2A25-5F89-CB31B35576C1}"/>
              </a:ext>
            </a:extLst>
          </p:cNvPr>
          <p:cNvSpPr>
            <a:spLocks noGrp="1"/>
          </p:cNvSpPr>
          <p:nvPr>
            <p:ph type="title"/>
          </p:nvPr>
        </p:nvSpPr>
        <p:spPr/>
        <p:txBody>
          <a:bodyPr/>
          <a:lstStyle/>
          <a:p>
            <a:r>
              <a:rPr lang="en-SG" dirty="0"/>
              <a:t>Nested Collections</a:t>
            </a:r>
          </a:p>
        </p:txBody>
      </p:sp>
      <p:sp>
        <p:nvSpPr>
          <p:cNvPr id="3" name="Content Placeholder 2">
            <a:extLst>
              <a:ext uri="{FF2B5EF4-FFF2-40B4-BE49-F238E27FC236}">
                <a16:creationId xmlns:a16="http://schemas.microsoft.com/office/drawing/2014/main" id="{7DC74B36-217F-65B0-8987-E23326DB8F1E}"/>
              </a:ext>
            </a:extLst>
          </p:cNvPr>
          <p:cNvSpPr>
            <a:spLocks noGrp="1"/>
          </p:cNvSpPr>
          <p:nvPr>
            <p:ph idx="1"/>
          </p:nvPr>
        </p:nvSpPr>
        <p:spPr/>
        <p:txBody>
          <a:bodyPr/>
          <a:lstStyle/>
          <a:p>
            <a:pPr marL="0" indent="0">
              <a:buNone/>
            </a:pPr>
            <a:r>
              <a:rPr lang="en-SG" dirty="0"/>
              <a:t>users = {</a:t>
            </a:r>
          </a:p>
          <a:p>
            <a:pPr marL="0" indent="0">
              <a:buNone/>
            </a:pPr>
            <a:r>
              <a:rPr lang="en-SG" dirty="0"/>
              <a:t>    "u1": {"roles": {"admin", "editor"}},</a:t>
            </a:r>
          </a:p>
          <a:p>
            <a:pPr marL="0" indent="0">
              <a:buNone/>
            </a:pPr>
            <a:r>
              <a:rPr lang="en-SG" dirty="0"/>
              <a:t>    "u2": {"roles": {"viewer"}}</a:t>
            </a:r>
          </a:p>
          <a:p>
            <a:pPr marL="0" indent="0">
              <a:buNone/>
            </a:pPr>
            <a:r>
              <a:rPr lang="en-SG" dirty="0"/>
              <a:t>}</a:t>
            </a:r>
          </a:p>
          <a:p>
            <a:pPr marL="0" indent="0">
              <a:buNone/>
            </a:pPr>
            <a:endParaRPr lang="en-SG" dirty="0"/>
          </a:p>
          <a:p>
            <a:pPr marL="0" indent="0">
              <a:buNone/>
            </a:pPr>
            <a:r>
              <a:rPr lang="en-SG" dirty="0"/>
              <a:t>if "admin" in users["u1"]["roles"]:</a:t>
            </a:r>
          </a:p>
          <a:p>
            <a:pPr marL="0" indent="0">
              <a:buNone/>
            </a:pPr>
            <a:r>
              <a:rPr lang="en-SG" dirty="0"/>
              <a:t>    </a:t>
            </a:r>
            <a:r>
              <a:rPr lang="en-SG" dirty="0" err="1"/>
              <a:t>allow_access</a:t>
            </a:r>
            <a:r>
              <a:rPr lang="en-SG" dirty="0"/>
              <a:t>()</a:t>
            </a:r>
          </a:p>
          <a:p>
            <a:pPr marL="0" indent="0">
              <a:buNone/>
            </a:pPr>
            <a:endParaRPr lang="en-SG" dirty="0"/>
          </a:p>
        </p:txBody>
      </p:sp>
    </p:spTree>
    <p:extLst>
      <p:ext uri="{BB962C8B-B14F-4D97-AF65-F5344CB8AC3E}">
        <p14:creationId xmlns:p14="http://schemas.microsoft.com/office/powerpoint/2010/main" val="84634044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1486-E4AC-73C6-0E51-5B636049D999}"/>
              </a:ext>
            </a:extLst>
          </p:cNvPr>
          <p:cNvSpPr>
            <a:spLocks noGrp="1"/>
          </p:cNvSpPr>
          <p:nvPr>
            <p:ph type="title"/>
          </p:nvPr>
        </p:nvSpPr>
        <p:spPr/>
        <p:txBody>
          <a:bodyPr>
            <a:normAutofit/>
          </a:bodyPr>
          <a:lstStyle/>
          <a:p>
            <a:r>
              <a:rPr lang="en-US" dirty="0"/>
              <a:t>Common Pitfalls</a:t>
            </a:r>
            <a:endParaRPr lang="en-SG" dirty="0"/>
          </a:p>
        </p:txBody>
      </p:sp>
      <p:sp>
        <p:nvSpPr>
          <p:cNvPr id="3" name="Content Placeholder 2">
            <a:extLst>
              <a:ext uri="{FF2B5EF4-FFF2-40B4-BE49-F238E27FC236}">
                <a16:creationId xmlns:a16="http://schemas.microsoft.com/office/drawing/2014/main" id="{659E02AB-FBE8-14F0-AC1C-ADDB19207ED9}"/>
              </a:ext>
            </a:extLst>
          </p:cNvPr>
          <p:cNvSpPr>
            <a:spLocks noGrp="1"/>
          </p:cNvSpPr>
          <p:nvPr>
            <p:ph idx="1"/>
          </p:nvPr>
        </p:nvSpPr>
        <p:spPr/>
        <p:txBody>
          <a:bodyPr/>
          <a:lstStyle/>
          <a:p>
            <a:r>
              <a:rPr lang="en-US" dirty="0"/>
              <a:t>Using lists for lookups instead of sets</a:t>
            </a:r>
          </a:p>
          <a:p>
            <a:r>
              <a:rPr lang="en-US" dirty="0"/>
              <a:t>Mutating collections while iterating</a:t>
            </a:r>
          </a:p>
          <a:p>
            <a:r>
              <a:rPr lang="en-US" dirty="0"/>
              <a:t>Overusing nested structures</a:t>
            </a:r>
          </a:p>
          <a:p>
            <a:endParaRPr lang="en-SG" dirty="0"/>
          </a:p>
        </p:txBody>
      </p:sp>
    </p:spTree>
    <p:extLst>
      <p:ext uri="{BB962C8B-B14F-4D97-AF65-F5344CB8AC3E}">
        <p14:creationId xmlns:p14="http://schemas.microsoft.com/office/powerpoint/2010/main" val="33518779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47AFE-EA67-2B9A-818B-AE11FF57B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5E65B-F98F-A197-7238-3BDE2CDD4DFA}"/>
              </a:ext>
            </a:extLst>
          </p:cNvPr>
          <p:cNvSpPr>
            <a:spLocks noGrp="1"/>
          </p:cNvSpPr>
          <p:nvPr>
            <p:ph type="title"/>
          </p:nvPr>
        </p:nvSpPr>
        <p:spPr/>
        <p:txBody>
          <a:bodyPr/>
          <a:lstStyle/>
          <a:p>
            <a:r>
              <a:rPr lang="en-US" dirty="0"/>
              <a:t>Common Pitfalls</a:t>
            </a:r>
            <a:endParaRPr lang="en-SG" dirty="0"/>
          </a:p>
        </p:txBody>
      </p:sp>
      <p:sp>
        <p:nvSpPr>
          <p:cNvPr id="3" name="Content Placeholder 2">
            <a:extLst>
              <a:ext uri="{FF2B5EF4-FFF2-40B4-BE49-F238E27FC236}">
                <a16:creationId xmlns:a16="http://schemas.microsoft.com/office/drawing/2014/main" id="{CFACBCC2-CC7E-9FF6-96FF-1E26D498DA8F}"/>
              </a:ext>
            </a:extLst>
          </p:cNvPr>
          <p:cNvSpPr>
            <a:spLocks noGrp="1"/>
          </p:cNvSpPr>
          <p:nvPr>
            <p:ph idx="1"/>
          </p:nvPr>
        </p:nvSpPr>
        <p:spPr>
          <a:xfrm>
            <a:off x="419099" y="1828800"/>
            <a:ext cx="5537200" cy="3568700"/>
          </a:xfrm>
        </p:spPr>
        <p:style>
          <a:lnRef idx="2">
            <a:schemeClr val="dk1"/>
          </a:lnRef>
          <a:fillRef idx="1">
            <a:schemeClr val="lt1"/>
          </a:fillRef>
          <a:effectRef idx="0">
            <a:schemeClr val="dk1"/>
          </a:effectRef>
          <a:fontRef idx="minor">
            <a:schemeClr val="dk1"/>
          </a:fontRef>
        </p:style>
        <p:txBody>
          <a:bodyPr>
            <a:normAutofit fontScale="92500" lnSpcReduction="20000"/>
          </a:bodyPr>
          <a:lstStyle/>
          <a:p>
            <a:pPr marL="0" indent="0">
              <a:buNone/>
            </a:pPr>
            <a:r>
              <a:rPr lang="en-US" sz="3600" dirty="0"/>
              <a:t># </a:t>
            </a:r>
            <a:r>
              <a:rPr lang="en-SG" sz="3600" dirty="0"/>
              <a:t>Using list for lookup</a:t>
            </a:r>
          </a:p>
          <a:p>
            <a:pPr marL="0" indent="0">
              <a:buNone/>
            </a:pPr>
            <a:endParaRPr lang="en-US" sz="3600" dirty="0"/>
          </a:p>
          <a:p>
            <a:pPr marL="0" indent="0">
              <a:buNone/>
            </a:pPr>
            <a:r>
              <a:rPr lang="en-US" sz="3600" dirty="0"/>
              <a:t>roles = ["admin", "editor"]</a:t>
            </a:r>
          </a:p>
          <a:p>
            <a:pPr marL="0" indent="0">
              <a:buNone/>
            </a:pPr>
            <a:endParaRPr lang="en-US" sz="3600" dirty="0"/>
          </a:p>
          <a:p>
            <a:pPr marL="0" indent="0">
              <a:buNone/>
            </a:pPr>
            <a:r>
              <a:rPr lang="en-US" sz="3600" dirty="0"/>
              <a:t>if "admin" in roles:   # slower as list grows</a:t>
            </a:r>
          </a:p>
          <a:p>
            <a:pPr marL="0" indent="0">
              <a:buNone/>
            </a:pPr>
            <a:r>
              <a:rPr lang="en-US" sz="3600" dirty="0"/>
              <a:t>    ...</a:t>
            </a:r>
          </a:p>
        </p:txBody>
      </p:sp>
      <p:sp>
        <p:nvSpPr>
          <p:cNvPr id="4" name="Content Placeholder 2">
            <a:extLst>
              <a:ext uri="{FF2B5EF4-FFF2-40B4-BE49-F238E27FC236}">
                <a16:creationId xmlns:a16="http://schemas.microsoft.com/office/drawing/2014/main" id="{867C7B81-1DE3-F314-BD2F-F9C32DFB3BE0}"/>
              </a:ext>
            </a:extLst>
          </p:cNvPr>
          <p:cNvSpPr txBox="1">
            <a:spLocks/>
          </p:cNvSpPr>
          <p:nvPr/>
        </p:nvSpPr>
        <p:spPr>
          <a:xfrm>
            <a:off x="6232526" y="1854200"/>
            <a:ext cx="5537200" cy="35687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3600" dirty="0"/>
              <a:t># Use set instead</a:t>
            </a:r>
          </a:p>
          <a:p>
            <a:pPr marL="0" indent="0">
              <a:buNone/>
            </a:pPr>
            <a:endParaRPr lang="en-US" sz="3600" dirty="0"/>
          </a:p>
          <a:p>
            <a:pPr marL="0" indent="0">
              <a:buNone/>
            </a:pPr>
            <a:r>
              <a:rPr lang="en-US" sz="3600" dirty="0"/>
              <a:t>roles = {"admin", "editor"}</a:t>
            </a:r>
          </a:p>
          <a:p>
            <a:pPr marL="0" indent="0">
              <a:buNone/>
            </a:pPr>
            <a:endParaRPr lang="en-US" sz="3600" dirty="0"/>
          </a:p>
          <a:p>
            <a:pPr marL="0" indent="0">
              <a:buNone/>
            </a:pPr>
            <a:r>
              <a:rPr lang="en-US" sz="3600" dirty="0"/>
              <a:t>if "admin" in roles:</a:t>
            </a:r>
          </a:p>
          <a:p>
            <a:pPr marL="0" indent="0">
              <a:buNone/>
            </a:pPr>
            <a:r>
              <a:rPr lang="en-US" sz="3600" dirty="0"/>
              <a:t>    ...</a:t>
            </a:r>
          </a:p>
        </p:txBody>
      </p:sp>
    </p:spTree>
    <p:extLst>
      <p:ext uri="{BB962C8B-B14F-4D97-AF65-F5344CB8AC3E}">
        <p14:creationId xmlns:p14="http://schemas.microsoft.com/office/powerpoint/2010/main" val="241672118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4C6ED-5D60-1A6D-4005-1132C4CA8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7DBA6B-9CE4-282D-5610-C746AB833F9C}"/>
              </a:ext>
            </a:extLst>
          </p:cNvPr>
          <p:cNvSpPr>
            <a:spLocks noGrp="1"/>
          </p:cNvSpPr>
          <p:nvPr>
            <p:ph type="title"/>
          </p:nvPr>
        </p:nvSpPr>
        <p:spPr/>
        <p:txBody>
          <a:bodyPr/>
          <a:lstStyle/>
          <a:p>
            <a:r>
              <a:rPr lang="en-US" dirty="0"/>
              <a:t>Mutation Pitfalls</a:t>
            </a:r>
            <a:endParaRPr lang="en-SG" dirty="0"/>
          </a:p>
        </p:txBody>
      </p:sp>
      <p:sp>
        <p:nvSpPr>
          <p:cNvPr id="3" name="Content Placeholder 2">
            <a:extLst>
              <a:ext uri="{FF2B5EF4-FFF2-40B4-BE49-F238E27FC236}">
                <a16:creationId xmlns:a16="http://schemas.microsoft.com/office/drawing/2014/main" id="{E8CB110D-E0CF-3B0F-3A0A-0EF80E7FDED9}"/>
              </a:ext>
            </a:extLst>
          </p:cNvPr>
          <p:cNvSpPr>
            <a:spLocks noGrp="1"/>
          </p:cNvSpPr>
          <p:nvPr>
            <p:ph idx="1"/>
          </p:nvPr>
        </p:nvSpPr>
        <p:spPr>
          <a:xfrm>
            <a:off x="253999" y="1828800"/>
            <a:ext cx="5537200" cy="35687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3600" dirty="0"/>
              <a:t># </a:t>
            </a:r>
            <a:r>
              <a:rPr lang="en-SG" sz="3600" dirty="0"/>
              <a:t>Modifying while iterating</a:t>
            </a:r>
          </a:p>
          <a:p>
            <a:pPr marL="0" indent="0">
              <a:buNone/>
            </a:pPr>
            <a:endParaRPr lang="en-US" sz="3600" dirty="0"/>
          </a:p>
          <a:p>
            <a:pPr marL="0" indent="0">
              <a:buNone/>
            </a:pPr>
            <a:r>
              <a:rPr lang="en-US" sz="3600" dirty="0"/>
              <a:t>for item in items:</a:t>
            </a:r>
          </a:p>
          <a:p>
            <a:pPr marL="0" indent="0">
              <a:buNone/>
            </a:pPr>
            <a:r>
              <a:rPr lang="en-US" sz="3600" dirty="0"/>
              <a:t>    if item &lt; 0:</a:t>
            </a:r>
          </a:p>
          <a:p>
            <a:pPr marL="0" indent="0">
              <a:buNone/>
            </a:pPr>
            <a:r>
              <a:rPr lang="en-US" sz="3600" dirty="0"/>
              <a:t>        </a:t>
            </a:r>
            <a:r>
              <a:rPr lang="en-US" sz="3600" dirty="0" err="1"/>
              <a:t>items.remove</a:t>
            </a:r>
            <a:r>
              <a:rPr lang="en-US" sz="3600" dirty="0"/>
              <a:t>(item)</a:t>
            </a:r>
          </a:p>
        </p:txBody>
      </p:sp>
      <p:sp>
        <p:nvSpPr>
          <p:cNvPr id="4" name="Content Placeholder 2">
            <a:extLst>
              <a:ext uri="{FF2B5EF4-FFF2-40B4-BE49-F238E27FC236}">
                <a16:creationId xmlns:a16="http://schemas.microsoft.com/office/drawing/2014/main" id="{DCD07433-643D-88DB-3655-6CE23356C29C}"/>
              </a:ext>
            </a:extLst>
          </p:cNvPr>
          <p:cNvSpPr txBox="1">
            <a:spLocks/>
          </p:cNvSpPr>
          <p:nvPr/>
        </p:nvSpPr>
        <p:spPr>
          <a:xfrm>
            <a:off x="6016625" y="1854200"/>
            <a:ext cx="5956299" cy="35687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3600" dirty="0"/>
              <a:t># </a:t>
            </a:r>
            <a:r>
              <a:rPr lang="en-SG" sz="3600" dirty="0"/>
              <a:t>Correct approach</a:t>
            </a:r>
          </a:p>
          <a:p>
            <a:pPr marL="0" indent="0">
              <a:buNone/>
            </a:pPr>
            <a:endParaRPr lang="en-US" sz="3600" dirty="0"/>
          </a:p>
          <a:p>
            <a:pPr marL="0" indent="0">
              <a:buNone/>
            </a:pPr>
            <a:r>
              <a:rPr lang="en-US" sz="3600" dirty="0"/>
              <a:t>items = [</a:t>
            </a:r>
            <a:r>
              <a:rPr lang="en-US" sz="3600" dirty="0" err="1"/>
              <a:t>i</a:t>
            </a:r>
            <a:r>
              <a:rPr lang="en-US" sz="3600" dirty="0"/>
              <a:t> for </a:t>
            </a:r>
            <a:r>
              <a:rPr lang="en-US" sz="3600" dirty="0" err="1"/>
              <a:t>i</a:t>
            </a:r>
            <a:r>
              <a:rPr lang="en-US" sz="3600" dirty="0"/>
              <a:t> in items if </a:t>
            </a:r>
            <a:r>
              <a:rPr lang="en-US" sz="3600" dirty="0" err="1"/>
              <a:t>i</a:t>
            </a:r>
            <a:r>
              <a:rPr lang="en-US" sz="3600" dirty="0"/>
              <a:t> &gt;= 0]</a:t>
            </a:r>
          </a:p>
        </p:txBody>
      </p:sp>
    </p:spTree>
    <p:extLst>
      <p:ext uri="{BB962C8B-B14F-4D97-AF65-F5344CB8AC3E}">
        <p14:creationId xmlns:p14="http://schemas.microsoft.com/office/powerpoint/2010/main" val="217617764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62FBC-1BEA-9DD5-A1CB-9A5A57B62E86}"/>
              </a:ext>
            </a:extLst>
          </p:cNvPr>
          <p:cNvSpPr>
            <a:spLocks noGrp="1"/>
          </p:cNvSpPr>
          <p:nvPr>
            <p:ph type="title"/>
          </p:nvPr>
        </p:nvSpPr>
        <p:spPr/>
        <p:txBody>
          <a:bodyPr>
            <a:normAutofit/>
          </a:bodyPr>
          <a:lstStyle/>
          <a:p>
            <a:r>
              <a:rPr lang="en-US" b="1" dirty="0"/>
              <a:t>Best Practices</a:t>
            </a:r>
            <a:endParaRPr lang="en-SG" dirty="0"/>
          </a:p>
        </p:txBody>
      </p:sp>
      <p:sp>
        <p:nvSpPr>
          <p:cNvPr id="3" name="Content Placeholder 2">
            <a:extLst>
              <a:ext uri="{FF2B5EF4-FFF2-40B4-BE49-F238E27FC236}">
                <a16:creationId xmlns:a16="http://schemas.microsoft.com/office/drawing/2014/main" id="{DA9C2427-3B5D-B86B-AA9E-37F469C97836}"/>
              </a:ext>
            </a:extLst>
          </p:cNvPr>
          <p:cNvSpPr>
            <a:spLocks noGrp="1"/>
          </p:cNvSpPr>
          <p:nvPr>
            <p:ph idx="1"/>
          </p:nvPr>
        </p:nvSpPr>
        <p:spPr>
          <a:xfrm>
            <a:off x="800100" y="1841501"/>
            <a:ext cx="6502400" cy="2451100"/>
          </a:xfrm>
        </p:spPr>
        <p:style>
          <a:lnRef idx="2">
            <a:schemeClr val="dk1"/>
          </a:lnRef>
          <a:fillRef idx="1">
            <a:schemeClr val="lt1"/>
          </a:fillRef>
          <a:effectRef idx="0">
            <a:schemeClr val="dk1"/>
          </a:effectRef>
          <a:fontRef idx="minor">
            <a:schemeClr val="dk1"/>
          </a:fontRef>
        </p:style>
        <p:txBody>
          <a:bodyPr/>
          <a:lstStyle/>
          <a:p>
            <a:r>
              <a:rPr lang="en-US" dirty="0"/>
              <a:t>Choose collections by </a:t>
            </a:r>
            <a:r>
              <a:rPr lang="en-US" b="1" dirty="0"/>
              <a:t>intent</a:t>
            </a:r>
            <a:endParaRPr lang="en-US" dirty="0"/>
          </a:p>
          <a:p>
            <a:r>
              <a:rPr lang="en-US" dirty="0"/>
              <a:t>Prefer immutability where possible</a:t>
            </a:r>
          </a:p>
          <a:p>
            <a:r>
              <a:rPr lang="en-US" dirty="0"/>
              <a:t>Keep structures shallow</a:t>
            </a:r>
          </a:p>
          <a:p>
            <a:r>
              <a:rPr lang="en-US" dirty="0"/>
              <a:t>Name collections clearly</a:t>
            </a:r>
          </a:p>
          <a:p>
            <a:endParaRPr lang="en-SG" dirty="0"/>
          </a:p>
        </p:txBody>
      </p:sp>
      <p:sp>
        <p:nvSpPr>
          <p:cNvPr id="4" name="TextBox 3">
            <a:extLst>
              <a:ext uri="{FF2B5EF4-FFF2-40B4-BE49-F238E27FC236}">
                <a16:creationId xmlns:a16="http://schemas.microsoft.com/office/drawing/2014/main" id="{8CA0090D-6E8D-8062-3009-698B2B2D6CCD}"/>
              </a:ext>
            </a:extLst>
          </p:cNvPr>
          <p:cNvSpPr txBox="1"/>
          <p:nvPr/>
        </p:nvSpPr>
        <p:spPr>
          <a:xfrm>
            <a:off x="7769225" y="1789778"/>
            <a:ext cx="3619500" cy="255454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3200" dirty="0"/>
              <a:t># list → sequence</a:t>
            </a:r>
          </a:p>
          <a:p>
            <a:r>
              <a:rPr lang="en-US" sz="3200" dirty="0"/>
              <a:t># tuple → structure</a:t>
            </a:r>
          </a:p>
          <a:p>
            <a:r>
              <a:rPr lang="en-US" sz="3200" dirty="0"/>
              <a:t># </a:t>
            </a:r>
            <a:r>
              <a:rPr lang="en-US" sz="3200" dirty="0" err="1"/>
              <a:t>dict</a:t>
            </a:r>
            <a:r>
              <a:rPr lang="en-US" sz="3200" dirty="0"/>
              <a:t> → identity</a:t>
            </a:r>
          </a:p>
          <a:p>
            <a:r>
              <a:rPr lang="en-US" sz="3200" dirty="0"/>
              <a:t># set → membership</a:t>
            </a:r>
          </a:p>
          <a:p>
            <a:endParaRPr lang="en-SG" sz="3200" dirty="0"/>
          </a:p>
        </p:txBody>
      </p:sp>
    </p:spTree>
    <p:extLst>
      <p:ext uri="{BB962C8B-B14F-4D97-AF65-F5344CB8AC3E}">
        <p14:creationId xmlns:p14="http://schemas.microsoft.com/office/powerpoint/2010/main" val="26655230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AF8D1-05AF-BAEE-5F1C-7BCDA78A2265}"/>
              </a:ext>
            </a:extLst>
          </p:cNvPr>
          <p:cNvSpPr>
            <a:spLocks noGrp="1"/>
          </p:cNvSpPr>
          <p:nvPr>
            <p:ph type="title"/>
          </p:nvPr>
        </p:nvSpPr>
        <p:spPr/>
        <p:txBody>
          <a:bodyPr/>
          <a:lstStyle/>
          <a:p>
            <a:r>
              <a:rPr lang="en-SG" dirty="0"/>
              <a:t>Collections Summary</a:t>
            </a:r>
          </a:p>
        </p:txBody>
      </p:sp>
      <p:sp>
        <p:nvSpPr>
          <p:cNvPr id="3" name="Content Placeholder 2">
            <a:extLst>
              <a:ext uri="{FF2B5EF4-FFF2-40B4-BE49-F238E27FC236}">
                <a16:creationId xmlns:a16="http://schemas.microsoft.com/office/drawing/2014/main" id="{43C3F950-40C0-10B2-D0E5-E26BCB73F1F3}"/>
              </a:ext>
            </a:extLst>
          </p:cNvPr>
          <p:cNvSpPr>
            <a:spLocks noGrp="1"/>
          </p:cNvSpPr>
          <p:nvPr>
            <p:ph idx="1"/>
          </p:nvPr>
        </p:nvSpPr>
        <p:spPr/>
        <p:txBody>
          <a:bodyPr/>
          <a:lstStyle/>
          <a:p>
            <a:pPr marL="0" indent="0">
              <a:buNone/>
            </a:pPr>
            <a:r>
              <a:rPr lang="en-US" dirty="0" err="1"/>
              <a:t>data_shapes</a:t>
            </a:r>
            <a:r>
              <a:rPr lang="en-US" dirty="0"/>
              <a:t> = {</a:t>
            </a:r>
          </a:p>
          <a:p>
            <a:pPr marL="0" indent="0">
              <a:buNone/>
            </a:pPr>
            <a:r>
              <a:rPr lang="en-US" dirty="0"/>
              <a:t>    "sequence": list,</a:t>
            </a:r>
          </a:p>
          <a:p>
            <a:pPr marL="0" indent="0">
              <a:buNone/>
            </a:pPr>
            <a:r>
              <a:rPr lang="en-US" dirty="0"/>
              <a:t>    "structure": tuple,</a:t>
            </a:r>
          </a:p>
          <a:p>
            <a:pPr marL="0" indent="0">
              <a:buNone/>
            </a:pPr>
            <a:r>
              <a:rPr lang="en-US" dirty="0"/>
              <a:t>    "lookup": </a:t>
            </a:r>
            <a:r>
              <a:rPr lang="en-US" dirty="0" err="1"/>
              <a:t>dict</a:t>
            </a:r>
            <a:r>
              <a:rPr lang="en-US" dirty="0"/>
              <a:t>,</a:t>
            </a:r>
          </a:p>
          <a:p>
            <a:pPr marL="0" indent="0">
              <a:buNone/>
            </a:pPr>
            <a:r>
              <a:rPr lang="en-US" dirty="0"/>
              <a:t>    "membership": set,</a:t>
            </a:r>
          </a:p>
          <a:p>
            <a:pPr marL="0" indent="0">
              <a:buNone/>
            </a:pPr>
            <a:r>
              <a:rPr lang="en-US" dirty="0"/>
              <a:t>}</a:t>
            </a:r>
          </a:p>
          <a:p>
            <a:pPr marL="0" indent="0">
              <a:buNone/>
            </a:pPr>
            <a:endParaRPr lang="en-SG" dirty="0"/>
          </a:p>
        </p:txBody>
      </p:sp>
    </p:spTree>
    <p:extLst>
      <p:ext uri="{BB962C8B-B14F-4D97-AF65-F5344CB8AC3E}">
        <p14:creationId xmlns:p14="http://schemas.microsoft.com/office/powerpoint/2010/main" val="63720632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F7321-35F5-87DA-19FA-BE10988B0BF1}"/>
              </a:ext>
            </a:extLst>
          </p:cNvPr>
          <p:cNvSpPr>
            <a:spLocks noGrp="1"/>
          </p:cNvSpPr>
          <p:nvPr>
            <p:ph type="title"/>
          </p:nvPr>
        </p:nvSpPr>
        <p:spPr/>
        <p:txBody>
          <a:bodyPr>
            <a:normAutofit/>
          </a:bodyPr>
          <a:lstStyle/>
          <a:p>
            <a:r>
              <a:rPr lang="en-US" b="1" dirty="0"/>
              <a:t>Key Takeaways</a:t>
            </a:r>
            <a:endParaRPr lang="en-SG" dirty="0"/>
          </a:p>
        </p:txBody>
      </p:sp>
      <p:sp>
        <p:nvSpPr>
          <p:cNvPr id="3" name="Content Placeholder 2">
            <a:extLst>
              <a:ext uri="{FF2B5EF4-FFF2-40B4-BE49-F238E27FC236}">
                <a16:creationId xmlns:a16="http://schemas.microsoft.com/office/drawing/2014/main" id="{29A65307-9B58-C763-0644-BAD2443CF923}"/>
              </a:ext>
            </a:extLst>
          </p:cNvPr>
          <p:cNvSpPr>
            <a:spLocks noGrp="1"/>
          </p:cNvSpPr>
          <p:nvPr>
            <p:ph idx="1"/>
          </p:nvPr>
        </p:nvSpPr>
        <p:spPr>
          <a:xfrm>
            <a:off x="457200" y="1600200"/>
            <a:ext cx="10998200" cy="4525963"/>
          </a:xfrm>
        </p:spPr>
        <p:txBody>
          <a:bodyPr/>
          <a:lstStyle/>
          <a:p>
            <a:r>
              <a:rPr lang="en-US" dirty="0"/>
              <a:t>Collections shape your logic</a:t>
            </a:r>
          </a:p>
          <a:p>
            <a:r>
              <a:rPr lang="en-US" dirty="0"/>
              <a:t>Correct choice reduces complexity</a:t>
            </a:r>
          </a:p>
          <a:p>
            <a:r>
              <a:rPr lang="en-US" dirty="0"/>
              <a:t>list, tuple, </a:t>
            </a:r>
            <a:r>
              <a:rPr lang="en-US" dirty="0" err="1"/>
              <a:t>dict</a:t>
            </a:r>
            <a:r>
              <a:rPr lang="en-US" dirty="0"/>
              <a:t>, set each exist for a reason</a:t>
            </a:r>
          </a:p>
          <a:p>
            <a:endParaRPr lang="en-US" b="1" dirty="0"/>
          </a:p>
          <a:p>
            <a:pPr marL="0" indent="0">
              <a:buNone/>
            </a:pPr>
            <a:r>
              <a:rPr lang="en-US" b="1" dirty="0"/>
              <a:t>Final mental model: </a:t>
            </a:r>
            <a:r>
              <a:rPr lang="en-US" i="1" dirty="0"/>
              <a:t>Data structure choice is a design decision.</a:t>
            </a:r>
            <a:endParaRPr lang="en-US" dirty="0"/>
          </a:p>
          <a:p>
            <a:endParaRPr lang="en-SG" dirty="0"/>
          </a:p>
        </p:txBody>
      </p:sp>
    </p:spTree>
    <p:extLst>
      <p:ext uri="{BB962C8B-B14F-4D97-AF65-F5344CB8AC3E}">
        <p14:creationId xmlns:p14="http://schemas.microsoft.com/office/powerpoint/2010/main" val="350416117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Control Flow — if / else</a:t>
            </a:r>
          </a:p>
        </p:txBody>
      </p:sp>
      <p:sp>
        <p:nvSpPr>
          <p:cNvPr id="3" name="Content Placeholder 2"/>
          <p:cNvSpPr>
            <a:spLocks noGrp="1"/>
          </p:cNvSpPr>
          <p:nvPr>
            <p:ph idx="1"/>
          </p:nvPr>
        </p:nvSpPr>
        <p:spPr/>
        <p:txBody>
          <a:bodyPr/>
          <a:lstStyle/>
          <a:p>
            <a:r>
              <a:rPr dirty="0"/>
              <a:t>Programs make decisions using conditions</a:t>
            </a:r>
          </a:p>
          <a:p>
            <a:r>
              <a:rPr dirty="0"/>
              <a:t>if / </a:t>
            </a:r>
            <a:r>
              <a:rPr dirty="0" err="1"/>
              <a:t>elif</a:t>
            </a:r>
            <a:r>
              <a:rPr dirty="0"/>
              <a:t> / else chains</a:t>
            </a:r>
          </a:p>
          <a:p>
            <a:r>
              <a:rPr dirty="0"/>
              <a:t>Indentation defines logic blocks</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55F4CC3-D0A8-F0FD-7D4D-364F7B85732D}"/>
              </a:ext>
            </a:extLst>
          </p:cNvPr>
          <p:cNvSpPr>
            <a:spLocks noGrp="1"/>
          </p:cNvSpPr>
          <p:nvPr>
            <p:ph type="title"/>
          </p:nvPr>
        </p:nvSpPr>
        <p:spPr/>
        <p:txBody>
          <a:bodyPr/>
          <a:lstStyle/>
          <a:p>
            <a:r>
              <a:rPr lang="en-SG" dirty="0"/>
              <a:t>Conditional Statements (if)</a:t>
            </a:r>
          </a:p>
        </p:txBody>
      </p:sp>
      <p:sp>
        <p:nvSpPr>
          <p:cNvPr id="8" name="Content Placeholder 7">
            <a:extLst>
              <a:ext uri="{FF2B5EF4-FFF2-40B4-BE49-F238E27FC236}">
                <a16:creationId xmlns:a16="http://schemas.microsoft.com/office/drawing/2014/main" id="{30BCBE06-C4BB-842D-E65B-ED154030397E}"/>
              </a:ext>
            </a:extLst>
          </p:cNvPr>
          <p:cNvSpPr>
            <a:spLocks noGrp="1"/>
          </p:cNvSpPr>
          <p:nvPr>
            <p:ph idx="1"/>
          </p:nvPr>
        </p:nvSpPr>
        <p:spPr>
          <a:xfrm>
            <a:off x="457200" y="1600200"/>
            <a:ext cx="4559300"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age = 18</a:t>
            </a:r>
          </a:p>
          <a:p>
            <a:pPr marL="0" indent="0">
              <a:buNone/>
            </a:pPr>
            <a:endParaRPr lang="en-US" dirty="0"/>
          </a:p>
          <a:p>
            <a:pPr marL="0" indent="0">
              <a:buNone/>
            </a:pPr>
            <a:r>
              <a:rPr lang="en-US" dirty="0"/>
              <a:t>if age &gt;= 18:</a:t>
            </a:r>
          </a:p>
          <a:p>
            <a:pPr marL="0" indent="0">
              <a:buNone/>
            </a:pPr>
            <a:r>
              <a:rPr lang="en-US" dirty="0"/>
              <a:t>    print("Adult")</a:t>
            </a:r>
          </a:p>
          <a:p>
            <a:pPr marL="0" indent="0">
              <a:buNone/>
            </a:pPr>
            <a:endParaRPr lang="en-SG" dirty="0"/>
          </a:p>
        </p:txBody>
      </p:sp>
      <p:sp>
        <p:nvSpPr>
          <p:cNvPr id="10" name="Content Placeholder 7">
            <a:extLst>
              <a:ext uri="{FF2B5EF4-FFF2-40B4-BE49-F238E27FC236}">
                <a16:creationId xmlns:a16="http://schemas.microsoft.com/office/drawing/2014/main" id="{F3580025-9EC0-BC64-3B98-AA68CBD34AB0}"/>
              </a:ext>
            </a:extLst>
          </p:cNvPr>
          <p:cNvSpPr txBox="1">
            <a:spLocks/>
          </p:cNvSpPr>
          <p:nvPr/>
        </p:nvSpPr>
        <p:spPr>
          <a:xfrm>
            <a:off x="5991225" y="1600200"/>
            <a:ext cx="5740400"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Used to make decisions</a:t>
            </a:r>
          </a:p>
          <a:p>
            <a:endParaRPr lang="en-US" dirty="0"/>
          </a:p>
          <a:p>
            <a:r>
              <a:rPr lang="en-US" dirty="0"/>
              <a:t>Condition must evaluate to True or False</a:t>
            </a:r>
            <a:endParaRPr lang="en-SG" dirty="0"/>
          </a:p>
        </p:txBody>
      </p:sp>
    </p:spTree>
    <p:extLst>
      <p:ext uri="{BB962C8B-B14F-4D97-AF65-F5344CB8AC3E}">
        <p14:creationId xmlns:p14="http://schemas.microsoft.com/office/powerpoint/2010/main" val="22799614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177C-B0BC-7326-B845-D5DF32D9CCE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6A51632-BC44-84A5-2E53-E213A6688780}"/>
              </a:ext>
            </a:extLst>
          </p:cNvPr>
          <p:cNvSpPr>
            <a:spLocks noGrp="1"/>
          </p:cNvSpPr>
          <p:nvPr>
            <p:ph type="title"/>
          </p:nvPr>
        </p:nvSpPr>
        <p:spPr/>
        <p:txBody>
          <a:bodyPr/>
          <a:lstStyle/>
          <a:p>
            <a:r>
              <a:rPr lang="en-SG" dirty="0"/>
              <a:t>if–else Statements</a:t>
            </a:r>
          </a:p>
        </p:txBody>
      </p:sp>
      <p:sp>
        <p:nvSpPr>
          <p:cNvPr id="8" name="Content Placeholder 7">
            <a:extLst>
              <a:ext uri="{FF2B5EF4-FFF2-40B4-BE49-F238E27FC236}">
                <a16:creationId xmlns:a16="http://schemas.microsoft.com/office/drawing/2014/main" id="{1267D225-2AA0-D830-88DE-CADAE95DF074}"/>
              </a:ext>
            </a:extLst>
          </p:cNvPr>
          <p:cNvSpPr>
            <a:spLocks noGrp="1"/>
          </p:cNvSpPr>
          <p:nvPr>
            <p:ph idx="1"/>
          </p:nvPr>
        </p:nvSpPr>
        <p:spPr>
          <a:xfrm>
            <a:off x="457200" y="1600200"/>
            <a:ext cx="5637212" cy="4525963"/>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age = 16</a:t>
            </a:r>
          </a:p>
          <a:p>
            <a:pPr marL="0" indent="0">
              <a:buNone/>
            </a:pPr>
            <a:endParaRPr lang="en-US" dirty="0"/>
          </a:p>
          <a:p>
            <a:pPr marL="0" indent="0">
              <a:buNone/>
            </a:pPr>
            <a:r>
              <a:rPr lang="en-US" dirty="0"/>
              <a:t>if age &gt;= 18:</a:t>
            </a:r>
          </a:p>
          <a:p>
            <a:pPr marL="0" indent="0">
              <a:buNone/>
            </a:pPr>
            <a:r>
              <a:rPr lang="en-US" dirty="0"/>
              <a:t>    print("Adult")</a:t>
            </a:r>
          </a:p>
          <a:p>
            <a:pPr marL="0" indent="0">
              <a:buNone/>
            </a:pPr>
            <a:r>
              <a:rPr lang="en-US" dirty="0"/>
              <a:t>else:</a:t>
            </a:r>
          </a:p>
          <a:p>
            <a:pPr marL="0" indent="0">
              <a:buNone/>
            </a:pPr>
            <a:r>
              <a:rPr lang="en-US" dirty="0"/>
              <a:t>    print(“Child")</a:t>
            </a:r>
          </a:p>
        </p:txBody>
      </p:sp>
      <p:sp>
        <p:nvSpPr>
          <p:cNvPr id="10" name="Content Placeholder 7">
            <a:extLst>
              <a:ext uri="{FF2B5EF4-FFF2-40B4-BE49-F238E27FC236}">
                <a16:creationId xmlns:a16="http://schemas.microsoft.com/office/drawing/2014/main" id="{013FA370-58B6-C01C-92B9-70221D1720DD}"/>
              </a:ext>
            </a:extLst>
          </p:cNvPr>
          <p:cNvSpPr txBox="1">
            <a:spLocks/>
          </p:cNvSpPr>
          <p:nvPr/>
        </p:nvSpPr>
        <p:spPr>
          <a:xfrm>
            <a:off x="6857999" y="1600200"/>
            <a:ext cx="48736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else runs when condition is False</a:t>
            </a:r>
            <a:endParaRPr lang="en-SG" dirty="0"/>
          </a:p>
        </p:txBody>
      </p:sp>
    </p:spTree>
    <p:extLst>
      <p:ext uri="{BB962C8B-B14F-4D97-AF65-F5344CB8AC3E}">
        <p14:creationId xmlns:p14="http://schemas.microsoft.com/office/powerpoint/2010/main" val="317160830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998AB-CEBE-DF4F-362F-3B0FB04D1AF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9E71A83-DC54-9097-4D86-302EF360997F}"/>
              </a:ext>
            </a:extLst>
          </p:cNvPr>
          <p:cNvSpPr>
            <a:spLocks noGrp="1"/>
          </p:cNvSpPr>
          <p:nvPr>
            <p:ph type="title"/>
          </p:nvPr>
        </p:nvSpPr>
        <p:spPr/>
        <p:txBody>
          <a:bodyPr/>
          <a:lstStyle/>
          <a:p>
            <a:r>
              <a:rPr lang="en-SG" dirty="0"/>
              <a:t>if–</a:t>
            </a:r>
            <a:r>
              <a:rPr lang="en-SG" dirty="0" err="1"/>
              <a:t>elif</a:t>
            </a:r>
            <a:r>
              <a:rPr lang="en-SG" dirty="0"/>
              <a:t>–else Chain</a:t>
            </a:r>
          </a:p>
        </p:txBody>
      </p:sp>
      <p:sp>
        <p:nvSpPr>
          <p:cNvPr id="8" name="Content Placeholder 7">
            <a:extLst>
              <a:ext uri="{FF2B5EF4-FFF2-40B4-BE49-F238E27FC236}">
                <a16:creationId xmlns:a16="http://schemas.microsoft.com/office/drawing/2014/main" id="{97570279-B9C2-666D-D2E0-78680EF38AED}"/>
              </a:ext>
            </a:extLst>
          </p:cNvPr>
          <p:cNvSpPr>
            <a:spLocks noGrp="1"/>
          </p:cNvSpPr>
          <p:nvPr>
            <p:ph idx="1"/>
          </p:nvPr>
        </p:nvSpPr>
        <p:spPr>
          <a:xfrm>
            <a:off x="457200" y="1600200"/>
            <a:ext cx="5637212" cy="4525963"/>
          </a:xfrm>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dirty="0"/>
              <a:t>score = 75</a:t>
            </a:r>
          </a:p>
          <a:p>
            <a:pPr marL="0" indent="0">
              <a:buNone/>
            </a:pPr>
            <a:endParaRPr lang="en-US" dirty="0"/>
          </a:p>
          <a:p>
            <a:pPr marL="0" indent="0">
              <a:buNone/>
            </a:pPr>
            <a:r>
              <a:rPr lang="en-US" dirty="0"/>
              <a:t>if score &gt;= 85:</a:t>
            </a:r>
          </a:p>
          <a:p>
            <a:pPr marL="0" indent="0">
              <a:buNone/>
            </a:pPr>
            <a:r>
              <a:rPr lang="en-US" dirty="0"/>
              <a:t>    print("Distinction")</a:t>
            </a:r>
          </a:p>
          <a:p>
            <a:pPr marL="0" indent="0">
              <a:buNone/>
            </a:pPr>
            <a:r>
              <a:rPr lang="en-US" dirty="0" err="1"/>
              <a:t>elif</a:t>
            </a:r>
            <a:r>
              <a:rPr lang="en-US" dirty="0"/>
              <a:t> score &gt;= 60:</a:t>
            </a:r>
          </a:p>
          <a:p>
            <a:pPr marL="0" indent="0">
              <a:buNone/>
            </a:pPr>
            <a:r>
              <a:rPr lang="en-US" dirty="0"/>
              <a:t>    print("Pass")</a:t>
            </a:r>
          </a:p>
          <a:p>
            <a:pPr marL="0" indent="0">
              <a:buNone/>
            </a:pPr>
            <a:r>
              <a:rPr lang="en-US" dirty="0"/>
              <a:t>else:</a:t>
            </a:r>
          </a:p>
          <a:p>
            <a:pPr marL="0" indent="0">
              <a:buNone/>
            </a:pPr>
            <a:r>
              <a:rPr lang="en-US" dirty="0"/>
              <a:t>    print("Fail")</a:t>
            </a:r>
          </a:p>
        </p:txBody>
      </p:sp>
      <p:sp>
        <p:nvSpPr>
          <p:cNvPr id="10" name="Content Placeholder 7">
            <a:extLst>
              <a:ext uri="{FF2B5EF4-FFF2-40B4-BE49-F238E27FC236}">
                <a16:creationId xmlns:a16="http://schemas.microsoft.com/office/drawing/2014/main" id="{F10CA6F0-3599-642C-16B7-93D93342C711}"/>
              </a:ext>
            </a:extLst>
          </p:cNvPr>
          <p:cNvSpPr txBox="1">
            <a:spLocks/>
          </p:cNvSpPr>
          <p:nvPr/>
        </p:nvSpPr>
        <p:spPr>
          <a:xfrm>
            <a:off x="6857999" y="1600200"/>
            <a:ext cx="48736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Used for multiple conditions</a:t>
            </a:r>
          </a:p>
          <a:p>
            <a:endParaRPr lang="en-US" dirty="0"/>
          </a:p>
          <a:p>
            <a:r>
              <a:rPr lang="en-US" dirty="0"/>
              <a:t>Checked from top to bottom</a:t>
            </a:r>
            <a:endParaRPr lang="en-SG" dirty="0"/>
          </a:p>
        </p:txBody>
      </p:sp>
    </p:spTree>
    <p:extLst>
      <p:ext uri="{BB962C8B-B14F-4D97-AF65-F5344CB8AC3E}">
        <p14:creationId xmlns:p14="http://schemas.microsoft.com/office/powerpoint/2010/main" val="375779985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59556-9D07-E3F2-ED33-64D161A673E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CA709AF-7451-0268-925A-D6F7D55AF3F3}"/>
              </a:ext>
            </a:extLst>
          </p:cNvPr>
          <p:cNvSpPr>
            <a:spLocks noGrp="1"/>
          </p:cNvSpPr>
          <p:nvPr>
            <p:ph type="title"/>
          </p:nvPr>
        </p:nvSpPr>
        <p:spPr/>
        <p:txBody>
          <a:bodyPr/>
          <a:lstStyle/>
          <a:p>
            <a:r>
              <a:rPr lang="en-SG" dirty="0"/>
              <a:t>Comparison Operators</a:t>
            </a:r>
          </a:p>
        </p:txBody>
      </p:sp>
      <p:sp>
        <p:nvSpPr>
          <p:cNvPr id="8" name="Content Placeholder 7">
            <a:extLst>
              <a:ext uri="{FF2B5EF4-FFF2-40B4-BE49-F238E27FC236}">
                <a16:creationId xmlns:a16="http://schemas.microsoft.com/office/drawing/2014/main" id="{A3570B61-FADA-546B-7D21-C78C3283CB30}"/>
              </a:ext>
            </a:extLst>
          </p:cNvPr>
          <p:cNvSpPr>
            <a:spLocks noGrp="1"/>
          </p:cNvSpPr>
          <p:nvPr>
            <p:ph idx="1"/>
          </p:nvPr>
        </p:nvSpPr>
        <p:spPr>
          <a:xfrm>
            <a:off x="457200" y="1600200"/>
            <a:ext cx="5637212"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x = 10</a:t>
            </a:r>
          </a:p>
          <a:p>
            <a:pPr marL="0" indent="0">
              <a:buNone/>
            </a:pPr>
            <a:r>
              <a:rPr lang="en-US" dirty="0"/>
              <a:t>print(x &gt; 5)</a:t>
            </a:r>
          </a:p>
        </p:txBody>
      </p:sp>
      <p:sp>
        <p:nvSpPr>
          <p:cNvPr id="10" name="Content Placeholder 7">
            <a:extLst>
              <a:ext uri="{FF2B5EF4-FFF2-40B4-BE49-F238E27FC236}">
                <a16:creationId xmlns:a16="http://schemas.microsoft.com/office/drawing/2014/main" id="{69392F13-2BAB-24EF-4F94-9ADF87AC72A1}"/>
              </a:ext>
            </a:extLst>
          </p:cNvPr>
          <p:cNvSpPr txBox="1">
            <a:spLocks/>
          </p:cNvSpPr>
          <p:nvPr/>
        </p:nvSpPr>
        <p:spPr>
          <a:xfrm>
            <a:off x="6857999" y="1600200"/>
            <a:ext cx="48736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 equal to</a:t>
            </a:r>
          </a:p>
          <a:p>
            <a:endParaRPr lang="en-US" dirty="0"/>
          </a:p>
          <a:p>
            <a:r>
              <a:rPr lang="en-US" dirty="0"/>
              <a:t>!= not equal to</a:t>
            </a:r>
          </a:p>
          <a:p>
            <a:endParaRPr lang="en-US" dirty="0"/>
          </a:p>
          <a:p>
            <a:r>
              <a:rPr lang="en-US" dirty="0"/>
              <a:t>&gt; &lt; &gt;= &lt;=</a:t>
            </a:r>
            <a:endParaRPr lang="en-SG" dirty="0"/>
          </a:p>
        </p:txBody>
      </p:sp>
    </p:spTree>
    <p:extLst>
      <p:ext uri="{BB962C8B-B14F-4D97-AF65-F5344CB8AC3E}">
        <p14:creationId xmlns:p14="http://schemas.microsoft.com/office/powerpoint/2010/main" val="290367474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F7A0E-7D65-D3DF-C8BD-D8609D72A19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249C108-F1F7-550E-46F6-F0CD0EE42A6E}"/>
              </a:ext>
            </a:extLst>
          </p:cNvPr>
          <p:cNvSpPr>
            <a:spLocks noGrp="1"/>
          </p:cNvSpPr>
          <p:nvPr>
            <p:ph type="title"/>
          </p:nvPr>
        </p:nvSpPr>
        <p:spPr/>
        <p:txBody>
          <a:bodyPr/>
          <a:lstStyle/>
          <a:p>
            <a:r>
              <a:rPr lang="en-SG" dirty="0"/>
              <a:t>Logical Operators</a:t>
            </a:r>
          </a:p>
        </p:txBody>
      </p:sp>
      <p:sp>
        <p:nvSpPr>
          <p:cNvPr id="8" name="Content Placeholder 7">
            <a:extLst>
              <a:ext uri="{FF2B5EF4-FFF2-40B4-BE49-F238E27FC236}">
                <a16:creationId xmlns:a16="http://schemas.microsoft.com/office/drawing/2014/main" id="{5CA63C63-C860-391C-E77B-89E66D8AF696}"/>
              </a:ext>
            </a:extLst>
          </p:cNvPr>
          <p:cNvSpPr>
            <a:spLocks noGrp="1"/>
          </p:cNvSpPr>
          <p:nvPr>
            <p:ph idx="1"/>
          </p:nvPr>
        </p:nvSpPr>
        <p:spPr>
          <a:xfrm>
            <a:off x="457200" y="1600200"/>
            <a:ext cx="48514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age = 20</a:t>
            </a:r>
          </a:p>
          <a:p>
            <a:pPr marL="0" indent="0">
              <a:buNone/>
            </a:pPr>
            <a:r>
              <a:rPr lang="en-US" dirty="0" err="1"/>
              <a:t>is_student</a:t>
            </a:r>
            <a:r>
              <a:rPr lang="en-US" dirty="0"/>
              <a:t> = True</a:t>
            </a:r>
          </a:p>
          <a:p>
            <a:pPr marL="0" indent="0">
              <a:buNone/>
            </a:pPr>
            <a:endParaRPr lang="en-US" dirty="0"/>
          </a:p>
          <a:p>
            <a:pPr marL="0" indent="0">
              <a:buNone/>
            </a:pPr>
            <a:r>
              <a:rPr lang="en-US" dirty="0"/>
              <a:t>if age &gt;= 18 and </a:t>
            </a:r>
            <a:r>
              <a:rPr lang="en-US" dirty="0" err="1"/>
              <a:t>is_student</a:t>
            </a:r>
            <a:r>
              <a:rPr lang="en-US" dirty="0"/>
              <a:t>:</a:t>
            </a:r>
          </a:p>
          <a:p>
            <a:pPr marL="0" indent="0">
              <a:buNone/>
            </a:pPr>
            <a:r>
              <a:rPr lang="en-US" dirty="0"/>
              <a:t>    print("Eligible")</a:t>
            </a:r>
          </a:p>
        </p:txBody>
      </p:sp>
      <p:sp>
        <p:nvSpPr>
          <p:cNvPr id="10" name="Content Placeholder 7">
            <a:extLst>
              <a:ext uri="{FF2B5EF4-FFF2-40B4-BE49-F238E27FC236}">
                <a16:creationId xmlns:a16="http://schemas.microsoft.com/office/drawing/2014/main" id="{518380F3-96C4-384E-CF6B-4D37A0F584CE}"/>
              </a:ext>
            </a:extLst>
          </p:cNvPr>
          <p:cNvSpPr txBox="1">
            <a:spLocks/>
          </p:cNvSpPr>
          <p:nvPr/>
        </p:nvSpPr>
        <p:spPr>
          <a:xfrm>
            <a:off x="5600700" y="1600200"/>
            <a:ext cx="6130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and – all conditions must be true</a:t>
            </a:r>
          </a:p>
          <a:p>
            <a:endParaRPr lang="en-US" dirty="0"/>
          </a:p>
          <a:p>
            <a:r>
              <a:rPr lang="en-US" dirty="0"/>
              <a:t>or – at least one condition is true</a:t>
            </a:r>
          </a:p>
          <a:p>
            <a:endParaRPr lang="en-US" dirty="0"/>
          </a:p>
          <a:p>
            <a:r>
              <a:rPr lang="en-US" dirty="0"/>
              <a:t>not – reverses the condition</a:t>
            </a:r>
            <a:endParaRPr lang="en-SG" dirty="0"/>
          </a:p>
        </p:txBody>
      </p:sp>
    </p:spTree>
    <p:extLst>
      <p:ext uri="{BB962C8B-B14F-4D97-AF65-F5344CB8AC3E}">
        <p14:creationId xmlns:p14="http://schemas.microsoft.com/office/powerpoint/2010/main" val="317756191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54302-D4A6-4FC0-749A-C36A7895B89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8E68127-F042-7108-C8D9-F97F0FF6573C}"/>
              </a:ext>
            </a:extLst>
          </p:cNvPr>
          <p:cNvSpPr>
            <a:spLocks noGrp="1"/>
          </p:cNvSpPr>
          <p:nvPr>
            <p:ph type="title"/>
          </p:nvPr>
        </p:nvSpPr>
        <p:spPr/>
        <p:txBody>
          <a:bodyPr/>
          <a:lstStyle/>
          <a:p>
            <a:r>
              <a:rPr lang="en-SG" dirty="0"/>
              <a:t>Truthy and </a:t>
            </a:r>
            <a:r>
              <a:rPr lang="en-SG" dirty="0" err="1"/>
              <a:t>Falsy</a:t>
            </a:r>
            <a:r>
              <a:rPr lang="en-SG" dirty="0"/>
              <a:t> Values</a:t>
            </a:r>
          </a:p>
        </p:txBody>
      </p:sp>
      <p:sp>
        <p:nvSpPr>
          <p:cNvPr id="8" name="Content Placeholder 7">
            <a:extLst>
              <a:ext uri="{FF2B5EF4-FFF2-40B4-BE49-F238E27FC236}">
                <a16:creationId xmlns:a16="http://schemas.microsoft.com/office/drawing/2014/main" id="{C300EEA4-54BC-EB1A-AB99-ED9E5DF8A2EC}"/>
              </a:ext>
            </a:extLst>
          </p:cNvPr>
          <p:cNvSpPr>
            <a:spLocks noGrp="1"/>
          </p:cNvSpPr>
          <p:nvPr>
            <p:ph idx="1"/>
          </p:nvPr>
        </p:nvSpPr>
        <p:spPr>
          <a:xfrm>
            <a:off x="457200" y="1600200"/>
            <a:ext cx="48514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items = []</a:t>
            </a:r>
          </a:p>
          <a:p>
            <a:pPr marL="0" indent="0">
              <a:buNone/>
            </a:pPr>
            <a:endParaRPr lang="en-US" dirty="0"/>
          </a:p>
          <a:p>
            <a:pPr marL="0" indent="0">
              <a:buNone/>
            </a:pPr>
            <a:r>
              <a:rPr lang="en-US" dirty="0"/>
              <a:t>if items:</a:t>
            </a:r>
          </a:p>
          <a:p>
            <a:pPr marL="0" indent="0">
              <a:buNone/>
            </a:pPr>
            <a:r>
              <a:rPr lang="en-US" dirty="0"/>
              <a:t>    print("Has items")</a:t>
            </a:r>
          </a:p>
          <a:p>
            <a:pPr marL="0" indent="0">
              <a:buNone/>
            </a:pPr>
            <a:r>
              <a:rPr lang="en-US" dirty="0"/>
              <a:t>else:</a:t>
            </a:r>
          </a:p>
          <a:p>
            <a:pPr marL="0" indent="0">
              <a:buNone/>
            </a:pPr>
            <a:r>
              <a:rPr lang="en-US" dirty="0"/>
              <a:t>    print("Empty list")</a:t>
            </a:r>
          </a:p>
        </p:txBody>
      </p:sp>
      <p:sp>
        <p:nvSpPr>
          <p:cNvPr id="10" name="Content Placeholder 7">
            <a:extLst>
              <a:ext uri="{FF2B5EF4-FFF2-40B4-BE49-F238E27FC236}">
                <a16:creationId xmlns:a16="http://schemas.microsoft.com/office/drawing/2014/main" id="{87462A54-A580-ABD1-2697-157496A4EE19}"/>
              </a:ext>
            </a:extLst>
          </p:cNvPr>
          <p:cNvSpPr txBox="1">
            <a:spLocks/>
          </p:cNvSpPr>
          <p:nvPr/>
        </p:nvSpPr>
        <p:spPr>
          <a:xfrm>
            <a:off x="5600700" y="1600200"/>
            <a:ext cx="6130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Key Ideas</a:t>
            </a:r>
          </a:p>
          <a:p>
            <a:pPr lvl="1"/>
            <a:r>
              <a:rPr lang="en-US" dirty="0"/>
              <a:t>Not all conditions are explicitly True or False</a:t>
            </a:r>
          </a:p>
          <a:p>
            <a:pPr lvl="1"/>
            <a:endParaRPr lang="en-US" dirty="0"/>
          </a:p>
          <a:p>
            <a:r>
              <a:rPr lang="en-US" b="1" dirty="0"/>
              <a:t>Common </a:t>
            </a:r>
            <a:r>
              <a:rPr lang="en-US" b="1" dirty="0" err="1"/>
              <a:t>Falsy</a:t>
            </a:r>
            <a:r>
              <a:rPr lang="en-US" b="1" dirty="0"/>
              <a:t> Values</a:t>
            </a:r>
          </a:p>
          <a:p>
            <a:pPr lvl="1"/>
            <a:r>
              <a:rPr lang="en-US" dirty="0"/>
              <a:t>False, None</a:t>
            </a:r>
          </a:p>
          <a:p>
            <a:pPr lvl="1"/>
            <a:r>
              <a:rPr lang="en-US" dirty="0"/>
              <a:t>0, 0.0</a:t>
            </a:r>
          </a:p>
          <a:p>
            <a:pPr lvl="1"/>
            <a:r>
              <a:rPr lang="en-US" dirty="0"/>
              <a:t>"", [], {}</a:t>
            </a:r>
          </a:p>
        </p:txBody>
      </p:sp>
    </p:spTree>
    <p:extLst>
      <p:ext uri="{BB962C8B-B14F-4D97-AF65-F5344CB8AC3E}">
        <p14:creationId xmlns:p14="http://schemas.microsoft.com/office/powerpoint/2010/main" val="172022980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BDC13-0912-830C-A8D8-E126E9B80640}"/>
              </a:ext>
            </a:extLst>
          </p:cNvPr>
          <p:cNvSpPr>
            <a:spLocks noGrp="1"/>
          </p:cNvSpPr>
          <p:nvPr>
            <p:ph type="title"/>
          </p:nvPr>
        </p:nvSpPr>
        <p:spPr/>
        <p:txBody>
          <a:bodyPr/>
          <a:lstStyle/>
          <a:p>
            <a:r>
              <a:rPr lang="en-US" dirty="0"/>
              <a:t>Unpacking Operators: Overview</a:t>
            </a:r>
            <a:endParaRPr lang="en-SG" dirty="0"/>
          </a:p>
        </p:txBody>
      </p:sp>
      <p:sp>
        <p:nvSpPr>
          <p:cNvPr id="3" name="Content Placeholder 2">
            <a:extLst>
              <a:ext uri="{FF2B5EF4-FFF2-40B4-BE49-F238E27FC236}">
                <a16:creationId xmlns:a16="http://schemas.microsoft.com/office/drawing/2014/main" id="{D0B31A77-C0FF-7C72-9E7E-3042496E3597}"/>
              </a:ext>
            </a:extLst>
          </p:cNvPr>
          <p:cNvSpPr>
            <a:spLocks noGrp="1"/>
          </p:cNvSpPr>
          <p:nvPr>
            <p:ph idx="1"/>
          </p:nvPr>
        </p:nvSpPr>
        <p:spPr/>
        <p:txBody>
          <a:bodyPr/>
          <a:lstStyle/>
          <a:p>
            <a:r>
              <a:rPr lang="en-US" dirty="0"/>
              <a:t>* and ** can be used to </a:t>
            </a:r>
            <a:r>
              <a:rPr lang="en-US" b="1" dirty="0"/>
              <a:t>unpack values</a:t>
            </a:r>
            <a:endParaRPr lang="en-US" dirty="0"/>
          </a:p>
          <a:p>
            <a:r>
              <a:rPr lang="en-US" dirty="0"/>
              <a:t>Context matters: meaning changes based on </a:t>
            </a:r>
            <a:r>
              <a:rPr lang="en-US" i="1" dirty="0"/>
              <a:t>where</a:t>
            </a:r>
            <a:r>
              <a:rPr lang="en-US" dirty="0"/>
              <a:t> they appear</a:t>
            </a:r>
          </a:p>
          <a:p>
            <a:r>
              <a:rPr lang="en-US" dirty="0"/>
              <a:t>Commonly used in function calls and assignments</a:t>
            </a:r>
          </a:p>
          <a:p>
            <a:endParaRPr lang="en-SG" dirty="0"/>
          </a:p>
        </p:txBody>
      </p:sp>
    </p:spTree>
    <p:extLst>
      <p:ext uri="{BB962C8B-B14F-4D97-AF65-F5344CB8AC3E}">
        <p14:creationId xmlns:p14="http://schemas.microsoft.com/office/powerpoint/2010/main" val="308568690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B675-6BF3-C1E3-9F17-28294E061D9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1410B50-DA15-A502-D79B-24171E212027}"/>
              </a:ext>
            </a:extLst>
          </p:cNvPr>
          <p:cNvSpPr>
            <a:spLocks noGrp="1"/>
          </p:cNvSpPr>
          <p:nvPr>
            <p:ph type="title"/>
          </p:nvPr>
        </p:nvSpPr>
        <p:spPr/>
        <p:txBody>
          <a:bodyPr/>
          <a:lstStyle/>
          <a:p>
            <a:r>
              <a:rPr lang="en-US" dirty="0"/>
              <a:t>What Is Unpacking?</a:t>
            </a:r>
          </a:p>
        </p:txBody>
      </p:sp>
      <p:sp>
        <p:nvSpPr>
          <p:cNvPr id="8" name="Content Placeholder 7">
            <a:extLst>
              <a:ext uri="{FF2B5EF4-FFF2-40B4-BE49-F238E27FC236}">
                <a16:creationId xmlns:a16="http://schemas.microsoft.com/office/drawing/2014/main" id="{633FC12B-E966-9C6E-B280-7C05BF53CCAB}"/>
              </a:ext>
            </a:extLst>
          </p:cNvPr>
          <p:cNvSpPr>
            <a:spLocks noGrp="1"/>
          </p:cNvSpPr>
          <p:nvPr>
            <p:ph idx="1"/>
          </p:nvPr>
        </p:nvSpPr>
        <p:spPr>
          <a:xfrm>
            <a:off x="457200" y="1600200"/>
            <a:ext cx="48514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a, b = [1, 2]</a:t>
            </a:r>
          </a:p>
        </p:txBody>
      </p:sp>
      <p:sp>
        <p:nvSpPr>
          <p:cNvPr id="10" name="Content Placeholder 7">
            <a:extLst>
              <a:ext uri="{FF2B5EF4-FFF2-40B4-BE49-F238E27FC236}">
                <a16:creationId xmlns:a16="http://schemas.microsoft.com/office/drawing/2014/main" id="{7914A04A-161E-2355-B19F-B81DE4F3AA64}"/>
              </a:ext>
            </a:extLst>
          </p:cNvPr>
          <p:cNvSpPr txBox="1">
            <a:spLocks/>
          </p:cNvSpPr>
          <p:nvPr/>
        </p:nvSpPr>
        <p:spPr>
          <a:xfrm>
            <a:off x="5600700" y="1600200"/>
            <a:ext cx="6130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Unpacking extracts elements from a collection</a:t>
            </a:r>
          </a:p>
          <a:p>
            <a:r>
              <a:rPr lang="en-US" dirty="0"/>
              <a:t>Assigns them to variables or passes them as arguments</a:t>
            </a:r>
          </a:p>
        </p:txBody>
      </p:sp>
    </p:spTree>
    <p:extLst>
      <p:ext uri="{BB962C8B-B14F-4D97-AF65-F5344CB8AC3E}">
        <p14:creationId xmlns:p14="http://schemas.microsoft.com/office/powerpoint/2010/main" val="65938032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DE736-29C6-0904-0F92-4DCED3521657}"/>
              </a:ext>
            </a:extLst>
          </p:cNvPr>
          <p:cNvSpPr>
            <a:spLocks noGrp="1"/>
          </p:cNvSpPr>
          <p:nvPr>
            <p:ph type="title"/>
          </p:nvPr>
        </p:nvSpPr>
        <p:spPr/>
        <p:txBody>
          <a:bodyPr>
            <a:normAutofit/>
          </a:bodyPr>
          <a:lstStyle/>
          <a:p>
            <a:r>
              <a:rPr lang="en-US" dirty="0"/>
              <a:t>Unpacking Operators (* and **)</a:t>
            </a:r>
            <a:endParaRPr lang="en-SG" dirty="0"/>
          </a:p>
        </p:txBody>
      </p:sp>
      <p:sp>
        <p:nvSpPr>
          <p:cNvPr id="3" name="Content Placeholder 2">
            <a:extLst>
              <a:ext uri="{FF2B5EF4-FFF2-40B4-BE49-F238E27FC236}">
                <a16:creationId xmlns:a16="http://schemas.microsoft.com/office/drawing/2014/main" id="{336DA768-5FCD-848F-88AC-D3F9A9AA5016}"/>
              </a:ext>
            </a:extLst>
          </p:cNvPr>
          <p:cNvSpPr>
            <a:spLocks noGrp="1"/>
          </p:cNvSpPr>
          <p:nvPr>
            <p:ph idx="1"/>
          </p:nvPr>
        </p:nvSpPr>
        <p:spPr/>
        <p:txBody>
          <a:bodyPr/>
          <a:lstStyle/>
          <a:p>
            <a:r>
              <a:rPr lang="en-US" dirty="0"/>
              <a:t>* → positional values</a:t>
            </a:r>
          </a:p>
          <a:p>
            <a:r>
              <a:rPr lang="en-US" dirty="0"/>
              <a:t>** → named values</a:t>
            </a:r>
          </a:p>
          <a:p>
            <a:r>
              <a:rPr lang="en-US" dirty="0"/>
              <a:t>Meaning depends on </a:t>
            </a:r>
            <a:r>
              <a:rPr lang="en-US" b="1" dirty="0"/>
              <a:t>context</a:t>
            </a:r>
            <a:endParaRPr lang="en-US" dirty="0"/>
          </a:p>
          <a:p>
            <a:r>
              <a:rPr lang="en-US" b="1" dirty="0"/>
              <a:t>Used everywhere</a:t>
            </a:r>
            <a:r>
              <a:rPr lang="en-US" dirty="0"/>
              <a:t>: APIs, wrappers, forwarding</a:t>
            </a:r>
          </a:p>
          <a:p>
            <a:endParaRPr lang="en-SG" dirty="0"/>
          </a:p>
        </p:txBody>
      </p:sp>
    </p:spTree>
    <p:extLst>
      <p:ext uri="{BB962C8B-B14F-4D97-AF65-F5344CB8AC3E}">
        <p14:creationId xmlns:p14="http://schemas.microsoft.com/office/powerpoint/2010/main" val="34653266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95C2F-4801-106A-C43B-9387C5D7BAA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DE6A5D3-1E42-9854-6DFE-221361A8450A}"/>
              </a:ext>
            </a:extLst>
          </p:cNvPr>
          <p:cNvSpPr>
            <a:spLocks noGrp="1"/>
          </p:cNvSpPr>
          <p:nvPr>
            <p:ph type="title"/>
          </p:nvPr>
        </p:nvSpPr>
        <p:spPr/>
        <p:txBody>
          <a:bodyPr/>
          <a:lstStyle/>
          <a:p>
            <a:r>
              <a:rPr lang="en-US" dirty="0"/>
              <a:t>* for </a:t>
            </a:r>
            <a:r>
              <a:rPr lang="en-US" dirty="0" err="1"/>
              <a:t>Iterable</a:t>
            </a:r>
            <a:r>
              <a:rPr lang="en-US" dirty="0"/>
              <a:t> Unpacking</a:t>
            </a:r>
          </a:p>
        </p:txBody>
      </p:sp>
      <p:sp>
        <p:nvSpPr>
          <p:cNvPr id="8" name="Content Placeholder 7">
            <a:extLst>
              <a:ext uri="{FF2B5EF4-FFF2-40B4-BE49-F238E27FC236}">
                <a16:creationId xmlns:a16="http://schemas.microsoft.com/office/drawing/2014/main" id="{01BAFFFA-3F39-146F-DD1C-611423FBD2E4}"/>
              </a:ext>
            </a:extLst>
          </p:cNvPr>
          <p:cNvSpPr>
            <a:spLocks noGrp="1"/>
          </p:cNvSpPr>
          <p:nvPr>
            <p:ph idx="1"/>
          </p:nvPr>
        </p:nvSpPr>
        <p:spPr>
          <a:xfrm>
            <a:off x="457200" y="1600200"/>
            <a:ext cx="48514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numbers = [1, 2, 3]</a:t>
            </a:r>
          </a:p>
          <a:p>
            <a:pPr marL="0" indent="0">
              <a:buNone/>
            </a:pPr>
            <a:r>
              <a:rPr lang="en-US" dirty="0"/>
              <a:t>a, b, c = numbers</a:t>
            </a:r>
          </a:p>
        </p:txBody>
      </p:sp>
      <p:sp>
        <p:nvSpPr>
          <p:cNvPr id="10" name="Content Placeholder 7">
            <a:extLst>
              <a:ext uri="{FF2B5EF4-FFF2-40B4-BE49-F238E27FC236}">
                <a16:creationId xmlns:a16="http://schemas.microsoft.com/office/drawing/2014/main" id="{882925AC-40FC-FBF9-4267-B2DDD7558B92}"/>
              </a:ext>
            </a:extLst>
          </p:cNvPr>
          <p:cNvSpPr txBox="1">
            <a:spLocks/>
          </p:cNvSpPr>
          <p:nvPr/>
        </p:nvSpPr>
        <p:spPr>
          <a:xfrm>
            <a:off x="5600700" y="1600200"/>
            <a:ext cx="6130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Purpose - </a:t>
            </a:r>
            <a:r>
              <a:rPr lang="en-US" dirty="0"/>
              <a:t>Unpack </a:t>
            </a:r>
            <a:r>
              <a:rPr lang="en-US" dirty="0" err="1"/>
              <a:t>iterables</a:t>
            </a:r>
            <a:r>
              <a:rPr lang="en-US" dirty="0"/>
              <a:t> (lists, tuples, strings)</a:t>
            </a:r>
          </a:p>
          <a:p>
            <a:endParaRPr lang="en-US" b="1" dirty="0"/>
          </a:p>
          <a:p>
            <a:r>
              <a:rPr lang="en-US" b="1" dirty="0"/>
              <a:t>Rule - </a:t>
            </a:r>
            <a:r>
              <a:rPr lang="en-US" dirty="0"/>
              <a:t>Number of variables must match values (unless using *)</a:t>
            </a:r>
          </a:p>
          <a:p>
            <a:endParaRPr lang="en-US" dirty="0"/>
          </a:p>
        </p:txBody>
      </p:sp>
    </p:spTree>
    <p:extLst>
      <p:ext uri="{BB962C8B-B14F-4D97-AF65-F5344CB8AC3E}">
        <p14:creationId xmlns:p14="http://schemas.microsoft.com/office/powerpoint/2010/main" val="327304289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7B090-F4DC-DBFE-C0A5-9ED3993F724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46114BB-31A7-EEAE-04A9-3851219F3E29}"/>
              </a:ext>
            </a:extLst>
          </p:cNvPr>
          <p:cNvSpPr>
            <a:spLocks noGrp="1"/>
          </p:cNvSpPr>
          <p:nvPr>
            <p:ph type="title"/>
          </p:nvPr>
        </p:nvSpPr>
        <p:spPr/>
        <p:txBody>
          <a:bodyPr/>
          <a:lstStyle/>
          <a:p>
            <a:r>
              <a:rPr lang="en-US" dirty="0"/>
              <a:t>Extended Unpacking with *</a:t>
            </a:r>
          </a:p>
        </p:txBody>
      </p:sp>
      <p:sp>
        <p:nvSpPr>
          <p:cNvPr id="8" name="Content Placeholder 7">
            <a:extLst>
              <a:ext uri="{FF2B5EF4-FFF2-40B4-BE49-F238E27FC236}">
                <a16:creationId xmlns:a16="http://schemas.microsoft.com/office/drawing/2014/main" id="{9104125E-2555-F32E-BBDE-315A7D58910A}"/>
              </a:ext>
            </a:extLst>
          </p:cNvPr>
          <p:cNvSpPr>
            <a:spLocks noGrp="1"/>
          </p:cNvSpPr>
          <p:nvPr>
            <p:ph idx="1"/>
          </p:nvPr>
        </p:nvSpPr>
        <p:spPr>
          <a:xfrm>
            <a:off x="457200" y="1600200"/>
            <a:ext cx="48514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a, *rest = [1, 2, 3, 4]</a:t>
            </a:r>
          </a:p>
          <a:p>
            <a:pPr marL="0" indent="0">
              <a:buNone/>
            </a:pPr>
            <a:endParaRPr lang="en-US" dirty="0"/>
          </a:p>
          <a:p>
            <a:pPr marL="0" indent="0">
              <a:buNone/>
            </a:pPr>
            <a:r>
              <a:rPr lang="en-US" dirty="0"/>
              <a:t># result:</a:t>
            </a:r>
          </a:p>
          <a:p>
            <a:pPr marL="0" indent="0">
              <a:buNone/>
            </a:pPr>
            <a:r>
              <a:rPr lang="en-US" dirty="0"/>
              <a:t>a = 1</a:t>
            </a:r>
          </a:p>
          <a:p>
            <a:pPr marL="0" indent="0">
              <a:buNone/>
            </a:pPr>
            <a:r>
              <a:rPr lang="en-US" dirty="0"/>
              <a:t>rest = [2, 3, 4]</a:t>
            </a:r>
          </a:p>
          <a:p>
            <a:pPr marL="0" indent="0">
              <a:buNone/>
            </a:pPr>
            <a:endParaRPr lang="en-US" dirty="0"/>
          </a:p>
        </p:txBody>
      </p:sp>
      <p:sp>
        <p:nvSpPr>
          <p:cNvPr id="10" name="Content Placeholder 7">
            <a:extLst>
              <a:ext uri="{FF2B5EF4-FFF2-40B4-BE49-F238E27FC236}">
                <a16:creationId xmlns:a16="http://schemas.microsoft.com/office/drawing/2014/main" id="{F20A74BD-5128-C247-88BA-C50B944A8A4B}"/>
              </a:ext>
            </a:extLst>
          </p:cNvPr>
          <p:cNvSpPr txBox="1">
            <a:spLocks/>
          </p:cNvSpPr>
          <p:nvPr/>
        </p:nvSpPr>
        <p:spPr>
          <a:xfrm>
            <a:off x="5600700" y="1600200"/>
            <a:ext cx="6130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Capture an unknown number of values</a:t>
            </a:r>
          </a:p>
        </p:txBody>
      </p:sp>
    </p:spTree>
    <p:extLst>
      <p:ext uri="{BB962C8B-B14F-4D97-AF65-F5344CB8AC3E}">
        <p14:creationId xmlns:p14="http://schemas.microsoft.com/office/powerpoint/2010/main" val="317161859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930FC-D574-1A5E-12BF-04537C7929D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51ECE90-12D9-D2CA-0310-F3E02BE585CA}"/>
              </a:ext>
            </a:extLst>
          </p:cNvPr>
          <p:cNvSpPr>
            <a:spLocks noGrp="1"/>
          </p:cNvSpPr>
          <p:nvPr>
            <p:ph type="title"/>
          </p:nvPr>
        </p:nvSpPr>
        <p:spPr/>
        <p:txBody>
          <a:bodyPr/>
          <a:lstStyle/>
          <a:p>
            <a:r>
              <a:rPr lang="en-US" dirty="0"/>
              <a:t>* Can Appear Anywhere</a:t>
            </a:r>
          </a:p>
        </p:txBody>
      </p:sp>
      <p:sp>
        <p:nvSpPr>
          <p:cNvPr id="8" name="Content Placeholder 7">
            <a:extLst>
              <a:ext uri="{FF2B5EF4-FFF2-40B4-BE49-F238E27FC236}">
                <a16:creationId xmlns:a16="http://schemas.microsoft.com/office/drawing/2014/main" id="{3477D232-5A41-C3BD-CED9-A94648A90F05}"/>
              </a:ext>
            </a:extLst>
          </p:cNvPr>
          <p:cNvSpPr>
            <a:spLocks noGrp="1"/>
          </p:cNvSpPr>
          <p:nvPr>
            <p:ph idx="1"/>
          </p:nvPr>
        </p:nvSpPr>
        <p:spPr>
          <a:xfrm>
            <a:off x="457200" y="1600200"/>
            <a:ext cx="5637212" cy="4525963"/>
          </a:xfrm>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dirty="0"/>
              <a:t>*start, last = [1, 2, 3]</a:t>
            </a:r>
          </a:p>
          <a:p>
            <a:pPr marL="0" indent="0">
              <a:buNone/>
            </a:pPr>
            <a:r>
              <a:rPr lang="en-US" dirty="0"/>
              <a:t>first, *middle, last = [1, 2, 3, 4, 5]</a:t>
            </a:r>
          </a:p>
          <a:p>
            <a:pPr marL="0" indent="0">
              <a:buNone/>
            </a:pPr>
            <a:endParaRPr lang="en-US" dirty="0"/>
          </a:p>
          <a:p>
            <a:pPr marL="0" indent="0">
              <a:buNone/>
            </a:pPr>
            <a:r>
              <a:rPr lang="en-US" dirty="0"/>
              <a:t>#result</a:t>
            </a:r>
          </a:p>
          <a:p>
            <a:pPr marL="0" indent="0">
              <a:buNone/>
            </a:pPr>
            <a:r>
              <a:rPr lang="en-US" dirty="0"/>
              <a:t>start = [1,2] </a:t>
            </a:r>
          </a:p>
          <a:p>
            <a:pPr marL="0" indent="0">
              <a:buNone/>
            </a:pPr>
            <a:r>
              <a:rPr lang="en-US" dirty="0"/>
              <a:t>first = 1</a:t>
            </a:r>
          </a:p>
          <a:p>
            <a:pPr marL="0" indent="0">
              <a:buNone/>
            </a:pPr>
            <a:r>
              <a:rPr lang="en-US" dirty="0"/>
              <a:t>middle = [2,3,4]</a:t>
            </a:r>
          </a:p>
          <a:p>
            <a:pPr marL="0" indent="0">
              <a:buNone/>
            </a:pPr>
            <a:r>
              <a:rPr lang="en-US" dirty="0"/>
              <a:t>last =5 </a:t>
            </a:r>
          </a:p>
        </p:txBody>
      </p:sp>
      <p:sp>
        <p:nvSpPr>
          <p:cNvPr id="10" name="Content Placeholder 7">
            <a:extLst>
              <a:ext uri="{FF2B5EF4-FFF2-40B4-BE49-F238E27FC236}">
                <a16:creationId xmlns:a16="http://schemas.microsoft.com/office/drawing/2014/main" id="{D2546206-6AC7-D083-1470-54B14F74A3D2}"/>
              </a:ext>
            </a:extLst>
          </p:cNvPr>
          <p:cNvSpPr txBox="1">
            <a:spLocks/>
          </p:cNvSpPr>
          <p:nvPr/>
        </p:nvSpPr>
        <p:spPr>
          <a:xfrm>
            <a:off x="6565900" y="1600200"/>
            <a:ext cx="51657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t>Rule - </a:t>
            </a:r>
            <a:r>
              <a:rPr lang="en-US" dirty="0"/>
              <a:t>Only </a:t>
            </a:r>
            <a:r>
              <a:rPr lang="en-US" b="1" dirty="0"/>
              <a:t>one</a:t>
            </a:r>
            <a:r>
              <a:rPr lang="en-US" dirty="0"/>
              <a:t> * allowed per assignment</a:t>
            </a:r>
          </a:p>
          <a:p>
            <a:endParaRPr lang="en-US" dirty="0"/>
          </a:p>
        </p:txBody>
      </p:sp>
    </p:spTree>
    <p:extLst>
      <p:ext uri="{BB962C8B-B14F-4D97-AF65-F5344CB8AC3E}">
        <p14:creationId xmlns:p14="http://schemas.microsoft.com/office/powerpoint/2010/main" val="190284969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26749-5ABE-FDA1-18AE-BA635C4A429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06FA89B-0686-D971-C4A2-01B7B116EDCF}"/>
              </a:ext>
            </a:extLst>
          </p:cNvPr>
          <p:cNvSpPr>
            <a:spLocks noGrp="1"/>
          </p:cNvSpPr>
          <p:nvPr>
            <p:ph type="title"/>
          </p:nvPr>
        </p:nvSpPr>
        <p:spPr/>
        <p:txBody>
          <a:bodyPr/>
          <a:lstStyle/>
          <a:p>
            <a:r>
              <a:rPr lang="en-US" dirty="0"/>
              <a:t>Unpacking in Function Calls (*</a:t>
            </a:r>
            <a:r>
              <a:rPr lang="en-US" dirty="0" err="1"/>
              <a:t>args</a:t>
            </a:r>
            <a:r>
              <a:rPr lang="en-US" dirty="0"/>
              <a:t>)</a:t>
            </a:r>
          </a:p>
        </p:txBody>
      </p:sp>
      <p:sp>
        <p:nvSpPr>
          <p:cNvPr id="8" name="Content Placeholder 7">
            <a:extLst>
              <a:ext uri="{FF2B5EF4-FFF2-40B4-BE49-F238E27FC236}">
                <a16:creationId xmlns:a16="http://schemas.microsoft.com/office/drawing/2014/main" id="{03E05472-CDAF-0AB2-29D6-E591585CA8AC}"/>
              </a:ext>
            </a:extLst>
          </p:cNvPr>
          <p:cNvSpPr>
            <a:spLocks noGrp="1"/>
          </p:cNvSpPr>
          <p:nvPr>
            <p:ph idx="1"/>
          </p:nvPr>
        </p:nvSpPr>
        <p:spPr>
          <a:xfrm>
            <a:off x="457200" y="1600200"/>
            <a:ext cx="5637212"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fr-FR" dirty="0"/>
              <a:t>values = [3, 5]</a:t>
            </a:r>
          </a:p>
          <a:p>
            <a:pPr marL="0" indent="0">
              <a:buNone/>
            </a:pPr>
            <a:r>
              <a:rPr lang="fr-FR" dirty="0" err="1"/>
              <a:t>print</a:t>
            </a:r>
            <a:r>
              <a:rPr lang="fr-FR" dirty="0"/>
              <a:t>(max(*values))</a:t>
            </a:r>
          </a:p>
          <a:p>
            <a:pPr marL="0" indent="0">
              <a:buNone/>
            </a:pPr>
            <a:endParaRPr lang="fr-FR" dirty="0"/>
          </a:p>
          <a:p>
            <a:pPr marL="0" indent="0">
              <a:buNone/>
            </a:pPr>
            <a:r>
              <a:rPr lang="fr-FR" dirty="0"/>
              <a:t># </a:t>
            </a:r>
            <a:r>
              <a:rPr lang="fr-FR" dirty="0" err="1"/>
              <a:t>equivalent</a:t>
            </a:r>
            <a:r>
              <a:rPr lang="fr-FR" dirty="0"/>
              <a:t> to</a:t>
            </a:r>
          </a:p>
          <a:p>
            <a:pPr marL="0" indent="0">
              <a:buNone/>
            </a:pPr>
            <a:r>
              <a:rPr lang="fr-FR" dirty="0" err="1"/>
              <a:t>print</a:t>
            </a:r>
            <a:r>
              <a:rPr lang="fr-FR" dirty="0"/>
              <a:t>(max(3, 5))</a:t>
            </a:r>
          </a:p>
          <a:p>
            <a:pPr marL="0" indent="0">
              <a:buNone/>
            </a:pPr>
            <a:endParaRPr lang="fr-FR" dirty="0"/>
          </a:p>
        </p:txBody>
      </p:sp>
      <p:sp>
        <p:nvSpPr>
          <p:cNvPr id="10" name="Content Placeholder 7">
            <a:extLst>
              <a:ext uri="{FF2B5EF4-FFF2-40B4-BE49-F238E27FC236}">
                <a16:creationId xmlns:a16="http://schemas.microsoft.com/office/drawing/2014/main" id="{0D6522C0-41AB-9C01-A099-71ABB8A85B56}"/>
              </a:ext>
            </a:extLst>
          </p:cNvPr>
          <p:cNvSpPr txBox="1">
            <a:spLocks/>
          </p:cNvSpPr>
          <p:nvPr/>
        </p:nvSpPr>
        <p:spPr>
          <a:xfrm>
            <a:off x="6565900" y="1600200"/>
            <a:ext cx="51657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Expand a list/tuple into positional arguments</a:t>
            </a:r>
          </a:p>
        </p:txBody>
      </p:sp>
    </p:spTree>
    <p:extLst>
      <p:ext uri="{BB962C8B-B14F-4D97-AF65-F5344CB8AC3E}">
        <p14:creationId xmlns:p14="http://schemas.microsoft.com/office/powerpoint/2010/main" val="65914780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D3873-CDD7-4E75-2760-AE100E30978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81E7CFA-5D58-68CD-8092-915B03B1F1C4}"/>
              </a:ext>
            </a:extLst>
          </p:cNvPr>
          <p:cNvSpPr>
            <a:spLocks noGrp="1"/>
          </p:cNvSpPr>
          <p:nvPr>
            <p:ph type="title"/>
          </p:nvPr>
        </p:nvSpPr>
        <p:spPr/>
        <p:txBody>
          <a:bodyPr/>
          <a:lstStyle/>
          <a:p>
            <a:r>
              <a:rPr lang="en-US" dirty="0"/>
              <a:t>*</a:t>
            </a:r>
            <a:r>
              <a:rPr lang="en-US" dirty="0" err="1"/>
              <a:t>args</a:t>
            </a:r>
            <a:r>
              <a:rPr lang="en-US" dirty="0"/>
              <a:t> in Function Definitions</a:t>
            </a:r>
          </a:p>
        </p:txBody>
      </p:sp>
      <p:sp>
        <p:nvSpPr>
          <p:cNvPr id="8" name="Content Placeholder 7">
            <a:extLst>
              <a:ext uri="{FF2B5EF4-FFF2-40B4-BE49-F238E27FC236}">
                <a16:creationId xmlns:a16="http://schemas.microsoft.com/office/drawing/2014/main" id="{D31963D7-48FF-199C-E1BA-D6287095683A}"/>
              </a:ext>
            </a:extLst>
          </p:cNvPr>
          <p:cNvSpPr>
            <a:spLocks noGrp="1"/>
          </p:cNvSpPr>
          <p:nvPr>
            <p:ph idx="1"/>
          </p:nvPr>
        </p:nvSpPr>
        <p:spPr>
          <a:xfrm>
            <a:off x="457200" y="1600200"/>
            <a:ext cx="5637212"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total(*numbers):</a:t>
            </a:r>
          </a:p>
          <a:p>
            <a:pPr marL="0" indent="0">
              <a:buNone/>
            </a:pPr>
            <a:r>
              <a:rPr lang="en-US" dirty="0"/>
              <a:t>    return sum(numbers)</a:t>
            </a:r>
          </a:p>
        </p:txBody>
      </p:sp>
      <p:sp>
        <p:nvSpPr>
          <p:cNvPr id="10" name="Content Placeholder 7">
            <a:extLst>
              <a:ext uri="{FF2B5EF4-FFF2-40B4-BE49-F238E27FC236}">
                <a16:creationId xmlns:a16="http://schemas.microsoft.com/office/drawing/2014/main" id="{9F5A4BBC-A0E8-8600-CF6A-9CB80829C62F}"/>
              </a:ext>
            </a:extLst>
          </p:cNvPr>
          <p:cNvSpPr txBox="1">
            <a:spLocks/>
          </p:cNvSpPr>
          <p:nvPr/>
        </p:nvSpPr>
        <p:spPr>
          <a:xfrm>
            <a:off x="6565900" y="1600200"/>
            <a:ext cx="51657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Accept any number of positional arguments</a:t>
            </a:r>
          </a:p>
          <a:p>
            <a:r>
              <a:rPr lang="en-US" dirty="0"/>
              <a:t>Inside the function, numbers is a tuple</a:t>
            </a:r>
          </a:p>
          <a:p>
            <a:endParaRPr lang="en-US" dirty="0"/>
          </a:p>
        </p:txBody>
      </p:sp>
    </p:spTree>
    <p:extLst>
      <p:ext uri="{BB962C8B-B14F-4D97-AF65-F5344CB8AC3E}">
        <p14:creationId xmlns:p14="http://schemas.microsoft.com/office/powerpoint/2010/main" val="251391639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2486-4D02-ED41-33C2-FC62E78AB0D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2D0FA78-E596-21B5-8A49-20288B728104}"/>
              </a:ext>
            </a:extLst>
          </p:cNvPr>
          <p:cNvSpPr>
            <a:spLocks noGrp="1"/>
          </p:cNvSpPr>
          <p:nvPr>
            <p:ph type="title"/>
          </p:nvPr>
        </p:nvSpPr>
        <p:spPr/>
        <p:txBody>
          <a:bodyPr/>
          <a:lstStyle/>
          <a:p>
            <a:r>
              <a:rPr lang="en-US" dirty="0"/>
              <a:t>** for Dictionary Unpacking</a:t>
            </a:r>
          </a:p>
        </p:txBody>
      </p:sp>
      <p:sp>
        <p:nvSpPr>
          <p:cNvPr id="8" name="Content Placeholder 7">
            <a:extLst>
              <a:ext uri="{FF2B5EF4-FFF2-40B4-BE49-F238E27FC236}">
                <a16:creationId xmlns:a16="http://schemas.microsoft.com/office/drawing/2014/main" id="{4B23F5B8-E8A6-075A-EE49-C89B2529934D}"/>
              </a:ext>
            </a:extLst>
          </p:cNvPr>
          <p:cNvSpPr>
            <a:spLocks noGrp="1"/>
          </p:cNvSpPr>
          <p:nvPr>
            <p:ph idx="1"/>
          </p:nvPr>
        </p:nvSpPr>
        <p:spPr>
          <a:xfrm>
            <a:off x="457200" y="1600200"/>
            <a:ext cx="5637212"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data = {"x": 1, "y": 2}</a:t>
            </a:r>
          </a:p>
          <a:p>
            <a:pPr marL="0" indent="0">
              <a:buNone/>
            </a:pPr>
            <a:r>
              <a:rPr lang="en-US" dirty="0"/>
              <a:t>print(**data)</a:t>
            </a:r>
          </a:p>
          <a:p>
            <a:pPr marL="0" indent="0">
              <a:buNone/>
            </a:pPr>
            <a:endParaRPr lang="en-US" dirty="0"/>
          </a:p>
          <a:p>
            <a:pPr marL="0" indent="0">
              <a:buNone/>
            </a:pPr>
            <a:r>
              <a:rPr lang="en-US" dirty="0"/>
              <a:t># equivalent to:</a:t>
            </a:r>
          </a:p>
          <a:p>
            <a:pPr marL="0" indent="0">
              <a:buNone/>
            </a:pPr>
            <a:r>
              <a:rPr lang="es-ES" dirty="0" err="1"/>
              <a:t>print</a:t>
            </a:r>
            <a:r>
              <a:rPr lang="es-ES" dirty="0"/>
              <a:t>(x=1, y=2)</a:t>
            </a:r>
          </a:p>
          <a:p>
            <a:pPr marL="0" indent="0">
              <a:buNone/>
            </a:pPr>
            <a:endParaRPr lang="en-US" dirty="0"/>
          </a:p>
        </p:txBody>
      </p:sp>
      <p:sp>
        <p:nvSpPr>
          <p:cNvPr id="10" name="Content Placeholder 7">
            <a:extLst>
              <a:ext uri="{FF2B5EF4-FFF2-40B4-BE49-F238E27FC236}">
                <a16:creationId xmlns:a16="http://schemas.microsoft.com/office/drawing/2014/main" id="{030FB942-3010-7941-8D7D-7CEA382F17C7}"/>
              </a:ext>
            </a:extLst>
          </p:cNvPr>
          <p:cNvSpPr txBox="1">
            <a:spLocks/>
          </p:cNvSpPr>
          <p:nvPr/>
        </p:nvSpPr>
        <p:spPr>
          <a:xfrm>
            <a:off x="6565900" y="1600200"/>
            <a:ext cx="51657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Unpack key–value pairs</a:t>
            </a:r>
          </a:p>
        </p:txBody>
      </p:sp>
    </p:spTree>
    <p:extLst>
      <p:ext uri="{BB962C8B-B14F-4D97-AF65-F5344CB8AC3E}">
        <p14:creationId xmlns:p14="http://schemas.microsoft.com/office/powerpoint/2010/main" val="264290812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22365-93A1-3544-6D6E-CA5906E0207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18C2C0D-C033-E0BD-314D-FFBC5E393B08}"/>
              </a:ext>
            </a:extLst>
          </p:cNvPr>
          <p:cNvSpPr>
            <a:spLocks noGrp="1"/>
          </p:cNvSpPr>
          <p:nvPr>
            <p:ph type="title"/>
          </p:nvPr>
        </p:nvSpPr>
        <p:spPr/>
        <p:txBody>
          <a:bodyPr/>
          <a:lstStyle/>
          <a:p>
            <a:r>
              <a:rPr lang="en-SG" dirty="0"/>
              <a:t>**</a:t>
            </a:r>
            <a:r>
              <a:rPr lang="en-SG" dirty="0" err="1"/>
              <a:t>kwargs</a:t>
            </a:r>
            <a:r>
              <a:rPr lang="en-SG" dirty="0"/>
              <a:t> in Function Definitions</a:t>
            </a:r>
            <a:endParaRPr lang="en-US" dirty="0"/>
          </a:p>
        </p:txBody>
      </p:sp>
      <p:sp>
        <p:nvSpPr>
          <p:cNvPr id="8" name="Content Placeholder 7">
            <a:extLst>
              <a:ext uri="{FF2B5EF4-FFF2-40B4-BE49-F238E27FC236}">
                <a16:creationId xmlns:a16="http://schemas.microsoft.com/office/drawing/2014/main" id="{BF691EDC-9F7C-E69C-57F1-19D265939B89}"/>
              </a:ext>
            </a:extLst>
          </p:cNvPr>
          <p:cNvSpPr>
            <a:spLocks noGrp="1"/>
          </p:cNvSpPr>
          <p:nvPr>
            <p:ph idx="1"/>
          </p:nvPr>
        </p:nvSpPr>
        <p:spPr>
          <a:xfrm>
            <a:off x="457200" y="1600200"/>
            <a:ext cx="5637212"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show(**info):</a:t>
            </a:r>
          </a:p>
          <a:p>
            <a:pPr marL="0" indent="0">
              <a:buNone/>
            </a:pPr>
            <a:r>
              <a:rPr lang="en-US" dirty="0"/>
              <a:t>    for key, value in </a:t>
            </a:r>
            <a:r>
              <a:rPr lang="en-US" dirty="0" err="1"/>
              <a:t>info.items</a:t>
            </a:r>
            <a:r>
              <a:rPr lang="en-US" dirty="0"/>
              <a:t>():</a:t>
            </a:r>
          </a:p>
          <a:p>
            <a:pPr marL="0" indent="0">
              <a:buNone/>
            </a:pPr>
            <a:r>
              <a:rPr lang="en-US" dirty="0"/>
              <a:t>        print(key, value)</a:t>
            </a:r>
          </a:p>
        </p:txBody>
      </p:sp>
      <p:sp>
        <p:nvSpPr>
          <p:cNvPr id="10" name="Content Placeholder 7">
            <a:extLst>
              <a:ext uri="{FF2B5EF4-FFF2-40B4-BE49-F238E27FC236}">
                <a16:creationId xmlns:a16="http://schemas.microsoft.com/office/drawing/2014/main" id="{56BA7D3E-32E1-6D4C-A3C9-93F2B2E1ED15}"/>
              </a:ext>
            </a:extLst>
          </p:cNvPr>
          <p:cNvSpPr txBox="1">
            <a:spLocks/>
          </p:cNvSpPr>
          <p:nvPr/>
        </p:nvSpPr>
        <p:spPr>
          <a:xfrm>
            <a:off x="6565900" y="1600200"/>
            <a:ext cx="51657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Accept any number of keyword arguments</a:t>
            </a:r>
          </a:p>
          <a:p>
            <a:r>
              <a:rPr lang="en-US" dirty="0"/>
              <a:t>Inside the function, info is a dictionary</a:t>
            </a:r>
          </a:p>
          <a:p>
            <a:endParaRPr lang="en-US" dirty="0"/>
          </a:p>
        </p:txBody>
      </p:sp>
    </p:spTree>
    <p:extLst>
      <p:ext uri="{BB962C8B-B14F-4D97-AF65-F5344CB8AC3E}">
        <p14:creationId xmlns:p14="http://schemas.microsoft.com/office/powerpoint/2010/main" val="303664223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FA388-FC62-B4D1-C4B8-F5B8B847430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4B73DC0-58A3-C22B-9276-E0E4CB975916}"/>
              </a:ext>
            </a:extLst>
          </p:cNvPr>
          <p:cNvSpPr>
            <a:spLocks noGrp="1"/>
          </p:cNvSpPr>
          <p:nvPr>
            <p:ph type="title"/>
          </p:nvPr>
        </p:nvSpPr>
        <p:spPr/>
        <p:txBody>
          <a:bodyPr/>
          <a:lstStyle/>
          <a:p>
            <a:r>
              <a:rPr lang="en-SG" dirty="0"/>
              <a:t>Combining *</a:t>
            </a:r>
            <a:r>
              <a:rPr lang="en-SG" dirty="0" err="1"/>
              <a:t>args</a:t>
            </a:r>
            <a:r>
              <a:rPr lang="en-SG" dirty="0"/>
              <a:t> and **</a:t>
            </a:r>
            <a:r>
              <a:rPr lang="en-SG" dirty="0" err="1"/>
              <a:t>kwargs</a:t>
            </a:r>
            <a:endParaRPr lang="en-US" dirty="0"/>
          </a:p>
        </p:txBody>
      </p:sp>
      <p:sp>
        <p:nvSpPr>
          <p:cNvPr id="8" name="Content Placeholder 7">
            <a:extLst>
              <a:ext uri="{FF2B5EF4-FFF2-40B4-BE49-F238E27FC236}">
                <a16:creationId xmlns:a16="http://schemas.microsoft.com/office/drawing/2014/main" id="{283972F4-F908-5E0C-195C-D246D347D491}"/>
              </a:ext>
            </a:extLst>
          </p:cNvPr>
          <p:cNvSpPr>
            <a:spLocks noGrp="1"/>
          </p:cNvSpPr>
          <p:nvPr>
            <p:ph idx="1"/>
          </p:nvPr>
        </p:nvSpPr>
        <p:spPr>
          <a:xfrm>
            <a:off x="457200" y="1600200"/>
            <a:ext cx="54229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 Function Definition</a:t>
            </a:r>
          </a:p>
          <a:p>
            <a:pPr marL="0" indent="0">
              <a:buNone/>
            </a:pPr>
            <a:endParaRPr lang="en-US" dirty="0"/>
          </a:p>
          <a:p>
            <a:pPr marL="0" indent="0">
              <a:buNone/>
            </a:pPr>
            <a:r>
              <a:rPr lang="en-US" dirty="0"/>
              <a:t>def log(*</a:t>
            </a:r>
            <a:r>
              <a:rPr lang="en-US" dirty="0" err="1"/>
              <a:t>args</a:t>
            </a:r>
            <a:r>
              <a:rPr lang="en-US" dirty="0"/>
              <a:t>, **</a:t>
            </a:r>
            <a:r>
              <a:rPr lang="en-US" dirty="0" err="1"/>
              <a:t>kwargs</a:t>
            </a:r>
            <a:r>
              <a:rPr lang="en-US" dirty="0"/>
              <a:t>):</a:t>
            </a:r>
          </a:p>
          <a:p>
            <a:pPr marL="0" indent="0">
              <a:buNone/>
            </a:pPr>
            <a:r>
              <a:rPr lang="en-US" dirty="0"/>
              <a:t>    print(</a:t>
            </a:r>
            <a:r>
              <a:rPr lang="en-US" dirty="0" err="1"/>
              <a:t>args</a:t>
            </a:r>
            <a:r>
              <a:rPr lang="en-US" dirty="0"/>
              <a:t>)</a:t>
            </a:r>
          </a:p>
          <a:p>
            <a:pPr marL="0" indent="0">
              <a:buNone/>
            </a:pPr>
            <a:r>
              <a:rPr lang="en-US" dirty="0"/>
              <a:t>    print(</a:t>
            </a:r>
            <a:r>
              <a:rPr lang="en-US" dirty="0" err="1"/>
              <a:t>kwargs</a:t>
            </a:r>
            <a:r>
              <a:rPr lang="en-US" dirty="0"/>
              <a:t>)</a:t>
            </a:r>
          </a:p>
        </p:txBody>
      </p:sp>
      <p:sp>
        <p:nvSpPr>
          <p:cNvPr id="10" name="Content Placeholder 7">
            <a:extLst>
              <a:ext uri="{FF2B5EF4-FFF2-40B4-BE49-F238E27FC236}">
                <a16:creationId xmlns:a16="http://schemas.microsoft.com/office/drawing/2014/main" id="{C67BAE2E-DB8B-66CC-DA0B-27AD932C8638}"/>
              </a:ext>
            </a:extLst>
          </p:cNvPr>
          <p:cNvSpPr txBox="1">
            <a:spLocks/>
          </p:cNvSpPr>
          <p:nvPr/>
        </p:nvSpPr>
        <p:spPr>
          <a:xfrm>
            <a:off x="6400800" y="1600200"/>
            <a:ext cx="53308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 Function Call</a:t>
            </a:r>
          </a:p>
          <a:p>
            <a:pPr marL="0" indent="0">
              <a:buNone/>
            </a:pPr>
            <a:endParaRPr lang="en-US" dirty="0"/>
          </a:p>
          <a:p>
            <a:pPr marL="0" indent="0">
              <a:buNone/>
            </a:pPr>
            <a:r>
              <a:rPr lang="en-US" dirty="0"/>
              <a:t>log(1, 2, a=10, b=20)</a:t>
            </a:r>
          </a:p>
        </p:txBody>
      </p:sp>
    </p:spTree>
    <p:extLst>
      <p:ext uri="{BB962C8B-B14F-4D97-AF65-F5344CB8AC3E}">
        <p14:creationId xmlns:p14="http://schemas.microsoft.com/office/powerpoint/2010/main" val="118727996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58422-1DC1-33F3-9689-965C293AD004}"/>
              </a:ext>
            </a:extLst>
          </p:cNvPr>
          <p:cNvSpPr>
            <a:spLocks noGrp="1"/>
          </p:cNvSpPr>
          <p:nvPr>
            <p:ph type="title"/>
          </p:nvPr>
        </p:nvSpPr>
        <p:spPr/>
        <p:txBody>
          <a:bodyPr/>
          <a:lstStyle/>
          <a:p>
            <a:r>
              <a:rPr lang="en-SG" dirty="0"/>
              <a:t>Unpacking When Calling Functions</a:t>
            </a:r>
          </a:p>
        </p:txBody>
      </p:sp>
      <p:sp>
        <p:nvSpPr>
          <p:cNvPr id="3" name="Content Placeholder 2">
            <a:extLst>
              <a:ext uri="{FF2B5EF4-FFF2-40B4-BE49-F238E27FC236}">
                <a16:creationId xmlns:a16="http://schemas.microsoft.com/office/drawing/2014/main" id="{530928CE-F5E4-8E8F-A6A9-9218B392DBA8}"/>
              </a:ext>
            </a:extLst>
          </p:cNvPr>
          <p:cNvSpPr>
            <a:spLocks noGrp="1"/>
          </p:cNvSpPr>
          <p:nvPr>
            <p:ph idx="1"/>
          </p:nvPr>
        </p:nvSpPr>
        <p:spPr/>
        <p:txBody>
          <a:bodyPr>
            <a:normAutofit lnSpcReduction="10000"/>
          </a:bodyPr>
          <a:lstStyle/>
          <a:p>
            <a:pPr marL="0" indent="0">
              <a:buNone/>
            </a:pPr>
            <a:r>
              <a:rPr lang="en-SG" dirty="0"/>
              <a:t>def greet(name, age):</a:t>
            </a:r>
          </a:p>
          <a:p>
            <a:pPr marL="0" indent="0">
              <a:buNone/>
            </a:pPr>
            <a:r>
              <a:rPr lang="en-SG" dirty="0"/>
              <a:t>    print(f"{name} is {age}")</a:t>
            </a:r>
          </a:p>
          <a:p>
            <a:pPr marL="0" indent="0">
              <a:buNone/>
            </a:pPr>
            <a:endParaRPr lang="en-SG" dirty="0"/>
          </a:p>
          <a:p>
            <a:pPr marL="0" indent="0">
              <a:buNone/>
            </a:pPr>
            <a:r>
              <a:rPr lang="en-SG" dirty="0"/>
              <a:t>data = ("Ada", 36)</a:t>
            </a:r>
          </a:p>
          <a:p>
            <a:pPr marL="0" indent="0">
              <a:buNone/>
            </a:pPr>
            <a:r>
              <a:rPr lang="en-SG" dirty="0"/>
              <a:t>info = {"age": 36, "name": "Ada"}</a:t>
            </a:r>
          </a:p>
          <a:p>
            <a:pPr marL="0" indent="0">
              <a:buNone/>
            </a:pPr>
            <a:endParaRPr lang="en-SG" dirty="0"/>
          </a:p>
          <a:p>
            <a:pPr marL="0" indent="0">
              <a:buNone/>
            </a:pPr>
            <a:r>
              <a:rPr lang="en-SG" dirty="0"/>
              <a:t>greet(*data)</a:t>
            </a:r>
          </a:p>
          <a:p>
            <a:pPr marL="0" indent="0">
              <a:buNone/>
            </a:pPr>
            <a:r>
              <a:rPr lang="en-SG" dirty="0"/>
              <a:t>greet(**info)</a:t>
            </a:r>
          </a:p>
          <a:p>
            <a:pPr marL="0" indent="0">
              <a:buNone/>
            </a:pPr>
            <a:endParaRPr lang="en-SG" dirty="0"/>
          </a:p>
        </p:txBody>
      </p:sp>
    </p:spTree>
    <p:extLst>
      <p:ext uri="{BB962C8B-B14F-4D97-AF65-F5344CB8AC3E}">
        <p14:creationId xmlns:p14="http://schemas.microsoft.com/office/powerpoint/2010/main" val="365178363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4BDA4-04A6-EB82-B00E-FF029E5B739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AD1DC17-075C-6BE9-8452-7AB8BFE3CAB2}"/>
              </a:ext>
            </a:extLst>
          </p:cNvPr>
          <p:cNvSpPr>
            <a:spLocks noGrp="1"/>
          </p:cNvSpPr>
          <p:nvPr>
            <p:ph type="title"/>
          </p:nvPr>
        </p:nvSpPr>
        <p:spPr/>
        <p:txBody>
          <a:bodyPr>
            <a:normAutofit fontScale="90000"/>
          </a:bodyPr>
          <a:lstStyle/>
          <a:p>
            <a:r>
              <a:rPr lang="en-SG" dirty="0"/>
              <a:t>Merging Collections with Unpacking</a:t>
            </a:r>
            <a:endParaRPr lang="en-US" dirty="0"/>
          </a:p>
        </p:txBody>
      </p:sp>
      <p:sp>
        <p:nvSpPr>
          <p:cNvPr id="8" name="Content Placeholder 7">
            <a:extLst>
              <a:ext uri="{FF2B5EF4-FFF2-40B4-BE49-F238E27FC236}">
                <a16:creationId xmlns:a16="http://schemas.microsoft.com/office/drawing/2014/main" id="{6D19D6C1-D676-BB30-3845-CA3D2FB7ABE9}"/>
              </a:ext>
            </a:extLst>
          </p:cNvPr>
          <p:cNvSpPr>
            <a:spLocks noGrp="1"/>
          </p:cNvSpPr>
          <p:nvPr>
            <p:ph idx="1"/>
          </p:nvPr>
        </p:nvSpPr>
        <p:spPr>
          <a:xfrm>
            <a:off x="457200" y="1600200"/>
            <a:ext cx="54229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 Lists</a:t>
            </a:r>
          </a:p>
          <a:p>
            <a:pPr marL="0" indent="0">
              <a:buNone/>
            </a:pPr>
            <a:endParaRPr lang="en-US" dirty="0"/>
          </a:p>
          <a:p>
            <a:pPr marL="0" indent="0">
              <a:buNone/>
            </a:pPr>
            <a:r>
              <a:rPr lang="en-US" dirty="0"/>
              <a:t>a = [1, 2]</a:t>
            </a:r>
          </a:p>
          <a:p>
            <a:pPr marL="0" indent="0">
              <a:buNone/>
            </a:pPr>
            <a:r>
              <a:rPr lang="en-US" dirty="0"/>
              <a:t>b = [3, 4]</a:t>
            </a:r>
          </a:p>
          <a:p>
            <a:pPr marL="0" indent="0">
              <a:buNone/>
            </a:pPr>
            <a:r>
              <a:rPr lang="en-US" dirty="0"/>
              <a:t>combined = [*a, *b]</a:t>
            </a:r>
          </a:p>
        </p:txBody>
      </p:sp>
      <p:sp>
        <p:nvSpPr>
          <p:cNvPr id="10" name="Content Placeholder 7">
            <a:extLst>
              <a:ext uri="{FF2B5EF4-FFF2-40B4-BE49-F238E27FC236}">
                <a16:creationId xmlns:a16="http://schemas.microsoft.com/office/drawing/2014/main" id="{F9628293-3063-8103-F592-2F66AB9E6A07}"/>
              </a:ext>
            </a:extLst>
          </p:cNvPr>
          <p:cNvSpPr txBox="1">
            <a:spLocks/>
          </p:cNvSpPr>
          <p:nvPr/>
        </p:nvSpPr>
        <p:spPr>
          <a:xfrm>
            <a:off x="6400800" y="1600200"/>
            <a:ext cx="53308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s-ES" dirty="0"/>
              <a:t># </a:t>
            </a:r>
            <a:r>
              <a:rPr lang="es-ES" dirty="0" err="1"/>
              <a:t>Dictionaries</a:t>
            </a:r>
            <a:endParaRPr lang="es-ES" dirty="0"/>
          </a:p>
          <a:p>
            <a:pPr marL="0" indent="0">
              <a:buNone/>
            </a:pPr>
            <a:endParaRPr lang="es-ES" dirty="0"/>
          </a:p>
          <a:p>
            <a:pPr marL="0" indent="0">
              <a:buNone/>
            </a:pPr>
            <a:r>
              <a:rPr lang="es-ES" dirty="0"/>
              <a:t>x = {"a": 1}</a:t>
            </a:r>
          </a:p>
          <a:p>
            <a:pPr marL="0" indent="0">
              <a:buNone/>
            </a:pPr>
            <a:r>
              <a:rPr lang="es-ES" dirty="0"/>
              <a:t>y = {"b": 2}</a:t>
            </a:r>
          </a:p>
          <a:p>
            <a:pPr marL="0" indent="0">
              <a:buNone/>
            </a:pPr>
            <a:r>
              <a:rPr lang="es-ES" dirty="0" err="1"/>
              <a:t>merged</a:t>
            </a:r>
            <a:r>
              <a:rPr lang="es-ES" dirty="0"/>
              <a:t> = {**x, **y}</a:t>
            </a:r>
          </a:p>
        </p:txBody>
      </p:sp>
    </p:spTree>
    <p:extLst>
      <p:ext uri="{BB962C8B-B14F-4D97-AF65-F5344CB8AC3E}">
        <p14:creationId xmlns:p14="http://schemas.microsoft.com/office/powerpoint/2010/main" val="229328348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DC94A-E76B-9724-754B-13BA545FF98A}"/>
              </a:ext>
            </a:extLst>
          </p:cNvPr>
          <p:cNvSpPr>
            <a:spLocks noGrp="1"/>
          </p:cNvSpPr>
          <p:nvPr>
            <p:ph type="title"/>
          </p:nvPr>
        </p:nvSpPr>
        <p:spPr/>
        <p:txBody>
          <a:bodyPr/>
          <a:lstStyle/>
          <a:p>
            <a:r>
              <a:rPr lang="en-SG" dirty="0"/>
              <a:t>Common Mistakes</a:t>
            </a:r>
          </a:p>
        </p:txBody>
      </p:sp>
      <p:sp>
        <p:nvSpPr>
          <p:cNvPr id="3" name="Content Placeholder 2">
            <a:extLst>
              <a:ext uri="{FF2B5EF4-FFF2-40B4-BE49-F238E27FC236}">
                <a16:creationId xmlns:a16="http://schemas.microsoft.com/office/drawing/2014/main" id="{DA39FA28-5195-EE45-AE25-6FA1AD441B0E}"/>
              </a:ext>
            </a:extLst>
          </p:cNvPr>
          <p:cNvSpPr>
            <a:spLocks noGrp="1"/>
          </p:cNvSpPr>
          <p:nvPr>
            <p:ph idx="1"/>
          </p:nvPr>
        </p:nvSpPr>
        <p:spPr/>
        <p:txBody>
          <a:bodyPr/>
          <a:lstStyle/>
          <a:p>
            <a:r>
              <a:rPr lang="en-US" dirty="0"/>
              <a:t>Forgetting order of positional vs keyword arguments</a:t>
            </a:r>
          </a:p>
          <a:p>
            <a:r>
              <a:rPr lang="en-US" dirty="0"/>
              <a:t>Using multiple * in assignment</a:t>
            </a:r>
          </a:p>
          <a:p>
            <a:r>
              <a:rPr lang="en-US" dirty="0"/>
              <a:t>Assuming *</a:t>
            </a:r>
            <a:r>
              <a:rPr lang="en-US" dirty="0" err="1"/>
              <a:t>args</a:t>
            </a:r>
            <a:r>
              <a:rPr lang="en-US" dirty="0"/>
              <a:t> is a list (it’s a tuple)</a:t>
            </a:r>
          </a:p>
          <a:p>
            <a:endParaRPr lang="en-SG" dirty="0"/>
          </a:p>
        </p:txBody>
      </p:sp>
    </p:spTree>
    <p:extLst>
      <p:ext uri="{BB962C8B-B14F-4D97-AF65-F5344CB8AC3E}">
        <p14:creationId xmlns:p14="http://schemas.microsoft.com/office/powerpoint/2010/main" val="118806875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94088-9421-E4BD-ADB6-A9BE4A446730}"/>
              </a:ext>
            </a:extLst>
          </p:cNvPr>
          <p:cNvSpPr>
            <a:spLocks noGrp="1"/>
          </p:cNvSpPr>
          <p:nvPr>
            <p:ph type="title"/>
          </p:nvPr>
        </p:nvSpPr>
        <p:spPr/>
        <p:txBody>
          <a:bodyPr/>
          <a:lstStyle/>
          <a:p>
            <a:r>
              <a:rPr lang="en-US" dirty="0"/>
              <a:t>When to Use Unpacking</a:t>
            </a:r>
            <a:endParaRPr lang="en-SG" dirty="0"/>
          </a:p>
        </p:txBody>
      </p:sp>
      <p:sp>
        <p:nvSpPr>
          <p:cNvPr id="3" name="Content Placeholder 2">
            <a:extLst>
              <a:ext uri="{FF2B5EF4-FFF2-40B4-BE49-F238E27FC236}">
                <a16:creationId xmlns:a16="http://schemas.microsoft.com/office/drawing/2014/main" id="{E7D6751C-4FD4-6DCF-60A7-8B0AD39ACD1A}"/>
              </a:ext>
            </a:extLst>
          </p:cNvPr>
          <p:cNvSpPr>
            <a:spLocks noGrp="1"/>
          </p:cNvSpPr>
          <p:nvPr>
            <p:ph idx="1"/>
          </p:nvPr>
        </p:nvSpPr>
        <p:spPr/>
        <p:txBody>
          <a:bodyPr/>
          <a:lstStyle/>
          <a:p>
            <a:r>
              <a:rPr lang="en-US" dirty="0"/>
              <a:t>Forwarding arguments</a:t>
            </a:r>
          </a:p>
          <a:p>
            <a:r>
              <a:rPr lang="en-US" dirty="0"/>
              <a:t>Writing flexible APIs</a:t>
            </a:r>
          </a:p>
          <a:p>
            <a:r>
              <a:rPr lang="en-US" dirty="0"/>
              <a:t>Cleaner function calls</a:t>
            </a:r>
          </a:p>
          <a:p>
            <a:r>
              <a:rPr lang="en-US" dirty="0"/>
              <a:t>Merging data structures</a:t>
            </a:r>
          </a:p>
          <a:p>
            <a:endParaRPr lang="en-SG" dirty="0"/>
          </a:p>
        </p:txBody>
      </p:sp>
    </p:spTree>
    <p:extLst>
      <p:ext uri="{BB962C8B-B14F-4D97-AF65-F5344CB8AC3E}">
        <p14:creationId xmlns:p14="http://schemas.microsoft.com/office/powerpoint/2010/main" val="324009195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283F-BF60-F46D-661D-33471F7F92F0}"/>
              </a:ext>
            </a:extLst>
          </p:cNvPr>
          <p:cNvSpPr>
            <a:spLocks noGrp="1"/>
          </p:cNvSpPr>
          <p:nvPr>
            <p:ph type="title"/>
          </p:nvPr>
        </p:nvSpPr>
        <p:spPr/>
        <p:txBody>
          <a:bodyPr/>
          <a:lstStyle/>
          <a:p>
            <a:r>
              <a:rPr lang="en-US" dirty="0"/>
              <a:t>Mental Model</a:t>
            </a:r>
            <a:endParaRPr lang="en-SG" dirty="0"/>
          </a:p>
        </p:txBody>
      </p:sp>
      <p:sp>
        <p:nvSpPr>
          <p:cNvPr id="3" name="Content Placeholder 2">
            <a:extLst>
              <a:ext uri="{FF2B5EF4-FFF2-40B4-BE49-F238E27FC236}">
                <a16:creationId xmlns:a16="http://schemas.microsoft.com/office/drawing/2014/main" id="{9856D0F4-F2BE-CF02-BF42-9AAC6BF5E6F2}"/>
              </a:ext>
            </a:extLst>
          </p:cNvPr>
          <p:cNvSpPr>
            <a:spLocks noGrp="1"/>
          </p:cNvSpPr>
          <p:nvPr>
            <p:ph idx="1"/>
          </p:nvPr>
        </p:nvSpPr>
        <p:spPr/>
        <p:txBody>
          <a:bodyPr/>
          <a:lstStyle/>
          <a:p>
            <a:r>
              <a:rPr lang="en-US" dirty="0"/>
              <a:t>* → positional values (sequence)</a:t>
            </a:r>
          </a:p>
          <a:p>
            <a:r>
              <a:rPr lang="en-US" dirty="0"/>
              <a:t>** → named values (mapping)</a:t>
            </a:r>
          </a:p>
          <a:p>
            <a:r>
              <a:rPr lang="en-US" dirty="0"/>
              <a:t>Context defines behavior</a:t>
            </a:r>
          </a:p>
          <a:p>
            <a:endParaRPr lang="en-SG" dirty="0"/>
          </a:p>
        </p:txBody>
      </p:sp>
    </p:spTree>
    <p:extLst>
      <p:ext uri="{BB962C8B-B14F-4D97-AF65-F5344CB8AC3E}">
        <p14:creationId xmlns:p14="http://schemas.microsoft.com/office/powerpoint/2010/main" val="329031105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E5E21-905F-3443-456C-1DC4574DD673}"/>
              </a:ext>
            </a:extLst>
          </p:cNvPr>
          <p:cNvSpPr>
            <a:spLocks noGrp="1"/>
          </p:cNvSpPr>
          <p:nvPr>
            <p:ph type="title"/>
          </p:nvPr>
        </p:nvSpPr>
        <p:spPr/>
        <p:txBody>
          <a:bodyPr/>
          <a:lstStyle/>
          <a:p>
            <a:r>
              <a:rPr lang="en-US" dirty="0"/>
              <a:t>Hands-On Exercise</a:t>
            </a:r>
            <a:endParaRPr lang="en-SG" dirty="0"/>
          </a:p>
        </p:txBody>
      </p:sp>
      <p:sp>
        <p:nvSpPr>
          <p:cNvPr id="3" name="Content Placeholder 2">
            <a:extLst>
              <a:ext uri="{FF2B5EF4-FFF2-40B4-BE49-F238E27FC236}">
                <a16:creationId xmlns:a16="http://schemas.microsoft.com/office/drawing/2014/main" id="{28B53EC1-82FE-771C-F25D-D616A6343750}"/>
              </a:ext>
            </a:extLst>
          </p:cNvPr>
          <p:cNvSpPr>
            <a:spLocks noGrp="1"/>
          </p:cNvSpPr>
          <p:nvPr>
            <p:ph idx="1"/>
          </p:nvPr>
        </p:nvSpPr>
        <p:spPr>
          <a:xfrm>
            <a:off x="457200" y="1600200"/>
            <a:ext cx="10591800" cy="4525963"/>
          </a:xfrm>
        </p:spPr>
        <p:txBody>
          <a:bodyPr/>
          <a:lstStyle/>
          <a:p>
            <a:r>
              <a:rPr lang="en-US" dirty="0"/>
              <a:t>Write a function </a:t>
            </a:r>
            <a:r>
              <a:rPr lang="en-US" dirty="0" err="1"/>
              <a:t>make_sentence</a:t>
            </a:r>
            <a:r>
              <a:rPr lang="en-US" dirty="0"/>
              <a:t>(*words, **punctuation)</a:t>
            </a:r>
          </a:p>
          <a:p>
            <a:r>
              <a:rPr lang="en-US" dirty="0"/>
              <a:t>Join words with spaces</a:t>
            </a:r>
          </a:p>
          <a:p>
            <a:r>
              <a:rPr lang="en-US" dirty="0"/>
              <a:t>Append punctuation if provided</a:t>
            </a:r>
          </a:p>
          <a:p>
            <a:endParaRPr lang="en-SG" dirty="0"/>
          </a:p>
        </p:txBody>
      </p:sp>
    </p:spTree>
    <p:extLst>
      <p:ext uri="{BB962C8B-B14F-4D97-AF65-F5344CB8AC3E}">
        <p14:creationId xmlns:p14="http://schemas.microsoft.com/office/powerpoint/2010/main" val="375004007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9E47B-83D4-ECC0-F4EF-6870D07A660D}"/>
              </a:ext>
            </a:extLst>
          </p:cNvPr>
          <p:cNvSpPr>
            <a:spLocks noGrp="1"/>
          </p:cNvSpPr>
          <p:nvPr>
            <p:ph type="title"/>
          </p:nvPr>
        </p:nvSpPr>
        <p:spPr/>
        <p:txBody>
          <a:bodyPr/>
          <a:lstStyle/>
          <a:p>
            <a:r>
              <a:rPr lang="en-SG" dirty="0"/>
              <a:t>Exercise Solution</a:t>
            </a:r>
          </a:p>
        </p:txBody>
      </p:sp>
      <p:sp>
        <p:nvSpPr>
          <p:cNvPr id="3" name="Content Placeholder 2">
            <a:extLst>
              <a:ext uri="{FF2B5EF4-FFF2-40B4-BE49-F238E27FC236}">
                <a16:creationId xmlns:a16="http://schemas.microsoft.com/office/drawing/2014/main" id="{2A8479DA-FA23-D562-F8C0-BC69B94DCC64}"/>
              </a:ext>
            </a:extLst>
          </p:cNvPr>
          <p:cNvSpPr>
            <a:spLocks noGrp="1"/>
          </p:cNvSpPr>
          <p:nvPr>
            <p:ph idx="1"/>
          </p:nvPr>
        </p:nvSpPr>
        <p:spPr/>
        <p:txBody>
          <a:bodyPr/>
          <a:lstStyle/>
          <a:p>
            <a:pPr marL="0" indent="0">
              <a:buNone/>
            </a:pPr>
            <a:r>
              <a:rPr lang="en-US" dirty="0"/>
              <a:t>def </a:t>
            </a:r>
            <a:r>
              <a:rPr lang="en-US" dirty="0" err="1"/>
              <a:t>make_sentence</a:t>
            </a:r>
            <a:r>
              <a:rPr lang="en-US" dirty="0"/>
              <a:t>(*words, **punctuation):</a:t>
            </a:r>
          </a:p>
          <a:p>
            <a:pPr marL="0" indent="0">
              <a:buNone/>
            </a:pPr>
            <a:r>
              <a:rPr lang="en-US" dirty="0"/>
              <a:t>    sentence = " ".join(words)</a:t>
            </a:r>
          </a:p>
          <a:p>
            <a:pPr marL="0" indent="0">
              <a:buNone/>
            </a:pPr>
            <a:r>
              <a:rPr lang="en-US" dirty="0"/>
              <a:t>    if "end" in punctuation:</a:t>
            </a:r>
          </a:p>
          <a:p>
            <a:pPr marL="0" indent="0">
              <a:buNone/>
            </a:pPr>
            <a:r>
              <a:rPr lang="en-US" dirty="0"/>
              <a:t>        sentence += punctuation["end"]</a:t>
            </a:r>
          </a:p>
          <a:p>
            <a:pPr marL="0" indent="0">
              <a:buNone/>
            </a:pPr>
            <a:r>
              <a:rPr lang="en-US" dirty="0"/>
              <a:t>    print(sentence)</a:t>
            </a:r>
          </a:p>
          <a:p>
            <a:pPr marL="0" indent="0">
              <a:buNone/>
            </a:pPr>
            <a:endParaRPr lang="en-SG" dirty="0"/>
          </a:p>
        </p:txBody>
      </p:sp>
    </p:spTree>
    <p:extLst>
      <p:ext uri="{BB962C8B-B14F-4D97-AF65-F5344CB8AC3E}">
        <p14:creationId xmlns:p14="http://schemas.microsoft.com/office/powerpoint/2010/main" val="37916125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3566-890D-3E14-C3D2-E98DA3220668}"/>
              </a:ext>
            </a:extLst>
          </p:cNvPr>
          <p:cNvSpPr>
            <a:spLocks noGrp="1"/>
          </p:cNvSpPr>
          <p:nvPr>
            <p:ph type="title"/>
          </p:nvPr>
        </p:nvSpPr>
        <p:spPr/>
        <p:txBody>
          <a:bodyPr/>
          <a:lstStyle/>
          <a:p>
            <a:r>
              <a:rPr lang="en-US" dirty="0"/>
              <a:t>Key Takeaways</a:t>
            </a:r>
            <a:endParaRPr lang="en-SG" dirty="0"/>
          </a:p>
        </p:txBody>
      </p:sp>
      <p:sp>
        <p:nvSpPr>
          <p:cNvPr id="3" name="Content Placeholder 2">
            <a:extLst>
              <a:ext uri="{FF2B5EF4-FFF2-40B4-BE49-F238E27FC236}">
                <a16:creationId xmlns:a16="http://schemas.microsoft.com/office/drawing/2014/main" id="{2A05F0B9-61F9-AA0A-7935-BC6E04E9FF15}"/>
              </a:ext>
            </a:extLst>
          </p:cNvPr>
          <p:cNvSpPr>
            <a:spLocks noGrp="1"/>
          </p:cNvSpPr>
          <p:nvPr>
            <p:ph idx="1"/>
          </p:nvPr>
        </p:nvSpPr>
        <p:spPr/>
        <p:txBody>
          <a:bodyPr/>
          <a:lstStyle/>
          <a:p>
            <a:r>
              <a:rPr lang="en-US" dirty="0"/>
              <a:t>Unpacking improves readability</a:t>
            </a:r>
          </a:p>
          <a:p>
            <a:r>
              <a:rPr lang="en-US" dirty="0"/>
              <a:t>Enables flexible APIs</a:t>
            </a:r>
          </a:p>
          <a:p>
            <a:r>
              <a:rPr lang="en-US" dirty="0"/>
              <a:t>Core Python skill used everywhere</a:t>
            </a:r>
          </a:p>
          <a:p>
            <a:r>
              <a:rPr lang="en-US" dirty="0"/>
              <a:t>Context matters more than symbols</a:t>
            </a:r>
          </a:p>
          <a:p>
            <a:endParaRPr lang="en-SG" dirty="0"/>
          </a:p>
        </p:txBody>
      </p:sp>
    </p:spTree>
    <p:extLst>
      <p:ext uri="{BB962C8B-B14F-4D97-AF65-F5344CB8AC3E}">
        <p14:creationId xmlns:p14="http://schemas.microsoft.com/office/powerpoint/2010/main" val="248290327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Control Flow – if / elif / else</a:t>
            </a:r>
          </a:p>
        </p:txBody>
      </p:sp>
      <p:sp>
        <p:nvSpPr>
          <p:cNvPr id="3" name="Content Placeholder 2"/>
          <p:cNvSpPr>
            <a:spLocks noGrp="1"/>
          </p:cNvSpPr>
          <p:nvPr>
            <p:ph idx="1"/>
          </p:nvPr>
        </p:nvSpPr>
        <p:spPr>
          <a:xfrm>
            <a:off x="457200" y="1600200"/>
            <a:ext cx="11201400" cy="4525963"/>
          </a:xfrm>
        </p:spPr>
        <p:txBody>
          <a:bodyPr>
            <a:normAutofit/>
          </a:bodyPr>
          <a:lstStyle/>
          <a:p>
            <a:pPr marL="0" indent="0" algn="l">
              <a:buNone/>
              <a:defRPr sz="1500">
                <a:latin typeface="Courier New"/>
              </a:defRPr>
            </a:pPr>
            <a:r>
              <a:rPr sz="2400" dirty="0"/>
              <a:t>income = 58_000; credit = 720; </a:t>
            </a:r>
            <a:r>
              <a:rPr sz="2400" dirty="0" err="1"/>
              <a:t>debt_ratio</a:t>
            </a:r>
            <a:r>
              <a:rPr sz="2400" dirty="0"/>
              <a:t> = 0.28</a:t>
            </a:r>
            <a:br>
              <a:rPr sz="2400" dirty="0"/>
            </a:br>
            <a:br>
              <a:rPr sz="2400" dirty="0"/>
            </a:br>
            <a:r>
              <a:rPr sz="2400" dirty="0"/>
              <a:t>if income &gt; 50_000 and credit &gt; 700 and </a:t>
            </a:r>
            <a:r>
              <a:rPr sz="2400" dirty="0" err="1"/>
              <a:t>debt_ratio</a:t>
            </a:r>
            <a:r>
              <a:rPr sz="2400" dirty="0"/>
              <a:t> &lt; 0.3:</a:t>
            </a:r>
            <a:br>
              <a:rPr sz="2400" dirty="0"/>
            </a:br>
            <a:r>
              <a:rPr sz="2400" dirty="0"/>
              <a:t>    print("✅ Approved")</a:t>
            </a:r>
            <a:br>
              <a:rPr sz="2400" dirty="0"/>
            </a:br>
            <a:r>
              <a:rPr sz="2400" dirty="0"/>
              <a:t>else:</a:t>
            </a:r>
            <a:br>
              <a:rPr sz="2400" dirty="0"/>
            </a:br>
            <a:r>
              <a:rPr sz="2400" dirty="0"/>
              <a:t>    print("❌ Rejected")</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12FB-0B7E-2549-3A54-50AC1C73F70C}"/>
              </a:ext>
            </a:extLst>
          </p:cNvPr>
          <p:cNvSpPr>
            <a:spLocks noGrp="1"/>
          </p:cNvSpPr>
          <p:nvPr>
            <p:ph type="title"/>
          </p:nvPr>
        </p:nvSpPr>
        <p:spPr/>
        <p:txBody>
          <a:bodyPr/>
          <a:lstStyle/>
          <a:p>
            <a:r>
              <a:rPr lang="en-US" dirty="0"/>
              <a:t>What Is a Ternary Expression?</a:t>
            </a:r>
            <a:endParaRPr lang="en-SG" dirty="0"/>
          </a:p>
        </p:txBody>
      </p:sp>
      <p:sp>
        <p:nvSpPr>
          <p:cNvPr id="3" name="Content Placeholder 2">
            <a:extLst>
              <a:ext uri="{FF2B5EF4-FFF2-40B4-BE49-F238E27FC236}">
                <a16:creationId xmlns:a16="http://schemas.microsoft.com/office/drawing/2014/main" id="{F9D8C249-F1CC-39B3-82AB-D5DBEBD57A85}"/>
              </a:ext>
            </a:extLst>
          </p:cNvPr>
          <p:cNvSpPr>
            <a:spLocks noGrp="1"/>
          </p:cNvSpPr>
          <p:nvPr>
            <p:ph idx="1"/>
          </p:nvPr>
        </p:nvSpPr>
        <p:spPr/>
        <p:txBody>
          <a:bodyPr/>
          <a:lstStyle/>
          <a:p>
            <a:r>
              <a:rPr lang="en-US" b="1" dirty="0"/>
              <a:t>Key Ideas</a:t>
            </a:r>
          </a:p>
          <a:p>
            <a:pPr lvl="1"/>
            <a:r>
              <a:rPr lang="en-US" dirty="0"/>
              <a:t>A </a:t>
            </a:r>
            <a:r>
              <a:rPr lang="en-US" b="1" dirty="0"/>
              <a:t>one-line conditional expression</a:t>
            </a:r>
            <a:endParaRPr lang="en-US" dirty="0"/>
          </a:p>
          <a:p>
            <a:pPr lvl="1"/>
            <a:r>
              <a:rPr lang="en-US" dirty="0"/>
              <a:t>Returns a value based on a condition</a:t>
            </a:r>
          </a:p>
          <a:p>
            <a:pPr lvl="1"/>
            <a:r>
              <a:rPr lang="en-US" dirty="0"/>
              <a:t>Used for </a:t>
            </a:r>
            <a:r>
              <a:rPr lang="en-US" b="1" dirty="0"/>
              <a:t>simple if–else logic</a:t>
            </a:r>
          </a:p>
          <a:p>
            <a:pPr marL="457200" lvl="1" indent="0">
              <a:buNone/>
            </a:pPr>
            <a:endParaRPr lang="en-US" dirty="0"/>
          </a:p>
          <a:p>
            <a:r>
              <a:rPr lang="en-US" b="1" dirty="0"/>
              <a:t>Syntax Pattern</a:t>
            </a:r>
          </a:p>
          <a:p>
            <a:pPr marL="0" indent="0">
              <a:buNone/>
            </a:pPr>
            <a:r>
              <a:rPr lang="en-US" b="1" dirty="0" err="1">
                <a:solidFill>
                  <a:schemeClr val="tx2"/>
                </a:solidFill>
              </a:rPr>
              <a:t>value_if_true</a:t>
            </a:r>
            <a:r>
              <a:rPr lang="en-US" b="1" dirty="0">
                <a:solidFill>
                  <a:schemeClr val="tx2"/>
                </a:solidFill>
              </a:rPr>
              <a:t> if condition else </a:t>
            </a:r>
            <a:r>
              <a:rPr lang="en-US" b="1" dirty="0" err="1">
                <a:solidFill>
                  <a:schemeClr val="tx2"/>
                </a:solidFill>
              </a:rPr>
              <a:t>value_if_false</a:t>
            </a:r>
            <a:endParaRPr lang="en-US" b="1" dirty="0">
              <a:solidFill>
                <a:schemeClr val="tx2"/>
              </a:solidFill>
            </a:endParaRPr>
          </a:p>
          <a:p>
            <a:endParaRPr lang="en-US" b="1" dirty="0"/>
          </a:p>
          <a:p>
            <a:endParaRPr lang="en-SG" dirty="0"/>
          </a:p>
        </p:txBody>
      </p:sp>
    </p:spTree>
    <p:extLst>
      <p:ext uri="{BB962C8B-B14F-4D97-AF65-F5344CB8AC3E}">
        <p14:creationId xmlns:p14="http://schemas.microsoft.com/office/powerpoint/2010/main" val="145240716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65216-2F14-CEAD-248B-685C747F66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2F654BA-8639-A2F3-7526-E2784CF9273F}"/>
              </a:ext>
            </a:extLst>
          </p:cNvPr>
          <p:cNvSpPr>
            <a:spLocks noGrp="1"/>
          </p:cNvSpPr>
          <p:nvPr>
            <p:ph type="title"/>
          </p:nvPr>
        </p:nvSpPr>
        <p:spPr/>
        <p:txBody>
          <a:bodyPr/>
          <a:lstStyle/>
          <a:p>
            <a:r>
              <a:rPr lang="en-SG" dirty="0"/>
              <a:t>Simple Example</a:t>
            </a:r>
          </a:p>
        </p:txBody>
      </p:sp>
      <p:sp>
        <p:nvSpPr>
          <p:cNvPr id="8" name="Content Placeholder 7">
            <a:extLst>
              <a:ext uri="{FF2B5EF4-FFF2-40B4-BE49-F238E27FC236}">
                <a16:creationId xmlns:a16="http://schemas.microsoft.com/office/drawing/2014/main" id="{67C8E744-43DC-DF93-F66B-41892C7B6A93}"/>
              </a:ext>
            </a:extLst>
          </p:cNvPr>
          <p:cNvSpPr>
            <a:spLocks noGrp="1"/>
          </p:cNvSpPr>
          <p:nvPr>
            <p:ph idx="1"/>
          </p:nvPr>
        </p:nvSpPr>
        <p:spPr>
          <a:xfrm>
            <a:off x="457200" y="1600200"/>
            <a:ext cx="42037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 Traditional if-else</a:t>
            </a:r>
          </a:p>
          <a:p>
            <a:pPr marL="0" indent="0">
              <a:buNone/>
            </a:pPr>
            <a:endParaRPr lang="en-US" dirty="0"/>
          </a:p>
          <a:p>
            <a:pPr marL="0" indent="0">
              <a:buNone/>
            </a:pPr>
            <a:r>
              <a:rPr lang="en-US" dirty="0"/>
              <a:t>if age &gt;= 18:</a:t>
            </a:r>
          </a:p>
          <a:p>
            <a:pPr marL="0" indent="0">
              <a:buNone/>
            </a:pPr>
            <a:r>
              <a:rPr lang="en-US" dirty="0"/>
              <a:t>    status = "Adult"</a:t>
            </a:r>
          </a:p>
          <a:p>
            <a:pPr marL="0" indent="0">
              <a:buNone/>
            </a:pPr>
            <a:r>
              <a:rPr lang="en-US" dirty="0"/>
              <a:t>else:</a:t>
            </a:r>
          </a:p>
          <a:p>
            <a:pPr marL="0" indent="0">
              <a:buNone/>
            </a:pPr>
            <a:r>
              <a:rPr lang="en-US" dirty="0"/>
              <a:t>    status = "Minor"</a:t>
            </a:r>
          </a:p>
        </p:txBody>
      </p:sp>
      <p:sp>
        <p:nvSpPr>
          <p:cNvPr id="10" name="Content Placeholder 7">
            <a:extLst>
              <a:ext uri="{FF2B5EF4-FFF2-40B4-BE49-F238E27FC236}">
                <a16:creationId xmlns:a16="http://schemas.microsoft.com/office/drawing/2014/main" id="{E2798688-D51B-937D-A789-5D1B1830A1B1}"/>
              </a:ext>
            </a:extLst>
          </p:cNvPr>
          <p:cNvSpPr txBox="1">
            <a:spLocks/>
          </p:cNvSpPr>
          <p:nvPr/>
        </p:nvSpPr>
        <p:spPr>
          <a:xfrm>
            <a:off x="4953000" y="1600199"/>
            <a:ext cx="69564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 ternary version</a:t>
            </a:r>
          </a:p>
          <a:p>
            <a:pPr marL="0" indent="0">
              <a:buNone/>
            </a:pPr>
            <a:endParaRPr lang="en-US" dirty="0"/>
          </a:p>
          <a:p>
            <a:pPr marL="0" indent="0">
              <a:buNone/>
            </a:pPr>
            <a:r>
              <a:rPr lang="en-US" dirty="0"/>
              <a:t>status = "Adult" if age &gt;= 18 else "Minor"</a:t>
            </a:r>
          </a:p>
        </p:txBody>
      </p:sp>
    </p:spTree>
    <p:extLst>
      <p:ext uri="{BB962C8B-B14F-4D97-AF65-F5344CB8AC3E}">
        <p14:creationId xmlns:p14="http://schemas.microsoft.com/office/powerpoint/2010/main" val="423041153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1C231-D19E-E3FD-1EAB-91B66BA9F70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98FB0DA-86AA-786A-A2D8-E75017D19CB4}"/>
              </a:ext>
            </a:extLst>
          </p:cNvPr>
          <p:cNvSpPr>
            <a:spLocks noGrp="1"/>
          </p:cNvSpPr>
          <p:nvPr>
            <p:ph type="title"/>
          </p:nvPr>
        </p:nvSpPr>
        <p:spPr/>
        <p:txBody>
          <a:bodyPr/>
          <a:lstStyle/>
          <a:p>
            <a:r>
              <a:rPr lang="en-SG" dirty="0"/>
              <a:t>Ternary with Expressions</a:t>
            </a:r>
          </a:p>
        </p:txBody>
      </p:sp>
      <p:sp>
        <p:nvSpPr>
          <p:cNvPr id="10" name="Content Placeholder 7">
            <a:extLst>
              <a:ext uri="{FF2B5EF4-FFF2-40B4-BE49-F238E27FC236}">
                <a16:creationId xmlns:a16="http://schemas.microsoft.com/office/drawing/2014/main" id="{610AFE27-C404-5590-122D-E164CDD881DF}"/>
              </a:ext>
            </a:extLst>
          </p:cNvPr>
          <p:cNvSpPr txBox="1">
            <a:spLocks/>
          </p:cNvSpPr>
          <p:nvPr/>
        </p:nvSpPr>
        <p:spPr>
          <a:xfrm>
            <a:off x="1730375" y="1638298"/>
            <a:ext cx="69564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 </a:t>
            </a:r>
            <a:r>
              <a:rPr lang="en-SG" b="1" dirty="0"/>
              <a:t>Values Can Be Expressions</a:t>
            </a:r>
          </a:p>
          <a:p>
            <a:pPr marL="0" indent="0">
              <a:buNone/>
            </a:pPr>
            <a:endParaRPr lang="en-US" dirty="0"/>
          </a:p>
          <a:p>
            <a:pPr marL="0" indent="0">
              <a:buNone/>
            </a:pPr>
            <a:r>
              <a:rPr lang="en-US" dirty="0"/>
              <a:t>x = 10</a:t>
            </a:r>
          </a:p>
          <a:p>
            <a:pPr marL="0" indent="0">
              <a:buNone/>
            </a:pPr>
            <a:r>
              <a:rPr lang="en-US" dirty="0"/>
              <a:t>y = 20</a:t>
            </a:r>
          </a:p>
          <a:p>
            <a:pPr marL="0" indent="0">
              <a:buNone/>
            </a:pPr>
            <a:endParaRPr lang="en-US" dirty="0"/>
          </a:p>
          <a:p>
            <a:pPr marL="0" indent="0">
              <a:buNone/>
            </a:pPr>
            <a:r>
              <a:rPr lang="en-US" dirty="0" err="1">
                <a:solidFill>
                  <a:schemeClr val="tx2"/>
                </a:solidFill>
              </a:rPr>
              <a:t>max_value</a:t>
            </a:r>
            <a:r>
              <a:rPr lang="en-US" dirty="0">
                <a:solidFill>
                  <a:schemeClr val="tx2"/>
                </a:solidFill>
              </a:rPr>
              <a:t> = x if x &gt; y else y</a:t>
            </a:r>
          </a:p>
        </p:txBody>
      </p:sp>
    </p:spTree>
    <p:extLst>
      <p:ext uri="{BB962C8B-B14F-4D97-AF65-F5344CB8AC3E}">
        <p14:creationId xmlns:p14="http://schemas.microsoft.com/office/powerpoint/2010/main" val="388690666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0380A-9E84-9DBB-DED9-AA5023423EC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28CB90E-11D0-2212-C986-E2BA2786D93F}"/>
              </a:ext>
            </a:extLst>
          </p:cNvPr>
          <p:cNvSpPr>
            <a:spLocks noGrp="1"/>
          </p:cNvSpPr>
          <p:nvPr>
            <p:ph type="title"/>
          </p:nvPr>
        </p:nvSpPr>
        <p:spPr/>
        <p:txBody>
          <a:bodyPr/>
          <a:lstStyle/>
          <a:p>
            <a:r>
              <a:rPr lang="en-SG" dirty="0"/>
              <a:t>Ternary with Function Calls</a:t>
            </a:r>
          </a:p>
        </p:txBody>
      </p:sp>
      <p:sp>
        <p:nvSpPr>
          <p:cNvPr id="10" name="Content Placeholder 7">
            <a:extLst>
              <a:ext uri="{FF2B5EF4-FFF2-40B4-BE49-F238E27FC236}">
                <a16:creationId xmlns:a16="http://schemas.microsoft.com/office/drawing/2014/main" id="{15C1FE96-2FD1-E3F8-F8DE-B34FC81DBAE2}"/>
              </a:ext>
            </a:extLst>
          </p:cNvPr>
          <p:cNvSpPr txBox="1">
            <a:spLocks/>
          </p:cNvSpPr>
          <p:nvPr/>
        </p:nvSpPr>
        <p:spPr>
          <a:xfrm>
            <a:off x="1730375" y="1638298"/>
            <a:ext cx="92043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price = int(input(‘Enter positive integer for price: ‘)) </a:t>
            </a:r>
          </a:p>
          <a:p>
            <a:pPr marL="0" indent="0">
              <a:buNone/>
            </a:pPr>
            <a:endParaRPr lang="en-US" dirty="0"/>
          </a:p>
          <a:p>
            <a:pPr marL="0" indent="0">
              <a:buNone/>
            </a:pPr>
            <a:r>
              <a:rPr lang="en-US" dirty="0"/>
              <a:t>def discount(price):</a:t>
            </a:r>
          </a:p>
          <a:p>
            <a:pPr marL="0" indent="0">
              <a:buNone/>
            </a:pPr>
            <a:r>
              <a:rPr lang="en-US" dirty="0"/>
              <a:t>    return price * 0.9</a:t>
            </a:r>
          </a:p>
          <a:p>
            <a:pPr marL="0" indent="0">
              <a:buNone/>
            </a:pPr>
            <a:endParaRPr lang="en-US" dirty="0"/>
          </a:p>
          <a:p>
            <a:pPr marL="0" indent="0">
              <a:buNone/>
            </a:pPr>
            <a:r>
              <a:rPr lang="en-US" dirty="0" err="1"/>
              <a:t>final_price</a:t>
            </a:r>
            <a:r>
              <a:rPr lang="en-US" dirty="0"/>
              <a:t> = discount(price) if price &gt; 100 else price</a:t>
            </a:r>
          </a:p>
          <a:p>
            <a:pPr marL="0" indent="0">
              <a:buNone/>
            </a:pPr>
            <a:endParaRPr lang="en-US" dirty="0"/>
          </a:p>
          <a:p>
            <a:pPr marL="0" indent="0">
              <a:buNone/>
            </a:pPr>
            <a:r>
              <a:rPr lang="en-US" dirty="0"/>
              <a:t>print(</a:t>
            </a:r>
            <a:r>
              <a:rPr lang="en-US" dirty="0" err="1"/>
              <a:t>f’Final</a:t>
            </a:r>
            <a:r>
              <a:rPr lang="en-US" dirty="0"/>
              <a:t> Price: {</a:t>
            </a:r>
            <a:r>
              <a:rPr lang="en-US" dirty="0" err="1"/>
              <a:t>final_price</a:t>
            </a:r>
            <a:r>
              <a:rPr lang="en-US" dirty="0"/>
              <a:t>}’)</a:t>
            </a:r>
          </a:p>
        </p:txBody>
      </p:sp>
    </p:spTree>
    <p:extLst>
      <p:ext uri="{BB962C8B-B14F-4D97-AF65-F5344CB8AC3E}">
        <p14:creationId xmlns:p14="http://schemas.microsoft.com/office/powerpoint/2010/main" val="246460576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AAA0E-F969-2F07-67A9-8203C834139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A033F98-068F-D6BA-A6B6-262CA4E32EDD}"/>
              </a:ext>
            </a:extLst>
          </p:cNvPr>
          <p:cNvSpPr>
            <a:spLocks noGrp="1"/>
          </p:cNvSpPr>
          <p:nvPr>
            <p:ph type="title"/>
          </p:nvPr>
        </p:nvSpPr>
        <p:spPr/>
        <p:txBody>
          <a:bodyPr>
            <a:normAutofit fontScale="90000"/>
          </a:bodyPr>
          <a:lstStyle/>
          <a:p>
            <a:r>
              <a:rPr lang="en-SG" dirty="0"/>
              <a:t>Nested Ternary Expressions (Warning)</a:t>
            </a:r>
          </a:p>
        </p:txBody>
      </p:sp>
      <p:sp>
        <p:nvSpPr>
          <p:cNvPr id="8" name="Content Placeholder 7">
            <a:extLst>
              <a:ext uri="{FF2B5EF4-FFF2-40B4-BE49-F238E27FC236}">
                <a16:creationId xmlns:a16="http://schemas.microsoft.com/office/drawing/2014/main" id="{8692D6D8-AE0D-FA30-F749-3B6141DD3684}"/>
              </a:ext>
            </a:extLst>
          </p:cNvPr>
          <p:cNvSpPr>
            <a:spLocks noGrp="1"/>
          </p:cNvSpPr>
          <p:nvPr>
            <p:ph idx="1"/>
          </p:nvPr>
        </p:nvSpPr>
        <p:spPr>
          <a:xfrm>
            <a:off x="457200" y="1600200"/>
            <a:ext cx="4584700" cy="4525963"/>
          </a:xfrm>
        </p:spPr>
        <p:style>
          <a:lnRef idx="2">
            <a:schemeClr val="dk1"/>
          </a:lnRef>
          <a:fillRef idx="1">
            <a:schemeClr val="lt1"/>
          </a:fillRef>
          <a:effectRef idx="0">
            <a:schemeClr val="dk1"/>
          </a:effectRef>
          <a:fontRef idx="minor">
            <a:schemeClr val="dk1"/>
          </a:fontRef>
        </p:style>
        <p:txBody>
          <a:bodyPr>
            <a:normAutofit/>
          </a:bodyPr>
          <a:lstStyle/>
          <a:p>
            <a:r>
              <a:rPr lang="en-US" dirty="0"/>
              <a:t>Works, but harder to read</a:t>
            </a:r>
          </a:p>
          <a:p>
            <a:endParaRPr lang="en-US" dirty="0"/>
          </a:p>
          <a:p>
            <a:r>
              <a:rPr lang="en-US" dirty="0"/>
              <a:t>Prefer if–</a:t>
            </a:r>
            <a:r>
              <a:rPr lang="en-US" dirty="0" err="1"/>
              <a:t>elif</a:t>
            </a:r>
            <a:r>
              <a:rPr lang="en-US" dirty="0"/>
              <a:t>–else for clarity</a:t>
            </a:r>
          </a:p>
        </p:txBody>
      </p:sp>
      <p:sp>
        <p:nvSpPr>
          <p:cNvPr id="10" name="Content Placeholder 7">
            <a:extLst>
              <a:ext uri="{FF2B5EF4-FFF2-40B4-BE49-F238E27FC236}">
                <a16:creationId xmlns:a16="http://schemas.microsoft.com/office/drawing/2014/main" id="{0547DA62-5A0C-808F-732F-FD4D0E92C4ED}"/>
              </a:ext>
            </a:extLst>
          </p:cNvPr>
          <p:cNvSpPr txBox="1">
            <a:spLocks/>
          </p:cNvSpPr>
          <p:nvPr/>
        </p:nvSpPr>
        <p:spPr>
          <a:xfrm>
            <a:off x="5270500" y="1600199"/>
            <a:ext cx="6638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result = "Positive" if x &gt; 0 else "Zero" if x == 0 else "Negative"</a:t>
            </a:r>
          </a:p>
        </p:txBody>
      </p:sp>
    </p:spTree>
    <p:extLst>
      <p:ext uri="{BB962C8B-B14F-4D97-AF65-F5344CB8AC3E}">
        <p14:creationId xmlns:p14="http://schemas.microsoft.com/office/powerpoint/2010/main" val="312822805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C88C3-F349-54EA-910B-7DAE3215EEE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073911D-06AA-5E3F-A10E-3F70857A6467}"/>
              </a:ext>
            </a:extLst>
          </p:cNvPr>
          <p:cNvSpPr>
            <a:spLocks noGrp="1"/>
          </p:cNvSpPr>
          <p:nvPr>
            <p:ph type="title"/>
          </p:nvPr>
        </p:nvSpPr>
        <p:spPr/>
        <p:txBody>
          <a:bodyPr>
            <a:normAutofit/>
          </a:bodyPr>
          <a:lstStyle/>
          <a:p>
            <a:r>
              <a:rPr lang="en-SG" dirty="0"/>
              <a:t>Common Pitfall: Forgetting Else</a:t>
            </a:r>
          </a:p>
        </p:txBody>
      </p:sp>
      <p:sp>
        <p:nvSpPr>
          <p:cNvPr id="8" name="Content Placeholder 7">
            <a:extLst>
              <a:ext uri="{FF2B5EF4-FFF2-40B4-BE49-F238E27FC236}">
                <a16:creationId xmlns:a16="http://schemas.microsoft.com/office/drawing/2014/main" id="{FEF12DDA-6D0D-B944-B17A-D7DD6128BA68}"/>
              </a:ext>
            </a:extLst>
          </p:cNvPr>
          <p:cNvSpPr>
            <a:spLocks noGrp="1"/>
          </p:cNvSpPr>
          <p:nvPr>
            <p:ph idx="1"/>
          </p:nvPr>
        </p:nvSpPr>
        <p:spPr>
          <a:xfrm>
            <a:off x="457200" y="1600200"/>
            <a:ext cx="54229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 Good</a:t>
            </a:r>
          </a:p>
          <a:p>
            <a:pPr marL="0" indent="0">
              <a:buNone/>
            </a:pPr>
            <a:endParaRPr lang="en-US" dirty="0"/>
          </a:p>
          <a:p>
            <a:pPr marL="0" indent="0">
              <a:buNone/>
            </a:pPr>
            <a:r>
              <a:rPr lang="en-US" dirty="0"/>
              <a:t>a = x if x &gt; 0 else 0</a:t>
            </a:r>
          </a:p>
        </p:txBody>
      </p:sp>
      <p:sp>
        <p:nvSpPr>
          <p:cNvPr id="10" name="Content Placeholder 7">
            <a:extLst>
              <a:ext uri="{FF2B5EF4-FFF2-40B4-BE49-F238E27FC236}">
                <a16:creationId xmlns:a16="http://schemas.microsoft.com/office/drawing/2014/main" id="{592B8421-A625-0A76-BF1F-2B1C3586DEF2}"/>
              </a:ext>
            </a:extLst>
          </p:cNvPr>
          <p:cNvSpPr txBox="1">
            <a:spLocks/>
          </p:cNvSpPr>
          <p:nvPr/>
        </p:nvSpPr>
        <p:spPr>
          <a:xfrm>
            <a:off x="6094412" y="1600199"/>
            <a:ext cx="5815013"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3600" dirty="0"/>
              <a:t># Bad. Results in Error</a:t>
            </a:r>
          </a:p>
          <a:p>
            <a:pPr marL="0" indent="0">
              <a:buNone/>
            </a:pPr>
            <a:endParaRPr lang="en-US" sz="3600" dirty="0"/>
          </a:p>
          <a:p>
            <a:pPr marL="0" indent="0">
              <a:buNone/>
            </a:pPr>
            <a:r>
              <a:rPr lang="en-US" sz="3600" dirty="0"/>
              <a:t>a = x if x &gt; 0</a:t>
            </a:r>
          </a:p>
        </p:txBody>
      </p:sp>
    </p:spTree>
    <p:extLst>
      <p:ext uri="{BB962C8B-B14F-4D97-AF65-F5344CB8AC3E}">
        <p14:creationId xmlns:p14="http://schemas.microsoft.com/office/powerpoint/2010/main" val="211988394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EE686-CD59-80C0-F329-620558CDA7DF}"/>
              </a:ext>
            </a:extLst>
          </p:cNvPr>
          <p:cNvSpPr>
            <a:spLocks noGrp="1"/>
          </p:cNvSpPr>
          <p:nvPr>
            <p:ph type="title"/>
          </p:nvPr>
        </p:nvSpPr>
        <p:spPr/>
        <p:txBody>
          <a:bodyPr/>
          <a:lstStyle/>
          <a:p>
            <a:r>
              <a:rPr lang="en-SG" dirty="0"/>
              <a:t>Ternary vs if–else</a:t>
            </a:r>
          </a:p>
        </p:txBody>
      </p:sp>
      <p:graphicFrame>
        <p:nvGraphicFramePr>
          <p:cNvPr id="4" name="Table 3">
            <a:extLst>
              <a:ext uri="{FF2B5EF4-FFF2-40B4-BE49-F238E27FC236}">
                <a16:creationId xmlns:a16="http://schemas.microsoft.com/office/drawing/2014/main" id="{CD29CD55-6978-7E85-E61D-1ABCE245BB2A}"/>
              </a:ext>
            </a:extLst>
          </p:cNvPr>
          <p:cNvGraphicFramePr>
            <a:graphicFrameLocks noGrp="1"/>
          </p:cNvGraphicFramePr>
          <p:nvPr>
            <p:extLst>
              <p:ext uri="{D42A27DB-BD31-4B8C-83A1-F6EECF244321}">
                <p14:modId xmlns:p14="http://schemas.microsoft.com/office/powerpoint/2010/main" val="1128563592"/>
              </p:ext>
            </p:extLst>
          </p:nvPr>
        </p:nvGraphicFramePr>
        <p:xfrm>
          <a:off x="457200" y="1536700"/>
          <a:ext cx="8229600" cy="4368800"/>
        </p:xfrm>
        <a:graphic>
          <a:graphicData uri="http://schemas.openxmlformats.org/drawingml/2006/table">
            <a:tbl>
              <a:tblPr/>
              <a:tblGrid>
                <a:gridCol w="2743200">
                  <a:extLst>
                    <a:ext uri="{9D8B030D-6E8A-4147-A177-3AD203B41FA5}">
                      <a16:colId xmlns:a16="http://schemas.microsoft.com/office/drawing/2014/main" val="2345902759"/>
                    </a:ext>
                  </a:extLst>
                </a:gridCol>
                <a:gridCol w="2743200">
                  <a:extLst>
                    <a:ext uri="{9D8B030D-6E8A-4147-A177-3AD203B41FA5}">
                      <a16:colId xmlns:a16="http://schemas.microsoft.com/office/drawing/2014/main" val="1600972764"/>
                    </a:ext>
                  </a:extLst>
                </a:gridCol>
                <a:gridCol w="2743200">
                  <a:extLst>
                    <a:ext uri="{9D8B030D-6E8A-4147-A177-3AD203B41FA5}">
                      <a16:colId xmlns:a16="http://schemas.microsoft.com/office/drawing/2014/main" val="2749064028"/>
                    </a:ext>
                  </a:extLst>
                </a:gridCol>
              </a:tblGrid>
              <a:tr h="1092200">
                <a:tc>
                  <a:txBody>
                    <a:bodyPr/>
                    <a:lstStyle/>
                    <a:p>
                      <a:pPr>
                        <a:buNone/>
                      </a:pPr>
                      <a:r>
                        <a:rPr lang="en-SG"/>
                        <a:t>Feature</a:t>
                      </a:r>
                    </a:p>
                  </a:txBody>
                  <a:tcPr anchor="ctr">
                    <a:lnL>
                      <a:noFill/>
                    </a:lnL>
                    <a:lnR>
                      <a:noFill/>
                    </a:lnR>
                    <a:lnT>
                      <a:noFill/>
                    </a:lnT>
                    <a:lnB>
                      <a:noFill/>
                    </a:lnB>
                    <a:noFill/>
                  </a:tcPr>
                </a:tc>
                <a:tc>
                  <a:txBody>
                    <a:bodyPr/>
                    <a:lstStyle/>
                    <a:p>
                      <a:pPr>
                        <a:buNone/>
                      </a:pPr>
                      <a:r>
                        <a:rPr lang="en-SG"/>
                        <a:t>if–else</a:t>
                      </a:r>
                    </a:p>
                  </a:txBody>
                  <a:tcPr anchor="ctr">
                    <a:lnL>
                      <a:noFill/>
                    </a:lnL>
                    <a:lnR>
                      <a:noFill/>
                    </a:lnR>
                    <a:lnT>
                      <a:noFill/>
                    </a:lnT>
                    <a:lnB>
                      <a:noFill/>
                    </a:lnB>
                    <a:noFill/>
                  </a:tcPr>
                </a:tc>
                <a:tc>
                  <a:txBody>
                    <a:bodyPr/>
                    <a:lstStyle/>
                    <a:p>
                      <a:pPr>
                        <a:buNone/>
                      </a:pPr>
                      <a:r>
                        <a:rPr lang="en-SG"/>
                        <a:t>Ternary</a:t>
                      </a:r>
                    </a:p>
                  </a:txBody>
                  <a:tcPr anchor="ctr">
                    <a:lnL>
                      <a:noFill/>
                    </a:lnL>
                    <a:lnR>
                      <a:noFill/>
                    </a:lnR>
                    <a:lnT>
                      <a:noFill/>
                    </a:lnT>
                    <a:lnB>
                      <a:noFill/>
                    </a:lnB>
                    <a:noFill/>
                  </a:tcPr>
                </a:tc>
                <a:extLst>
                  <a:ext uri="{0D108BD9-81ED-4DB2-BD59-A6C34878D82A}">
                    <a16:rowId xmlns:a16="http://schemas.microsoft.com/office/drawing/2014/main" val="3058437716"/>
                  </a:ext>
                </a:extLst>
              </a:tr>
              <a:tr h="1092200">
                <a:tc>
                  <a:txBody>
                    <a:bodyPr/>
                    <a:lstStyle/>
                    <a:p>
                      <a:pPr>
                        <a:buNone/>
                      </a:pPr>
                      <a:r>
                        <a:rPr lang="en-SG"/>
                        <a:t>Multiple statements</a:t>
                      </a:r>
                    </a:p>
                  </a:txBody>
                  <a:tcPr anchor="ctr">
                    <a:lnL>
                      <a:noFill/>
                    </a:lnL>
                    <a:lnR>
                      <a:noFill/>
                    </a:lnR>
                    <a:lnT>
                      <a:noFill/>
                    </a:lnT>
                    <a:lnB>
                      <a:noFill/>
                    </a:lnB>
                    <a:noFill/>
                  </a:tcPr>
                </a:tc>
                <a:tc>
                  <a:txBody>
                    <a:bodyPr/>
                    <a:lstStyle/>
                    <a:p>
                      <a:pPr>
                        <a:buNone/>
                      </a:pPr>
                      <a:r>
                        <a:rPr lang="en-SG"/>
                        <a:t>✅</a:t>
                      </a:r>
                    </a:p>
                  </a:txBody>
                  <a:tcPr anchor="ctr">
                    <a:lnL>
                      <a:noFill/>
                    </a:lnL>
                    <a:lnR>
                      <a:noFill/>
                    </a:lnR>
                    <a:lnT>
                      <a:noFill/>
                    </a:lnT>
                    <a:lnB>
                      <a:noFill/>
                    </a:lnB>
                    <a:noFill/>
                  </a:tcPr>
                </a:tc>
                <a:tc>
                  <a:txBody>
                    <a:bodyPr/>
                    <a:lstStyle/>
                    <a:p>
                      <a:pPr>
                        <a:buNone/>
                      </a:pPr>
                      <a:r>
                        <a:rPr lang="en-SG"/>
                        <a:t>❌</a:t>
                      </a:r>
                    </a:p>
                  </a:txBody>
                  <a:tcPr anchor="ctr">
                    <a:lnL>
                      <a:noFill/>
                    </a:lnL>
                    <a:lnR>
                      <a:noFill/>
                    </a:lnR>
                    <a:lnT>
                      <a:noFill/>
                    </a:lnT>
                    <a:lnB>
                      <a:noFill/>
                    </a:lnB>
                    <a:noFill/>
                  </a:tcPr>
                </a:tc>
                <a:extLst>
                  <a:ext uri="{0D108BD9-81ED-4DB2-BD59-A6C34878D82A}">
                    <a16:rowId xmlns:a16="http://schemas.microsoft.com/office/drawing/2014/main" val="1774426750"/>
                  </a:ext>
                </a:extLst>
              </a:tr>
              <a:tr h="1092200">
                <a:tc>
                  <a:txBody>
                    <a:bodyPr/>
                    <a:lstStyle/>
                    <a:p>
                      <a:pPr>
                        <a:buNone/>
                      </a:pPr>
                      <a:r>
                        <a:rPr lang="en-SG"/>
                        <a:t>One-line assignment</a:t>
                      </a:r>
                    </a:p>
                  </a:txBody>
                  <a:tcPr anchor="ctr">
                    <a:lnL>
                      <a:noFill/>
                    </a:lnL>
                    <a:lnR>
                      <a:noFill/>
                    </a:lnR>
                    <a:lnT>
                      <a:noFill/>
                    </a:lnT>
                    <a:lnB>
                      <a:noFill/>
                    </a:lnB>
                    <a:noFill/>
                  </a:tcPr>
                </a:tc>
                <a:tc>
                  <a:txBody>
                    <a:bodyPr/>
                    <a:lstStyle/>
                    <a:p>
                      <a:pPr>
                        <a:buNone/>
                      </a:pPr>
                      <a:r>
                        <a:rPr lang="en-SG"/>
                        <a:t>❌</a:t>
                      </a:r>
                    </a:p>
                  </a:txBody>
                  <a:tcPr anchor="ctr">
                    <a:lnL>
                      <a:noFill/>
                    </a:lnL>
                    <a:lnR>
                      <a:noFill/>
                    </a:lnR>
                    <a:lnT>
                      <a:noFill/>
                    </a:lnT>
                    <a:lnB>
                      <a:noFill/>
                    </a:lnB>
                    <a:noFill/>
                  </a:tcPr>
                </a:tc>
                <a:tc>
                  <a:txBody>
                    <a:bodyPr/>
                    <a:lstStyle/>
                    <a:p>
                      <a:pPr>
                        <a:buNone/>
                      </a:pPr>
                      <a:r>
                        <a:rPr lang="en-SG"/>
                        <a:t>✅</a:t>
                      </a:r>
                    </a:p>
                  </a:txBody>
                  <a:tcPr anchor="ctr">
                    <a:lnL>
                      <a:noFill/>
                    </a:lnL>
                    <a:lnR>
                      <a:noFill/>
                    </a:lnR>
                    <a:lnT>
                      <a:noFill/>
                    </a:lnT>
                    <a:lnB>
                      <a:noFill/>
                    </a:lnB>
                    <a:noFill/>
                  </a:tcPr>
                </a:tc>
                <a:extLst>
                  <a:ext uri="{0D108BD9-81ED-4DB2-BD59-A6C34878D82A}">
                    <a16:rowId xmlns:a16="http://schemas.microsoft.com/office/drawing/2014/main" val="1575761028"/>
                  </a:ext>
                </a:extLst>
              </a:tr>
              <a:tr h="1092200">
                <a:tc>
                  <a:txBody>
                    <a:bodyPr/>
                    <a:lstStyle/>
                    <a:p>
                      <a:pPr>
                        <a:buNone/>
                      </a:pPr>
                      <a:r>
                        <a:rPr lang="en-SG"/>
                        <a:t>Readability (simple)</a:t>
                      </a:r>
                    </a:p>
                  </a:txBody>
                  <a:tcPr anchor="ctr">
                    <a:lnL>
                      <a:noFill/>
                    </a:lnL>
                    <a:lnR>
                      <a:noFill/>
                    </a:lnR>
                    <a:lnT>
                      <a:noFill/>
                    </a:lnT>
                    <a:lnB>
                      <a:noFill/>
                    </a:lnB>
                    <a:noFill/>
                  </a:tcPr>
                </a:tc>
                <a:tc>
                  <a:txBody>
                    <a:bodyPr/>
                    <a:lstStyle/>
                    <a:p>
                      <a:pPr>
                        <a:buNone/>
                      </a:pPr>
                      <a:r>
                        <a:rPr lang="en-SG"/>
                        <a:t>✅</a:t>
                      </a:r>
                    </a:p>
                  </a:txBody>
                  <a:tcPr anchor="ctr">
                    <a:lnL>
                      <a:noFill/>
                    </a:lnL>
                    <a:lnR>
                      <a:noFill/>
                    </a:lnR>
                    <a:lnT>
                      <a:noFill/>
                    </a:lnT>
                    <a:lnB>
                      <a:noFill/>
                    </a:lnB>
                    <a:noFill/>
                  </a:tcPr>
                </a:tc>
                <a:tc>
                  <a:txBody>
                    <a:bodyPr/>
                    <a:lstStyle/>
                    <a:p>
                      <a:pPr>
                        <a:buNone/>
                      </a:pPr>
                      <a:r>
                        <a:rPr lang="en-SG" dirty="0"/>
                        <a:t>✅</a:t>
                      </a:r>
                    </a:p>
                  </a:txBody>
                  <a:tcPr anchor="ctr">
                    <a:lnL>
                      <a:noFill/>
                    </a:lnL>
                    <a:lnR>
                      <a:noFill/>
                    </a:lnR>
                    <a:lnT>
                      <a:noFill/>
                    </a:lnT>
                    <a:lnB>
                      <a:noFill/>
                    </a:lnB>
                    <a:noFill/>
                  </a:tcPr>
                </a:tc>
                <a:extLst>
                  <a:ext uri="{0D108BD9-81ED-4DB2-BD59-A6C34878D82A}">
                    <a16:rowId xmlns:a16="http://schemas.microsoft.com/office/drawing/2014/main" val="1540924542"/>
                  </a:ext>
                </a:extLst>
              </a:tr>
            </a:tbl>
          </a:graphicData>
        </a:graphic>
      </p:graphicFrame>
    </p:spTree>
    <p:extLst>
      <p:ext uri="{BB962C8B-B14F-4D97-AF65-F5344CB8AC3E}">
        <p14:creationId xmlns:p14="http://schemas.microsoft.com/office/powerpoint/2010/main" val="145200668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B4603-AAEA-BD62-9242-0457BCF916C3}"/>
              </a:ext>
            </a:extLst>
          </p:cNvPr>
          <p:cNvSpPr>
            <a:spLocks noGrp="1"/>
          </p:cNvSpPr>
          <p:nvPr>
            <p:ph type="title"/>
          </p:nvPr>
        </p:nvSpPr>
        <p:spPr/>
        <p:txBody>
          <a:bodyPr/>
          <a:lstStyle/>
          <a:p>
            <a:r>
              <a:rPr lang="en-SG" dirty="0"/>
              <a:t>Hands-On Exercise</a:t>
            </a:r>
          </a:p>
        </p:txBody>
      </p:sp>
      <p:sp>
        <p:nvSpPr>
          <p:cNvPr id="3" name="Content Placeholder 2">
            <a:extLst>
              <a:ext uri="{FF2B5EF4-FFF2-40B4-BE49-F238E27FC236}">
                <a16:creationId xmlns:a16="http://schemas.microsoft.com/office/drawing/2014/main" id="{0D506E1B-BD3B-B759-56B7-32D6C0146C16}"/>
              </a:ext>
            </a:extLst>
          </p:cNvPr>
          <p:cNvSpPr>
            <a:spLocks noGrp="1"/>
          </p:cNvSpPr>
          <p:nvPr>
            <p:ph idx="1"/>
          </p:nvPr>
        </p:nvSpPr>
        <p:spPr/>
        <p:txBody>
          <a:bodyPr/>
          <a:lstStyle/>
          <a:p>
            <a:r>
              <a:rPr lang="en-US" dirty="0"/>
              <a:t>Ask the user for a number</a:t>
            </a:r>
          </a:p>
          <a:p>
            <a:endParaRPr lang="en-US" dirty="0"/>
          </a:p>
          <a:p>
            <a:r>
              <a:rPr lang="en-US" dirty="0"/>
              <a:t>Assign:</a:t>
            </a:r>
          </a:p>
          <a:p>
            <a:endParaRPr lang="en-US" dirty="0"/>
          </a:p>
          <a:p>
            <a:pPr lvl="1"/>
            <a:r>
              <a:rPr lang="en-US" dirty="0"/>
              <a:t>"Even" or "Odd" using a ternary expression</a:t>
            </a:r>
          </a:p>
          <a:p>
            <a:endParaRPr lang="en-US" dirty="0"/>
          </a:p>
          <a:p>
            <a:r>
              <a:rPr lang="en-US" dirty="0"/>
              <a:t>Print the result</a:t>
            </a:r>
            <a:endParaRPr lang="en-SG" dirty="0"/>
          </a:p>
        </p:txBody>
      </p:sp>
    </p:spTree>
    <p:extLst>
      <p:ext uri="{BB962C8B-B14F-4D97-AF65-F5344CB8AC3E}">
        <p14:creationId xmlns:p14="http://schemas.microsoft.com/office/powerpoint/2010/main" val="412067575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260BA-8B6F-D1FE-5F7F-EB41D3860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5331E-7B03-034B-C2BF-68A3F57882A6}"/>
              </a:ext>
            </a:extLst>
          </p:cNvPr>
          <p:cNvSpPr>
            <a:spLocks noGrp="1"/>
          </p:cNvSpPr>
          <p:nvPr>
            <p:ph type="title"/>
          </p:nvPr>
        </p:nvSpPr>
        <p:spPr/>
        <p:txBody>
          <a:bodyPr/>
          <a:lstStyle/>
          <a:p>
            <a:r>
              <a:rPr lang="en-SG" dirty="0"/>
              <a:t>Solution</a:t>
            </a:r>
          </a:p>
        </p:txBody>
      </p:sp>
      <p:sp>
        <p:nvSpPr>
          <p:cNvPr id="3" name="Content Placeholder 2">
            <a:extLst>
              <a:ext uri="{FF2B5EF4-FFF2-40B4-BE49-F238E27FC236}">
                <a16:creationId xmlns:a16="http://schemas.microsoft.com/office/drawing/2014/main" id="{F71F8D30-ACD3-4DAE-B6CF-5353A611B053}"/>
              </a:ext>
            </a:extLst>
          </p:cNvPr>
          <p:cNvSpPr>
            <a:spLocks noGrp="1"/>
          </p:cNvSpPr>
          <p:nvPr>
            <p:ph idx="1"/>
          </p:nvPr>
        </p:nvSpPr>
        <p:spPr>
          <a:xfrm>
            <a:off x="457200" y="1600200"/>
            <a:ext cx="7912100" cy="4525963"/>
          </a:xfrm>
        </p:spPr>
        <p:txBody>
          <a:bodyPr/>
          <a:lstStyle/>
          <a:p>
            <a:pPr marL="0" indent="0">
              <a:buNone/>
            </a:pPr>
            <a:r>
              <a:rPr lang="en-US" dirty="0"/>
              <a:t>num = int(input("Enter a number: "))</a:t>
            </a:r>
          </a:p>
          <a:p>
            <a:pPr marL="0" indent="0">
              <a:buNone/>
            </a:pPr>
            <a:endParaRPr lang="en-US" dirty="0"/>
          </a:p>
          <a:p>
            <a:pPr marL="0" indent="0">
              <a:buNone/>
            </a:pPr>
            <a:r>
              <a:rPr lang="en-US" dirty="0"/>
              <a:t>result = "Even" if num % 2 == 0 else "Odd“</a:t>
            </a:r>
          </a:p>
          <a:p>
            <a:pPr marL="0" indent="0">
              <a:buNone/>
            </a:pPr>
            <a:endParaRPr lang="en-US" dirty="0"/>
          </a:p>
          <a:p>
            <a:pPr marL="0" indent="0">
              <a:buNone/>
            </a:pPr>
            <a:r>
              <a:rPr lang="en-US" dirty="0"/>
              <a:t>print(result)</a:t>
            </a:r>
          </a:p>
        </p:txBody>
      </p:sp>
    </p:spTree>
    <p:extLst>
      <p:ext uri="{BB962C8B-B14F-4D97-AF65-F5344CB8AC3E}">
        <p14:creationId xmlns:p14="http://schemas.microsoft.com/office/powerpoint/2010/main" val="312322559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Loops — for &amp; while</a:t>
            </a:r>
          </a:p>
        </p:txBody>
      </p:sp>
      <p:sp>
        <p:nvSpPr>
          <p:cNvPr id="3" name="Content Placeholder 2"/>
          <p:cNvSpPr>
            <a:spLocks noGrp="1"/>
          </p:cNvSpPr>
          <p:nvPr>
            <p:ph idx="1"/>
          </p:nvPr>
        </p:nvSpPr>
        <p:spPr/>
        <p:txBody>
          <a:bodyPr/>
          <a:lstStyle/>
          <a:p>
            <a:r>
              <a:rPr dirty="0"/>
              <a:t>for loops iterate over sequences</a:t>
            </a:r>
          </a:p>
          <a:p>
            <a:r>
              <a:rPr dirty="0"/>
              <a:t>while loops repeat while condition is True</a:t>
            </a:r>
          </a:p>
          <a:p>
            <a:r>
              <a:rPr dirty="0"/>
              <a:t>break and continue control loop flow</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13B95-3D3B-AEBD-5F6B-FAFA834B7F5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A4686BA-2308-6AD9-9989-18A6CF2B7C76}"/>
              </a:ext>
            </a:extLst>
          </p:cNvPr>
          <p:cNvSpPr>
            <a:spLocks noGrp="1"/>
          </p:cNvSpPr>
          <p:nvPr>
            <p:ph type="title"/>
          </p:nvPr>
        </p:nvSpPr>
        <p:spPr/>
        <p:txBody>
          <a:bodyPr/>
          <a:lstStyle/>
          <a:p>
            <a:r>
              <a:rPr lang="en-SG" dirty="0"/>
              <a:t>for Loops</a:t>
            </a:r>
          </a:p>
        </p:txBody>
      </p:sp>
      <p:sp>
        <p:nvSpPr>
          <p:cNvPr id="8" name="Content Placeholder 7">
            <a:extLst>
              <a:ext uri="{FF2B5EF4-FFF2-40B4-BE49-F238E27FC236}">
                <a16:creationId xmlns:a16="http://schemas.microsoft.com/office/drawing/2014/main" id="{ABCB246E-05CD-E38E-E710-76898A4EA061}"/>
              </a:ext>
            </a:extLst>
          </p:cNvPr>
          <p:cNvSpPr>
            <a:spLocks noGrp="1"/>
          </p:cNvSpPr>
          <p:nvPr>
            <p:ph idx="1"/>
          </p:nvPr>
        </p:nvSpPr>
        <p:spPr>
          <a:xfrm>
            <a:off x="457200" y="1600200"/>
            <a:ext cx="48514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for </a:t>
            </a:r>
            <a:r>
              <a:rPr lang="en-US" dirty="0" err="1"/>
              <a:t>i</a:t>
            </a:r>
            <a:r>
              <a:rPr lang="en-US" dirty="0"/>
              <a:t> in range(3):</a:t>
            </a:r>
          </a:p>
          <a:p>
            <a:pPr marL="0" indent="0">
              <a:buNone/>
            </a:pPr>
            <a:r>
              <a:rPr lang="en-US" dirty="0"/>
              <a:t>    print(</a:t>
            </a:r>
            <a:r>
              <a:rPr lang="en-US" dirty="0" err="1"/>
              <a:t>i</a:t>
            </a:r>
            <a:r>
              <a:rPr lang="en-US" dirty="0"/>
              <a:t>)</a:t>
            </a:r>
          </a:p>
        </p:txBody>
      </p:sp>
      <p:sp>
        <p:nvSpPr>
          <p:cNvPr id="10" name="Content Placeholder 7">
            <a:extLst>
              <a:ext uri="{FF2B5EF4-FFF2-40B4-BE49-F238E27FC236}">
                <a16:creationId xmlns:a16="http://schemas.microsoft.com/office/drawing/2014/main" id="{6205D715-5295-1630-D89C-15A8328BA5C6}"/>
              </a:ext>
            </a:extLst>
          </p:cNvPr>
          <p:cNvSpPr txBox="1">
            <a:spLocks/>
          </p:cNvSpPr>
          <p:nvPr/>
        </p:nvSpPr>
        <p:spPr>
          <a:xfrm>
            <a:off x="5600700" y="1600200"/>
            <a:ext cx="6130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Used to iterate over a sequence</a:t>
            </a:r>
          </a:p>
          <a:p>
            <a:endParaRPr lang="en-US" dirty="0"/>
          </a:p>
          <a:p>
            <a:r>
              <a:rPr lang="en-US" dirty="0"/>
              <a:t>Commonly used with lists, strings, ranges</a:t>
            </a:r>
          </a:p>
        </p:txBody>
      </p:sp>
    </p:spTree>
    <p:extLst>
      <p:ext uri="{BB962C8B-B14F-4D97-AF65-F5344CB8AC3E}">
        <p14:creationId xmlns:p14="http://schemas.microsoft.com/office/powerpoint/2010/main" val="123666164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91AB5-F18E-F27F-03B5-3CCB278D5520}"/>
              </a:ext>
            </a:extLst>
          </p:cNvPr>
          <p:cNvSpPr>
            <a:spLocks noGrp="1"/>
          </p:cNvSpPr>
          <p:nvPr>
            <p:ph type="title"/>
          </p:nvPr>
        </p:nvSpPr>
        <p:spPr/>
        <p:txBody>
          <a:bodyPr/>
          <a:lstStyle/>
          <a:p>
            <a:r>
              <a:rPr lang="en-SG" dirty="0"/>
              <a:t>Looping Through Collections</a:t>
            </a:r>
          </a:p>
        </p:txBody>
      </p:sp>
      <p:sp>
        <p:nvSpPr>
          <p:cNvPr id="3" name="Content Placeholder 2">
            <a:extLst>
              <a:ext uri="{FF2B5EF4-FFF2-40B4-BE49-F238E27FC236}">
                <a16:creationId xmlns:a16="http://schemas.microsoft.com/office/drawing/2014/main" id="{87681482-5E64-509D-644D-DE4A9FBE67AD}"/>
              </a:ext>
            </a:extLst>
          </p:cNvPr>
          <p:cNvSpPr>
            <a:spLocks noGrp="1"/>
          </p:cNvSpPr>
          <p:nvPr>
            <p:ph idx="1"/>
          </p:nvPr>
        </p:nvSpPr>
        <p:spPr/>
        <p:txBody>
          <a:bodyPr/>
          <a:lstStyle/>
          <a:p>
            <a:pPr marL="0" indent="0">
              <a:buNone/>
            </a:pPr>
            <a:r>
              <a:rPr lang="en-SG" dirty="0"/>
              <a:t>fruits = ["apple", "banana", "orange"]</a:t>
            </a:r>
          </a:p>
          <a:p>
            <a:pPr marL="0" indent="0">
              <a:buNone/>
            </a:pPr>
            <a:endParaRPr lang="en-SG" dirty="0"/>
          </a:p>
          <a:p>
            <a:pPr marL="0" indent="0">
              <a:buNone/>
            </a:pPr>
            <a:r>
              <a:rPr lang="en-SG" dirty="0"/>
              <a:t>for fruit in fruits:</a:t>
            </a:r>
          </a:p>
          <a:p>
            <a:pPr marL="0" indent="0">
              <a:buNone/>
            </a:pPr>
            <a:r>
              <a:rPr lang="en-SG" dirty="0"/>
              <a:t>    print(fruit)</a:t>
            </a:r>
          </a:p>
          <a:p>
            <a:pPr marL="0" indent="0">
              <a:buNone/>
            </a:pPr>
            <a:endParaRPr lang="en-SG" dirty="0"/>
          </a:p>
        </p:txBody>
      </p:sp>
    </p:spTree>
    <p:extLst>
      <p:ext uri="{BB962C8B-B14F-4D97-AF65-F5344CB8AC3E}">
        <p14:creationId xmlns:p14="http://schemas.microsoft.com/office/powerpoint/2010/main" val="384292791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43280-42DA-6A97-5E76-78C2C79330D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C44CD44-9FD5-DD79-59FF-3A49DEB7079A}"/>
              </a:ext>
            </a:extLst>
          </p:cNvPr>
          <p:cNvSpPr>
            <a:spLocks noGrp="1"/>
          </p:cNvSpPr>
          <p:nvPr>
            <p:ph type="title"/>
          </p:nvPr>
        </p:nvSpPr>
        <p:spPr/>
        <p:txBody>
          <a:bodyPr/>
          <a:lstStyle/>
          <a:p>
            <a:r>
              <a:rPr lang="en-SG" dirty="0"/>
              <a:t>while Loops</a:t>
            </a:r>
          </a:p>
        </p:txBody>
      </p:sp>
      <p:sp>
        <p:nvSpPr>
          <p:cNvPr id="8" name="Content Placeholder 7">
            <a:extLst>
              <a:ext uri="{FF2B5EF4-FFF2-40B4-BE49-F238E27FC236}">
                <a16:creationId xmlns:a16="http://schemas.microsoft.com/office/drawing/2014/main" id="{8C1D49EF-7BEA-C434-111A-DE65F2EBCBDD}"/>
              </a:ext>
            </a:extLst>
          </p:cNvPr>
          <p:cNvSpPr>
            <a:spLocks noGrp="1"/>
          </p:cNvSpPr>
          <p:nvPr>
            <p:ph idx="1"/>
          </p:nvPr>
        </p:nvSpPr>
        <p:spPr>
          <a:xfrm>
            <a:off x="457200" y="1600200"/>
            <a:ext cx="48514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count = 1</a:t>
            </a:r>
          </a:p>
          <a:p>
            <a:pPr marL="0" indent="0">
              <a:buNone/>
            </a:pPr>
            <a:endParaRPr lang="en-US" dirty="0"/>
          </a:p>
          <a:p>
            <a:pPr marL="0" indent="0">
              <a:buNone/>
            </a:pPr>
            <a:r>
              <a:rPr lang="en-US" dirty="0"/>
              <a:t>while count &lt;= 3:</a:t>
            </a:r>
          </a:p>
          <a:p>
            <a:pPr marL="0" indent="0">
              <a:buNone/>
            </a:pPr>
            <a:r>
              <a:rPr lang="en-US" dirty="0"/>
              <a:t>    print(count)</a:t>
            </a:r>
          </a:p>
          <a:p>
            <a:pPr marL="0" indent="0">
              <a:buNone/>
            </a:pPr>
            <a:r>
              <a:rPr lang="en-US" dirty="0"/>
              <a:t>    count += 1</a:t>
            </a:r>
          </a:p>
        </p:txBody>
      </p:sp>
      <p:sp>
        <p:nvSpPr>
          <p:cNvPr id="10" name="Content Placeholder 7">
            <a:extLst>
              <a:ext uri="{FF2B5EF4-FFF2-40B4-BE49-F238E27FC236}">
                <a16:creationId xmlns:a16="http://schemas.microsoft.com/office/drawing/2014/main" id="{74EB3B58-F560-F508-65B8-0499EA9640D8}"/>
              </a:ext>
            </a:extLst>
          </p:cNvPr>
          <p:cNvSpPr txBox="1">
            <a:spLocks/>
          </p:cNvSpPr>
          <p:nvPr/>
        </p:nvSpPr>
        <p:spPr>
          <a:xfrm>
            <a:off x="5600700" y="1600200"/>
            <a:ext cx="6130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Repeats while a condition is True</a:t>
            </a:r>
          </a:p>
          <a:p>
            <a:endParaRPr lang="en-US" dirty="0"/>
          </a:p>
          <a:p>
            <a:r>
              <a:rPr lang="en-US" dirty="0"/>
              <a:t>Must ensure condition eventually becomes False</a:t>
            </a:r>
          </a:p>
        </p:txBody>
      </p:sp>
    </p:spTree>
    <p:extLst>
      <p:ext uri="{BB962C8B-B14F-4D97-AF65-F5344CB8AC3E}">
        <p14:creationId xmlns:p14="http://schemas.microsoft.com/office/powerpoint/2010/main" val="282044373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79AF1-CA6C-8256-CAE1-F706419AF33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55C2D27-9D41-248A-53EC-58239238CC15}"/>
              </a:ext>
            </a:extLst>
          </p:cNvPr>
          <p:cNvSpPr>
            <a:spLocks noGrp="1"/>
          </p:cNvSpPr>
          <p:nvPr>
            <p:ph type="title"/>
          </p:nvPr>
        </p:nvSpPr>
        <p:spPr/>
        <p:txBody>
          <a:bodyPr/>
          <a:lstStyle/>
          <a:p>
            <a:r>
              <a:rPr lang="en-SG" dirty="0"/>
              <a:t>break and continue</a:t>
            </a:r>
          </a:p>
        </p:txBody>
      </p:sp>
      <p:sp>
        <p:nvSpPr>
          <p:cNvPr id="8" name="Content Placeholder 7">
            <a:extLst>
              <a:ext uri="{FF2B5EF4-FFF2-40B4-BE49-F238E27FC236}">
                <a16:creationId xmlns:a16="http://schemas.microsoft.com/office/drawing/2014/main" id="{B52CC788-C611-65EC-DF02-8F0B8D867A6B}"/>
              </a:ext>
            </a:extLst>
          </p:cNvPr>
          <p:cNvSpPr>
            <a:spLocks noGrp="1"/>
          </p:cNvSpPr>
          <p:nvPr>
            <p:ph idx="1"/>
          </p:nvPr>
        </p:nvSpPr>
        <p:spPr>
          <a:xfrm>
            <a:off x="457199" y="1600200"/>
            <a:ext cx="50927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 Exits the loop immediately</a:t>
            </a:r>
          </a:p>
          <a:p>
            <a:pPr marL="0" indent="0">
              <a:buNone/>
            </a:pPr>
            <a:endParaRPr lang="en-US" dirty="0"/>
          </a:p>
          <a:p>
            <a:pPr marL="0" indent="0">
              <a:buNone/>
            </a:pPr>
            <a:r>
              <a:rPr lang="en-US" dirty="0"/>
              <a:t>for </a:t>
            </a:r>
            <a:r>
              <a:rPr lang="en-US" dirty="0" err="1"/>
              <a:t>i</a:t>
            </a:r>
            <a:r>
              <a:rPr lang="en-US" dirty="0"/>
              <a:t> in range(5):</a:t>
            </a:r>
          </a:p>
          <a:p>
            <a:pPr marL="0" indent="0">
              <a:buNone/>
            </a:pPr>
            <a:r>
              <a:rPr lang="en-US" dirty="0"/>
              <a:t>    if </a:t>
            </a:r>
            <a:r>
              <a:rPr lang="en-US" dirty="0" err="1"/>
              <a:t>i</a:t>
            </a:r>
            <a:r>
              <a:rPr lang="en-US" dirty="0"/>
              <a:t> == 3:</a:t>
            </a:r>
          </a:p>
          <a:p>
            <a:pPr marL="0" indent="0">
              <a:buNone/>
            </a:pPr>
            <a:r>
              <a:rPr lang="en-US" dirty="0"/>
              <a:t>        break</a:t>
            </a:r>
          </a:p>
          <a:p>
            <a:pPr marL="0" indent="0">
              <a:buNone/>
            </a:pPr>
            <a:r>
              <a:rPr lang="en-US" dirty="0"/>
              <a:t>    print(</a:t>
            </a:r>
            <a:r>
              <a:rPr lang="en-US" dirty="0" err="1"/>
              <a:t>i</a:t>
            </a:r>
            <a:r>
              <a:rPr lang="en-US" dirty="0"/>
              <a:t>)</a:t>
            </a:r>
          </a:p>
        </p:txBody>
      </p:sp>
      <p:sp>
        <p:nvSpPr>
          <p:cNvPr id="10" name="Content Placeholder 7">
            <a:extLst>
              <a:ext uri="{FF2B5EF4-FFF2-40B4-BE49-F238E27FC236}">
                <a16:creationId xmlns:a16="http://schemas.microsoft.com/office/drawing/2014/main" id="{1DF43494-D451-81BB-07A6-BF7C23065EFA}"/>
              </a:ext>
            </a:extLst>
          </p:cNvPr>
          <p:cNvSpPr txBox="1">
            <a:spLocks/>
          </p:cNvSpPr>
          <p:nvPr/>
        </p:nvSpPr>
        <p:spPr>
          <a:xfrm>
            <a:off x="5943600" y="1600200"/>
            <a:ext cx="57880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None/>
            </a:pPr>
            <a:r>
              <a:rPr lang="en-US" dirty="0"/>
              <a:t># Skips to the next iteration</a:t>
            </a:r>
          </a:p>
          <a:p>
            <a:pPr marL="457200" lvl="1" indent="0">
              <a:buNone/>
            </a:pPr>
            <a:endParaRPr lang="en-US" dirty="0"/>
          </a:p>
          <a:p>
            <a:pPr marL="457200" lvl="1" indent="0">
              <a:buNone/>
            </a:pPr>
            <a:r>
              <a:rPr lang="en-US" dirty="0"/>
              <a:t>for </a:t>
            </a:r>
            <a:r>
              <a:rPr lang="en-US" dirty="0" err="1"/>
              <a:t>i</a:t>
            </a:r>
            <a:r>
              <a:rPr lang="en-US" dirty="0"/>
              <a:t> in range(5):</a:t>
            </a:r>
          </a:p>
          <a:p>
            <a:pPr marL="457200" lvl="1" indent="0">
              <a:buNone/>
            </a:pPr>
            <a:r>
              <a:rPr lang="en-US" dirty="0"/>
              <a:t>    if </a:t>
            </a:r>
            <a:r>
              <a:rPr lang="en-US" dirty="0" err="1"/>
              <a:t>i</a:t>
            </a:r>
            <a:r>
              <a:rPr lang="en-US" dirty="0"/>
              <a:t> == 2:</a:t>
            </a:r>
          </a:p>
          <a:p>
            <a:pPr marL="457200" lvl="1" indent="0">
              <a:buNone/>
            </a:pPr>
            <a:r>
              <a:rPr lang="en-US" dirty="0"/>
              <a:t>        continue</a:t>
            </a:r>
          </a:p>
          <a:p>
            <a:pPr marL="457200" lvl="1" indent="0">
              <a:buNone/>
            </a:pPr>
            <a:r>
              <a:rPr lang="en-US" dirty="0"/>
              <a:t>    print(</a:t>
            </a:r>
            <a:r>
              <a:rPr lang="en-US" dirty="0" err="1"/>
              <a:t>i</a:t>
            </a:r>
            <a:r>
              <a:rPr lang="en-US" dirty="0"/>
              <a:t>)</a:t>
            </a:r>
          </a:p>
          <a:p>
            <a:pPr marL="457200" lvl="1" indent="0">
              <a:buNone/>
            </a:pPr>
            <a:endParaRPr lang="en-US" dirty="0"/>
          </a:p>
        </p:txBody>
      </p:sp>
    </p:spTree>
    <p:extLst>
      <p:ext uri="{BB962C8B-B14F-4D97-AF65-F5344CB8AC3E}">
        <p14:creationId xmlns:p14="http://schemas.microsoft.com/office/powerpoint/2010/main" val="348379837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75DA6-C9C0-61A5-1F3A-AD37D797BF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8173BDA-4A95-95DE-7A4B-BE969FDE54FD}"/>
              </a:ext>
            </a:extLst>
          </p:cNvPr>
          <p:cNvSpPr>
            <a:spLocks noGrp="1"/>
          </p:cNvSpPr>
          <p:nvPr>
            <p:ph type="title"/>
          </p:nvPr>
        </p:nvSpPr>
        <p:spPr/>
        <p:txBody>
          <a:bodyPr/>
          <a:lstStyle/>
          <a:p>
            <a:r>
              <a:rPr lang="en-SG" dirty="0"/>
              <a:t>Nested Control Flow</a:t>
            </a:r>
          </a:p>
        </p:txBody>
      </p:sp>
      <p:sp>
        <p:nvSpPr>
          <p:cNvPr id="8" name="Content Placeholder 7">
            <a:extLst>
              <a:ext uri="{FF2B5EF4-FFF2-40B4-BE49-F238E27FC236}">
                <a16:creationId xmlns:a16="http://schemas.microsoft.com/office/drawing/2014/main" id="{D507A18C-C57C-495A-94AF-E11401750EBA}"/>
              </a:ext>
            </a:extLst>
          </p:cNvPr>
          <p:cNvSpPr>
            <a:spLocks noGrp="1"/>
          </p:cNvSpPr>
          <p:nvPr>
            <p:ph idx="1"/>
          </p:nvPr>
        </p:nvSpPr>
        <p:spPr>
          <a:xfrm>
            <a:off x="457199" y="1600200"/>
            <a:ext cx="43815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for </a:t>
            </a:r>
            <a:r>
              <a:rPr lang="en-US" dirty="0" err="1"/>
              <a:t>i</a:t>
            </a:r>
            <a:r>
              <a:rPr lang="en-US" dirty="0"/>
              <a:t> in range(3):</a:t>
            </a:r>
          </a:p>
          <a:p>
            <a:pPr marL="0" indent="0">
              <a:buNone/>
            </a:pPr>
            <a:r>
              <a:rPr lang="en-US" dirty="0"/>
              <a:t>    if </a:t>
            </a:r>
            <a:r>
              <a:rPr lang="en-US" dirty="0" err="1"/>
              <a:t>i</a:t>
            </a:r>
            <a:r>
              <a:rPr lang="en-US" dirty="0"/>
              <a:t> % 2 == 0:</a:t>
            </a:r>
          </a:p>
          <a:p>
            <a:pPr marL="0" indent="0">
              <a:buNone/>
            </a:pPr>
            <a:r>
              <a:rPr lang="en-US" dirty="0"/>
              <a:t>        print(</a:t>
            </a:r>
            <a:r>
              <a:rPr lang="en-US" dirty="0" err="1"/>
              <a:t>i</a:t>
            </a:r>
            <a:r>
              <a:rPr lang="en-US" dirty="0"/>
              <a:t>, "is even")</a:t>
            </a:r>
          </a:p>
        </p:txBody>
      </p:sp>
      <p:sp>
        <p:nvSpPr>
          <p:cNvPr id="10" name="Content Placeholder 7">
            <a:extLst>
              <a:ext uri="{FF2B5EF4-FFF2-40B4-BE49-F238E27FC236}">
                <a16:creationId xmlns:a16="http://schemas.microsoft.com/office/drawing/2014/main" id="{DBFAF15F-D2EE-0D2D-B6C1-80D6EFC6E836}"/>
              </a:ext>
            </a:extLst>
          </p:cNvPr>
          <p:cNvSpPr txBox="1">
            <a:spLocks/>
          </p:cNvSpPr>
          <p:nvPr/>
        </p:nvSpPr>
        <p:spPr>
          <a:xfrm>
            <a:off x="5334000" y="1600200"/>
            <a:ext cx="63976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Control structures can be nested</a:t>
            </a:r>
          </a:p>
          <a:p>
            <a:endParaRPr lang="en-US" dirty="0"/>
          </a:p>
          <a:p>
            <a:r>
              <a:rPr lang="en-US" dirty="0"/>
              <a:t>Indentation is critical in Python</a:t>
            </a:r>
          </a:p>
        </p:txBody>
      </p:sp>
    </p:spTree>
    <p:extLst>
      <p:ext uri="{BB962C8B-B14F-4D97-AF65-F5344CB8AC3E}">
        <p14:creationId xmlns:p14="http://schemas.microsoft.com/office/powerpoint/2010/main" val="212963093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FEE7-A98D-E344-97CF-0688120181E1}"/>
              </a:ext>
            </a:extLst>
          </p:cNvPr>
          <p:cNvSpPr>
            <a:spLocks noGrp="1"/>
          </p:cNvSpPr>
          <p:nvPr>
            <p:ph type="title"/>
          </p:nvPr>
        </p:nvSpPr>
        <p:spPr/>
        <p:txBody>
          <a:bodyPr/>
          <a:lstStyle/>
          <a:p>
            <a:r>
              <a:rPr lang="en-SG" dirty="0"/>
              <a:t>Common Mistakes</a:t>
            </a:r>
          </a:p>
        </p:txBody>
      </p:sp>
      <p:sp>
        <p:nvSpPr>
          <p:cNvPr id="3" name="Content Placeholder 2">
            <a:extLst>
              <a:ext uri="{FF2B5EF4-FFF2-40B4-BE49-F238E27FC236}">
                <a16:creationId xmlns:a16="http://schemas.microsoft.com/office/drawing/2014/main" id="{F59BD070-6517-F7E3-64AF-1F6CCD1C0134}"/>
              </a:ext>
            </a:extLst>
          </p:cNvPr>
          <p:cNvSpPr>
            <a:spLocks noGrp="1"/>
          </p:cNvSpPr>
          <p:nvPr>
            <p:ph idx="1"/>
          </p:nvPr>
        </p:nvSpPr>
        <p:spPr/>
        <p:txBody>
          <a:bodyPr/>
          <a:lstStyle/>
          <a:p>
            <a:r>
              <a:rPr lang="en-US" dirty="0"/>
              <a:t>Missing or incorrect indentation</a:t>
            </a:r>
          </a:p>
          <a:p>
            <a:endParaRPr lang="en-US" dirty="0"/>
          </a:p>
          <a:p>
            <a:r>
              <a:rPr lang="en-US" dirty="0"/>
              <a:t>Infinite while loops</a:t>
            </a:r>
          </a:p>
          <a:p>
            <a:endParaRPr lang="en-US" dirty="0"/>
          </a:p>
          <a:p>
            <a:r>
              <a:rPr lang="en-US" dirty="0"/>
              <a:t>Using = instead of ==</a:t>
            </a:r>
          </a:p>
          <a:p>
            <a:endParaRPr lang="en-US" dirty="0"/>
          </a:p>
          <a:p>
            <a:r>
              <a:rPr lang="en-US" dirty="0"/>
              <a:t>Overly complex nested logic</a:t>
            </a:r>
            <a:endParaRPr lang="en-SG" dirty="0"/>
          </a:p>
        </p:txBody>
      </p:sp>
    </p:spTree>
    <p:extLst>
      <p:ext uri="{BB962C8B-B14F-4D97-AF65-F5344CB8AC3E}">
        <p14:creationId xmlns:p14="http://schemas.microsoft.com/office/powerpoint/2010/main" val="379487923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E0580-8CA9-C0D1-AC08-7614AD2FE849}"/>
              </a:ext>
            </a:extLst>
          </p:cNvPr>
          <p:cNvSpPr>
            <a:spLocks noGrp="1"/>
          </p:cNvSpPr>
          <p:nvPr>
            <p:ph type="title"/>
          </p:nvPr>
        </p:nvSpPr>
        <p:spPr/>
        <p:txBody>
          <a:bodyPr/>
          <a:lstStyle/>
          <a:p>
            <a:r>
              <a:rPr lang="en-SG" dirty="0"/>
              <a:t>When to Use What</a:t>
            </a:r>
          </a:p>
        </p:txBody>
      </p:sp>
      <p:graphicFrame>
        <p:nvGraphicFramePr>
          <p:cNvPr id="4" name="Table 3">
            <a:extLst>
              <a:ext uri="{FF2B5EF4-FFF2-40B4-BE49-F238E27FC236}">
                <a16:creationId xmlns:a16="http://schemas.microsoft.com/office/drawing/2014/main" id="{80D140C0-C5D9-5D70-3F0C-2B153AB003DE}"/>
              </a:ext>
            </a:extLst>
          </p:cNvPr>
          <p:cNvGraphicFramePr>
            <a:graphicFrameLocks noGrp="1"/>
          </p:cNvGraphicFramePr>
          <p:nvPr>
            <p:extLst>
              <p:ext uri="{D42A27DB-BD31-4B8C-83A1-F6EECF244321}">
                <p14:modId xmlns:p14="http://schemas.microsoft.com/office/powerpoint/2010/main" val="1534488153"/>
              </p:ext>
            </p:extLst>
          </p:nvPr>
        </p:nvGraphicFramePr>
        <p:xfrm>
          <a:off x="939800" y="1925161"/>
          <a:ext cx="8229600" cy="3291840"/>
        </p:xfrm>
        <a:graphic>
          <a:graphicData uri="http://schemas.openxmlformats.org/drawingml/2006/table">
            <a:tbl>
              <a:tblPr/>
              <a:tblGrid>
                <a:gridCol w="4114800">
                  <a:extLst>
                    <a:ext uri="{9D8B030D-6E8A-4147-A177-3AD203B41FA5}">
                      <a16:colId xmlns:a16="http://schemas.microsoft.com/office/drawing/2014/main" val="3782213857"/>
                    </a:ext>
                  </a:extLst>
                </a:gridCol>
                <a:gridCol w="4114800">
                  <a:extLst>
                    <a:ext uri="{9D8B030D-6E8A-4147-A177-3AD203B41FA5}">
                      <a16:colId xmlns:a16="http://schemas.microsoft.com/office/drawing/2014/main" val="3006299161"/>
                    </a:ext>
                  </a:extLst>
                </a:gridCol>
              </a:tblGrid>
              <a:tr h="0">
                <a:tc>
                  <a:txBody>
                    <a:bodyPr/>
                    <a:lstStyle/>
                    <a:p>
                      <a:pPr>
                        <a:buNone/>
                      </a:pPr>
                      <a:r>
                        <a:rPr lang="en-SG" sz="3200" b="1" dirty="0">
                          <a:solidFill>
                            <a:schemeClr val="tx2"/>
                          </a:solidFill>
                        </a:rPr>
                        <a:t>Situation</a:t>
                      </a:r>
                    </a:p>
                  </a:txBody>
                  <a:tcPr anchor="ctr">
                    <a:lnL>
                      <a:noFill/>
                    </a:lnL>
                    <a:lnR>
                      <a:noFill/>
                    </a:lnR>
                    <a:lnT>
                      <a:noFill/>
                    </a:lnT>
                    <a:lnB>
                      <a:noFill/>
                    </a:lnB>
                    <a:noFill/>
                  </a:tcPr>
                </a:tc>
                <a:tc>
                  <a:txBody>
                    <a:bodyPr/>
                    <a:lstStyle/>
                    <a:p>
                      <a:pPr>
                        <a:buNone/>
                      </a:pPr>
                      <a:r>
                        <a:rPr lang="en-SG" sz="3200" b="1" dirty="0">
                          <a:solidFill>
                            <a:schemeClr val="tx2"/>
                          </a:solidFill>
                        </a:rPr>
                        <a:t>Use</a:t>
                      </a:r>
                    </a:p>
                  </a:txBody>
                  <a:tcPr anchor="ctr">
                    <a:lnL>
                      <a:noFill/>
                    </a:lnL>
                    <a:lnR>
                      <a:noFill/>
                    </a:lnR>
                    <a:lnT>
                      <a:noFill/>
                    </a:lnT>
                    <a:lnB>
                      <a:noFill/>
                    </a:lnB>
                    <a:noFill/>
                  </a:tcPr>
                </a:tc>
                <a:extLst>
                  <a:ext uri="{0D108BD9-81ED-4DB2-BD59-A6C34878D82A}">
                    <a16:rowId xmlns:a16="http://schemas.microsoft.com/office/drawing/2014/main" val="3516361683"/>
                  </a:ext>
                </a:extLst>
              </a:tr>
              <a:tr h="0">
                <a:tc>
                  <a:txBody>
                    <a:bodyPr/>
                    <a:lstStyle/>
                    <a:p>
                      <a:pPr>
                        <a:buNone/>
                      </a:pPr>
                      <a:r>
                        <a:rPr lang="en-SG" sz="3200" dirty="0"/>
                        <a:t>Decision making</a:t>
                      </a:r>
                    </a:p>
                  </a:txBody>
                  <a:tcPr anchor="ctr">
                    <a:lnL>
                      <a:noFill/>
                    </a:lnL>
                    <a:lnR>
                      <a:noFill/>
                    </a:lnR>
                    <a:lnT>
                      <a:noFill/>
                    </a:lnT>
                    <a:lnB>
                      <a:noFill/>
                    </a:lnB>
                    <a:noFill/>
                  </a:tcPr>
                </a:tc>
                <a:tc>
                  <a:txBody>
                    <a:bodyPr/>
                    <a:lstStyle/>
                    <a:p>
                      <a:pPr>
                        <a:buNone/>
                      </a:pPr>
                      <a:r>
                        <a:rPr lang="en-SG" sz="3200" dirty="0">
                          <a:latin typeface="Courier New" panose="02070309020205020404" pitchFamily="49" charset="0"/>
                        </a:rPr>
                        <a:t>if / </a:t>
                      </a:r>
                      <a:r>
                        <a:rPr lang="en-SG" sz="3200" dirty="0" err="1">
                          <a:latin typeface="Courier New" panose="02070309020205020404" pitchFamily="49" charset="0"/>
                        </a:rPr>
                        <a:t>elif</a:t>
                      </a:r>
                      <a:r>
                        <a:rPr lang="en-SG" sz="3200" dirty="0">
                          <a:latin typeface="Courier New" panose="02070309020205020404" pitchFamily="49" charset="0"/>
                        </a:rPr>
                        <a:t> / else</a:t>
                      </a:r>
                      <a:endParaRPr lang="en-SG" sz="3200" dirty="0"/>
                    </a:p>
                  </a:txBody>
                  <a:tcPr anchor="ctr">
                    <a:lnL>
                      <a:noFill/>
                    </a:lnL>
                    <a:lnR>
                      <a:noFill/>
                    </a:lnR>
                    <a:lnT>
                      <a:noFill/>
                    </a:lnT>
                    <a:lnB>
                      <a:noFill/>
                    </a:lnB>
                    <a:noFill/>
                  </a:tcPr>
                </a:tc>
                <a:extLst>
                  <a:ext uri="{0D108BD9-81ED-4DB2-BD59-A6C34878D82A}">
                    <a16:rowId xmlns:a16="http://schemas.microsoft.com/office/drawing/2014/main" val="691739763"/>
                  </a:ext>
                </a:extLst>
              </a:tr>
              <a:tr h="0">
                <a:tc>
                  <a:txBody>
                    <a:bodyPr/>
                    <a:lstStyle/>
                    <a:p>
                      <a:pPr>
                        <a:buNone/>
                      </a:pPr>
                      <a:r>
                        <a:rPr lang="en-SG" sz="3200"/>
                        <a:t>Known number of iterations</a:t>
                      </a:r>
                    </a:p>
                  </a:txBody>
                  <a:tcPr anchor="ctr">
                    <a:lnL>
                      <a:noFill/>
                    </a:lnL>
                    <a:lnR>
                      <a:noFill/>
                    </a:lnR>
                    <a:lnT>
                      <a:noFill/>
                    </a:lnT>
                    <a:lnB>
                      <a:noFill/>
                    </a:lnB>
                    <a:noFill/>
                  </a:tcPr>
                </a:tc>
                <a:tc>
                  <a:txBody>
                    <a:bodyPr/>
                    <a:lstStyle/>
                    <a:p>
                      <a:pPr>
                        <a:buNone/>
                      </a:pPr>
                      <a:r>
                        <a:rPr lang="en-SG" sz="3200">
                          <a:latin typeface="Courier New" panose="02070309020205020404" pitchFamily="49" charset="0"/>
                        </a:rPr>
                        <a:t>for</a:t>
                      </a:r>
                      <a:r>
                        <a:rPr lang="en-SG" sz="3200"/>
                        <a:t> loop</a:t>
                      </a:r>
                    </a:p>
                  </a:txBody>
                  <a:tcPr anchor="ctr">
                    <a:lnL>
                      <a:noFill/>
                    </a:lnL>
                    <a:lnR>
                      <a:noFill/>
                    </a:lnR>
                    <a:lnT>
                      <a:noFill/>
                    </a:lnT>
                    <a:lnB>
                      <a:noFill/>
                    </a:lnB>
                    <a:noFill/>
                  </a:tcPr>
                </a:tc>
                <a:extLst>
                  <a:ext uri="{0D108BD9-81ED-4DB2-BD59-A6C34878D82A}">
                    <a16:rowId xmlns:a16="http://schemas.microsoft.com/office/drawing/2014/main" val="2397128675"/>
                  </a:ext>
                </a:extLst>
              </a:tr>
              <a:tr h="0">
                <a:tc>
                  <a:txBody>
                    <a:bodyPr/>
                    <a:lstStyle/>
                    <a:p>
                      <a:pPr>
                        <a:buNone/>
                      </a:pPr>
                      <a:r>
                        <a:rPr lang="en-SG" sz="3200"/>
                        <a:t>Unknown number of iterations</a:t>
                      </a:r>
                    </a:p>
                  </a:txBody>
                  <a:tcPr anchor="ctr">
                    <a:lnL>
                      <a:noFill/>
                    </a:lnL>
                    <a:lnR>
                      <a:noFill/>
                    </a:lnR>
                    <a:lnT>
                      <a:noFill/>
                    </a:lnT>
                    <a:lnB>
                      <a:noFill/>
                    </a:lnB>
                    <a:noFill/>
                  </a:tcPr>
                </a:tc>
                <a:tc>
                  <a:txBody>
                    <a:bodyPr/>
                    <a:lstStyle/>
                    <a:p>
                      <a:pPr>
                        <a:buNone/>
                      </a:pPr>
                      <a:r>
                        <a:rPr lang="en-SG" sz="3200" dirty="0">
                          <a:latin typeface="Courier New" panose="02070309020205020404" pitchFamily="49" charset="0"/>
                        </a:rPr>
                        <a:t>while</a:t>
                      </a:r>
                      <a:r>
                        <a:rPr lang="en-SG" sz="3200" dirty="0"/>
                        <a:t> loop</a:t>
                      </a:r>
                    </a:p>
                  </a:txBody>
                  <a:tcPr anchor="ctr">
                    <a:lnL>
                      <a:noFill/>
                    </a:lnL>
                    <a:lnR>
                      <a:noFill/>
                    </a:lnR>
                    <a:lnT>
                      <a:noFill/>
                    </a:lnT>
                    <a:lnB>
                      <a:noFill/>
                    </a:lnB>
                    <a:noFill/>
                  </a:tcPr>
                </a:tc>
                <a:extLst>
                  <a:ext uri="{0D108BD9-81ED-4DB2-BD59-A6C34878D82A}">
                    <a16:rowId xmlns:a16="http://schemas.microsoft.com/office/drawing/2014/main" val="1994354377"/>
                  </a:ext>
                </a:extLst>
              </a:tr>
            </a:tbl>
          </a:graphicData>
        </a:graphic>
      </p:graphicFrame>
    </p:spTree>
    <p:extLst>
      <p:ext uri="{BB962C8B-B14F-4D97-AF65-F5344CB8AC3E}">
        <p14:creationId xmlns:p14="http://schemas.microsoft.com/office/powerpoint/2010/main" val="11791250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CEB0-9FFA-CB48-A11F-0D02671FC284}"/>
              </a:ext>
            </a:extLst>
          </p:cNvPr>
          <p:cNvSpPr>
            <a:spLocks noGrp="1"/>
          </p:cNvSpPr>
          <p:nvPr>
            <p:ph type="title"/>
          </p:nvPr>
        </p:nvSpPr>
        <p:spPr/>
        <p:txBody>
          <a:bodyPr/>
          <a:lstStyle/>
          <a:p>
            <a:r>
              <a:rPr lang="en-SG" dirty="0"/>
              <a:t>Hands-On Exercise</a:t>
            </a:r>
          </a:p>
        </p:txBody>
      </p:sp>
      <p:sp>
        <p:nvSpPr>
          <p:cNvPr id="3" name="Content Placeholder 2">
            <a:extLst>
              <a:ext uri="{FF2B5EF4-FFF2-40B4-BE49-F238E27FC236}">
                <a16:creationId xmlns:a16="http://schemas.microsoft.com/office/drawing/2014/main" id="{7E24476F-3CA3-D413-CFBC-7F476CA504A1}"/>
              </a:ext>
            </a:extLst>
          </p:cNvPr>
          <p:cNvSpPr>
            <a:spLocks noGrp="1"/>
          </p:cNvSpPr>
          <p:nvPr>
            <p:ph idx="1"/>
          </p:nvPr>
        </p:nvSpPr>
        <p:spPr/>
        <p:txBody>
          <a:bodyPr/>
          <a:lstStyle/>
          <a:p>
            <a:r>
              <a:rPr lang="en-US" dirty="0"/>
              <a:t>Ask the user for a number</a:t>
            </a:r>
          </a:p>
          <a:p>
            <a:endParaRPr lang="en-US" dirty="0"/>
          </a:p>
          <a:p>
            <a:r>
              <a:rPr lang="en-US" dirty="0"/>
              <a:t>Print whether it is:</a:t>
            </a:r>
          </a:p>
          <a:p>
            <a:endParaRPr lang="en-US" dirty="0"/>
          </a:p>
          <a:p>
            <a:pPr lvl="1"/>
            <a:r>
              <a:rPr lang="en-US" dirty="0"/>
              <a:t>Positive, negative, or zero</a:t>
            </a:r>
          </a:p>
          <a:p>
            <a:endParaRPr lang="en-US" dirty="0"/>
          </a:p>
          <a:p>
            <a:pPr lvl="1"/>
            <a:r>
              <a:rPr lang="en-US" dirty="0"/>
              <a:t>Even or odd</a:t>
            </a:r>
            <a:endParaRPr lang="en-SG" dirty="0"/>
          </a:p>
        </p:txBody>
      </p:sp>
    </p:spTree>
    <p:extLst>
      <p:ext uri="{BB962C8B-B14F-4D97-AF65-F5344CB8AC3E}">
        <p14:creationId xmlns:p14="http://schemas.microsoft.com/office/powerpoint/2010/main" val="353688252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FAA0-A6D2-2BCC-DD3D-E4B40974678B}"/>
              </a:ext>
            </a:extLst>
          </p:cNvPr>
          <p:cNvSpPr>
            <a:spLocks noGrp="1"/>
          </p:cNvSpPr>
          <p:nvPr>
            <p:ph type="title"/>
          </p:nvPr>
        </p:nvSpPr>
        <p:spPr/>
        <p:txBody>
          <a:bodyPr/>
          <a:lstStyle/>
          <a:p>
            <a:r>
              <a:rPr lang="en-SG" dirty="0"/>
              <a:t>Key Takeaways</a:t>
            </a:r>
          </a:p>
        </p:txBody>
      </p:sp>
      <p:sp>
        <p:nvSpPr>
          <p:cNvPr id="3" name="Content Placeholder 2">
            <a:extLst>
              <a:ext uri="{FF2B5EF4-FFF2-40B4-BE49-F238E27FC236}">
                <a16:creationId xmlns:a16="http://schemas.microsoft.com/office/drawing/2014/main" id="{3A230ED2-C228-CD81-C2D9-F6408FD0A7CE}"/>
              </a:ext>
            </a:extLst>
          </p:cNvPr>
          <p:cNvSpPr>
            <a:spLocks noGrp="1"/>
          </p:cNvSpPr>
          <p:nvPr>
            <p:ph idx="1"/>
          </p:nvPr>
        </p:nvSpPr>
        <p:spPr/>
        <p:txBody>
          <a:bodyPr>
            <a:normAutofit lnSpcReduction="10000"/>
          </a:bodyPr>
          <a:lstStyle/>
          <a:p>
            <a:r>
              <a:rPr lang="en-US" dirty="0"/>
              <a:t>Control flow directs program execution</a:t>
            </a:r>
          </a:p>
          <a:p>
            <a:endParaRPr lang="en-US" dirty="0"/>
          </a:p>
          <a:p>
            <a:r>
              <a:rPr lang="en-US" dirty="0"/>
              <a:t>Conditions rely on Boolean expressions</a:t>
            </a:r>
          </a:p>
          <a:p>
            <a:endParaRPr lang="en-US" dirty="0"/>
          </a:p>
          <a:p>
            <a:r>
              <a:rPr lang="en-US" dirty="0"/>
              <a:t>Loops automate repetition</a:t>
            </a:r>
          </a:p>
          <a:p>
            <a:endParaRPr lang="en-US" dirty="0"/>
          </a:p>
          <a:p>
            <a:r>
              <a:rPr lang="en-US" dirty="0"/>
              <a:t>Clean logic improves readability and correctness</a:t>
            </a:r>
            <a:endParaRPr lang="en-SG" dirty="0"/>
          </a:p>
        </p:txBody>
      </p:sp>
    </p:spTree>
    <p:extLst>
      <p:ext uri="{BB962C8B-B14F-4D97-AF65-F5344CB8AC3E}">
        <p14:creationId xmlns:p14="http://schemas.microsoft.com/office/powerpoint/2010/main" val="8671229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8D10-5EA7-3113-6BBD-C1367A04C167}"/>
              </a:ext>
            </a:extLst>
          </p:cNvPr>
          <p:cNvSpPr>
            <a:spLocks noGrp="1"/>
          </p:cNvSpPr>
          <p:nvPr>
            <p:ph type="title"/>
          </p:nvPr>
        </p:nvSpPr>
        <p:spPr>
          <a:xfrm>
            <a:off x="457200" y="-190500"/>
            <a:ext cx="8229600" cy="1143000"/>
          </a:xfrm>
        </p:spPr>
        <p:txBody>
          <a:bodyPr/>
          <a:lstStyle/>
          <a:p>
            <a:r>
              <a:rPr lang="en-SG" dirty="0"/>
              <a:t>Solution</a:t>
            </a:r>
          </a:p>
        </p:txBody>
      </p:sp>
      <p:sp>
        <p:nvSpPr>
          <p:cNvPr id="3" name="Content Placeholder 2">
            <a:extLst>
              <a:ext uri="{FF2B5EF4-FFF2-40B4-BE49-F238E27FC236}">
                <a16:creationId xmlns:a16="http://schemas.microsoft.com/office/drawing/2014/main" id="{948A84EA-9D26-CDF2-F7A0-1F978F447D95}"/>
              </a:ext>
            </a:extLst>
          </p:cNvPr>
          <p:cNvSpPr>
            <a:spLocks noGrp="1"/>
          </p:cNvSpPr>
          <p:nvPr>
            <p:ph idx="1"/>
          </p:nvPr>
        </p:nvSpPr>
        <p:spPr>
          <a:xfrm>
            <a:off x="457200" y="800100"/>
            <a:ext cx="8229600" cy="5842000"/>
          </a:xfrm>
        </p:spPr>
        <p:txBody>
          <a:bodyPr>
            <a:normAutofit fontScale="77500" lnSpcReduction="20000"/>
          </a:bodyPr>
          <a:lstStyle/>
          <a:p>
            <a:pPr marL="0" indent="0">
              <a:buNone/>
            </a:pPr>
            <a:r>
              <a:rPr lang="en-US" dirty="0"/>
              <a:t>number = int(input("Enter a number: "))</a:t>
            </a:r>
          </a:p>
          <a:p>
            <a:pPr marL="0" indent="0">
              <a:buNone/>
            </a:pPr>
            <a:endParaRPr lang="en-US" dirty="0"/>
          </a:p>
          <a:p>
            <a:pPr marL="0" indent="0">
              <a:buNone/>
            </a:pPr>
            <a:r>
              <a:rPr lang="en-US" dirty="0"/>
              <a:t># Check if positive, negative, or zero</a:t>
            </a:r>
          </a:p>
          <a:p>
            <a:pPr marL="0" indent="0">
              <a:buNone/>
            </a:pPr>
            <a:r>
              <a:rPr lang="en-US" dirty="0"/>
              <a:t>if number &gt; 0:</a:t>
            </a:r>
          </a:p>
          <a:p>
            <a:pPr marL="0" indent="0">
              <a:buNone/>
            </a:pPr>
            <a:r>
              <a:rPr lang="en-US" dirty="0"/>
              <a:t>    print("The number is positive.")</a:t>
            </a:r>
          </a:p>
          <a:p>
            <a:pPr marL="0" indent="0">
              <a:buNone/>
            </a:pPr>
            <a:r>
              <a:rPr lang="en-US" dirty="0" err="1"/>
              <a:t>elif</a:t>
            </a:r>
            <a:r>
              <a:rPr lang="en-US" dirty="0"/>
              <a:t> number &lt; 0:</a:t>
            </a:r>
          </a:p>
          <a:p>
            <a:pPr marL="0" indent="0">
              <a:buNone/>
            </a:pPr>
            <a:r>
              <a:rPr lang="en-US" dirty="0"/>
              <a:t>    print("The number is negative.")</a:t>
            </a:r>
          </a:p>
          <a:p>
            <a:pPr marL="0" indent="0">
              <a:buNone/>
            </a:pPr>
            <a:r>
              <a:rPr lang="en-US" dirty="0"/>
              <a:t>else:</a:t>
            </a:r>
          </a:p>
          <a:p>
            <a:pPr marL="0" indent="0">
              <a:buNone/>
            </a:pPr>
            <a:r>
              <a:rPr lang="en-US" dirty="0"/>
              <a:t>    print("The number is zero.")</a:t>
            </a:r>
          </a:p>
          <a:p>
            <a:pPr marL="0" indent="0">
              <a:buNone/>
            </a:pPr>
            <a:endParaRPr lang="en-US" dirty="0"/>
          </a:p>
          <a:p>
            <a:pPr marL="0" indent="0">
              <a:buNone/>
            </a:pPr>
            <a:r>
              <a:rPr lang="en-US" dirty="0"/>
              <a:t># Check if even or odd</a:t>
            </a:r>
          </a:p>
          <a:p>
            <a:pPr marL="0" indent="0">
              <a:buNone/>
            </a:pPr>
            <a:r>
              <a:rPr lang="en-US" dirty="0"/>
              <a:t>if number % 2 == 0:</a:t>
            </a:r>
          </a:p>
          <a:p>
            <a:pPr marL="0" indent="0">
              <a:buNone/>
            </a:pPr>
            <a:r>
              <a:rPr lang="en-US" dirty="0"/>
              <a:t>    print("The number is even.")</a:t>
            </a:r>
          </a:p>
          <a:p>
            <a:pPr marL="0" indent="0">
              <a:buNone/>
            </a:pPr>
            <a:r>
              <a:rPr lang="en-US" dirty="0"/>
              <a:t>else:</a:t>
            </a:r>
          </a:p>
          <a:p>
            <a:pPr marL="0" indent="0">
              <a:buNone/>
            </a:pPr>
            <a:r>
              <a:rPr lang="en-US" dirty="0"/>
              <a:t>    print("The number is odd.")</a:t>
            </a:r>
          </a:p>
          <a:p>
            <a:pPr marL="0" indent="0">
              <a:buNone/>
            </a:pPr>
            <a:endParaRPr lang="en-SG" dirty="0"/>
          </a:p>
        </p:txBody>
      </p:sp>
    </p:spTree>
    <p:extLst>
      <p:ext uri="{BB962C8B-B14F-4D97-AF65-F5344CB8AC3E}">
        <p14:creationId xmlns:p14="http://schemas.microsoft.com/office/powerpoint/2010/main" val="287692747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Loops – for &amp; while</a:t>
            </a:r>
          </a:p>
        </p:txBody>
      </p:sp>
      <p:sp>
        <p:nvSpPr>
          <p:cNvPr id="3" name="Content Placeholder 2"/>
          <p:cNvSpPr>
            <a:spLocks noGrp="1"/>
          </p:cNvSpPr>
          <p:nvPr>
            <p:ph idx="1"/>
          </p:nvPr>
        </p:nvSpPr>
        <p:spPr/>
        <p:txBody>
          <a:bodyPr>
            <a:normAutofit lnSpcReduction="10000"/>
          </a:bodyPr>
          <a:lstStyle/>
          <a:p>
            <a:pPr marL="0" indent="0" algn="l">
              <a:buNone/>
              <a:defRPr sz="1500">
                <a:latin typeface="Courier New"/>
              </a:defRPr>
            </a:pPr>
            <a:r>
              <a:rPr sz="2400" dirty="0"/>
              <a:t>for </a:t>
            </a:r>
            <a:r>
              <a:rPr sz="2400" dirty="0" err="1"/>
              <a:t>i</a:t>
            </a:r>
            <a:r>
              <a:rPr sz="2400" dirty="0"/>
              <a:t> in range(5):          # 0 1 2 3 4</a:t>
            </a:r>
            <a:br>
              <a:rPr sz="2400" dirty="0"/>
            </a:br>
            <a:r>
              <a:rPr sz="2400" dirty="0"/>
              <a:t>    print(</a:t>
            </a:r>
            <a:r>
              <a:rPr sz="2400" dirty="0" err="1"/>
              <a:t>i</a:t>
            </a:r>
            <a:r>
              <a:rPr sz="2400" dirty="0"/>
              <a:t>, end=" ")</a:t>
            </a:r>
            <a:br>
              <a:rPr sz="2400" dirty="0"/>
            </a:br>
            <a:br>
              <a:rPr sz="2400" dirty="0"/>
            </a:br>
            <a:r>
              <a:rPr sz="2400" dirty="0"/>
              <a:t>colors = ["red", "green", "blue"]</a:t>
            </a:r>
            <a:br>
              <a:rPr sz="2400" dirty="0"/>
            </a:br>
            <a:r>
              <a:rPr sz="2400" dirty="0"/>
              <a:t>for </a:t>
            </a:r>
            <a:r>
              <a:rPr sz="2400" dirty="0" err="1"/>
              <a:t>idx</a:t>
            </a:r>
            <a:r>
              <a:rPr sz="2400" dirty="0"/>
              <a:t>, color in enumerate(colors, start=1):</a:t>
            </a:r>
            <a:br>
              <a:rPr sz="2400" dirty="0"/>
            </a:br>
            <a:r>
              <a:rPr sz="2400" dirty="0"/>
              <a:t>    print(f"{</a:t>
            </a:r>
            <a:r>
              <a:rPr sz="2400" dirty="0" err="1"/>
              <a:t>idx</a:t>
            </a:r>
            <a:r>
              <a:rPr sz="2400" dirty="0"/>
              <a:t>}. {color}")</a:t>
            </a:r>
            <a:br>
              <a:rPr sz="2400" dirty="0"/>
            </a:br>
            <a:br>
              <a:rPr sz="2400" dirty="0"/>
            </a:br>
            <a:r>
              <a:rPr sz="2400" dirty="0"/>
              <a:t>n = 5</a:t>
            </a:r>
            <a:br>
              <a:rPr sz="2400" dirty="0"/>
            </a:br>
            <a:r>
              <a:rPr sz="2400" dirty="0"/>
              <a:t>while n &gt; 0:</a:t>
            </a:r>
            <a:br>
              <a:rPr sz="2400" dirty="0"/>
            </a:br>
            <a:r>
              <a:rPr sz="2400" dirty="0"/>
              <a:t>    print(n); n -= 1</a:t>
            </a:r>
            <a:br>
              <a:rPr sz="2400" dirty="0"/>
            </a:br>
            <a:r>
              <a:rPr sz="2400" dirty="0"/>
              <a:t>else:</a:t>
            </a:r>
            <a:br>
              <a:rPr sz="2400" dirty="0"/>
            </a:br>
            <a:r>
              <a:rPr sz="2400" dirty="0"/>
              <a:t>    print("Blast off!")</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645A1-4AF4-A0EE-E764-6A19A9164675}"/>
              </a:ext>
            </a:extLst>
          </p:cNvPr>
          <p:cNvSpPr>
            <a:spLocks noGrp="1"/>
          </p:cNvSpPr>
          <p:nvPr>
            <p:ph type="title"/>
          </p:nvPr>
        </p:nvSpPr>
        <p:spPr/>
        <p:txBody>
          <a:bodyPr/>
          <a:lstStyle/>
          <a:p>
            <a:r>
              <a:rPr lang="en-SG" dirty="0"/>
              <a:t>Discussion</a:t>
            </a:r>
          </a:p>
        </p:txBody>
      </p:sp>
      <p:sp>
        <p:nvSpPr>
          <p:cNvPr id="3" name="Content Placeholder 2">
            <a:extLst>
              <a:ext uri="{FF2B5EF4-FFF2-40B4-BE49-F238E27FC236}">
                <a16:creationId xmlns:a16="http://schemas.microsoft.com/office/drawing/2014/main" id="{3C9EEFA9-EE92-A1B7-AD1A-03D2BE4BDB4B}"/>
              </a:ext>
            </a:extLst>
          </p:cNvPr>
          <p:cNvSpPr>
            <a:spLocks noGrp="1"/>
          </p:cNvSpPr>
          <p:nvPr>
            <p:ph idx="1"/>
          </p:nvPr>
        </p:nvSpPr>
        <p:spPr/>
        <p:txBody>
          <a:bodyPr>
            <a:normAutofit fontScale="77500" lnSpcReduction="20000"/>
          </a:bodyPr>
          <a:lstStyle/>
          <a:p>
            <a:r>
              <a:rPr lang="en-US" dirty="0"/>
              <a:t>What values does range(5) produce?</a:t>
            </a:r>
          </a:p>
          <a:p>
            <a:endParaRPr lang="en-US" dirty="0"/>
          </a:p>
          <a:p>
            <a:r>
              <a:rPr lang="en-US" dirty="0"/>
              <a:t>Why does print(..., end=" ") change the output format?</a:t>
            </a:r>
          </a:p>
          <a:p>
            <a:endParaRPr lang="en-US" dirty="0"/>
          </a:p>
          <a:p>
            <a:r>
              <a:rPr lang="en-US" dirty="0"/>
              <a:t>What does enumerate() return in each iteration?</a:t>
            </a:r>
          </a:p>
          <a:p>
            <a:endParaRPr lang="en-US" dirty="0"/>
          </a:p>
          <a:p>
            <a:r>
              <a:rPr lang="en-US" dirty="0"/>
              <a:t>Why does enumerate() start at 1 instead of 0 here?</a:t>
            </a:r>
          </a:p>
          <a:p>
            <a:endParaRPr lang="en-US" dirty="0"/>
          </a:p>
          <a:p>
            <a:r>
              <a:rPr lang="en-US" dirty="0"/>
              <a:t>When does the while loop stop?</a:t>
            </a:r>
          </a:p>
          <a:p>
            <a:endParaRPr lang="en-US" dirty="0"/>
          </a:p>
          <a:p>
            <a:r>
              <a:rPr lang="en-US" dirty="0"/>
              <a:t>Under what condition does the else block execute?</a:t>
            </a:r>
            <a:endParaRPr lang="en-SG" dirty="0"/>
          </a:p>
        </p:txBody>
      </p:sp>
    </p:spTree>
    <p:extLst>
      <p:ext uri="{BB962C8B-B14F-4D97-AF65-F5344CB8AC3E}">
        <p14:creationId xmlns:p14="http://schemas.microsoft.com/office/powerpoint/2010/main" val="61959784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A1315-33B4-B527-A270-BBD2293CEDF6}"/>
              </a:ext>
            </a:extLst>
          </p:cNvPr>
          <p:cNvSpPr>
            <a:spLocks noGrp="1"/>
          </p:cNvSpPr>
          <p:nvPr>
            <p:ph type="title"/>
          </p:nvPr>
        </p:nvSpPr>
        <p:spPr>
          <a:xfrm>
            <a:off x="457200" y="0"/>
            <a:ext cx="8229600" cy="1143000"/>
          </a:xfrm>
        </p:spPr>
        <p:txBody>
          <a:bodyPr/>
          <a:lstStyle/>
          <a:p>
            <a:r>
              <a:rPr lang="en-SG" dirty="0"/>
              <a:t>Answers</a:t>
            </a:r>
          </a:p>
        </p:txBody>
      </p:sp>
      <p:sp>
        <p:nvSpPr>
          <p:cNvPr id="3" name="Content Placeholder 2">
            <a:extLst>
              <a:ext uri="{FF2B5EF4-FFF2-40B4-BE49-F238E27FC236}">
                <a16:creationId xmlns:a16="http://schemas.microsoft.com/office/drawing/2014/main" id="{29AC2B30-61CF-83A5-3AF8-3EECC8B08027}"/>
              </a:ext>
            </a:extLst>
          </p:cNvPr>
          <p:cNvSpPr>
            <a:spLocks noGrp="1"/>
          </p:cNvSpPr>
          <p:nvPr>
            <p:ph idx="1"/>
          </p:nvPr>
        </p:nvSpPr>
        <p:spPr>
          <a:xfrm>
            <a:off x="457200" y="1417638"/>
            <a:ext cx="9779000" cy="5186362"/>
          </a:xfrm>
        </p:spPr>
        <p:txBody>
          <a:bodyPr>
            <a:normAutofit fontScale="92500" lnSpcReduction="10000"/>
          </a:bodyPr>
          <a:lstStyle/>
          <a:p>
            <a:r>
              <a:rPr lang="en-US" sz="2400" dirty="0"/>
              <a:t>range(5) </a:t>
            </a:r>
            <a:r>
              <a:rPr lang="en-US" sz="2400" dirty="0">
                <a:sym typeface="Wingdings" panose="05000000000000000000" pitchFamily="2" charset="2"/>
              </a:rPr>
              <a:t></a:t>
            </a:r>
            <a:r>
              <a:rPr lang="en-US" sz="2400" dirty="0"/>
              <a:t> 0, 1, 2, 3, 4</a:t>
            </a:r>
          </a:p>
          <a:p>
            <a:endParaRPr lang="en-US" sz="2400" dirty="0"/>
          </a:p>
          <a:p>
            <a:r>
              <a:rPr lang="en-US" sz="2400" dirty="0"/>
              <a:t>end=" " </a:t>
            </a:r>
            <a:r>
              <a:rPr lang="en-US" sz="2400" dirty="0">
                <a:sym typeface="Wingdings" panose="05000000000000000000" pitchFamily="2" charset="2"/>
              </a:rPr>
              <a:t></a:t>
            </a:r>
            <a:r>
              <a:rPr lang="en-US" sz="2400" dirty="0"/>
              <a:t> prints on same line</a:t>
            </a:r>
          </a:p>
          <a:p>
            <a:endParaRPr lang="en-US" sz="2400" dirty="0"/>
          </a:p>
          <a:p>
            <a:r>
              <a:rPr lang="en-US" sz="2400" dirty="0"/>
              <a:t>enumerate() </a:t>
            </a:r>
            <a:r>
              <a:rPr lang="en-US" sz="2400" dirty="0">
                <a:sym typeface="Wingdings" panose="05000000000000000000" pitchFamily="2" charset="2"/>
              </a:rPr>
              <a:t></a:t>
            </a:r>
            <a:r>
              <a:rPr lang="en-US" sz="2400" dirty="0"/>
              <a:t> returns (index, value)</a:t>
            </a:r>
          </a:p>
          <a:p>
            <a:endParaRPr lang="en-US" sz="2400" dirty="0"/>
          </a:p>
          <a:p>
            <a:r>
              <a:rPr lang="en-US" sz="2400" dirty="0"/>
              <a:t>start=1 </a:t>
            </a:r>
            <a:r>
              <a:rPr lang="en-US" sz="2400" dirty="0">
                <a:sym typeface="Wingdings" panose="05000000000000000000" pitchFamily="2" charset="2"/>
              </a:rPr>
              <a:t></a:t>
            </a:r>
            <a:r>
              <a:rPr lang="en-US" sz="2400" dirty="0"/>
              <a:t> human-friendly numbering</a:t>
            </a:r>
          </a:p>
          <a:p>
            <a:endParaRPr lang="en-US" sz="2400" dirty="0"/>
          </a:p>
          <a:p>
            <a:r>
              <a:rPr lang="en-US" sz="2400" dirty="0"/>
              <a:t>while stops </a:t>
            </a:r>
            <a:r>
              <a:rPr lang="en-US" sz="2400" dirty="0">
                <a:sym typeface="Wingdings" panose="05000000000000000000" pitchFamily="2" charset="2"/>
              </a:rPr>
              <a:t></a:t>
            </a:r>
            <a:r>
              <a:rPr lang="en-US" sz="2400" dirty="0"/>
              <a:t> when condition becomes False</a:t>
            </a:r>
          </a:p>
          <a:p>
            <a:endParaRPr lang="en-US" sz="2400" dirty="0"/>
          </a:p>
          <a:p>
            <a:r>
              <a:rPr lang="en-US" sz="2400" dirty="0"/>
              <a:t>else runs </a:t>
            </a:r>
            <a:r>
              <a:rPr lang="en-US" sz="2400" dirty="0">
                <a:sym typeface="Wingdings" panose="05000000000000000000" pitchFamily="2" charset="2"/>
              </a:rPr>
              <a:t></a:t>
            </a:r>
            <a:r>
              <a:rPr lang="en-US" sz="2400" dirty="0"/>
              <a:t> only if no break</a:t>
            </a:r>
          </a:p>
          <a:p>
            <a:endParaRPr lang="en-US" sz="2400" dirty="0"/>
          </a:p>
          <a:p>
            <a:pPr marL="0" indent="0">
              <a:buNone/>
            </a:pPr>
            <a:r>
              <a:rPr lang="en-US" sz="2400" b="1" dirty="0">
                <a:solidFill>
                  <a:schemeClr val="tx2"/>
                </a:solidFill>
              </a:rPr>
              <a:t>Bottom line: loops control repetition; small options change behavior.</a:t>
            </a:r>
          </a:p>
          <a:p>
            <a:pPr marL="0" indent="0">
              <a:buNone/>
            </a:pPr>
            <a:endParaRPr lang="en-SG" sz="2400" dirty="0"/>
          </a:p>
        </p:txBody>
      </p:sp>
    </p:spTree>
    <p:extLst>
      <p:ext uri="{BB962C8B-B14F-4D97-AF65-F5344CB8AC3E}">
        <p14:creationId xmlns:p14="http://schemas.microsoft.com/office/powerpoint/2010/main" val="283967717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Break, Continue, Else</a:t>
            </a:r>
          </a:p>
        </p:txBody>
      </p:sp>
      <p:sp>
        <p:nvSpPr>
          <p:cNvPr id="3" name="Content Placeholder 2"/>
          <p:cNvSpPr>
            <a:spLocks noGrp="1"/>
          </p:cNvSpPr>
          <p:nvPr>
            <p:ph idx="1"/>
          </p:nvPr>
        </p:nvSpPr>
        <p:spPr/>
        <p:txBody>
          <a:bodyPr>
            <a:normAutofit lnSpcReduction="10000"/>
          </a:bodyPr>
          <a:lstStyle/>
          <a:p>
            <a:pPr marL="0" indent="0" algn="l">
              <a:buNone/>
              <a:defRPr sz="1500">
                <a:latin typeface="Courier New"/>
              </a:defRPr>
            </a:pPr>
            <a:r>
              <a:rPr sz="2400" dirty="0" err="1"/>
              <a:t>nums</a:t>
            </a:r>
            <a:r>
              <a:rPr sz="2400" dirty="0"/>
              <a:t> = [10, 15, 18, 19, 20]</a:t>
            </a:r>
            <a:br>
              <a:rPr sz="2400" dirty="0"/>
            </a:br>
            <a:r>
              <a:rPr sz="2400" dirty="0"/>
              <a:t>for n in </a:t>
            </a:r>
            <a:r>
              <a:rPr sz="2400" dirty="0" err="1"/>
              <a:t>nums</a:t>
            </a:r>
            <a:r>
              <a:rPr sz="2400" dirty="0"/>
              <a:t>:</a:t>
            </a:r>
            <a:br>
              <a:rPr sz="2400" dirty="0"/>
            </a:br>
            <a:r>
              <a:rPr sz="2400" dirty="0"/>
              <a:t>    if n % 2 == 0:</a:t>
            </a:r>
            <a:br>
              <a:rPr sz="2400" dirty="0"/>
            </a:br>
            <a:r>
              <a:rPr sz="2400" dirty="0"/>
              <a:t>        continue</a:t>
            </a:r>
            <a:br>
              <a:rPr sz="2400" dirty="0"/>
            </a:br>
            <a:r>
              <a:rPr sz="2400" dirty="0"/>
              <a:t>    for </a:t>
            </a:r>
            <a:r>
              <a:rPr sz="2400" dirty="0" err="1"/>
              <a:t>i</a:t>
            </a:r>
            <a:r>
              <a:rPr sz="2400" dirty="0"/>
              <a:t> in range(3, int(n**0.5)+1, 2):</a:t>
            </a:r>
            <a:br>
              <a:rPr sz="2400" dirty="0"/>
            </a:br>
            <a:r>
              <a:rPr sz="2400" dirty="0"/>
              <a:t>        if n % </a:t>
            </a:r>
            <a:r>
              <a:rPr sz="2400" dirty="0" err="1"/>
              <a:t>i</a:t>
            </a:r>
            <a:r>
              <a:rPr sz="2400" dirty="0"/>
              <a:t> == 0:</a:t>
            </a:r>
            <a:br>
              <a:rPr sz="2400" dirty="0"/>
            </a:br>
            <a:r>
              <a:rPr sz="2400" dirty="0"/>
              <a:t>            break</a:t>
            </a:r>
            <a:br>
              <a:rPr sz="2400" dirty="0"/>
            </a:br>
            <a:r>
              <a:rPr sz="2400" dirty="0"/>
              <a:t>    else:                       # no break → prime</a:t>
            </a:r>
            <a:br>
              <a:rPr sz="2400" dirty="0"/>
            </a:br>
            <a:r>
              <a:rPr sz="2400" dirty="0"/>
              <a:t>        print("Prime:", n)</a:t>
            </a:r>
            <a:br>
              <a:rPr sz="2400" dirty="0"/>
            </a:br>
            <a:r>
              <a:rPr sz="2400" dirty="0"/>
              <a:t>        break</a:t>
            </a:r>
            <a:br>
              <a:rPr sz="2400" dirty="0"/>
            </a:br>
            <a:r>
              <a:rPr sz="2400" dirty="0"/>
              <a:t>else:</a:t>
            </a:r>
            <a:br>
              <a:rPr sz="2400" dirty="0"/>
            </a:br>
            <a:r>
              <a:rPr sz="2400" dirty="0"/>
              <a:t>    print("No prime found")</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8E68C-B606-FECC-9C5C-928C89BB5832}"/>
              </a:ext>
            </a:extLst>
          </p:cNvPr>
          <p:cNvSpPr>
            <a:spLocks noGrp="1"/>
          </p:cNvSpPr>
          <p:nvPr>
            <p:ph type="title"/>
          </p:nvPr>
        </p:nvSpPr>
        <p:spPr/>
        <p:txBody>
          <a:bodyPr/>
          <a:lstStyle/>
          <a:p>
            <a:r>
              <a:rPr lang="en-SG" dirty="0"/>
              <a:t>What Is a Function?</a:t>
            </a:r>
          </a:p>
        </p:txBody>
      </p:sp>
      <p:sp>
        <p:nvSpPr>
          <p:cNvPr id="3" name="Content Placeholder 2">
            <a:extLst>
              <a:ext uri="{FF2B5EF4-FFF2-40B4-BE49-F238E27FC236}">
                <a16:creationId xmlns:a16="http://schemas.microsoft.com/office/drawing/2014/main" id="{156452B5-E8EC-75F2-7FEA-517639E77DA9}"/>
              </a:ext>
            </a:extLst>
          </p:cNvPr>
          <p:cNvSpPr>
            <a:spLocks noGrp="1"/>
          </p:cNvSpPr>
          <p:nvPr>
            <p:ph idx="1"/>
          </p:nvPr>
        </p:nvSpPr>
        <p:spPr/>
        <p:txBody>
          <a:bodyPr/>
          <a:lstStyle/>
          <a:p>
            <a:r>
              <a:rPr lang="en-US" dirty="0"/>
              <a:t>A function is a reusable block of code</a:t>
            </a:r>
          </a:p>
          <a:p>
            <a:endParaRPr lang="en-US" dirty="0"/>
          </a:p>
          <a:p>
            <a:r>
              <a:rPr lang="en-US" dirty="0"/>
              <a:t>Performs a specific task</a:t>
            </a:r>
          </a:p>
          <a:p>
            <a:endParaRPr lang="en-US" dirty="0"/>
          </a:p>
          <a:p>
            <a:r>
              <a:rPr lang="en-US" dirty="0"/>
              <a:t>Helps reduce repetition and improve readability</a:t>
            </a:r>
            <a:endParaRPr lang="en-SG" dirty="0"/>
          </a:p>
        </p:txBody>
      </p:sp>
    </p:spTree>
    <p:extLst>
      <p:ext uri="{BB962C8B-B14F-4D97-AF65-F5344CB8AC3E}">
        <p14:creationId xmlns:p14="http://schemas.microsoft.com/office/powerpoint/2010/main" val="10503664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FF704-E010-FFC2-C099-B3809C2781C7}"/>
              </a:ext>
            </a:extLst>
          </p:cNvPr>
          <p:cNvSpPr>
            <a:spLocks noGrp="1"/>
          </p:cNvSpPr>
          <p:nvPr>
            <p:ph type="title"/>
          </p:nvPr>
        </p:nvSpPr>
        <p:spPr/>
        <p:txBody>
          <a:bodyPr/>
          <a:lstStyle/>
          <a:p>
            <a:r>
              <a:rPr lang="en-SG" dirty="0"/>
              <a:t>Why Use Functions?</a:t>
            </a:r>
          </a:p>
        </p:txBody>
      </p:sp>
      <p:sp>
        <p:nvSpPr>
          <p:cNvPr id="3" name="Content Placeholder 2">
            <a:extLst>
              <a:ext uri="{FF2B5EF4-FFF2-40B4-BE49-F238E27FC236}">
                <a16:creationId xmlns:a16="http://schemas.microsoft.com/office/drawing/2014/main" id="{EC940959-46A7-5224-7F19-0112167139DE}"/>
              </a:ext>
            </a:extLst>
          </p:cNvPr>
          <p:cNvSpPr>
            <a:spLocks noGrp="1"/>
          </p:cNvSpPr>
          <p:nvPr>
            <p:ph idx="1"/>
          </p:nvPr>
        </p:nvSpPr>
        <p:spPr/>
        <p:txBody>
          <a:bodyPr/>
          <a:lstStyle/>
          <a:p>
            <a:r>
              <a:rPr lang="en-US" dirty="0"/>
              <a:t>Code reuse</a:t>
            </a:r>
          </a:p>
          <a:p>
            <a:endParaRPr lang="en-US" dirty="0"/>
          </a:p>
          <a:p>
            <a:r>
              <a:rPr lang="en-US" dirty="0"/>
              <a:t>Better organization</a:t>
            </a:r>
          </a:p>
          <a:p>
            <a:endParaRPr lang="en-US" dirty="0"/>
          </a:p>
          <a:p>
            <a:r>
              <a:rPr lang="en-US" dirty="0"/>
              <a:t>Easier testing and debugging</a:t>
            </a:r>
          </a:p>
          <a:p>
            <a:endParaRPr lang="en-US" dirty="0"/>
          </a:p>
          <a:p>
            <a:r>
              <a:rPr lang="en-US" dirty="0"/>
              <a:t>Clear separation of logic</a:t>
            </a:r>
            <a:endParaRPr lang="en-SG" dirty="0"/>
          </a:p>
        </p:txBody>
      </p:sp>
    </p:spTree>
    <p:extLst>
      <p:ext uri="{BB962C8B-B14F-4D97-AF65-F5344CB8AC3E}">
        <p14:creationId xmlns:p14="http://schemas.microsoft.com/office/powerpoint/2010/main" val="66056746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65FC8-C5A2-18D9-D56E-8B8F1E24796E}"/>
              </a:ext>
            </a:extLst>
          </p:cNvPr>
          <p:cNvSpPr>
            <a:spLocks noGrp="1"/>
          </p:cNvSpPr>
          <p:nvPr>
            <p:ph type="title"/>
          </p:nvPr>
        </p:nvSpPr>
        <p:spPr/>
        <p:txBody>
          <a:bodyPr>
            <a:normAutofit/>
          </a:bodyPr>
          <a:lstStyle/>
          <a:p>
            <a:r>
              <a:rPr lang="en-US" dirty="0"/>
              <a:t>Functions Are Contracts</a:t>
            </a:r>
            <a:endParaRPr lang="en-SG" dirty="0"/>
          </a:p>
        </p:txBody>
      </p:sp>
      <p:sp>
        <p:nvSpPr>
          <p:cNvPr id="3" name="Content Placeholder 2">
            <a:extLst>
              <a:ext uri="{FF2B5EF4-FFF2-40B4-BE49-F238E27FC236}">
                <a16:creationId xmlns:a16="http://schemas.microsoft.com/office/drawing/2014/main" id="{80D886D0-613E-DAE9-1079-608E0B943E07}"/>
              </a:ext>
            </a:extLst>
          </p:cNvPr>
          <p:cNvSpPr>
            <a:spLocks noGrp="1"/>
          </p:cNvSpPr>
          <p:nvPr>
            <p:ph idx="1"/>
          </p:nvPr>
        </p:nvSpPr>
        <p:spPr/>
        <p:txBody>
          <a:bodyPr>
            <a:normAutofit/>
          </a:bodyPr>
          <a:lstStyle/>
          <a:p>
            <a:r>
              <a:rPr lang="en-US" dirty="0"/>
              <a:t>Inputs → Outputs</a:t>
            </a:r>
          </a:p>
          <a:p>
            <a:r>
              <a:rPr lang="en-US" dirty="0"/>
              <a:t>Minimal side effects</a:t>
            </a:r>
          </a:p>
          <a:p>
            <a:r>
              <a:rPr lang="en-US" dirty="0"/>
              <a:t>Return values &gt; print()</a:t>
            </a:r>
          </a:p>
          <a:p>
            <a:endParaRPr lang="en-US" dirty="0"/>
          </a:p>
          <a:p>
            <a:r>
              <a:rPr lang="en-US" b="1" dirty="0"/>
              <a:t>Good functions</a:t>
            </a:r>
            <a:endParaRPr lang="en-US" dirty="0"/>
          </a:p>
          <a:p>
            <a:pPr lvl="1"/>
            <a:r>
              <a:rPr lang="en-US" dirty="0"/>
              <a:t>Small</a:t>
            </a:r>
          </a:p>
          <a:p>
            <a:pPr lvl="1"/>
            <a:r>
              <a:rPr lang="en-US" dirty="0"/>
              <a:t>Named clearly</a:t>
            </a:r>
          </a:p>
          <a:p>
            <a:pPr lvl="1"/>
            <a:r>
              <a:rPr lang="en-US" dirty="0"/>
              <a:t>Easy to test</a:t>
            </a:r>
          </a:p>
          <a:p>
            <a:endParaRPr lang="en-SG" dirty="0"/>
          </a:p>
        </p:txBody>
      </p:sp>
    </p:spTree>
    <p:extLst>
      <p:ext uri="{BB962C8B-B14F-4D97-AF65-F5344CB8AC3E}">
        <p14:creationId xmlns:p14="http://schemas.microsoft.com/office/powerpoint/2010/main" val="364468918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30236-14F0-4E60-74C7-1683FA1D040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FF23275-79A6-93CA-880C-15E390F8A11E}"/>
              </a:ext>
            </a:extLst>
          </p:cNvPr>
          <p:cNvSpPr>
            <a:spLocks noGrp="1"/>
          </p:cNvSpPr>
          <p:nvPr>
            <p:ph type="title"/>
          </p:nvPr>
        </p:nvSpPr>
        <p:spPr/>
        <p:txBody>
          <a:bodyPr/>
          <a:lstStyle/>
          <a:p>
            <a:r>
              <a:rPr lang="en-SG" dirty="0"/>
              <a:t>Defining Functions</a:t>
            </a:r>
          </a:p>
        </p:txBody>
      </p:sp>
      <p:sp>
        <p:nvSpPr>
          <p:cNvPr id="8" name="Content Placeholder 7">
            <a:extLst>
              <a:ext uri="{FF2B5EF4-FFF2-40B4-BE49-F238E27FC236}">
                <a16:creationId xmlns:a16="http://schemas.microsoft.com/office/drawing/2014/main" id="{F135E01C-6B76-622C-CA15-3F952F14A05D}"/>
              </a:ext>
            </a:extLst>
          </p:cNvPr>
          <p:cNvSpPr>
            <a:spLocks noGrp="1"/>
          </p:cNvSpPr>
          <p:nvPr>
            <p:ph idx="1"/>
          </p:nvPr>
        </p:nvSpPr>
        <p:spPr>
          <a:xfrm>
            <a:off x="457199" y="1600200"/>
            <a:ext cx="43815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greet():</a:t>
            </a:r>
          </a:p>
          <a:p>
            <a:pPr marL="0" indent="0">
              <a:buNone/>
            </a:pPr>
            <a:r>
              <a:rPr lang="en-US" dirty="0"/>
              <a:t>    print("Hello!")</a:t>
            </a:r>
          </a:p>
        </p:txBody>
      </p:sp>
      <p:sp>
        <p:nvSpPr>
          <p:cNvPr id="10" name="Content Placeholder 7">
            <a:extLst>
              <a:ext uri="{FF2B5EF4-FFF2-40B4-BE49-F238E27FC236}">
                <a16:creationId xmlns:a16="http://schemas.microsoft.com/office/drawing/2014/main" id="{F5759424-08AD-34DB-C337-D64063EBBB34}"/>
              </a:ext>
            </a:extLst>
          </p:cNvPr>
          <p:cNvSpPr txBox="1">
            <a:spLocks/>
          </p:cNvSpPr>
          <p:nvPr/>
        </p:nvSpPr>
        <p:spPr>
          <a:xfrm>
            <a:off x="5334000" y="1600200"/>
            <a:ext cx="63976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def keyword defines a function</a:t>
            </a:r>
          </a:p>
          <a:p>
            <a:endParaRPr lang="en-US" dirty="0"/>
          </a:p>
          <a:p>
            <a:r>
              <a:rPr lang="en-US" dirty="0"/>
              <a:t>Function name follows variable naming rules</a:t>
            </a:r>
          </a:p>
          <a:p>
            <a:endParaRPr lang="en-US" dirty="0"/>
          </a:p>
          <a:p>
            <a:r>
              <a:rPr lang="en-US" dirty="0"/>
              <a:t>Code block is indented</a:t>
            </a:r>
          </a:p>
        </p:txBody>
      </p:sp>
    </p:spTree>
    <p:extLst>
      <p:ext uri="{BB962C8B-B14F-4D97-AF65-F5344CB8AC3E}">
        <p14:creationId xmlns:p14="http://schemas.microsoft.com/office/powerpoint/2010/main" val="311543128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6625A-A99E-EFCB-ADE1-B40B0867E7A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E325EEB-E278-60A4-436E-DFB39CDECD94}"/>
              </a:ext>
            </a:extLst>
          </p:cNvPr>
          <p:cNvSpPr>
            <a:spLocks noGrp="1"/>
          </p:cNvSpPr>
          <p:nvPr>
            <p:ph type="title"/>
          </p:nvPr>
        </p:nvSpPr>
        <p:spPr/>
        <p:txBody>
          <a:bodyPr/>
          <a:lstStyle/>
          <a:p>
            <a:r>
              <a:rPr lang="en-SG" dirty="0"/>
              <a:t>Calling a Function</a:t>
            </a:r>
          </a:p>
        </p:txBody>
      </p:sp>
      <p:sp>
        <p:nvSpPr>
          <p:cNvPr id="8" name="Content Placeholder 7">
            <a:extLst>
              <a:ext uri="{FF2B5EF4-FFF2-40B4-BE49-F238E27FC236}">
                <a16:creationId xmlns:a16="http://schemas.microsoft.com/office/drawing/2014/main" id="{18BF1656-AD52-4ACB-450E-CBBEC000B229}"/>
              </a:ext>
            </a:extLst>
          </p:cNvPr>
          <p:cNvSpPr>
            <a:spLocks noGrp="1"/>
          </p:cNvSpPr>
          <p:nvPr>
            <p:ph idx="1"/>
          </p:nvPr>
        </p:nvSpPr>
        <p:spPr>
          <a:xfrm>
            <a:off x="457199" y="1600200"/>
            <a:ext cx="43815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greet()</a:t>
            </a:r>
          </a:p>
        </p:txBody>
      </p:sp>
      <p:sp>
        <p:nvSpPr>
          <p:cNvPr id="10" name="Content Placeholder 7">
            <a:extLst>
              <a:ext uri="{FF2B5EF4-FFF2-40B4-BE49-F238E27FC236}">
                <a16:creationId xmlns:a16="http://schemas.microsoft.com/office/drawing/2014/main" id="{C07DA0E2-0756-6DBB-4D61-36B8A2E52B24}"/>
              </a:ext>
            </a:extLst>
          </p:cNvPr>
          <p:cNvSpPr txBox="1">
            <a:spLocks/>
          </p:cNvSpPr>
          <p:nvPr/>
        </p:nvSpPr>
        <p:spPr>
          <a:xfrm>
            <a:off x="5334000" y="1600200"/>
            <a:ext cx="63976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Function code runs only when called</a:t>
            </a:r>
          </a:p>
          <a:p>
            <a:endParaRPr lang="en-US" dirty="0"/>
          </a:p>
          <a:p>
            <a:r>
              <a:rPr lang="en-US" dirty="0"/>
              <a:t>Multiple calls reuse the same logic</a:t>
            </a:r>
          </a:p>
        </p:txBody>
      </p:sp>
    </p:spTree>
    <p:extLst>
      <p:ext uri="{BB962C8B-B14F-4D97-AF65-F5344CB8AC3E}">
        <p14:creationId xmlns:p14="http://schemas.microsoft.com/office/powerpoint/2010/main" val="183712180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A29DF-1961-48D3-C7E1-540E1F87643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C8E80D3-CE27-8B6D-C232-65706A77F1E9}"/>
              </a:ext>
            </a:extLst>
          </p:cNvPr>
          <p:cNvSpPr>
            <a:spLocks noGrp="1"/>
          </p:cNvSpPr>
          <p:nvPr>
            <p:ph type="title"/>
          </p:nvPr>
        </p:nvSpPr>
        <p:spPr/>
        <p:txBody>
          <a:bodyPr/>
          <a:lstStyle/>
          <a:p>
            <a:r>
              <a:rPr lang="en-SG" dirty="0"/>
              <a:t>Functions with Parameters</a:t>
            </a:r>
          </a:p>
        </p:txBody>
      </p:sp>
      <p:sp>
        <p:nvSpPr>
          <p:cNvPr id="8" name="Content Placeholder 7">
            <a:extLst>
              <a:ext uri="{FF2B5EF4-FFF2-40B4-BE49-F238E27FC236}">
                <a16:creationId xmlns:a16="http://schemas.microsoft.com/office/drawing/2014/main" id="{8C45D0A7-6B89-FFC0-DA81-171A900093DB}"/>
              </a:ext>
            </a:extLst>
          </p:cNvPr>
          <p:cNvSpPr>
            <a:spLocks noGrp="1"/>
          </p:cNvSpPr>
          <p:nvPr>
            <p:ph idx="1"/>
          </p:nvPr>
        </p:nvSpPr>
        <p:spPr>
          <a:xfrm>
            <a:off x="457199" y="1600200"/>
            <a:ext cx="52197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greet(name):</a:t>
            </a:r>
          </a:p>
          <a:p>
            <a:pPr marL="0" indent="0">
              <a:buNone/>
            </a:pPr>
            <a:r>
              <a:rPr lang="en-US" dirty="0"/>
              <a:t>    print(</a:t>
            </a:r>
            <a:r>
              <a:rPr lang="en-US" dirty="0" err="1"/>
              <a:t>f"Hello</a:t>
            </a:r>
            <a:r>
              <a:rPr lang="en-US" dirty="0"/>
              <a:t>, {name}!")</a:t>
            </a:r>
          </a:p>
          <a:p>
            <a:pPr marL="0" indent="0">
              <a:buNone/>
            </a:pPr>
            <a:endParaRPr lang="en-US" dirty="0"/>
          </a:p>
          <a:p>
            <a:pPr marL="0" indent="0">
              <a:buNone/>
            </a:pPr>
            <a:r>
              <a:rPr lang="en-US" dirty="0"/>
              <a:t>greet("Alice")</a:t>
            </a:r>
          </a:p>
          <a:p>
            <a:pPr marL="0" indent="0">
              <a:buNone/>
            </a:pPr>
            <a:r>
              <a:rPr lang="en-US" dirty="0"/>
              <a:t>greet("Bob")</a:t>
            </a:r>
          </a:p>
          <a:p>
            <a:pPr marL="0" indent="0">
              <a:buNone/>
            </a:pPr>
            <a:endParaRPr lang="en-US" dirty="0"/>
          </a:p>
        </p:txBody>
      </p:sp>
      <p:sp>
        <p:nvSpPr>
          <p:cNvPr id="10" name="Content Placeholder 7">
            <a:extLst>
              <a:ext uri="{FF2B5EF4-FFF2-40B4-BE49-F238E27FC236}">
                <a16:creationId xmlns:a16="http://schemas.microsoft.com/office/drawing/2014/main" id="{3311014E-1871-0651-8A7F-C3B1849E2558}"/>
              </a:ext>
            </a:extLst>
          </p:cNvPr>
          <p:cNvSpPr txBox="1">
            <a:spLocks/>
          </p:cNvSpPr>
          <p:nvPr/>
        </p:nvSpPr>
        <p:spPr>
          <a:xfrm>
            <a:off x="5956300" y="1600200"/>
            <a:ext cx="57753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Parameters act like local variables</a:t>
            </a:r>
          </a:p>
          <a:p>
            <a:endParaRPr lang="en-US" dirty="0"/>
          </a:p>
          <a:p>
            <a:r>
              <a:rPr lang="en-US" dirty="0"/>
              <a:t>Values passed are called arguments</a:t>
            </a:r>
          </a:p>
        </p:txBody>
      </p:sp>
    </p:spTree>
    <p:extLst>
      <p:ext uri="{BB962C8B-B14F-4D97-AF65-F5344CB8AC3E}">
        <p14:creationId xmlns:p14="http://schemas.microsoft.com/office/powerpoint/2010/main" val="160243605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9E6CD-EAFE-F487-62A3-FAB4122AB08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412EDB4-1E10-4698-0999-B4D20FC04913}"/>
              </a:ext>
            </a:extLst>
          </p:cNvPr>
          <p:cNvSpPr>
            <a:spLocks noGrp="1"/>
          </p:cNvSpPr>
          <p:nvPr>
            <p:ph type="title"/>
          </p:nvPr>
        </p:nvSpPr>
        <p:spPr/>
        <p:txBody>
          <a:bodyPr/>
          <a:lstStyle/>
          <a:p>
            <a:r>
              <a:rPr lang="en-SG" dirty="0"/>
              <a:t>Return Values</a:t>
            </a:r>
          </a:p>
        </p:txBody>
      </p:sp>
      <p:sp>
        <p:nvSpPr>
          <p:cNvPr id="8" name="Content Placeholder 7">
            <a:extLst>
              <a:ext uri="{FF2B5EF4-FFF2-40B4-BE49-F238E27FC236}">
                <a16:creationId xmlns:a16="http://schemas.microsoft.com/office/drawing/2014/main" id="{968E03AD-08CD-FE97-5288-22036AC0D552}"/>
              </a:ext>
            </a:extLst>
          </p:cNvPr>
          <p:cNvSpPr>
            <a:spLocks noGrp="1"/>
          </p:cNvSpPr>
          <p:nvPr>
            <p:ph idx="1"/>
          </p:nvPr>
        </p:nvSpPr>
        <p:spPr>
          <a:xfrm>
            <a:off x="457199" y="1600200"/>
            <a:ext cx="42926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add(a, b):</a:t>
            </a:r>
          </a:p>
          <a:p>
            <a:pPr marL="0" indent="0">
              <a:buNone/>
            </a:pPr>
            <a:r>
              <a:rPr lang="en-US" dirty="0"/>
              <a:t>    return a + b</a:t>
            </a:r>
          </a:p>
          <a:p>
            <a:pPr marL="0" indent="0">
              <a:buNone/>
            </a:pPr>
            <a:endParaRPr lang="en-US" dirty="0"/>
          </a:p>
          <a:p>
            <a:pPr marL="0" indent="0">
              <a:buNone/>
            </a:pPr>
            <a:r>
              <a:rPr lang="en-US" dirty="0"/>
              <a:t>result = add(3, 5)</a:t>
            </a:r>
          </a:p>
          <a:p>
            <a:pPr marL="0" indent="0">
              <a:buNone/>
            </a:pPr>
            <a:r>
              <a:rPr lang="en-US" dirty="0"/>
              <a:t>print(result)</a:t>
            </a:r>
          </a:p>
        </p:txBody>
      </p:sp>
      <p:sp>
        <p:nvSpPr>
          <p:cNvPr id="10" name="Content Placeholder 7">
            <a:extLst>
              <a:ext uri="{FF2B5EF4-FFF2-40B4-BE49-F238E27FC236}">
                <a16:creationId xmlns:a16="http://schemas.microsoft.com/office/drawing/2014/main" id="{197F00CA-1915-4DFD-DBD4-CDBEC8139B3B}"/>
              </a:ext>
            </a:extLst>
          </p:cNvPr>
          <p:cNvSpPr txBox="1">
            <a:spLocks/>
          </p:cNvSpPr>
          <p:nvPr/>
        </p:nvSpPr>
        <p:spPr>
          <a:xfrm>
            <a:off x="5143500" y="1600200"/>
            <a:ext cx="65881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return sends a value back to the caller</a:t>
            </a:r>
          </a:p>
          <a:p>
            <a:endParaRPr lang="en-US" dirty="0"/>
          </a:p>
          <a:p>
            <a:r>
              <a:rPr lang="en-US" dirty="0"/>
              <a:t>Function stops executing at return</a:t>
            </a:r>
          </a:p>
        </p:txBody>
      </p:sp>
    </p:spTree>
    <p:extLst>
      <p:ext uri="{BB962C8B-B14F-4D97-AF65-F5344CB8AC3E}">
        <p14:creationId xmlns:p14="http://schemas.microsoft.com/office/powerpoint/2010/main" val="377771420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C97A5-891F-B318-5666-C6B68DC1FB96}"/>
              </a:ext>
            </a:extLst>
          </p:cNvPr>
          <p:cNvSpPr>
            <a:spLocks noGrp="1"/>
          </p:cNvSpPr>
          <p:nvPr>
            <p:ph type="title"/>
          </p:nvPr>
        </p:nvSpPr>
        <p:spPr/>
        <p:txBody>
          <a:bodyPr/>
          <a:lstStyle/>
          <a:p>
            <a:r>
              <a:rPr lang="en-SG" dirty="0"/>
              <a:t>Multiple Parameters</a:t>
            </a:r>
          </a:p>
        </p:txBody>
      </p:sp>
      <p:sp>
        <p:nvSpPr>
          <p:cNvPr id="3" name="Content Placeholder 2">
            <a:extLst>
              <a:ext uri="{FF2B5EF4-FFF2-40B4-BE49-F238E27FC236}">
                <a16:creationId xmlns:a16="http://schemas.microsoft.com/office/drawing/2014/main" id="{0DEA9336-1C58-AB0E-4879-DD52A6FCA31B}"/>
              </a:ext>
            </a:extLst>
          </p:cNvPr>
          <p:cNvSpPr>
            <a:spLocks noGrp="1"/>
          </p:cNvSpPr>
          <p:nvPr>
            <p:ph idx="1"/>
          </p:nvPr>
        </p:nvSpPr>
        <p:spPr/>
        <p:txBody>
          <a:bodyPr/>
          <a:lstStyle/>
          <a:p>
            <a:pPr marL="0" indent="0">
              <a:buNone/>
            </a:pPr>
            <a:r>
              <a:rPr lang="en-US" dirty="0"/>
              <a:t>def </a:t>
            </a:r>
            <a:r>
              <a:rPr lang="en-US" dirty="0" err="1"/>
              <a:t>calculate_total</a:t>
            </a:r>
            <a:r>
              <a:rPr lang="en-US" dirty="0"/>
              <a:t>(price, quantity):</a:t>
            </a:r>
          </a:p>
          <a:p>
            <a:pPr marL="0" indent="0">
              <a:buNone/>
            </a:pPr>
            <a:r>
              <a:rPr lang="en-US" dirty="0"/>
              <a:t>    return price * quantity</a:t>
            </a:r>
          </a:p>
          <a:p>
            <a:pPr marL="0" indent="0">
              <a:buNone/>
            </a:pPr>
            <a:endParaRPr lang="en-SG" dirty="0"/>
          </a:p>
        </p:txBody>
      </p:sp>
    </p:spTree>
    <p:extLst>
      <p:ext uri="{BB962C8B-B14F-4D97-AF65-F5344CB8AC3E}">
        <p14:creationId xmlns:p14="http://schemas.microsoft.com/office/powerpoint/2010/main" val="6749720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8BED4-227C-FB91-C4A4-79AC93E4D96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E0AFBEA-2F99-B45D-8CAB-AF03AEA66069}"/>
              </a:ext>
            </a:extLst>
          </p:cNvPr>
          <p:cNvSpPr>
            <a:spLocks noGrp="1"/>
          </p:cNvSpPr>
          <p:nvPr>
            <p:ph type="title"/>
          </p:nvPr>
        </p:nvSpPr>
        <p:spPr/>
        <p:txBody>
          <a:bodyPr/>
          <a:lstStyle/>
          <a:p>
            <a:r>
              <a:rPr lang="en-SG" dirty="0"/>
              <a:t>Default Values</a:t>
            </a:r>
          </a:p>
        </p:txBody>
      </p:sp>
      <p:sp>
        <p:nvSpPr>
          <p:cNvPr id="8" name="Content Placeholder 7">
            <a:extLst>
              <a:ext uri="{FF2B5EF4-FFF2-40B4-BE49-F238E27FC236}">
                <a16:creationId xmlns:a16="http://schemas.microsoft.com/office/drawing/2014/main" id="{27E263A0-DA16-BABE-17FA-D005F545941B}"/>
              </a:ext>
            </a:extLst>
          </p:cNvPr>
          <p:cNvSpPr>
            <a:spLocks noGrp="1"/>
          </p:cNvSpPr>
          <p:nvPr>
            <p:ph idx="1"/>
          </p:nvPr>
        </p:nvSpPr>
        <p:spPr>
          <a:xfrm>
            <a:off x="457199" y="1600200"/>
            <a:ext cx="57404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greet(name="Guest"):</a:t>
            </a:r>
          </a:p>
          <a:p>
            <a:pPr marL="0" indent="0">
              <a:buNone/>
            </a:pPr>
            <a:r>
              <a:rPr lang="en-US" dirty="0"/>
              <a:t>    print(</a:t>
            </a:r>
            <a:r>
              <a:rPr lang="en-US" dirty="0" err="1"/>
              <a:t>f"Hello</a:t>
            </a:r>
            <a:r>
              <a:rPr lang="en-US" dirty="0"/>
              <a:t>, {name}!")</a:t>
            </a:r>
          </a:p>
          <a:p>
            <a:pPr marL="0" indent="0">
              <a:buNone/>
            </a:pPr>
            <a:endParaRPr lang="en-US" dirty="0"/>
          </a:p>
          <a:p>
            <a:pPr marL="0" indent="0">
              <a:buNone/>
            </a:pPr>
            <a:r>
              <a:rPr lang="en-US" dirty="0"/>
              <a:t>greet()</a:t>
            </a:r>
          </a:p>
          <a:p>
            <a:pPr marL="0" indent="0">
              <a:buNone/>
            </a:pPr>
            <a:r>
              <a:rPr lang="en-US" dirty="0"/>
              <a:t>greet("Sean")</a:t>
            </a:r>
          </a:p>
          <a:p>
            <a:pPr marL="0" indent="0">
              <a:buNone/>
            </a:pPr>
            <a:endParaRPr lang="en-US" dirty="0"/>
          </a:p>
        </p:txBody>
      </p:sp>
      <p:sp>
        <p:nvSpPr>
          <p:cNvPr id="10" name="Content Placeholder 7">
            <a:extLst>
              <a:ext uri="{FF2B5EF4-FFF2-40B4-BE49-F238E27FC236}">
                <a16:creationId xmlns:a16="http://schemas.microsoft.com/office/drawing/2014/main" id="{49BD6641-6353-3C6E-208A-1E977EFDD079}"/>
              </a:ext>
            </a:extLst>
          </p:cNvPr>
          <p:cNvSpPr txBox="1">
            <a:spLocks/>
          </p:cNvSpPr>
          <p:nvPr/>
        </p:nvSpPr>
        <p:spPr>
          <a:xfrm>
            <a:off x="6362700" y="1600200"/>
            <a:ext cx="5368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Defaults used when argument is missing</a:t>
            </a:r>
          </a:p>
          <a:p>
            <a:endParaRPr lang="en-US" dirty="0"/>
          </a:p>
          <a:p>
            <a:r>
              <a:rPr lang="en-US" dirty="0"/>
              <a:t>Must appear after non-default parameters</a:t>
            </a:r>
          </a:p>
        </p:txBody>
      </p:sp>
    </p:spTree>
    <p:extLst>
      <p:ext uri="{BB962C8B-B14F-4D97-AF65-F5344CB8AC3E}">
        <p14:creationId xmlns:p14="http://schemas.microsoft.com/office/powerpoint/2010/main" val="295022943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B68D9-AEAB-D506-F932-F1366932C1B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41BB8AC-9264-C3D0-12E2-6CFFCA5391AD}"/>
              </a:ext>
            </a:extLst>
          </p:cNvPr>
          <p:cNvSpPr>
            <a:spLocks noGrp="1"/>
          </p:cNvSpPr>
          <p:nvPr>
            <p:ph type="title"/>
          </p:nvPr>
        </p:nvSpPr>
        <p:spPr/>
        <p:txBody>
          <a:bodyPr/>
          <a:lstStyle/>
          <a:p>
            <a:r>
              <a:rPr lang="en-SG" dirty="0"/>
              <a:t>Keyword Arguments</a:t>
            </a:r>
          </a:p>
        </p:txBody>
      </p:sp>
      <p:sp>
        <p:nvSpPr>
          <p:cNvPr id="8" name="Content Placeholder 7">
            <a:extLst>
              <a:ext uri="{FF2B5EF4-FFF2-40B4-BE49-F238E27FC236}">
                <a16:creationId xmlns:a16="http://schemas.microsoft.com/office/drawing/2014/main" id="{F77FE8EE-5826-CFEA-199E-625C84AE70E1}"/>
              </a:ext>
            </a:extLst>
          </p:cNvPr>
          <p:cNvSpPr>
            <a:spLocks noGrp="1"/>
          </p:cNvSpPr>
          <p:nvPr>
            <p:ph idx="1"/>
          </p:nvPr>
        </p:nvSpPr>
        <p:spPr>
          <a:xfrm>
            <a:off x="457199" y="1600200"/>
            <a:ext cx="62357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introduce(name, age):</a:t>
            </a:r>
          </a:p>
          <a:p>
            <a:pPr marL="0" indent="0">
              <a:buNone/>
            </a:pPr>
            <a:r>
              <a:rPr lang="en-US" dirty="0"/>
              <a:t>    print(f"{name} is {age} years old")</a:t>
            </a:r>
          </a:p>
          <a:p>
            <a:pPr marL="0" indent="0">
              <a:buNone/>
            </a:pPr>
            <a:endParaRPr lang="en-US" dirty="0"/>
          </a:p>
          <a:p>
            <a:pPr marL="0" indent="0">
              <a:buNone/>
            </a:pPr>
            <a:r>
              <a:rPr lang="en-US" dirty="0"/>
              <a:t>introduce(age=30, name="Alex")</a:t>
            </a:r>
          </a:p>
          <a:p>
            <a:pPr marL="0" indent="0">
              <a:buNone/>
            </a:pPr>
            <a:endParaRPr lang="en-US" dirty="0"/>
          </a:p>
          <a:p>
            <a:pPr marL="0" indent="0">
              <a:buNone/>
            </a:pPr>
            <a:endParaRPr lang="en-US" dirty="0"/>
          </a:p>
          <a:p>
            <a:pPr marL="0" indent="0">
              <a:buNone/>
            </a:pPr>
            <a:endParaRPr lang="en-US" dirty="0"/>
          </a:p>
        </p:txBody>
      </p:sp>
      <p:sp>
        <p:nvSpPr>
          <p:cNvPr id="10" name="Content Placeholder 7">
            <a:extLst>
              <a:ext uri="{FF2B5EF4-FFF2-40B4-BE49-F238E27FC236}">
                <a16:creationId xmlns:a16="http://schemas.microsoft.com/office/drawing/2014/main" id="{5B1CED82-90CB-1105-FD9F-5DA3BF68A814}"/>
              </a:ext>
            </a:extLst>
          </p:cNvPr>
          <p:cNvSpPr txBox="1">
            <a:spLocks/>
          </p:cNvSpPr>
          <p:nvPr/>
        </p:nvSpPr>
        <p:spPr>
          <a:xfrm>
            <a:off x="7035800" y="1600200"/>
            <a:ext cx="46958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Improves readability</a:t>
            </a:r>
          </a:p>
          <a:p>
            <a:endParaRPr lang="en-US" dirty="0"/>
          </a:p>
          <a:p>
            <a:r>
              <a:rPr lang="en-US" dirty="0"/>
              <a:t>Order does not matter</a:t>
            </a:r>
          </a:p>
        </p:txBody>
      </p:sp>
    </p:spTree>
    <p:extLst>
      <p:ext uri="{BB962C8B-B14F-4D97-AF65-F5344CB8AC3E}">
        <p14:creationId xmlns:p14="http://schemas.microsoft.com/office/powerpoint/2010/main" val="267098139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F7CA7-EB29-C0DD-E51B-859B2A051676}"/>
              </a:ext>
            </a:extLst>
          </p:cNvPr>
          <p:cNvSpPr>
            <a:spLocks noGrp="1"/>
          </p:cNvSpPr>
          <p:nvPr>
            <p:ph type="title"/>
          </p:nvPr>
        </p:nvSpPr>
        <p:spPr>
          <a:xfrm>
            <a:off x="457200" y="274638"/>
            <a:ext cx="10909300" cy="1143000"/>
          </a:xfrm>
        </p:spPr>
        <p:txBody>
          <a:bodyPr/>
          <a:lstStyle/>
          <a:p>
            <a:r>
              <a:rPr lang="en-US" dirty="0"/>
              <a:t>Functional Foundations &amp; Scoping</a:t>
            </a:r>
            <a:endParaRPr lang="en-SG" dirty="0"/>
          </a:p>
        </p:txBody>
      </p:sp>
      <p:sp>
        <p:nvSpPr>
          <p:cNvPr id="3" name="Content Placeholder 2">
            <a:extLst>
              <a:ext uri="{FF2B5EF4-FFF2-40B4-BE49-F238E27FC236}">
                <a16:creationId xmlns:a16="http://schemas.microsoft.com/office/drawing/2014/main" id="{75397CF6-D903-EE4A-6F81-A66EFE9C79BB}"/>
              </a:ext>
            </a:extLst>
          </p:cNvPr>
          <p:cNvSpPr>
            <a:spLocks noGrp="1"/>
          </p:cNvSpPr>
          <p:nvPr>
            <p:ph idx="1"/>
          </p:nvPr>
        </p:nvSpPr>
        <p:spPr>
          <a:xfrm>
            <a:off x="457200" y="1600200"/>
            <a:ext cx="10909300" cy="4525963"/>
          </a:xfrm>
        </p:spPr>
        <p:txBody>
          <a:bodyPr>
            <a:normAutofit/>
          </a:bodyPr>
          <a:lstStyle/>
          <a:p>
            <a:r>
              <a:rPr lang="en-US" dirty="0"/>
              <a:t>Understanding how Python searches for variables is essential for debugging.</a:t>
            </a:r>
          </a:p>
          <a:p>
            <a:r>
              <a:rPr lang="en-US" dirty="0"/>
              <a:t>The LEGB Rule: Local </a:t>
            </a:r>
            <a:r>
              <a:rPr lang="en-US" dirty="0">
                <a:sym typeface="Wingdings" panose="05000000000000000000" pitchFamily="2" charset="2"/>
              </a:rPr>
              <a:t> </a:t>
            </a:r>
            <a:r>
              <a:rPr lang="en-US" dirty="0"/>
              <a:t>Enclosing </a:t>
            </a:r>
            <a:r>
              <a:rPr lang="en-US" dirty="0">
                <a:sym typeface="Wingdings" panose="05000000000000000000" pitchFamily="2" charset="2"/>
              </a:rPr>
              <a:t> </a:t>
            </a:r>
            <a:r>
              <a:rPr lang="en-US" dirty="0"/>
              <a:t>Global </a:t>
            </a:r>
            <a:r>
              <a:rPr lang="en-US" dirty="0">
                <a:sym typeface="Wingdings" panose="05000000000000000000" pitchFamily="2" charset="2"/>
              </a:rPr>
              <a:t> </a:t>
            </a:r>
            <a:r>
              <a:rPr lang="en-US" dirty="0"/>
              <a:t>Built-in.</a:t>
            </a:r>
          </a:p>
          <a:p>
            <a:r>
              <a:rPr lang="en-US" dirty="0"/>
              <a:t>First-Class Functions: Functions can be passed as arguments, returned from other functions, and assigned to variables.</a:t>
            </a:r>
          </a:p>
          <a:p>
            <a:r>
              <a:rPr lang="en-US" dirty="0"/>
              <a:t>Lambda Functions: Anonymous, one-line functions for short-lived logic: add = lambda x, y: x + y.</a:t>
            </a:r>
            <a:endParaRPr lang="en-SG" dirty="0"/>
          </a:p>
        </p:txBody>
      </p:sp>
    </p:spTree>
    <p:extLst>
      <p:ext uri="{BB962C8B-B14F-4D97-AF65-F5344CB8AC3E}">
        <p14:creationId xmlns:p14="http://schemas.microsoft.com/office/powerpoint/2010/main" val="37548440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0FFBC-C8DE-37E0-FBE3-45762A762EF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CBCB209-79BC-2D94-8CE4-72A30E376F86}"/>
              </a:ext>
            </a:extLst>
          </p:cNvPr>
          <p:cNvSpPr>
            <a:spLocks noGrp="1"/>
          </p:cNvSpPr>
          <p:nvPr>
            <p:ph type="title"/>
          </p:nvPr>
        </p:nvSpPr>
        <p:spPr/>
        <p:txBody>
          <a:bodyPr/>
          <a:lstStyle/>
          <a:p>
            <a:r>
              <a:rPr lang="en-SG" dirty="0"/>
              <a:t>Scope: Local vs Global</a:t>
            </a:r>
          </a:p>
        </p:txBody>
      </p:sp>
      <p:sp>
        <p:nvSpPr>
          <p:cNvPr id="8" name="Content Placeholder 7">
            <a:extLst>
              <a:ext uri="{FF2B5EF4-FFF2-40B4-BE49-F238E27FC236}">
                <a16:creationId xmlns:a16="http://schemas.microsoft.com/office/drawing/2014/main" id="{45AE9AAE-8B27-8B27-29F3-F7964322FBA6}"/>
              </a:ext>
            </a:extLst>
          </p:cNvPr>
          <p:cNvSpPr>
            <a:spLocks noGrp="1"/>
          </p:cNvSpPr>
          <p:nvPr>
            <p:ph idx="1"/>
          </p:nvPr>
        </p:nvSpPr>
        <p:spPr>
          <a:xfrm>
            <a:off x="457199" y="1600200"/>
            <a:ext cx="3467101" cy="4525963"/>
          </a:xfrm>
        </p:spPr>
        <p:style>
          <a:lnRef idx="2">
            <a:schemeClr val="dk1"/>
          </a:lnRef>
          <a:fillRef idx="1">
            <a:schemeClr val="lt1"/>
          </a:fillRef>
          <a:effectRef idx="0">
            <a:schemeClr val="dk1"/>
          </a:effectRef>
          <a:fontRef idx="minor">
            <a:schemeClr val="dk1"/>
          </a:fontRef>
        </p:style>
        <p:txBody>
          <a:bodyPr>
            <a:normAutofit lnSpcReduction="10000"/>
          </a:bodyPr>
          <a:lstStyle/>
          <a:p>
            <a:pPr marL="0" indent="0">
              <a:buNone/>
            </a:pPr>
            <a:r>
              <a:rPr lang="en-US" dirty="0"/>
              <a:t>x = 10</a:t>
            </a:r>
          </a:p>
          <a:p>
            <a:pPr marL="0" indent="0">
              <a:buNone/>
            </a:pPr>
            <a:endParaRPr lang="en-US" dirty="0"/>
          </a:p>
          <a:p>
            <a:pPr marL="0" indent="0">
              <a:buNone/>
            </a:pPr>
            <a:r>
              <a:rPr lang="en-US" dirty="0"/>
              <a:t>def show():</a:t>
            </a:r>
          </a:p>
          <a:p>
            <a:pPr marL="0" indent="0">
              <a:buNone/>
            </a:pPr>
            <a:r>
              <a:rPr lang="en-US" dirty="0"/>
              <a:t>    x = 5</a:t>
            </a:r>
          </a:p>
          <a:p>
            <a:pPr marL="0" indent="0">
              <a:buNone/>
            </a:pPr>
            <a:r>
              <a:rPr lang="en-US" dirty="0"/>
              <a:t>    print(x)</a:t>
            </a:r>
          </a:p>
          <a:p>
            <a:pPr marL="0" indent="0">
              <a:buNone/>
            </a:pPr>
            <a:endParaRPr lang="en-US" dirty="0"/>
          </a:p>
          <a:p>
            <a:pPr marL="0" indent="0">
              <a:buNone/>
            </a:pPr>
            <a:r>
              <a:rPr lang="en-US" dirty="0"/>
              <a:t>show()</a:t>
            </a:r>
          </a:p>
          <a:p>
            <a:pPr marL="0" indent="0">
              <a:buNone/>
            </a:pPr>
            <a:r>
              <a:rPr lang="en-US" dirty="0"/>
              <a:t>print(x)</a:t>
            </a:r>
          </a:p>
        </p:txBody>
      </p:sp>
      <p:sp>
        <p:nvSpPr>
          <p:cNvPr id="10" name="Content Placeholder 7">
            <a:extLst>
              <a:ext uri="{FF2B5EF4-FFF2-40B4-BE49-F238E27FC236}">
                <a16:creationId xmlns:a16="http://schemas.microsoft.com/office/drawing/2014/main" id="{524DCF0E-0A38-25FA-EF71-673864D5F49A}"/>
              </a:ext>
            </a:extLst>
          </p:cNvPr>
          <p:cNvSpPr txBox="1">
            <a:spLocks/>
          </p:cNvSpPr>
          <p:nvPr/>
        </p:nvSpPr>
        <p:spPr>
          <a:xfrm>
            <a:off x="4610100" y="1600200"/>
            <a:ext cx="71215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Variables inside functions are local</a:t>
            </a:r>
          </a:p>
          <a:p>
            <a:endParaRPr lang="en-US" dirty="0"/>
          </a:p>
          <a:p>
            <a:r>
              <a:rPr lang="en-US" dirty="0"/>
              <a:t>Global variables are not changed unless explicitly declared</a:t>
            </a:r>
          </a:p>
        </p:txBody>
      </p:sp>
    </p:spTree>
    <p:extLst>
      <p:ext uri="{BB962C8B-B14F-4D97-AF65-F5344CB8AC3E}">
        <p14:creationId xmlns:p14="http://schemas.microsoft.com/office/powerpoint/2010/main" val="239022429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8FE99-0E73-8DD0-5FCB-A00ADC683CE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353DA79-8635-A996-2C8E-06DF4C79BC4A}"/>
              </a:ext>
            </a:extLst>
          </p:cNvPr>
          <p:cNvSpPr>
            <a:spLocks noGrp="1"/>
          </p:cNvSpPr>
          <p:nvPr>
            <p:ph type="title"/>
          </p:nvPr>
        </p:nvSpPr>
        <p:spPr/>
        <p:txBody>
          <a:bodyPr/>
          <a:lstStyle/>
          <a:p>
            <a:r>
              <a:rPr lang="en-SG" dirty="0"/>
              <a:t>Docstrings</a:t>
            </a:r>
          </a:p>
        </p:txBody>
      </p:sp>
      <p:sp>
        <p:nvSpPr>
          <p:cNvPr id="8" name="Content Placeholder 7">
            <a:extLst>
              <a:ext uri="{FF2B5EF4-FFF2-40B4-BE49-F238E27FC236}">
                <a16:creationId xmlns:a16="http://schemas.microsoft.com/office/drawing/2014/main" id="{FDE12A5F-A54F-F827-9408-460C7E8884AB}"/>
              </a:ext>
            </a:extLst>
          </p:cNvPr>
          <p:cNvSpPr>
            <a:spLocks noGrp="1"/>
          </p:cNvSpPr>
          <p:nvPr>
            <p:ph idx="1"/>
          </p:nvPr>
        </p:nvSpPr>
        <p:spPr>
          <a:xfrm>
            <a:off x="457199" y="1600200"/>
            <a:ext cx="75184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add(a, b):</a:t>
            </a:r>
          </a:p>
          <a:p>
            <a:pPr marL="0" indent="0">
              <a:buNone/>
            </a:pPr>
            <a:r>
              <a:rPr lang="en-US" dirty="0"/>
              <a:t>    """Returns the sum of two numbers."""</a:t>
            </a:r>
          </a:p>
          <a:p>
            <a:pPr marL="0" indent="0">
              <a:buNone/>
            </a:pPr>
            <a:r>
              <a:rPr lang="en-US" dirty="0"/>
              <a:t>    return a + b</a:t>
            </a:r>
          </a:p>
        </p:txBody>
      </p:sp>
      <p:sp>
        <p:nvSpPr>
          <p:cNvPr id="10" name="Content Placeholder 7">
            <a:extLst>
              <a:ext uri="{FF2B5EF4-FFF2-40B4-BE49-F238E27FC236}">
                <a16:creationId xmlns:a16="http://schemas.microsoft.com/office/drawing/2014/main" id="{3B3D2B4F-94CD-F7EF-B72E-939484EACA30}"/>
              </a:ext>
            </a:extLst>
          </p:cNvPr>
          <p:cNvSpPr txBox="1">
            <a:spLocks/>
          </p:cNvSpPr>
          <p:nvPr/>
        </p:nvSpPr>
        <p:spPr>
          <a:xfrm>
            <a:off x="8166100" y="1600200"/>
            <a:ext cx="35655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Used to document what a function does</a:t>
            </a:r>
          </a:p>
          <a:p>
            <a:endParaRPr lang="en-US" dirty="0"/>
          </a:p>
          <a:p>
            <a:r>
              <a:rPr lang="en-US" dirty="0"/>
              <a:t>Accessible via help(add)</a:t>
            </a:r>
          </a:p>
        </p:txBody>
      </p:sp>
    </p:spTree>
    <p:extLst>
      <p:ext uri="{BB962C8B-B14F-4D97-AF65-F5344CB8AC3E}">
        <p14:creationId xmlns:p14="http://schemas.microsoft.com/office/powerpoint/2010/main" val="359634025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ECD27-DA8F-5962-4E3A-C3A7CF3AD9F3}"/>
              </a:ext>
            </a:extLst>
          </p:cNvPr>
          <p:cNvSpPr>
            <a:spLocks noGrp="1"/>
          </p:cNvSpPr>
          <p:nvPr>
            <p:ph type="title"/>
          </p:nvPr>
        </p:nvSpPr>
        <p:spPr/>
        <p:txBody>
          <a:bodyPr/>
          <a:lstStyle/>
          <a:p>
            <a:r>
              <a:rPr lang="en-US" dirty="0"/>
              <a:t>What Are *</a:t>
            </a:r>
            <a:r>
              <a:rPr lang="en-US" dirty="0" err="1"/>
              <a:t>args</a:t>
            </a:r>
            <a:r>
              <a:rPr lang="en-US" dirty="0"/>
              <a:t> and **</a:t>
            </a:r>
            <a:r>
              <a:rPr lang="en-US" dirty="0" err="1"/>
              <a:t>kwargs</a:t>
            </a:r>
            <a:r>
              <a:rPr lang="en-US" dirty="0"/>
              <a:t>?</a:t>
            </a:r>
            <a:endParaRPr lang="en-SG" dirty="0"/>
          </a:p>
        </p:txBody>
      </p:sp>
      <p:sp>
        <p:nvSpPr>
          <p:cNvPr id="3" name="Content Placeholder 2">
            <a:extLst>
              <a:ext uri="{FF2B5EF4-FFF2-40B4-BE49-F238E27FC236}">
                <a16:creationId xmlns:a16="http://schemas.microsoft.com/office/drawing/2014/main" id="{8C114999-09D4-474C-9B81-BCAA0CC5F3AB}"/>
              </a:ext>
            </a:extLst>
          </p:cNvPr>
          <p:cNvSpPr>
            <a:spLocks noGrp="1"/>
          </p:cNvSpPr>
          <p:nvPr>
            <p:ph idx="1"/>
          </p:nvPr>
        </p:nvSpPr>
        <p:spPr/>
        <p:txBody>
          <a:bodyPr/>
          <a:lstStyle/>
          <a:p>
            <a:r>
              <a:rPr lang="en-US" dirty="0"/>
              <a:t>Allow functions to accept variable numbers of arguments</a:t>
            </a:r>
          </a:p>
          <a:p>
            <a:endParaRPr lang="en-US" dirty="0"/>
          </a:p>
          <a:p>
            <a:r>
              <a:rPr lang="en-US" dirty="0"/>
              <a:t>*</a:t>
            </a:r>
            <a:r>
              <a:rPr lang="en-US" dirty="0" err="1"/>
              <a:t>args</a:t>
            </a:r>
            <a:r>
              <a:rPr lang="en-US" dirty="0"/>
              <a:t> </a:t>
            </a:r>
            <a:r>
              <a:rPr lang="en-US" dirty="0">
                <a:sym typeface="Wingdings" panose="05000000000000000000" pitchFamily="2" charset="2"/>
              </a:rPr>
              <a:t> </a:t>
            </a:r>
            <a:r>
              <a:rPr lang="en-US" dirty="0"/>
              <a:t>positional arguments (tuple)</a:t>
            </a:r>
          </a:p>
          <a:p>
            <a:endParaRPr lang="en-US" dirty="0"/>
          </a:p>
          <a:p>
            <a:r>
              <a:rPr lang="en-US" dirty="0"/>
              <a:t>**</a:t>
            </a:r>
            <a:r>
              <a:rPr lang="en-US" dirty="0" err="1"/>
              <a:t>kwargs</a:t>
            </a:r>
            <a:r>
              <a:rPr lang="en-US" dirty="0"/>
              <a:t> </a:t>
            </a:r>
            <a:r>
              <a:rPr lang="en-US" dirty="0">
                <a:sym typeface="Wingdings" panose="05000000000000000000" pitchFamily="2" charset="2"/>
              </a:rPr>
              <a:t></a:t>
            </a:r>
            <a:r>
              <a:rPr lang="en-US" dirty="0"/>
              <a:t> keyword arguments (</a:t>
            </a:r>
            <a:r>
              <a:rPr lang="en-US" dirty="0" err="1"/>
              <a:t>dict</a:t>
            </a:r>
            <a:r>
              <a:rPr lang="en-US" dirty="0"/>
              <a:t>)</a:t>
            </a:r>
            <a:endParaRPr lang="en-SG" dirty="0"/>
          </a:p>
        </p:txBody>
      </p:sp>
    </p:spTree>
    <p:extLst>
      <p:ext uri="{BB962C8B-B14F-4D97-AF65-F5344CB8AC3E}">
        <p14:creationId xmlns:p14="http://schemas.microsoft.com/office/powerpoint/2010/main" val="241989914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E1E44-1F3B-609B-4B8C-69D6C278D02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5E94D59-BC29-7B0F-A0F0-F5F78B36E6C3}"/>
              </a:ext>
            </a:extLst>
          </p:cNvPr>
          <p:cNvSpPr>
            <a:spLocks noGrp="1"/>
          </p:cNvSpPr>
          <p:nvPr>
            <p:ph type="title"/>
          </p:nvPr>
        </p:nvSpPr>
        <p:spPr>
          <a:xfrm>
            <a:off x="457199" y="160337"/>
            <a:ext cx="8229600" cy="1143000"/>
          </a:xfrm>
        </p:spPr>
        <p:txBody>
          <a:bodyPr/>
          <a:lstStyle/>
          <a:p>
            <a:r>
              <a:rPr lang="en-SG" dirty="0"/>
              <a:t>Using *</a:t>
            </a:r>
            <a:r>
              <a:rPr lang="en-SG" dirty="0" err="1"/>
              <a:t>args</a:t>
            </a:r>
            <a:endParaRPr lang="en-SG" dirty="0"/>
          </a:p>
        </p:txBody>
      </p:sp>
      <p:sp>
        <p:nvSpPr>
          <p:cNvPr id="8" name="Content Placeholder 7">
            <a:extLst>
              <a:ext uri="{FF2B5EF4-FFF2-40B4-BE49-F238E27FC236}">
                <a16:creationId xmlns:a16="http://schemas.microsoft.com/office/drawing/2014/main" id="{7F6EF985-266E-1290-79F7-623171E4AB0A}"/>
              </a:ext>
            </a:extLst>
          </p:cNvPr>
          <p:cNvSpPr>
            <a:spLocks noGrp="1"/>
          </p:cNvSpPr>
          <p:nvPr>
            <p:ph idx="1"/>
          </p:nvPr>
        </p:nvSpPr>
        <p:spPr>
          <a:xfrm>
            <a:off x="457199" y="1600200"/>
            <a:ext cx="54737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greet(*names):</a:t>
            </a:r>
          </a:p>
          <a:p>
            <a:pPr marL="0" indent="0">
              <a:buNone/>
            </a:pPr>
            <a:r>
              <a:rPr lang="en-US" dirty="0"/>
              <a:t>    for name in names:</a:t>
            </a:r>
          </a:p>
          <a:p>
            <a:pPr marL="0" indent="0">
              <a:buNone/>
            </a:pPr>
            <a:r>
              <a:rPr lang="en-US" dirty="0"/>
              <a:t>        print(</a:t>
            </a:r>
            <a:r>
              <a:rPr lang="en-US" dirty="0" err="1"/>
              <a:t>f"Hello</a:t>
            </a:r>
            <a:r>
              <a:rPr lang="en-US" dirty="0"/>
              <a:t>, {name}!")</a:t>
            </a:r>
          </a:p>
          <a:p>
            <a:pPr marL="0" indent="0">
              <a:buNone/>
            </a:pPr>
            <a:endParaRPr lang="en-US" dirty="0"/>
          </a:p>
          <a:p>
            <a:pPr marL="0" indent="0">
              <a:buNone/>
            </a:pPr>
            <a:r>
              <a:rPr lang="en-US" dirty="0"/>
              <a:t>greet("Alice", "Bob", "Charlie")</a:t>
            </a:r>
          </a:p>
        </p:txBody>
      </p:sp>
      <p:sp>
        <p:nvSpPr>
          <p:cNvPr id="10" name="Content Placeholder 7">
            <a:extLst>
              <a:ext uri="{FF2B5EF4-FFF2-40B4-BE49-F238E27FC236}">
                <a16:creationId xmlns:a16="http://schemas.microsoft.com/office/drawing/2014/main" id="{36279E60-42DC-62C4-59FC-DA3B414DE77F}"/>
              </a:ext>
            </a:extLst>
          </p:cNvPr>
          <p:cNvSpPr txBox="1">
            <a:spLocks/>
          </p:cNvSpPr>
          <p:nvPr/>
        </p:nvSpPr>
        <p:spPr>
          <a:xfrm>
            <a:off x="6094412" y="1600200"/>
            <a:ext cx="5637213"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Collects any number of positional arguments</a:t>
            </a:r>
          </a:p>
          <a:p>
            <a:endParaRPr lang="en-US" dirty="0"/>
          </a:p>
          <a:p>
            <a:r>
              <a:rPr lang="en-US" dirty="0"/>
              <a:t>Inside the function, names is a tuple</a:t>
            </a:r>
          </a:p>
          <a:p>
            <a:endParaRPr lang="en-US" dirty="0"/>
          </a:p>
          <a:p>
            <a:r>
              <a:rPr lang="en-US" dirty="0"/>
              <a:t>Useful for functions where the number of inputs is unknown</a:t>
            </a:r>
          </a:p>
        </p:txBody>
      </p:sp>
    </p:spTree>
    <p:extLst>
      <p:ext uri="{BB962C8B-B14F-4D97-AF65-F5344CB8AC3E}">
        <p14:creationId xmlns:p14="http://schemas.microsoft.com/office/powerpoint/2010/main" val="59941834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D368D-1A95-E83E-F29E-06CDE34A83E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10D503A-4239-0FE0-8446-362F39918B91}"/>
              </a:ext>
            </a:extLst>
          </p:cNvPr>
          <p:cNvSpPr>
            <a:spLocks noGrp="1"/>
          </p:cNvSpPr>
          <p:nvPr>
            <p:ph type="title"/>
          </p:nvPr>
        </p:nvSpPr>
        <p:spPr>
          <a:xfrm>
            <a:off x="457199" y="160337"/>
            <a:ext cx="8229600" cy="1143000"/>
          </a:xfrm>
        </p:spPr>
        <p:txBody>
          <a:bodyPr/>
          <a:lstStyle/>
          <a:p>
            <a:r>
              <a:rPr lang="en-SG" dirty="0"/>
              <a:t>Using **</a:t>
            </a:r>
            <a:r>
              <a:rPr lang="en-SG" dirty="0" err="1"/>
              <a:t>kwargs</a:t>
            </a:r>
            <a:endParaRPr lang="en-SG" dirty="0"/>
          </a:p>
        </p:txBody>
      </p:sp>
      <p:sp>
        <p:nvSpPr>
          <p:cNvPr id="8" name="Content Placeholder 7">
            <a:extLst>
              <a:ext uri="{FF2B5EF4-FFF2-40B4-BE49-F238E27FC236}">
                <a16:creationId xmlns:a16="http://schemas.microsoft.com/office/drawing/2014/main" id="{5AE6231F-A604-9223-8FCA-9057748B3926}"/>
              </a:ext>
            </a:extLst>
          </p:cNvPr>
          <p:cNvSpPr>
            <a:spLocks noGrp="1"/>
          </p:cNvSpPr>
          <p:nvPr>
            <p:ph idx="1"/>
          </p:nvPr>
        </p:nvSpPr>
        <p:spPr>
          <a:xfrm>
            <a:off x="457199" y="1600200"/>
            <a:ext cx="52578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introduce(**info):</a:t>
            </a:r>
          </a:p>
          <a:p>
            <a:pPr marL="0" indent="0">
              <a:buNone/>
            </a:pPr>
            <a:r>
              <a:rPr lang="en-US" dirty="0"/>
              <a:t>    for key, value in </a:t>
            </a:r>
            <a:r>
              <a:rPr lang="en-US" dirty="0" err="1"/>
              <a:t>info.items</a:t>
            </a:r>
            <a:r>
              <a:rPr lang="en-US" dirty="0"/>
              <a:t>():</a:t>
            </a:r>
          </a:p>
          <a:p>
            <a:pPr marL="0" indent="0">
              <a:buNone/>
            </a:pPr>
            <a:r>
              <a:rPr lang="en-US" dirty="0"/>
              <a:t>        print(f"{key}: {value}")</a:t>
            </a:r>
          </a:p>
          <a:p>
            <a:pPr marL="0" indent="0">
              <a:buNone/>
            </a:pPr>
            <a:endParaRPr lang="en-US" dirty="0"/>
          </a:p>
          <a:p>
            <a:pPr marL="0" indent="0">
              <a:buNone/>
            </a:pPr>
            <a:r>
              <a:rPr lang="en-US" dirty="0"/>
              <a:t>introduce(name="Alice", age=25, city="Paris")</a:t>
            </a:r>
          </a:p>
        </p:txBody>
      </p:sp>
      <p:sp>
        <p:nvSpPr>
          <p:cNvPr id="10" name="Content Placeholder 7">
            <a:extLst>
              <a:ext uri="{FF2B5EF4-FFF2-40B4-BE49-F238E27FC236}">
                <a16:creationId xmlns:a16="http://schemas.microsoft.com/office/drawing/2014/main" id="{BBD9DF22-C333-27CC-52B4-E8EF48BE8E2A}"/>
              </a:ext>
            </a:extLst>
          </p:cNvPr>
          <p:cNvSpPr txBox="1">
            <a:spLocks/>
          </p:cNvSpPr>
          <p:nvPr/>
        </p:nvSpPr>
        <p:spPr>
          <a:xfrm>
            <a:off x="6094412" y="1600200"/>
            <a:ext cx="5637213"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Collects any number of keyword arguments</a:t>
            </a:r>
          </a:p>
          <a:p>
            <a:endParaRPr lang="en-US" dirty="0"/>
          </a:p>
          <a:p>
            <a:r>
              <a:rPr lang="en-US" dirty="0"/>
              <a:t>Inside the function, info is a dictionary</a:t>
            </a:r>
          </a:p>
          <a:p>
            <a:endParaRPr lang="en-US" dirty="0"/>
          </a:p>
          <a:p>
            <a:r>
              <a:rPr lang="en-US" dirty="0"/>
              <a:t>Useful for passing named parameters dynamically</a:t>
            </a:r>
          </a:p>
        </p:txBody>
      </p:sp>
    </p:spTree>
    <p:extLst>
      <p:ext uri="{BB962C8B-B14F-4D97-AF65-F5344CB8AC3E}">
        <p14:creationId xmlns:p14="http://schemas.microsoft.com/office/powerpoint/2010/main" val="29333413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34C54-5EBF-E007-06B5-270C87A870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2106BE1-FBBE-BA13-7BCF-0CD026B86B66}"/>
              </a:ext>
            </a:extLst>
          </p:cNvPr>
          <p:cNvSpPr>
            <a:spLocks noGrp="1"/>
          </p:cNvSpPr>
          <p:nvPr>
            <p:ph type="title"/>
          </p:nvPr>
        </p:nvSpPr>
        <p:spPr>
          <a:xfrm>
            <a:off x="457199" y="160337"/>
            <a:ext cx="8229600" cy="1143000"/>
          </a:xfrm>
        </p:spPr>
        <p:txBody>
          <a:bodyPr/>
          <a:lstStyle/>
          <a:p>
            <a:r>
              <a:rPr lang="en-SG" dirty="0"/>
              <a:t>Combining *</a:t>
            </a:r>
            <a:r>
              <a:rPr lang="en-SG" dirty="0" err="1"/>
              <a:t>args</a:t>
            </a:r>
            <a:r>
              <a:rPr lang="en-SG" dirty="0"/>
              <a:t> and **</a:t>
            </a:r>
            <a:r>
              <a:rPr lang="en-SG" dirty="0" err="1"/>
              <a:t>kwargs</a:t>
            </a:r>
            <a:endParaRPr lang="en-SG" dirty="0"/>
          </a:p>
        </p:txBody>
      </p:sp>
      <p:sp>
        <p:nvSpPr>
          <p:cNvPr id="8" name="Content Placeholder 7">
            <a:extLst>
              <a:ext uri="{FF2B5EF4-FFF2-40B4-BE49-F238E27FC236}">
                <a16:creationId xmlns:a16="http://schemas.microsoft.com/office/drawing/2014/main" id="{2593BF68-DBAD-A3D8-30F8-D0A122A3B89A}"/>
              </a:ext>
            </a:extLst>
          </p:cNvPr>
          <p:cNvSpPr>
            <a:spLocks noGrp="1"/>
          </p:cNvSpPr>
          <p:nvPr>
            <p:ph idx="1"/>
          </p:nvPr>
        </p:nvSpPr>
        <p:spPr>
          <a:xfrm>
            <a:off x="457199" y="1600201"/>
            <a:ext cx="5257801" cy="29972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def show(*</a:t>
            </a:r>
            <a:r>
              <a:rPr lang="en-US" dirty="0" err="1"/>
              <a:t>args</a:t>
            </a:r>
            <a:r>
              <a:rPr lang="en-US" dirty="0"/>
              <a:t>, **</a:t>
            </a:r>
            <a:r>
              <a:rPr lang="en-US" dirty="0" err="1"/>
              <a:t>kwargs</a:t>
            </a:r>
            <a:r>
              <a:rPr lang="en-US" dirty="0"/>
              <a:t>):</a:t>
            </a:r>
          </a:p>
          <a:p>
            <a:pPr marL="0" indent="0">
              <a:buNone/>
            </a:pPr>
            <a:r>
              <a:rPr lang="en-US" dirty="0"/>
              <a:t>    print("</a:t>
            </a:r>
            <a:r>
              <a:rPr lang="en-US" dirty="0" err="1"/>
              <a:t>Args</a:t>
            </a:r>
            <a:r>
              <a:rPr lang="en-US" dirty="0"/>
              <a:t>:", </a:t>
            </a:r>
            <a:r>
              <a:rPr lang="en-US" dirty="0" err="1"/>
              <a:t>args</a:t>
            </a:r>
            <a:r>
              <a:rPr lang="en-US" dirty="0"/>
              <a:t>)</a:t>
            </a:r>
          </a:p>
          <a:p>
            <a:pPr marL="0" indent="0">
              <a:buNone/>
            </a:pPr>
            <a:r>
              <a:rPr lang="en-US" dirty="0"/>
              <a:t>    print("</a:t>
            </a:r>
            <a:r>
              <a:rPr lang="en-US" dirty="0" err="1"/>
              <a:t>Kwargs</a:t>
            </a:r>
            <a:r>
              <a:rPr lang="en-US" dirty="0"/>
              <a:t>:", </a:t>
            </a:r>
            <a:r>
              <a:rPr lang="en-US" dirty="0" err="1"/>
              <a:t>kwargs</a:t>
            </a:r>
            <a:r>
              <a:rPr lang="en-US" dirty="0"/>
              <a:t>)</a:t>
            </a:r>
          </a:p>
          <a:p>
            <a:pPr marL="0" indent="0">
              <a:buNone/>
            </a:pPr>
            <a:endParaRPr lang="en-US" dirty="0"/>
          </a:p>
          <a:p>
            <a:pPr marL="0" indent="0">
              <a:buNone/>
            </a:pPr>
            <a:r>
              <a:rPr lang="en-US" dirty="0"/>
              <a:t>show(1, 2, 3, a=10, b=20)</a:t>
            </a:r>
          </a:p>
        </p:txBody>
      </p:sp>
      <p:sp>
        <p:nvSpPr>
          <p:cNvPr id="10" name="Content Placeholder 7">
            <a:extLst>
              <a:ext uri="{FF2B5EF4-FFF2-40B4-BE49-F238E27FC236}">
                <a16:creationId xmlns:a16="http://schemas.microsoft.com/office/drawing/2014/main" id="{41115D71-0AA3-BEF0-C310-CCF2A954CBDC}"/>
              </a:ext>
            </a:extLst>
          </p:cNvPr>
          <p:cNvSpPr txBox="1">
            <a:spLocks/>
          </p:cNvSpPr>
          <p:nvPr/>
        </p:nvSpPr>
        <p:spPr>
          <a:xfrm>
            <a:off x="6094412" y="1600200"/>
            <a:ext cx="5637213" cy="465472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Collects any number of keyword arguments</a:t>
            </a:r>
          </a:p>
          <a:p>
            <a:endParaRPr lang="en-US" dirty="0"/>
          </a:p>
          <a:p>
            <a:r>
              <a:rPr lang="en-US" dirty="0"/>
              <a:t>Inside the function, info is a dictionary</a:t>
            </a:r>
          </a:p>
          <a:p>
            <a:endParaRPr lang="en-US" dirty="0"/>
          </a:p>
          <a:p>
            <a:r>
              <a:rPr lang="en-US" dirty="0"/>
              <a:t>Useful for passing named parameters dynamically</a:t>
            </a:r>
          </a:p>
        </p:txBody>
      </p:sp>
      <p:sp>
        <p:nvSpPr>
          <p:cNvPr id="2" name="TextBox 1">
            <a:extLst>
              <a:ext uri="{FF2B5EF4-FFF2-40B4-BE49-F238E27FC236}">
                <a16:creationId xmlns:a16="http://schemas.microsoft.com/office/drawing/2014/main" id="{A8500E7F-149A-B181-77A4-A164FD346D33}"/>
              </a:ext>
            </a:extLst>
          </p:cNvPr>
          <p:cNvSpPr txBox="1"/>
          <p:nvPr/>
        </p:nvSpPr>
        <p:spPr>
          <a:xfrm>
            <a:off x="457198" y="4762500"/>
            <a:ext cx="5257801"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SG" sz="2800" dirty="0"/>
              <a:t>Output: </a:t>
            </a:r>
          </a:p>
          <a:p>
            <a:r>
              <a:rPr lang="en-SG" sz="2800" dirty="0" err="1"/>
              <a:t>Args</a:t>
            </a:r>
            <a:r>
              <a:rPr lang="en-SG" sz="2800" dirty="0"/>
              <a:t>: (1, 2, 3)</a:t>
            </a:r>
          </a:p>
          <a:p>
            <a:r>
              <a:rPr lang="en-SG" sz="2800" dirty="0" err="1"/>
              <a:t>Kwargs</a:t>
            </a:r>
            <a:r>
              <a:rPr lang="en-SG" sz="2800" dirty="0"/>
              <a:t>: {'a': 10, 'b': 20}</a:t>
            </a:r>
          </a:p>
          <a:p>
            <a:endParaRPr lang="en-SG" sz="2800" dirty="0"/>
          </a:p>
        </p:txBody>
      </p:sp>
    </p:spTree>
    <p:extLst>
      <p:ext uri="{BB962C8B-B14F-4D97-AF65-F5344CB8AC3E}">
        <p14:creationId xmlns:p14="http://schemas.microsoft.com/office/powerpoint/2010/main" val="21606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591EF-11FC-BF73-2E94-5A91CFEAB992}"/>
              </a:ext>
            </a:extLst>
          </p:cNvPr>
          <p:cNvSpPr>
            <a:spLocks noGrp="1"/>
          </p:cNvSpPr>
          <p:nvPr>
            <p:ph type="title"/>
          </p:nvPr>
        </p:nvSpPr>
        <p:spPr/>
        <p:txBody>
          <a:bodyPr/>
          <a:lstStyle/>
          <a:p>
            <a:r>
              <a:rPr lang="en-SG" dirty="0"/>
              <a:t>When to Use Them</a:t>
            </a:r>
          </a:p>
        </p:txBody>
      </p:sp>
      <p:sp>
        <p:nvSpPr>
          <p:cNvPr id="3" name="Content Placeholder 2">
            <a:extLst>
              <a:ext uri="{FF2B5EF4-FFF2-40B4-BE49-F238E27FC236}">
                <a16:creationId xmlns:a16="http://schemas.microsoft.com/office/drawing/2014/main" id="{5711410A-9BFF-D286-6EE0-CA59EAD4A18C}"/>
              </a:ext>
            </a:extLst>
          </p:cNvPr>
          <p:cNvSpPr>
            <a:spLocks noGrp="1"/>
          </p:cNvSpPr>
          <p:nvPr>
            <p:ph idx="1"/>
          </p:nvPr>
        </p:nvSpPr>
        <p:spPr>
          <a:xfrm>
            <a:off x="457200" y="1600200"/>
            <a:ext cx="9740900" cy="4525963"/>
          </a:xfrm>
        </p:spPr>
        <p:txBody>
          <a:bodyPr>
            <a:normAutofit lnSpcReduction="10000"/>
          </a:bodyPr>
          <a:lstStyle/>
          <a:p>
            <a:r>
              <a:rPr lang="en-US" dirty="0"/>
              <a:t>*</a:t>
            </a:r>
            <a:r>
              <a:rPr lang="en-US" dirty="0" err="1"/>
              <a:t>args</a:t>
            </a:r>
            <a:r>
              <a:rPr lang="en-US" dirty="0"/>
              <a:t>: When you want any number of positional inputs</a:t>
            </a:r>
          </a:p>
          <a:p>
            <a:endParaRPr lang="en-US" dirty="0"/>
          </a:p>
          <a:p>
            <a:r>
              <a:rPr lang="en-US" dirty="0"/>
              <a:t>**</a:t>
            </a:r>
            <a:r>
              <a:rPr lang="en-US" dirty="0" err="1"/>
              <a:t>kwargs</a:t>
            </a:r>
            <a:r>
              <a:rPr lang="en-US" dirty="0"/>
              <a:t>: When you want any number of named inputs</a:t>
            </a:r>
          </a:p>
          <a:p>
            <a:endParaRPr lang="en-US" dirty="0"/>
          </a:p>
          <a:p>
            <a:r>
              <a:rPr lang="en-US" dirty="0"/>
              <a:t>Makes functions generic and reusable</a:t>
            </a:r>
          </a:p>
          <a:p>
            <a:endParaRPr lang="en-US" dirty="0"/>
          </a:p>
          <a:p>
            <a:r>
              <a:rPr lang="en-US" dirty="0"/>
              <a:t>Often used in wrapper functions or APIs</a:t>
            </a:r>
            <a:endParaRPr lang="en-SG" dirty="0"/>
          </a:p>
        </p:txBody>
      </p:sp>
    </p:spTree>
    <p:extLst>
      <p:ext uri="{BB962C8B-B14F-4D97-AF65-F5344CB8AC3E}">
        <p14:creationId xmlns:p14="http://schemas.microsoft.com/office/powerpoint/2010/main" val="61607872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739F5-AA1B-AA13-C6A6-E430711121F7}"/>
              </a:ext>
            </a:extLst>
          </p:cNvPr>
          <p:cNvSpPr>
            <a:spLocks noGrp="1"/>
          </p:cNvSpPr>
          <p:nvPr>
            <p:ph type="title"/>
          </p:nvPr>
        </p:nvSpPr>
        <p:spPr/>
        <p:txBody>
          <a:bodyPr/>
          <a:lstStyle/>
          <a:p>
            <a:r>
              <a:rPr lang="en-SG" dirty="0"/>
              <a:t>Hands-On Exercise</a:t>
            </a:r>
          </a:p>
        </p:txBody>
      </p:sp>
      <p:sp>
        <p:nvSpPr>
          <p:cNvPr id="3" name="Content Placeholder 2">
            <a:extLst>
              <a:ext uri="{FF2B5EF4-FFF2-40B4-BE49-F238E27FC236}">
                <a16:creationId xmlns:a16="http://schemas.microsoft.com/office/drawing/2014/main" id="{051E8C03-F660-EBE9-2F43-0E627AE82EB3}"/>
              </a:ext>
            </a:extLst>
          </p:cNvPr>
          <p:cNvSpPr>
            <a:spLocks noGrp="1"/>
          </p:cNvSpPr>
          <p:nvPr>
            <p:ph idx="1"/>
          </p:nvPr>
        </p:nvSpPr>
        <p:spPr>
          <a:xfrm>
            <a:off x="457200" y="1600200"/>
            <a:ext cx="10718800" cy="4525963"/>
          </a:xfrm>
        </p:spPr>
        <p:txBody>
          <a:bodyPr/>
          <a:lstStyle/>
          <a:p>
            <a:r>
              <a:rPr lang="en-US" dirty="0"/>
              <a:t>Write a function </a:t>
            </a:r>
            <a:r>
              <a:rPr lang="en-US" dirty="0" err="1"/>
              <a:t>make_sentence</a:t>
            </a:r>
            <a:r>
              <a:rPr lang="en-US" dirty="0"/>
              <a:t>(*words, **punctuation)</a:t>
            </a:r>
          </a:p>
          <a:p>
            <a:endParaRPr lang="en-US" dirty="0"/>
          </a:p>
          <a:p>
            <a:r>
              <a:rPr lang="en-US" dirty="0"/>
              <a:t>Joins all words with spaces and appends punctuation if provided</a:t>
            </a:r>
          </a:p>
          <a:p>
            <a:endParaRPr lang="en-US" dirty="0"/>
          </a:p>
          <a:p>
            <a:r>
              <a:rPr lang="en-US" dirty="0"/>
              <a:t>Test with different numbers of words and punctuation marks</a:t>
            </a:r>
            <a:endParaRPr lang="en-SG" dirty="0"/>
          </a:p>
        </p:txBody>
      </p:sp>
    </p:spTree>
    <p:extLst>
      <p:ext uri="{BB962C8B-B14F-4D97-AF65-F5344CB8AC3E}">
        <p14:creationId xmlns:p14="http://schemas.microsoft.com/office/powerpoint/2010/main" val="424373278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4AC2-600F-9E49-97FF-77D91E4C8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5B802-F556-99CE-057D-73A5CC01BD91}"/>
              </a:ext>
            </a:extLst>
          </p:cNvPr>
          <p:cNvSpPr>
            <a:spLocks noGrp="1"/>
          </p:cNvSpPr>
          <p:nvPr>
            <p:ph type="title"/>
          </p:nvPr>
        </p:nvSpPr>
        <p:spPr>
          <a:xfrm>
            <a:off x="457200" y="-207962"/>
            <a:ext cx="8229600" cy="1143000"/>
          </a:xfrm>
        </p:spPr>
        <p:txBody>
          <a:bodyPr/>
          <a:lstStyle/>
          <a:p>
            <a:r>
              <a:rPr lang="en-SG" dirty="0"/>
              <a:t>Solution</a:t>
            </a:r>
          </a:p>
        </p:txBody>
      </p:sp>
      <p:sp>
        <p:nvSpPr>
          <p:cNvPr id="3" name="Content Placeholder 2">
            <a:extLst>
              <a:ext uri="{FF2B5EF4-FFF2-40B4-BE49-F238E27FC236}">
                <a16:creationId xmlns:a16="http://schemas.microsoft.com/office/drawing/2014/main" id="{5EC78600-3F26-4634-B3B3-644EB8572D04}"/>
              </a:ext>
            </a:extLst>
          </p:cNvPr>
          <p:cNvSpPr>
            <a:spLocks noGrp="1"/>
          </p:cNvSpPr>
          <p:nvPr>
            <p:ph idx="1"/>
          </p:nvPr>
        </p:nvSpPr>
        <p:spPr>
          <a:xfrm>
            <a:off x="330200" y="935038"/>
            <a:ext cx="6146800" cy="5554662"/>
          </a:xfrm>
        </p:spPr>
        <p:txBody>
          <a:bodyPr>
            <a:normAutofit fontScale="92500"/>
          </a:bodyPr>
          <a:lstStyle/>
          <a:p>
            <a:pPr marL="0" indent="0">
              <a:buNone/>
            </a:pPr>
            <a:r>
              <a:rPr lang="en-US" dirty="0"/>
              <a:t>def </a:t>
            </a:r>
            <a:r>
              <a:rPr lang="en-US" dirty="0" err="1"/>
              <a:t>make_sentence</a:t>
            </a:r>
            <a:r>
              <a:rPr lang="en-US" dirty="0"/>
              <a:t>(*words, **punctuation):</a:t>
            </a:r>
          </a:p>
          <a:p>
            <a:pPr marL="0" indent="0">
              <a:buNone/>
            </a:pPr>
            <a:r>
              <a:rPr lang="en-US" dirty="0"/>
              <a:t>    # Join words with spaces</a:t>
            </a:r>
          </a:p>
          <a:p>
            <a:pPr marL="0" indent="0">
              <a:buNone/>
            </a:pPr>
            <a:r>
              <a:rPr lang="en-US" dirty="0"/>
              <a:t>    sentence = " ".join(words)</a:t>
            </a:r>
          </a:p>
          <a:p>
            <a:pPr marL="0" indent="0">
              <a:buNone/>
            </a:pPr>
            <a:r>
              <a:rPr lang="en-US" dirty="0"/>
              <a:t>    </a:t>
            </a:r>
          </a:p>
          <a:p>
            <a:pPr marL="0" indent="0">
              <a:buNone/>
            </a:pPr>
            <a:r>
              <a:rPr lang="en-US" dirty="0"/>
              <a:t>    # Append punctuation if provided</a:t>
            </a:r>
          </a:p>
          <a:p>
            <a:pPr marL="0" indent="0">
              <a:buNone/>
            </a:pPr>
            <a:r>
              <a:rPr lang="en-US" dirty="0"/>
              <a:t>    if "end" in punctuation:</a:t>
            </a:r>
          </a:p>
          <a:p>
            <a:pPr marL="0" indent="0">
              <a:buNone/>
            </a:pPr>
            <a:r>
              <a:rPr lang="en-US" dirty="0"/>
              <a:t>        sentence += punctuation["end"]</a:t>
            </a:r>
          </a:p>
          <a:p>
            <a:pPr marL="0" indent="0">
              <a:buNone/>
            </a:pPr>
            <a:r>
              <a:rPr lang="en-US" dirty="0"/>
              <a:t>    </a:t>
            </a:r>
          </a:p>
          <a:p>
            <a:pPr marL="0" indent="0">
              <a:buNone/>
            </a:pPr>
            <a:r>
              <a:rPr lang="en-US" dirty="0"/>
              <a:t>    print(sentence)</a:t>
            </a:r>
          </a:p>
          <a:p>
            <a:pPr marL="0" indent="0">
              <a:buNone/>
            </a:pPr>
            <a:endParaRPr lang="en-US" dirty="0"/>
          </a:p>
        </p:txBody>
      </p:sp>
      <p:sp>
        <p:nvSpPr>
          <p:cNvPr id="4" name="TextBox 3">
            <a:extLst>
              <a:ext uri="{FF2B5EF4-FFF2-40B4-BE49-F238E27FC236}">
                <a16:creationId xmlns:a16="http://schemas.microsoft.com/office/drawing/2014/main" id="{295CD07A-0BE4-FE95-5B43-0C8D771E6C47}"/>
              </a:ext>
            </a:extLst>
          </p:cNvPr>
          <p:cNvSpPr txBox="1"/>
          <p:nvPr/>
        </p:nvSpPr>
        <p:spPr>
          <a:xfrm>
            <a:off x="6854825" y="467887"/>
            <a:ext cx="4876800" cy="6555641"/>
          </a:xfrm>
          <a:prstGeom prst="rect">
            <a:avLst/>
          </a:prstGeom>
          <a:noFill/>
        </p:spPr>
        <p:txBody>
          <a:bodyPr wrap="square" rtlCol="0">
            <a:spAutoFit/>
          </a:bodyPr>
          <a:lstStyle/>
          <a:p>
            <a:r>
              <a:rPr lang="en-US" sz="2800" dirty="0"/>
              <a:t># --- Test Cases ---</a:t>
            </a:r>
          </a:p>
          <a:p>
            <a:endParaRPr lang="en-US" sz="2800" dirty="0"/>
          </a:p>
          <a:p>
            <a:r>
              <a:rPr lang="en-US" sz="2800" dirty="0"/>
              <a:t># No punctuation</a:t>
            </a:r>
          </a:p>
          <a:p>
            <a:r>
              <a:rPr lang="en-US" sz="2800" dirty="0" err="1"/>
              <a:t>make_sentence</a:t>
            </a:r>
            <a:r>
              <a:rPr lang="en-US" sz="2800" dirty="0"/>
              <a:t>("Python", "is", "fun")</a:t>
            </a:r>
          </a:p>
          <a:p>
            <a:endParaRPr lang="en-US" sz="2800" dirty="0"/>
          </a:p>
          <a:p>
            <a:r>
              <a:rPr lang="en-US" sz="2800" dirty="0"/>
              <a:t># With punctuation</a:t>
            </a:r>
          </a:p>
          <a:p>
            <a:r>
              <a:rPr lang="en-US" sz="2800" dirty="0" err="1"/>
              <a:t>make_sentence</a:t>
            </a:r>
            <a:r>
              <a:rPr lang="en-US" sz="2800" dirty="0"/>
              <a:t>("Hello", "world", end="!")</a:t>
            </a:r>
          </a:p>
          <a:p>
            <a:endParaRPr lang="en-US" sz="2800" dirty="0"/>
          </a:p>
          <a:p>
            <a:r>
              <a:rPr lang="en-US" sz="2800" dirty="0"/>
              <a:t># Longer sentence with punctuation</a:t>
            </a:r>
          </a:p>
          <a:p>
            <a:r>
              <a:rPr lang="en-US" sz="2800" dirty="0" err="1"/>
              <a:t>make_sentence</a:t>
            </a:r>
            <a:r>
              <a:rPr lang="en-US" sz="2800" dirty="0"/>
              <a:t>("I", "love", "learning", "Python", end=".")</a:t>
            </a:r>
          </a:p>
          <a:p>
            <a:endParaRPr lang="en-SG" sz="2800" dirty="0"/>
          </a:p>
        </p:txBody>
      </p:sp>
    </p:spTree>
    <p:extLst>
      <p:ext uri="{BB962C8B-B14F-4D97-AF65-F5344CB8AC3E}">
        <p14:creationId xmlns:p14="http://schemas.microsoft.com/office/powerpoint/2010/main" val="7754210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0F197-5B94-7F51-FD9B-C367CABE5421}"/>
              </a:ext>
            </a:extLst>
          </p:cNvPr>
          <p:cNvSpPr>
            <a:spLocks noGrp="1"/>
          </p:cNvSpPr>
          <p:nvPr>
            <p:ph type="title"/>
          </p:nvPr>
        </p:nvSpPr>
        <p:spPr/>
        <p:txBody>
          <a:bodyPr/>
          <a:lstStyle/>
          <a:p>
            <a:r>
              <a:rPr lang="en-US" dirty="0"/>
              <a:t>When to Create a Function</a:t>
            </a:r>
            <a:endParaRPr lang="en-SG" dirty="0"/>
          </a:p>
        </p:txBody>
      </p:sp>
      <p:sp>
        <p:nvSpPr>
          <p:cNvPr id="3" name="Content Placeholder 2">
            <a:extLst>
              <a:ext uri="{FF2B5EF4-FFF2-40B4-BE49-F238E27FC236}">
                <a16:creationId xmlns:a16="http://schemas.microsoft.com/office/drawing/2014/main" id="{7A9F5FB3-6CD2-5063-8AC1-018DCB9B3F7C}"/>
              </a:ext>
            </a:extLst>
          </p:cNvPr>
          <p:cNvSpPr>
            <a:spLocks noGrp="1"/>
          </p:cNvSpPr>
          <p:nvPr>
            <p:ph idx="1"/>
          </p:nvPr>
        </p:nvSpPr>
        <p:spPr/>
        <p:txBody>
          <a:bodyPr/>
          <a:lstStyle/>
          <a:p>
            <a:r>
              <a:rPr lang="en-US" dirty="0"/>
              <a:t>Code is repeated</a:t>
            </a:r>
          </a:p>
          <a:p>
            <a:endParaRPr lang="en-US" dirty="0"/>
          </a:p>
          <a:p>
            <a:r>
              <a:rPr lang="en-US" dirty="0"/>
              <a:t>Logic has a clear purpose</a:t>
            </a:r>
          </a:p>
          <a:p>
            <a:endParaRPr lang="en-US" dirty="0"/>
          </a:p>
          <a:p>
            <a:r>
              <a:rPr lang="en-US" dirty="0"/>
              <a:t>A task can be named clearly</a:t>
            </a:r>
            <a:endParaRPr lang="en-SG" dirty="0"/>
          </a:p>
        </p:txBody>
      </p:sp>
    </p:spTree>
    <p:extLst>
      <p:ext uri="{BB962C8B-B14F-4D97-AF65-F5344CB8AC3E}">
        <p14:creationId xmlns:p14="http://schemas.microsoft.com/office/powerpoint/2010/main" val="237044384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2148-E456-FEDA-EEDD-8468CFA6D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D7968-A50B-F716-9B3F-4394DF049C09}"/>
              </a:ext>
            </a:extLst>
          </p:cNvPr>
          <p:cNvSpPr>
            <a:spLocks noGrp="1"/>
          </p:cNvSpPr>
          <p:nvPr>
            <p:ph type="title"/>
          </p:nvPr>
        </p:nvSpPr>
        <p:spPr/>
        <p:txBody>
          <a:bodyPr/>
          <a:lstStyle/>
          <a:p>
            <a:r>
              <a:rPr lang="en-SG" dirty="0"/>
              <a:t>Hands-On Exercise</a:t>
            </a:r>
          </a:p>
        </p:txBody>
      </p:sp>
      <p:sp>
        <p:nvSpPr>
          <p:cNvPr id="3" name="Content Placeholder 2">
            <a:extLst>
              <a:ext uri="{FF2B5EF4-FFF2-40B4-BE49-F238E27FC236}">
                <a16:creationId xmlns:a16="http://schemas.microsoft.com/office/drawing/2014/main" id="{D162C824-7F44-DAE4-BC4F-D70DC43EDE5D}"/>
              </a:ext>
            </a:extLst>
          </p:cNvPr>
          <p:cNvSpPr>
            <a:spLocks noGrp="1"/>
          </p:cNvSpPr>
          <p:nvPr>
            <p:ph idx="1"/>
          </p:nvPr>
        </p:nvSpPr>
        <p:spPr/>
        <p:txBody>
          <a:bodyPr/>
          <a:lstStyle/>
          <a:p>
            <a:r>
              <a:rPr lang="en-US" dirty="0"/>
              <a:t>Write a function that:</a:t>
            </a:r>
          </a:p>
          <a:p>
            <a:endParaRPr lang="en-US" dirty="0"/>
          </a:p>
          <a:p>
            <a:pPr lvl="1"/>
            <a:r>
              <a:rPr lang="en-US" dirty="0"/>
              <a:t>Takes two numbers</a:t>
            </a:r>
          </a:p>
          <a:p>
            <a:endParaRPr lang="en-US" dirty="0"/>
          </a:p>
          <a:p>
            <a:pPr lvl="1"/>
            <a:r>
              <a:rPr lang="en-US" dirty="0"/>
              <a:t>Returns the larger number</a:t>
            </a:r>
            <a:endParaRPr lang="en-SG" dirty="0"/>
          </a:p>
        </p:txBody>
      </p:sp>
    </p:spTree>
    <p:extLst>
      <p:ext uri="{BB962C8B-B14F-4D97-AF65-F5344CB8AC3E}">
        <p14:creationId xmlns:p14="http://schemas.microsoft.com/office/powerpoint/2010/main" val="201314828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D0AD5-B8AC-EFFD-B17C-52D44A908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1CE50-3F90-8338-C411-AAB1582D1894}"/>
              </a:ext>
            </a:extLst>
          </p:cNvPr>
          <p:cNvSpPr>
            <a:spLocks noGrp="1"/>
          </p:cNvSpPr>
          <p:nvPr>
            <p:ph type="title"/>
          </p:nvPr>
        </p:nvSpPr>
        <p:spPr/>
        <p:txBody>
          <a:bodyPr/>
          <a:lstStyle/>
          <a:p>
            <a:r>
              <a:rPr lang="en-SG" dirty="0"/>
              <a:t>Exercise Solution</a:t>
            </a:r>
          </a:p>
        </p:txBody>
      </p:sp>
      <p:sp>
        <p:nvSpPr>
          <p:cNvPr id="3" name="Content Placeholder 2">
            <a:extLst>
              <a:ext uri="{FF2B5EF4-FFF2-40B4-BE49-F238E27FC236}">
                <a16:creationId xmlns:a16="http://schemas.microsoft.com/office/drawing/2014/main" id="{3EF27E80-8EDD-99C2-42C4-70E47A71D4AD}"/>
              </a:ext>
            </a:extLst>
          </p:cNvPr>
          <p:cNvSpPr>
            <a:spLocks noGrp="1"/>
          </p:cNvSpPr>
          <p:nvPr>
            <p:ph idx="1"/>
          </p:nvPr>
        </p:nvSpPr>
        <p:spPr>
          <a:xfrm>
            <a:off x="457200" y="2057399"/>
            <a:ext cx="8229600" cy="4525963"/>
          </a:xfrm>
        </p:spPr>
        <p:txBody>
          <a:bodyPr/>
          <a:lstStyle/>
          <a:p>
            <a:pPr marL="0" indent="0">
              <a:buNone/>
            </a:pPr>
            <a:r>
              <a:rPr lang="en-US" dirty="0"/>
              <a:t>def </a:t>
            </a:r>
            <a:r>
              <a:rPr lang="en-US" dirty="0" err="1"/>
              <a:t>max_number</a:t>
            </a:r>
            <a:r>
              <a:rPr lang="en-US" dirty="0"/>
              <a:t>(a, b):</a:t>
            </a:r>
          </a:p>
          <a:p>
            <a:pPr marL="0" indent="0">
              <a:buNone/>
            </a:pPr>
            <a:r>
              <a:rPr lang="en-US" dirty="0"/>
              <a:t>    return a if a &gt; b else b</a:t>
            </a:r>
          </a:p>
        </p:txBody>
      </p:sp>
    </p:spTree>
    <p:extLst>
      <p:ext uri="{BB962C8B-B14F-4D97-AF65-F5344CB8AC3E}">
        <p14:creationId xmlns:p14="http://schemas.microsoft.com/office/powerpoint/2010/main" val="61944120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4355-B467-8188-3E54-164C77259021}"/>
              </a:ext>
            </a:extLst>
          </p:cNvPr>
          <p:cNvSpPr>
            <a:spLocks noGrp="1"/>
          </p:cNvSpPr>
          <p:nvPr>
            <p:ph type="title"/>
          </p:nvPr>
        </p:nvSpPr>
        <p:spPr/>
        <p:txBody>
          <a:bodyPr/>
          <a:lstStyle/>
          <a:p>
            <a:r>
              <a:rPr lang="en-SG" dirty="0"/>
              <a:t>Key Takeaways</a:t>
            </a:r>
          </a:p>
        </p:txBody>
      </p:sp>
      <p:sp>
        <p:nvSpPr>
          <p:cNvPr id="3" name="Content Placeholder 2">
            <a:extLst>
              <a:ext uri="{FF2B5EF4-FFF2-40B4-BE49-F238E27FC236}">
                <a16:creationId xmlns:a16="http://schemas.microsoft.com/office/drawing/2014/main" id="{FDEDE05D-C16C-2BB9-542A-2BEEE2392915}"/>
              </a:ext>
            </a:extLst>
          </p:cNvPr>
          <p:cNvSpPr>
            <a:spLocks noGrp="1"/>
          </p:cNvSpPr>
          <p:nvPr>
            <p:ph idx="1"/>
          </p:nvPr>
        </p:nvSpPr>
        <p:spPr/>
        <p:txBody>
          <a:bodyPr/>
          <a:lstStyle/>
          <a:p>
            <a:r>
              <a:rPr lang="en-US" dirty="0"/>
              <a:t>Functions encapsulate logic</a:t>
            </a:r>
          </a:p>
          <a:p>
            <a:endParaRPr lang="en-US" dirty="0"/>
          </a:p>
          <a:p>
            <a:r>
              <a:rPr lang="en-US" dirty="0"/>
              <a:t>Parameters and return values enable reuse</a:t>
            </a:r>
          </a:p>
          <a:p>
            <a:endParaRPr lang="en-US" dirty="0"/>
          </a:p>
          <a:p>
            <a:r>
              <a:rPr lang="en-US" dirty="0"/>
              <a:t>Good functions are small and focused</a:t>
            </a:r>
            <a:endParaRPr lang="en-SG" dirty="0"/>
          </a:p>
        </p:txBody>
      </p:sp>
    </p:spTree>
    <p:extLst>
      <p:ext uri="{BB962C8B-B14F-4D97-AF65-F5344CB8AC3E}">
        <p14:creationId xmlns:p14="http://schemas.microsoft.com/office/powerpoint/2010/main" val="151828312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Multiple Returns</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800" dirty="0"/>
              <a:t>def divide(a, b):</a:t>
            </a:r>
            <a:br>
              <a:rPr sz="2800" dirty="0"/>
            </a:br>
            <a:r>
              <a:rPr sz="2800" dirty="0"/>
              <a:t>    return a // b, a % b</a:t>
            </a:r>
            <a:br>
              <a:rPr sz="2800" dirty="0"/>
            </a:br>
            <a:br>
              <a:rPr sz="2800" dirty="0"/>
            </a:br>
            <a:r>
              <a:rPr sz="2800" dirty="0"/>
              <a:t>q, r = divide(20, 3)</a:t>
            </a:r>
            <a:br>
              <a:rPr sz="2800" dirty="0"/>
            </a:br>
            <a:r>
              <a:rPr sz="2800" dirty="0"/>
              <a:t>print(q, r)             # 6 2</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*args  **kwargs</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000" dirty="0"/>
              <a:t>def log(message, *</a:t>
            </a:r>
            <a:r>
              <a:rPr sz="2000" dirty="0" err="1"/>
              <a:t>args</a:t>
            </a:r>
            <a:r>
              <a:rPr sz="2000" dirty="0"/>
              <a:t>, **</a:t>
            </a:r>
            <a:r>
              <a:rPr sz="2000" dirty="0" err="1"/>
              <a:t>kwargs</a:t>
            </a:r>
            <a:r>
              <a:rPr sz="2000" dirty="0"/>
              <a:t>):</a:t>
            </a:r>
            <a:br>
              <a:rPr sz="2000" dirty="0"/>
            </a:br>
            <a:r>
              <a:rPr sz="2000" dirty="0"/>
              <a:t>    print(f"[LOG] {message}")</a:t>
            </a:r>
            <a:br>
              <a:rPr sz="2000" dirty="0"/>
            </a:br>
            <a:r>
              <a:rPr sz="2000" dirty="0"/>
              <a:t>    if </a:t>
            </a:r>
            <a:r>
              <a:rPr sz="2000" dirty="0" err="1"/>
              <a:t>args</a:t>
            </a:r>
            <a:r>
              <a:rPr sz="2000" dirty="0"/>
              <a:t>: print("  Extra positional:", </a:t>
            </a:r>
            <a:r>
              <a:rPr sz="2000" dirty="0" err="1"/>
              <a:t>args</a:t>
            </a:r>
            <a:r>
              <a:rPr sz="2000" dirty="0"/>
              <a:t>)</a:t>
            </a:r>
            <a:br>
              <a:rPr sz="2000" dirty="0"/>
            </a:br>
            <a:r>
              <a:rPr sz="2000" dirty="0"/>
              <a:t>    if </a:t>
            </a:r>
            <a:r>
              <a:rPr sz="2000" dirty="0" err="1"/>
              <a:t>kwargs</a:t>
            </a:r>
            <a:r>
              <a:rPr sz="2000" dirty="0"/>
              <a:t>: print("  Extra keyword:", </a:t>
            </a:r>
            <a:r>
              <a:rPr sz="2000" dirty="0" err="1"/>
              <a:t>kwargs</a:t>
            </a:r>
            <a:r>
              <a:rPr sz="2000" dirty="0"/>
              <a:t>)</a:t>
            </a:r>
            <a:br>
              <a:rPr sz="2000" dirty="0"/>
            </a:br>
            <a:br>
              <a:rPr sz="2000" dirty="0"/>
            </a:br>
            <a:r>
              <a:rPr sz="2000" dirty="0"/>
              <a:t>log("Start", 1, 2, 3, user="Ada", code=42)</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Lambda &amp; Sorted</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000" dirty="0"/>
              <a:t>pairs = [(1, "one"), (2, "two"), (3, "three")]</a:t>
            </a:r>
            <a:br>
              <a:rPr sz="2000" dirty="0"/>
            </a:br>
            <a:r>
              <a:rPr sz="2000" dirty="0" err="1"/>
              <a:t>pairs.sort</a:t>
            </a:r>
            <a:r>
              <a:rPr sz="2000" dirty="0"/>
              <a:t>(key=lambda x: x[1])</a:t>
            </a:r>
            <a:br>
              <a:rPr sz="2000" dirty="0"/>
            </a:br>
            <a:r>
              <a:rPr sz="2000" dirty="0"/>
              <a:t>print(pairs)</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6012D-6133-8F49-DF09-27B7303F6871}"/>
              </a:ext>
            </a:extLst>
          </p:cNvPr>
          <p:cNvSpPr>
            <a:spLocks noGrp="1"/>
          </p:cNvSpPr>
          <p:nvPr>
            <p:ph type="title"/>
          </p:nvPr>
        </p:nvSpPr>
        <p:spPr>
          <a:xfrm>
            <a:off x="457200" y="274638"/>
            <a:ext cx="10960100" cy="1143000"/>
          </a:xfrm>
        </p:spPr>
        <p:txBody>
          <a:bodyPr>
            <a:normAutofit/>
          </a:bodyPr>
          <a:lstStyle/>
          <a:p>
            <a:r>
              <a:rPr lang="en-SG" b="1" dirty="0"/>
              <a:t>Python lambda — Anonymous Functions</a:t>
            </a:r>
            <a:endParaRPr lang="en-SG" dirty="0"/>
          </a:p>
        </p:txBody>
      </p:sp>
      <p:sp>
        <p:nvSpPr>
          <p:cNvPr id="3" name="Content Placeholder 2">
            <a:extLst>
              <a:ext uri="{FF2B5EF4-FFF2-40B4-BE49-F238E27FC236}">
                <a16:creationId xmlns:a16="http://schemas.microsoft.com/office/drawing/2014/main" id="{A877A841-9DC6-31C0-E075-55BFFF36E9CE}"/>
              </a:ext>
            </a:extLst>
          </p:cNvPr>
          <p:cNvSpPr>
            <a:spLocks noGrp="1"/>
          </p:cNvSpPr>
          <p:nvPr>
            <p:ph idx="1"/>
          </p:nvPr>
        </p:nvSpPr>
        <p:spPr>
          <a:xfrm>
            <a:off x="457200" y="1600200"/>
            <a:ext cx="10960100" cy="4525963"/>
          </a:xfrm>
        </p:spPr>
        <p:txBody>
          <a:bodyPr>
            <a:normAutofit/>
          </a:bodyPr>
          <a:lstStyle/>
          <a:p>
            <a:r>
              <a:rPr lang="en-SG" dirty="0"/>
              <a:t>Define </a:t>
            </a:r>
            <a:r>
              <a:rPr lang="en-SG" b="1" dirty="0"/>
              <a:t>small functions inline</a:t>
            </a:r>
            <a:endParaRPr lang="en-SG" dirty="0"/>
          </a:p>
          <a:p>
            <a:r>
              <a:rPr lang="en-SG" dirty="0"/>
              <a:t>Reduce noise for trivial logic</a:t>
            </a:r>
          </a:p>
          <a:p>
            <a:r>
              <a:rPr lang="en-SG" dirty="0"/>
              <a:t>Improve readability </a:t>
            </a:r>
            <a:r>
              <a:rPr lang="en-SG" b="1" dirty="0"/>
              <a:t>when used correctly</a:t>
            </a:r>
            <a:endParaRPr lang="en-SG" dirty="0"/>
          </a:p>
          <a:p>
            <a:r>
              <a:rPr lang="en-SG" b="1" dirty="0"/>
              <a:t>Outcome:</a:t>
            </a:r>
            <a:r>
              <a:rPr lang="en-SG" dirty="0"/>
              <a:t> engineers write concise, intentional transformations</a:t>
            </a:r>
          </a:p>
          <a:p>
            <a:endParaRPr lang="en-SG" dirty="0"/>
          </a:p>
        </p:txBody>
      </p:sp>
    </p:spTree>
    <p:extLst>
      <p:ext uri="{BB962C8B-B14F-4D97-AF65-F5344CB8AC3E}">
        <p14:creationId xmlns:p14="http://schemas.microsoft.com/office/powerpoint/2010/main" val="6120781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D518-39FE-F9E1-02D3-74E41332A0A1}"/>
              </a:ext>
            </a:extLst>
          </p:cNvPr>
          <p:cNvSpPr>
            <a:spLocks noGrp="1"/>
          </p:cNvSpPr>
          <p:nvPr>
            <p:ph type="title"/>
          </p:nvPr>
        </p:nvSpPr>
        <p:spPr/>
        <p:txBody>
          <a:bodyPr>
            <a:normAutofit/>
          </a:bodyPr>
          <a:lstStyle/>
          <a:p>
            <a:r>
              <a:rPr lang="en-US" dirty="0"/>
              <a:t>What a lambda Is</a:t>
            </a:r>
            <a:endParaRPr lang="en-SG" dirty="0"/>
          </a:p>
        </p:txBody>
      </p:sp>
      <p:sp>
        <p:nvSpPr>
          <p:cNvPr id="3" name="Content Placeholder 2">
            <a:extLst>
              <a:ext uri="{FF2B5EF4-FFF2-40B4-BE49-F238E27FC236}">
                <a16:creationId xmlns:a16="http://schemas.microsoft.com/office/drawing/2014/main" id="{1A3FA520-7227-6248-9827-B724A00FE9F7}"/>
              </a:ext>
            </a:extLst>
          </p:cNvPr>
          <p:cNvSpPr>
            <a:spLocks noGrp="1"/>
          </p:cNvSpPr>
          <p:nvPr>
            <p:ph idx="1"/>
          </p:nvPr>
        </p:nvSpPr>
        <p:spPr>
          <a:xfrm>
            <a:off x="457200" y="1600200"/>
            <a:ext cx="10883900" cy="4525963"/>
          </a:xfrm>
        </p:spPr>
        <p:txBody>
          <a:bodyPr/>
          <a:lstStyle/>
          <a:p>
            <a:r>
              <a:rPr lang="en-US" dirty="0"/>
              <a:t>A </a:t>
            </a:r>
            <a:r>
              <a:rPr lang="en-US" b="1" dirty="0"/>
              <a:t>single-expression function</a:t>
            </a:r>
            <a:endParaRPr lang="en-US" dirty="0"/>
          </a:p>
          <a:p>
            <a:r>
              <a:rPr lang="en-US" dirty="0"/>
              <a:t>No name</a:t>
            </a:r>
          </a:p>
          <a:p>
            <a:r>
              <a:rPr lang="en-US" dirty="0"/>
              <a:t>No statements (no loops, no assignments)</a:t>
            </a:r>
          </a:p>
          <a:p>
            <a:endParaRPr lang="en-US" dirty="0"/>
          </a:p>
          <a:p>
            <a:pPr marL="0" indent="0">
              <a:buNone/>
            </a:pPr>
            <a:r>
              <a:rPr lang="en-US" b="1" dirty="0"/>
              <a:t>Mental model: </a:t>
            </a:r>
            <a:r>
              <a:rPr lang="en-US" dirty="0"/>
              <a:t>A lambda is a </a:t>
            </a:r>
            <a:r>
              <a:rPr lang="en-US" i="1" dirty="0"/>
              <a:t>one-line function literal</a:t>
            </a:r>
            <a:endParaRPr lang="en-US" dirty="0"/>
          </a:p>
          <a:p>
            <a:endParaRPr lang="en-SG" dirty="0"/>
          </a:p>
        </p:txBody>
      </p:sp>
    </p:spTree>
    <p:extLst>
      <p:ext uri="{BB962C8B-B14F-4D97-AF65-F5344CB8AC3E}">
        <p14:creationId xmlns:p14="http://schemas.microsoft.com/office/powerpoint/2010/main" val="93763393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96C85-8088-BD55-0041-C49793D194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0415899-BAAD-88F4-233E-03A0AD2BD296}"/>
              </a:ext>
            </a:extLst>
          </p:cNvPr>
          <p:cNvSpPr>
            <a:spLocks noGrp="1"/>
          </p:cNvSpPr>
          <p:nvPr>
            <p:ph type="title"/>
          </p:nvPr>
        </p:nvSpPr>
        <p:spPr>
          <a:xfrm>
            <a:off x="457199" y="160337"/>
            <a:ext cx="8229600" cy="1143000"/>
          </a:xfrm>
        </p:spPr>
        <p:txBody>
          <a:bodyPr/>
          <a:lstStyle/>
          <a:p>
            <a:r>
              <a:rPr lang="en-SG" dirty="0"/>
              <a:t>Lambda Syntax</a:t>
            </a:r>
          </a:p>
        </p:txBody>
      </p:sp>
      <p:sp>
        <p:nvSpPr>
          <p:cNvPr id="8" name="Content Placeholder 7">
            <a:extLst>
              <a:ext uri="{FF2B5EF4-FFF2-40B4-BE49-F238E27FC236}">
                <a16:creationId xmlns:a16="http://schemas.microsoft.com/office/drawing/2014/main" id="{A953A06B-B993-9239-4BB6-B307BA0B1CFB}"/>
              </a:ext>
            </a:extLst>
          </p:cNvPr>
          <p:cNvSpPr>
            <a:spLocks noGrp="1"/>
          </p:cNvSpPr>
          <p:nvPr>
            <p:ph idx="1"/>
          </p:nvPr>
        </p:nvSpPr>
        <p:spPr>
          <a:xfrm>
            <a:off x="457200" y="1303338"/>
            <a:ext cx="11274427" cy="6731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lambda arguments: expression</a:t>
            </a:r>
          </a:p>
        </p:txBody>
      </p:sp>
      <p:sp>
        <p:nvSpPr>
          <p:cNvPr id="10" name="Content Placeholder 7">
            <a:extLst>
              <a:ext uri="{FF2B5EF4-FFF2-40B4-BE49-F238E27FC236}">
                <a16:creationId xmlns:a16="http://schemas.microsoft.com/office/drawing/2014/main" id="{B68DC255-8D64-3783-F718-E3ACC7DDA1B1}"/>
              </a:ext>
            </a:extLst>
          </p:cNvPr>
          <p:cNvSpPr txBox="1">
            <a:spLocks/>
          </p:cNvSpPr>
          <p:nvPr/>
        </p:nvSpPr>
        <p:spPr>
          <a:xfrm>
            <a:off x="457200" y="2476500"/>
            <a:ext cx="11274426" cy="36496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Arguments on the left</a:t>
            </a:r>
          </a:p>
          <a:p>
            <a:endParaRPr lang="en-US" dirty="0"/>
          </a:p>
          <a:p>
            <a:r>
              <a:rPr lang="en-US" dirty="0"/>
              <a:t>Expression on the right</a:t>
            </a:r>
          </a:p>
          <a:p>
            <a:endParaRPr lang="en-US" dirty="0"/>
          </a:p>
          <a:p>
            <a:r>
              <a:rPr lang="en-US" dirty="0"/>
              <a:t>Expression result is returned automatically</a:t>
            </a:r>
          </a:p>
        </p:txBody>
      </p:sp>
    </p:spTree>
    <p:extLst>
      <p:ext uri="{BB962C8B-B14F-4D97-AF65-F5344CB8AC3E}">
        <p14:creationId xmlns:p14="http://schemas.microsoft.com/office/powerpoint/2010/main" val="8553852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2C58E-FB80-69C2-4D35-276682EEB4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92FD50E-76B3-3CAB-88B6-8D81BDAF412D}"/>
              </a:ext>
            </a:extLst>
          </p:cNvPr>
          <p:cNvSpPr>
            <a:spLocks noGrp="1"/>
          </p:cNvSpPr>
          <p:nvPr>
            <p:ph type="title"/>
          </p:nvPr>
        </p:nvSpPr>
        <p:spPr>
          <a:xfrm>
            <a:off x="457199" y="160337"/>
            <a:ext cx="8229600" cy="1143000"/>
          </a:xfrm>
        </p:spPr>
        <p:txBody>
          <a:bodyPr/>
          <a:lstStyle/>
          <a:p>
            <a:r>
              <a:rPr lang="en-SG" dirty="0"/>
              <a:t>Lambda vs def</a:t>
            </a:r>
          </a:p>
        </p:txBody>
      </p:sp>
      <p:sp>
        <p:nvSpPr>
          <p:cNvPr id="8" name="Content Placeholder 7">
            <a:extLst>
              <a:ext uri="{FF2B5EF4-FFF2-40B4-BE49-F238E27FC236}">
                <a16:creationId xmlns:a16="http://schemas.microsoft.com/office/drawing/2014/main" id="{0050FA3D-EEB7-F6AC-FF78-66CD3E9F445A}"/>
              </a:ext>
            </a:extLst>
          </p:cNvPr>
          <p:cNvSpPr>
            <a:spLocks noGrp="1"/>
          </p:cNvSpPr>
          <p:nvPr>
            <p:ph idx="1"/>
          </p:nvPr>
        </p:nvSpPr>
        <p:spPr>
          <a:xfrm>
            <a:off x="457199" y="1930401"/>
            <a:ext cx="5257801" cy="1054100"/>
          </a:xfrm>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buNone/>
            </a:pPr>
            <a:r>
              <a:rPr lang="en-US" dirty="0"/>
              <a:t>def square(x):</a:t>
            </a:r>
          </a:p>
          <a:p>
            <a:pPr marL="0" indent="0">
              <a:buNone/>
            </a:pPr>
            <a:r>
              <a:rPr lang="en-US" dirty="0"/>
              <a:t>    return x * x</a:t>
            </a:r>
          </a:p>
        </p:txBody>
      </p:sp>
      <p:sp>
        <p:nvSpPr>
          <p:cNvPr id="10" name="Content Placeholder 7">
            <a:extLst>
              <a:ext uri="{FF2B5EF4-FFF2-40B4-BE49-F238E27FC236}">
                <a16:creationId xmlns:a16="http://schemas.microsoft.com/office/drawing/2014/main" id="{41F7FF13-DCF4-E5A7-FB8D-5AC1C95543BD}"/>
              </a:ext>
            </a:extLst>
          </p:cNvPr>
          <p:cNvSpPr txBox="1">
            <a:spLocks/>
          </p:cNvSpPr>
          <p:nvPr/>
        </p:nvSpPr>
        <p:spPr>
          <a:xfrm>
            <a:off x="6094412" y="1930401"/>
            <a:ext cx="5637213" cy="10541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it-IT" dirty="0"/>
              <a:t>square = lambda x: x * x</a:t>
            </a:r>
          </a:p>
        </p:txBody>
      </p:sp>
      <p:sp>
        <p:nvSpPr>
          <p:cNvPr id="2" name="Content Placeholder 7">
            <a:extLst>
              <a:ext uri="{FF2B5EF4-FFF2-40B4-BE49-F238E27FC236}">
                <a16:creationId xmlns:a16="http://schemas.microsoft.com/office/drawing/2014/main" id="{B381F718-548C-FA39-D68D-454E3388E51D}"/>
              </a:ext>
            </a:extLst>
          </p:cNvPr>
          <p:cNvSpPr txBox="1">
            <a:spLocks/>
          </p:cNvSpPr>
          <p:nvPr/>
        </p:nvSpPr>
        <p:spPr>
          <a:xfrm>
            <a:off x="457199" y="3987801"/>
            <a:ext cx="11274426" cy="10541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t>Rule:</a:t>
            </a:r>
            <a:r>
              <a:rPr lang="en-US" dirty="0"/>
              <a:t> if it needs a name or explanation, use def</a:t>
            </a:r>
          </a:p>
        </p:txBody>
      </p:sp>
    </p:spTree>
    <p:extLst>
      <p:ext uri="{BB962C8B-B14F-4D97-AF65-F5344CB8AC3E}">
        <p14:creationId xmlns:p14="http://schemas.microsoft.com/office/powerpoint/2010/main" val="121188248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F070E-BF8D-FEB2-1A23-2A11FEB12B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DF5B3B6-A83F-847B-F9E1-DA974DFD8293}"/>
              </a:ext>
            </a:extLst>
          </p:cNvPr>
          <p:cNvSpPr>
            <a:spLocks noGrp="1"/>
          </p:cNvSpPr>
          <p:nvPr>
            <p:ph type="title"/>
          </p:nvPr>
        </p:nvSpPr>
        <p:spPr>
          <a:xfrm>
            <a:off x="457199" y="160337"/>
            <a:ext cx="8229600" cy="1143000"/>
          </a:xfrm>
        </p:spPr>
        <p:txBody>
          <a:bodyPr/>
          <a:lstStyle/>
          <a:p>
            <a:r>
              <a:rPr lang="en-US" b="1" dirty="0"/>
              <a:t>Where lambda Is Used Well</a:t>
            </a:r>
          </a:p>
        </p:txBody>
      </p:sp>
      <p:sp>
        <p:nvSpPr>
          <p:cNvPr id="8" name="Content Placeholder 7">
            <a:extLst>
              <a:ext uri="{FF2B5EF4-FFF2-40B4-BE49-F238E27FC236}">
                <a16:creationId xmlns:a16="http://schemas.microsoft.com/office/drawing/2014/main" id="{9424C4A6-BC06-DE1B-F063-4869CFDBB1A2}"/>
              </a:ext>
            </a:extLst>
          </p:cNvPr>
          <p:cNvSpPr>
            <a:spLocks noGrp="1"/>
          </p:cNvSpPr>
          <p:nvPr>
            <p:ph idx="1"/>
          </p:nvPr>
        </p:nvSpPr>
        <p:spPr>
          <a:xfrm>
            <a:off x="457199" y="5224467"/>
            <a:ext cx="11274427" cy="10541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err="1"/>
              <a:t>users.sort</a:t>
            </a:r>
            <a:r>
              <a:rPr lang="en-US" dirty="0"/>
              <a:t>(key=lambda u: </a:t>
            </a:r>
            <a:r>
              <a:rPr lang="en-US" dirty="0" err="1"/>
              <a:t>u.last_login</a:t>
            </a:r>
            <a:r>
              <a:rPr lang="en-US" dirty="0"/>
              <a:t>)</a:t>
            </a:r>
          </a:p>
        </p:txBody>
      </p:sp>
      <p:sp>
        <p:nvSpPr>
          <p:cNvPr id="2" name="Content Placeholder 7">
            <a:extLst>
              <a:ext uri="{FF2B5EF4-FFF2-40B4-BE49-F238E27FC236}">
                <a16:creationId xmlns:a16="http://schemas.microsoft.com/office/drawing/2014/main" id="{961EF869-B161-0529-C659-596F280263FE}"/>
              </a:ext>
            </a:extLst>
          </p:cNvPr>
          <p:cNvSpPr txBox="1">
            <a:spLocks/>
          </p:cNvSpPr>
          <p:nvPr/>
        </p:nvSpPr>
        <p:spPr>
          <a:xfrm>
            <a:off x="457200" y="1778000"/>
            <a:ext cx="11274426" cy="27559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sorted()</a:t>
            </a:r>
          </a:p>
          <a:p>
            <a:r>
              <a:rPr lang="en-US" dirty="0"/>
              <a:t>min() / max()</a:t>
            </a:r>
          </a:p>
          <a:p>
            <a:r>
              <a:rPr lang="en-US" dirty="0"/>
              <a:t>map(), filter()</a:t>
            </a:r>
          </a:p>
          <a:p>
            <a:r>
              <a:rPr lang="en-US" dirty="0"/>
              <a:t>Key functions</a:t>
            </a:r>
          </a:p>
        </p:txBody>
      </p:sp>
    </p:spTree>
    <p:extLst>
      <p:ext uri="{BB962C8B-B14F-4D97-AF65-F5344CB8AC3E}">
        <p14:creationId xmlns:p14="http://schemas.microsoft.com/office/powerpoint/2010/main" val="284363268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B86C6-2CA4-8026-4E6F-394D5691BE9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10FCA03-76D2-6177-B2DE-3E0F0698B458}"/>
              </a:ext>
            </a:extLst>
          </p:cNvPr>
          <p:cNvSpPr>
            <a:spLocks noGrp="1"/>
          </p:cNvSpPr>
          <p:nvPr>
            <p:ph type="title"/>
          </p:nvPr>
        </p:nvSpPr>
        <p:spPr>
          <a:xfrm>
            <a:off x="457199" y="160337"/>
            <a:ext cx="8229600" cy="1143000"/>
          </a:xfrm>
        </p:spPr>
        <p:txBody>
          <a:bodyPr/>
          <a:lstStyle/>
          <a:p>
            <a:r>
              <a:rPr lang="en-SG" b="1" dirty="0"/>
              <a:t>Lambda with sorted()</a:t>
            </a:r>
          </a:p>
        </p:txBody>
      </p:sp>
      <p:sp>
        <p:nvSpPr>
          <p:cNvPr id="8" name="Content Placeholder 7">
            <a:extLst>
              <a:ext uri="{FF2B5EF4-FFF2-40B4-BE49-F238E27FC236}">
                <a16:creationId xmlns:a16="http://schemas.microsoft.com/office/drawing/2014/main" id="{F1D8E441-6228-5F9B-BEF2-6B8BFD3B2510}"/>
              </a:ext>
            </a:extLst>
          </p:cNvPr>
          <p:cNvSpPr>
            <a:spLocks noGrp="1"/>
          </p:cNvSpPr>
          <p:nvPr>
            <p:ph idx="1"/>
          </p:nvPr>
        </p:nvSpPr>
        <p:spPr>
          <a:xfrm>
            <a:off x="457199" y="5224467"/>
            <a:ext cx="11274427" cy="1054100"/>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sorted(orders, key=lambda o: </a:t>
            </a:r>
            <a:r>
              <a:rPr lang="en-US" dirty="0" err="1"/>
              <a:t>o.total</a:t>
            </a:r>
            <a:r>
              <a:rPr lang="en-US" dirty="0"/>
              <a:t>)</a:t>
            </a:r>
          </a:p>
        </p:txBody>
      </p:sp>
      <p:sp>
        <p:nvSpPr>
          <p:cNvPr id="2" name="Content Placeholder 7">
            <a:extLst>
              <a:ext uri="{FF2B5EF4-FFF2-40B4-BE49-F238E27FC236}">
                <a16:creationId xmlns:a16="http://schemas.microsoft.com/office/drawing/2014/main" id="{95A45525-FF6B-8650-BF2C-B437931976C4}"/>
              </a:ext>
            </a:extLst>
          </p:cNvPr>
          <p:cNvSpPr txBox="1">
            <a:spLocks/>
          </p:cNvSpPr>
          <p:nvPr/>
        </p:nvSpPr>
        <p:spPr>
          <a:xfrm>
            <a:off x="457200" y="1778000"/>
            <a:ext cx="11274426" cy="27559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Clear intent</a:t>
            </a:r>
          </a:p>
          <a:p>
            <a:r>
              <a:rPr lang="en-US" dirty="0"/>
              <a:t>No helper function needed</a:t>
            </a:r>
          </a:p>
          <a:p>
            <a:r>
              <a:rPr lang="en-US" dirty="0"/>
              <a:t>Logic is obvious at the call site</a:t>
            </a:r>
          </a:p>
        </p:txBody>
      </p:sp>
    </p:spTree>
    <p:extLst>
      <p:ext uri="{BB962C8B-B14F-4D97-AF65-F5344CB8AC3E}">
        <p14:creationId xmlns:p14="http://schemas.microsoft.com/office/powerpoint/2010/main" val="1712884851"/>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B6EF1-670F-7883-0267-E39E88186342}"/>
              </a:ext>
            </a:extLst>
          </p:cNvPr>
          <p:cNvSpPr>
            <a:spLocks noGrp="1"/>
          </p:cNvSpPr>
          <p:nvPr>
            <p:ph type="title"/>
          </p:nvPr>
        </p:nvSpPr>
        <p:spPr/>
        <p:txBody>
          <a:bodyPr>
            <a:normAutofit/>
          </a:bodyPr>
          <a:lstStyle/>
          <a:p>
            <a:r>
              <a:rPr lang="en-US" b="1" dirty="0"/>
              <a:t>When NOT to Use lambda</a:t>
            </a:r>
            <a:endParaRPr lang="en-SG" dirty="0"/>
          </a:p>
        </p:txBody>
      </p:sp>
      <p:sp>
        <p:nvSpPr>
          <p:cNvPr id="3" name="Content Placeholder 2">
            <a:extLst>
              <a:ext uri="{FF2B5EF4-FFF2-40B4-BE49-F238E27FC236}">
                <a16:creationId xmlns:a16="http://schemas.microsoft.com/office/drawing/2014/main" id="{B756F548-502C-9FC9-9ED9-ACB0D25BBD1D}"/>
              </a:ext>
            </a:extLst>
          </p:cNvPr>
          <p:cNvSpPr>
            <a:spLocks noGrp="1"/>
          </p:cNvSpPr>
          <p:nvPr>
            <p:ph idx="1"/>
          </p:nvPr>
        </p:nvSpPr>
        <p:spPr/>
        <p:txBody>
          <a:bodyPr/>
          <a:lstStyle/>
          <a:p>
            <a:r>
              <a:rPr lang="en-US" dirty="0"/>
              <a:t>Multi-step logic</a:t>
            </a:r>
          </a:p>
          <a:p>
            <a:r>
              <a:rPr lang="en-US" dirty="0"/>
              <a:t>Complex conditions</a:t>
            </a:r>
          </a:p>
          <a:p>
            <a:r>
              <a:rPr lang="en-US" dirty="0"/>
              <a:t>Error handling</a:t>
            </a:r>
          </a:p>
          <a:p>
            <a:r>
              <a:rPr lang="en-US" dirty="0"/>
              <a:t>Reusable business logic</a:t>
            </a:r>
          </a:p>
          <a:p>
            <a:pPr marL="0" indent="0">
              <a:buNone/>
            </a:pPr>
            <a:endParaRPr lang="en-US" b="1" dirty="0"/>
          </a:p>
          <a:p>
            <a:pPr marL="0" indent="0">
              <a:buNone/>
            </a:pPr>
            <a:r>
              <a:rPr lang="en-US" b="1" dirty="0"/>
              <a:t>Anti-pattern:</a:t>
            </a:r>
            <a:r>
              <a:rPr lang="en-US" dirty="0"/>
              <a:t> clever one-liners</a:t>
            </a:r>
          </a:p>
          <a:p>
            <a:endParaRPr lang="en-SG" dirty="0"/>
          </a:p>
        </p:txBody>
      </p:sp>
    </p:spTree>
    <p:extLst>
      <p:ext uri="{BB962C8B-B14F-4D97-AF65-F5344CB8AC3E}">
        <p14:creationId xmlns:p14="http://schemas.microsoft.com/office/powerpoint/2010/main" val="338918804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1976-562A-3BCC-EF7D-3834D9EB229E}"/>
              </a:ext>
            </a:extLst>
          </p:cNvPr>
          <p:cNvSpPr>
            <a:spLocks noGrp="1"/>
          </p:cNvSpPr>
          <p:nvPr>
            <p:ph type="title"/>
          </p:nvPr>
        </p:nvSpPr>
        <p:spPr/>
        <p:txBody>
          <a:bodyPr>
            <a:normAutofit/>
          </a:bodyPr>
          <a:lstStyle/>
          <a:p>
            <a:r>
              <a:rPr lang="en-US" dirty="0"/>
              <a:t>Readability Rule</a:t>
            </a:r>
            <a:endParaRPr lang="en-SG" dirty="0"/>
          </a:p>
        </p:txBody>
      </p:sp>
      <p:sp>
        <p:nvSpPr>
          <p:cNvPr id="3" name="Content Placeholder 2">
            <a:extLst>
              <a:ext uri="{FF2B5EF4-FFF2-40B4-BE49-F238E27FC236}">
                <a16:creationId xmlns:a16="http://schemas.microsoft.com/office/drawing/2014/main" id="{E046CA47-A767-4786-F953-802AE911F665}"/>
              </a:ext>
            </a:extLst>
          </p:cNvPr>
          <p:cNvSpPr>
            <a:spLocks noGrp="1"/>
          </p:cNvSpPr>
          <p:nvPr>
            <p:ph idx="1"/>
          </p:nvPr>
        </p:nvSpPr>
        <p:spPr>
          <a:xfrm>
            <a:off x="457200" y="2057399"/>
            <a:ext cx="8229600" cy="4525963"/>
          </a:xfrm>
        </p:spPr>
        <p:txBody>
          <a:bodyPr>
            <a:normAutofit/>
          </a:bodyPr>
          <a:lstStyle/>
          <a:p>
            <a:r>
              <a:rPr lang="en-US" sz="3600" dirty="0"/>
              <a:t>Ask:</a:t>
            </a:r>
          </a:p>
          <a:p>
            <a:pPr lvl="1"/>
            <a:r>
              <a:rPr lang="en-US" sz="3200" dirty="0"/>
              <a:t>Can this be understood in </a:t>
            </a:r>
            <a:r>
              <a:rPr lang="en-US" sz="3200" b="1" dirty="0"/>
              <a:t>one glance</a:t>
            </a:r>
            <a:r>
              <a:rPr lang="en-US" sz="3200" dirty="0"/>
              <a:t>?</a:t>
            </a:r>
          </a:p>
          <a:p>
            <a:pPr lvl="1"/>
            <a:r>
              <a:rPr lang="en-US" sz="3200" dirty="0"/>
              <a:t>Would a new hire understand it immediately?</a:t>
            </a:r>
          </a:p>
          <a:p>
            <a:r>
              <a:rPr lang="en-US" sz="3600" dirty="0"/>
              <a:t>If not → use def</a:t>
            </a:r>
          </a:p>
          <a:p>
            <a:endParaRPr lang="en-SG" sz="3600" dirty="0"/>
          </a:p>
        </p:txBody>
      </p:sp>
    </p:spTree>
    <p:extLst>
      <p:ext uri="{BB962C8B-B14F-4D97-AF65-F5344CB8AC3E}">
        <p14:creationId xmlns:p14="http://schemas.microsoft.com/office/powerpoint/2010/main" val="27912771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1A45D-6D43-C50D-3E75-5A4C05D6BA8D}"/>
              </a:ext>
            </a:extLst>
          </p:cNvPr>
          <p:cNvSpPr>
            <a:spLocks noGrp="1"/>
          </p:cNvSpPr>
          <p:nvPr>
            <p:ph type="title"/>
          </p:nvPr>
        </p:nvSpPr>
        <p:spPr/>
        <p:txBody>
          <a:bodyPr>
            <a:normAutofit/>
          </a:bodyPr>
          <a:lstStyle/>
          <a:p>
            <a:r>
              <a:rPr lang="en-US" dirty="0"/>
              <a:t>Lambda and Scope</a:t>
            </a:r>
            <a:endParaRPr lang="en-SG" dirty="0"/>
          </a:p>
        </p:txBody>
      </p:sp>
      <p:sp>
        <p:nvSpPr>
          <p:cNvPr id="3" name="Content Placeholder 2">
            <a:extLst>
              <a:ext uri="{FF2B5EF4-FFF2-40B4-BE49-F238E27FC236}">
                <a16:creationId xmlns:a16="http://schemas.microsoft.com/office/drawing/2014/main" id="{64A5563B-1F00-271D-ECEF-1A182D25E6B8}"/>
              </a:ext>
            </a:extLst>
          </p:cNvPr>
          <p:cNvSpPr>
            <a:spLocks noGrp="1"/>
          </p:cNvSpPr>
          <p:nvPr>
            <p:ph idx="1"/>
          </p:nvPr>
        </p:nvSpPr>
        <p:spPr/>
        <p:txBody>
          <a:bodyPr/>
          <a:lstStyle/>
          <a:p>
            <a:r>
              <a:rPr lang="en-US" dirty="0"/>
              <a:t>Lambdas capture variables from outer scope</a:t>
            </a:r>
          </a:p>
          <a:p>
            <a:r>
              <a:rPr lang="en-US" dirty="0"/>
              <a:t>Same closure rules as functions</a:t>
            </a:r>
          </a:p>
          <a:p>
            <a:pPr marL="0" indent="0">
              <a:buNone/>
            </a:pPr>
            <a:endParaRPr lang="en-US" b="1" dirty="0"/>
          </a:p>
          <a:p>
            <a:pPr marL="0" indent="0">
              <a:buNone/>
            </a:pPr>
            <a:r>
              <a:rPr lang="en-US" b="1" dirty="0"/>
              <a:t>Caution:</a:t>
            </a:r>
            <a:r>
              <a:rPr lang="en-US" dirty="0"/>
              <a:t> late binding in loops</a:t>
            </a:r>
          </a:p>
          <a:p>
            <a:endParaRPr lang="en-SG" dirty="0"/>
          </a:p>
        </p:txBody>
      </p:sp>
    </p:spTree>
    <p:extLst>
      <p:ext uri="{BB962C8B-B14F-4D97-AF65-F5344CB8AC3E}">
        <p14:creationId xmlns:p14="http://schemas.microsoft.com/office/powerpoint/2010/main" val="79413651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49A39-8CEC-7EAF-3DF4-31EFA7037A2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B34D27A-DC2D-A7CB-5100-F0B29CE8B7BB}"/>
              </a:ext>
            </a:extLst>
          </p:cNvPr>
          <p:cNvSpPr>
            <a:spLocks noGrp="1"/>
          </p:cNvSpPr>
          <p:nvPr>
            <p:ph type="title"/>
          </p:nvPr>
        </p:nvSpPr>
        <p:spPr>
          <a:xfrm>
            <a:off x="457199" y="160337"/>
            <a:ext cx="8229600" cy="1143000"/>
          </a:xfrm>
        </p:spPr>
        <p:txBody>
          <a:bodyPr/>
          <a:lstStyle/>
          <a:p>
            <a:r>
              <a:rPr lang="en-SG" b="1" dirty="0"/>
              <a:t>Common Pitfall</a:t>
            </a:r>
          </a:p>
        </p:txBody>
      </p:sp>
      <p:sp>
        <p:nvSpPr>
          <p:cNvPr id="8" name="Content Placeholder 7">
            <a:extLst>
              <a:ext uri="{FF2B5EF4-FFF2-40B4-BE49-F238E27FC236}">
                <a16:creationId xmlns:a16="http://schemas.microsoft.com/office/drawing/2014/main" id="{7A6C92CA-1D0E-71BD-6D96-8DEDC25D5990}"/>
              </a:ext>
            </a:extLst>
          </p:cNvPr>
          <p:cNvSpPr>
            <a:spLocks noGrp="1"/>
          </p:cNvSpPr>
          <p:nvPr>
            <p:ph idx="1"/>
          </p:nvPr>
        </p:nvSpPr>
        <p:spPr>
          <a:xfrm>
            <a:off x="228599" y="1989138"/>
            <a:ext cx="5740401" cy="2989262"/>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4000" dirty="0"/>
              <a:t># </a:t>
            </a:r>
            <a:r>
              <a:rPr lang="en-SG" sz="4000" dirty="0"/>
              <a:t>All lambdas return </a:t>
            </a:r>
            <a:r>
              <a:rPr lang="en-SG" dirty="0"/>
              <a:t>2</a:t>
            </a:r>
            <a:endParaRPr lang="en-US" sz="4000" dirty="0"/>
          </a:p>
          <a:p>
            <a:pPr marL="0" indent="0">
              <a:buNone/>
            </a:pPr>
            <a:r>
              <a:rPr lang="en-US" sz="4000" dirty="0" err="1"/>
              <a:t>funcs</a:t>
            </a:r>
            <a:r>
              <a:rPr lang="en-US" sz="4000" dirty="0"/>
              <a:t> = []</a:t>
            </a:r>
          </a:p>
          <a:p>
            <a:pPr marL="0" indent="0">
              <a:buNone/>
            </a:pPr>
            <a:r>
              <a:rPr lang="en-US" sz="4000" dirty="0"/>
              <a:t>for </a:t>
            </a:r>
            <a:r>
              <a:rPr lang="en-US" sz="4000" dirty="0" err="1"/>
              <a:t>i</a:t>
            </a:r>
            <a:r>
              <a:rPr lang="en-US" sz="4000" dirty="0"/>
              <a:t> in range(3):</a:t>
            </a:r>
          </a:p>
          <a:p>
            <a:pPr marL="0" indent="0">
              <a:buNone/>
            </a:pPr>
            <a:r>
              <a:rPr lang="en-US" sz="4000" dirty="0"/>
              <a:t>    </a:t>
            </a:r>
            <a:r>
              <a:rPr lang="en-US" sz="4000" dirty="0" err="1"/>
              <a:t>funcs.append</a:t>
            </a:r>
            <a:r>
              <a:rPr lang="en-US" sz="4000" dirty="0"/>
              <a:t>(lambda: </a:t>
            </a:r>
            <a:r>
              <a:rPr lang="en-US" sz="4000" dirty="0" err="1"/>
              <a:t>i</a:t>
            </a:r>
            <a:r>
              <a:rPr lang="en-US" sz="4000" dirty="0"/>
              <a:t>)</a:t>
            </a:r>
          </a:p>
        </p:txBody>
      </p:sp>
      <p:sp>
        <p:nvSpPr>
          <p:cNvPr id="10" name="Content Placeholder 7">
            <a:extLst>
              <a:ext uri="{FF2B5EF4-FFF2-40B4-BE49-F238E27FC236}">
                <a16:creationId xmlns:a16="http://schemas.microsoft.com/office/drawing/2014/main" id="{38AEE923-F9D9-0246-38AD-272AE968A9C9}"/>
              </a:ext>
            </a:extLst>
          </p:cNvPr>
          <p:cNvSpPr txBox="1">
            <a:spLocks/>
          </p:cNvSpPr>
          <p:nvPr/>
        </p:nvSpPr>
        <p:spPr>
          <a:xfrm>
            <a:off x="6121400" y="1989137"/>
            <a:ext cx="5838825" cy="298926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nn-NO" sz="4000" dirty="0"/>
              <a:t># fix</a:t>
            </a:r>
          </a:p>
          <a:p>
            <a:pPr marL="0" indent="0">
              <a:buNone/>
            </a:pPr>
            <a:r>
              <a:rPr lang="nn-NO" sz="4000" dirty="0"/>
              <a:t>funcs.append(lambda i=i: i)</a:t>
            </a:r>
          </a:p>
        </p:txBody>
      </p:sp>
    </p:spTree>
    <p:extLst>
      <p:ext uri="{BB962C8B-B14F-4D97-AF65-F5344CB8AC3E}">
        <p14:creationId xmlns:p14="http://schemas.microsoft.com/office/powerpoint/2010/main" val="400943101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0069E-77A9-8E6D-5071-2687F6D1C726}"/>
              </a:ext>
            </a:extLst>
          </p:cNvPr>
          <p:cNvSpPr>
            <a:spLocks noGrp="1"/>
          </p:cNvSpPr>
          <p:nvPr>
            <p:ph type="title"/>
          </p:nvPr>
        </p:nvSpPr>
        <p:spPr/>
        <p:txBody>
          <a:bodyPr>
            <a:normAutofit/>
          </a:bodyPr>
          <a:lstStyle/>
          <a:p>
            <a:r>
              <a:rPr lang="en-US" b="1" dirty="0"/>
              <a:t>Best Practices</a:t>
            </a:r>
            <a:endParaRPr lang="en-SG" dirty="0"/>
          </a:p>
        </p:txBody>
      </p:sp>
      <p:sp>
        <p:nvSpPr>
          <p:cNvPr id="3" name="Content Placeholder 2">
            <a:extLst>
              <a:ext uri="{FF2B5EF4-FFF2-40B4-BE49-F238E27FC236}">
                <a16:creationId xmlns:a16="http://schemas.microsoft.com/office/drawing/2014/main" id="{0A439AFE-A476-372C-A3A4-51798B6213BC}"/>
              </a:ext>
            </a:extLst>
          </p:cNvPr>
          <p:cNvSpPr>
            <a:spLocks noGrp="1"/>
          </p:cNvSpPr>
          <p:nvPr>
            <p:ph idx="1"/>
          </p:nvPr>
        </p:nvSpPr>
        <p:spPr>
          <a:xfrm>
            <a:off x="457200" y="2286001"/>
            <a:ext cx="5384800" cy="2781300"/>
          </a:xfrm>
        </p:spPr>
        <p:txBody>
          <a:bodyPr>
            <a:normAutofit/>
          </a:bodyPr>
          <a:lstStyle/>
          <a:p>
            <a:pPr marL="0" indent="0">
              <a:buNone/>
            </a:pPr>
            <a:r>
              <a:rPr lang="en-US" sz="4000" dirty="0"/>
              <a:t>Use </a:t>
            </a:r>
            <a:r>
              <a:rPr lang="en-US" sz="4000" b="1" dirty="0"/>
              <a:t>lambda</a:t>
            </a:r>
            <a:r>
              <a:rPr lang="en-US" sz="4000" dirty="0"/>
              <a:t> for:</a:t>
            </a:r>
          </a:p>
          <a:p>
            <a:pPr marL="457200" lvl="1" indent="0">
              <a:buNone/>
            </a:pPr>
            <a:r>
              <a:rPr lang="en-US" sz="3600" dirty="0"/>
              <a:t>small, local transformations</a:t>
            </a:r>
          </a:p>
          <a:p>
            <a:pPr marL="457200" lvl="1" indent="0">
              <a:buNone/>
            </a:pPr>
            <a:r>
              <a:rPr lang="en-US" sz="3600" dirty="0"/>
              <a:t>key functions</a:t>
            </a:r>
          </a:p>
          <a:p>
            <a:pPr marL="0" indent="0">
              <a:buNone/>
            </a:pPr>
            <a:endParaRPr lang="en-US" sz="4000" dirty="0"/>
          </a:p>
          <a:p>
            <a:pPr marL="0" indent="0">
              <a:buNone/>
            </a:pPr>
            <a:endParaRPr lang="en-SG" sz="4000" dirty="0"/>
          </a:p>
        </p:txBody>
      </p:sp>
      <p:sp>
        <p:nvSpPr>
          <p:cNvPr id="4" name="Content Placeholder 2">
            <a:extLst>
              <a:ext uri="{FF2B5EF4-FFF2-40B4-BE49-F238E27FC236}">
                <a16:creationId xmlns:a16="http://schemas.microsoft.com/office/drawing/2014/main" id="{B03916D8-B4A1-2B55-B3AA-8DEC2BF10095}"/>
              </a:ext>
            </a:extLst>
          </p:cNvPr>
          <p:cNvSpPr txBox="1">
            <a:spLocks/>
          </p:cNvSpPr>
          <p:nvPr/>
        </p:nvSpPr>
        <p:spPr>
          <a:xfrm>
            <a:off x="6346826" y="2324101"/>
            <a:ext cx="5384800" cy="27813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4400" dirty="0"/>
              <a:t>Prefer </a:t>
            </a:r>
            <a:r>
              <a:rPr lang="en-US" sz="4400" b="1" dirty="0"/>
              <a:t>def</a:t>
            </a:r>
            <a:r>
              <a:rPr lang="en-US" sz="4400" dirty="0"/>
              <a:t> for:</a:t>
            </a:r>
          </a:p>
          <a:p>
            <a:pPr marL="457200" lvl="1" indent="0">
              <a:buNone/>
            </a:pPr>
            <a:r>
              <a:rPr lang="en-US" sz="4000" dirty="0"/>
              <a:t>business logic</a:t>
            </a:r>
          </a:p>
          <a:p>
            <a:pPr marL="457200" lvl="1" indent="0">
              <a:buNone/>
            </a:pPr>
            <a:r>
              <a:rPr lang="en-US" sz="4000" dirty="0"/>
              <a:t>anything non-trivial</a:t>
            </a:r>
          </a:p>
          <a:p>
            <a:pPr marL="0" indent="0">
              <a:buNone/>
            </a:pPr>
            <a:endParaRPr lang="en-SG" sz="4400" dirty="0"/>
          </a:p>
        </p:txBody>
      </p:sp>
    </p:spTree>
    <p:extLst>
      <p:ext uri="{BB962C8B-B14F-4D97-AF65-F5344CB8AC3E}">
        <p14:creationId xmlns:p14="http://schemas.microsoft.com/office/powerpoint/2010/main" val="79536370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20396-415D-DFB3-A388-285F8071A64F}"/>
              </a:ext>
            </a:extLst>
          </p:cNvPr>
          <p:cNvSpPr>
            <a:spLocks noGrp="1"/>
          </p:cNvSpPr>
          <p:nvPr>
            <p:ph type="title"/>
          </p:nvPr>
        </p:nvSpPr>
        <p:spPr/>
        <p:txBody>
          <a:bodyPr>
            <a:normAutofit/>
          </a:bodyPr>
          <a:lstStyle/>
          <a:p>
            <a:r>
              <a:rPr lang="en-US" dirty="0"/>
              <a:t>Key Takeaways</a:t>
            </a:r>
            <a:endParaRPr lang="en-SG" dirty="0"/>
          </a:p>
        </p:txBody>
      </p:sp>
      <p:sp>
        <p:nvSpPr>
          <p:cNvPr id="3" name="Content Placeholder 2">
            <a:extLst>
              <a:ext uri="{FF2B5EF4-FFF2-40B4-BE49-F238E27FC236}">
                <a16:creationId xmlns:a16="http://schemas.microsoft.com/office/drawing/2014/main" id="{A6EE40E6-75A8-7800-970A-CF90B370979C}"/>
              </a:ext>
            </a:extLst>
          </p:cNvPr>
          <p:cNvSpPr>
            <a:spLocks noGrp="1"/>
          </p:cNvSpPr>
          <p:nvPr>
            <p:ph idx="1"/>
          </p:nvPr>
        </p:nvSpPr>
        <p:spPr>
          <a:xfrm>
            <a:off x="457200" y="1600200"/>
            <a:ext cx="10998200" cy="4525963"/>
          </a:xfrm>
        </p:spPr>
        <p:txBody>
          <a:bodyPr/>
          <a:lstStyle/>
          <a:p>
            <a:r>
              <a:rPr lang="en-US" dirty="0"/>
              <a:t>lambda = one-expression function</a:t>
            </a:r>
          </a:p>
          <a:p>
            <a:r>
              <a:rPr lang="en-US" dirty="0"/>
              <a:t>Inline and disposable</a:t>
            </a:r>
          </a:p>
          <a:p>
            <a:r>
              <a:rPr lang="en-US" dirty="0"/>
              <a:t>Readability &gt; brevity</a:t>
            </a:r>
          </a:p>
          <a:p>
            <a:r>
              <a:rPr lang="en-US" dirty="0"/>
              <a:t>def is always acceptable</a:t>
            </a:r>
          </a:p>
          <a:p>
            <a:endParaRPr lang="en-US" dirty="0"/>
          </a:p>
          <a:p>
            <a:pPr marL="0" indent="0">
              <a:buNone/>
            </a:pPr>
            <a:r>
              <a:rPr lang="en-US" b="1" dirty="0"/>
              <a:t>Final mental model: </a:t>
            </a:r>
            <a:r>
              <a:rPr lang="en-US" i="1" dirty="0"/>
              <a:t>If you have to explain it, don’t lambda it.</a:t>
            </a:r>
            <a:endParaRPr lang="en-US" dirty="0"/>
          </a:p>
          <a:p>
            <a:endParaRPr lang="en-SG" dirty="0"/>
          </a:p>
        </p:txBody>
      </p:sp>
    </p:spTree>
    <p:extLst>
      <p:ext uri="{BB962C8B-B14F-4D97-AF65-F5344CB8AC3E}">
        <p14:creationId xmlns:p14="http://schemas.microsoft.com/office/powerpoint/2010/main" val="271917716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Mini-Project: CLI Calculator</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800" dirty="0"/>
              <a:t>ops = {"+": lambda </a:t>
            </a:r>
            <a:r>
              <a:rPr sz="2800" dirty="0" err="1"/>
              <a:t>x,y</a:t>
            </a:r>
            <a:r>
              <a:rPr sz="2800" dirty="0"/>
              <a:t>: </a:t>
            </a:r>
            <a:r>
              <a:rPr sz="2800" dirty="0" err="1"/>
              <a:t>x+y</a:t>
            </a:r>
            <a:r>
              <a:rPr sz="2800" dirty="0"/>
              <a:t>,</a:t>
            </a:r>
            <a:br>
              <a:rPr sz="2800" dirty="0"/>
            </a:br>
            <a:r>
              <a:rPr sz="2800" dirty="0"/>
              <a:t>      "-": lambda </a:t>
            </a:r>
            <a:r>
              <a:rPr sz="2800" dirty="0" err="1"/>
              <a:t>x,y</a:t>
            </a:r>
            <a:r>
              <a:rPr sz="2800" dirty="0"/>
              <a:t>: x-y,</a:t>
            </a:r>
            <a:br>
              <a:rPr sz="2800" dirty="0"/>
            </a:br>
            <a:r>
              <a:rPr sz="2800" dirty="0"/>
              <a:t>      "*": lambda </a:t>
            </a:r>
            <a:r>
              <a:rPr sz="2800" dirty="0" err="1"/>
              <a:t>x,y</a:t>
            </a:r>
            <a:r>
              <a:rPr sz="2800" dirty="0"/>
              <a:t>: x*y,</a:t>
            </a:r>
            <a:br>
              <a:rPr sz="2800" dirty="0"/>
            </a:br>
            <a:r>
              <a:rPr sz="2800" dirty="0"/>
              <a:t>      "/": lambda </a:t>
            </a:r>
            <a:r>
              <a:rPr sz="2800" dirty="0" err="1"/>
              <a:t>x,y</a:t>
            </a:r>
            <a:r>
              <a:rPr sz="2800" dirty="0"/>
              <a:t>: x/y}</a:t>
            </a:r>
            <a:br>
              <a:rPr sz="2800" dirty="0"/>
            </a:br>
            <a:br>
              <a:rPr sz="2800" dirty="0"/>
            </a:br>
            <a:r>
              <a:rPr sz="2800" dirty="0"/>
              <a:t>_, a, op, b = </a:t>
            </a:r>
            <a:r>
              <a:rPr sz="2800" dirty="0" err="1"/>
              <a:t>sys.argv</a:t>
            </a:r>
            <a:br>
              <a:rPr sz="2800" dirty="0"/>
            </a:br>
            <a:r>
              <a:rPr sz="2800" dirty="0"/>
              <a:t>print(ops[op](float(a), float(b)))</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D1B6-D528-D0DD-4189-875D09D73BE5}"/>
              </a:ext>
            </a:extLst>
          </p:cNvPr>
          <p:cNvSpPr>
            <a:spLocks noGrp="1"/>
          </p:cNvSpPr>
          <p:nvPr>
            <p:ph type="title"/>
          </p:nvPr>
        </p:nvSpPr>
        <p:spPr/>
        <p:txBody>
          <a:bodyPr>
            <a:normAutofit/>
          </a:bodyPr>
          <a:lstStyle/>
          <a:p>
            <a:r>
              <a:rPr lang="en-US" dirty="0"/>
              <a:t>Getting Help in Python</a:t>
            </a:r>
            <a:endParaRPr lang="en-SG" dirty="0"/>
          </a:p>
        </p:txBody>
      </p:sp>
      <p:sp>
        <p:nvSpPr>
          <p:cNvPr id="3" name="Content Placeholder 2">
            <a:extLst>
              <a:ext uri="{FF2B5EF4-FFF2-40B4-BE49-F238E27FC236}">
                <a16:creationId xmlns:a16="http://schemas.microsoft.com/office/drawing/2014/main" id="{EB2F5F6C-43AB-ECAA-4EC0-D1C3E4C793F5}"/>
              </a:ext>
            </a:extLst>
          </p:cNvPr>
          <p:cNvSpPr>
            <a:spLocks noGrp="1"/>
          </p:cNvSpPr>
          <p:nvPr>
            <p:ph idx="1"/>
          </p:nvPr>
        </p:nvSpPr>
        <p:spPr/>
        <p:txBody>
          <a:bodyPr/>
          <a:lstStyle/>
          <a:p>
            <a:r>
              <a:rPr lang="en-US" dirty="0"/>
              <a:t>Python is </a:t>
            </a:r>
            <a:r>
              <a:rPr lang="en-US" b="1" dirty="0"/>
              <a:t>self-describing</a:t>
            </a:r>
            <a:endParaRPr lang="en-US" dirty="0"/>
          </a:p>
          <a:p>
            <a:r>
              <a:rPr lang="en-US" dirty="0"/>
              <a:t>Engineers should </a:t>
            </a:r>
            <a:r>
              <a:rPr lang="en-US" b="1" dirty="0"/>
              <a:t>inspect, not guess</a:t>
            </a:r>
            <a:endParaRPr lang="en-US" dirty="0"/>
          </a:p>
          <a:p>
            <a:r>
              <a:rPr lang="en-US" dirty="0"/>
              <a:t>Built-in help tools reduce context-switching</a:t>
            </a:r>
          </a:p>
          <a:p>
            <a:r>
              <a:rPr lang="en-US" b="1" dirty="0"/>
              <a:t>Outcome:</a:t>
            </a:r>
            <a:r>
              <a:rPr lang="en-US" dirty="0"/>
              <a:t> engineers navigate unfamiliar codebases faster</a:t>
            </a:r>
          </a:p>
          <a:p>
            <a:endParaRPr lang="en-US" dirty="0"/>
          </a:p>
          <a:p>
            <a:endParaRPr lang="en-SG" dirty="0"/>
          </a:p>
        </p:txBody>
      </p:sp>
    </p:spTree>
    <p:extLst>
      <p:ext uri="{BB962C8B-B14F-4D97-AF65-F5344CB8AC3E}">
        <p14:creationId xmlns:p14="http://schemas.microsoft.com/office/powerpoint/2010/main" val="396541957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D0F82-046E-8504-4158-9C0C8B5D97BB}"/>
              </a:ext>
            </a:extLst>
          </p:cNvPr>
          <p:cNvSpPr>
            <a:spLocks noGrp="1"/>
          </p:cNvSpPr>
          <p:nvPr>
            <p:ph type="title"/>
          </p:nvPr>
        </p:nvSpPr>
        <p:spPr/>
        <p:txBody>
          <a:bodyPr>
            <a:normAutofit/>
          </a:bodyPr>
          <a:lstStyle/>
          <a:p>
            <a:r>
              <a:rPr lang="en-US" dirty="0"/>
              <a:t>help() — The Built-In Manual</a:t>
            </a:r>
            <a:endParaRPr lang="en-SG" dirty="0"/>
          </a:p>
        </p:txBody>
      </p:sp>
      <p:sp>
        <p:nvSpPr>
          <p:cNvPr id="3" name="Content Placeholder 2">
            <a:extLst>
              <a:ext uri="{FF2B5EF4-FFF2-40B4-BE49-F238E27FC236}">
                <a16:creationId xmlns:a16="http://schemas.microsoft.com/office/drawing/2014/main" id="{E9C6DEF8-4C0F-2FF0-3AE8-9A02EF259D0A}"/>
              </a:ext>
            </a:extLst>
          </p:cNvPr>
          <p:cNvSpPr>
            <a:spLocks noGrp="1"/>
          </p:cNvSpPr>
          <p:nvPr>
            <p:ph idx="1"/>
          </p:nvPr>
        </p:nvSpPr>
        <p:spPr/>
        <p:txBody>
          <a:bodyPr>
            <a:normAutofit fontScale="92500" lnSpcReduction="20000"/>
          </a:bodyPr>
          <a:lstStyle/>
          <a:p>
            <a:r>
              <a:rPr lang="en-US" dirty="0"/>
              <a:t>Displays documentation for:</a:t>
            </a:r>
          </a:p>
          <a:p>
            <a:pPr lvl="1"/>
            <a:r>
              <a:rPr lang="en-US" dirty="0"/>
              <a:t>functions</a:t>
            </a:r>
          </a:p>
          <a:p>
            <a:pPr lvl="1"/>
            <a:r>
              <a:rPr lang="en-US" dirty="0"/>
              <a:t>classes</a:t>
            </a:r>
          </a:p>
          <a:p>
            <a:pPr lvl="1"/>
            <a:r>
              <a:rPr lang="en-US" dirty="0"/>
              <a:t>modules</a:t>
            </a:r>
          </a:p>
          <a:p>
            <a:r>
              <a:rPr lang="en-US" dirty="0"/>
              <a:t>Shows:</a:t>
            </a:r>
          </a:p>
          <a:p>
            <a:pPr lvl="1"/>
            <a:r>
              <a:rPr lang="en-US" dirty="0"/>
              <a:t>purpose</a:t>
            </a:r>
          </a:p>
          <a:p>
            <a:pPr lvl="1"/>
            <a:r>
              <a:rPr lang="en-US" dirty="0"/>
              <a:t>parameters</a:t>
            </a:r>
          </a:p>
          <a:p>
            <a:pPr lvl="1"/>
            <a:r>
              <a:rPr lang="en-US" dirty="0"/>
              <a:t>return values</a:t>
            </a:r>
          </a:p>
          <a:p>
            <a:pPr lvl="1"/>
            <a:r>
              <a:rPr lang="en-US" dirty="0"/>
              <a:t>usage notes</a:t>
            </a:r>
          </a:p>
          <a:p>
            <a:pPr marL="0" indent="0">
              <a:buNone/>
            </a:pPr>
            <a:r>
              <a:rPr lang="en-US" b="1" dirty="0"/>
              <a:t>Mental model: </a:t>
            </a:r>
            <a:r>
              <a:rPr lang="en-US" dirty="0"/>
              <a:t>help() answers </a:t>
            </a:r>
            <a:r>
              <a:rPr lang="en-US" i="1" dirty="0"/>
              <a:t>“How do I use this?”</a:t>
            </a:r>
            <a:endParaRPr lang="en-US" dirty="0"/>
          </a:p>
          <a:p>
            <a:endParaRPr lang="en-SG" dirty="0"/>
          </a:p>
        </p:txBody>
      </p:sp>
    </p:spTree>
    <p:extLst>
      <p:ext uri="{BB962C8B-B14F-4D97-AF65-F5344CB8AC3E}">
        <p14:creationId xmlns:p14="http://schemas.microsoft.com/office/powerpoint/2010/main" val="201551728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3C0FF-71FB-6174-2B74-FD714CB0EA7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BD0C33E-02D4-F219-235E-E39489858227}"/>
              </a:ext>
            </a:extLst>
          </p:cNvPr>
          <p:cNvSpPr>
            <a:spLocks noGrp="1"/>
          </p:cNvSpPr>
          <p:nvPr>
            <p:ph type="title"/>
          </p:nvPr>
        </p:nvSpPr>
        <p:spPr>
          <a:xfrm>
            <a:off x="457199" y="160337"/>
            <a:ext cx="8229600" cy="1143000"/>
          </a:xfrm>
        </p:spPr>
        <p:txBody>
          <a:bodyPr/>
          <a:lstStyle/>
          <a:p>
            <a:r>
              <a:rPr lang="en-US" dirty="0"/>
              <a:t>Using help() Effectively</a:t>
            </a:r>
          </a:p>
        </p:txBody>
      </p:sp>
      <p:sp>
        <p:nvSpPr>
          <p:cNvPr id="8" name="Content Placeholder 7">
            <a:extLst>
              <a:ext uri="{FF2B5EF4-FFF2-40B4-BE49-F238E27FC236}">
                <a16:creationId xmlns:a16="http://schemas.microsoft.com/office/drawing/2014/main" id="{400BFB3E-7F33-F14E-4EEC-F35273278CF8}"/>
              </a:ext>
            </a:extLst>
          </p:cNvPr>
          <p:cNvSpPr>
            <a:spLocks noGrp="1"/>
          </p:cNvSpPr>
          <p:nvPr>
            <p:ph idx="1"/>
          </p:nvPr>
        </p:nvSpPr>
        <p:spPr>
          <a:xfrm>
            <a:off x="457199" y="1600200"/>
            <a:ext cx="52578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help(</a:t>
            </a:r>
            <a:r>
              <a:rPr lang="en-US" dirty="0" err="1"/>
              <a:t>len</a:t>
            </a:r>
            <a:r>
              <a:rPr lang="en-US" dirty="0"/>
              <a:t>)</a:t>
            </a:r>
          </a:p>
          <a:p>
            <a:pPr marL="0" indent="0">
              <a:buNone/>
            </a:pPr>
            <a:r>
              <a:rPr lang="en-US" dirty="0"/>
              <a:t>help(</a:t>
            </a:r>
            <a:r>
              <a:rPr lang="en-US" dirty="0" err="1"/>
              <a:t>str.upper</a:t>
            </a:r>
            <a:r>
              <a:rPr lang="en-US" dirty="0"/>
              <a:t>)</a:t>
            </a:r>
          </a:p>
          <a:p>
            <a:pPr marL="0" indent="0">
              <a:buNone/>
            </a:pPr>
            <a:r>
              <a:rPr lang="en-US" dirty="0"/>
              <a:t>help(list)</a:t>
            </a:r>
          </a:p>
        </p:txBody>
      </p:sp>
      <p:sp>
        <p:nvSpPr>
          <p:cNvPr id="10" name="Content Placeholder 7">
            <a:extLst>
              <a:ext uri="{FF2B5EF4-FFF2-40B4-BE49-F238E27FC236}">
                <a16:creationId xmlns:a16="http://schemas.microsoft.com/office/drawing/2014/main" id="{8DA9AE16-0A8D-98A9-63BD-2FCC993B6C1A}"/>
              </a:ext>
            </a:extLst>
          </p:cNvPr>
          <p:cNvSpPr txBox="1">
            <a:spLocks/>
          </p:cNvSpPr>
          <p:nvPr/>
        </p:nvSpPr>
        <p:spPr>
          <a:xfrm>
            <a:off x="6094412" y="1600200"/>
            <a:ext cx="5637213"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Use in REPL, notebooks, or scripts</a:t>
            </a:r>
          </a:p>
          <a:p>
            <a:r>
              <a:rPr lang="en-US" dirty="0"/>
              <a:t>Works on:</a:t>
            </a:r>
          </a:p>
          <a:p>
            <a:pPr lvl="1"/>
            <a:r>
              <a:rPr lang="en-US" dirty="0"/>
              <a:t>names</a:t>
            </a:r>
          </a:p>
          <a:p>
            <a:pPr lvl="1"/>
            <a:r>
              <a:rPr lang="en-US" dirty="0"/>
              <a:t>objects</a:t>
            </a:r>
          </a:p>
          <a:p>
            <a:pPr lvl="1"/>
            <a:r>
              <a:rPr lang="en-US" dirty="0"/>
              <a:t>modules</a:t>
            </a:r>
          </a:p>
        </p:txBody>
      </p:sp>
    </p:spTree>
    <p:extLst>
      <p:ext uri="{BB962C8B-B14F-4D97-AF65-F5344CB8AC3E}">
        <p14:creationId xmlns:p14="http://schemas.microsoft.com/office/powerpoint/2010/main" val="167220885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BA0DB-0693-50D8-E615-82D2F4BD5775}"/>
              </a:ext>
            </a:extLst>
          </p:cNvPr>
          <p:cNvSpPr>
            <a:spLocks noGrp="1"/>
          </p:cNvSpPr>
          <p:nvPr>
            <p:ph type="title"/>
          </p:nvPr>
        </p:nvSpPr>
        <p:spPr/>
        <p:txBody>
          <a:bodyPr>
            <a:normAutofit/>
          </a:bodyPr>
          <a:lstStyle/>
          <a:p>
            <a:r>
              <a:rPr lang="en-US" dirty="0"/>
              <a:t>When to Use help()</a:t>
            </a:r>
            <a:endParaRPr lang="en-SG" dirty="0"/>
          </a:p>
        </p:txBody>
      </p:sp>
      <p:sp>
        <p:nvSpPr>
          <p:cNvPr id="3" name="Content Placeholder 2">
            <a:extLst>
              <a:ext uri="{FF2B5EF4-FFF2-40B4-BE49-F238E27FC236}">
                <a16:creationId xmlns:a16="http://schemas.microsoft.com/office/drawing/2014/main" id="{F8008DA9-768E-DF54-C404-C3F35F9736EA}"/>
              </a:ext>
            </a:extLst>
          </p:cNvPr>
          <p:cNvSpPr>
            <a:spLocks noGrp="1"/>
          </p:cNvSpPr>
          <p:nvPr>
            <p:ph idx="1"/>
          </p:nvPr>
        </p:nvSpPr>
        <p:spPr/>
        <p:txBody>
          <a:bodyPr/>
          <a:lstStyle/>
          <a:p>
            <a:r>
              <a:rPr lang="en-US" dirty="0"/>
              <a:t>Learning a new API</a:t>
            </a:r>
          </a:p>
          <a:p>
            <a:r>
              <a:rPr lang="en-US" dirty="0"/>
              <a:t>Understanding method behavior</a:t>
            </a:r>
          </a:p>
          <a:p>
            <a:r>
              <a:rPr lang="en-US" dirty="0"/>
              <a:t>Confirming arguments and defaults</a:t>
            </a:r>
          </a:p>
          <a:p>
            <a:r>
              <a:rPr lang="en-US" dirty="0"/>
              <a:t>Verifying return types</a:t>
            </a:r>
          </a:p>
          <a:p>
            <a:endParaRPr lang="en-SG" dirty="0"/>
          </a:p>
        </p:txBody>
      </p:sp>
    </p:spTree>
    <p:extLst>
      <p:ext uri="{BB962C8B-B14F-4D97-AF65-F5344CB8AC3E}">
        <p14:creationId xmlns:p14="http://schemas.microsoft.com/office/powerpoint/2010/main" val="324200872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BBF5C-1332-5BC8-9A24-54B905777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95A71-6DE4-43EA-60EE-A4FAE8CD7B57}"/>
              </a:ext>
            </a:extLst>
          </p:cNvPr>
          <p:cNvSpPr>
            <a:spLocks noGrp="1"/>
          </p:cNvSpPr>
          <p:nvPr>
            <p:ph type="title"/>
          </p:nvPr>
        </p:nvSpPr>
        <p:spPr/>
        <p:txBody>
          <a:bodyPr>
            <a:normAutofit/>
          </a:bodyPr>
          <a:lstStyle/>
          <a:p>
            <a:r>
              <a:rPr lang="en-US" dirty="0" err="1"/>
              <a:t>dir</a:t>
            </a:r>
            <a:r>
              <a:rPr lang="en-US" dirty="0"/>
              <a:t>() — Discover What Exists</a:t>
            </a:r>
          </a:p>
        </p:txBody>
      </p:sp>
      <p:sp>
        <p:nvSpPr>
          <p:cNvPr id="3" name="Content Placeholder 2">
            <a:extLst>
              <a:ext uri="{FF2B5EF4-FFF2-40B4-BE49-F238E27FC236}">
                <a16:creationId xmlns:a16="http://schemas.microsoft.com/office/drawing/2014/main" id="{C3C51C92-712A-F809-93D0-95E4AF0651DA}"/>
              </a:ext>
            </a:extLst>
          </p:cNvPr>
          <p:cNvSpPr>
            <a:spLocks noGrp="1"/>
          </p:cNvSpPr>
          <p:nvPr>
            <p:ph idx="1"/>
          </p:nvPr>
        </p:nvSpPr>
        <p:spPr>
          <a:xfrm>
            <a:off x="457200" y="1600200"/>
            <a:ext cx="9855200" cy="4525963"/>
          </a:xfrm>
        </p:spPr>
        <p:txBody>
          <a:bodyPr/>
          <a:lstStyle/>
          <a:p>
            <a:r>
              <a:rPr lang="en-US" dirty="0"/>
              <a:t>Lists available:</a:t>
            </a:r>
          </a:p>
          <a:p>
            <a:pPr lvl="1"/>
            <a:r>
              <a:rPr lang="en-US" dirty="0"/>
              <a:t>attributes</a:t>
            </a:r>
          </a:p>
          <a:p>
            <a:pPr lvl="1"/>
            <a:r>
              <a:rPr lang="en-US" dirty="0"/>
              <a:t>methods</a:t>
            </a:r>
          </a:p>
          <a:p>
            <a:r>
              <a:rPr lang="en-US" dirty="0"/>
              <a:t>Works on any object</a:t>
            </a:r>
          </a:p>
          <a:p>
            <a:pPr marL="0" indent="0">
              <a:buNone/>
            </a:pPr>
            <a:endParaRPr lang="en-US" b="1" dirty="0"/>
          </a:p>
          <a:p>
            <a:pPr marL="0" indent="0">
              <a:buNone/>
            </a:pPr>
            <a:r>
              <a:rPr lang="en-US" b="1" dirty="0"/>
              <a:t>Mental model: </a:t>
            </a:r>
            <a:r>
              <a:rPr lang="en-US" dirty="0" err="1"/>
              <a:t>dir</a:t>
            </a:r>
            <a:r>
              <a:rPr lang="en-US" dirty="0"/>
              <a:t>() answers </a:t>
            </a:r>
            <a:r>
              <a:rPr lang="en-US" i="1" dirty="0"/>
              <a:t>“What can this do?”</a:t>
            </a:r>
            <a:endParaRPr lang="en-US" dirty="0"/>
          </a:p>
        </p:txBody>
      </p:sp>
    </p:spTree>
    <p:extLst>
      <p:ext uri="{BB962C8B-B14F-4D97-AF65-F5344CB8AC3E}">
        <p14:creationId xmlns:p14="http://schemas.microsoft.com/office/powerpoint/2010/main" val="352399945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777AA-F059-F508-5897-BE68857FD19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12797FC-C5D2-1E74-50D6-5BB8291BFCF5}"/>
              </a:ext>
            </a:extLst>
          </p:cNvPr>
          <p:cNvSpPr>
            <a:spLocks noGrp="1"/>
          </p:cNvSpPr>
          <p:nvPr>
            <p:ph type="title"/>
          </p:nvPr>
        </p:nvSpPr>
        <p:spPr>
          <a:xfrm>
            <a:off x="457199" y="160337"/>
            <a:ext cx="8229600" cy="1143000"/>
          </a:xfrm>
        </p:spPr>
        <p:txBody>
          <a:bodyPr/>
          <a:lstStyle/>
          <a:p>
            <a:r>
              <a:rPr lang="en-SG" b="1" dirty="0"/>
              <a:t>Using </a:t>
            </a:r>
            <a:r>
              <a:rPr lang="en-SG" b="1" dirty="0" err="1"/>
              <a:t>dir</a:t>
            </a:r>
            <a:r>
              <a:rPr lang="en-SG" b="1" dirty="0"/>
              <a:t>()</a:t>
            </a:r>
          </a:p>
        </p:txBody>
      </p:sp>
      <p:sp>
        <p:nvSpPr>
          <p:cNvPr id="8" name="Content Placeholder 7">
            <a:extLst>
              <a:ext uri="{FF2B5EF4-FFF2-40B4-BE49-F238E27FC236}">
                <a16:creationId xmlns:a16="http://schemas.microsoft.com/office/drawing/2014/main" id="{9C779114-9D09-A517-C615-E6E374319512}"/>
              </a:ext>
            </a:extLst>
          </p:cNvPr>
          <p:cNvSpPr>
            <a:spLocks noGrp="1"/>
          </p:cNvSpPr>
          <p:nvPr>
            <p:ph idx="1"/>
          </p:nvPr>
        </p:nvSpPr>
        <p:spPr>
          <a:xfrm>
            <a:off x="457199" y="1600200"/>
            <a:ext cx="5257801"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err="1"/>
              <a:t>dir</a:t>
            </a:r>
            <a:r>
              <a:rPr lang="en-US" dirty="0"/>
              <a:t>(text)</a:t>
            </a:r>
          </a:p>
          <a:p>
            <a:pPr marL="0" indent="0">
              <a:buNone/>
            </a:pPr>
            <a:r>
              <a:rPr lang="en-US" dirty="0" err="1"/>
              <a:t>dir</a:t>
            </a:r>
            <a:r>
              <a:rPr lang="en-US" dirty="0"/>
              <a:t>(list)</a:t>
            </a:r>
          </a:p>
          <a:p>
            <a:pPr marL="0" indent="0">
              <a:buNone/>
            </a:pPr>
            <a:r>
              <a:rPr lang="en-US" dirty="0" err="1"/>
              <a:t>dir</a:t>
            </a:r>
            <a:r>
              <a:rPr lang="en-US" dirty="0"/>
              <a:t>(module)</a:t>
            </a:r>
          </a:p>
        </p:txBody>
      </p:sp>
      <p:sp>
        <p:nvSpPr>
          <p:cNvPr id="10" name="Content Placeholder 7">
            <a:extLst>
              <a:ext uri="{FF2B5EF4-FFF2-40B4-BE49-F238E27FC236}">
                <a16:creationId xmlns:a16="http://schemas.microsoft.com/office/drawing/2014/main" id="{6CC07383-9973-DAE3-241C-6262E0C8E68D}"/>
              </a:ext>
            </a:extLst>
          </p:cNvPr>
          <p:cNvSpPr txBox="1">
            <a:spLocks/>
          </p:cNvSpPr>
          <p:nvPr/>
        </p:nvSpPr>
        <p:spPr>
          <a:xfrm>
            <a:off x="6094412" y="1600200"/>
            <a:ext cx="5637213"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Returns attribute names only</a:t>
            </a:r>
          </a:p>
          <a:p>
            <a:endParaRPr lang="en-US" dirty="0"/>
          </a:p>
          <a:p>
            <a:r>
              <a:rPr lang="en-US" dirty="0"/>
              <a:t>Does not explain behavior</a:t>
            </a:r>
          </a:p>
        </p:txBody>
      </p:sp>
    </p:spTree>
    <p:extLst>
      <p:ext uri="{BB962C8B-B14F-4D97-AF65-F5344CB8AC3E}">
        <p14:creationId xmlns:p14="http://schemas.microsoft.com/office/powerpoint/2010/main" val="811225524"/>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B6FFE-CE0D-1865-4CDE-2C6EF9CD95A0}"/>
              </a:ext>
            </a:extLst>
          </p:cNvPr>
          <p:cNvSpPr>
            <a:spLocks noGrp="1"/>
          </p:cNvSpPr>
          <p:nvPr>
            <p:ph type="title"/>
          </p:nvPr>
        </p:nvSpPr>
        <p:spPr/>
        <p:txBody>
          <a:bodyPr>
            <a:normAutofit/>
          </a:bodyPr>
          <a:lstStyle/>
          <a:p>
            <a:r>
              <a:rPr lang="en-SG" b="1" dirty="0" err="1"/>
              <a:t>dir</a:t>
            </a:r>
            <a:r>
              <a:rPr lang="en-SG" b="1" dirty="0"/>
              <a:t>() vs help()</a:t>
            </a:r>
            <a:endParaRPr lang="en-SG" dirty="0"/>
          </a:p>
        </p:txBody>
      </p:sp>
      <p:graphicFrame>
        <p:nvGraphicFramePr>
          <p:cNvPr id="4" name="Table 3">
            <a:extLst>
              <a:ext uri="{FF2B5EF4-FFF2-40B4-BE49-F238E27FC236}">
                <a16:creationId xmlns:a16="http://schemas.microsoft.com/office/drawing/2014/main" id="{86C99343-4927-CED7-2959-EF5B6A4F227B}"/>
              </a:ext>
            </a:extLst>
          </p:cNvPr>
          <p:cNvGraphicFramePr>
            <a:graphicFrameLocks noGrp="1"/>
          </p:cNvGraphicFramePr>
          <p:nvPr>
            <p:extLst>
              <p:ext uri="{D42A27DB-BD31-4B8C-83A1-F6EECF244321}">
                <p14:modId xmlns:p14="http://schemas.microsoft.com/office/powerpoint/2010/main" val="1415784011"/>
              </p:ext>
            </p:extLst>
          </p:nvPr>
        </p:nvGraphicFramePr>
        <p:xfrm>
          <a:off x="252412" y="2158682"/>
          <a:ext cx="11684000" cy="3627120"/>
        </p:xfrm>
        <a:graphic>
          <a:graphicData uri="http://schemas.openxmlformats.org/drawingml/2006/table">
            <a:tbl>
              <a:tblPr/>
              <a:tblGrid>
                <a:gridCol w="5842000">
                  <a:extLst>
                    <a:ext uri="{9D8B030D-6E8A-4147-A177-3AD203B41FA5}">
                      <a16:colId xmlns:a16="http://schemas.microsoft.com/office/drawing/2014/main" val="1160505537"/>
                    </a:ext>
                  </a:extLst>
                </a:gridCol>
                <a:gridCol w="5842000">
                  <a:extLst>
                    <a:ext uri="{9D8B030D-6E8A-4147-A177-3AD203B41FA5}">
                      <a16:colId xmlns:a16="http://schemas.microsoft.com/office/drawing/2014/main" val="267623663"/>
                    </a:ext>
                  </a:extLst>
                </a:gridCol>
              </a:tblGrid>
              <a:tr h="0">
                <a:tc>
                  <a:txBody>
                    <a:bodyPr/>
                    <a:lstStyle/>
                    <a:p>
                      <a:pPr>
                        <a:buNone/>
                      </a:pPr>
                      <a:r>
                        <a:rPr lang="en-SG" sz="4400" b="1" dirty="0"/>
                        <a:t>Tool</a:t>
                      </a:r>
                    </a:p>
                  </a:txBody>
                  <a:tcPr anchor="ctr">
                    <a:lnL>
                      <a:noFill/>
                    </a:lnL>
                    <a:lnR>
                      <a:noFill/>
                    </a:lnR>
                    <a:lnT>
                      <a:noFill/>
                    </a:lnT>
                    <a:lnB>
                      <a:noFill/>
                    </a:lnB>
                    <a:noFill/>
                  </a:tcPr>
                </a:tc>
                <a:tc>
                  <a:txBody>
                    <a:bodyPr/>
                    <a:lstStyle/>
                    <a:p>
                      <a:pPr>
                        <a:buNone/>
                      </a:pPr>
                      <a:r>
                        <a:rPr lang="en-SG" sz="4400" b="1" dirty="0"/>
                        <a:t>Purpose</a:t>
                      </a:r>
                    </a:p>
                  </a:txBody>
                  <a:tcPr anchor="ctr">
                    <a:lnL>
                      <a:noFill/>
                    </a:lnL>
                    <a:lnR>
                      <a:noFill/>
                    </a:lnR>
                    <a:lnT>
                      <a:noFill/>
                    </a:lnT>
                    <a:lnB>
                      <a:noFill/>
                    </a:lnB>
                    <a:noFill/>
                  </a:tcPr>
                </a:tc>
                <a:extLst>
                  <a:ext uri="{0D108BD9-81ED-4DB2-BD59-A6C34878D82A}">
                    <a16:rowId xmlns:a16="http://schemas.microsoft.com/office/drawing/2014/main" val="291263717"/>
                  </a:ext>
                </a:extLst>
              </a:tr>
              <a:tr h="0">
                <a:tc>
                  <a:txBody>
                    <a:bodyPr/>
                    <a:lstStyle/>
                    <a:p>
                      <a:pPr>
                        <a:buNone/>
                      </a:pPr>
                      <a:r>
                        <a:rPr lang="en-SG" sz="4400">
                          <a:latin typeface="Courier New" panose="02070309020205020404" pitchFamily="49" charset="0"/>
                        </a:rPr>
                        <a:t>dir()</a:t>
                      </a:r>
                      <a:endParaRPr lang="en-SG" sz="4400"/>
                    </a:p>
                  </a:txBody>
                  <a:tcPr anchor="ctr">
                    <a:lnL>
                      <a:noFill/>
                    </a:lnL>
                    <a:lnR>
                      <a:noFill/>
                    </a:lnR>
                    <a:lnT>
                      <a:noFill/>
                    </a:lnT>
                    <a:lnB>
                      <a:noFill/>
                    </a:lnB>
                    <a:noFill/>
                  </a:tcPr>
                </a:tc>
                <a:tc>
                  <a:txBody>
                    <a:bodyPr/>
                    <a:lstStyle/>
                    <a:p>
                      <a:pPr>
                        <a:buNone/>
                      </a:pPr>
                      <a:r>
                        <a:rPr lang="en-SG" sz="4400" dirty="0"/>
                        <a:t>Discover available names</a:t>
                      </a:r>
                    </a:p>
                  </a:txBody>
                  <a:tcPr anchor="ctr">
                    <a:lnL>
                      <a:noFill/>
                    </a:lnL>
                    <a:lnR>
                      <a:noFill/>
                    </a:lnR>
                    <a:lnT>
                      <a:noFill/>
                    </a:lnT>
                    <a:lnB>
                      <a:noFill/>
                    </a:lnB>
                    <a:noFill/>
                  </a:tcPr>
                </a:tc>
                <a:extLst>
                  <a:ext uri="{0D108BD9-81ED-4DB2-BD59-A6C34878D82A}">
                    <a16:rowId xmlns:a16="http://schemas.microsoft.com/office/drawing/2014/main" val="220491180"/>
                  </a:ext>
                </a:extLst>
              </a:tr>
              <a:tr h="0">
                <a:tc>
                  <a:txBody>
                    <a:bodyPr/>
                    <a:lstStyle/>
                    <a:p>
                      <a:pPr>
                        <a:buNone/>
                      </a:pPr>
                      <a:r>
                        <a:rPr lang="en-SG" sz="4400">
                          <a:latin typeface="Courier New" panose="02070309020205020404" pitchFamily="49" charset="0"/>
                        </a:rPr>
                        <a:t>help()</a:t>
                      </a:r>
                      <a:endParaRPr lang="en-SG" sz="4400"/>
                    </a:p>
                  </a:txBody>
                  <a:tcPr anchor="ctr">
                    <a:lnL>
                      <a:noFill/>
                    </a:lnL>
                    <a:lnR>
                      <a:noFill/>
                    </a:lnR>
                    <a:lnT>
                      <a:noFill/>
                    </a:lnT>
                    <a:lnB>
                      <a:noFill/>
                    </a:lnB>
                    <a:noFill/>
                  </a:tcPr>
                </a:tc>
                <a:tc>
                  <a:txBody>
                    <a:bodyPr/>
                    <a:lstStyle/>
                    <a:p>
                      <a:pPr>
                        <a:buNone/>
                      </a:pPr>
                      <a:r>
                        <a:rPr lang="en-SG" sz="4400" dirty="0"/>
                        <a:t>Understand usage and </a:t>
                      </a:r>
                      <a:r>
                        <a:rPr lang="en-SG" sz="4400" dirty="0" err="1"/>
                        <a:t>behavior</a:t>
                      </a:r>
                      <a:endParaRPr lang="en-SG" sz="4400" dirty="0"/>
                    </a:p>
                  </a:txBody>
                  <a:tcPr anchor="ctr">
                    <a:lnL>
                      <a:noFill/>
                    </a:lnL>
                    <a:lnR>
                      <a:noFill/>
                    </a:lnR>
                    <a:lnT>
                      <a:noFill/>
                    </a:lnT>
                    <a:lnB>
                      <a:noFill/>
                    </a:lnB>
                    <a:noFill/>
                  </a:tcPr>
                </a:tc>
                <a:extLst>
                  <a:ext uri="{0D108BD9-81ED-4DB2-BD59-A6C34878D82A}">
                    <a16:rowId xmlns:a16="http://schemas.microsoft.com/office/drawing/2014/main" val="550580456"/>
                  </a:ext>
                </a:extLst>
              </a:tr>
            </a:tbl>
          </a:graphicData>
        </a:graphic>
      </p:graphicFrame>
    </p:spTree>
    <p:extLst>
      <p:ext uri="{BB962C8B-B14F-4D97-AF65-F5344CB8AC3E}">
        <p14:creationId xmlns:p14="http://schemas.microsoft.com/office/powerpoint/2010/main" val="25497207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E62F0-874F-3A34-33B1-053C292054ED}"/>
              </a:ext>
            </a:extLst>
          </p:cNvPr>
          <p:cNvSpPr>
            <a:spLocks noGrp="1"/>
          </p:cNvSpPr>
          <p:nvPr>
            <p:ph type="title"/>
          </p:nvPr>
        </p:nvSpPr>
        <p:spPr/>
        <p:txBody>
          <a:bodyPr>
            <a:normAutofit fontScale="90000"/>
          </a:bodyPr>
          <a:lstStyle/>
          <a:p>
            <a:r>
              <a:rPr lang="en-US" b="1" dirty="0" err="1"/>
              <a:t>dir</a:t>
            </a:r>
            <a:r>
              <a:rPr lang="en-US" b="1" dirty="0"/>
              <a:t>(</a:t>
            </a:r>
            <a:r>
              <a:rPr lang="en-US" b="1" dirty="0" err="1"/>
              <a:t>builtins</a:t>
            </a:r>
            <a:r>
              <a:rPr lang="en-US" b="1" dirty="0"/>
              <a:t>) — The Python Toolbox</a:t>
            </a:r>
            <a:endParaRPr lang="en-SG" dirty="0"/>
          </a:p>
        </p:txBody>
      </p:sp>
      <p:sp>
        <p:nvSpPr>
          <p:cNvPr id="3" name="Content Placeholder 2">
            <a:extLst>
              <a:ext uri="{FF2B5EF4-FFF2-40B4-BE49-F238E27FC236}">
                <a16:creationId xmlns:a16="http://schemas.microsoft.com/office/drawing/2014/main" id="{25811073-92B0-BBDA-E78D-45544411DBC5}"/>
              </a:ext>
            </a:extLst>
          </p:cNvPr>
          <p:cNvSpPr>
            <a:spLocks noGrp="1"/>
          </p:cNvSpPr>
          <p:nvPr>
            <p:ph idx="1"/>
          </p:nvPr>
        </p:nvSpPr>
        <p:spPr>
          <a:xfrm>
            <a:off x="457200" y="1600200"/>
            <a:ext cx="11404600" cy="4525963"/>
          </a:xfrm>
        </p:spPr>
        <p:txBody>
          <a:bodyPr>
            <a:normAutofit/>
          </a:bodyPr>
          <a:lstStyle/>
          <a:p>
            <a:r>
              <a:rPr lang="en-US" dirty="0"/>
              <a:t>Lists all built-in functions and objects</a:t>
            </a:r>
          </a:p>
          <a:p>
            <a:r>
              <a:rPr lang="en-US" dirty="0"/>
              <a:t>Reveals:</a:t>
            </a:r>
          </a:p>
          <a:p>
            <a:pPr lvl="1"/>
            <a:r>
              <a:rPr lang="en-US" dirty="0" err="1"/>
              <a:t>len</a:t>
            </a:r>
            <a:r>
              <a:rPr lang="en-US" dirty="0"/>
              <a:t>, range, enumerate</a:t>
            </a:r>
          </a:p>
          <a:p>
            <a:pPr lvl="1"/>
            <a:r>
              <a:rPr lang="en-US" dirty="0"/>
              <a:t>Exception, </a:t>
            </a:r>
            <a:r>
              <a:rPr lang="en-US" dirty="0" err="1"/>
              <a:t>ValueError</a:t>
            </a:r>
            <a:endParaRPr lang="en-US" dirty="0"/>
          </a:p>
          <a:p>
            <a:pPr lvl="1"/>
            <a:r>
              <a:rPr lang="en-US" dirty="0"/>
              <a:t>int, str, list</a:t>
            </a:r>
          </a:p>
          <a:p>
            <a:pPr lvl="1"/>
            <a:endParaRPr lang="en-US" dirty="0"/>
          </a:p>
          <a:p>
            <a:pPr marL="0" indent="0">
              <a:buNone/>
            </a:pPr>
            <a:r>
              <a:rPr lang="en-US" b="1" dirty="0"/>
              <a:t>Mental model: </a:t>
            </a:r>
            <a:r>
              <a:rPr lang="en-US" dirty="0"/>
              <a:t>Python ships with a full toolbox — know what’s already there</a:t>
            </a:r>
          </a:p>
          <a:p>
            <a:endParaRPr lang="en-SG" dirty="0"/>
          </a:p>
        </p:txBody>
      </p:sp>
    </p:spTree>
    <p:extLst>
      <p:ext uri="{BB962C8B-B14F-4D97-AF65-F5344CB8AC3E}">
        <p14:creationId xmlns:p14="http://schemas.microsoft.com/office/powerpoint/2010/main" val="379453471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77A3-46CD-7F0A-4578-B12EA8B9241D}"/>
              </a:ext>
            </a:extLst>
          </p:cNvPr>
          <p:cNvSpPr>
            <a:spLocks noGrp="1"/>
          </p:cNvSpPr>
          <p:nvPr>
            <p:ph type="title"/>
          </p:nvPr>
        </p:nvSpPr>
        <p:spPr/>
        <p:txBody>
          <a:bodyPr>
            <a:normAutofit/>
          </a:bodyPr>
          <a:lstStyle/>
          <a:p>
            <a:r>
              <a:rPr lang="en-US" b="1" dirty="0"/>
              <a:t>Why </a:t>
            </a:r>
            <a:r>
              <a:rPr lang="en-US" b="1" dirty="0" err="1"/>
              <a:t>builtins</a:t>
            </a:r>
            <a:r>
              <a:rPr lang="en-US" b="1" dirty="0"/>
              <a:t> Matters</a:t>
            </a:r>
            <a:endParaRPr lang="en-SG" dirty="0"/>
          </a:p>
        </p:txBody>
      </p:sp>
      <p:sp>
        <p:nvSpPr>
          <p:cNvPr id="3" name="Content Placeholder 2">
            <a:extLst>
              <a:ext uri="{FF2B5EF4-FFF2-40B4-BE49-F238E27FC236}">
                <a16:creationId xmlns:a16="http://schemas.microsoft.com/office/drawing/2014/main" id="{E39B3CEE-E76B-B3B4-AB32-FB6E461C9B59}"/>
              </a:ext>
            </a:extLst>
          </p:cNvPr>
          <p:cNvSpPr>
            <a:spLocks noGrp="1"/>
          </p:cNvSpPr>
          <p:nvPr>
            <p:ph idx="1"/>
          </p:nvPr>
        </p:nvSpPr>
        <p:spPr/>
        <p:txBody>
          <a:bodyPr/>
          <a:lstStyle/>
          <a:p>
            <a:r>
              <a:rPr lang="en-US" dirty="0"/>
              <a:t>Avoid reinventing utilities</a:t>
            </a:r>
          </a:p>
          <a:p>
            <a:r>
              <a:rPr lang="en-US" dirty="0"/>
              <a:t>Recognize standard patterns</a:t>
            </a:r>
          </a:p>
          <a:p>
            <a:r>
              <a:rPr lang="en-US" dirty="0"/>
              <a:t>Write more idiomatic Python</a:t>
            </a:r>
          </a:p>
          <a:p>
            <a:endParaRPr lang="en-SG" dirty="0"/>
          </a:p>
        </p:txBody>
      </p:sp>
    </p:spTree>
    <p:extLst>
      <p:ext uri="{BB962C8B-B14F-4D97-AF65-F5344CB8AC3E}">
        <p14:creationId xmlns:p14="http://schemas.microsoft.com/office/powerpoint/2010/main" val="167764076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0399-EB30-CB77-2209-CDBAA0FA6174}"/>
              </a:ext>
            </a:extLst>
          </p:cNvPr>
          <p:cNvSpPr>
            <a:spLocks noGrp="1"/>
          </p:cNvSpPr>
          <p:nvPr>
            <p:ph type="title"/>
          </p:nvPr>
        </p:nvSpPr>
        <p:spPr/>
        <p:txBody>
          <a:bodyPr>
            <a:normAutofit/>
          </a:bodyPr>
          <a:lstStyle/>
          <a:p>
            <a:r>
              <a:rPr lang="en-US" b="1" dirty="0"/>
              <a:t>Common Use Cases</a:t>
            </a:r>
            <a:endParaRPr lang="en-SG" dirty="0"/>
          </a:p>
        </p:txBody>
      </p:sp>
      <p:sp>
        <p:nvSpPr>
          <p:cNvPr id="3" name="Content Placeholder 2">
            <a:extLst>
              <a:ext uri="{FF2B5EF4-FFF2-40B4-BE49-F238E27FC236}">
                <a16:creationId xmlns:a16="http://schemas.microsoft.com/office/drawing/2014/main" id="{9AE0466B-2F14-8A20-AF40-C1E95F5F8268}"/>
              </a:ext>
            </a:extLst>
          </p:cNvPr>
          <p:cNvSpPr>
            <a:spLocks noGrp="1"/>
          </p:cNvSpPr>
          <p:nvPr>
            <p:ph idx="1"/>
          </p:nvPr>
        </p:nvSpPr>
        <p:spPr/>
        <p:txBody>
          <a:bodyPr/>
          <a:lstStyle/>
          <a:p>
            <a:r>
              <a:rPr lang="en-US" dirty="0"/>
              <a:t>Inspecting unfamiliar libraries</a:t>
            </a:r>
          </a:p>
          <a:p>
            <a:r>
              <a:rPr lang="en-US" dirty="0"/>
              <a:t>Debugging production objects</a:t>
            </a:r>
          </a:p>
          <a:p>
            <a:r>
              <a:rPr lang="en-US" dirty="0"/>
              <a:t>Rapid onboarding to legacy code</a:t>
            </a:r>
          </a:p>
          <a:p>
            <a:r>
              <a:rPr lang="en-US" dirty="0"/>
              <a:t>Exploring APIs interactively</a:t>
            </a:r>
          </a:p>
          <a:p>
            <a:endParaRPr lang="en-SG" dirty="0"/>
          </a:p>
        </p:txBody>
      </p:sp>
    </p:spTree>
    <p:extLst>
      <p:ext uri="{BB962C8B-B14F-4D97-AF65-F5344CB8AC3E}">
        <p14:creationId xmlns:p14="http://schemas.microsoft.com/office/powerpoint/2010/main" val="421254863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FAAB8-47FD-0572-9245-8FD00A258AF4}"/>
              </a:ext>
            </a:extLst>
          </p:cNvPr>
          <p:cNvSpPr>
            <a:spLocks noGrp="1"/>
          </p:cNvSpPr>
          <p:nvPr>
            <p:ph type="title"/>
          </p:nvPr>
        </p:nvSpPr>
        <p:spPr/>
        <p:txBody>
          <a:bodyPr>
            <a:normAutofit/>
          </a:bodyPr>
          <a:lstStyle/>
          <a:p>
            <a:r>
              <a:rPr lang="en-US" b="1" dirty="0"/>
              <a:t>Best Practices</a:t>
            </a:r>
            <a:endParaRPr lang="en-SG" dirty="0"/>
          </a:p>
        </p:txBody>
      </p:sp>
      <p:sp>
        <p:nvSpPr>
          <p:cNvPr id="3" name="Content Placeholder 2">
            <a:extLst>
              <a:ext uri="{FF2B5EF4-FFF2-40B4-BE49-F238E27FC236}">
                <a16:creationId xmlns:a16="http://schemas.microsoft.com/office/drawing/2014/main" id="{2E307097-0A3B-B606-24EF-CEB3027801F8}"/>
              </a:ext>
            </a:extLst>
          </p:cNvPr>
          <p:cNvSpPr>
            <a:spLocks noGrp="1"/>
          </p:cNvSpPr>
          <p:nvPr>
            <p:ph idx="1"/>
          </p:nvPr>
        </p:nvSpPr>
        <p:spPr/>
        <p:txBody>
          <a:bodyPr/>
          <a:lstStyle/>
          <a:p>
            <a:r>
              <a:rPr lang="en-US" dirty="0"/>
              <a:t>Start with </a:t>
            </a:r>
            <a:r>
              <a:rPr lang="en-US" dirty="0" err="1"/>
              <a:t>dir</a:t>
            </a:r>
            <a:r>
              <a:rPr lang="en-US" dirty="0"/>
              <a:t>() to discover</a:t>
            </a:r>
          </a:p>
          <a:p>
            <a:r>
              <a:rPr lang="en-US" dirty="0"/>
              <a:t>Use help() to understand</a:t>
            </a:r>
          </a:p>
          <a:p>
            <a:r>
              <a:rPr lang="en-US" dirty="0"/>
              <a:t>Prefer built-ins over custom helpers</a:t>
            </a:r>
          </a:p>
          <a:p>
            <a:r>
              <a:rPr lang="en-US" dirty="0"/>
              <a:t>Read docstrings in the REPL</a:t>
            </a:r>
          </a:p>
          <a:p>
            <a:endParaRPr lang="en-SG" dirty="0"/>
          </a:p>
        </p:txBody>
      </p:sp>
    </p:spTree>
    <p:extLst>
      <p:ext uri="{BB962C8B-B14F-4D97-AF65-F5344CB8AC3E}">
        <p14:creationId xmlns:p14="http://schemas.microsoft.com/office/powerpoint/2010/main" val="106105235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9907-8CFF-8E79-6094-D0DB91464E9B}"/>
              </a:ext>
            </a:extLst>
          </p:cNvPr>
          <p:cNvSpPr>
            <a:spLocks noGrp="1"/>
          </p:cNvSpPr>
          <p:nvPr>
            <p:ph type="title"/>
          </p:nvPr>
        </p:nvSpPr>
        <p:spPr/>
        <p:txBody>
          <a:bodyPr>
            <a:normAutofit/>
          </a:bodyPr>
          <a:lstStyle/>
          <a:p>
            <a:r>
              <a:rPr lang="en-US" b="1" dirty="0"/>
              <a:t>Key Takeaways</a:t>
            </a:r>
            <a:endParaRPr lang="en-SG" dirty="0"/>
          </a:p>
        </p:txBody>
      </p:sp>
      <p:sp>
        <p:nvSpPr>
          <p:cNvPr id="3" name="Content Placeholder 2">
            <a:extLst>
              <a:ext uri="{FF2B5EF4-FFF2-40B4-BE49-F238E27FC236}">
                <a16:creationId xmlns:a16="http://schemas.microsoft.com/office/drawing/2014/main" id="{6915035D-853A-DAE8-DE7F-801CC972AE5B}"/>
              </a:ext>
            </a:extLst>
          </p:cNvPr>
          <p:cNvSpPr>
            <a:spLocks noGrp="1"/>
          </p:cNvSpPr>
          <p:nvPr>
            <p:ph idx="1"/>
          </p:nvPr>
        </p:nvSpPr>
        <p:spPr>
          <a:xfrm>
            <a:off x="457200" y="1600200"/>
            <a:ext cx="10134600" cy="4525963"/>
          </a:xfrm>
        </p:spPr>
        <p:txBody>
          <a:bodyPr/>
          <a:lstStyle/>
          <a:p>
            <a:r>
              <a:rPr lang="en-US" dirty="0"/>
              <a:t>Python is introspectable by design</a:t>
            </a:r>
          </a:p>
          <a:p>
            <a:r>
              <a:rPr lang="en-US" dirty="0" err="1"/>
              <a:t>dir</a:t>
            </a:r>
            <a:r>
              <a:rPr lang="en-US" dirty="0"/>
              <a:t>() shows </a:t>
            </a:r>
            <a:r>
              <a:rPr lang="en-US" b="1" dirty="0"/>
              <a:t>what exists</a:t>
            </a:r>
            <a:endParaRPr lang="en-US" dirty="0"/>
          </a:p>
          <a:p>
            <a:r>
              <a:rPr lang="en-US" dirty="0"/>
              <a:t>help() explains </a:t>
            </a:r>
            <a:r>
              <a:rPr lang="en-US" b="1" dirty="0"/>
              <a:t>how to use it</a:t>
            </a:r>
            <a:endParaRPr lang="en-US" dirty="0"/>
          </a:p>
          <a:p>
            <a:r>
              <a:rPr lang="en-US" dirty="0" err="1"/>
              <a:t>builtins</a:t>
            </a:r>
            <a:r>
              <a:rPr lang="en-US" dirty="0"/>
              <a:t> prevents reinventing the wheel</a:t>
            </a:r>
          </a:p>
          <a:p>
            <a:endParaRPr lang="en-US" dirty="0"/>
          </a:p>
          <a:p>
            <a:pPr marL="0" indent="0">
              <a:buNone/>
            </a:pPr>
            <a:r>
              <a:rPr lang="en-US" b="1" dirty="0"/>
              <a:t>Final mental model: </a:t>
            </a:r>
            <a:r>
              <a:rPr lang="en-US" i="1" dirty="0"/>
              <a:t>Explore first. Code second.</a:t>
            </a:r>
            <a:endParaRPr lang="en-US" dirty="0"/>
          </a:p>
          <a:p>
            <a:endParaRPr lang="en-SG" dirty="0"/>
          </a:p>
        </p:txBody>
      </p:sp>
    </p:spTree>
    <p:extLst>
      <p:ext uri="{BB962C8B-B14F-4D97-AF65-F5344CB8AC3E}">
        <p14:creationId xmlns:p14="http://schemas.microsoft.com/office/powerpoint/2010/main" val="387740856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Module 2  INTERMEDIATE</a:t>
            </a:r>
          </a:p>
        </p:txBody>
      </p:sp>
      <p:sp>
        <p:nvSpPr>
          <p:cNvPr id="3" name="Subtitle 2"/>
          <p:cNvSpPr>
            <a:spLocks noGrp="1"/>
          </p:cNvSpPr>
          <p:nvPr>
            <p:ph type="subTitle" idx="1"/>
          </p:nvPr>
        </p:nvSpPr>
        <p:spPr/>
        <p:txBody>
          <a:bodyPr/>
          <a:lstStyle/>
          <a:p>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2 — Intermediate</a:t>
            </a:r>
          </a:p>
        </p:txBody>
      </p:sp>
      <p:sp>
        <p:nvSpPr>
          <p:cNvPr id="3" name="Content Placeholder 2"/>
          <p:cNvSpPr>
            <a:spLocks noGrp="1"/>
          </p:cNvSpPr>
          <p:nvPr>
            <p:ph idx="1"/>
          </p:nvPr>
        </p:nvSpPr>
        <p:spPr/>
        <p:txBody>
          <a:bodyPr/>
          <a:lstStyle/>
          <a:p>
            <a:r>
              <a:t>Structure larger programs</a:t>
            </a:r>
          </a:p>
          <a:p>
            <a:r>
              <a:t>Learn Object-Oriented Programming</a:t>
            </a:r>
          </a:p>
          <a:p>
            <a:r>
              <a:t>Work with files and modules</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EAEE-404F-4D18-6FC3-EDD66F80D232}"/>
              </a:ext>
            </a:extLst>
          </p:cNvPr>
          <p:cNvSpPr>
            <a:spLocks noGrp="1"/>
          </p:cNvSpPr>
          <p:nvPr>
            <p:ph type="title"/>
          </p:nvPr>
        </p:nvSpPr>
        <p:spPr/>
        <p:txBody>
          <a:bodyPr>
            <a:normAutofit/>
          </a:bodyPr>
          <a:lstStyle/>
          <a:p>
            <a:r>
              <a:rPr lang="en-US" dirty="0"/>
              <a:t>Clean Code Structure</a:t>
            </a:r>
            <a:endParaRPr lang="en-SG" dirty="0"/>
          </a:p>
        </p:txBody>
      </p:sp>
      <p:sp>
        <p:nvSpPr>
          <p:cNvPr id="3" name="Content Placeholder 2">
            <a:extLst>
              <a:ext uri="{FF2B5EF4-FFF2-40B4-BE49-F238E27FC236}">
                <a16:creationId xmlns:a16="http://schemas.microsoft.com/office/drawing/2014/main" id="{1BC9A6E3-0BC4-AA0B-5F1A-1664832EE296}"/>
              </a:ext>
            </a:extLst>
          </p:cNvPr>
          <p:cNvSpPr>
            <a:spLocks noGrp="1"/>
          </p:cNvSpPr>
          <p:nvPr>
            <p:ph idx="1"/>
          </p:nvPr>
        </p:nvSpPr>
        <p:spPr/>
        <p:txBody>
          <a:bodyPr/>
          <a:lstStyle/>
          <a:p>
            <a:r>
              <a:rPr lang="en-US" dirty="0"/>
              <a:t>One responsibility per module</a:t>
            </a:r>
          </a:p>
          <a:p>
            <a:r>
              <a:rPr lang="en-US" dirty="0"/>
              <a:t>Explicit imports define dependencies</a:t>
            </a:r>
          </a:p>
          <a:p>
            <a:r>
              <a:rPr lang="en-US" dirty="0"/>
              <a:t>Predictable layouts improve onboarding</a:t>
            </a:r>
          </a:p>
          <a:p>
            <a:endParaRPr lang="en-SG" dirty="0"/>
          </a:p>
        </p:txBody>
      </p:sp>
    </p:spTree>
    <p:extLst>
      <p:ext uri="{BB962C8B-B14F-4D97-AF65-F5344CB8AC3E}">
        <p14:creationId xmlns:p14="http://schemas.microsoft.com/office/powerpoint/2010/main" val="3322979635"/>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66659-3C48-D948-B9B2-8C36B3DA88DE}"/>
              </a:ext>
            </a:extLst>
          </p:cNvPr>
          <p:cNvSpPr>
            <a:spLocks noGrp="1"/>
          </p:cNvSpPr>
          <p:nvPr>
            <p:ph type="title"/>
          </p:nvPr>
        </p:nvSpPr>
        <p:spPr>
          <a:xfrm>
            <a:off x="457200" y="274638"/>
            <a:ext cx="10934700" cy="1143000"/>
          </a:xfrm>
        </p:spPr>
        <p:txBody>
          <a:bodyPr/>
          <a:lstStyle/>
          <a:p>
            <a:r>
              <a:rPr lang="en-US" b="1" dirty="0"/>
              <a:t>Object-Oriented Programming (OOP)</a:t>
            </a:r>
            <a:endParaRPr lang="en-SG" dirty="0"/>
          </a:p>
        </p:txBody>
      </p:sp>
      <p:sp>
        <p:nvSpPr>
          <p:cNvPr id="3" name="Content Placeholder 2">
            <a:extLst>
              <a:ext uri="{FF2B5EF4-FFF2-40B4-BE49-F238E27FC236}">
                <a16:creationId xmlns:a16="http://schemas.microsoft.com/office/drawing/2014/main" id="{9C1AF83F-AE13-3867-9524-790EDA45CD25}"/>
              </a:ext>
            </a:extLst>
          </p:cNvPr>
          <p:cNvSpPr>
            <a:spLocks noGrp="1"/>
          </p:cNvSpPr>
          <p:nvPr>
            <p:ph idx="1"/>
          </p:nvPr>
        </p:nvSpPr>
        <p:spPr>
          <a:xfrm>
            <a:off x="457200" y="1600200"/>
            <a:ext cx="10934700" cy="4525963"/>
          </a:xfrm>
        </p:spPr>
        <p:txBody>
          <a:bodyPr>
            <a:normAutofit fontScale="92500" lnSpcReduction="10000"/>
          </a:bodyPr>
          <a:lstStyle/>
          <a:p>
            <a:r>
              <a:rPr lang="en-US" dirty="0"/>
              <a:t>Python uses a class-based system to organize code into reusable objects.</a:t>
            </a:r>
          </a:p>
          <a:p>
            <a:r>
              <a:rPr lang="en-US" b="1" dirty="0"/>
              <a:t>Classes and Instances:</a:t>
            </a:r>
            <a:r>
              <a:rPr lang="en-US" dirty="0"/>
              <a:t> Use __</a:t>
            </a:r>
            <a:r>
              <a:rPr lang="en-US" dirty="0" err="1"/>
              <a:t>init</a:t>
            </a:r>
            <a:r>
              <a:rPr lang="en-US" dirty="0"/>
              <a:t>__ (the constructor) to initialize state.</a:t>
            </a:r>
          </a:p>
          <a:p>
            <a:r>
              <a:rPr lang="en-US" b="1" dirty="0"/>
              <a:t>The self Parameter:</a:t>
            </a:r>
            <a:r>
              <a:rPr lang="en-US" dirty="0"/>
              <a:t> Represents the specific instance of the object.</a:t>
            </a:r>
          </a:p>
          <a:p>
            <a:r>
              <a:rPr lang="en-US" b="1" dirty="0"/>
              <a:t>Inheritance:</a:t>
            </a:r>
            <a:r>
              <a:rPr lang="en-US" dirty="0"/>
              <a:t> Create a hierarchy where child classes inherit methods from parents.</a:t>
            </a:r>
          </a:p>
          <a:p>
            <a:r>
              <a:rPr lang="en-US" b="1" dirty="0"/>
              <a:t>Dunder Methods:</a:t>
            </a:r>
            <a:r>
              <a:rPr lang="en-US" dirty="0"/>
              <a:t> (Double Under) Like __str__ for human-readable output or __</a:t>
            </a:r>
            <a:r>
              <a:rPr lang="en-US" dirty="0" err="1"/>
              <a:t>len</a:t>
            </a:r>
            <a:r>
              <a:rPr lang="en-US" dirty="0"/>
              <a:t>__ to define behavior for the </a:t>
            </a:r>
            <a:r>
              <a:rPr lang="en-US" dirty="0" err="1"/>
              <a:t>len</a:t>
            </a:r>
            <a:r>
              <a:rPr lang="en-US" dirty="0"/>
              <a:t>() function.</a:t>
            </a:r>
          </a:p>
          <a:p>
            <a:endParaRPr lang="en-SG" dirty="0"/>
          </a:p>
        </p:txBody>
      </p:sp>
    </p:spTree>
    <p:extLst>
      <p:ext uri="{BB962C8B-B14F-4D97-AF65-F5344CB8AC3E}">
        <p14:creationId xmlns:p14="http://schemas.microsoft.com/office/powerpoint/2010/main" val="75889412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Why Object-Oriented Programming?</a:t>
            </a:r>
          </a:p>
        </p:txBody>
      </p:sp>
      <p:sp>
        <p:nvSpPr>
          <p:cNvPr id="3" name="Content Placeholder 2"/>
          <p:cNvSpPr>
            <a:spLocks noGrp="1"/>
          </p:cNvSpPr>
          <p:nvPr>
            <p:ph idx="1"/>
          </p:nvPr>
        </p:nvSpPr>
        <p:spPr/>
        <p:txBody>
          <a:bodyPr/>
          <a:lstStyle/>
          <a:p>
            <a:r>
              <a:t>Group data and behavior together</a:t>
            </a:r>
          </a:p>
          <a:p>
            <a:r>
              <a:t>Model real-world concepts</a:t>
            </a:r>
          </a:p>
          <a:p>
            <a:r>
              <a:t>Improve code organization</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3963-F84B-8721-C169-C6DC9E8DF459}"/>
              </a:ext>
            </a:extLst>
          </p:cNvPr>
          <p:cNvSpPr>
            <a:spLocks noGrp="1"/>
          </p:cNvSpPr>
          <p:nvPr>
            <p:ph type="title"/>
          </p:nvPr>
        </p:nvSpPr>
        <p:spPr/>
        <p:txBody>
          <a:bodyPr>
            <a:normAutofit/>
          </a:bodyPr>
          <a:lstStyle/>
          <a:p>
            <a:r>
              <a:rPr lang="en-US" dirty="0"/>
              <a:t>Pragmatic OOP</a:t>
            </a:r>
            <a:endParaRPr lang="en-SG" dirty="0"/>
          </a:p>
        </p:txBody>
      </p:sp>
      <p:sp>
        <p:nvSpPr>
          <p:cNvPr id="3" name="Content Placeholder 2">
            <a:extLst>
              <a:ext uri="{FF2B5EF4-FFF2-40B4-BE49-F238E27FC236}">
                <a16:creationId xmlns:a16="http://schemas.microsoft.com/office/drawing/2014/main" id="{27276AE4-CE40-F6BE-1A83-B458D2396F4D}"/>
              </a:ext>
            </a:extLst>
          </p:cNvPr>
          <p:cNvSpPr>
            <a:spLocks noGrp="1"/>
          </p:cNvSpPr>
          <p:nvPr>
            <p:ph idx="1"/>
          </p:nvPr>
        </p:nvSpPr>
        <p:spPr/>
        <p:txBody>
          <a:bodyPr/>
          <a:lstStyle/>
          <a:p>
            <a:r>
              <a:rPr lang="en-US" dirty="0"/>
              <a:t>Classes group </a:t>
            </a:r>
            <a:r>
              <a:rPr lang="en-US" b="1" dirty="0"/>
              <a:t>data + behavior</a:t>
            </a:r>
            <a:endParaRPr lang="en-US" dirty="0"/>
          </a:p>
          <a:p>
            <a:r>
              <a:rPr lang="en-US" dirty="0"/>
              <a:t>Encapsulation protects invariants</a:t>
            </a:r>
          </a:p>
          <a:p>
            <a:r>
              <a:rPr lang="en-US" dirty="0"/>
              <a:t>Inheritance only when behavior truly differs</a:t>
            </a:r>
          </a:p>
          <a:p>
            <a:pPr marL="0" indent="0">
              <a:buNone/>
            </a:pPr>
            <a:endParaRPr lang="en-US" b="1" dirty="0"/>
          </a:p>
          <a:p>
            <a:pPr marL="0" indent="0">
              <a:buNone/>
            </a:pPr>
            <a:r>
              <a:rPr lang="en-US" b="1" dirty="0"/>
              <a:t>Avoid</a:t>
            </a:r>
            <a:r>
              <a:rPr lang="en-US" dirty="0"/>
              <a:t> inheritance for convenience</a:t>
            </a:r>
          </a:p>
          <a:p>
            <a:endParaRPr lang="en-SG" dirty="0"/>
          </a:p>
        </p:txBody>
      </p:sp>
    </p:spTree>
    <p:extLst>
      <p:ext uri="{BB962C8B-B14F-4D97-AF65-F5344CB8AC3E}">
        <p14:creationId xmlns:p14="http://schemas.microsoft.com/office/powerpoint/2010/main" val="403854991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Defining a Class</a:t>
            </a:r>
          </a:p>
        </p:txBody>
      </p:sp>
      <p:sp>
        <p:nvSpPr>
          <p:cNvPr id="3" name="Content Placeholder 2"/>
          <p:cNvSpPr>
            <a:spLocks noGrp="1"/>
          </p:cNvSpPr>
          <p:nvPr>
            <p:ph idx="1"/>
          </p:nvPr>
        </p:nvSpPr>
        <p:spPr/>
        <p:txBody>
          <a:bodyPr/>
          <a:lstStyle/>
          <a:p>
            <a:r>
              <a:t>Classes define blueprints for objects</a:t>
            </a:r>
          </a:p>
          <a:p>
            <a:r>
              <a:t>__init__ initializes instance state</a:t>
            </a:r>
          </a:p>
          <a:p>
            <a:r>
              <a:t>self refers to the current object</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Object-Oriented Programming – Classes</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400" dirty="0"/>
              <a:t>class Dog:</a:t>
            </a:r>
            <a:br>
              <a:rPr sz="2400" dirty="0"/>
            </a:br>
            <a:r>
              <a:rPr sz="2400" dirty="0"/>
              <a:t>    species = "Canis </a:t>
            </a:r>
            <a:r>
              <a:rPr sz="2400" dirty="0" err="1"/>
              <a:t>familiaris</a:t>
            </a:r>
            <a:r>
              <a:rPr sz="2400" dirty="0"/>
              <a:t>"</a:t>
            </a:r>
            <a:br>
              <a:rPr sz="2400" dirty="0"/>
            </a:br>
            <a:r>
              <a:rPr sz="2400" dirty="0"/>
              <a:t>    def __</a:t>
            </a:r>
            <a:r>
              <a:rPr sz="2400" dirty="0" err="1"/>
              <a:t>init</a:t>
            </a:r>
            <a:r>
              <a:rPr sz="2400" dirty="0"/>
              <a:t>__(self, name, age):</a:t>
            </a:r>
            <a:br>
              <a:rPr sz="2400" dirty="0"/>
            </a:br>
            <a:r>
              <a:rPr sz="2400" dirty="0"/>
              <a:t>        self.name, </a:t>
            </a:r>
            <a:r>
              <a:rPr sz="2400" dirty="0" err="1"/>
              <a:t>self.age</a:t>
            </a:r>
            <a:r>
              <a:rPr sz="2400" dirty="0"/>
              <a:t> = name, age</a:t>
            </a:r>
            <a:br>
              <a:rPr sz="2400" dirty="0"/>
            </a:br>
            <a:r>
              <a:rPr sz="2400" dirty="0"/>
              <a:t>    def __str__(self):</a:t>
            </a:r>
            <a:br>
              <a:rPr sz="2400" dirty="0"/>
            </a:br>
            <a:r>
              <a:rPr sz="2400" dirty="0"/>
              <a:t>        return f"{self.name} is {</a:t>
            </a:r>
            <a:r>
              <a:rPr sz="2400" dirty="0" err="1"/>
              <a:t>self.age</a:t>
            </a:r>
            <a:r>
              <a:rPr sz="2400" dirty="0"/>
              <a:t>}"</a:t>
            </a:r>
            <a:br>
              <a:rPr sz="2400" dirty="0"/>
            </a:br>
            <a:r>
              <a:rPr sz="2400" dirty="0"/>
              <a:t>    def speak(self, sound="Woof!"):</a:t>
            </a:r>
            <a:br>
              <a:rPr sz="2400" dirty="0"/>
            </a:br>
            <a:r>
              <a:rPr sz="2400" dirty="0"/>
              <a:t>        return f"{self.name} says {sound}"</a:t>
            </a:r>
            <a:br>
              <a:rPr sz="2400" dirty="0"/>
            </a:br>
            <a:br>
              <a:rPr sz="2400" dirty="0"/>
            </a:br>
            <a:r>
              <a:rPr sz="2400" dirty="0"/>
              <a:t>d = Dog("Buddy", 4)</a:t>
            </a:r>
            <a:br>
              <a:rPr sz="2400" dirty="0"/>
            </a:br>
            <a:r>
              <a:rPr sz="2400" dirty="0"/>
              <a:t>print(d)                    # Buddy is 4</a:t>
            </a:r>
            <a:br>
              <a:rPr sz="2400" dirty="0"/>
            </a:br>
            <a:r>
              <a:rPr sz="2400" dirty="0"/>
              <a:t>print(</a:t>
            </a:r>
            <a:r>
              <a:rPr sz="2400" dirty="0" err="1"/>
              <a:t>d.speak</a:t>
            </a:r>
            <a:r>
              <a:rPr sz="2400" dirty="0"/>
              <a:t>("Ruff"))</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Encapsulation</a:t>
            </a:r>
          </a:p>
        </p:txBody>
      </p:sp>
      <p:sp>
        <p:nvSpPr>
          <p:cNvPr id="3" name="Content Placeholder 2"/>
          <p:cNvSpPr>
            <a:spLocks noGrp="1"/>
          </p:cNvSpPr>
          <p:nvPr>
            <p:ph idx="1"/>
          </p:nvPr>
        </p:nvSpPr>
        <p:spPr/>
        <p:txBody>
          <a:bodyPr/>
          <a:lstStyle/>
          <a:p>
            <a:r>
              <a:t>Hide internal implementation details</a:t>
            </a:r>
          </a:p>
          <a:p>
            <a:r>
              <a:t>Use methods and properties</a:t>
            </a:r>
          </a:p>
          <a:p>
            <a:r>
              <a:t>Private attributes use name mangling</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Encapsulation &amp; Private Attributes</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000" dirty="0"/>
              <a:t>class </a:t>
            </a:r>
            <a:r>
              <a:rPr sz="2000" dirty="0" err="1"/>
              <a:t>BankAccount</a:t>
            </a:r>
            <a:r>
              <a:rPr sz="2000" dirty="0"/>
              <a:t>:</a:t>
            </a:r>
            <a:br>
              <a:rPr sz="2000" dirty="0"/>
            </a:br>
            <a:r>
              <a:rPr sz="2000" dirty="0"/>
              <a:t>    def __</a:t>
            </a:r>
            <a:r>
              <a:rPr sz="2000" dirty="0" err="1"/>
              <a:t>init</a:t>
            </a:r>
            <a:r>
              <a:rPr sz="2000" dirty="0"/>
              <a:t>__(self, owner, balance=0):</a:t>
            </a:r>
            <a:br>
              <a:rPr sz="2000" dirty="0"/>
            </a:br>
            <a:r>
              <a:rPr sz="2000" dirty="0"/>
              <a:t>        </a:t>
            </a:r>
            <a:r>
              <a:rPr sz="2000" dirty="0" err="1"/>
              <a:t>self.owner</a:t>
            </a:r>
            <a:r>
              <a:rPr sz="2000" dirty="0"/>
              <a:t> = owner</a:t>
            </a:r>
            <a:br>
              <a:rPr sz="2000" dirty="0"/>
            </a:br>
            <a:r>
              <a:rPr sz="2000" dirty="0"/>
              <a:t>        </a:t>
            </a:r>
            <a:r>
              <a:rPr sz="2000" dirty="0" err="1"/>
              <a:t>self.__balance</a:t>
            </a:r>
            <a:r>
              <a:rPr sz="2000" dirty="0"/>
              <a:t> = balance      # name mangled</a:t>
            </a:r>
            <a:br>
              <a:rPr sz="2000" dirty="0"/>
            </a:br>
            <a:r>
              <a:rPr sz="2000" dirty="0"/>
              <a:t>    def deposit(self, amount):</a:t>
            </a:r>
            <a:br>
              <a:rPr sz="2000" dirty="0"/>
            </a:br>
            <a:r>
              <a:rPr sz="2000" dirty="0"/>
              <a:t>        </a:t>
            </a:r>
            <a:r>
              <a:rPr sz="2000" dirty="0" err="1"/>
              <a:t>self.__balance</a:t>
            </a:r>
            <a:r>
              <a:rPr sz="2000" dirty="0"/>
              <a:t> += amount</a:t>
            </a:r>
            <a:br>
              <a:rPr sz="2000" dirty="0"/>
            </a:br>
            <a:r>
              <a:rPr sz="2000" dirty="0"/>
              <a:t>    @property</a:t>
            </a:r>
            <a:br>
              <a:rPr sz="2000" dirty="0"/>
            </a:br>
            <a:r>
              <a:rPr sz="2000" dirty="0"/>
              <a:t>    def balance(self):</a:t>
            </a:r>
            <a:br>
              <a:rPr sz="2000" dirty="0"/>
            </a:br>
            <a:r>
              <a:rPr sz="2000" dirty="0"/>
              <a:t>        return </a:t>
            </a:r>
            <a:r>
              <a:rPr sz="2000" dirty="0" err="1"/>
              <a:t>self.__balance</a:t>
            </a:r>
            <a:br>
              <a:rPr sz="2000" dirty="0"/>
            </a:br>
            <a:br>
              <a:rPr sz="2000" dirty="0"/>
            </a:br>
            <a:r>
              <a:rPr sz="2000" dirty="0"/>
              <a:t>acct = </a:t>
            </a:r>
            <a:r>
              <a:rPr sz="2000" dirty="0" err="1"/>
              <a:t>BankAccount</a:t>
            </a:r>
            <a:r>
              <a:rPr sz="2000" dirty="0"/>
              <a:t>("Ada")</a:t>
            </a:r>
            <a:br>
              <a:rPr sz="2000" dirty="0"/>
            </a:br>
            <a:r>
              <a:rPr sz="2000" dirty="0" err="1"/>
              <a:t>acct.deposit</a:t>
            </a:r>
            <a:r>
              <a:rPr sz="2000" dirty="0"/>
              <a:t>(100)</a:t>
            </a:r>
            <a:br>
              <a:rPr sz="2000" dirty="0"/>
            </a:br>
            <a:r>
              <a:rPr sz="2000" dirty="0"/>
              <a:t>print(</a:t>
            </a:r>
            <a:r>
              <a:rPr sz="2000" dirty="0" err="1"/>
              <a:t>acct.balance</a:t>
            </a:r>
            <a:r>
              <a:rPr sz="2000" dirty="0"/>
              <a:t>)         # 100</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FA812-9814-5FD7-241B-37ABADFBD616}"/>
              </a:ext>
            </a:extLst>
          </p:cNvPr>
          <p:cNvSpPr>
            <a:spLocks noGrp="1"/>
          </p:cNvSpPr>
          <p:nvPr>
            <p:ph type="title"/>
          </p:nvPr>
        </p:nvSpPr>
        <p:spPr/>
        <p:txBody>
          <a:bodyPr>
            <a:normAutofit/>
          </a:bodyPr>
          <a:lstStyle/>
          <a:p>
            <a:r>
              <a:rPr lang="en-US" b="1" dirty="0"/>
              <a:t>Encapsulation in Practice</a:t>
            </a:r>
            <a:endParaRPr lang="en-SG" dirty="0"/>
          </a:p>
        </p:txBody>
      </p:sp>
      <p:sp>
        <p:nvSpPr>
          <p:cNvPr id="3" name="Content Placeholder 2">
            <a:extLst>
              <a:ext uri="{FF2B5EF4-FFF2-40B4-BE49-F238E27FC236}">
                <a16:creationId xmlns:a16="http://schemas.microsoft.com/office/drawing/2014/main" id="{D5F50576-4BCA-B500-65B3-879C15A55617}"/>
              </a:ext>
            </a:extLst>
          </p:cNvPr>
          <p:cNvSpPr>
            <a:spLocks noGrp="1"/>
          </p:cNvSpPr>
          <p:nvPr>
            <p:ph idx="1"/>
          </p:nvPr>
        </p:nvSpPr>
        <p:spPr/>
        <p:txBody>
          <a:bodyPr/>
          <a:lstStyle/>
          <a:p>
            <a:r>
              <a:rPr lang="en-US" dirty="0"/>
              <a:t>Hide internals</a:t>
            </a:r>
          </a:p>
          <a:p>
            <a:r>
              <a:rPr lang="en-US" dirty="0"/>
              <a:t>Expose behavior via methods</a:t>
            </a:r>
          </a:p>
          <a:p>
            <a:r>
              <a:rPr lang="en-US" dirty="0"/>
              <a:t>Properties protect state</a:t>
            </a:r>
          </a:p>
          <a:p>
            <a:pPr marL="0" indent="0">
              <a:buNone/>
            </a:pPr>
            <a:endParaRPr lang="en-US" b="1" dirty="0"/>
          </a:p>
          <a:p>
            <a:pPr marL="0" indent="0">
              <a:buNone/>
            </a:pPr>
            <a:r>
              <a:rPr lang="en-US" b="1" dirty="0"/>
              <a:t>Goal:</a:t>
            </a:r>
            <a:r>
              <a:rPr lang="en-US" dirty="0"/>
              <a:t> prevent invalid states</a:t>
            </a:r>
          </a:p>
          <a:p>
            <a:endParaRPr lang="en-SG" dirty="0"/>
          </a:p>
        </p:txBody>
      </p:sp>
    </p:spTree>
    <p:extLst>
      <p:ext uri="{BB962C8B-B14F-4D97-AF65-F5344CB8AC3E}">
        <p14:creationId xmlns:p14="http://schemas.microsoft.com/office/powerpoint/2010/main" val="1272077701"/>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Inheritance &amp; Polymorphism</a:t>
            </a:r>
          </a:p>
        </p:txBody>
      </p:sp>
      <p:sp>
        <p:nvSpPr>
          <p:cNvPr id="3" name="Content Placeholder 2"/>
          <p:cNvSpPr>
            <a:spLocks noGrp="1"/>
          </p:cNvSpPr>
          <p:nvPr>
            <p:ph idx="1"/>
          </p:nvPr>
        </p:nvSpPr>
        <p:spPr/>
        <p:txBody>
          <a:bodyPr/>
          <a:lstStyle/>
          <a:p>
            <a:r>
              <a:t>Child classes extend parent classes</a:t>
            </a:r>
          </a:p>
          <a:p>
            <a:r>
              <a:t>Shared interfaces, different behavior</a:t>
            </a:r>
          </a:p>
          <a:p>
            <a:r>
              <a:t>Write flexible, reusable code</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ACF13-CCAE-A2B6-3707-DDC2B3A33C24}"/>
              </a:ext>
            </a:extLst>
          </p:cNvPr>
          <p:cNvSpPr>
            <a:spLocks noGrp="1"/>
          </p:cNvSpPr>
          <p:nvPr>
            <p:ph type="title"/>
          </p:nvPr>
        </p:nvSpPr>
        <p:spPr/>
        <p:txBody>
          <a:bodyPr>
            <a:normAutofit/>
          </a:bodyPr>
          <a:lstStyle/>
          <a:p>
            <a:r>
              <a:rPr lang="en-US" b="1" dirty="0"/>
              <a:t>Polymorphism</a:t>
            </a:r>
            <a:endParaRPr lang="en-SG" dirty="0"/>
          </a:p>
        </p:txBody>
      </p:sp>
      <p:sp>
        <p:nvSpPr>
          <p:cNvPr id="3" name="Content Placeholder 2">
            <a:extLst>
              <a:ext uri="{FF2B5EF4-FFF2-40B4-BE49-F238E27FC236}">
                <a16:creationId xmlns:a16="http://schemas.microsoft.com/office/drawing/2014/main" id="{92925A9E-78D8-4E03-2761-A719E924B089}"/>
              </a:ext>
            </a:extLst>
          </p:cNvPr>
          <p:cNvSpPr>
            <a:spLocks noGrp="1"/>
          </p:cNvSpPr>
          <p:nvPr>
            <p:ph idx="1"/>
          </p:nvPr>
        </p:nvSpPr>
        <p:spPr/>
        <p:txBody>
          <a:bodyPr/>
          <a:lstStyle/>
          <a:p>
            <a:r>
              <a:rPr lang="en-US" dirty="0"/>
              <a:t>Same interface, different behavior</a:t>
            </a:r>
          </a:p>
          <a:p>
            <a:r>
              <a:rPr lang="en-US" dirty="0"/>
              <a:t>Enables extensibility without modification</a:t>
            </a:r>
          </a:p>
          <a:p>
            <a:r>
              <a:rPr lang="en-US" dirty="0"/>
              <a:t>Used heavily in frameworks</a:t>
            </a:r>
          </a:p>
          <a:p>
            <a:endParaRPr lang="en-SG" dirty="0"/>
          </a:p>
        </p:txBody>
      </p:sp>
    </p:spTree>
    <p:extLst>
      <p:ext uri="{BB962C8B-B14F-4D97-AF65-F5344CB8AC3E}">
        <p14:creationId xmlns:p14="http://schemas.microsoft.com/office/powerpoint/2010/main" val="300833911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Inheritance &amp; Polymorphism</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400" dirty="0"/>
              <a:t>class Animal:</a:t>
            </a:r>
            <a:br>
              <a:rPr sz="2400" dirty="0"/>
            </a:br>
            <a:r>
              <a:rPr sz="2400" dirty="0"/>
              <a:t>    def speak(self): raise </a:t>
            </a:r>
            <a:r>
              <a:rPr sz="2400" dirty="0" err="1"/>
              <a:t>NotImplementedError</a:t>
            </a:r>
            <a:br>
              <a:rPr sz="2400" dirty="0"/>
            </a:br>
            <a:r>
              <a:rPr sz="2400" dirty="0"/>
              <a:t>class Cat(Animal):</a:t>
            </a:r>
            <a:br>
              <a:rPr sz="2400" dirty="0"/>
            </a:br>
            <a:r>
              <a:rPr sz="2400" dirty="0"/>
              <a:t>    def speak(self): return "Meow"</a:t>
            </a:r>
            <a:br>
              <a:rPr sz="2400" dirty="0"/>
            </a:br>
            <a:r>
              <a:rPr sz="2400" dirty="0"/>
              <a:t>class Cow(Animal):</a:t>
            </a:r>
            <a:br>
              <a:rPr sz="2400" dirty="0"/>
            </a:br>
            <a:r>
              <a:rPr sz="2400" dirty="0"/>
              <a:t>    def speak(self): return "Moo"</a:t>
            </a:r>
            <a:br>
              <a:rPr sz="2400" dirty="0"/>
            </a:br>
            <a:br>
              <a:rPr sz="2400" dirty="0"/>
            </a:br>
            <a:r>
              <a:rPr sz="2400" dirty="0"/>
              <a:t>for creature in [Cat(), Cow()]:</a:t>
            </a:r>
            <a:br>
              <a:rPr sz="2400" dirty="0"/>
            </a:br>
            <a:r>
              <a:rPr sz="2400" dirty="0"/>
              <a:t>    print(</a:t>
            </a:r>
            <a:r>
              <a:rPr sz="2400" dirty="0" err="1"/>
              <a:t>creature.speak</a:t>
            </a:r>
            <a:r>
              <a:rPr sz="2400" dirty="0"/>
              <a:t>())</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super() &amp; Cooperative Multiple Inheritance</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1800" dirty="0"/>
              <a:t>class Person:</a:t>
            </a:r>
            <a:br>
              <a:rPr sz="1800" dirty="0"/>
            </a:br>
            <a:r>
              <a:rPr sz="1800" dirty="0"/>
              <a:t>    def __</a:t>
            </a:r>
            <a:r>
              <a:rPr sz="1800" dirty="0" err="1"/>
              <a:t>init</a:t>
            </a:r>
            <a:r>
              <a:rPr sz="1800" dirty="0"/>
              <a:t>__(self, name): self.name = name</a:t>
            </a:r>
            <a:br>
              <a:rPr sz="1800" dirty="0"/>
            </a:br>
            <a:r>
              <a:rPr sz="1800" dirty="0"/>
              <a:t>class Employee(Person):</a:t>
            </a:r>
            <a:br>
              <a:rPr sz="1800" dirty="0"/>
            </a:br>
            <a:r>
              <a:rPr sz="1800" dirty="0"/>
              <a:t>    def __</a:t>
            </a:r>
            <a:r>
              <a:rPr sz="1800" dirty="0" err="1"/>
              <a:t>init</a:t>
            </a:r>
            <a:r>
              <a:rPr sz="1800" dirty="0"/>
              <a:t>__(self, name, salary):</a:t>
            </a:r>
            <a:br>
              <a:rPr sz="1800" dirty="0"/>
            </a:br>
            <a:r>
              <a:rPr sz="1800" dirty="0"/>
              <a:t>        super().__</a:t>
            </a:r>
            <a:r>
              <a:rPr sz="1800" dirty="0" err="1"/>
              <a:t>init</a:t>
            </a:r>
            <a:r>
              <a:rPr sz="1800" dirty="0"/>
              <a:t>__(name); </a:t>
            </a:r>
            <a:r>
              <a:rPr sz="1800" dirty="0" err="1"/>
              <a:t>self.salary</a:t>
            </a:r>
            <a:r>
              <a:rPr sz="1800" dirty="0"/>
              <a:t> = salary</a:t>
            </a:r>
            <a:br>
              <a:rPr sz="1800" dirty="0"/>
            </a:br>
            <a:r>
              <a:rPr sz="1800" dirty="0"/>
              <a:t>class Manager(Employee):</a:t>
            </a:r>
            <a:br>
              <a:rPr sz="1800" dirty="0"/>
            </a:br>
            <a:r>
              <a:rPr sz="1800" dirty="0"/>
              <a:t>    def __</a:t>
            </a:r>
            <a:r>
              <a:rPr sz="1800" dirty="0" err="1"/>
              <a:t>init</a:t>
            </a:r>
            <a:r>
              <a:rPr sz="1800" dirty="0"/>
              <a:t>__(self, name, salary, level):</a:t>
            </a:r>
            <a:br>
              <a:rPr sz="1800" dirty="0"/>
            </a:br>
            <a:r>
              <a:rPr sz="1800" dirty="0"/>
              <a:t>        super().__</a:t>
            </a:r>
            <a:r>
              <a:rPr sz="1800" dirty="0" err="1"/>
              <a:t>init</a:t>
            </a:r>
            <a:r>
              <a:rPr sz="1800" dirty="0"/>
              <a:t>__(name, salary); </a:t>
            </a:r>
            <a:r>
              <a:rPr sz="1800" dirty="0" err="1"/>
              <a:t>self.level</a:t>
            </a:r>
            <a:r>
              <a:rPr sz="1800" dirty="0"/>
              <a:t> = level</a:t>
            </a:r>
            <a:br>
              <a:rPr sz="1800" dirty="0"/>
            </a:br>
            <a:br>
              <a:rPr sz="1800" dirty="0"/>
            </a:br>
            <a:r>
              <a:rPr sz="1800" dirty="0"/>
              <a:t>m = Manager("Grace", 120_000, "L3")</a:t>
            </a:r>
            <a:br>
              <a:rPr sz="1800" dirty="0"/>
            </a:br>
            <a:r>
              <a:rPr sz="1800" dirty="0"/>
              <a:t>print(m.name, </a:t>
            </a:r>
            <a:r>
              <a:rPr sz="1800" dirty="0" err="1"/>
              <a:t>m.salary</a:t>
            </a:r>
            <a:r>
              <a:rPr sz="1800" dirty="0"/>
              <a:t>, </a:t>
            </a:r>
            <a:r>
              <a:rPr sz="1800" dirty="0" err="1"/>
              <a:t>m.level</a:t>
            </a:r>
            <a:r>
              <a:rPr sz="1800" dirty="0"/>
              <a:t>)</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5276"/>
            <a:ext cx="8229600" cy="1143000"/>
          </a:xfrm>
        </p:spPr>
        <p:txBody>
          <a:bodyPr/>
          <a:lstStyle/>
          <a:p>
            <a:r>
              <a:rPr lang="en-US" dirty="0"/>
              <a:t>Dunder Methods (When Needed)</a:t>
            </a:r>
          </a:p>
        </p:txBody>
      </p:sp>
      <p:sp>
        <p:nvSpPr>
          <p:cNvPr id="3" name="Content Placeholder 2"/>
          <p:cNvSpPr>
            <a:spLocks noGrp="1"/>
          </p:cNvSpPr>
          <p:nvPr>
            <p:ph idx="1"/>
          </p:nvPr>
        </p:nvSpPr>
        <p:spPr/>
        <p:txBody>
          <a:bodyPr/>
          <a:lstStyle/>
          <a:p>
            <a:r>
              <a:rPr lang="en-US" dirty="0"/>
              <a:t>__str__, __</a:t>
            </a:r>
            <a:r>
              <a:rPr lang="en-US" dirty="0" err="1"/>
              <a:t>repr</a:t>
            </a:r>
            <a:r>
              <a:rPr lang="en-US" dirty="0"/>
              <a:t>__ → readability</a:t>
            </a:r>
          </a:p>
          <a:p>
            <a:r>
              <a:rPr lang="en-US" dirty="0"/>
              <a:t>__add__, __</a:t>
            </a:r>
            <a:r>
              <a:rPr lang="en-US" dirty="0" err="1"/>
              <a:t>len</a:t>
            </a:r>
            <a:r>
              <a:rPr lang="en-US" dirty="0"/>
              <a:t>__ → Pythonic behavior</a:t>
            </a:r>
          </a:p>
          <a:p>
            <a:r>
              <a:rPr lang="en-US" dirty="0"/>
              <a:t>Use sparingly and intentionally</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Dunder (Magic) Methods</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1800" dirty="0"/>
              <a:t>class Vector:</a:t>
            </a:r>
            <a:br>
              <a:rPr sz="1800" dirty="0"/>
            </a:br>
            <a:r>
              <a:rPr sz="1800" dirty="0"/>
              <a:t>    def __</a:t>
            </a:r>
            <a:r>
              <a:rPr sz="1800" dirty="0" err="1"/>
              <a:t>init</a:t>
            </a:r>
            <a:r>
              <a:rPr sz="1800" dirty="0"/>
              <a:t>__(self, x, y): </a:t>
            </a:r>
            <a:r>
              <a:rPr sz="1800" dirty="0" err="1"/>
              <a:t>self.x</a:t>
            </a:r>
            <a:r>
              <a:rPr sz="1800" dirty="0"/>
              <a:t>, </a:t>
            </a:r>
            <a:r>
              <a:rPr sz="1800" dirty="0" err="1"/>
              <a:t>self.y</a:t>
            </a:r>
            <a:r>
              <a:rPr sz="1800" dirty="0"/>
              <a:t> = x, y</a:t>
            </a:r>
            <a:br>
              <a:rPr sz="1800" dirty="0"/>
            </a:br>
            <a:r>
              <a:rPr sz="1800" dirty="0"/>
              <a:t>    def __add__(self, other):</a:t>
            </a:r>
            <a:br>
              <a:rPr sz="1800" dirty="0"/>
            </a:br>
            <a:r>
              <a:rPr sz="1800" dirty="0"/>
              <a:t>        return Vector(</a:t>
            </a:r>
            <a:r>
              <a:rPr sz="1800" dirty="0" err="1"/>
              <a:t>self.x</a:t>
            </a:r>
            <a:r>
              <a:rPr sz="1800" dirty="0"/>
              <a:t> + </a:t>
            </a:r>
            <a:r>
              <a:rPr sz="1800" dirty="0" err="1"/>
              <a:t>other.x</a:t>
            </a:r>
            <a:r>
              <a:rPr sz="1800" dirty="0"/>
              <a:t>, </a:t>
            </a:r>
            <a:r>
              <a:rPr sz="1800" dirty="0" err="1"/>
              <a:t>self.y</a:t>
            </a:r>
            <a:r>
              <a:rPr sz="1800" dirty="0"/>
              <a:t> + </a:t>
            </a:r>
            <a:r>
              <a:rPr sz="1800" dirty="0" err="1"/>
              <a:t>other.y</a:t>
            </a:r>
            <a:r>
              <a:rPr sz="1800" dirty="0"/>
              <a:t>)</a:t>
            </a:r>
            <a:br>
              <a:rPr sz="1800" dirty="0"/>
            </a:br>
            <a:r>
              <a:rPr sz="1800" dirty="0"/>
              <a:t>    def __</a:t>
            </a:r>
            <a:r>
              <a:rPr sz="1800" dirty="0" err="1"/>
              <a:t>mul</a:t>
            </a:r>
            <a:r>
              <a:rPr sz="1800" dirty="0"/>
              <a:t>__(self, scalar):</a:t>
            </a:r>
            <a:br>
              <a:rPr sz="1800" dirty="0"/>
            </a:br>
            <a:r>
              <a:rPr sz="1800" dirty="0"/>
              <a:t>        return Vector(</a:t>
            </a:r>
            <a:r>
              <a:rPr sz="1800" dirty="0" err="1"/>
              <a:t>self.x</a:t>
            </a:r>
            <a:r>
              <a:rPr sz="1800" dirty="0"/>
              <a:t> * scalar, </a:t>
            </a:r>
            <a:r>
              <a:rPr sz="1800" dirty="0" err="1"/>
              <a:t>self.y</a:t>
            </a:r>
            <a:r>
              <a:rPr sz="1800" dirty="0"/>
              <a:t> * scalar)</a:t>
            </a:r>
            <a:br>
              <a:rPr sz="1800" dirty="0"/>
            </a:br>
            <a:r>
              <a:rPr sz="1800" dirty="0"/>
              <a:t>    def __</a:t>
            </a:r>
            <a:r>
              <a:rPr sz="1800" dirty="0" err="1"/>
              <a:t>repr</a:t>
            </a:r>
            <a:r>
              <a:rPr sz="1800" dirty="0"/>
              <a:t>__(self): return </a:t>
            </a:r>
            <a:r>
              <a:rPr sz="1800" dirty="0" err="1"/>
              <a:t>f"Vector</a:t>
            </a:r>
            <a:r>
              <a:rPr sz="1800" dirty="0"/>
              <a:t>({</a:t>
            </a:r>
            <a:r>
              <a:rPr sz="1800" dirty="0" err="1"/>
              <a:t>self.x</a:t>
            </a:r>
            <a:r>
              <a:rPr sz="1800" dirty="0"/>
              <a:t>}, {</a:t>
            </a:r>
            <a:r>
              <a:rPr sz="1800" dirty="0" err="1"/>
              <a:t>self.y</a:t>
            </a:r>
            <a:r>
              <a:rPr sz="1800" dirty="0"/>
              <a:t>})"</a:t>
            </a:r>
            <a:br>
              <a:rPr sz="1800" dirty="0"/>
            </a:br>
            <a:br>
              <a:rPr sz="1800" dirty="0"/>
            </a:br>
            <a:r>
              <a:rPr sz="1800" dirty="0"/>
              <a:t>v1, v2 = Vector(2, 3), Vector(1, 4)</a:t>
            </a:r>
            <a:br>
              <a:rPr sz="1800" dirty="0"/>
            </a:br>
            <a:r>
              <a:rPr sz="1800" dirty="0"/>
              <a:t>print(v1 + v2)              # Vector(3, 7)</a:t>
            </a:r>
            <a:br>
              <a:rPr sz="1800" dirty="0"/>
            </a:br>
            <a:r>
              <a:rPr sz="1800" dirty="0"/>
              <a:t>print(v1 * 3)               # Vector(6, 9)</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 &amp; Packages</a:t>
            </a:r>
          </a:p>
        </p:txBody>
      </p:sp>
      <p:sp>
        <p:nvSpPr>
          <p:cNvPr id="3" name="Content Placeholder 2"/>
          <p:cNvSpPr>
            <a:spLocks noGrp="1"/>
          </p:cNvSpPr>
          <p:nvPr>
            <p:ph idx="1"/>
          </p:nvPr>
        </p:nvSpPr>
        <p:spPr/>
        <p:txBody>
          <a:bodyPr>
            <a:normAutofit/>
          </a:bodyPr>
          <a:lstStyle/>
          <a:p>
            <a:r>
              <a:rPr lang="en-US" dirty="0"/>
              <a:t>Files = modules</a:t>
            </a:r>
          </a:p>
          <a:p>
            <a:r>
              <a:rPr lang="en-US" dirty="0"/>
              <a:t>Folders = packages</a:t>
            </a:r>
          </a:p>
          <a:p>
            <a:r>
              <a:rPr lang="en-US" dirty="0"/>
              <a:t>__init__.py defines public API</a:t>
            </a:r>
          </a:p>
          <a:p>
            <a:r>
              <a:rPr lang="en-US" dirty="0" err="1"/>
              <a:t>pathlib</a:t>
            </a:r>
            <a:r>
              <a:rPr lang="en-US" dirty="0"/>
              <a:t> over </a:t>
            </a:r>
            <a:r>
              <a:rPr lang="en-US" dirty="0" err="1"/>
              <a:t>os.path</a:t>
            </a:r>
            <a:endParaRPr lang="en-US" dirty="0"/>
          </a:p>
          <a:p>
            <a:r>
              <a:rPr lang="en-US" dirty="0"/>
              <a:t>JSON and CSV at boundaries</a:t>
            </a:r>
          </a:p>
          <a:p>
            <a:pPr marL="0" indent="0">
              <a:buNone/>
            </a:pPr>
            <a:endParaRPr lang="en-US" dirty="0"/>
          </a:p>
          <a:p>
            <a:r>
              <a:rPr lang="en-US" b="1" dirty="0"/>
              <a:t>Rule:</a:t>
            </a:r>
            <a:r>
              <a:rPr lang="en-US" dirty="0"/>
              <a:t> imports describe architecture</a:t>
            </a:r>
          </a:p>
          <a:p>
            <a:endParaRPr lang="en-US" dirty="0"/>
          </a:p>
          <a:p>
            <a:pPr marL="0" indent="0">
              <a:buNone/>
            </a:pPr>
            <a:endParaRPr lang="en-US"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Modules – Creating &amp; Importing</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1600" dirty="0"/>
              <a:t># tree</a:t>
            </a:r>
            <a:br>
              <a:rPr sz="1600" dirty="0"/>
            </a:br>
            <a:r>
              <a:rPr sz="1600" dirty="0"/>
              <a:t>project/</a:t>
            </a:r>
            <a:br>
              <a:rPr sz="1600" dirty="0"/>
            </a:br>
            <a:r>
              <a:rPr sz="1600" dirty="0"/>
              <a:t>  ├── geometry/</a:t>
            </a:r>
            <a:br>
              <a:rPr sz="1600" dirty="0"/>
            </a:br>
            <a:r>
              <a:rPr sz="1600" dirty="0"/>
              <a:t>  │   ├── __init__.py</a:t>
            </a:r>
            <a:br>
              <a:rPr sz="1600" dirty="0"/>
            </a:br>
            <a:r>
              <a:rPr sz="1600" dirty="0"/>
              <a:t>  │   └── shapes.py</a:t>
            </a:r>
            <a:br>
              <a:rPr sz="1600" dirty="0"/>
            </a:br>
            <a:r>
              <a:rPr sz="1600" dirty="0"/>
              <a:t>  └── app.py</a:t>
            </a:r>
            <a:br>
              <a:rPr sz="1600" dirty="0"/>
            </a:br>
            <a:br>
              <a:rPr sz="1600" dirty="0"/>
            </a:br>
            <a:r>
              <a:rPr sz="1600" dirty="0"/>
              <a:t># shapes.py</a:t>
            </a:r>
            <a:br>
              <a:rPr sz="1600" dirty="0"/>
            </a:br>
            <a:r>
              <a:rPr sz="1600" dirty="0"/>
              <a:t>def </a:t>
            </a:r>
            <a:r>
              <a:rPr sz="1600" dirty="0" err="1"/>
              <a:t>area_circle</a:t>
            </a:r>
            <a:r>
              <a:rPr sz="1600" dirty="0"/>
              <a:t>(r): from math import pi; return pi * r ** 2</a:t>
            </a:r>
            <a:br>
              <a:rPr sz="1600" dirty="0"/>
            </a:br>
            <a:br>
              <a:rPr sz="1600" dirty="0"/>
            </a:br>
            <a:r>
              <a:rPr sz="1600" dirty="0"/>
              <a:t># __init__.py</a:t>
            </a:r>
            <a:br>
              <a:rPr sz="1600" dirty="0"/>
            </a:br>
            <a:r>
              <a:rPr sz="1600" dirty="0"/>
              <a:t>from .shapes import </a:t>
            </a:r>
            <a:r>
              <a:rPr sz="1600" dirty="0" err="1"/>
              <a:t>area_circle</a:t>
            </a:r>
            <a:br>
              <a:rPr sz="1600" dirty="0"/>
            </a:br>
            <a:r>
              <a:rPr sz="1600" dirty="0"/>
              <a:t>__all__ = ["</a:t>
            </a:r>
            <a:r>
              <a:rPr sz="1600" dirty="0" err="1"/>
              <a:t>area_circle</a:t>
            </a:r>
            <a:r>
              <a:rPr sz="1600" dirty="0"/>
              <a:t>"]</a:t>
            </a:r>
            <a:br>
              <a:rPr sz="1600" dirty="0"/>
            </a:br>
            <a:br>
              <a:rPr sz="1600" dirty="0"/>
            </a:br>
            <a:r>
              <a:rPr sz="1600" dirty="0"/>
              <a:t># app.py</a:t>
            </a:r>
            <a:br>
              <a:rPr sz="1600" dirty="0"/>
            </a:br>
            <a:r>
              <a:rPr sz="1600" dirty="0"/>
              <a:t>from geometry import </a:t>
            </a:r>
            <a:r>
              <a:rPr sz="1600" dirty="0" err="1"/>
              <a:t>area_circle</a:t>
            </a:r>
            <a:br>
              <a:rPr sz="1600" dirty="0"/>
            </a:br>
            <a:r>
              <a:rPr sz="1600" dirty="0"/>
              <a:t>print(</a:t>
            </a:r>
            <a:r>
              <a:rPr sz="1600" dirty="0" err="1"/>
              <a:t>area_circle</a:t>
            </a:r>
            <a:r>
              <a:rPr sz="1600" dirty="0"/>
              <a:t>(5))</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 Patterns &amp; Aliases</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400" dirty="0"/>
              <a:t>import datetime as dt</a:t>
            </a:r>
            <a:br>
              <a:rPr sz="2400" dirty="0"/>
            </a:br>
            <a:r>
              <a:rPr sz="2400" dirty="0"/>
              <a:t>from </a:t>
            </a:r>
            <a:r>
              <a:rPr sz="2400" dirty="0" err="1"/>
              <a:t>pathlib</a:t>
            </a:r>
            <a:r>
              <a:rPr sz="2400" dirty="0"/>
              <a:t> import Path</a:t>
            </a:r>
            <a:br>
              <a:rPr sz="2400" dirty="0"/>
            </a:br>
            <a:r>
              <a:rPr sz="2400" dirty="0"/>
              <a:t>from collections import </a:t>
            </a:r>
            <a:r>
              <a:rPr sz="2400" dirty="0" err="1"/>
              <a:t>defaultdict</a:t>
            </a:r>
            <a:r>
              <a:rPr sz="2400" dirty="0"/>
              <a:t>, Counter</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File I/O Basics</a:t>
            </a:r>
          </a:p>
        </p:txBody>
      </p:sp>
      <p:sp>
        <p:nvSpPr>
          <p:cNvPr id="3" name="Content Placeholder 2"/>
          <p:cNvSpPr>
            <a:spLocks noGrp="1"/>
          </p:cNvSpPr>
          <p:nvPr>
            <p:ph idx="1"/>
          </p:nvPr>
        </p:nvSpPr>
        <p:spPr/>
        <p:txBody>
          <a:bodyPr/>
          <a:lstStyle/>
          <a:p>
            <a:r>
              <a:t>Read and write text files</a:t>
            </a:r>
          </a:p>
          <a:p>
            <a:r>
              <a:t>Use with statement for safety</a:t>
            </a:r>
          </a:p>
          <a:p>
            <a:r>
              <a:t>Work with CSV and JSON data</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7"/>
            <a:ext cx="8229600" cy="1143000"/>
          </a:xfrm>
        </p:spPr>
        <p:txBody>
          <a:bodyPr/>
          <a:lstStyle/>
          <a:p>
            <a:r>
              <a:rPr dirty="0"/>
              <a:t>File I/O – Text &amp; CSV</a:t>
            </a:r>
          </a:p>
        </p:txBody>
      </p:sp>
      <p:sp>
        <p:nvSpPr>
          <p:cNvPr id="3" name="Content Placeholder 2"/>
          <p:cNvSpPr>
            <a:spLocks noGrp="1"/>
          </p:cNvSpPr>
          <p:nvPr>
            <p:ph idx="1"/>
          </p:nvPr>
        </p:nvSpPr>
        <p:spPr>
          <a:xfrm>
            <a:off x="457200" y="1587500"/>
            <a:ext cx="11493500" cy="4538663"/>
          </a:xfrm>
        </p:spPr>
        <p:txBody>
          <a:bodyPr>
            <a:normAutofit/>
          </a:bodyPr>
          <a:lstStyle/>
          <a:p>
            <a:pPr marL="0" indent="0" algn="l">
              <a:buNone/>
              <a:defRPr sz="1500">
                <a:latin typeface="Courier New"/>
              </a:defRPr>
            </a:pPr>
            <a:r>
              <a:rPr sz="2000" dirty="0"/>
              <a:t>with open("haiku.txt", "w") as f:</a:t>
            </a:r>
            <a:br>
              <a:rPr sz="2000" dirty="0"/>
            </a:br>
            <a:r>
              <a:rPr sz="2000" dirty="0"/>
              <a:t>    </a:t>
            </a:r>
            <a:r>
              <a:rPr sz="2000" dirty="0" err="1"/>
              <a:t>f.write</a:t>
            </a:r>
            <a:r>
              <a:rPr sz="2000" dirty="0"/>
              <a:t>("Ancient silent pond\n…")</a:t>
            </a:r>
            <a:br>
              <a:rPr sz="2000" dirty="0"/>
            </a:br>
            <a:br>
              <a:rPr sz="2000" dirty="0"/>
            </a:br>
            <a:r>
              <a:rPr sz="2000" dirty="0"/>
              <a:t>with open("haiku.txt") as f:</a:t>
            </a:r>
            <a:br>
              <a:rPr sz="2000" dirty="0"/>
            </a:br>
            <a:r>
              <a:rPr sz="2000" dirty="0"/>
              <a:t>    for </a:t>
            </a:r>
            <a:r>
              <a:rPr sz="2000" dirty="0" err="1"/>
              <a:t>i</a:t>
            </a:r>
            <a:r>
              <a:rPr sz="2000" dirty="0"/>
              <a:t>, line in enumerate(f, 1):</a:t>
            </a:r>
            <a:br>
              <a:rPr sz="2000" dirty="0"/>
            </a:br>
            <a:r>
              <a:rPr sz="2000" dirty="0"/>
              <a:t>        print(f"{</a:t>
            </a:r>
            <a:r>
              <a:rPr sz="2000" dirty="0" err="1"/>
              <a:t>i</a:t>
            </a:r>
            <a:r>
              <a:rPr sz="2000" dirty="0"/>
              <a:t>}: {</a:t>
            </a:r>
            <a:r>
              <a:rPr sz="2000" dirty="0" err="1"/>
              <a:t>line.rstrip</a:t>
            </a:r>
            <a:r>
              <a:rPr sz="2000" dirty="0"/>
              <a:t>()}")</a:t>
            </a:r>
            <a:br>
              <a:rPr sz="2000" dirty="0"/>
            </a:br>
            <a:br>
              <a:rPr sz="2000" dirty="0"/>
            </a:br>
            <a:r>
              <a:rPr sz="2000" dirty="0"/>
              <a:t>import csv</a:t>
            </a:r>
            <a:br>
              <a:rPr sz="2000" dirty="0"/>
            </a:br>
            <a:r>
              <a:rPr sz="2000" dirty="0"/>
              <a:t>rows = [{"name": "Ada", "age": 36}, {"name": "Linus", "age": 52}]</a:t>
            </a:r>
            <a:br>
              <a:rPr sz="2000" dirty="0"/>
            </a:br>
            <a:r>
              <a:rPr sz="2000" dirty="0"/>
              <a:t>with open("users.csv", "w", newline="") as f:</a:t>
            </a:r>
            <a:br>
              <a:rPr sz="2000" dirty="0"/>
            </a:br>
            <a:r>
              <a:rPr sz="2000" dirty="0"/>
              <a:t>    writer = </a:t>
            </a:r>
            <a:r>
              <a:rPr sz="2000" dirty="0" err="1"/>
              <a:t>csv.DictWriter</a:t>
            </a:r>
            <a:r>
              <a:rPr sz="2000" dirty="0"/>
              <a:t>(f, fieldnames=["name", "age"])</a:t>
            </a:r>
            <a:br>
              <a:rPr sz="2000" dirty="0"/>
            </a:br>
            <a:r>
              <a:rPr sz="2000" dirty="0"/>
              <a:t>    </a:t>
            </a:r>
            <a:r>
              <a:rPr sz="2000" dirty="0" err="1"/>
              <a:t>writer.writeheader</a:t>
            </a:r>
            <a:r>
              <a:rPr sz="2000" dirty="0"/>
              <a:t>(); </a:t>
            </a:r>
            <a:r>
              <a:rPr sz="2000" dirty="0" err="1"/>
              <a:t>writer.writerows</a:t>
            </a:r>
            <a:r>
              <a:rPr sz="2000" dirty="0"/>
              <a:t>(rows)</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AC820-E7AD-86A2-AA28-236FAC7BA68C}"/>
              </a:ext>
            </a:extLst>
          </p:cNvPr>
          <p:cNvSpPr>
            <a:spLocks noGrp="1"/>
          </p:cNvSpPr>
          <p:nvPr>
            <p:ph type="title"/>
          </p:nvPr>
        </p:nvSpPr>
        <p:spPr/>
        <p:txBody>
          <a:bodyPr>
            <a:normAutofit/>
          </a:bodyPr>
          <a:lstStyle/>
          <a:p>
            <a:r>
              <a:rPr lang="en-US" b="1" dirty="0"/>
              <a:t>File I/O (Production-Safe)</a:t>
            </a:r>
            <a:endParaRPr lang="en-SG" dirty="0"/>
          </a:p>
        </p:txBody>
      </p:sp>
      <p:sp>
        <p:nvSpPr>
          <p:cNvPr id="3" name="Content Placeholder 2">
            <a:extLst>
              <a:ext uri="{FF2B5EF4-FFF2-40B4-BE49-F238E27FC236}">
                <a16:creationId xmlns:a16="http://schemas.microsoft.com/office/drawing/2014/main" id="{667F216A-AB57-7DFC-B4C2-55B0B8B00E41}"/>
              </a:ext>
            </a:extLst>
          </p:cNvPr>
          <p:cNvSpPr>
            <a:spLocks noGrp="1"/>
          </p:cNvSpPr>
          <p:nvPr>
            <p:ph idx="1"/>
          </p:nvPr>
        </p:nvSpPr>
        <p:spPr/>
        <p:txBody>
          <a:bodyPr/>
          <a:lstStyle/>
          <a:p>
            <a:r>
              <a:rPr lang="en-US" dirty="0"/>
              <a:t>Always use with</a:t>
            </a:r>
          </a:p>
          <a:p>
            <a:r>
              <a:rPr lang="en-US" dirty="0"/>
              <a:t>Prefer </a:t>
            </a:r>
            <a:r>
              <a:rPr lang="en-US" dirty="0" err="1"/>
              <a:t>pathlib</a:t>
            </a:r>
            <a:endParaRPr lang="en-US" dirty="0"/>
          </a:p>
          <a:p>
            <a:r>
              <a:rPr lang="en-US" dirty="0"/>
              <a:t>Text, CSV, JSON for system boundaries</a:t>
            </a:r>
          </a:p>
          <a:p>
            <a:endParaRPr lang="en-SG" dirty="0"/>
          </a:p>
        </p:txBody>
      </p:sp>
    </p:spTree>
    <p:extLst>
      <p:ext uri="{BB962C8B-B14F-4D97-AF65-F5344CB8AC3E}">
        <p14:creationId xmlns:p14="http://schemas.microsoft.com/office/powerpoint/2010/main" val="883510313"/>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B5E4B-0D36-6A2A-9206-A5BE7DC6A300}"/>
              </a:ext>
            </a:extLst>
          </p:cNvPr>
          <p:cNvSpPr>
            <a:spLocks noGrp="1"/>
          </p:cNvSpPr>
          <p:nvPr>
            <p:ph type="title"/>
          </p:nvPr>
        </p:nvSpPr>
        <p:spPr>
          <a:xfrm>
            <a:off x="457200" y="274638"/>
            <a:ext cx="11036300" cy="1143000"/>
          </a:xfrm>
        </p:spPr>
        <p:txBody>
          <a:bodyPr>
            <a:normAutofit/>
          </a:bodyPr>
          <a:lstStyle/>
          <a:p>
            <a:r>
              <a:rPr lang="en-US" dirty="0"/>
              <a:t>Error Handling &amp; Context Managers</a:t>
            </a:r>
            <a:endParaRPr lang="en-SG" dirty="0"/>
          </a:p>
        </p:txBody>
      </p:sp>
      <p:sp>
        <p:nvSpPr>
          <p:cNvPr id="3" name="Content Placeholder 2">
            <a:extLst>
              <a:ext uri="{FF2B5EF4-FFF2-40B4-BE49-F238E27FC236}">
                <a16:creationId xmlns:a16="http://schemas.microsoft.com/office/drawing/2014/main" id="{2339B22E-3B9B-EFAA-DD32-D88127BF5A36}"/>
              </a:ext>
            </a:extLst>
          </p:cNvPr>
          <p:cNvSpPr>
            <a:spLocks noGrp="1"/>
          </p:cNvSpPr>
          <p:nvPr>
            <p:ph idx="1"/>
          </p:nvPr>
        </p:nvSpPr>
        <p:spPr>
          <a:xfrm>
            <a:off x="457200" y="1600200"/>
            <a:ext cx="11264900" cy="3086099"/>
          </a:xfrm>
        </p:spPr>
        <p:txBody>
          <a:bodyPr>
            <a:normAutofit fontScale="85000" lnSpcReduction="20000"/>
          </a:bodyPr>
          <a:lstStyle/>
          <a:p>
            <a:r>
              <a:rPr lang="en-US" dirty="0"/>
              <a:t>Engineering code must be resilient to failure.</a:t>
            </a:r>
          </a:p>
          <a:p>
            <a:r>
              <a:rPr lang="en-US" b="1" dirty="0"/>
              <a:t>Exception Handling:</a:t>
            </a:r>
            <a:r>
              <a:rPr lang="en-US" dirty="0"/>
              <a:t> Use try/except/finally blocks to catch specific errors (e.g., </a:t>
            </a:r>
            <a:r>
              <a:rPr lang="en-US" dirty="0" err="1"/>
              <a:t>ValueError</a:t>
            </a:r>
            <a:r>
              <a:rPr lang="en-US" dirty="0"/>
              <a:t>, </a:t>
            </a:r>
            <a:r>
              <a:rPr lang="en-US" dirty="0" err="1"/>
              <a:t>KeyError</a:t>
            </a:r>
            <a:r>
              <a:rPr lang="en-US" dirty="0"/>
              <a:t>).</a:t>
            </a:r>
          </a:p>
          <a:p>
            <a:r>
              <a:rPr lang="en-US" b="1" dirty="0"/>
              <a:t>EAFP Principle:</a:t>
            </a:r>
            <a:r>
              <a:rPr lang="en-US" dirty="0"/>
              <a:t> "Easier to Ask Forgiveness than Permission"—Pythonistas prefer trying an action and catching the error rather than checking conditions first.</a:t>
            </a:r>
          </a:p>
          <a:p>
            <a:r>
              <a:rPr lang="en-US" b="1" dirty="0"/>
              <a:t>Context Managers (with):</a:t>
            </a:r>
            <a:r>
              <a:rPr lang="en-US" dirty="0"/>
              <a:t> Ensures resources (like files or database connections) are properly closed, even if an error occurs.</a:t>
            </a:r>
          </a:p>
          <a:p>
            <a:endParaRPr lang="en-SG" dirty="0"/>
          </a:p>
        </p:txBody>
      </p:sp>
      <p:sp>
        <p:nvSpPr>
          <p:cNvPr id="5" name="TextBox 4">
            <a:extLst>
              <a:ext uri="{FF2B5EF4-FFF2-40B4-BE49-F238E27FC236}">
                <a16:creationId xmlns:a16="http://schemas.microsoft.com/office/drawing/2014/main" id="{FC50A4F6-0ED3-6FA0-E450-8E19285283E4}"/>
              </a:ext>
            </a:extLst>
          </p:cNvPr>
          <p:cNvSpPr txBox="1"/>
          <p:nvPr/>
        </p:nvSpPr>
        <p:spPr>
          <a:xfrm>
            <a:off x="571500" y="5029200"/>
            <a:ext cx="11036300"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800" dirty="0"/>
              <a:t>with open('data.txt', 'r') as file:</a:t>
            </a:r>
          </a:p>
          <a:p>
            <a:r>
              <a:rPr lang="en-US" sz="2800" dirty="0"/>
              <a:t>    content = </a:t>
            </a:r>
            <a:r>
              <a:rPr lang="en-US" sz="2800" dirty="0" err="1"/>
              <a:t>file.read</a:t>
            </a:r>
            <a:r>
              <a:rPr lang="en-US" sz="2800" dirty="0"/>
              <a:t>()</a:t>
            </a:r>
          </a:p>
          <a:p>
            <a:r>
              <a:rPr lang="en-US" sz="2800" dirty="0"/>
              <a:t># File is automatically closed here</a:t>
            </a:r>
            <a:endParaRPr lang="en-SG" sz="2800" dirty="0"/>
          </a:p>
        </p:txBody>
      </p:sp>
    </p:spTree>
    <p:extLst>
      <p:ext uri="{BB962C8B-B14F-4D97-AF65-F5344CB8AC3E}">
        <p14:creationId xmlns:p14="http://schemas.microsoft.com/office/powerpoint/2010/main" val="963848876"/>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417A3-51D3-989C-8C9B-50D673F106EA}"/>
              </a:ext>
            </a:extLst>
          </p:cNvPr>
          <p:cNvSpPr>
            <a:spLocks noGrp="1"/>
          </p:cNvSpPr>
          <p:nvPr>
            <p:ph type="title"/>
          </p:nvPr>
        </p:nvSpPr>
        <p:spPr/>
        <p:txBody>
          <a:bodyPr>
            <a:normAutofit/>
          </a:bodyPr>
          <a:lstStyle/>
          <a:p>
            <a:r>
              <a:rPr lang="en-US" dirty="0"/>
              <a:t>Why Error Handling Exists</a:t>
            </a:r>
          </a:p>
        </p:txBody>
      </p:sp>
      <p:sp>
        <p:nvSpPr>
          <p:cNvPr id="3" name="Content Placeholder 2">
            <a:extLst>
              <a:ext uri="{FF2B5EF4-FFF2-40B4-BE49-F238E27FC236}">
                <a16:creationId xmlns:a16="http://schemas.microsoft.com/office/drawing/2014/main" id="{6636A299-B593-DE0B-5C60-75701260007F}"/>
              </a:ext>
            </a:extLst>
          </p:cNvPr>
          <p:cNvSpPr>
            <a:spLocks noGrp="1"/>
          </p:cNvSpPr>
          <p:nvPr>
            <p:ph idx="1"/>
          </p:nvPr>
        </p:nvSpPr>
        <p:spPr>
          <a:xfrm>
            <a:off x="457200" y="1600200"/>
            <a:ext cx="11099800" cy="4525963"/>
          </a:xfrm>
        </p:spPr>
        <p:txBody>
          <a:bodyPr/>
          <a:lstStyle/>
          <a:p>
            <a:r>
              <a:rPr lang="en-US" dirty="0"/>
              <a:t>Failures are </a:t>
            </a:r>
            <a:r>
              <a:rPr lang="en-US" b="1" dirty="0"/>
              <a:t>normal</a:t>
            </a:r>
            <a:r>
              <a:rPr lang="en-US" dirty="0"/>
              <a:t>, not exceptional</a:t>
            </a:r>
          </a:p>
          <a:p>
            <a:r>
              <a:rPr lang="en-US" dirty="0"/>
              <a:t>Systems must fail </a:t>
            </a:r>
            <a:r>
              <a:rPr lang="en-US" b="1" dirty="0"/>
              <a:t>predictably</a:t>
            </a:r>
            <a:endParaRPr lang="en-US" dirty="0"/>
          </a:p>
          <a:p>
            <a:r>
              <a:rPr lang="en-US" dirty="0"/>
              <a:t>Debuggability is a </a:t>
            </a:r>
            <a:r>
              <a:rPr lang="en-US" b="1" dirty="0"/>
              <a:t>feature</a:t>
            </a:r>
            <a:endParaRPr lang="en-US" dirty="0"/>
          </a:p>
          <a:p>
            <a:pPr marL="0" indent="0">
              <a:buNone/>
            </a:pPr>
            <a:r>
              <a:rPr lang="en-US" b="1" dirty="0"/>
              <a:t>Outcome:</a:t>
            </a:r>
            <a:r>
              <a:rPr lang="en-US" dirty="0"/>
              <a:t> engineers design software that fails </a:t>
            </a:r>
            <a:r>
              <a:rPr lang="en-US" i="1" dirty="0"/>
              <a:t>safely and visibly</a:t>
            </a:r>
            <a:endParaRPr lang="en-US" dirty="0"/>
          </a:p>
        </p:txBody>
      </p:sp>
    </p:spTree>
    <p:extLst>
      <p:ext uri="{BB962C8B-B14F-4D97-AF65-F5344CB8AC3E}">
        <p14:creationId xmlns:p14="http://schemas.microsoft.com/office/powerpoint/2010/main" val="121971188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5163-B3B6-517A-9703-7408C821D7FE}"/>
              </a:ext>
            </a:extLst>
          </p:cNvPr>
          <p:cNvSpPr>
            <a:spLocks noGrp="1"/>
          </p:cNvSpPr>
          <p:nvPr>
            <p:ph type="title"/>
          </p:nvPr>
        </p:nvSpPr>
        <p:spPr/>
        <p:txBody>
          <a:bodyPr>
            <a:normAutofit/>
          </a:bodyPr>
          <a:lstStyle/>
          <a:p>
            <a:r>
              <a:rPr lang="en-US" dirty="0"/>
              <a:t>What Errors Really Mean</a:t>
            </a:r>
          </a:p>
        </p:txBody>
      </p:sp>
      <p:sp>
        <p:nvSpPr>
          <p:cNvPr id="3" name="Content Placeholder 2">
            <a:extLst>
              <a:ext uri="{FF2B5EF4-FFF2-40B4-BE49-F238E27FC236}">
                <a16:creationId xmlns:a16="http://schemas.microsoft.com/office/drawing/2014/main" id="{B02EFEEC-F4B5-D64F-3FC0-CB714C1F4320}"/>
              </a:ext>
            </a:extLst>
          </p:cNvPr>
          <p:cNvSpPr>
            <a:spLocks noGrp="1"/>
          </p:cNvSpPr>
          <p:nvPr>
            <p:ph idx="1"/>
          </p:nvPr>
        </p:nvSpPr>
        <p:spPr>
          <a:xfrm>
            <a:off x="457200" y="1600200"/>
            <a:ext cx="10414000" cy="4525963"/>
          </a:xfrm>
        </p:spPr>
        <p:txBody>
          <a:bodyPr>
            <a:normAutofit/>
          </a:bodyPr>
          <a:lstStyle/>
          <a:p>
            <a:pPr marL="0" indent="0">
              <a:buNone/>
            </a:pPr>
            <a:r>
              <a:rPr lang="en-US" dirty="0"/>
              <a:t>Errors indicate:</a:t>
            </a:r>
          </a:p>
          <a:p>
            <a:pPr lvl="1"/>
            <a:r>
              <a:rPr lang="en-US" dirty="0"/>
              <a:t>Invalid inputs</a:t>
            </a:r>
          </a:p>
          <a:p>
            <a:pPr lvl="1"/>
            <a:r>
              <a:rPr lang="en-US" dirty="0"/>
              <a:t>Broken assumptions</a:t>
            </a:r>
          </a:p>
          <a:p>
            <a:pPr lvl="1"/>
            <a:r>
              <a:rPr lang="en-US" dirty="0"/>
              <a:t>Missing dependencies</a:t>
            </a:r>
          </a:p>
          <a:p>
            <a:pPr lvl="1"/>
            <a:r>
              <a:rPr lang="en-US" dirty="0"/>
              <a:t>External system failures</a:t>
            </a:r>
          </a:p>
          <a:p>
            <a:pPr marL="0" indent="0">
              <a:buNone/>
            </a:pPr>
            <a:endParaRPr lang="en-US" b="1" dirty="0"/>
          </a:p>
          <a:p>
            <a:pPr marL="0" indent="0">
              <a:buNone/>
            </a:pPr>
            <a:r>
              <a:rPr lang="en-US" b="1" dirty="0"/>
              <a:t>Mental model - </a:t>
            </a:r>
            <a:r>
              <a:rPr lang="en-US" dirty="0"/>
              <a:t>Errors are </a:t>
            </a:r>
            <a:r>
              <a:rPr lang="en-US" i="1" dirty="0"/>
              <a:t>signals</a:t>
            </a:r>
            <a:r>
              <a:rPr lang="en-US" dirty="0"/>
              <a:t>, not mistakes to hide</a:t>
            </a:r>
          </a:p>
        </p:txBody>
      </p:sp>
    </p:spTree>
    <p:extLst>
      <p:ext uri="{BB962C8B-B14F-4D97-AF65-F5344CB8AC3E}">
        <p14:creationId xmlns:p14="http://schemas.microsoft.com/office/powerpoint/2010/main" val="3727867456"/>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4CEA-74D7-0AB4-F0E7-0069B5BF2485}"/>
              </a:ext>
            </a:extLst>
          </p:cNvPr>
          <p:cNvSpPr>
            <a:spLocks noGrp="1"/>
          </p:cNvSpPr>
          <p:nvPr>
            <p:ph type="title"/>
          </p:nvPr>
        </p:nvSpPr>
        <p:spPr/>
        <p:txBody>
          <a:bodyPr>
            <a:normAutofit/>
          </a:bodyPr>
          <a:lstStyle/>
          <a:p>
            <a:r>
              <a:rPr lang="en-US" dirty="0"/>
              <a:t>Two Categories of Errors</a:t>
            </a:r>
            <a:endParaRPr lang="en-SG" dirty="0"/>
          </a:p>
        </p:txBody>
      </p:sp>
      <p:sp>
        <p:nvSpPr>
          <p:cNvPr id="3" name="Content Placeholder 2">
            <a:extLst>
              <a:ext uri="{FF2B5EF4-FFF2-40B4-BE49-F238E27FC236}">
                <a16:creationId xmlns:a16="http://schemas.microsoft.com/office/drawing/2014/main" id="{680CBBFA-071F-3D40-B6AD-3356FCC9103C}"/>
              </a:ext>
            </a:extLst>
          </p:cNvPr>
          <p:cNvSpPr>
            <a:spLocks noGrp="1"/>
          </p:cNvSpPr>
          <p:nvPr>
            <p:ph idx="1"/>
          </p:nvPr>
        </p:nvSpPr>
        <p:spPr>
          <a:xfrm>
            <a:off x="558800" y="1765300"/>
            <a:ext cx="5168900" cy="2628902"/>
          </a:xfrm>
        </p:spPr>
        <p:style>
          <a:lnRef idx="2">
            <a:schemeClr val="dk1"/>
          </a:lnRef>
          <a:fillRef idx="1">
            <a:schemeClr val="lt1"/>
          </a:fillRef>
          <a:effectRef idx="0">
            <a:schemeClr val="dk1"/>
          </a:effectRef>
          <a:fontRef idx="minor">
            <a:schemeClr val="dk1"/>
          </a:fontRef>
        </p:style>
        <p:txBody>
          <a:bodyPr>
            <a:normAutofit/>
          </a:bodyPr>
          <a:lstStyle/>
          <a:p>
            <a:r>
              <a:rPr lang="en-US" b="1" dirty="0"/>
              <a:t>Recoverable</a:t>
            </a:r>
            <a:endParaRPr lang="en-US" dirty="0"/>
          </a:p>
          <a:p>
            <a:pPr lvl="1"/>
            <a:r>
              <a:rPr lang="en-US" dirty="0"/>
              <a:t>Invalid user input</a:t>
            </a:r>
          </a:p>
          <a:p>
            <a:pPr lvl="1"/>
            <a:r>
              <a:rPr lang="en-US" dirty="0"/>
              <a:t>Missing optional data</a:t>
            </a:r>
          </a:p>
          <a:p>
            <a:pPr lvl="1"/>
            <a:r>
              <a:rPr lang="en-US" dirty="0"/>
              <a:t>Transient network failures</a:t>
            </a:r>
          </a:p>
          <a:p>
            <a:endParaRPr lang="en-SG" dirty="0"/>
          </a:p>
        </p:txBody>
      </p:sp>
      <p:sp>
        <p:nvSpPr>
          <p:cNvPr id="4" name="Content Placeholder 2">
            <a:extLst>
              <a:ext uri="{FF2B5EF4-FFF2-40B4-BE49-F238E27FC236}">
                <a16:creationId xmlns:a16="http://schemas.microsoft.com/office/drawing/2014/main" id="{077ABE26-984F-43C7-2B54-65114CEC582F}"/>
              </a:ext>
            </a:extLst>
          </p:cNvPr>
          <p:cNvSpPr txBox="1">
            <a:spLocks/>
          </p:cNvSpPr>
          <p:nvPr/>
        </p:nvSpPr>
        <p:spPr>
          <a:xfrm>
            <a:off x="6286500" y="1765301"/>
            <a:ext cx="5168900" cy="26289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Non-recoverable</a:t>
            </a:r>
            <a:endParaRPr lang="en-US" dirty="0"/>
          </a:p>
          <a:p>
            <a:pPr lvl="1"/>
            <a:r>
              <a:rPr lang="en-US" dirty="0"/>
              <a:t>Programmer errors</a:t>
            </a:r>
          </a:p>
          <a:p>
            <a:pPr lvl="1"/>
            <a:r>
              <a:rPr lang="en-US" dirty="0"/>
              <a:t>Corrupted state</a:t>
            </a:r>
          </a:p>
          <a:p>
            <a:pPr lvl="1"/>
            <a:r>
              <a:rPr lang="en-US" dirty="0"/>
              <a:t>Violated invariants</a:t>
            </a:r>
          </a:p>
          <a:p>
            <a:pPr marL="0" indent="0">
              <a:buNone/>
            </a:pPr>
            <a:endParaRPr lang="en-SG" dirty="0"/>
          </a:p>
        </p:txBody>
      </p:sp>
      <p:sp>
        <p:nvSpPr>
          <p:cNvPr id="5" name="TextBox 4">
            <a:extLst>
              <a:ext uri="{FF2B5EF4-FFF2-40B4-BE49-F238E27FC236}">
                <a16:creationId xmlns:a16="http://schemas.microsoft.com/office/drawing/2014/main" id="{B49D8E03-6435-A5B1-7AB6-8C0ABFC85F67}"/>
              </a:ext>
            </a:extLst>
          </p:cNvPr>
          <p:cNvSpPr txBox="1"/>
          <p:nvPr/>
        </p:nvSpPr>
        <p:spPr>
          <a:xfrm>
            <a:off x="558800" y="5092700"/>
            <a:ext cx="10896600" cy="10772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3200" b="1" dirty="0"/>
              <a:t>Rule:</a:t>
            </a:r>
            <a:r>
              <a:rPr lang="en-US" sz="3200" dirty="0"/>
              <a:t> treat them differently</a:t>
            </a:r>
          </a:p>
          <a:p>
            <a:endParaRPr lang="en-SG" sz="3200" dirty="0"/>
          </a:p>
        </p:txBody>
      </p:sp>
    </p:spTree>
    <p:extLst>
      <p:ext uri="{BB962C8B-B14F-4D97-AF65-F5344CB8AC3E}">
        <p14:creationId xmlns:p14="http://schemas.microsoft.com/office/powerpoint/2010/main" val="1469491615"/>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A5E95-836E-27D6-4E3E-F6A75DE9AC48}"/>
              </a:ext>
            </a:extLst>
          </p:cNvPr>
          <p:cNvSpPr>
            <a:spLocks noGrp="1"/>
          </p:cNvSpPr>
          <p:nvPr>
            <p:ph type="title"/>
          </p:nvPr>
        </p:nvSpPr>
        <p:spPr/>
        <p:txBody>
          <a:bodyPr>
            <a:normAutofit fontScale="90000"/>
          </a:bodyPr>
          <a:lstStyle/>
          <a:p>
            <a:r>
              <a:rPr lang="en-US" dirty="0"/>
              <a:t>Catch Specific Exceptions</a:t>
            </a:r>
            <a:br>
              <a:rPr lang="en-US" dirty="0"/>
            </a:br>
            <a:endParaRPr lang="en-SG" dirty="0"/>
          </a:p>
        </p:txBody>
      </p:sp>
      <p:sp>
        <p:nvSpPr>
          <p:cNvPr id="3" name="Content Placeholder 2">
            <a:extLst>
              <a:ext uri="{FF2B5EF4-FFF2-40B4-BE49-F238E27FC236}">
                <a16:creationId xmlns:a16="http://schemas.microsoft.com/office/drawing/2014/main" id="{8913E631-14AB-2A91-8051-4D87734A2C0A}"/>
              </a:ext>
            </a:extLst>
          </p:cNvPr>
          <p:cNvSpPr>
            <a:spLocks noGrp="1"/>
          </p:cNvSpPr>
          <p:nvPr>
            <p:ph idx="1"/>
          </p:nvPr>
        </p:nvSpPr>
        <p:spPr>
          <a:xfrm>
            <a:off x="457200" y="1079502"/>
            <a:ext cx="4724400" cy="5310980"/>
          </a:xfrm>
        </p:spPr>
        <p:style>
          <a:lnRef idx="2">
            <a:schemeClr val="dk1"/>
          </a:lnRef>
          <a:fillRef idx="1">
            <a:schemeClr val="lt1"/>
          </a:fillRef>
          <a:effectRef idx="0">
            <a:schemeClr val="dk1"/>
          </a:effectRef>
          <a:fontRef idx="minor">
            <a:schemeClr val="dk1"/>
          </a:fontRef>
        </p:style>
        <p:txBody>
          <a:bodyPr>
            <a:normAutofit lnSpcReduction="10000"/>
          </a:bodyPr>
          <a:lstStyle/>
          <a:p>
            <a:r>
              <a:rPr lang="en-US" b="1" dirty="0"/>
              <a:t>Catch Only What You Expect</a:t>
            </a:r>
          </a:p>
          <a:p>
            <a:pPr lvl="1"/>
            <a:r>
              <a:rPr lang="en-US" dirty="0"/>
              <a:t>Handle </a:t>
            </a:r>
            <a:r>
              <a:rPr lang="en-US" b="1" dirty="0"/>
              <a:t>specific</a:t>
            </a:r>
            <a:r>
              <a:rPr lang="en-US" dirty="0"/>
              <a:t> failure modes</a:t>
            </a:r>
          </a:p>
          <a:p>
            <a:pPr lvl="1"/>
            <a:r>
              <a:rPr lang="en-US" dirty="0"/>
              <a:t>Let unknown failures crash</a:t>
            </a:r>
          </a:p>
          <a:p>
            <a:pPr lvl="1"/>
            <a:r>
              <a:rPr lang="en-US" dirty="0"/>
              <a:t>Avoid except Exception</a:t>
            </a:r>
          </a:p>
          <a:p>
            <a:r>
              <a:rPr lang="en-US" b="1" dirty="0"/>
              <a:t>Why</a:t>
            </a:r>
            <a:endParaRPr lang="en-US" dirty="0"/>
          </a:p>
          <a:p>
            <a:pPr lvl="1"/>
            <a:r>
              <a:rPr lang="en-US" dirty="0"/>
              <a:t>Broad catches hide bugs</a:t>
            </a:r>
          </a:p>
          <a:p>
            <a:pPr lvl="1"/>
            <a:r>
              <a:rPr lang="en-US" dirty="0"/>
              <a:t>Specific catches document intent</a:t>
            </a:r>
          </a:p>
        </p:txBody>
      </p:sp>
      <p:sp>
        <p:nvSpPr>
          <p:cNvPr id="4" name="Content Placeholder 2">
            <a:extLst>
              <a:ext uri="{FF2B5EF4-FFF2-40B4-BE49-F238E27FC236}">
                <a16:creationId xmlns:a16="http://schemas.microsoft.com/office/drawing/2014/main" id="{E98D79E1-6C9F-E699-A990-6CCD7AD8A67E}"/>
              </a:ext>
            </a:extLst>
          </p:cNvPr>
          <p:cNvSpPr txBox="1">
            <a:spLocks/>
          </p:cNvSpPr>
          <p:nvPr/>
        </p:nvSpPr>
        <p:spPr>
          <a:xfrm>
            <a:off x="5851525" y="1079501"/>
            <a:ext cx="5880100" cy="25146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try:</a:t>
            </a:r>
          </a:p>
          <a:p>
            <a:pPr marL="0" indent="0">
              <a:buNone/>
            </a:pPr>
            <a:r>
              <a:rPr lang="en-US" dirty="0"/>
              <a:t>    value = int(text)</a:t>
            </a:r>
          </a:p>
          <a:p>
            <a:pPr marL="0" indent="0">
              <a:buNone/>
            </a:pPr>
            <a:r>
              <a:rPr lang="en-US" dirty="0"/>
              <a:t>except Exception:</a:t>
            </a:r>
          </a:p>
          <a:p>
            <a:pPr marL="0" indent="0">
              <a:buNone/>
            </a:pPr>
            <a:r>
              <a:rPr lang="en-US" dirty="0"/>
              <a:t>    pass</a:t>
            </a:r>
          </a:p>
        </p:txBody>
      </p:sp>
      <p:sp>
        <p:nvSpPr>
          <p:cNvPr id="6" name="Content Placeholder 2">
            <a:extLst>
              <a:ext uri="{FF2B5EF4-FFF2-40B4-BE49-F238E27FC236}">
                <a16:creationId xmlns:a16="http://schemas.microsoft.com/office/drawing/2014/main" id="{892C82BF-D8E7-904D-F166-5EADC36037F6}"/>
              </a:ext>
            </a:extLst>
          </p:cNvPr>
          <p:cNvSpPr txBox="1">
            <a:spLocks/>
          </p:cNvSpPr>
          <p:nvPr/>
        </p:nvSpPr>
        <p:spPr>
          <a:xfrm>
            <a:off x="5851525" y="3875882"/>
            <a:ext cx="5880100" cy="25146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try:</a:t>
            </a:r>
          </a:p>
          <a:p>
            <a:pPr marL="0" indent="0">
              <a:buNone/>
            </a:pPr>
            <a:r>
              <a:rPr lang="en-US" dirty="0"/>
              <a:t>    value = int(text)</a:t>
            </a:r>
          </a:p>
          <a:p>
            <a:pPr marL="0" indent="0">
              <a:buNone/>
            </a:pPr>
            <a:r>
              <a:rPr lang="en-US" dirty="0"/>
              <a:t>except </a:t>
            </a:r>
            <a:r>
              <a:rPr lang="en-US" dirty="0" err="1"/>
              <a:t>ValueError</a:t>
            </a:r>
            <a:r>
              <a:rPr lang="en-US" dirty="0"/>
              <a:t>:</a:t>
            </a:r>
          </a:p>
          <a:p>
            <a:pPr marL="0" indent="0">
              <a:buNone/>
            </a:pPr>
            <a:r>
              <a:rPr lang="en-US" dirty="0"/>
              <a:t>    </a:t>
            </a:r>
            <a:r>
              <a:rPr lang="en-US" dirty="0" err="1"/>
              <a:t>handle_invalid_input</a:t>
            </a:r>
            <a:r>
              <a:rPr lang="en-US" dirty="0"/>
              <a:t>()</a:t>
            </a:r>
          </a:p>
        </p:txBody>
      </p:sp>
    </p:spTree>
    <p:extLst>
      <p:ext uri="{BB962C8B-B14F-4D97-AF65-F5344CB8AC3E}">
        <p14:creationId xmlns:p14="http://schemas.microsoft.com/office/powerpoint/2010/main" val="1907044761"/>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B8CE5-0084-9B80-2F66-0B308B873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669AD-3C30-C134-A3D9-E7A63DDBF53B}"/>
              </a:ext>
            </a:extLst>
          </p:cNvPr>
          <p:cNvSpPr>
            <a:spLocks noGrp="1"/>
          </p:cNvSpPr>
          <p:nvPr>
            <p:ph type="title"/>
          </p:nvPr>
        </p:nvSpPr>
        <p:spPr/>
        <p:txBody>
          <a:bodyPr>
            <a:normAutofit/>
          </a:bodyPr>
          <a:lstStyle/>
          <a:p>
            <a:r>
              <a:rPr lang="en-SG" dirty="0"/>
              <a:t>Anti-Pattern: Blanket Catching</a:t>
            </a:r>
          </a:p>
        </p:txBody>
      </p:sp>
      <p:sp>
        <p:nvSpPr>
          <p:cNvPr id="3" name="Content Placeholder 2">
            <a:extLst>
              <a:ext uri="{FF2B5EF4-FFF2-40B4-BE49-F238E27FC236}">
                <a16:creationId xmlns:a16="http://schemas.microsoft.com/office/drawing/2014/main" id="{55AC2611-EA1B-F977-D75E-07AABE2B39C8}"/>
              </a:ext>
            </a:extLst>
          </p:cNvPr>
          <p:cNvSpPr>
            <a:spLocks noGrp="1"/>
          </p:cNvSpPr>
          <p:nvPr>
            <p:ph idx="1"/>
          </p:nvPr>
        </p:nvSpPr>
        <p:spPr>
          <a:xfrm>
            <a:off x="457200" y="1905002"/>
            <a:ext cx="4724400" cy="3403599"/>
          </a:xfrm>
        </p:spPr>
        <p:style>
          <a:lnRef idx="2">
            <a:schemeClr val="dk1"/>
          </a:lnRef>
          <a:fillRef idx="1">
            <a:schemeClr val="lt1"/>
          </a:fillRef>
          <a:effectRef idx="0">
            <a:schemeClr val="dk1"/>
          </a:effectRef>
          <a:fontRef idx="minor">
            <a:schemeClr val="dk1"/>
          </a:fontRef>
        </p:style>
        <p:txBody>
          <a:bodyPr>
            <a:normAutofit/>
          </a:bodyPr>
          <a:lstStyle/>
          <a:p>
            <a:r>
              <a:rPr lang="en-US" dirty="0"/>
              <a:t>Masks defects</a:t>
            </a:r>
          </a:p>
          <a:p>
            <a:r>
              <a:rPr lang="en-US" dirty="0"/>
              <a:t>Corrupts state</a:t>
            </a:r>
          </a:p>
          <a:p>
            <a:r>
              <a:rPr lang="en-US" dirty="0"/>
              <a:t>Breaks observability</a:t>
            </a:r>
          </a:p>
          <a:p>
            <a:r>
              <a:rPr lang="en-US" b="1" dirty="0"/>
              <a:t>This is never acceptable in production</a:t>
            </a:r>
            <a:endParaRPr lang="en-US" dirty="0"/>
          </a:p>
        </p:txBody>
      </p:sp>
      <p:sp>
        <p:nvSpPr>
          <p:cNvPr id="4" name="Content Placeholder 2">
            <a:extLst>
              <a:ext uri="{FF2B5EF4-FFF2-40B4-BE49-F238E27FC236}">
                <a16:creationId xmlns:a16="http://schemas.microsoft.com/office/drawing/2014/main" id="{FF0F9E6C-BB98-6DCE-388E-A0050B52DE8C}"/>
              </a:ext>
            </a:extLst>
          </p:cNvPr>
          <p:cNvSpPr txBox="1">
            <a:spLocks/>
          </p:cNvSpPr>
          <p:nvPr/>
        </p:nvSpPr>
        <p:spPr>
          <a:xfrm>
            <a:off x="5851525" y="1905001"/>
            <a:ext cx="5880100" cy="34036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try:</a:t>
            </a:r>
          </a:p>
          <a:p>
            <a:pPr marL="0" indent="0">
              <a:buNone/>
            </a:pPr>
            <a:r>
              <a:rPr lang="en-US" dirty="0"/>
              <a:t>    process(data)</a:t>
            </a:r>
          </a:p>
          <a:p>
            <a:pPr marL="0" indent="0">
              <a:buNone/>
            </a:pPr>
            <a:r>
              <a:rPr lang="en-US" dirty="0"/>
              <a:t>except Exception:</a:t>
            </a:r>
          </a:p>
          <a:p>
            <a:pPr marL="0" indent="0">
              <a:buNone/>
            </a:pPr>
            <a:r>
              <a:rPr lang="en-US" dirty="0"/>
              <a:t>    pass</a:t>
            </a:r>
          </a:p>
        </p:txBody>
      </p:sp>
    </p:spTree>
    <p:extLst>
      <p:ext uri="{BB962C8B-B14F-4D97-AF65-F5344CB8AC3E}">
        <p14:creationId xmlns:p14="http://schemas.microsoft.com/office/powerpoint/2010/main" val="1632025736"/>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D73E6-0033-0BB1-B59D-9A25A1D75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58320-8C2D-D3EE-0C93-7F506B1B5617}"/>
              </a:ext>
            </a:extLst>
          </p:cNvPr>
          <p:cNvSpPr>
            <a:spLocks noGrp="1"/>
          </p:cNvSpPr>
          <p:nvPr>
            <p:ph type="title"/>
          </p:nvPr>
        </p:nvSpPr>
        <p:spPr/>
        <p:txBody>
          <a:bodyPr>
            <a:normAutofit/>
          </a:bodyPr>
          <a:lstStyle/>
          <a:p>
            <a:r>
              <a:rPr lang="en-SG" dirty="0"/>
              <a:t>Correct Pattern: Narrow Catch</a:t>
            </a:r>
          </a:p>
        </p:txBody>
      </p:sp>
      <p:sp>
        <p:nvSpPr>
          <p:cNvPr id="3" name="Content Placeholder 2">
            <a:extLst>
              <a:ext uri="{FF2B5EF4-FFF2-40B4-BE49-F238E27FC236}">
                <a16:creationId xmlns:a16="http://schemas.microsoft.com/office/drawing/2014/main" id="{51F99217-D8B8-615F-4674-39A7EF576FFD}"/>
              </a:ext>
            </a:extLst>
          </p:cNvPr>
          <p:cNvSpPr>
            <a:spLocks noGrp="1"/>
          </p:cNvSpPr>
          <p:nvPr>
            <p:ph idx="1"/>
          </p:nvPr>
        </p:nvSpPr>
        <p:spPr>
          <a:xfrm>
            <a:off x="457200" y="1905002"/>
            <a:ext cx="4724400" cy="3403599"/>
          </a:xfrm>
        </p:spPr>
        <p:style>
          <a:lnRef idx="2">
            <a:schemeClr val="dk1"/>
          </a:lnRef>
          <a:fillRef idx="1">
            <a:schemeClr val="lt1"/>
          </a:fillRef>
          <a:effectRef idx="0">
            <a:schemeClr val="dk1"/>
          </a:effectRef>
          <a:fontRef idx="minor">
            <a:schemeClr val="dk1"/>
          </a:fontRef>
        </p:style>
        <p:txBody>
          <a:bodyPr>
            <a:normAutofit/>
          </a:bodyPr>
          <a:lstStyle/>
          <a:p>
            <a:r>
              <a:rPr lang="en-US" dirty="0"/>
              <a:t>Clear intent</a:t>
            </a:r>
          </a:p>
          <a:p>
            <a:r>
              <a:rPr lang="en-US" dirty="0"/>
              <a:t>Predictable behavior</a:t>
            </a:r>
          </a:p>
          <a:p>
            <a:r>
              <a:rPr lang="en-US" dirty="0"/>
              <a:t>Safer recovery</a:t>
            </a:r>
          </a:p>
        </p:txBody>
      </p:sp>
      <p:sp>
        <p:nvSpPr>
          <p:cNvPr id="4" name="Content Placeholder 2">
            <a:extLst>
              <a:ext uri="{FF2B5EF4-FFF2-40B4-BE49-F238E27FC236}">
                <a16:creationId xmlns:a16="http://schemas.microsoft.com/office/drawing/2014/main" id="{CD8DC11B-1091-8C24-E1A3-D867D1ED5293}"/>
              </a:ext>
            </a:extLst>
          </p:cNvPr>
          <p:cNvSpPr txBox="1">
            <a:spLocks/>
          </p:cNvSpPr>
          <p:nvPr/>
        </p:nvSpPr>
        <p:spPr>
          <a:xfrm>
            <a:off x="5851525" y="1905001"/>
            <a:ext cx="5880100" cy="34036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try:</a:t>
            </a:r>
          </a:p>
          <a:p>
            <a:pPr marL="0" indent="0">
              <a:buNone/>
            </a:pPr>
            <a:r>
              <a:rPr lang="en-US" dirty="0"/>
              <a:t>    process(data)</a:t>
            </a:r>
          </a:p>
          <a:p>
            <a:pPr marL="0" indent="0">
              <a:buNone/>
            </a:pPr>
            <a:r>
              <a:rPr lang="en-US" dirty="0"/>
              <a:t>except </a:t>
            </a:r>
            <a:r>
              <a:rPr lang="en-US" dirty="0" err="1"/>
              <a:t>ValueError</a:t>
            </a:r>
            <a:r>
              <a:rPr lang="en-US" dirty="0"/>
              <a:t>:</a:t>
            </a:r>
          </a:p>
          <a:p>
            <a:pPr marL="0" indent="0">
              <a:buNone/>
            </a:pPr>
            <a:r>
              <a:rPr lang="en-US" dirty="0"/>
              <a:t>    </a:t>
            </a:r>
            <a:r>
              <a:rPr lang="en-US" dirty="0" err="1"/>
              <a:t>handle_invalid_input</a:t>
            </a:r>
            <a:r>
              <a:rPr lang="en-US" dirty="0"/>
              <a:t>()</a:t>
            </a:r>
          </a:p>
        </p:txBody>
      </p:sp>
    </p:spTree>
    <p:extLst>
      <p:ext uri="{BB962C8B-B14F-4D97-AF65-F5344CB8AC3E}">
        <p14:creationId xmlns:p14="http://schemas.microsoft.com/office/powerpoint/2010/main" val="2278947610"/>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14487-9A26-17CE-7F8C-605C9723C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9E407-3D26-0734-1A1A-DE386066DAAD}"/>
              </a:ext>
            </a:extLst>
          </p:cNvPr>
          <p:cNvSpPr>
            <a:spLocks noGrp="1"/>
          </p:cNvSpPr>
          <p:nvPr>
            <p:ph type="title"/>
          </p:nvPr>
        </p:nvSpPr>
        <p:spPr>
          <a:xfrm>
            <a:off x="368300" y="-103982"/>
            <a:ext cx="8229600" cy="1143000"/>
          </a:xfrm>
        </p:spPr>
        <p:txBody>
          <a:bodyPr>
            <a:normAutofit/>
          </a:bodyPr>
          <a:lstStyle/>
          <a:p>
            <a:r>
              <a:rPr lang="en-US" dirty="0"/>
              <a:t>EAFP — The Pythonic Style</a:t>
            </a:r>
          </a:p>
        </p:txBody>
      </p:sp>
      <p:sp>
        <p:nvSpPr>
          <p:cNvPr id="3" name="Content Placeholder 2">
            <a:extLst>
              <a:ext uri="{FF2B5EF4-FFF2-40B4-BE49-F238E27FC236}">
                <a16:creationId xmlns:a16="http://schemas.microsoft.com/office/drawing/2014/main" id="{AE5288EE-3E88-6977-8450-63A72509D297}"/>
              </a:ext>
            </a:extLst>
          </p:cNvPr>
          <p:cNvSpPr>
            <a:spLocks noGrp="1"/>
          </p:cNvSpPr>
          <p:nvPr>
            <p:ph idx="1"/>
          </p:nvPr>
        </p:nvSpPr>
        <p:spPr>
          <a:xfrm>
            <a:off x="457200" y="1079502"/>
            <a:ext cx="5130800" cy="5310980"/>
          </a:xfrm>
        </p:spPr>
        <p:style>
          <a:lnRef idx="2">
            <a:schemeClr val="dk1"/>
          </a:lnRef>
          <a:fillRef idx="1">
            <a:schemeClr val="lt1"/>
          </a:fillRef>
          <a:effectRef idx="0">
            <a:schemeClr val="dk1"/>
          </a:effectRef>
          <a:fontRef idx="minor">
            <a:schemeClr val="dk1"/>
          </a:fontRef>
        </p:style>
        <p:txBody>
          <a:bodyPr/>
          <a:lstStyle/>
          <a:p>
            <a:r>
              <a:rPr lang="en-US" b="1" dirty="0"/>
              <a:t>Easier to Ask Forgiveness than Permission</a:t>
            </a:r>
            <a:endParaRPr lang="en-US" dirty="0"/>
          </a:p>
          <a:p>
            <a:r>
              <a:rPr lang="en-US" dirty="0"/>
              <a:t>Attempt the operation</a:t>
            </a:r>
          </a:p>
          <a:p>
            <a:r>
              <a:rPr lang="en-US" dirty="0"/>
              <a:t>Handle failure if it happens</a:t>
            </a:r>
          </a:p>
          <a:p>
            <a:r>
              <a:rPr lang="en-US" dirty="0"/>
              <a:t>Fewer checks, fewer races</a:t>
            </a:r>
          </a:p>
        </p:txBody>
      </p:sp>
      <p:sp>
        <p:nvSpPr>
          <p:cNvPr id="4" name="Content Placeholder 2">
            <a:extLst>
              <a:ext uri="{FF2B5EF4-FFF2-40B4-BE49-F238E27FC236}">
                <a16:creationId xmlns:a16="http://schemas.microsoft.com/office/drawing/2014/main" id="{0158841A-4948-9F5B-BBE7-02374A95D15B}"/>
              </a:ext>
            </a:extLst>
          </p:cNvPr>
          <p:cNvSpPr txBox="1">
            <a:spLocks/>
          </p:cNvSpPr>
          <p:nvPr/>
        </p:nvSpPr>
        <p:spPr>
          <a:xfrm>
            <a:off x="5851525" y="1079501"/>
            <a:ext cx="5880100" cy="190261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 Bad</a:t>
            </a:r>
          </a:p>
          <a:p>
            <a:pPr marL="0" indent="0">
              <a:buNone/>
            </a:pPr>
            <a:r>
              <a:rPr lang="en-US" dirty="0"/>
              <a:t>if key in data:</a:t>
            </a:r>
          </a:p>
          <a:p>
            <a:pPr marL="0" indent="0">
              <a:buNone/>
            </a:pPr>
            <a:r>
              <a:rPr lang="en-US" dirty="0"/>
              <a:t>    value = data[key]</a:t>
            </a:r>
          </a:p>
        </p:txBody>
      </p:sp>
      <p:sp>
        <p:nvSpPr>
          <p:cNvPr id="6" name="Content Placeholder 2">
            <a:extLst>
              <a:ext uri="{FF2B5EF4-FFF2-40B4-BE49-F238E27FC236}">
                <a16:creationId xmlns:a16="http://schemas.microsoft.com/office/drawing/2014/main" id="{289B1564-8919-08A2-6448-46FD846DC968}"/>
              </a:ext>
            </a:extLst>
          </p:cNvPr>
          <p:cNvSpPr txBox="1">
            <a:spLocks/>
          </p:cNvSpPr>
          <p:nvPr/>
        </p:nvSpPr>
        <p:spPr>
          <a:xfrm>
            <a:off x="5851525" y="3175000"/>
            <a:ext cx="5880100" cy="321548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 Good</a:t>
            </a:r>
          </a:p>
          <a:p>
            <a:pPr marL="0" indent="0">
              <a:buNone/>
            </a:pPr>
            <a:r>
              <a:rPr lang="en-US" dirty="0"/>
              <a:t>try:</a:t>
            </a:r>
          </a:p>
          <a:p>
            <a:pPr marL="0" indent="0">
              <a:buNone/>
            </a:pPr>
            <a:r>
              <a:rPr lang="en-US" dirty="0"/>
              <a:t>    value = data[key]</a:t>
            </a:r>
          </a:p>
          <a:p>
            <a:pPr marL="0" indent="0">
              <a:buNone/>
            </a:pPr>
            <a:r>
              <a:rPr lang="en-US" dirty="0"/>
              <a:t>except </a:t>
            </a:r>
            <a:r>
              <a:rPr lang="en-US" dirty="0" err="1"/>
              <a:t>KeyError</a:t>
            </a:r>
            <a:r>
              <a:rPr lang="en-US" dirty="0"/>
              <a:t>:</a:t>
            </a:r>
          </a:p>
          <a:p>
            <a:pPr marL="0" indent="0">
              <a:buNone/>
            </a:pPr>
            <a:r>
              <a:rPr lang="en-US" dirty="0"/>
              <a:t>    value = default</a:t>
            </a:r>
          </a:p>
        </p:txBody>
      </p:sp>
    </p:spTree>
    <p:extLst>
      <p:ext uri="{BB962C8B-B14F-4D97-AF65-F5344CB8AC3E}">
        <p14:creationId xmlns:p14="http://schemas.microsoft.com/office/powerpoint/2010/main" val="339250604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99637-E33B-7846-AE98-08963A430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3D006-21AE-20B2-96CE-E46EBE5D3BDD}"/>
              </a:ext>
            </a:extLst>
          </p:cNvPr>
          <p:cNvSpPr>
            <a:spLocks noGrp="1"/>
          </p:cNvSpPr>
          <p:nvPr>
            <p:ph type="title"/>
          </p:nvPr>
        </p:nvSpPr>
        <p:spPr>
          <a:xfrm>
            <a:off x="368300" y="-103982"/>
            <a:ext cx="8229600" cy="1143000"/>
          </a:xfrm>
        </p:spPr>
        <p:txBody>
          <a:bodyPr>
            <a:normAutofit/>
          </a:bodyPr>
          <a:lstStyle/>
          <a:p>
            <a:r>
              <a:rPr lang="en-US" b="1" dirty="0"/>
              <a:t>Never Swallow Errors</a:t>
            </a:r>
          </a:p>
        </p:txBody>
      </p:sp>
      <p:sp>
        <p:nvSpPr>
          <p:cNvPr id="3" name="Content Placeholder 2">
            <a:extLst>
              <a:ext uri="{FF2B5EF4-FFF2-40B4-BE49-F238E27FC236}">
                <a16:creationId xmlns:a16="http://schemas.microsoft.com/office/drawing/2014/main" id="{EA1C85A9-B2F1-B871-0346-B14C972F92C3}"/>
              </a:ext>
            </a:extLst>
          </p:cNvPr>
          <p:cNvSpPr>
            <a:spLocks noGrp="1"/>
          </p:cNvSpPr>
          <p:nvPr>
            <p:ph idx="1"/>
          </p:nvPr>
        </p:nvSpPr>
        <p:spPr>
          <a:xfrm>
            <a:off x="457200" y="1079502"/>
            <a:ext cx="5130800" cy="5310980"/>
          </a:xfrm>
        </p:spPr>
        <p:style>
          <a:lnRef idx="2">
            <a:schemeClr val="dk1"/>
          </a:lnRef>
          <a:fillRef idx="1">
            <a:schemeClr val="lt1"/>
          </a:fillRef>
          <a:effectRef idx="0">
            <a:schemeClr val="dk1"/>
          </a:effectRef>
          <a:fontRef idx="minor">
            <a:schemeClr val="dk1"/>
          </a:fontRef>
        </p:style>
        <p:txBody>
          <a:bodyPr>
            <a:normAutofit/>
          </a:bodyPr>
          <a:lstStyle/>
          <a:p>
            <a:r>
              <a:rPr lang="en-US" dirty="0"/>
              <a:t>If you catch an error, you must </a:t>
            </a:r>
            <a:r>
              <a:rPr lang="en-US" b="1" dirty="0"/>
              <a:t>do one thing</a:t>
            </a:r>
            <a:r>
              <a:rPr lang="en-US" dirty="0"/>
              <a:t>:</a:t>
            </a:r>
          </a:p>
          <a:p>
            <a:pPr lvl="1"/>
            <a:r>
              <a:rPr lang="en-US" b="1" dirty="0"/>
              <a:t>Recover</a:t>
            </a:r>
            <a:endParaRPr lang="en-US" dirty="0"/>
          </a:p>
          <a:p>
            <a:pPr lvl="1"/>
            <a:r>
              <a:rPr lang="en-US" b="1" dirty="0"/>
              <a:t>Escalate</a:t>
            </a:r>
            <a:endParaRPr lang="en-US" dirty="0"/>
          </a:p>
          <a:p>
            <a:pPr lvl="1"/>
            <a:r>
              <a:rPr lang="en-US" b="1" dirty="0"/>
              <a:t>Record</a:t>
            </a:r>
            <a:endParaRPr lang="en-US" dirty="0"/>
          </a:p>
          <a:p>
            <a:r>
              <a:rPr lang="en-US" dirty="0"/>
              <a:t>Anything else is a bug.</a:t>
            </a:r>
          </a:p>
          <a:p>
            <a:pPr marL="0" indent="0">
              <a:buNone/>
            </a:pPr>
            <a:endParaRPr lang="en-US" b="1" dirty="0"/>
          </a:p>
          <a:p>
            <a:pPr marL="0" indent="0">
              <a:buNone/>
            </a:pPr>
            <a:r>
              <a:rPr lang="en-US" b="1" dirty="0"/>
              <a:t>Rule -</a:t>
            </a:r>
            <a:r>
              <a:rPr lang="en-US" dirty="0"/>
              <a:t>Every caught error must do </a:t>
            </a:r>
            <a:r>
              <a:rPr lang="en-US" i="1" dirty="0"/>
              <a:t>something</a:t>
            </a:r>
            <a:endParaRPr lang="en-US" dirty="0"/>
          </a:p>
        </p:txBody>
      </p:sp>
      <p:sp>
        <p:nvSpPr>
          <p:cNvPr id="4" name="Content Placeholder 2">
            <a:extLst>
              <a:ext uri="{FF2B5EF4-FFF2-40B4-BE49-F238E27FC236}">
                <a16:creationId xmlns:a16="http://schemas.microsoft.com/office/drawing/2014/main" id="{61A1D6C7-FF0E-1BA4-587C-41EB257D5A6F}"/>
              </a:ext>
            </a:extLst>
          </p:cNvPr>
          <p:cNvSpPr txBox="1">
            <a:spLocks/>
          </p:cNvSpPr>
          <p:nvPr/>
        </p:nvSpPr>
        <p:spPr>
          <a:xfrm>
            <a:off x="5851525" y="1079501"/>
            <a:ext cx="5880100" cy="190261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try: #bad</a:t>
            </a:r>
          </a:p>
          <a:p>
            <a:pPr marL="0" indent="0">
              <a:buNone/>
            </a:pPr>
            <a:r>
              <a:rPr lang="en-US" dirty="0"/>
              <a:t>    process(data)</a:t>
            </a:r>
          </a:p>
          <a:p>
            <a:pPr marL="0" indent="0">
              <a:buNone/>
            </a:pPr>
            <a:r>
              <a:rPr lang="en-US" dirty="0"/>
              <a:t>except </a:t>
            </a:r>
            <a:r>
              <a:rPr lang="en-US" dirty="0" err="1"/>
              <a:t>ValueError</a:t>
            </a:r>
            <a:r>
              <a:rPr lang="en-US" dirty="0"/>
              <a:t>:</a:t>
            </a:r>
          </a:p>
          <a:p>
            <a:pPr marL="0" indent="0">
              <a:buNone/>
            </a:pPr>
            <a:r>
              <a:rPr lang="en-US" dirty="0"/>
              <a:t>    pass</a:t>
            </a:r>
          </a:p>
        </p:txBody>
      </p:sp>
      <p:sp>
        <p:nvSpPr>
          <p:cNvPr id="6" name="Content Placeholder 2">
            <a:extLst>
              <a:ext uri="{FF2B5EF4-FFF2-40B4-BE49-F238E27FC236}">
                <a16:creationId xmlns:a16="http://schemas.microsoft.com/office/drawing/2014/main" id="{518117A8-1CD4-6025-786D-675D800AA9BD}"/>
              </a:ext>
            </a:extLst>
          </p:cNvPr>
          <p:cNvSpPr txBox="1">
            <a:spLocks/>
          </p:cNvSpPr>
          <p:nvPr/>
        </p:nvSpPr>
        <p:spPr>
          <a:xfrm>
            <a:off x="5851525" y="3175000"/>
            <a:ext cx="5880100" cy="321548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pt-BR" dirty="0"/>
              <a:t>try: #good</a:t>
            </a:r>
          </a:p>
          <a:p>
            <a:pPr marL="0" indent="0">
              <a:buNone/>
            </a:pPr>
            <a:r>
              <a:rPr lang="pt-BR" dirty="0"/>
              <a:t>    process(data)</a:t>
            </a:r>
          </a:p>
          <a:p>
            <a:pPr marL="0" indent="0">
              <a:buNone/>
            </a:pPr>
            <a:r>
              <a:rPr lang="pt-BR" dirty="0"/>
              <a:t>except ValueError as e:</a:t>
            </a:r>
          </a:p>
          <a:p>
            <a:pPr marL="0" indent="0">
              <a:buNone/>
            </a:pPr>
            <a:r>
              <a:rPr lang="pt-BR" dirty="0"/>
              <a:t>    logger.error("Invalid data", exc_info=e)</a:t>
            </a:r>
          </a:p>
          <a:p>
            <a:pPr marL="0" indent="0">
              <a:buNone/>
            </a:pPr>
            <a:r>
              <a:rPr lang="pt-BR" dirty="0"/>
              <a:t>    raise</a:t>
            </a:r>
          </a:p>
        </p:txBody>
      </p:sp>
    </p:spTree>
    <p:extLst>
      <p:ext uri="{BB962C8B-B14F-4D97-AF65-F5344CB8AC3E}">
        <p14:creationId xmlns:p14="http://schemas.microsoft.com/office/powerpoint/2010/main" val="2947640566"/>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82B6C-1291-4B69-FE0B-D2EB9832C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97409-EF2C-F34B-264B-230FE9CA770E}"/>
              </a:ext>
            </a:extLst>
          </p:cNvPr>
          <p:cNvSpPr>
            <a:spLocks noGrp="1"/>
          </p:cNvSpPr>
          <p:nvPr>
            <p:ph type="title"/>
          </p:nvPr>
        </p:nvSpPr>
        <p:spPr>
          <a:xfrm>
            <a:off x="368300" y="-103982"/>
            <a:ext cx="8229600" cy="1143000"/>
          </a:xfrm>
        </p:spPr>
        <p:txBody>
          <a:bodyPr>
            <a:normAutofit/>
          </a:bodyPr>
          <a:lstStyle/>
          <a:p>
            <a:r>
              <a:rPr lang="en-SG" b="1" dirty="0"/>
              <a:t>Bad vs Good Error Handling</a:t>
            </a:r>
          </a:p>
        </p:txBody>
      </p:sp>
      <p:sp>
        <p:nvSpPr>
          <p:cNvPr id="3" name="Content Placeholder 2">
            <a:extLst>
              <a:ext uri="{FF2B5EF4-FFF2-40B4-BE49-F238E27FC236}">
                <a16:creationId xmlns:a16="http://schemas.microsoft.com/office/drawing/2014/main" id="{3F4B044B-9DD5-6380-F996-B27FEAC1CEEA}"/>
              </a:ext>
            </a:extLst>
          </p:cNvPr>
          <p:cNvSpPr>
            <a:spLocks noGrp="1"/>
          </p:cNvSpPr>
          <p:nvPr>
            <p:ph idx="1"/>
          </p:nvPr>
        </p:nvSpPr>
        <p:spPr>
          <a:xfrm>
            <a:off x="457200" y="1079502"/>
            <a:ext cx="3505200" cy="5310980"/>
          </a:xfrm>
        </p:spPr>
        <p:style>
          <a:lnRef idx="2">
            <a:schemeClr val="dk1"/>
          </a:lnRef>
          <a:fillRef idx="1">
            <a:schemeClr val="lt1"/>
          </a:fillRef>
          <a:effectRef idx="0">
            <a:schemeClr val="dk1"/>
          </a:effectRef>
          <a:fontRef idx="minor">
            <a:schemeClr val="dk1"/>
          </a:fontRef>
        </p:style>
        <p:txBody>
          <a:bodyPr/>
          <a:lstStyle/>
          <a:p>
            <a:pPr marL="0" indent="0">
              <a:buNone/>
            </a:pPr>
            <a:r>
              <a:rPr lang="en-US" dirty="0"/>
              <a:t># bad</a:t>
            </a:r>
          </a:p>
          <a:p>
            <a:pPr marL="0" indent="0">
              <a:buNone/>
            </a:pPr>
            <a:r>
              <a:rPr lang="en-US" dirty="0"/>
              <a:t>try:</a:t>
            </a:r>
          </a:p>
          <a:p>
            <a:pPr marL="0" indent="0">
              <a:buNone/>
            </a:pPr>
            <a:r>
              <a:rPr lang="en-US" dirty="0"/>
              <a:t>    process(data)</a:t>
            </a:r>
          </a:p>
          <a:p>
            <a:pPr marL="0" indent="0">
              <a:buNone/>
            </a:pPr>
            <a:r>
              <a:rPr lang="en-US" dirty="0"/>
              <a:t>except </a:t>
            </a:r>
            <a:r>
              <a:rPr lang="en-US" dirty="0" err="1"/>
              <a:t>ValueError</a:t>
            </a:r>
            <a:r>
              <a:rPr lang="en-US" dirty="0"/>
              <a:t>:</a:t>
            </a:r>
          </a:p>
          <a:p>
            <a:pPr marL="0" indent="0">
              <a:buNone/>
            </a:pPr>
            <a:r>
              <a:rPr lang="en-US" dirty="0"/>
              <a:t>    pass</a:t>
            </a:r>
          </a:p>
        </p:txBody>
      </p:sp>
      <p:sp>
        <p:nvSpPr>
          <p:cNvPr id="6" name="Content Placeholder 2">
            <a:extLst>
              <a:ext uri="{FF2B5EF4-FFF2-40B4-BE49-F238E27FC236}">
                <a16:creationId xmlns:a16="http://schemas.microsoft.com/office/drawing/2014/main" id="{B0DE4CD4-9704-C1CC-ACBD-1FB87F8F9141}"/>
              </a:ext>
            </a:extLst>
          </p:cNvPr>
          <p:cNvSpPr txBox="1">
            <a:spLocks/>
          </p:cNvSpPr>
          <p:nvPr/>
        </p:nvSpPr>
        <p:spPr>
          <a:xfrm>
            <a:off x="4330700" y="1079502"/>
            <a:ext cx="7400925" cy="531098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pt-BR" dirty="0"/>
              <a:t># good</a:t>
            </a:r>
          </a:p>
          <a:p>
            <a:pPr marL="0" indent="0">
              <a:buNone/>
            </a:pPr>
            <a:r>
              <a:rPr lang="pt-BR" dirty="0"/>
              <a:t>try:</a:t>
            </a:r>
          </a:p>
          <a:p>
            <a:pPr marL="0" indent="0">
              <a:buNone/>
            </a:pPr>
            <a:r>
              <a:rPr lang="pt-BR" dirty="0"/>
              <a:t>    process(data)</a:t>
            </a:r>
          </a:p>
          <a:p>
            <a:pPr marL="0" indent="0">
              <a:buNone/>
            </a:pPr>
            <a:r>
              <a:rPr lang="pt-BR" dirty="0"/>
              <a:t>except ValueError as e:</a:t>
            </a:r>
          </a:p>
          <a:p>
            <a:pPr marL="0" indent="0">
              <a:buNone/>
            </a:pPr>
            <a:r>
              <a:rPr lang="pt-BR" dirty="0"/>
              <a:t>    logger.error("Invalid data", exc_info=e)</a:t>
            </a:r>
          </a:p>
          <a:p>
            <a:pPr marL="0" indent="0">
              <a:buNone/>
            </a:pPr>
            <a:r>
              <a:rPr lang="pt-BR" dirty="0"/>
              <a:t>    raise</a:t>
            </a:r>
          </a:p>
          <a:p>
            <a:pPr marL="0" indent="0">
              <a:buNone/>
            </a:pPr>
            <a:endParaRPr lang="pt-BR" dirty="0"/>
          </a:p>
        </p:txBody>
      </p:sp>
    </p:spTree>
    <p:extLst>
      <p:ext uri="{BB962C8B-B14F-4D97-AF65-F5344CB8AC3E}">
        <p14:creationId xmlns:p14="http://schemas.microsoft.com/office/powerpoint/2010/main" val="249826412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0FDFF-D835-723B-E08C-5731D6587A7B}"/>
              </a:ext>
            </a:extLst>
          </p:cNvPr>
          <p:cNvSpPr>
            <a:spLocks noGrp="1"/>
          </p:cNvSpPr>
          <p:nvPr>
            <p:ph type="title"/>
          </p:nvPr>
        </p:nvSpPr>
        <p:spPr>
          <a:xfrm>
            <a:off x="457200" y="-119062"/>
            <a:ext cx="8229600" cy="1143000"/>
          </a:xfrm>
        </p:spPr>
        <p:txBody>
          <a:bodyPr>
            <a:normAutofit/>
          </a:bodyPr>
          <a:lstStyle/>
          <a:p>
            <a:r>
              <a:rPr lang="en-US" dirty="0"/>
              <a:t>Three Valid Responses to Errors</a:t>
            </a:r>
            <a:endParaRPr lang="en-SG" dirty="0"/>
          </a:p>
        </p:txBody>
      </p:sp>
      <p:sp>
        <p:nvSpPr>
          <p:cNvPr id="3" name="Content Placeholder 2">
            <a:extLst>
              <a:ext uri="{FF2B5EF4-FFF2-40B4-BE49-F238E27FC236}">
                <a16:creationId xmlns:a16="http://schemas.microsoft.com/office/drawing/2014/main" id="{6C757572-A022-1F6D-5480-0A732F4081EE}"/>
              </a:ext>
            </a:extLst>
          </p:cNvPr>
          <p:cNvSpPr>
            <a:spLocks noGrp="1"/>
          </p:cNvSpPr>
          <p:nvPr>
            <p:ph idx="1"/>
          </p:nvPr>
        </p:nvSpPr>
        <p:spPr>
          <a:xfrm>
            <a:off x="457200" y="1023938"/>
            <a:ext cx="9867900" cy="5559424"/>
          </a:xfrm>
        </p:spPr>
        <p:txBody>
          <a:bodyPr>
            <a:normAutofit lnSpcReduction="10000"/>
          </a:bodyPr>
          <a:lstStyle/>
          <a:p>
            <a:r>
              <a:rPr lang="en-US" sz="2800" b="1" dirty="0"/>
              <a:t>Recover</a:t>
            </a:r>
            <a:endParaRPr lang="en-US" sz="2800" dirty="0"/>
          </a:p>
          <a:p>
            <a:pPr lvl="1"/>
            <a:r>
              <a:rPr lang="en-US" dirty="0"/>
              <a:t>Retry</a:t>
            </a:r>
          </a:p>
          <a:p>
            <a:pPr lvl="1"/>
            <a:r>
              <a:rPr lang="en-US" dirty="0"/>
              <a:t>Default</a:t>
            </a:r>
          </a:p>
          <a:p>
            <a:pPr lvl="1"/>
            <a:r>
              <a:rPr lang="en-US" dirty="0"/>
              <a:t>Fallback path</a:t>
            </a:r>
          </a:p>
          <a:p>
            <a:r>
              <a:rPr lang="en-US" sz="2800" b="1" dirty="0"/>
              <a:t>Escalate</a:t>
            </a:r>
            <a:endParaRPr lang="en-US" sz="2800" dirty="0"/>
          </a:p>
          <a:p>
            <a:pPr lvl="1"/>
            <a:r>
              <a:rPr lang="en-US" dirty="0"/>
              <a:t>Re-raise</a:t>
            </a:r>
          </a:p>
          <a:p>
            <a:pPr lvl="1"/>
            <a:r>
              <a:rPr lang="en-US" dirty="0"/>
              <a:t>Wrap with domain meaning</a:t>
            </a:r>
          </a:p>
          <a:p>
            <a:r>
              <a:rPr lang="en-US" sz="2800" b="1" dirty="0"/>
              <a:t>Record</a:t>
            </a:r>
            <a:endParaRPr lang="en-US" sz="2800" dirty="0"/>
          </a:p>
          <a:p>
            <a:pPr lvl="1"/>
            <a:r>
              <a:rPr lang="en-US" dirty="0"/>
              <a:t>Log with context</a:t>
            </a:r>
          </a:p>
          <a:p>
            <a:pPr lvl="1"/>
            <a:r>
              <a:rPr lang="en-US" dirty="0"/>
              <a:t>Preserve traceback</a:t>
            </a:r>
          </a:p>
          <a:p>
            <a:pPr marL="0" indent="0">
              <a:buNone/>
            </a:pPr>
            <a:r>
              <a:rPr lang="en-US" sz="2800" b="1" dirty="0"/>
              <a:t>Anything else is a bug.</a:t>
            </a:r>
          </a:p>
          <a:p>
            <a:endParaRPr lang="en-SG" sz="2800" dirty="0"/>
          </a:p>
        </p:txBody>
      </p:sp>
    </p:spTree>
    <p:extLst>
      <p:ext uri="{BB962C8B-B14F-4D97-AF65-F5344CB8AC3E}">
        <p14:creationId xmlns:p14="http://schemas.microsoft.com/office/powerpoint/2010/main" val="4216145019"/>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70FC-D9A8-BBA0-B59E-AA98EE78B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76F67-002E-94FA-3F5F-46E1F7218327}"/>
              </a:ext>
            </a:extLst>
          </p:cNvPr>
          <p:cNvSpPr>
            <a:spLocks noGrp="1"/>
          </p:cNvSpPr>
          <p:nvPr>
            <p:ph type="title"/>
          </p:nvPr>
        </p:nvSpPr>
        <p:spPr>
          <a:xfrm>
            <a:off x="368300" y="-103982"/>
            <a:ext cx="8229600" cy="1143000"/>
          </a:xfrm>
        </p:spPr>
        <p:txBody>
          <a:bodyPr>
            <a:normAutofit/>
          </a:bodyPr>
          <a:lstStyle/>
          <a:p>
            <a:r>
              <a:rPr lang="en-SG" dirty="0"/>
              <a:t>Escalation with Meaning</a:t>
            </a:r>
          </a:p>
        </p:txBody>
      </p:sp>
      <p:sp>
        <p:nvSpPr>
          <p:cNvPr id="3" name="Content Placeholder 2">
            <a:extLst>
              <a:ext uri="{FF2B5EF4-FFF2-40B4-BE49-F238E27FC236}">
                <a16:creationId xmlns:a16="http://schemas.microsoft.com/office/drawing/2014/main" id="{49F2791B-34C0-2D2E-F2F7-6F31781CDE24}"/>
              </a:ext>
            </a:extLst>
          </p:cNvPr>
          <p:cNvSpPr>
            <a:spLocks noGrp="1"/>
          </p:cNvSpPr>
          <p:nvPr>
            <p:ph idx="1"/>
          </p:nvPr>
        </p:nvSpPr>
        <p:spPr>
          <a:xfrm>
            <a:off x="457200" y="1079502"/>
            <a:ext cx="4203700" cy="5310980"/>
          </a:xfrm>
        </p:spPr>
        <p:style>
          <a:lnRef idx="2">
            <a:schemeClr val="dk1"/>
          </a:lnRef>
          <a:fillRef idx="1">
            <a:schemeClr val="lt1"/>
          </a:fillRef>
          <a:effectRef idx="0">
            <a:schemeClr val="dk1"/>
          </a:effectRef>
          <a:fontRef idx="minor">
            <a:schemeClr val="dk1"/>
          </a:fontRef>
        </p:style>
        <p:txBody>
          <a:bodyPr>
            <a:normAutofit/>
          </a:bodyPr>
          <a:lstStyle/>
          <a:p>
            <a:r>
              <a:rPr lang="en-US" dirty="0"/>
              <a:t>Cleaner APIs</a:t>
            </a:r>
          </a:p>
          <a:p>
            <a:r>
              <a:rPr lang="en-US" dirty="0"/>
              <a:t>Better debugging</a:t>
            </a:r>
          </a:p>
          <a:p>
            <a:r>
              <a:rPr lang="en-US" dirty="0"/>
              <a:t>Business-level clarity</a:t>
            </a:r>
          </a:p>
        </p:txBody>
      </p:sp>
      <p:sp>
        <p:nvSpPr>
          <p:cNvPr id="4" name="Content Placeholder 2">
            <a:extLst>
              <a:ext uri="{FF2B5EF4-FFF2-40B4-BE49-F238E27FC236}">
                <a16:creationId xmlns:a16="http://schemas.microsoft.com/office/drawing/2014/main" id="{AE6B4477-9DF2-A2A2-1F43-53673F7C6872}"/>
              </a:ext>
            </a:extLst>
          </p:cNvPr>
          <p:cNvSpPr txBox="1">
            <a:spLocks/>
          </p:cNvSpPr>
          <p:nvPr/>
        </p:nvSpPr>
        <p:spPr>
          <a:xfrm>
            <a:off x="5054600" y="1079501"/>
            <a:ext cx="6677025" cy="5310981"/>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try:</a:t>
            </a:r>
          </a:p>
          <a:p>
            <a:pPr marL="0" indent="0">
              <a:buNone/>
            </a:pPr>
            <a:r>
              <a:rPr lang="en-US" dirty="0"/>
              <a:t>    user = </a:t>
            </a:r>
            <a:r>
              <a:rPr lang="en-US" dirty="0" err="1"/>
              <a:t>repo.load</a:t>
            </a:r>
            <a:r>
              <a:rPr lang="en-US" dirty="0"/>
              <a:t>(</a:t>
            </a:r>
            <a:r>
              <a:rPr lang="en-US" dirty="0" err="1"/>
              <a:t>user_id</a:t>
            </a:r>
            <a:r>
              <a:rPr lang="en-US" dirty="0"/>
              <a:t>)</a:t>
            </a:r>
          </a:p>
          <a:p>
            <a:pPr marL="0" indent="0">
              <a:buNone/>
            </a:pPr>
            <a:r>
              <a:rPr lang="en-US" dirty="0"/>
              <a:t>except </a:t>
            </a:r>
            <a:r>
              <a:rPr lang="en-US" dirty="0" err="1"/>
              <a:t>DatabaseError</a:t>
            </a:r>
            <a:r>
              <a:rPr lang="en-US" dirty="0"/>
              <a:t> as e:</a:t>
            </a:r>
          </a:p>
          <a:p>
            <a:pPr marL="0" indent="0">
              <a:buNone/>
            </a:pPr>
            <a:r>
              <a:rPr lang="en-US" dirty="0"/>
              <a:t>    raise </a:t>
            </a:r>
            <a:r>
              <a:rPr lang="en-US" dirty="0" err="1"/>
              <a:t>UserNotFound</a:t>
            </a:r>
            <a:r>
              <a:rPr lang="en-US" dirty="0"/>
              <a:t>(</a:t>
            </a:r>
            <a:r>
              <a:rPr lang="en-US" dirty="0" err="1"/>
              <a:t>user_id</a:t>
            </a:r>
            <a:r>
              <a:rPr lang="en-US" dirty="0"/>
              <a:t>) from e</a:t>
            </a:r>
          </a:p>
        </p:txBody>
      </p:sp>
    </p:spTree>
    <p:extLst>
      <p:ext uri="{BB962C8B-B14F-4D97-AF65-F5344CB8AC3E}">
        <p14:creationId xmlns:p14="http://schemas.microsoft.com/office/powerpoint/2010/main" val="715870159"/>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407CC-4280-E74D-6D73-6768E837960E}"/>
              </a:ext>
            </a:extLst>
          </p:cNvPr>
          <p:cNvSpPr>
            <a:spLocks noGrp="1"/>
          </p:cNvSpPr>
          <p:nvPr>
            <p:ph type="title"/>
          </p:nvPr>
        </p:nvSpPr>
        <p:spPr/>
        <p:txBody>
          <a:bodyPr>
            <a:normAutofit/>
          </a:bodyPr>
          <a:lstStyle/>
          <a:p>
            <a:r>
              <a:rPr lang="en-US" b="1" dirty="0"/>
              <a:t>When to Catch vs Let Crash</a:t>
            </a:r>
            <a:endParaRPr lang="en-SG" dirty="0"/>
          </a:p>
        </p:txBody>
      </p:sp>
      <p:sp>
        <p:nvSpPr>
          <p:cNvPr id="3" name="Content Placeholder 2">
            <a:extLst>
              <a:ext uri="{FF2B5EF4-FFF2-40B4-BE49-F238E27FC236}">
                <a16:creationId xmlns:a16="http://schemas.microsoft.com/office/drawing/2014/main" id="{2A05727C-5AEF-2DAA-3ADF-6AE33D78B1FB}"/>
              </a:ext>
            </a:extLst>
          </p:cNvPr>
          <p:cNvSpPr>
            <a:spLocks noGrp="1"/>
          </p:cNvSpPr>
          <p:nvPr>
            <p:ph idx="1"/>
          </p:nvPr>
        </p:nvSpPr>
        <p:spPr>
          <a:xfrm>
            <a:off x="457200" y="1600200"/>
            <a:ext cx="5245100" cy="4525963"/>
          </a:xfrm>
        </p:spPr>
        <p:txBody>
          <a:bodyPr>
            <a:normAutofit/>
          </a:bodyPr>
          <a:lstStyle/>
          <a:p>
            <a:pPr marL="0" indent="0">
              <a:buNone/>
            </a:pPr>
            <a:r>
              <a:rPr lang="en-US" sz="3600" dirty="0"/>
              <a:t>Catch exceptions when:</a:t>
            </a:r>
          </a:p>
          <a:p>
            <a:pPr lvl="1"/>
            <a:r>
              <a:rPr lang="en-US" sz="3200" dirty="0"/>
              <a:t>You can recover safely</a:t>
            </a:r>
          </a:p>
          <a:p>
            <a:pPr lvl="1"/>
            <a:r>
              <a:rPr lang="en-US" sz="3200" dirty="0"/>
              <a:t>You can retry</a:t>
            </a:r>
          </a:p>
          <a:p>
            <a:pPr lvl="1"/>
            <a:r>
              <a:rPr lang="en-US" sz="3200" dirty="0"/>
              <a:t>You can provide a meaningful fallback</a:t>
            </a:r>
          </a:p>
          <a:p>
            <a:pPr lvl="1"/>
            <a:r>
              <a:rPr lang="en-US" sz="3200" dirty="0"/>
              <a:t>You are translating errors across layers</a:t>
            </a:r>
          </a:p>
        </p:txBody>
      </p:sp>
      <p:sp>
        <p:nvSpPr>
          <p:cNvPr id="4" name="Content Placeholder 2">
            <a:extLst>
              <a:ext uri="{FF2B5EF4-FFF2-40B4-BE49-F238E27FC236}">
                <a16:creationId xmlns:a16="http://schemas.microsoft.com/office/drawing/2014/main" id="{F52BFCB2-44FF-A3C2-C294-B0F9CFAAFA47}"/>
              </a:ext>
            </a:extLst>
          </p:cNvPr>
          <p:cNvSpPr txBox="1">
            <a:spLocks/>
          </p:cNvSpPr>
          <p:nvPr/>
        </p:nvSpPr>
        <p:spPr>
          <a:xfrm>
            <a:off x="6616700" y="1600200"/>
            <a:ext cx="5245100" cy="4525963"/>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4000" dirty="0"/>
              <a:t>Do </a:t>
            </a:r>
            <a:r>
              <a:rPr lang="en-US" sz="4000" b="1" dirty="0"/>
              <a:t>not</a:t>
            </a:r>
            <a:r>
              <a:rPr lang="en-US" sz="4000" dirty="0"/>
              <a:t> catch when:</a:t>
            </a:r>
          </a:p>
          <a:p>
            <a:pPr lvl="1"/>
            <a:r>
              <a:rPr lang="en-US" sz="3600" dirty="0"/>
              <a:t>State may be corrupted</a:t>
            </a:r>
          </a:p>
          <a:p>
            <a:pPr lvl="1"/>
            <a:r>
              <a:rPr lang="en-US" sz="3600" dirty="0"/>
              <a:t>Preconditions are violated</a:t>
            </a:r>
          </a:p>
          <a:p>
            <a:pPr lvl="1"/>
            <a:r>
              <a:rPr lang="en-US" sz="3600" dirty="0"/>
              <a:t>Programmer error is detected</a:t>
            </a:r>
          </a:p>
          <a:p>
            <a:pPr lvl="1"/>
            <a:r>
              <a:rPr lang="en-US" sz="3600" dirty="0"/>
              <a:t>Continuing would hide defects</a:t>
            </a:r>
          </a:p>
          <a:p>
            <a:pPr marL="0" indent="0">
              <a:buNone/>
            </a:pPr>
            <a:r>
              <a:rPr lang="en-US" sz="4000" b="1" dirty="0"/>
              <a:t>Fail fast beats fail silently</a:t>
            </a:r>
            <a:endParaRPr lang="en-US" sz="4000" dirty="0"/>
          </a:p>
        </p:txBody>
      </p:sp>
    </p:spTree>
    <p:extLst>
      <p:ext uri="{BB962C8B-B14F-4D97-AF65-F5344CB8AC3E}">
        <p14:creationId xmlns:p14="http://schemas.microsoft.com/office/powerpoint/2010/main" val="1252273290"/>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76135-333C-8B4E-6AC9-359B2FFA610B}"/>
              </a:ext>
            </a:extLst>
          </p:cNvPr>
          <p:cNvSpPr>
            <a:spLocks noGrp="1"/>
          </p:cNvSpPr>
          <p:nvPr>
            <p:ph type="title"/>
          </p:nvPr>
        </p:nvSpPr>
        <p:spPr/>
        <p:txBody>
          <a:bodyPr>
            <a:normAutofit/>
          </a:bodyPr>
          <a:lstStyle/>
          <a:p>
            <a:r>
              <a:rPr lang="en-US" dirty="0"/>
              <a:t>Best Practices</a:t>
            </a:r>
            <a:endParaRPr lang="en-SG" dirty="0"/>
          </a:p>
        </p:txBody>
      </p:sp>
      <p:sp>
        <p:nvSpPr>
          <p:cNvPr id="3" name="Content Placeholder 2">
            <a:extLst>
              <a:ext uri="{FF2B5EF4-FFF2-40B4-BE49-F238E27FC236}">
                <a16:creationId xmlns:a16="http://schemas.microsoft.com/office/drawing/2014/main" id="{D13470B1-7739-FCA0-8C35-90A6D078CC27}"/>
              </a:ext>
            </a:extLst>
          </p:cNvPr>
          <p:cNvSpPr>
            <a:spLocks noGrp="1"/>
          </p:cNvSpPr>
          <p:nvPr>
            <p:ph idx="1"/>
          </p:nvPr>
        </p:nvSpPr>
        <p:spPr/>
        <p:txBody>
          <a:bodyPr>
            <a:normAutofit/>
          </a:bodyPr>
          <a:lstStyle/>
          <a:p>
            <a:r>
              <a:rPr lang="en-US" dirty="0"/>
              <a:t>Catch specific exceptions</a:t>
            </a:r>
          </a:p>
          <a:p>
            <a:r>
              <a:rPr lang="en-US" dirty="0"/>
              <a:t>Prefer EAFP (try → handle)</a:t>
            </a:r>
          </a:p>
          <a:p>
            <a:r>
              <a:rPr lang="en-US" dirty="0"/>
              <a:t>Log with context</a:t>
            </a:r>
          </a:p>
          <a:p>
            <a:r>
              <a:rPr lang="en-US" dirty="0"/>
              <a:t>Fail fast on programmer errors</a:t>
            </a:r>
          </a:p>
          <a:p>
            <a:r>
              <a:rPr lang="en-US" dirty="0"/>
              <a:t>Never swallow errors silently</a:t>
            </a:r>
          </a:p>
          <a:p>
            <a:endParaRPr lang="en-US" dirty="0"/>
          </a:p>
          <a:p>
            <a:pPr marL="0" indent="0">
              <a:buNone/>
            </a:pPr>
            <a:endParaRPr lang="en-US" dirty="0"/>
          </a:p>
          <a:p>
            <a:endParaRPr lang="en-SG" dirty="0"/>
          </a:p>
        </p:txBody>
      </p:sp>
    </p:spTree>
    <p:extLst>
      <p:ext uri="{BB962C8B-B14F-4D97-AF65-F5344CB8AC3E}">
        <p14:creationId xmlns:p14="http://schemas.microsoft.com/office/powerpoint/2010/main" val="3296490842"/>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E4FA4-A47B-EE7B-B526-CD24BC3A2578}"/>
              </a:ext>
            </a:extLst>
          </p:cNvPr>
          <p:cNvSpPr>
            <a:spLocks noGrp="1"/>
          </p:cNvSpPr>
          <p:nvPr>
            <p:ph type="title"/>
          </p:nvPr>
        </p:nvSpPr>
        <p:spPr/>
        <p:txBody>
          <a:bodyPr>
            <a:normAutofit fontScale="90000"/>
          </a:bodyPr>
          <a:lstStyle/>
          <a:p>
            <a:r>
              <a:rPr lang="en-SG" dirty="0"/>
              <a:t>Error Boundaries (Enterprise Pattern)</a:t>
            </a:r>
          </a:p>
        </p:txBody>
      </p:sp>
      <p:sp>
        <p:nvSpPr>
          <p:cNvPr id="3" name="Content Placeholder 2">
            <a:extLst>
              <a:ext uri="{FF2B5EF4-FFF2-40B4-BE49-F238E27FC236}">
                <a16:creationId xmlns:a16="http://schemas.microsoft.com/office/drawing/2014/main" id="{15168820-65FA-5860-0868-57C8216E5240}"/>
              </a:ext>
            </a:extLst>
          </p:cNvPr>
          <p:cNvSpPr>
            <a:spLocks noGrp="1"/>
          </p:cNvSpPr>
          <p:nvPr>
            <p:ph idx="1"/>
          </p:nvPr>
        </p:nvSpPr>
        <p:spPr>
          <a:xfrm>
            <a:off x="457200" y="1600200"/>
            <a:ext cx="10210800" cy="4525963"/>
          </a:xfrm>
        </p:spPr>
        <p:txBody>
          <a:bodyPr/>
          <a:lstStyle/>
          <a:p>
            <a:r>
              <a:rPr lang="en-SG" dirty="0"/>
              <a:t>Catch errors at </a:t>
            </a:r>
            <a:r>
              <a:rPr lang="en-SG" b="1" dirty="0"/>
              <a:t>system boundaries</a:t>
            </a:r>
            <a:endParaRPr lang="en-SG" dirty="0"/>
          </a:p>
          <a:p>
            <a:pPr lvl="1"/>
            <a:r>
              <a:rPr lang="en-SG" dirty="0"/>
              <a:t>API layer</a:t>
            </a:r>
          </a:p>
          <a:p>
            <a:pPr lvl="1"/>
            <a:r>
              <a:rPr lang="en-SG" dirty="0"/>
              <a:t>CLI </a:t>
            </a:r>
            <a:r>
              <a:rPr lang="en-SG" dirty="0" err="1"/>
              <a:t>entrypoint</a:t>
            </a:r>
            <a:endParaRPr lang="en-SG" dirty="0"/>
          </a:p>
          <a:p>
            <a:pPr lvl="1"/>
            <a:r>
              <a:rPr lang="en-SG" dirty="0"/>
              <a:t>Worker/task runner</a:t>
            </a:r>
          </a:p>
          <a:p>
            <a:r>
              <a:rPr lang="en-SG" dirty="0"/>
              <a:t>Keep core logic </a:t>
            </a:r>
            <a:r>
              <a:rPr lang="en-SG" b="1" dirty="0"/>
              <a:t>exception-transparent</a:t>
            </a:r>
            <a:endParaRPr lang="en-SG" dirty="0"/>
          </a:p>
          <a:p>
            <a:pPr marL="0" indent="0">
              <a:buNone/>
            </a:pPr>
            <a:r>
              <a:rPr lang="en-SG" b="1" dirty="0"/>
              <a:t>Mental model - </a:t>
            </a:r>
            <a:r>
              <a:rPr lang="en-SG" dirty="0"/>
              <a:t>Catch errors where responsibility changes</a:t>
            </a:r>
          </a:p>
          <a:p>
            <a:endParaRPr lang="en-SG" dirty="0"/>
          </a:p>
        </p:txBody>
      </p:sp>
    </p:spTree>
    <p:extLst>
      <p:ext uri="{BB962C8B-B14F-4D97-AF65-F5344CB8AC3E}">
        <p14:creationId xmlns:p14="http://schemas.microsoft.com/office/powerpoint/2010/main" val="69543517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0327E-54C4-740F-3B2F-8EBD56023540}"/>
              </a:ext>
            </a:extLst>
          </p:cNvPr>
          <p:cNvSpPr>
            <a:spLocks noGrp="1"/>
          </p:cNvSpPr>
          <p:nvPr>
            <p:ph type="title"/>
          </p:nvPr>
        </p:nvSpPr>
        <p:spPr/>
        <p:txBody>
          <a:bodyPr>
            <a:normAutofit/>
          </a:bodyPr>
          <a:lstStyle/>
          <a:p>
            <a:r>
              <a:rPr lang="en-US" dirty="0"/>
              <a:t>Exception Translation</a:t>
            </a:r>
            <a:endParaRPr lang="en-SG" dirty="0"/>
          </a:p>
        </p:txBody>
      </p:sp>
      <p:sp>
        <p:nvSpPr>
          <p:cNvPr id="3" name="Content Placeholder 2">
            <a:extLst>
              <a:ext uri="{FF2B5EF4-FFF2-40B4-BE49-F238E27FC236}">
                <a16:creationId xmlns:a16="http://schemas.microsoft.com/office/drawing/2014/main" id="{9E4A8C77-BCE5-70BF-8CDA-FFF423BB8F4E}"/>
              </a:ext>
            </a:extLst>
          </p:cNvPr>
          <p:cNvSpPr>
            <a:spLocks noGrp="1"/>
          </p:cNvSpPr>
          <p:nvPr>
            <p:ph idx="1"/>
          </p:nvPr>
        </p:nvSpPr>
        <p:spPr>
          <a:xfrm>
            <a:off x="457200" y="1600200"/>
            <a:ext cx="5384800" cy="4525963"/>
          </a:xfrm>
        </p:spPr>
        <p:style>
          <a:lnRef idx="2">
            <a:schemeClr val="dk1"/>
          </a:lnRef>
          <a:fillRef idx="1">
            <a:schemeClr val="lt1"/>
          </a:fillRef>
          <a:effectRef idx="0">
            <a:schemeClr val="dk1"/>
          </a:effectRef>
          <a:fontRef idx="minor">
            <a:schemeClr val="dk1"/>
          </a:fontRef>
        </p:style>
        <p:txBody>
          <a:bodyPr/>
          <a:lstStyle/>
          <a:p>
            <a:r>
              <a:rPr lang="en-US" dirty="0"/>
              <a:t>Convert low-level errors into domain meaning</a:t>
            </a:r>
          </a:p>
          <a:p>
            <a:r>
              <a:rPr lang="en-US" b="1" dirty="0"/>
              <a:t>Benefit</a:t>
            </a:r>
            <a:endParaRPr lang="en-US" dirty="0"/>
          </a:p>
          <a:p>
            <a:pPr lvl="1"/>
            <a:r>
              <a:rPr lang="en-US" dirty="0"/>
              <a:t>Clear intent</a:t>
            </a:r>
          </a:p>
          <a:p>
            <a:pPr lvl="1"/>
            <a:r>
              <a:rPr lang="en-US" dirty="0"/>
              <a:t>Better debugging</a:t>
            </a:r>
          </a:p>
          <a:p>
            <a:pPr lvl="1"/>
            <a:r>
              <a:rPr lang="en-US" dirty="0"/>
              <a:t>Cleaner APIs</a:t>
            </a:r>
          </a:p>
          <a:p>
            <a:endParaRPr lang="en-US" dirty="0"/>
          </a:p>
          <a:p>
            <a:endParaRPr lang="en-SG" dirty="0"/>
          </a:p>
        </p:txBody>
      </p:sp>
      <p:sp>
        <p:nvSpPr>
          <p:cNvPr id="4" name="Content Placeholder 2">
            <a:extLst>
              <a:ext uri="{FF2B5EF4-FFF2-40B4-BE49-F238E27FC236}">
                <a16:creationId xmlns:a16="http://schemas.microsoft.com/office/drawing/2014/main" id="{B0FB6B7E-CC59-E1DB-B1EF-1F72AD7051B6}"/>
              </a:ext>
            </a:extLst>
          </p:cNvPr>
          <p:cNvSpPr txBox="1">
            <a:spLocks/>
          </p:cNvSpPr>
          <p:nvPr/>
        </p:nvSpPr>
        <p:spPr>
          <a:xfrm>
            <a:off x="6094412" y="1600200"/>
            <a:ext cx="5637213"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try:</a:t>
            </a:r>
          </a:p>
          <a:p>
            <a:pPr marL="0" indent="0">
              <a:buNone/>
            </a:pPr>
            <a:r>
              <a:rPr lang="en-US" dirty="0"/>
              <a:t>    user = </a:t>
            </a:r>
            <a:r>
              <a:rPr lang="en-US" dirty="0" err="1"/>
              <a:t>repo.load</a:t>
            </a:r>
            <a:r>
              <a:rPr lang="en-US" dirty="0"/>
              <a:t>(</a:t>
            </a:r>
            <a:r>
              <a:rPr lang="en-US" dirty="0" err="1"/>
              <a:t>user_id</a:t>
            </a:r>
            <a:r>
              <a:rPr lang="en-US" dirty="0"/>
              <a:t>)</a:t>
            </a:r>
          </a:p>
          <a:p>
            <a:pPr marL="0" indent="0">
              <a:buNone/>
            </a:pPr>
            <a:r>
              <a:rPr lang="en-US" dirty="0"/>
              <a:t>except </a:t>
            </a:r>
            <a:r>
              <a:rPr lang="en-US" dirty="0" err="1"/>
              <a:t>DatabaseError</a:t>
            </a:r>
            <a:r>
              <a:rPr lang="en-US" dirty="0"/>
              <a:t> as e:</a:t>
            </a:r>
          </a:p>
          <a:p>
            <a:pPr marL="0" indent="0">
              <a:buNone/>
            </a:pPr>
            <a:r>
              <a:rPr lang="en-US" dirty="0"/>
              <a:t>    raise </a:t>
            </a:r>
            <a:r>
              <a:rPr lang="en-US" dirty="0" err="1"/>
              <a:t>UserNotFound</a:t>
            </a:r>
            <a:r>
              <a:rPr lang="en-US" dirty="0"/>
              <a:t>(</a:t>
            </a:r>
            <a:r>
              <a:rPr lang="en-US" dirty="0" err="1"/>
              <a:t>user_id</a:t>
            </a:r>
            <a:r>
              <a:rPr lang="en-US" dirty="0"/>
              <a:t>) from e</a:t>
            </a:r>
          </a:p>
        </p:txBody>
      </p:sp>
    </p:spTree>
    <p:extLst>
      <p:ext uri="{BB962C8B-B14F-4D97-AF65-F5344CB8AC3E}">
        <p14:creationId xmlns:p14="http://schemas.microsoft.com/office/powerpoint/2010/main" val="113043491"/>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C7A18-3054-B727-73EC-8F2646E3B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BEBCF-A264-7274-C117-B70FD59E7666}"/>
              </a:ext>
            </a:extLst>
          </p:cNvPr>
          <p:cNvSpPr>
            <a:spLocks noGrp="1"/>
          </p:cNvSpPr>
          <p:nvPr>
            <p:ph type="title"/>
          </p:nvPr>
        </p:nvSpPr>
        <p:spPr/>
        <p:txBody>
          <a:bodyPr>
            <a:normAutofit/>
          </a:bodyPr>
          <a:lstStyle/>
          <a:p>
            <a:r>
              <a:rPr lang="en-US" dirty="0"/>
              <a:t>Logging Is Not Optional</a:t>
            </a:r>
          </a:p>
        </p:txBody>
      </p:sp>
      <p:sp>
        <p:nvSpPr>
          <p:cNvPr id="3" name="Content Placeholder 2">
            <a:extLst>
              <a:ext uri="{FF2B5EF4-FFF2-40B4-BE49-F238E27FC236}">
                <a16:creationId xmlns:a16="http://schemas.microsoft.com/office/drawing/2014/main" id="{CF9B991B-9D55-46F3-B365-986903910B04}"/>
              </a:ext>
            </a:extLst>
          </p:cNvPr>
          <p:cNvSpPr>
            <a:spLocks noGrp="1"/>
          </p:cNvSpPr>
          <p:nvPr>
            <p:ph idx="1"/>
          </p:nvPr>
        </p:nvSpPr>
        <p:spPr>
          <a:xfrm>
            <a:off x="457200" y="1600200"/>
            <a:ext cx="4914900" cy="4525963"/>
          </a:xfrm>
        </p:spPr>
        <p:style>
          <a:lnRef idx="2">
            <a:schemeClr val="dk1"/>
          </a:lnRef>
          <a:fillRef idx="1">
            <a:schemeClr val="lt1"/>
          </a:fillRef>
          <a:effectRef idx="0">
            <a:schemeClr val="dk1"/>
          </a:effectRef>
          <a:fontRef idx="minor">
            <a:schemeClr val="dk1"/>
          </a:fontRef>
        </p:style>
        <p:txBody>
          <a:bodyPr/>
          <a:lstStyle/>
          <a:p>
            <a:r>
              <a:rPr lang="en-US" dirty="0"/>
              <a:t>Always log:</a:t>
            </a:r>
          </a:p>
          <a:p>
            <a:pPr lvl="1"/>
            <a:r>
              <a:rPr lang="en-US" dirty="0"/>
              <a:t>What failed</a:t>
            </a:r>
          </a:p>
          <a:p>
            <a:pPr lvl="1"/>
            <a:r>
              <a:rPr lang="en-US" dirty="0"/>
              <a:t>Why it matters</a:t>
            </a:r>
          </a:p>
          <a:p>
            <a:pPr lvl="1"/>
            <a:r>
              <a:rPr lang="en-US" dirty="0"/>
              <a:t>Relevant identifiers</a:t>
            </a:r>
          </a:p>
        </p:txBody>
      </p:sp>
      <p:sp>
        <p:nvSpPr>
          <p:cNvPr id="4" name="Content Placeholder 2">
            <a:extLst>
              <a:ext uri="{FF2B5EF4-FFF2-40B4-BE49-F238E27FC236}">
                <a16:creationId xmlns:a16="http://schemas.microsoft.com/office/drawing/2014/main" id="{B5A6E009-9F41-B0CB-1591-6F039645582C}"/>
              </a:ext>
            </a:extLst>
          </p:cNvPr>
          <p:cNvSpPr txBox="1">
            <a:spLocks/>
          </p:cNvSpPr>
          <p:nvPr/>
        </p:nvSpPr>
        <p:spPr>
          <a:xfrm>
            <a:off x="5727700" y="1600200"/>
            <a:ext cx="6003925"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err="1"/>
              <a:t>logger.error</a:t>
            </a:r>
            <a:r>
              <a:rPr lang="en-US" dirty="0"/>
              <a:t>(</a:t>
            </a:r>
          </a:p>
          <a:p>
            <a:pPr marL="0" indent="0">
              <a:buNone/>
            </a:pPr>
            <a:r>
              <a:rPr lang="en-US" dirty="0"/>
              <a:t>    "Payment processing failed",</a:t>
            </a:r>
          </a:p>
          <a:p>
            <a:pPr marL="0" indent="0">
              <a:buNone/>
            </a:pPr>
            <a:r>
              <a:rPr lang="en-US" dirty="0"/>
              <a:t>    extra={"</a:t>
            </a:r>
            <a:r>
              <a:rPr lang="en-US" dirty="0" err="1"/>
              <a:t>order_id</a:t>
            </a:r>
            <a:r>
              <a:rPr lang="en-US" dirty="0"/>
              <a:t>": order.id}</a:t>
            </a:r>
          </a:p>
          <a:p>
            <a:pPr marL="0" indent="0">
              <a:buNone/>
            </a:pPr>
            <a:r>
              <a:rPr lang="en-US" dirty="0"/>
              <a:t>)</a:t>
            </a:r>
          </a:p>
        </p:txBody>
      </p:sp>
    </p:spTree>
    <p:extLst>
      <p:ext uri="{BB962C8B-B14F-4D97-AF65-F5344CB8AC3E}">
        <p14:creationId xmlns:p14="http://schemas.microsoft.com/office/powerpoint/2010/main" val="3235492862"/>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4F7D2-F0E9-44CE-EC7B-D09337A55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DBC61-014D-AF59-C229-248C6A4FE205}"/>
              </a:ext>
            </a:extLst>
          </p:cNvPr>
          <p:cNvSpPr>
            <a:spLocks noGrp="1"/>
          </p:cNvSpPr>
          <p:nvPr>
            <p:ph type="title"/>
          </p:nvPr>
        </p:nvSpPr>
        <p:spPr/>
        <p:txBody>
          <a:bodyPr>
            <a:normAutofit/>
          </a:bodyPr>
          <a:lstStyle/>
          <a:p>
            <a:r>
              <a:rPr lang="en-SG" dirty="0"/>
              <a:t>Context Managers = Safety Rails</a:t>
            </a:r>
          </a:p>
        </p:txBody>
      </p:sp>
      <p:sp>
        <p:nvSpPr>
          <p:cNvPr id="3" name="Content Placeholder 2">
            <a:extLst>
              <a:ext uri="{FF2B5EF4-FFF2-40B4-BE49-F238E27FC236}">
                <a16:creationId xmlns:a16="http://schemas.microsoft.com/office/drawing/2014/main" id="{B2469093-798D-3F41-F422-B1F16CC56459}"/>
              </a:ext>
            </a:extLst>
          </p:cNvPr>
          <p:cNvSpPr>
            <a:spLocks noGrp="1"/>
          </p:cNvSpPr>
          <p:nvPr>
            <p:ph idx="1"/>
          </p:nvPr>
        </p:nvSpPr>
        <p:spPr>
          <a:xfrm>
            <a:off x="457200" y="1600200"/>
            <a:ext cx="5384800" cy="4525963"/>
          </a:xfrm>
        </p:spPr>
        <p:style>
          <a:lnRef idx="2">
            <a:schemeClr val="dk1"/>
          </a:lnRef>
          <a:fillRef idx="1">
            <a:schemeClr val="lt1"/>
          </a:fillRef>
          <a:effectRef idx="0">
            <a:schemeClr val="dk1"/>
          </a:effectRef>
          <a:fontRef idx="minor">
            <a:schemeClr val="dk1"/>
          </a:fontRef>
        </p:style>
        <p:txBody>
          <a:bodyPr/>
          <a:lstStyle/>
          <a:p>
            <a:r>
              <a:rPr lang="en-US" dirty="0"/>
              <a:t>Use </a:t>
            </a:r>
            <a:r>
              <a:rPr lang="en-US" b="1" dirty="0"/>
              <a:t>with</a:t>
            </a:r>
            <a:r>
              <a:rPr lang="en-US" dirty="0"/>
              <a:t> to guarantee cleanup.</a:t>
            </a:r>
          </a:p>
          <a:p>
            <a:r>
              <a:rPr lang="en-US" dirty="0"/>
              <a:t>Even if errors occur:</a:t>
            </a:r>
          </a:p>
          <a:p>
            <a:pPr lvl="1"/>
            <a:r>
              <a:rPr lang="en-US" dirty="0"/>
              <a:t>Files close</a:t>
            </a:r>
          </a:p>
          <a:p>
            <a:pPr lvl="1"/>
            <a:r>
              <a:rPr lang="en-US" dirty="0"/>
              <a:t>Locks release</a:t>
            </a:r>
          </a:p>
          <a:p>
            <a:pPr lvl="1"/>
            <a:r>
              <a:rPr lang="en-US" dirty="0"/>
              <a:t>Resources clean up</a:t>
            </a:r>
          </a:p>
          <a:p>
            <a:endParaRPr lang="en-US" dirty="0"/>
          </a:p>
        </p:txBody>
      </p:sp>
      <p:sp>
        <p:nvSpPr>
          <p:cNvPr id="4" name="Content Placeholder 2">
            <a:extLst>
              <a:ext uri="{FF2B5EF4-FFF2-40B4-BE49-F238E27FC236}">
                <a16:creationId xmlns:a16="http://schemas.microsoft.com/office/drawing/2014/main" id="{31A5612F-EFB1-A3A6-8AA3-AEC0520AA77F}"/>
              </a:ext>
            </a:extLst>
          </p:cNvPr>
          <p:cNvSpPr txBox="1">
            <a:spLocks/>
          </p:cNvSpPr>
          <p:nvPr/>
        </p:nvSpPr>
        <p:spPr>
          <a:xfrm>
            <a:off x="6094412" y="1600200"/>
            <a:ext cx="5637213" cy="45259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with open("data.txt") as f:</a:t>
            </a:r>
          </a:p>
          <a:p>
            <a:pPr marL="0" indent="0">
              <a:buNone/>
            </a:pPr>
            <a:r>
              <a:rPr lang="en-US" dirty="0"/>
              <a:t>    process(f)</a:t>
            </a:r>
          </a:p>
        </p:txBody>
      </p:sp>
    </p:spTree>
    <p:extLst>
      <p:ext uri="{BB962C8B-B14F-4D97-AF65-F5344CB8AC3E}">
        <p14:creationId xmlns:p14="http://schemas.microsoft.com/office/powerpoint/2010/main" val="1453821617"/>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267AF-4329-577F-E992-47DA7AB64B58}"/>
              </a:ext>
            </a:extLst>
          </p:cNvPr>
          <p:cNvSpPr>
            <a:spLocks noGrp="1"/>
          </p:cNvSpPr>
          <p:nvPr>
            <p:ph type="title"/>
          </p:nvPr>
        </p:nvSpPr>
        <p:spPr/>
        <p:txBody>
          <a:bodyPr>
            <a:normAutofit/>
          </a:bodyPr>
          <a:lstStyle/>
          <a:p>
            <a:r>
              <a:rPr lang="en-US" b="1" dirty="0"/>
              <a:t>Best Practices</a:t>
            </a:r>
            <a:endParaRPr lang="en-SG" dirty="0"/>
          </a:p>
        </p:txBody>
      </p:sp>
      <p:sp>
        <p:nvSpPr>
          <p:cNvPr id="3" name="Content Placeholder 2">
            <a:extLst>
              <a:ext uri="{FF2B5EF4-FFF2-40B4-BE49-F238E27FC236}">
                <a16:creationId xmlns:a16="http://schemas.microsoft.com/office/drawing/2014/main" id="{5A69E04D-FB64-C9EF-705D-B5E5EBF0BD47}"/>
              </a:ext>
            </a:extLst>
          </p:cNvPr>
          <p:cNvSpPr>
            <a:spLocks noGrp="1"/>
          </p:cNvSpPr>
          <p:nvPr>
            <p:ph idx="1"/>
          </p:nvPr>
        </p:nvSpPr>
        <p:spPr/>
        <p:txBody>
          <a:bodyPr/>
          <a:lstStyle/>
          <a:p>
            <a:r>
              <a:rPr lang="en-US" dirty="0"/>
              <a:t>Narrow exceptions only</a:t>
            </a:r>
          </a:p>
          <a:p>
            <a:r>
              <a:rPr lang="en-US" dirty="0"/>
              <a:t>Prefer EAFP</a:t>
            </a:r>
          </a:p>
          <a:p>
            <a:r>
              <a:rPr lang="en-US" dirty="0"/>
              <a:t>Log once, at the boundary</a:t>
            </a:r>
          </a:p>
          <a:p>
            <a:r>
              <a:rPr lang="en-US" dirty="0"/>
              <a:t>Never suppress unknown failures</a:t>
            </a:r>
          </a:p>
          <a:p>
            <a:r>
              <a:rPr lang="en-US" dirty="0"/>
              <a:t>Treat error handling as design</a:t>
            </a:r>
          </a:p>
        </p:txBody>
      </p:sp>
    </p:spTree>
    <p:extLst>
      <p:ext uri="{BB962C8B-B14F-4D97-AF65-F5344CB8AC3E}">
        <p14:creationId xmlns:p14="http://schemas.microsoft.com/office/powerpoint/2010/main" val="4006504077"/>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2F8BF-5FB8-E80A-E31E-09211C333082}"/>
              </a:ext>
            </a:extLst>
          </p:cNvPr>
          <p:cNvSpPr>
            <a:spLocks noGrp="1"/>
          </p:cNvSpPr>
          <p:nvPr>
            <p:ph type="title"/>
          </p:nvPr>
        </p:nvSpPr>
        <p:spPr/>
        <p:txBody>
          <a:bodyPr>
            <a:normAutofit/>
          </a:bodyPr>
          <a:lstStyle/>
          <a:p>
            <a:r>
              <a:rPr lang="en-US" dirty="0"/>
              <a:t>Key Takeaways</a:t>
            </a:r>
            <a:endParaRPr lang="en-SG" dirty="0"/>
          </a:p>
        </p:txBody>
      </p:sp>
      <p:sp>
        <p:nvSpPr>
          <p:cNvPr id="3" name="Content Placeholder 2">
            <a:extLst>
              <a:ext uri="{FF2B5EF4-FFF2-40B4-BE49-F238E27FC236}">
                <a16:creationId xmlns:a16="http://schemas.microsoft.com/office/drawing/2014/main" id="{A539A7A5-5CEB-61F4-95C6-A7EC1670D891}"/>
              </a:ext>
            </a:extLst>
          </p:cNvPr>
          <p:cNvSpPr>
            <a:spLocks noGrp="1"/>
          </p:cNvSpPr>
          <p:nvPr>
            <p:ph idx="1"/>
          </p:nvPr>
        </p:nvSpPr>
        <p:spPr>
          <a:xfrm>
            <a:off x="457200" y="1600200"/>
            <a:ext cx="11099800" cy="4525963"/>
          </a:xfrm>
        </p:spPr>
        <p:txBody>
          <a:bodyPr/>
          <a:lstStyle/>
          <a:p>
            <a:r>
              <a:rPr lang="en-US" dirty="0"/>
              <a:t>Specific exceptions &gt; broad catches</a:t>
            </a:r>
          </a:p>
          <a:p>
            <a:r>
              <a:rPr lang="en-US" dirty="0"/>
              <a:t>EAFP is the Pythonic default</a:t>
            </a:r>
          </a:p>
          <a:p>
            <a:r>
              <a:rPr lang="en-US" dirty="0"/>
              <a:t>Silent errors are production bugs</a:t>
            </a:r>
          </a:p>
          <a:p>
            <a:r>
              <a:rPr lang="en-US" dirty="0"/>
              <a:t>Error handling is system design</a:t>
            </a:r>
          </a:p>
          <a:p>
            <a:pPr marL="0" indent="0">
              <a:buNone/>
            </a:pPr>
            <a:endParaRPr lang="en-US" b="1" dirty="0"/>
          </a:p>
          <a:p>
            <a:pPr marL="0" indent="0">
              <a:buNone/>
            </a:pPr>
            <a:r>
              <a:rPr lang="en-US" b="1" dirty="0"/>
              <a:t>Mental model: </a:t>
            </a:r>
            <a:r>
              <a:rPr lang="en-US" dirty="0"/>
              <a:t>“If it fails, fail loudly, clearly, and intentionally”</a:t>
            </a:r>
          </a:p>
        </p:txBody>
      </p:sp>
    </p:spTree>
    <p:extLst>
      <p:ext uri="{BB962C8B-B14F-4D97-AF65-F5344CB8AC3E}">
        <p14:creationId xmlns:p14="http://schemas.microsoft.com/office/powerpoint/2010/main" val="391305212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pathlib vs os.path</a:t>
            </a:r>
          </a:p>
        </p:txBody>
      </p:sp>
      <p:sp>
        <p:nvSpPr>
          <p:cNvPr id="3" name="Content Placeholder 2"/>
          <p:cNvSpPr>
            <a:spLocks noGrp="1"/>
          </p:cNvSpPr>
          <p:nvPr>
            <p:ph idx="1"/>
          </p:nvPr>
        </p:nvSpPr>
        <p:spPr/>
        <p:txBody>
          <a:bodyPr/>
          <a:lstStyle/>
          <a:p>
            <a:r>
              <a:t>pathlib provides object-oriented paths</a:t>
            </a:r>
          </a:p>
          <a:p>
            <a:r>
              <a:t>Cleaner, more readable code</a:t>
            </a:r>
          </a:p>
          <a:p>
            <a:r>
              <a:t>Recommended for modern Python</a:t>
            </a: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pathlib vs os.path</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800" dirty="0"/>
              <a:t>from </a:t>
            </a:r>
            <a:r>
              <a:rPr sz="2800" dirty="0" err="1"/>
              <a:t>pathlib</a:t>
            </a:r>
            <a:r>
              <a:rPr sz="2800" dirty="0"/>
              <a:t> import Path</a:t>
            </a:r>
            <a:br>
              <a:rPr sz="2800" dirty="0"/>
            </a:br>
            <a:r>
              <a:rPr sz="2800" dirty="0"/>
              <a:t>root = Path("docs") / "letters"</a:t>
            </a:r>
            <a:br>
              <a:rPr sz="2800" dirty="0"/>
            </a:br>
            <a:r>
              <a:rPr sz="2800" dirty="0"/>
              <a:t>for file in </a:t>
            </a:r>
            <a:r>
              <a:rPr sz="2800" dirty="0" err="1"/>
              <a:t>root.glob</a:t>
            </a:r>
            <a:r>
              <a:rPr sz="2800" dirty="0"/>
              <a:t>("*.txt"):</a:t>
            </a:r>
            <a:br>
              <a:rPr sz="2800" dirty="0"/>
            </a:br>
            <a:r>
              <a:rPr sz="2800" dirty="0"/>
              <a:t>    print(</a:t>
            </a:r>
            <a:r>
              <a:rPr sz="2800" dirty="0" err="1"/>
              <a:t>file.stem</a:t>
            </a:r>
            <a:r>
              <a:rPr sz="2800" dirty="0"/>
              <a:t>)</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JSON Serialization</a:t>
            </a:r>
          </a:p>
        </p:txBody>
      </p:sp>
      <p:sp>
        <p:nvSpPr>
          <p:cNvPr id="3" name="Content Placeholder 2"/>
          <p:cNvSpPr>
            <a:spLocks noGrp="1"/>
          </p:cNvSpPr>
          <p:nvPr>
            <p:ph idx="1"/>
          </p:nvPr>
        </p:nvSpPr>
        <p:spPr/>
        <p:txBody>
          <a:bodyPr/>
          <a:lstStyle/>
          <a:p>
            <a:pPr algn="l">
              <a:defRPr sz="1500">
                <a:latin typeface="Courier New"/>
              </a:defRPr>
            </a:pPr>
            <a:r>
              <a:t>import json</a:t>
            </a:r>
            <a:br/>
            <a:r>
              <a:t>data = {"name": "Ada", "skills": ["Python", "Math"]}</a:t>
            </a:r>
            <a:br/>
            <a:r>
              <a:t>with open("ada.json", "w") as f:</a:t>
            </a:r>
            <a:br/>
            <a:r>
              <a:t>    json.dump(data, f, indent=2)</a:t>
            </a:r>
            <a:br/>
            <a:br/>
            <a:r>
              <a:t>clone = json.load(open("ada.json"))</a:t>
            </a:r>
            <a:br/>
            <a:r>
              <a:t>print(clone == data)</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Mini-Project: Contact Manager</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1600" dirty="0"/>
              <a:t>import </a:t>
            </a:r>
            <a:r>
              <a:rPr sz="1600" dirty="0" err="1"/>
              <a:t>json</a:t>
            </a:r>
            <a:r>
              <a:rPr sz="1600" dirty="0"/>
              <a:t>, </a:t>
            </a:r>
            <a:r>
              <a:rPr sz="1600" dirty="0" err="1"/>
              <a:t>pathlib</a:t>
            </a:r>
            <a:r>
              <a:rPr sz="1600" dirty="0"/>
              <a:t>, sys</a:t>
            </a:r>
            <a:br>
              <a:rPr sz="1600" dirty="0"/>
            </a:br>
            <a:r>
              <a:rPr sz="1600" dirty="0"/>
              <a:t>FILE = </a:t>
            </a:r>
            <a:r>
              <a:rPr sz="1600" dirty="0" err="1"/>
              <a:t>pathlib.Path</a:t>
            </a:r>
            <a:r>
              <a:rPr sz="1600" dirty="0"/>
              <a:t>("</a:t>
            </a:r>
            <a:r>
              <a:rPr sz="1600" dirty="0" err="1"/>
              <a:t>contacts.json</a:t>
            </a:r>
            <a:r>
              <a:rPr sz="1600" dirty="0"/>
              <a:t>")</a:t>
            </a:r>
            <a:br>
              <a:rPr sz="1600" dirty="0"/>
            </a:br>
            <a:r>
              <a:rPr sz="1600" dirty="0"/>
              <a:t>def load(): return </a:t>
            </a:r>
            <a:r>
              <a:rPr sz="1600" dirty="0" err="1"/>
              <a:t>json.loads</a:t>
            </a:r>
            <a:r>
              <a:rPr sz="1600" dirty="0"/>
              <a:t>(</a:t>
            </a:r>
            <a:r>
              <a:rPr sz="1600" dirty="0" err="1"/>
              <a:t>FILE.read_text</a:t>
            </a:r>
            <a:r>
              <a:rPr sz="1600" dirty="0"/>
              <a:t>()) if </a:t>
            </a:r>
            <a:r>
              <a:rPr sz="1600" dirty="0" err="1"/>
              <a:t>FILE.exists</a:t>
            </a:r>
            <a:r>
              <a:rPr sz="1600" dirty="0"/>
              <a:t>() else {}</a:t>
            </a:r>
            <a:br>
              <a:rPr sz="1600" dirty="0"/>
            </a:br>
            <a:r>
              <a:rPr sz="1600" dirty="0"/>
              <a:t>def save(data): </a:t>
            </a:r>
            <a:r>
              <a:rPr sz="1600" dirty="0" err="1"/>
              <a:t>FILE.write_text</a:t>
            </a:r>
            <a:r>
              <a:rPr sz="1600" dirty="0"/>
              <a:t>(</a:t>
            </a:r>
            <a:r>
              <a:rPr sz="1600" dirty="0" err="1"/>
              <a:t>json.dumps</a:t>
            </a:r>
            <a:r>
              <a:rPr sz="1600" dirty="0"/>
              <a:t>(data, indent=2))</a:t>
            </a:r>
            <a:br>
              <a:rPr sz="1600" dirty="0"/>
            </a:br>
            <a:r>
              <a:rPr sz="1600" dirty="0"/>
              <a:t>def add(name, phone):</a:t>
            </a:r>
            <a:br>
              <a:rPr sz="1600" dirty="0"/>
            </a:br>
            <a:r>
              <a:rPr sz="1600" dirty="0"/>
              <a:t>    book = load(); book[name] = phone; save(book); print(</a:t>
            </a:r>
            <a:r>
              <a:rPr sz="1600" dirty="0" err="1"/>
              <a:t>f"Added</a:t>
            </a:r>
            <a:r>
              <a:rPr sz="1600" dirty="0"/>
              <a:t> {name}")</a:t>
            </a:r>
            <a:br>
              <a:rPr sz="1600" dirty="0"/>
            </a:br>
            <a:r>
              <a:rPr sz="1600" dirty="0"/>
              <a:t>if </a:t>
            </a:r>
            <a:r>
              <a:rPr sz="1600" dirty="0" err="1"/>
              <a:t>sys.argv</a:t>
            </a:r>
            <a:r>
              <a:rPr sz="1600" dirty="0"/>
              <a:t>[1:2] == ["add"]: add(</a:t>
            </a:r>
            <a:r>
              <a:rPr sz="1600" dirty="0" err="1"/>
              <a:t>sys.argv</a:t>
            </a:r>
            <a:r>
              <a:rPr sz="1600" dirty="0"/>
              <a:t>[2], </a:t>
            </a:r>
            <a:r>
              <a:rPr sz="1600" dirty="0" err="1"/>
              <a:t>sys.argv</a:t>
            </a:r>
            <a:r>
              <a:rPr sz="1600" dirty="0"/>
              <a:t>[3])</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96D38-FFE3-F638-D4FB-86C7DC930A7C}"/>
              </a:ext>
            </a:extLst>
          </p:cNvPr>
          <p:cNvSpPr>
            <a:spLocks noGrp="1"/>
          </p:cNvSpPr>
          <p:nvPr>
            <p:ph type="title"/>
          </p:nvPr>
        </p:nvSpPr>
        <p:spPr/>
        <p:txBody>
          <a:bodyPr>
            <a:normAutofit/>
          </a:bodyPr>
          <a:lstStyle/>
          <a:p>
            <a:r>
              <a:rPr lang="en-US" b="1" dirty="0"/>
              <a:t>Enterprise Patterns</a:t>
            </a:r>
            <a:endParaRPr lang="en-SG" dirty="0"/>
          </a:p>
        </p:txBody>
      </p:sp>
      <p:sp>
        <p:nvSpPr>
          <p:cNvPr id="3" name="Content Placeholder 2">
            <a:extLst>
              <a:ext uri="{FF2B5EF4-FFF2-40B4-BE49-F238E27FC236}">
                <a16:creationId xmlns:a16="http://schemas.microsoft.com/office/drawing/2014/main" id="{067D570C-B4E6-7E31-6655-DC41D2EBF9C7}"/>
              </a:ext>
            </a:extLst>
          </p:cNvPr>
          <p:cNvSpPr>
            <a:spLocks noGrp="1"/>
          </p:cNvSpPr>
          <p:nvPr>
            <p:ph idx="1"/>
          </p:nvPr>
        </p:nvSpPr>
        <p:spPr/>
        <p:txBody>
          <a:bodyPr/>
          <a:lstStyle/>
          <a:p>
            <a:r>
              <a:rPr lang="en-US" dirty="0"/>
              <a:t>Configuration via files</a:t>
            </a:r>
          </a:p>
          <a:p>
            <a:r>
              <a:rPr lang="en-US" dirty="0"/>
              <a:t>Logging over print</a:t>
            </a:r>
          </a:p>
          <a:p>
            <a:r>
              <a:rPr lang="en-US" dirty="0"/>
              <a:t>Pure functions for business logic</a:t>
            </a:r>
          </a:p>
          <a:p>
            <a:r>
              <a:rPr lang="en-US" dirty="0"/>
              <a:t>Side effects at the edges</a:t>
            </a:r>
          </a:p>
          <a:p>
            <a:endParaRPr lang="en-SG" dirty="0"/>
          </a:p>
        </p:txBody>
      </p:sp>
    </p:spTree>
    <p:extLst>
      <p:ext uri="{BB962C8B-B14F-4D97-AF65-F5344CB8AC3E}">
        <p14:creationId xmlns:p14="http://schemas.microsoft.com/office/powerpoint/2010/main" val="2409190535"/>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Module 3  ADVANCED</a:t>
            </a:r>
          </a:p>
        </p:txBody>
      </p:sp>
      <p:sp>
        <p:nvSpPr>
          <p:cNvPr id="3" name="Subtitle 2"/>
          <p:cNvSpPr>
            <a:spLocks noGrp="1"/>
          </p:cNvSpPr>
          <p:nvPr>
            <p:ph type="subTitle" idx="1"/>
          </p:nvPr>
        </p:nvSpPr>
        <p:spPr/>
        <p:txBody>
          <a:bodyPr/>
          <a:lstStyle/>
          <a:p>
            <a:endParaRP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3 — Advanced</a:t>
            </a:r>
          </a:p>
        </p:txBody>
      </p:sp>
      <p:sp>
        <p:nvSpPr>
          <p:cNvPr id="3" name="Content Placeholder 2"/>
          <p:cNvSpPr>
            <a:spLocks noGrp="1"/>
          </p:cNvSpPr>
          <p:nvPr>
            <p:ph idx="1"/>
          </p:nvPr>
        </p:nvSpPr>
        <p:spPr/>
        <p:txBody>
          <a:bodyPr/>
          <a:lstStyle/>
          <a:p>
            <a:r>
              <a:t>Write efficient, scalable Python</a:t>
            </a:r>
          </a:p>
          <a:p>
            <a:r>
              <a:t>Understand concurrency options</a:t>
            </a:r>
          </a:p>
          <a:p>
            <a:r>
              <a:t>Use modern tooling</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9F30-FB26-B395-071E-943E61791B07}"/>
              </a:ext>
            </a:extLst>
          </p:cNvPr>
          <p:cNvSpPr>
            <a:spLocks noGrp="1"/>
          </p:cNvSpPr>
          <p:nvPr>
            <p:ph type="title"/>
          </p:nvPr>
        </p:nvSpPr>
        <p:spPr>
          <a:xfrm>
            <a:off x="457200" y="274638"/>
            <a:ext cx="11087100" cy="1143000"/>
          </a:xfrm>
        </p:spPr>
        <p:txBody>
          <a:bodyPr/>
          <a:lstStyle/>
          <a:p>
            <a:r>
              <a:rPr lang="en-SG" b="1" dirty="0"/>
              <a:t>Type Hinting &amp; Decorators</a:t>
            </a:r>
            <a:endParaRPr lang="en-SG" dirty="0"/>
          </a:p>
        </p:txBody>
      </p:sp>
      <p:sp>
        <p:nvSpPr>
          <p:cNvPr id="3" name="Content Placeholder 2">
            <a:extLst>
              <a:ext uri="{FF2B5EF4-FFF2-40B4-BE49-F238E27FC236}">
                <a16:creationId xmlns:a16="http://schemas.microsoft.com/office/drawing/2014/main" id="{5777C4F3-D0A3-250A-7699-B104DEBCDC52}"/>
              </a:ext>
            </a:extLst>
          </p:cNvPr>
          <p:cNvSpPr>
            <a:spLocks noGrp="1"/>
          </p:cNvSpPr>
          <p:nvPr>
            <p:ph idx="1"/>
          </p:nvPr>
        </p:nvSpPr>
        <p:spPr>
          <a:xfrm>
            <a:off x="457200" y="1600201"/>
            <a:ext cx="11087100" cy="2616200"/>
          </a:xfrm>
        </p:spPr>
        <p:txBody>
          <a:bodyPr>
            <a:normAutofit fontScale="92500" lnSpcReduction="20000"/>
          </a:bodyPr>
          <a:lstStyle/>
          <a:p>
            <a:r>
              <a:rPr lang="en-SG" dirty="0"/>
              <a:t>As projects grow, "meta" features help maintain code quality.</a:t>
            </a:r>
          </a:p>
          <a:p>
            <a:r>
              <a:rPr lang="en-SG" b="1" dirty="0"/>
              <a:t>Type Hinting:</a:t>
            </a:r>
            <a:r>
              <a:rPr lang="en-SG" dirty="0"/>
              <a:t> Helps IDEs and static </a:t>
            </a:r>
            <a:r>
              <a:rPr lang="en-SG" dirty="0" err="1"/>
              <a:t>analyzers</a:t>
            </a:r>
            <a:r>
              <a:rPr lang="en-SG" dirty="0"/>
              <a:t> (like </a:t>
            </a:r>
            <a:r>
              <a:rPr lang="en-SG" dirty="0" err="1"/>
              <a:t>MyPy</a:t>
            </a:r>
            <a:r>
              <a:rPr lang="en-SG" dirty="0"/>
              <a:t>) catch bugs before they run.</a:t>
            </a:r>
          </a:p>
          <a:p>
            <a:pPr lvl="1"/>
            <a:r>
              <a:rPr lang="en-SG" dirty="0"/>
              <a:t>def process(name: str) -&gt; list[str]:</a:t>
            </a:r>
          </a:p>
          <a:p>
            <a:r>
              <a:rPr lang="en-SG" b="1" dirty="0"/>
              <a:t>Decorators:</a:t>
            </a:r>
            <a:r>
              <a:rPr lang="en-SG" dirty="0"/>
              <a:t> Functions that wrap other functions to modify their </a:t>
            </a:r>
            <a:r>
              <a:rPr lang="en-SG" dirty="0" err="1"/>
              <a:t>behavior</a:t>
            </a:r>
            <a:r>
              <a:rPr lang="en-SG" dirty="0"/>
              <a:t> (e.g., logging, timing, or access control).</a:t>
            </a:r>
          </a:p>
          <a:p>
            <a:endParaRPr lang="en-SG" dirty="0"/>
          </a:p>
        </p:txBody>
      </p:sp>
      <p:sp>
        <p:nvSpPr>
          <p:cNvPr id="4" name="TextBox 3">
            <a:extLst>
              <a:ext uri="{FF2B5EF4-FFF2-40B4-BE49-F238E27FC236}">
                <a16:creationId xmlns:a16="http://schemas.microsoft.com/office/drawing/2014/main" id="{5CF10D27-44F8-CA5C-D8D3-FBC038F32DD6}"/>
              </a:ext>
            </a:extLst>
          </p:cNvPr>
          <p:cNvSpPr txBox="1"/>
          <p:nvPr/>
        </p:nvSpPr>
        <p:spPr>
          <a:xfrm>
            <a:off x="457200" y="4648200"/>
            <a:ext cx="11087100"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3200" dirty="0"/>
              <a:t>@timer_decorator</a:t>
            </a:r>
          </a:p>
          <a:p>
            <a:r>
              <a:rPr lang="en-US" sz="3200" dirty="0"/>
              <a:t>def </a:t>
            </a:r>
            <a:r>
              <a:rPr lang="en-US" sz="3200" dirty="0" err="1"/>
              <a:t>heavy_computation</a:t>
            </a:r>
            <a:r>
              <a:rPr lang="en-US" sz="3200" dirty="0"/>
              <a:t>():</a:t>
            </a:r>
          </a:p>
          <a:p>
            <a:r>
              <a:rPr lang="en-US" sz="3200" dirty="0"/>
              <a:t>    pass</a:t>
            </a:r>
            <a:endParaRPr lang="en-SG" sz="3200" dirty="0"/>
          </a:p>
        </p:txBody>
      </p:sp>
    </p:spTree>
    <p:extLst>
      <p:ext uri="{BB962C8B-B14F-4D97-AF65-F5344CB8AC3E}">
        <p14:creationId xmlns:p14="http://schemas.microsoft.com/office/powerpoint/2010/main" val="2881143076"/>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AFB94-C97F-1D02-2030-D86022C6F880}"/>
              </a:ext>
            </a:extLst>
          </p:cNvPr>
          <p:cNvSpPr>
            <a:spLocks noGrp="1"/>
          </p:cNvSpPr>
          <p:nvPr>
            <p:ph type="title"/>
          </p:nvPr>
        </p:nvSpPr>
        <p:spPr/>
        <p:txBody>
          <a:bodyPr>
            <a:normAutofit/>
          </a:bodyPr>
          <a:lstStyle/>
          <a:p>
            <a:r>
              <a:rPr lang="en-US" dirty="0"/>
              <a:t>Type Hints</a:t>
            </a:r>
            <a:endParaRPr lang="en-SG" dirty="0"/>
          </a:p>
        </p:txBody>
      </p:sp>
      <p:sp>
        <p:nvSpPr>
          <p:cNvPr id="3" name="Content Placeholder 2">
            <a:extLst>
              <a:ext uri="{FF2B5EF4-FFF2-40B4-BE49-F238E27FC236}">
                <a16:creationId xmlns:a16="http://schemas.microsoft.com/office/drawing/2014/main" id="{4128C229-9AD8-E4EC-081E-DBB6B236A1E1}"/>
              </a:ext>
            </a:extLst>
          </p:cNvPr>
          <p:cNvSpPr>
            <a:spLocks noGrp="1"/>
          </p:cNvSpPr>
          <p:nvPr>
            <p:ph idx="1"/>
          </p:nvPr>
        </p:nvSpPr>
        <p:spPr/>
        <p:txBody>
          <a:bodyPr/>
          <a:lstStyle/>
          <a:p>
            <a:r>
              <a:rPr lang="en-US" dirty="0"/>
              <a:t>Improve readability</a:t>
            </a:r>
          </a:p>
          <a:p>
            <a:r>
              <a:rPr lang="en-US" dirty="0"/>
              <a:t>Catch bugs early</a:t>
            </a:r>
          </a:p>
          <a:p>
            <a:r>
              <a:rPr lang="en-US" dirty="0"/>
              <a:t>Still fully dynamic at runtime</a:t>
            </a:r>
          </a:p>
          <a:p>
            <a:pPr marL="0" indent="0">
              <a:buNone/>
            </a:pPr>
            <a:endParaRPr lang="en-US" b="1" dirty="0"/>
          </a:p>
          <a:p>
            <a:pPr marL="0" indent="0">
              <a:buNone/>
            </a:pPr>
            <a:r>
              <a:rPr lang="en-US" b="1" dirty="0"/>
              <a:t>Use more as code grows</a:t>
            </a:r>
            <a:endParaRPr lang="en-US" dirty="0"/>
          </a:p>
          <a:p>
            <a:endParaRPr lang="en-SG" dirty="0"/>
          </a:p>
        </p:txBody>
      </p:sp>
    </p:spTree>
    <p:extLst>
      <p:ext uri="{BB962C8B-B14F-4D97-AF65-F5344CB8AC3E}">
        <p14:creationId xmlns:p14="http://schemas.microsoft.com/office/powerpoint/2010/main" val="4171242807"/>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Decorators &amp; Generators</a:t>
            </a:r>
          </a:p>
        </p:txBody>
      </p:sp>
      <p:sp>
        <p:nvSpPr>
          <p:cNvPr id="3" name="Content Placeholder 2"/>
          <p:cNvSpPr>
            <a:spLocks noGrp="1"/>
          </p:cNvSpPr>
          <p:nvPr>
            <p:ph idx="1"/>
          </p:nvPr>
        </p:nvSpPr>
        <p:spPr/>
        <p:txBody>
          <a:bodyPr/>
          <a:lstStyle/>
          <a:p>
            <a:r>
              <a:t>Decorators add behavior cleanly</a:t>
            </a:r>
          </a:p>
          <a:p>
            <a:r>
              <a:t>Generators process data lazily</a:t>
            </a:r>
          </a:p>
          <a:p>
            <a:r>
              <a:t>Reduce duplication at scale</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Decorators</a:t>
            </a:r>
          </a:p>
        </p:txBody>
      </p:sp>
      <p:sp>
        <p:nvSpPr>
          <p:cNvPr id="3" name="Content Placeholder 2"/>
          <p:cNvSpPr>
            <a:spLocks noGrp="1"/>
          </p:cNvSpPr>
          <p:nvPr>
            <p:ph idx="1"/>
          </p:nvPr>
        </p:nvSpPr>
        <p:spPr/>
        <p:txBody>
          <a:bodyPr>
            <a:normAutofit/>
          </a:bodyPr>
          <a:lstStyle/>
          <a:p>
            <a:r>
              <a:rPr lang="en-US" dirty="0"/>
              <a:t>Add behavior without modifying logic</a:t>
            </a:r>
          </a:p>
          <a:p>
            <a:r>
              <a:rPr lang="en-US" dirty="0"/>
              <a:t>Common uses:</a:t>
            </a:r>
          </a:p>
          <a:p>
            <a:pPr lvl="1"/>
            <a:r>
              <a:rPr lang="en-US" dirty="0"/>
              <a:t>Logging</a:t>
            </a:r>
          </a:p>
          <a:p>
            <a:pPr lvl="1"/>
            <a:r>
              <a:rPr lang="en-US" dirty="0"/>
              <a:t>Timing</a:t>
            </a:r>
          </a:p>
          <a:p>
            <a:pPr lvl="1"/>
            <a:r>
              <a:rPr lang="en-US" dirty="0"/>
              <a:t>Authorization</a:t>
            </a:r>
          </a:p>
          <a:p>
            <a:pPr lvl="1"/>
            <a:r>
              <a:rPr lang="en-US" dirty="0"/>
              <a:t>Caching</a:t>
            </a:r>
          </a:p>
          <a:p>
            <a:r>
              <a:rPr lang="en-US" b="1" dirty="0"/>
              <a:t>Mental model:</a:t>
            </a:r>
            <a:r>
              <a:rPr lang="en-US" dirty="0"/>
              <a:t> reusable cross-cutting concerns</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Decorators – Function Wrappers</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1800" dirty="0"/>
              <a:t>def debug(</a:t>
            </a:r>
            <a:r>
              <a:rPr sz="1800" dirty="0" err="1"/>
              <a:t>func</a:t>
            </a:r>
            <a:r>
              <a:rPr sz="1800" dirty="0"/>
              <a:t>):</a:t>
            </a:r>
            <a:br>
              <a:rPr sz="1800" dirty="0"/>
            </a:br>
            <a:r>
              <a:rPr sz="1800" dirty="0"/>
              <a:t>    import </a:t>
            </a:r>
            <a:r>
              <a:rPr sz="1800" dirty="0" err="1"/>
              <a:t>functools</a:t>
            </a:r>
            <a:br>
              <a:rPr sz="1800" dirty="0"/>
            </a:br>
            <a:r>
              <a:rPr sz="1800" dirty="0"/>
              <a:t>    @functools.wraps(func)</a:t>
            </a:r>
            <a:br>
              <a:rPr sz="1800" dirty="0"/>
            </a:br>
            <a:r>
              <a:rPr sz="1800" dirty="0"/>
              <a:t>    def wrapper(*</a:t>
            </a:r>
            <a:r>
              <a:rPr sz="1800" dirty="0" err="1"/>
              <a:t>args</a:t>
            </a:r>
            <a:r>
              <a:rPr sz="1800" dirty="0"/>
              <a:t>, **</a:t>
            </a:r>
            <a:r>
              <a:rPr sz="1800" dirty="0" err="1"/>
              <a:t>kwargs</a:t>
            </a:r>
            <a:r>
              <a:rPr sz="1800" dirty="0"/>
              <a:t>):</a:t>
            </a:r>
            <a:br>
              <a:rPr sz="1800" dirty="0"/>
            </a:br>
            <a:r>
              <a:rPr sz="1800" dirty="0"/>
              <a:t>        print(</a:t>
            </a:r>
            <a:r>
              <a:rPr sz="1800" dirty="0" err="1"/>
              <a:t>f"Calling</a:t>
            </a:r>
            <a:r>
              <a:rPr sz="1800" dirty="0"/>
              <a:t> {</a:t>
            </a:r>
            <a:r>
              <a:rPr sz="1800" dirty="0" err="1"/>
              <a:t>func</a:t>
            </a:r>
            <a:r>
              <a:rPr sz="1800" dirty="0"/>
              <a:t>.__name__}{</a:t>
            </a:r>
            <a:r>
              <a:rPr sz="1800" dirty="0" err="1"/>
              <a:t>args</a:t>
            </a:r>
            <a:r>
              <a:rPr sz="1800" dirty="0"/>
              <a:t>}")</a:t>
            </a:r>
            <a:br>
              <a:rPr sz="1800" dirty="0"/>
            </a:br>
            <a:r>
              <a:rPr sz="1800" dirty="0"/>
              <a:t>        value = </a:t>
            </a:r>
            <a:r>
              <a:rPr sz="1800" dirty="0" err="1"/>
              <a:t>func</a:t>
            </a:r>
            <a:r>
              <a:rPr sz="1800" dirty="0"/>
              <a:t>(*</a:t>
            </a:r>
            <a:r>
              <a:rPr sz="1800" dirty="0" err="1"/>
              <a:t>args</a:t>
            </a:r>
            <a:r>
              <a:rPr sz="1800" dirty="0"/>
              <a:t>, **</a:t>
            </a:r>
            <a:r>
              <a:rPr sz="1800" dirty="0" err="1"/>
              <a:t>kwargs</a:t>
            </a:r>
            <a:r>
              <a:rPr sz="1800" dirty="0"/>
              <a:t>)</a:t>
            </a:r>
            <a:br>
              <a:rPr sz="1800" dirty="0"/>
            </a:br>
            <a:r>
              <a:rPr sz="1800" dirty="0"/>
              <a:t>        print(f"{</a:t>
            </a:r>
            <a:r>
              <a:rPr sz="1800" dirty="0" err="1"/>
              <a:t>func</a:t>
            </a:r>
            <a:r>
              <a:rPr sz="1800" dirty="0"/>
              <a:t>.__name__} returned {value}")</a:t>
            </a:r>
            <a:br>
              <a:rPr sz="1800" dirty="0"/>
            </a:br>
            <a:r>
              <a:rPr sz="1800" dirty="0"/>
              <a:t>        return value</a:t>
            </a:r>
            <a:br>
              <a:rPr sz="1800" dirty="0"/>
            </a:br>
            <a:r>
              <a:rPr sz="1800" dirty="0"/>
              <a:t>    return wrapper</a:t>
            </a:r>
            <a:br>
              <a:rPr sz="1800" dirty="0"/>
            </a:br>
            <a:br>
              <a:rPr sz="1800" dirty="0"/>
            </a:br>
            <a:r>
              <a:rPr sz="1800" dirty="0"/>
              <a:t>@debug</a:t>
            </a:r>
            <a:br>
              <a:rPr sz="1800" dirty="0"/>
            </a:br>
            <a:r>
              <a:rPr sz="1800" dirty="0"/>
              <a:t>def </a:t>
            </a:r>
            <a:r>
              <a:rPr sz="1800" dirty="0" err="1"/>
              <a:t>gcd</a:t>
            </a:r>
            <a:r>
              <a:rPr sz="1800" dirty="0"/>
              <a:t>(a, b):</a:t>
            </a:r>
            <a:br>
              <a:rPr sz="1800" dirty="0"/>
            </a:br>
            <a:r>
              <a:rPr sz="1800" dirty="0"/>
              <a:t>    while b: a, b = b, a % b</a:t>
            </a:r>
            <a:br>
              <a:rPr sz="1800" dirty="0"/>
            </a:br>
            <a:r>
              <a:rPr sz="1800" dirty="0"/>
              <a:t>    return a</a:t>
            </a:r>
            <a:br>
              <a:rPr sz="1800" dirty="0"/>
            </a:br>
            <a:br>
              <a:rPr sz="1800" dirty="0"/>
            </a:br>
            <a:r>
              <a:rPr sz="1800" dirty="0" err="1"/>
              <a:t>gcd</a:t>
            </a:r>
            <a:r>
              <a:rPr sz="1800" dirty="0"/>
              <a:t>(42, 56)</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Decorators with Arguments</a:t>
            </a:r>
          </a:p>
        </p:txBody>
      </p:sp>
      <p:sp>
        <p:nvSpPr>
          <p:cNvPr id="3" name="Content Placeholder 2"/>
          <p:cNvSpPr>
            <a:spLocks noGrp="1"/>
          </p:cNvSpPr>
          <p:nvPr>
            <p:ph idx="1"/>
          </p:nvPr>
        </p:nvSpPr>
        <p:spPr>
          <a:xfrm>
            <a:off x="457200" y="1600200"/>
            <a:ext cx="9372600" cy="4525963"/>
          </a:xfrm>
        </p:spPr>
        <p:txBody>
          <a:bodyPr>
            <a:normAutofit/>
          </a:bodyPr>
          <a:lstStyle/>
          <a:p>
            <a:pPr marL="0" indent="0" algn="l">
              <a:buNone/>
              <a:defRPr sz="1500">
                <a:latin typeface="Courier New"/>
              </a:defRPr>
            </a:pPr>
            <a:r>
              <a:rPr sz="1800" dirty="0"/>
              <a:t>def repeat(times):</a:t>
            </a:r>
            <a:br>
              <a:rPr sz="1800" dirty="0"/>
            </a:br>
            <a:r>
              <a:rPr sz="1800" dirty="0"/>
              <a:t>    def decorator(</a:t>
            </a:r>
            <a:r>
              <a:rPr sz="1800" dirty="0" err="1"/>
              <a:t>func</a:t>
            </a:r>
            <a:r>
              <a:rPr sz="1800" dirty="0"/>
              <a:t>):</a:t>
            </a:r>
            <a:br>
              <a:rPr sz="1800" dirty="0"/>
            </a:br>
            <a:r>
              <a:rPr sz="1800" dirty="0"/>
              <a:t>        import </a:t>
            </a:r>
            <a:r>
              <a:rPr sz="1800" dirty="0" err="1"/>
              <a:t>functools</a:t>
            </a:r>
            <a:br>
              <a:rPr sz="1800" dirty="0"/>
            </a:br>
            <a:r>
              <a:rPr sz="1800" dirty="0"/>
              <a:t>        @functools.wraps(func)</a:t>
            </a:r>
            <a:br>
              <a:rPr sz="1800" dirty="0"/>
            </a:br>
            <a:r>
              <a:rPr sz="1800" dirty="0"/>
              <a:t>        def wrapper(*</a:t>
            </a:r>
            <a:r>
              <a:rPr sz="1800" dirty="0" err="1"/>
              <a:t>args</a:t>
            </a:r>
            <a:r>
              <a:rPr sz="1800" dirty="0"/>
              <a:t>, **</a:t>
            </a:r>
            <a:r>
              <a:rPr sz="1800" dirty="0" err="1"/>
              <a:t>kwargs</a:t>
            </a:r>
            <a:r>
              <a:rPr sz="1800" dirty="0"/>
              <a:t>):</a:t>
            </a:r>
            <a:br>
              <a:rPr sz="1800" dirty="0"/>
            </a:br>
            <a:r>
              <a:rPr sz="1800" dirty="0"/>
              <a:t>            for _ in range(times): value = </a:t>
            </a:r>
            <a:r>
              <a:rPr sz="1800" dirty="0" err="1"/>
              <a:t>func</a:t>
            </a:r>
            <a:r>
              <a:rPr sz="1800" dirty="0"/>
              <a:t>(*</a:t>
            </a:r>
            <a:r>
              <a:rPr sz="1800" dirty="0" err="1"/>
              <a:t>args</a:t>
            </a:r>
            <a:r>
              <a:rPr sz="1800" dirty="0"/>
              <a:t>, **</a:t>
            </a:r>
            <a:r>
              <a:rPr sz="1800" dirty="0" err="1"/>
              <a:t>kwargs</a:t>
            </a:r>
            <a:r>
              <a:rPr sz="1800" dirty="0"/>
              <a:t>)</a:t>
            </a:r>
            <a:br>
              <a:rPr sz="1800" dirty="0"/>
            </a:br>
            <a:r>
              <a:rPr sz="1800" dirty="0"/>
              <a:t>            return value</a:t>
            </a:r>
            <a:br>
              <a:rPr sz="1800" dirty="0"/>
            </a:br>
            <a:r>
              <a:rPr sz="1800" dirty="0"/>
              <a:t>        return wrapper</a:t>
            </a:r>
            <a:br>
              <a:rPr sz="1800" dirty="0"/>
            </a:br>
            <a:r>
              <a:rPr sz="1800" dirty="0"/>
              <a:t>    return decorator</a:t>
            </a:r>
            <a:br>
              <a:rPr sz="1800" dirty="0"/>
            </a:br>
            <a:br>
              <a:rPr sz="1800" dirty="0"/>
            </a:br>
            <a:r>
              <a:rPr sz="1800" dirty="0"/>
              <a:t>@repeat(3)</a:t>
            </a:r>
            <a:br>
              <a:rPr sz="1800" dirty="0"/>
            </a:br>
            <a:r>
              <a:rPr sz="1800" dirty="0"/>
              <a:t>def greet(): print("Hi!")</a:t>
            </a:r>
            <a:br>
              <a:rPr sz="1800" dirty="0"/>
            </a:br>
            <a:r>
              <a:rPr sz="1800" dirty="0"/>
              <a:t>greet()</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Timing &amp; Caching Decorators</a:t>
            </a:r>
          </a:p>
        </p:txBody>
      </p:sp>
      <p:sp>
        <p:nvSpPr>
          <p:cNvPr id="3" name="Content Placeholder 2"/>
          <p:cNvSpPr>
            <a:spLocks noGrp="1"/>
          </p:cNvSpPr>
          <p:nvPr>
            <p:ph idx="1"/>
          </p:nvPr>
        </p:nvSpPr>
        <p:spPr>
          <a:xfrm>
            <a:off x="457200" y="1600200"/>
            <a:ext cx="9359900" cy="4525963"/>
          </a:xfrm>
        </p:spPr>
        <p:txBody>
          <a:bodyPr>
            <a:normAutofit/>
          </a:bodyPr>
          <a:lstStyle/>
          <a:p>
            <a:pPr marL="0" indent="0" algn="l">
              <a:buNone/>
              <a:defRPr sz="1500">
                <a:latin typeface="Courier New"/>
              </a:defRPr>
            </a:pPr>
            <a:r>
              <a:rPr sz="1800" dirty="0"/>
              <a:t>import time, </a:t>
            </a:r>
            <a:r>
              <a:rPr sz="1800" dirty="0" err="1"/>
              <a:t>functools</a:t>
            </a:r>
            <a:br>
              <a:rPr sz="1800" dirty="0"/>
            </a:br>
            <a:br>
              <a:rPr sz="1800" dirty="0"/>
            </a:br>
            <a:r>
              <a:rPr sz="1800" dirty="0"/>
              <a:t>def timed(</a:t>
            </a:r>
            <a:r>
              <a:rPr sz="1800" dirty="0" err="1"/>
              <a:t>func</a:t>
            </a:r>
            <a:r>
              <a:rPr sz="1800" dirty="0"/>
              <a:t>):</a:t>
            </a:r>
            <a:br>
              <a:rPr sz="1800" dirty="0"/>
            </a:br>
            <a:r>
              <a:rPr sz="1800" dirty="0"/>
              <a:t>    @functools.wraps(func)</a:t>
            </a:r>
            <a:br>
              <a:rPr sz="1800" dirty="0"/>
            </a:br>
            <a:r>
              <a:rPr sz="1800" dirty="0"/>
              <a:t>    def wrapper(*</a:t>
            </a:r>
            <a:r>
              <a:rPr sz="1800" dirty="0" err="1"/>
              <a:t>args</a:t>
            </a:r>
            <a:r>
              <a:rPr sz="1800" dirty="0"/>
              <a:t>, **</a:t>
            </a:r>
            <a:r>
              <a:rPr sz="1800" dirty="0" err="1"/>
              <a:t>kwargs</a:t>
            </a:r>
            <a:r>
              <a:rPr sz="1800" dirty="0"/>
              <a:t>):</a:t>
            </a:r>
            <a:br>
              <a:rPr sz="1800" dirty="0"/>
            </a:br>
            <a:r>
              <a:rPr sz="1800" dirty="0"/>
              <a:t>        t0 = </a:t>
            </a:r>
            <a:r>
              <a:rPr sz="1800" dirty="0" err="1"/>
              <a:t>time.perf_counter</a:t>
            </a:r>
            <a:r>
              <a:rPr sz="1800" dirty="0"/>
              <a:t>()</a:t>
            </a:r>
            <a:br>
              <a:rPr sz="1800" dirty="0"/>
            </a:br>
            <a:r>
              <a:rPr sz="1800" dirty="0"/>
              <a:t>        value = </a:t>
            </a:r>
            <a:r>
              <a:rPr sz="1800" dirty="0" err="1"/>
              <a:t>func</a:t>
            </a:r>
            <a:r>
              <a:rPr sz="1800" dirty="0"/>
              <a:t>(*</a:t>
            </a:r>
            <a:r>
              <a:rPr sz="1800" dirty="0" err="1"/>
              <a:t>args</a:t>
            </a:r>
            <a:r>
              <a:rPr sz="1800" dirty="0"/>
              <a:t>, **</a:t>
            </a:r>
            <a:r>
              <a:rPr sz="1800" dirty="0" err="1"/>
              <a:t>kwargs</a:t>
            </a:r>
            <a:r>
              <a:rPr sz="1800" dirty="0"/>
              <a:t>)</a:t>
            </a:r>
            <a:br>
              <a:rPr sz="1800" dirty="0"/>
            </a:br>
            <a:r>
              <a:rPr sz="1800" dirty="0"/>
              <a:t>        print(f"{</a:t>
            </a:r>
            <a:r>
              <a:rPr sz="1800" dirty="0" err="1"/>
              <a:t>func</a:t>
            </a:r>
            <a:r>
              <a:rPr sz="1800" dirty="0"/>
              <a:t>.__name__} took {(</a:t>
            </a:r>
            <a:r>
              <a:rPr sz="1800" dirty="0" err="1"/>
              <a:t>time.perf_counter</a:t>
            </a:r>
            <a:r>
              <a:rPr sz="1800" dirty="0"/>
              <a:t>()-t0)*1000:.2f} </a:t>
            </a:r>
            <a:r>
              <a:rPr sz="1800" dirty="0" err="1"/>
              <a:t>ms</a:t>
            </a:r>
            <a:r>
              <a:rPr sz="1800" dirty="0"/>
              <a:t>")</a:t>
            </a:r>
            <a:br>
              <a:rPr sz="1800" dirty="0"/>
            </a:br>
            <a:r>
              <a:rPr sz="1800" dirty="0"/>
              <a:t>        return value</a:t>
            </a:r>
            <a:br>
              <a:rPr sz="1800" dirty="0"/>
            </a:br>
            <a:r>
              <a:rPr sz="1800" dirty="0"/>
              <a:t>    return wrapper</a:t>
            </a:r>
            <a:br>
              <a:rPr sz="1800" dirty="0"/>
            </a:br>
            <a:br>
              <a:rPr sz="1800" dirty="0"/>
            </a:br>
            <a:r>
              <a:rPr sz="1800" dirty="0"/>
              <a:t>@functools.lru_cache(maxsize=None)</a:t>
            </a:r>
            <a:br>
              <a:rPr sz="1800" dirty="0"/>
            </a:br>
            <a:r>
              <a:rPr sz="1800" dirty="0"/>
              <a:t>def fib(n): return n if n &lt; 2 else fib(n-1) + fib(n-2)</a:t>
            </a:r>
            <a:br>
              <a:rPr sz="1800" dirty="0"/>
            </a:br>
            <a:br>
              <a:rPr sz="1800" dirty="0"/>
            </a:br>
            <a:r>
              <a:rPr sz="1800" dirty="0"/>
              <a:t>timed(fib)(35)</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Generators</a:t>
            </a:r>
          </a:p>
        </p:txBody>
      </p:sp>
      <p:sp>
        <p:nvSpPr>
          <p:cNvPr id="3" name="Content Placeholder 2"/>
          <p:cNvSpPr>
            <a:spLocks noGrp="1"/>
          </p:cNvSpPr>
          <p:nvPr>
            <p:ph idx="1"/>
          </p:nvPr>
        </p:nvSpPr>
        <p:spPr>
          <a:xfrm>
            <a:off x="457200" y="1600200"/>
            <a:ext cx="9664700" cy="4525963"/>
          </a:xfrm>
        </p:spPr>
        <p:txBody>
          <a:bodyPr/>
          <a:lstStyle/>
          <a:p>
            <a:r>
              <a:rPr lang="en-US" dirty="0"/>
              <a:t>Produce values lazily</a:t>
            </a:r>
          </a:p>
          <a:p>
            <a:r>
              <a:rPr lang="en-US" dirty="0"/>
              <a:t>Reduce memory usage</a:t>
            </a:r>
          </a:p>
          <a:p>
            <a:r>
              <a:rPr lang="en-US" dirty="0"/>
              <a:t>Essential for large files &amp; streams</a:t>
            </a:r>
          </a:p>
          <a:p>
            <a:pPr marL="0" indent="0">
              <a:buNone/>
            </a:pPr>
            <a:endParaRPr lang="en-US" b="1" dirty="0"/>
          </a:p>
          <a:p>
            <a:pPr marL="0" indent="0">
              <a:buNone/>
            </a:pPr>
            <a:r>
              <a:rPr lang="en-US" b="1" dirty="0"/>
              <a:t>Enterprise benefit:</a:t>
            </a:r>
            <a:r>
              <a:rPr lang="en-US" dirty="0"/>
              <a:t> scale without RAM explosions</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Generators – Lazy Iteration</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000" dirty="0"/>
              <a:t>def evens(limit):</a:t>
            </a:r>
            <a:br>
              <a:rPr sz="2000" dirty="0"/>
            </a:br>
            <a:r>
              <a:rPr sz="2000" dirty="0"/>
              <a:t>    value = 0</a:t>
            </a:r>
            <a:br>
              <a:rPr sz="2000" dirty="0"/>
            </a:br>
            <a:r>
              <a:rPr sz="2000" dirty="0"/>
              <a:t>    while value &lt;= limit:</a:t>
            </a:r>
            <a:br>
              <a:rPr sz="2000" dirty="0"/>
            </a:br>
            <a:r>
              <a:rPr sz="2000" dirty="0"/>
              <a:t>        yield value; value += 2</a:t>
            </a:r>
            <a:br>
              <a:rPr sz="2000" dirty="0"/>
            </a:br>
            <a:br>
              <a:rPr sz="2000" dirty="0"/>
            </a:br>
            <a:r>
              <a:rPr sz="2000" dirty="0"/>
              <a:t>for n in evens(10): print(n, end=" ")   # 0 2 4 6 8 10</a:t>
            </a:r>
            <a:br>
              <a:rPr sz="2000" dirty="0"/>
            </a:br>
            <a:br>
              <a:rPr sz="2000" dirty="0"/>
            </a:br>
            <a:r>
              <a:rPr sz="2000" dirty="0"/>
              <a:t>squares = (x*x for x in range(10**6))   # ~200 B</a:t>
            </a:r>
            <a:br>
              <a:rPr sz="2000" dirty="0"/>
            </a:br>
            <a:r>
              <a:rPr sz="2000" dirty="0"/>
              <a:t>import sys, </a:t>
            </a:r>
            <a:r>
              <a:rPr sz="2000" dirty="0" err="1"/>
              <a:t>os</a:t>
            </a:r>
            <a:br>
              <a:rPr sz="2000" dirty="0"/>
            </a:br>
            <a:r>
              <a:rPr sz="2000" dirty="0"/>
              <a:t>print(</a:t>
            </a:r>
            <a:r>
              <a:rPr sz="2000" dirty="0" err="1"/>
              <a:t>sys.getsizeof</a:t>
            </a:r>
            <a:r>
              <a:rPr sz="2000" dirty="0"/>
              <a:t>(squares), "bytes")</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Giant Files</a:t>
            </a:r>
          </a:p>
        </p:txBody>
      </p:sp>
      <p:sp>
        <p:nvSpPr>
          <p:cNvPr id="3" name="Content Placeholder 2"/>
          <p:cNvSpPr>
            <a:spLocks noGrp="1"/>
          </p:cNvSpPr>
          <p:nvPr>
            <p:ph idx="1"/>
          </p:nvPr>
        </p:nvSpPr>
        <p:spPr>
          <a:xfrm>
            <a:off x="457200" y="1600200"/>
            <a:ext cx="9055100" cy="4525963"/>
          </a:xfrm>
        </p:spPr>
        <p:txBody>
          <a:bodyPr>
            <a:normAutofit/>
          </a:bodyPr>
          <a:lstStyle/>
          <a:p>
            <a:pPr marL="0" indent="0" algn="l">
              <a:buNone/>
              <a:defRPr sz="1500">
                <a:latin typeface="Courier New"/>
              </a:defRPr>
            </a:pPr>
            <a:r>
              <a:rPr sz="2000" dirty="0"/>
              <a:t>def </a:t>
            </a:r>
            <a:r>
              <a:rPr sz="2000" dirty="0" err="1"/>
              <a:t>parse_access_log</a:t>
            </a:r>
            <a:r>
              <a:rPr sz="2000" dirty="0"/>
              <a:t>(path):</a:t>
            </a:r>
            <a:br>
              <a:rPr sz="2000" dirty="0"/>
            </a:br>
            <a:r>
              <a:rPr sz="2000" dirty="0"/>
              <a:t>    with open(path) as f:</a:t>
            </a:r>
            <a:br>
              <a:rPr sz="2000" dirty="0"/>
            </a:br>
            <a:r>
              <a:rPr sz="2000" dirty="0"/>
              <a:t>        for line in f:</a:t>
            </a:r>
            <a:br>
              <a:rPr sz="2000" dirty="0"/>
            </a:br>
            <a:r>
              <a:rPr sz="2000" dirty="0"/>
              <a:t>            </a:t>
            </a:r>
            <a:r>
              <a:rPr sz="2000" dirty="0" err="1"/>
              <a:t>ip</a:t>
            </a:r>
            <a:r>
              <a:rPr sz="2000" dirty="0"/>
              <a:t>, _, _, dt, meth, </a:t>
            </a:r>
            <a:r>
              <a:rPr sz="2000" dirty="0" err="1"/>
              <a:t>url</a:t>
            </a:r>
            <a:r>
              <a:rPr sz="2000" dirty="0"/>
              <a:t>, </a:t>
            </a:r>
            <a:r>
              <a:rPr sz="2000" dirty="0" err="1"/>
              <a:t>st</a:t>
            </a:r>
            <a:r>
              <a:rPr sz="2000" dirty="0"/>
              <a:t>, </a:t>
            </a:r>
            <a:r>
              <a:rPr sz="2000" dirty="0" err="1"/>
              <a:t>sz</a:t>
            </a:r>
            <a:r>
              <a:rPr sz="2000" dirty="0"/>
              <a:t> = </a:t>
            </a:r>
            <a:r>
              <a:rPr sz="2000" dirty="0" err="1"/>
              <a:t>line.split</a:t>
            </a:r>
            <a:r>
              <a:rPr sz="2000" dirty="0"/>
              <a:t>()[:8]</a:t>
            </a:r>
            <a:br>
              <a:rPr sz="2000" dirty="0"/>
            </a:br>
            <a:r>
              <a:rPr sz="2000" dirty="0"/>
              <a:t>            yield {"</a:t>
            </a:r>
            <a:r>
              <a:rPr sz="2000" dirty="0" err="1"/>
              <a:t>ip</a:t>
            </a:r>
            <a:r>
              <a:rPr sz="2000" dirty="0"/>
              <a:t>": </a:t>
            </a:r>
            <a:r>
              <a:rPr sz="2000" dirty="0" err="1"/>
              <a:t>ip</a:t>
            </a:r>
            <a:r>
              <a:rPr sz="2000" dirty="0"/>
              <a:t>, "datetime": dt[1:],</a:t>
            </a:r>
            <a:br>
              <a:rPr sz="2000" dirty="0"/>
            </a:br>
            <a:r>
              <a:rPr sz="2000" dirty="0"/>
              <a:t>                   "method": meth[1:-1], "</a:t>
            </a:r>
            <a:r>
              <a:rPr sz="2000" dirty="0" err="1"/>
              <a:t>url</a:t>
            </a:r>
            <a:r>
              <a:rPr sz="2000" dirty="0"/>
              <a:t>": </a:t>
            </a:r>
            <a:r>
              <a:rPr sz="2000" dirty="0" err="1"/>
              <a:t>url</a:t>
            </a:r>
            <a:r>
              <a:rPr sz="2000" dirty="0"/>
              <a:t>,</a:t>
            </a:r>
            <a:br>
              <a:rPr sz="2000" dirty="0"/>
            </a:br>
            <a:r>
              <a:rPr sz="2000" dirty="0"/>
              <a:t>                   "status": int(</a:t>
            </a:r>
            <a:r>
              <a:rPr sz="2000" dirty="0" err="1"/>
              <a:t>st</a:t>
            </a:r>
            <a:r>
              <a:rPr sz="2000" dirty="0"/>
              <a:t>), "size": int(</a:t>
            </a:r>
            <a:r>
              <a:rPr sz="2000" dirty="0" err="1"/>
              <a:t>sz</a:t>
            </a:r>
            <a:r>
              <a:rPr sz="2000" dirty="0"/>
              <a:t>)}</a:t>
            </a:r>
            <a:br>
              <a:rPr sz="2000" dirty="0"/>
            </a:br>
            <a:br>
              <a:rPr sz="2000" dirty="0"/>
            </a:br>
            <a:r>
              <a:rPr sz="2000" dirty="0"/>
              <a:t>for entry in </a:t>
            </a:r>
            <a:r>
              <a:rPr sz="2000" dirty="0" err="1"/>
              <a:t>parse_access_log</a:t>
            </a:r>
            <a:r>
              <a:rPr sz="2000" dirty="0"/>
              <a:t>("access.log"):</a:t>
            </a:r>
            <a:br>
              <a:rPr sz="2000" dirty="0"/>
            </a:br>
            <a:r>
              <a:rPr sz="2000" dirty="0"/>
              <a:t>    if entry["status"] == 404:</a:t>
            </a:r>
            <a:br>
              <a:rPr sz="2000" dirty="0"/>
            </a:br>
            <a:r>
              <a:rPr sz="2000" dirty="0"/>
              <a:t>        print(entry["</a:t>
            </a:r>
            <a:r>
              <a:rPr sz="2000" dirty="0" err="1"/>
              <a:t>url</a:t>
            </a:r>
            <a:r>
              <a:rPr sz="2000" dirty="0"/>
              <a:t>"])</a:t>
            </a: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Concurrency Matrix</a:t>
            </a:r>
          </a:p>
        </p:txBody>
      </p:sp>
      <p:sp>
        <p:nvSpPr>
          <p:cNvPr id="3" name="Content Placeholder 2"/>
          <p:cNvSpPr>
            <a:spLocks noGrp="1"/>
          </p:cNvSpPr>
          <p:nvPr>
            <p:ph idx="1"/>
          </p:nvPr>
        </p:nvSpPr>
        <p:spPr/>
        <p:txBody>
          <a:bodyPr/>
          <a:lstStyle/>
          <a:p>
            <a:r>
              <a:t>threading → I/O-bound</a:t>
            </a:r>
          </a:p>
          <a:p>
            <a:r>
              <a:t>multiprocessing → CPU-bound</a:t>
            </a:r>
          </a:p>
          <a:p>
            <a:r>
              <a:t>asyncio → high-volume async I/O</a:t>
            </a: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Concurrency</a:t>
            </a:r>
            <a:r>
              <a:rPr lang="en-SG" dirty="0"/>
              <a:t>: Choose Wisely</a:t>
            </a:r>
            <a:endParaRPr dirty="0"/>
          </a:p>
        </p:txBody>
      </p:sp>
      <p:graphicFrame>
        <p:nvGraphicFramePr>
          <p:cNvPr id="6" name="Table 5">
            <a:extLst>
              <a:ext uri="{FF2B5EF4-FFF2-40B4-BE49-F238E27FC236}">
                <a16:creationId xmlns:a16="http://schemas.microsoft.com/office/drawing/2014/main" id="{17D4C5B0-21E5-1195-494A-0AAE1A517DC9}"/>
              </a:ext>
            </a:extLst>
          </p:cNvPr>
          <p:cNvGraphicFramePr>
            <a:graphicFrameLocks noGrp="1"/>
          </p:cNvGraphicFramePr>
          <p:nvPr>
            <p:extLst>
              <p:ext uri="{D42A27DB-BD31-4B8C-83A1-F6EECF244321}">
                <p14:modId xmlns:p14="http://schemas.microsoft.com/office/powerpoint/2010/main" val="4150335828"/>
              </p:ext>
            </p:extLst>
          </p:nvPr>
        </p:nvGraphicFramePr>
        <p:xfrm>
          <a:off x="1397000" y="1677988"/>
          <a:ext cx="9042400" cy="2560320"/>
        </p:xfrm>
        <a:graphic>
          <a:graphicData uri="http://schemas.openxmlformats.org/drawingml/2006/table">
            <a:tbl>
              <a:tblPr/>
              <a:tblGrid>
                <a:gridCol w="4521200">
                  <a:extLst>
                    <a:ext uri="{9D8B030D-6E8A-4147-A177-3AD203B41FA5}">
                      <a16:colId xmlns:a16="http://schemas.microsoft.com/office/drawing/2014/main" val="4172774735"/>
                    </a:ext>
                  </a:extLst>
                </a:gridCol>
                <a:gridCol w="4521200">
                  <a:extLst>
                    <a:ext uri="{9D8B030D-6E8A-4147-A177-3AD203B41FA5}">
                      <a16:colId xmlns:a16="http://schemas.microsoft.com/office/drawing/2014/main" val="3540327697"/>
                    </a:ext>
                  </a:extLst>
                </a:gridCol>
              </a:tblGrid>
              <a:tr h="0">
                <a:tc>
                  <a:txBody>
                    <a:bodyPr/>
                    <a:lstStyle/>
                    <a:p>
                      <a:pPr>
                        <a:buNone/>
                      </a:pPr>
                      <a:r>
                        <a:rPr lang="en-SG" sz="3600"/>
                        <a:t>Problem Type</a:t>
                      </a:r>
                    </a:p>
                  </a:txBody>
                  <a:tcPr anchor="ctr">
                    <a:lnL>
                      <a:noFill/>
                    </a:lnL>
                    <a:lnR>
                      <a:noFill/>
                    </a:lnR>
                    <a:lnT>
                      <a:noFill/>
                    </a:lnT>
                    <a:lnB>
                      <a:noFill/>
                    </a:lnB>
                    <a:noFill/>
                  </a:tcPr>
                </a:tc>
                <a:tc>
                  <a:txBody>
                    <a:bodyPr/>
                    <a:lstStyle/>
                    <a:p>
                      <a:pPr>
                        <a:buNone/>
                      </a:pPr>
                      <a:r>
                        <a:rPr lang="en-SG" sz="3600"/>
                        <a:t>Tool</a:t>
                      </a:r>
                    </a:p>
                  </a:txBody>
                  <a:tcPr anchor="ctr">
                    <a:lnL>
                      <a:noFill/>
                    </a:lnL>
                    <a:lnR>
                      <a:noFill/>
                    </a:lnR>
                    <a:lnT>
                      <a:noFill/>
                    </a:lnT>
                    <a:lnB>
                      <a:noFill/>
                    </a:lnB>
                    <a:noFill/>
                  </a:tcPr>
                </a:tc>
                <a:extLst>
                  <a:ext uri="{0D108BD9-81ED-4DB2-BD59-A6C34878D82A}">
                    <a16:rowId xmlns:a16="http://schemas.microsoft.com/office/drawing/2014/main" val="1720516217"/>
                  </a:ext>
                </a:extLst>
              </a:tr>
              <a:tr h="0">
                <a:tc>
                  <a:txBody>
                    <a:bodyPr/>
                    <a:lstStyle/>
                    <a:p>
                      <a:pPr>
                        <a:buNone/>
                      </a:pPr>
                      <a:r>
                        <a:rPr lang="en-SG" sz="3600"/>
                        <a:t>I/O-bound</a:t>
                      </a:r>
                    </a:p>
                  </a:txBody>
                  <a:tcPr anchor="ctr">
                    <a:lnL>
                      <a:noFill/>
                    </a:lnL>
                    <a:lnR>
                      <a:noFill/>
                    </a:lnR>
                    <a:lnT>
                      <a:noFill/>
                    </a:lnT>
                    <a:lnB>
                      <a:noFill/>
                    </a:lnB>
                    <a:noFill/>
                  </a:tcPr>
                </a:tc>
                <a:tc>
                  <a:txBody>
                    <a:bodyPr/>
                    <a:lstStyle/>
                    <a:p>
                      <a:pPr>
                        <a:buNone/>
                      </a:pPr>
                      <a:r>
                        <a:rPr lang="en-SG" sz="3600">
                          <a:latin typeface="Courier New" panose="02070309020205020404" pitchFamily="49" charset="0"/>
                        </a:rPr>
                        <a:t>threading</a:t>
                      </a:r>
                      <a:endParaRPr lang="en-SG" sz="3600"/>
                    </a:p>
                  </a:txBody>
                  <a:tcPr anchor="ctr">
                    <a:lnL>
                      <a:noFill/>
                    </a:lnL>
                    <a:lnR>
                      <a:noFill/>
                    </a:lnR>
                    <a:lnT>
                      <a:noFill/>
                    </a:lnT>
                    <a:lnB>
                      <a:noFill/>
                    </a:lnB>
                    <a:noFill/>
                  </a:tcPr>
                </a:tc>
                <a:extLst>
                  <a:ext uri="{0D108BD9-81ED-4DB2-BD59-A6C34878D82A}">
                    <a16:rowId xmlns:a16="http://schemas.microsoft.com/office/drawing/2014/main" val="3186626072"/>
                  </a:ext>
                </a:extLst>
              </a:tr>
              <a:tr h="0">
                <a:tc>
                  <a:txBody>
                    <a:bodyPr/>
                    <a:lstStyle/>
                    <a:p>
                      <a:pPr>
                        <a:buNone/>
                      </a:pPr>
                      <a:r>
                        <a:rPr lang="en-SG" sz="3600" dirty="0"/>
                        <a:t>CPU-bound</a:t>
                      </a:r>
                    </a:p>
                  </a:txBody>
                  <a:tcPr anchor="ctr">
                    <a:lnL>
                      <a:noFill/>
                    </a:lnL>
                    <a:lnR>
                      <a:noFill/>
                    </a:lnR>
                    <a:lnT>
                      <a:noFill/>
                    </a:lnT>
                    <a:lnB>
                      <a:noFill/>
                    </a:lnB>
                    <a:noFill/>
                  </a:tcPr>
                </a:tc>
                <a:tc>
                  <a:txBody>
                    <a:bodyPr/>
                    <a:lstStyle/>
                    <a:p>
                      <a:pPr>
                        <a:buNone/>
                      </a:pPr>
                      <a:r>
                        <a:rPr lang="en-SG" sz="3600" dirty="0">
                          <a:latin typeface="Courier New" panose="02070309020205020404" pitchFamily="49" charset="0"/>
                        </a:rPr>
                        <a:t>multiprocessing</a:t>
                      </a:r>
                      <a:endParaRPr lang="en-SG" sz="3600" dirty="0"/>
                    </a:p>
                  </a:txBody>
                  <a:tcPr anchor="ctr">
                    <a:lnL>
                      <a:noFill/>
                    </a:lnL>
                    <a:lnR>
                      <a:noFill/>
                    </a:lnR>
                    <a:lnT>
                      <a:noFill/>
                    </a:lnT>
                    <a:lnB>
                      <a:noFill/>
                    </a:lnB>
                    <a:noFill/>
                  </a:tcPr>
                </a:tc>
                <a:extLst>
                  <a:ext uri="{0D108BD9-81ED-4DB2-BD59-A6C34878D82A}">
                    <a16:rowId xmlns:a16="http://schemas.microsoft.com/office/drawing/2014/main" val="2958736589"/>
                  </a:ext>
                </a:extLst>
              </a:tr>
              <a:tr h="0">
                <a:tc>
                  <a:txBody>
                    <a:bodyPr/>
                    <a:lstStyle/>
                    <a:p>
                      <a:pPr>
                        <a:buNone/>
                      </a:pPr>
                      <a:r>
                        <a:rPr lang="en-SG" sz="3600" dirty="0"/>
                        <a:t>High-volume I/O</a:t>
                      </a:r>
                    </a:p>
                  </a:txBody>
                  <a:tcPr anchor="ctr">
                    <a:lnL>
                      <a:noFill/>
                    </a:lnL>
                    <a:lnR>
                      <a:noFill/>
                    </a:lnR>
                    <a:lnT>
                      <a:noFill/>
                    </a:lnT>
                    <a:lnB>
                      <a:noFill/>
                    </a:lnB>
                    <a:noFill/>
                  </a:tcPr>
                </a:tc>
                <a:tc>
                  <a:txBody>
                    <a:bodyPr/>
                    <a:lstStyle/>
                    <a:p>
                      <a:pPr>
                        <a:buNone/>
                      </a:pPr>
                      <a:r>
                        <a:rPr lang="en-SG" sz="3600" dirty="0" err="1">
                          <a:latin typeface="Courier New" panose="02070309020205020404" pitchFamily="49" charset="0"/>
                        </a:rPr>
                        <a:t>asyncio</a:t>
                      </a:r>
                      <a:endParaRPr lang="en-SG" sz="3600" dirty="0"/>
                    </a:p>
                  </a:txBody>
                  <a:tcPr anchor="ctr">
                    <a:lnL>
                      <a:noFill/>
                    </a:lnL>
                    <a:lnR>
                      <a:noFill/>
                    </a:lnR>
                    <a:lnT>
                      <a:noFill/>
                    </a:lnT>
                    <a:lnB>
                      <a:noFill/>
                    </a:lnB>
                    <a:noFill/>
                  </a:tcPr>
                </a:tc>
                <a:extLst>
                  <a:ext uri="{0D108BD9-81ED-4DB2-BD59-A6C34878D82A}">
                    <a16:rowId xmlns:a16="http://schemas.microsoft.com/office/drawing/2014/main" val="1441553841"/>
                  </a:ext>
                </a:extLst>
              </a:tr>
            </a:tbl>
          </a:graphicData>
        </a:graphic>
      </p:graphicFrame>
      <p:sp>
        <p:nvSpPr>
          <p:cNvPr id="7" name="TextBox 6">
            <a:extLst>
              <a:ext uri="{FF2B5EF4-FFF2-40B4-BE49-F238E27FC236}">
                <a16:creationId xmlns:a16="http://schemas.microsoft.com/office/drawing/2014/main" id="{B9F70DFA-2591-E778-CF89-31F13D30A38C}"/>
              </a:ext>
            </a:extLst>
          </p:cNvPr>
          <p:cNvSpPr txBox="1"/>
          <p:nvPr/>
        </p:nvSpPr>
        <p:spPr>
          <a:xfrm>
            <a:off x="1079500" y="5321300"/>
            <a:ext cx="8877300" cy="646331"/>
          </a:xfrm>
          <a:prstGeom prst="rect">
            <a:avLst/>
          </a:prstGeom>
          <a:noFill/>
        </p:spPr>
        <p:txBody>
          <a:bodyPr wrap="square" rtlCol="0">
            <a:spAutoFit/>
          </a:bodyPr>
          <a:lstStyle/>
          <a:p>
            <a:r>
              <a:rPr lang="en-SG" sz="3600" b="1" dirty="0"/>
              <a:t>Wrong model = worse performance</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threading – Download Many Images</a:t>
            </a:r>
          </a:p>
        </p:txBody>
      </p:sp>
      <p:sp>
        <p:nvSpPr>
          <p:cNvPr id="3" name="Content Placeholder 2"/>
          <p:cNvSpPr>
            <a:spLocks noGrp="1"/>
          </p:cNvSpPr>
          <p:nvPr>
            <p:ph idx="1"/>
          </p:nvPr>
        </p:nvSpPr>
        <p:spPr/>
        <p:txBody>
          <a:bodyPr/>
          <a:lstStyle/>
          <a:p>
            <a:pPr algn="l">
              <a:defRPr sz="1500">
                <a:latin typeface="Courier New"/>
              </a:defRPr>
            </a:pPr>
            <a:r>
              <a:t>import threading, requests, time</a:t>
            </a:r>
            <a:br/>
            <a:r>
              <a:t>urls = [f"https://picsum.photos/400/300?random={i}" for i in range(20)]</a:t>
            </a:r>
            <a:br/>
            <a:r>
              <a:t>def download(url):</a:t>
            </a:r>
            <a:br/>
            <a:r>
              <a:t>    resp = requests.get(url, timeout=10)</a:t>
            </a:r>
            <a:br/>
            <a:r>
              <a:t>    filename = url.split("?")[-1] + ".jpg"</a:t>
            </a:r>
            <a:br/>
            <a:r>
              <a:t>    open(filename, "wb").write(resp.content)</a:t>
            </a:r>
            <a:br/>
            <a:r>
              <a:t>    print("done", filename)</a:t>
            </a:r>
            <a:br/>
            <a:r>
              <a:t>t0 = time.time()</a:t>
            </a:r>
            <a:br/>
            <a:r>
              <a:t>threads = [threading.Thread(target=download, args=(u,)) for u in urls]</a:t>
            </a:r>
            <a:br/>
            <a:r>
              <a:t>for t in threads: t.start()</a:t>
            </a:r>
            <a:br/>
            <a:r>
              <a:t>for t in threads: t.join()</a:t>
            </a:r>
            <a:br/>
            <a:r>
              <a:t>print("Total:", time.time() - t0, "s")</a:t>
            </a: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multiprocessing – CPU-bound Pi Monte-Carlo</a:t>
            </a:r>
          </a:p>
        </p:txBody>
      </p:sp>
      <p:sp>
        <p:nvSpPr>
          <p:cNvPr id="3" name="Content Placeholder 2"/>
          <p:cNvSpPr>
            <a:spLocks noGrp="1"/>
          </p:cNvSpPr>
          <p:nvPr>
            <p:ph idx="1"/>
          </p:nvPr>
        </p:nvSpPr>
        <p:spPr>
          <a:xfrm>
            <a:off x="457200" y="1600200"/>
            <a:ext cx="10337800" cy="4525963"/>
          </a:xfrm>
        </p:spPr>
        <p:txBody>
          <a:bodyPr>
            <a:normAutofit/>
          </a:bodyPr>
          <a:lstStyle/>
          <a:p>
            <a:pPr marL="0" indent="0" algn="l">
              <a:buNone/>
              <a:defRPr sz="1500">
                <a:latin typeface="Courier New"/>
              </a:defRPr>
            </a:pPr>
            <a:r>
              <a:rPr sz="2400" dirty="0"/>
              <a:t>import multiprocessing as </a:t>
            </a:r>
            <a:r>
              <a:rPr sz="2400" dirty="0" err="1"/>
              <a:t>mp</a:t>
            </a:r>
            <a:r>
              <a:rPr sz="2400" dirty="0"/>
              <a:t>, random</a:t>
            </a:r>
            <a:br>
              <a:rPr sz="2400" dirty="0"/>
            </a:br>
            <a:r>
              <a:rPr sz="2400" dirty="0"/>
              <a:t>def </a:t>
            </a:r>
            <a:r>
              <a:rPr sz="2400" dirty="0" err="1"/>
              <a:t>sample_pi</a:t>
            </a:r>
            <a:r>
              <a:rPr sz="2400" dirty="0"/>
              <a:t>(n):</a:t>
            </a:r>
            <a:br>
              <a:rPr sz="2400" dirty="0"/>
            </a:br>
            <a:r>
              <a:rPr sz="2400" dirty="0"/>
              <a:t>    inside = 0</a:t>
            </a:r>
            <a:br>
              <a:rPr sz="2400" dirty="0"/>
            </a:br>
            <a:r>
              <a:rPr sz="2400" dirty="0"/>
              <a:t>    for _ in range(n):</a:t>
            </a:r>
            <a:br>
              <a:rPr sz="2400" dirty="0"/>
            </a:br>
            <a:r>
              <a:rPr sz="2400" dirty="0"/>
              <a:t>        x, y = </a:t>
            </a:r>
            <a:r>
              <a:rPr sz="2400" dirty="0" err="1"/>
              <a:t>random.random</a:t>
            </a:r>
            <a:r>
              <a:rPr sz="2400" dirty="0"/>
              <a:t>(), </a:t>
            </a:r>
            <a:r>
              <a:rPr sz="2400" dirty="0" err="1"/>
              <a:t>random.random</a:t>
            </a:r>
            <a:r>
              <a:rPr sz="2400" dirty="0"/>
              <a:t>()</a:t>
            </a:r>
            <a:br>
              <a:rPr sz="2400" dirty="0"/>
            </a:br>
            <a:r>
              <a:rPr sz="2400" dirty="0"/>
              <a:t>        if x*x + y*y &lt;= 1: inside += 1</a:t>
            </a:r>
            <a:br>
              <a:rPr sz="2400" dirty="0"/>
            </a:br>
            <a:r>
              <a:rPr sz="2400" dirty="0"/>
              <a:t>    return inside</a:t>
            </a:r>
            <a:br>
              <a:rPr sz="2400" dirty="0"/>
            </a:br>
            <a:r>
              <a:rPr sz="2400" dirty="0"/>
              <a:t>cores = </a:t>
            </a:r>
            <a:r>
              <a:rPr sz="2400" dirty="0" err="1"/>
              <a:t>mp.cpu_count</a:t>
            </a:r>
            <a:r>
              <a:rPr sz="2400" dirty="0"/>
              <a:t>()</a:t>
            </a:r>
            <a:br>
              <a:rPr sz="2400" dirty="0"/>
            </a:br>
            <a:r>
              <a:rPr sz="2400" dirty="0"/>
              <a:t>total = 1_000_000</a:t>
            </a:r>
            <a:br>
              <a:rPr sz="2400" dirty="0"/>
            </a:br>
            <a:r>
              <a:rPr sz="2400" dirty="0"/>
              <a:t>counts = </a:t>
            </a:r>
            <a:r>
              <a:rPr sz="2400" dirty="0" err="1"/>
              <a:t>mp.Pool</a:t>
            </a:r>
            <a:r>
              <a:rPr sz="2400" dirty="0"/>
              <a:t>(cores).map(</a:t>
            </a:r>
            <a:r>
              <a:rPr sz="2400" dirty="0" err="1"/>
              <a:t>sample_pi</a:t>
            </a:r>
            <a:r>
              <a:rPr sz="2400" dirty="0"/>
              <a:t>, [total//cores]*cores)</a:t>
            </a:r>
            <a:br>
              <a:rPr sz="2400" dirty="0"/>
            </a:br>
            <a:r>
              <a:rPr sz="2400" dirty="0"/>
              <a:t>print("π ≈", 4 * sum(counts) / total)</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asyncio Mental Model</a:t>
            </a:r>
          </a:p>
        </p:txBody>
      </p:sp>
      <p:sp>
        <p:nvSpPr>
          <p:cNvPr id="3" name="Content Placeholder 2"/>
          <p:cNvSpPr>
            <a:spLocks noGrp="1"/>
          </p:cNvSpPr>
          <p:nvPr>
            <p:ph idx="1"/>
          </p:nvPr>
        </p:nvSpPr>
        <p:spPr/>
        <p:txBody>
          <a:bodyPr/>
          <a:lstStyle/>
          <a:p>
            <a:r>
              <a:rPr lang="en-US" dirty="0"/>
              <a:t>Single thread</a:t>
            </a:r>
          </a:p>
          <a:p>
            <a:r>
              <a:rPr lang="en-US" dirty="0"/>
              <a:t>Cooperative multitasking</a:t>
            </a:r>
          </a:p>
          <a:p>
            <a:r>
              <a:rPr lang="en-US" dirty="0"/>
              <a:t>await yields control</a:t>
            </a:r>
          </a:p>
          <a:p>
            <a:pPr marL="0" indent="0">
              <a:buNone/>
            </a:pPr>
            <a:r>
              <a:rPr lang="en-US" b="1" dirty="0"/>
              <a:t>Best for:</a:t>
            </a:r>
            <a:r>
              <a:rPr lang="en-US" dirty="0"/>
              <a:t> network-heavy workloads</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asyncio – Concurrent HTTP with aiohttp</a:t>
            </a:r>
          </a:p>
        </p:txBody>
      </p:sp>
      <p:sp>
        <p:nvSpPr>
          <p:cNvPr id="3" name="Content Placeholder 2"/>
          <p:cNvSpPr>
            <a:spLocks noGrp="1"/>
          </p:cNvSpPr>
          <p:nvPr>
            <p:ph idx="1"/>
          </p:nvPr>
        </p:nvSpPr>
        <p:spPr>
          <a:xfrm>
            <a:off x="457200" y="1600200"/>
            <a:ext cx="11341100" cy="4525963"/>
          </a:xfrm>
        </p:spPr>
        <p:txBody>
          <a:bodyPr>
            <a:normAutofit/>
          </a:bodyPr>
          <a:lstStyle/>
          <a:p>
            <a:pPr marL="0" indent="0" algn="l">
              <a:buNone/>
              <a:defRPr sz="1500">
                <a:latin typeface="Courier New"/>
              </a:defRPr>
            </a:pPr>
            <a:r>
              <a:rPr sz="2400" dirty="0"/>
              <a:t>import </a:t>
            </a:r>
            <a:r>
              <a:rPr sz="2400" dirty="0" err="1"/>
              <a:t>aiohttp</a:t>
            </a:r>
            <a:r>
              <a:rPr sz="2400" dirty="0"/>
              <a:t>, </a:t>
            </a:r>
            <a:r>
              <a:rPr sz="2400" dirty="0" err="1"/>
              <a:t>asyncio</a:t>
            </a:r>
            <a:r>
              <a:rPr sz="2400" dirty="0"/>
              <a:t>, time</a:t>
            </a:r>
            <a:br>
              <a:rPr sz="2400" dirty="0"/>
            </a:br>
            <a:r>
              <a:rPr sz="2400" dirty="0"/>
              <a:t>async def fetch(s, </a:t>
            </a:r>
            <a:r>
              <a:rPr sz="2400" dirty="0" err="1"/>
              <a:t>url</a:t>
            </a:r>
            <a:r>
              <a:rPr sz="2400" dirty="0"/>
              <a:t>):</a:t>
            </a:r>
            <a:br>
              <a:rPr sz="2400" dirty="0"/>
            </a:br>
            <a:r>
              <a:rPr sz="2400" dirty="0"/>
              <a:t>    async with </a:t>
            </a:r>
            <a:r>
              <a:rPr sz="2400" dirty="0" err="1"/>
              <a:t>s.get</a:t>
            </a:r>
            <a:r>
              <a:rPr sz="2400" dirty="0"/>
              <a:t>(</a:t>
            </a:r>
            <a:r>
              <a:rPr sz="2400" dirty="0" err="1"/>
              <a:t>url</a:t>
            </a:r>
            <a:r>
              <a:rPr sz="2400" dirty="0"/>
              <a:t>) as r: return await </a:t>
            </a:r>
            <a:r>
              <a:rPr sz="2400" dirty="0" err="1"/>
              <a:t>r.text</a:t>
            </a:r>
            <a:r>
              <a:rPr sz="2400" dirty="0"/>
              <a:t>()</a:t>
            </a:r>
            <a:br>
              <a:rPr sz="2400" dirty="0"/>
            </a:br>
            <a:r>
              <a:rPr sz="2400" dirty="0"/>
              <a:t>async def </a:t>
            </a:r>
            <a:r>
              <a:rPr sz="2400" dirty="0" err="1"/>
              <a:t>fetch_all</a:t>
            </a:r>
            <a:r>
              <a:rPr sz="2400" dirty="0"/>
              <a:t>(</a:t>
            </a:r>
            <a:r>
              <a:rPr sz="2400" dirty="0" err="1"/>
              <a:t>urls</a:t>
            </a:r>
            <a:r>
              <a:rPr sz="2400" dirty="0"/>
              <a:t>):</a:t>
            </a:r>
            <a:br>
              <a:rPr sz="2400" dirty="0"/>
            </a:br>
            <a:r>
              <a:rPr sz="2400" dirty="0"/>
              <a:t>    async with </a:t>
            </a:r>
            <a:r>
              <a:rPr sz="2400" dirty="0" err="1"/>
              <a:t>aiohttp.ClientSession</a:t>
            </a:r>
            <a:r>
              <a:rPr sz="2400" dirty="0"/>
              <a:t>() as s:</a:t>
            </a:r>
            <a:br>
              <a:rPr sz="2400" dirty="0"/>
            </a:br>
            <a:r>
              <a:rPr sz="2400" dirty="0"/>
              <a:t>        return await </a:t>
            </a:r>
            <a:r>
              <a:rPr sz="2400" dirty="0" err="1"/>
              <a:t>asyncio.gather</a:t>
            </a:r>
            <a:r>
              <a:rPr sz="2400" dirty="0"/>
              <a:t>(*[fetch(s, u) for u in </a:t>
            </a:r>
            <a:r>
              <a:rPr sz="2400" dirty="0" err="1"/>
              <a:t>urls</a:t>
            </a:r>
            <a:r>
              <a:rPr sz="2400" dirty="0"/>
              <a:t>])</a:t>
            </a:r>
            <a:br>
              <a:rPr sz="2400" dirty="0"/>
            </a:br>
            <a:r>
              <a:rPr sz="2400" dirty="0" err="1"/>
              <a:t>urls</a:t>
            </a:r>
            <a:r>
              <a:rPr sz="2400" dirty="0"/>
              <a:t> = ["https://httpbin.org/delay/1"] * 50</a:t>
            </a:r>
            <a:br>
              <a:rPr sz="2400" dirty="0"/>
            </a:br>
            <a:r>
              <a:rPr sz="2400" dirty="0"/>
              <a:t>t0 = </a:t>
            </a:r>
            <a:r>
              <a:rPr sz="2400" dirty="0" err="1"/>
              <a:t>time.time</a:t>
            </a:r>
            <a:r>
              <a:rPr sz="2400" dirty="0"/>
              <a:t>()</a:t>
            </a:r>
            <a:br>
              <a:rPr sz="2400" dirty="0"/>
            </a:br>
            <a:r>
              <a:rPr sz="2400" dirty="0"/>
              <a:t>pages = </a:t>
            </a:r>
            <a:r>
              <a:rPr sz="2400" dirty="0" err="1"/>
              <a:t>asyncio.run</a:t>
            </a:r>
            <a:r>
              <a:rPr sz="2400" dirty="0"/>
              <a:t>(</a:t>
            </a:r>
            <a:r>
              <a:rPr sz="2400" dirty="0" err="1"/>
              <a:t>fetch_all</a:t>
            </a:r>
            <a:r>
              <a:rPr sz="2400" dirty="0"/>
              <a:t>(</a:t>
            </a:r>
            <a:r>
              <a:rPr sz="2400" dirty="0" err="1"/>
              <a:t>urls</a:t>
            </a:r>
            <a:r>
              <a:rPr sz="2400" dirty="0"/>
              <a:t>))</a:t>
            </a:r>
            <a:br>
              <a:rPr sz="2400" dirty="0"/>
            </a:br>
            <a:r>
              <a:rPr sz="2400" dirty="0"/>
              <a:t>print("Fetched", </a:t>
            </a:r>
            <a:r>
              <a:rPr sz="2400" dirty="0" err="1"/>
              <a:t>len</a:t>
            </a:r>
            <a:r>
              <a:rPr sz="2400" dirty="0"/>
              <a:t>(pages), "pages in", </a:t>
            </a:r>
            <a:r>
              <a:rPr sz="2400" dirty="0" err="1"/>
              <a:t>time.time</a:t>
            </a:r>
            <a:r>
              <a:rPr sz="2400" dirty="0"/>
              <a:t>()-t0, "s")</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Mixing sync ↔ async</a:t>
            </a:r>
          </a:p>
        </p:txBody>
      </p:sp>
      <p:sp>
        <p:nvSpPr>
          <p:cNvPr id="3" name="Content Placeholder 2"/>
          <p:cNvSpPr>
            <a:spLocks noGrp="1"/>
          </p:cNvSpPr>
          <p:nvPr>
            <p:ph idx="1"/>
          </p:nvPr>
        </p:nvSpPr>
        <p:spPr>
          <a:xfrm>
            <a:off x="457200" y="1600200"/>
            <a:ext cx="10845800" cy="4525963"/>
          </a:xfrm>
        </p:spPr>
        <p:txBody>
          <a:bodyPr>
            <a:normAutofit/>
          </a:bodyPr>
          <a:lstStyle/>
          <a:p>
            <a:pPr marL="0" indent="0" algn="l">
              <a:buNone/>
              <a:defRPr sz="1500">
                <a:latin typeface="Courier New"/>
              </a:defRPr>
            </a:pPr>
            <a:r>
              <a:rPr sz="2000" dirty="0"/>
              <a:t>def </a:t>
            </a:r>
            <a:r>
              <a:rPr sz="2000" dirty="0" err="1"/>
              <a:t>blocking_func</a:t>
            </a:r>
            <a:r>
              <a:rPr sz="2000" dirty="0"/>
              <a:t>():</a:t>
            </a:r>
            <a:br>
              <a:rPr sz="2000" dirty="0"/>
            </a:br>
            <a:r>
              <a:rPr sz="2000" dirty="0"/>
              <a:t>    </a:t>
            </a:r>
            <a:r>
              <a:rPr sz="2000" dirty="0" err="1"/>
              <a:t>time.sleep</a:t>
            </a:r>
            <a:r>
              <a:rPr sz="2000" dirty="0"/>
              <a:t>(1)</a:t>
            </a:r>
            <a:br>
              <a:rPr sz="2000" dirty="0"/>
            </a:br>
            <a:r>
              <a:rPr sz="2000" dirty="0"/>
              <a:t>    return 42</a:t>
            </a:r>
            <a:br>
              <a:rPr sz="2000" dirty="0"/>
            </a:br>
            <a:r>
              <a:rPr sz="2000" dirty="0"/>
              <a:t>async def main():</a:t>
            </a:r>
            <a:br>
              <a:rPr sz="2000" dirty="0"/>
            </a:br>
            <a:r>
              <a:rPr sz="2000" dirty="0"/>
              <a:t>    loop = </a:t>
            </a:r>
            <a:r>
              <a:rPr sz="2000" dirty="0" err="1"/>
              <a:t>asyncio.get_running_loop</a:t>
            </a:r>
            <a:r>
              <a:rPr sz="2000" dirty="0"/>
              <a:t>()</a:t>
            </a:r>
            <a:br>
              <a:rPr sz="2000" dirty="0"/>
            </a:br>
            <a:r>
              <a:rPr sz="2000" dirty="0"/>
              <a:t>    result = await </a:t>
            </a:r>
            <a:r>
              <a:rPr sz="2000" dirty="0" err="1"/>
              <a:t>loop.run_in_executor</a:t>
            </a:r>
            <a:r>
              <a:rPr sz="2000" dirty="0"/>
              <a:t>(None, </a:t>
            </a:r>
            <a:r>
              <a:rPr sz="2000" dirty="0" err="1"/>
              <a:t>blocking_func</a:t>
            </a:r>
            <a:r>
              <a:rPr sz="2000" dirty="0"/>
              <a:t>)</a:t>
            </a:r>
            <a:br>
              <a:rPr sz="2000" dirty="0"/>
            </a:br>
            <a:r>
              <a:rPr sz="2000" dirty="0"/>
              <a:t>    print(result)</a:t>
            </a:r>
            <a:br>
              <a:rPr sz="2000" dirty="0"/>
            </a:br>
            <a:r>
              <a:rPr sz="2000" dirty="0" err="1"/>
              <a:t>asyncio.run</a:t>
            </a:r>
            <a:r>
              <a:rPr sz="2000" dirty="0"/>
              <a:t>(main())</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A8904-4F0F-9249-C933-1CD15CD93991}"/>
              </a:ext>
            </a:extLst>
          </p:cNvPr>
          <p:cNvSpPr>
            <a:spLocks noGrp="1"/>
          </p:cNvSpPr>
          <p:nvPr>
            <p:ph type="title"/>
          </p:nvPr>
        </p:nvSpPr>
        <p:spPr>
          <a:xfrm>
            <a:off x="457200" y="274638"/>
            <a:ext cx="11137900" cy="1143000"/>
          </a:xfrm>
        </p:spPr>
        <p:txBody>
          <a:bodyPr>
            <a:normAutofit/>
          </a:bodyPr>
          <a:lstStyle/>
          <a:p>
            <a:r>
              <a:rPr lang="en-SG" dirty="0"/>
              <a:t>Environments &amp; Dependency Management</a:t>
            </a:r>
          </a:p>
        </p:txBody>
      </p:sp>
      <p:sp>
        <p:nvSpPr>
          <p:cNvPr id="3" name="Content Placeholder 2">
            <a:extLst>
              <a:ext uri="{FF2B5EF4-FFF2-40B4-BE49-F238E27FC236}">
                <a16:creationId xmlns:a16="http://schemas.microsoft.com/office/drawing/2014/main" id="{E4B03D63-A40E-0AA2-EBE6-E2A7AF1392DD}"/>
              </a:ext>
            </a:extLst>
          </p:cNvPr>
          <p:cNvSpPr>
            <a:spLocks noGrp="1"/>
          </p:cNvSpPr>
          <p:nvPr>
            <p:ph idx="1"/>
          </p:nvPr>
        </p:nvSpPr>
        <p:spPr>
          <a:xfrm>
            <a:off x="457200" y="1600200"/>
            <a:ext cx="11137900" cy="4525963"/>
          </a:xfrm>
        </p:spPr>
        <p:txBody>
          <a:bodyPr>
            <a:normAutofit/>
          </a:bodyPr>
          <a:lstStyle/>
          <a:p>
            <a:r>
              <a:rPr lang="en-SG" b="1" dirty="0"/>
              <a:t>Virtual Environments (</a:t>
            </a:r>
            <a:r>
              <a:rPr lang="en-SG" b="1" dirty="0" err="1"/>
              <a:t>venv</a:t>
            </a:r>
            <a:r>
              <a:rPr lang="en-SG" b="1" dirty="0"/>
              <a:t>):</a:t>
            </a:r>
            <a:r>
              <a:rPr lang="en-SG" dirty="0"/>
              <a:t> Isolate project-specific libraries to prevent "Dependency Hell".</a:t>
            </a:r>
          </a:p>
          <a:p>
            <a:pPr lvl="1"/>
            <a:r>
              <a:rPr lang="en-SG" dirty="0"/>
              <a:t>Creation: python -m </a:t>
            </a:r>
            <a:r>
              <a:rPr lang="en-SG" dirty="0" err="1"/>
              <a:t>venv</a:t>
            </a:r>
            <a:r>
              <a:rPr lang="en-SG" dirty="0"/>
              <a:t> </a:t>
            </a:r>
            <a:r>
              <a:rPr lang="en-SG" dirty="0" err="1"/>
              <a:t>venv</a:t>
            </a:r>
            <a:r>
              <a:rPr lang="en-SG" dirty="0"/>
              <a:t>.</a:t>
            </a:r>
          </a:p>
          <a:p>
            <a:pPr lvl="1"/>
            <a:r>
              <a:rPr lang="en-SG" dirty="0"/>
              <a:t>Activation: source </a:t>
            </a:r>
            <a:r>
              <a:rPr lang="en-SG" dirty="0" err="1"/>
              <a:t>venv</a:t>
            </a:r>
            <a:r>
              <a:rPr lang="en-SG" dirty="0"/>
              <a:t>/bin/activate.</a:t>
            </a:r>
          </a:p>
          <a:p>
            <a:r>
              <a:rPr lang="en-SG" b="1" dirty="0"/>
              <a:t>Pip &amp; Requirements:</a:t>
            </a:r>
            <a:r>
              <a:rPr lang="en-SG" dirty="0"/>
              <a:t> Use pip freeze &gt; requirements.txt to lock versions for other engineers.</a:t>
            </a:r>
          </a:p>
          <a:p>
            <a:r>
              <a:rPr lang="en-SG" b="1" dirty="0"/>
              <a:t>Project Structure:</a:t>
            </a:r>
            <a:r>
              <a:rPr lang="en-SG" dirty="0"/>
              <a:t> Organizing code into modules (.</a:t>
            </a:r>
            <a:r>
              <a:rPr lang="en-SG" dirty="0" err="1"/>
              <a:t>py</a:t>
            </a:r>
            <a:r>
              <a:rPr lang="en-SG" dirty="0"/>
              <a:t> files) and packages (folders with __init__.py).</a:t>
            </a:r>
          </a:p>
          <a:p>
            <a:endParaRPr lang="en-SG" dirty="0"/>
          </a:p>
        </p:txBody>
      </p:sp>
    </p:spTree>
    <p:extLst>
      <p:ext uri="{BB962C8B-B14F-4D97-AF65-F5344CB8AC3E}">
        <p14:creationId xmlns:p14="http://schemas.microsoft.com/office/powerpoint/2010/main" val="2069389280"/>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Virtual Environments</a:t>
            </a:r>
          </a:p>
        </p:txBody>
      </p:sp>
      <p:sp>
        <p:nvSpPr>
          <p:cNvPr id="3" name="Content Placeholder 2"/>
          <p:cNvSpPr>
            <a:spLocks noGrp="1"/>
          </p:cNvSpPr>
          <p:nvPr>
            <p:ph idx="1"/>
          </p:nvPr>
        </p:nvSpPr>
        <p:spPr/>
        <p:txBody>
          <a:bodyPr/>
          <a:lstStyle/>
          <a:p>
            <a:r>
              <a:rPr lang="en-US" dirty="0"/>
              <a:t>One </a:t>
            </a:r>
            <a:r>
              <a:rPr lang="en-US" dirty="0" err="1"/>
              <a:t>venv</a:t>
            </a:r>
            <a:r>
              <a:rPr lang="en-US" dirty="0"/>
              <a:t> per project</a:t>
            </a:r>
          </a:p>
          <a:p>
            <a:r>
              <a:rPr lang="en-US" dirty="0"/>
              <a:t>Isolate dependencies</a:t>
            </a:r>
          </a:p>
          <a:p>
            <a:r>
              <a:rPr lang="en-US" dirty="0"/>
              <a:t>Prevent “works on my machine”</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7FB0-3F85-604C-4114-F7165EF77296}"/>
              </a:ext>
            </a:extLst>
          </p:cNvPr>
          <p:cNvSpPr>
            <a:spLocks noGrp="1"/>
          </p:cNvSpPr>
          <p:nvPr>
            <p:ph type="title"/>
          </p:nvPr>
        </p:nvSpPr>
        <p:spPr/>
        <p:txBody>
          <a:bodyPr>
            <a:normAutofit/>
          </a:bodyPr>
          <a:lstStyle/>
          <a:p>
            <a:r>
              <a:rPr lang="en-US" dirty="0"/>
              <a:t>Dependency Management</a:t>
            </a:r>
            <a:endParaRPr lang="en-SG" dirty="0"/>
          </a:p>
        </p:txBody>
      </p:sp>
      <p:sp>
        <p:nvSpPr>
          <p:cNvPr id="3" name="Content Placeholder 2">
            <a:extLst>
              <a:ext uri="{FF2B5EF4-FFF2-40B4-BE49-F238E27FC236}">
                <a16:creationId xmlns:a16="http://schemas.microsoft.com/office/drawing/2014/main" id="{463FD849-D103-2C58-3665-F81C40B57B19}"/>
              </a:ext>
            </a:extLst>
          </p:cNvPr>
          <p:cNvSpPr>
            <a:spLocks noGrp="1"/>
          </p:cNvSpPr>
          <p:nvPr>
            <p:ph idx="1"/>
          </p:nvPr>
        </p:nvSpPr>
        <p:spPr/>
        <p:txBody>
          <a:bodyPr/>
          <a:lstStyle/>
          <a:p>
            <a:r>
              <a:rPr lang="en-US" dirty="0"/>
              <a:t>Pin versions</a:t>
            </a:r>
          </a:p>
          <a:p>
            <a:r>
              <a:rPr lang="en-US" dirty="0"/>
              <a:t>Use </a:t>
            </a:r>
            <a:r>
              <a:rPr lang="en-US" dirty="0" err="1"/>
              <a:t>pyproject.toml</a:t>
            </a:r>
            <a:endParaRPr lang="en-US" dirty="0"/>
          </a:p>
          <a:p>
            <a:r>
              <a:rPr lang="en-US" dirty="0"/>
              <a:t>Separate prod vs dev dependencies</a:t>
            </a:r>
          </a:p>
          <a:p>
            <a:endParaRPr lang="en-SG" dirty="0"/>
          </a:p>
        </p:txBody>
      </p:sp>
    </p:spTree>
    <p:extLst>
      <p:ext uri="{BB962C8B-B14F-4D97-AF65-F5344CB8AC3E}">
        <p14:creationId xmlns:p14="http://schemas.microsoft.com/office/powerpoint/2010/main" val="204845385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Virtual Environments &amp; Packaging</a:t>
            </a:r>
          </a:p>
        </p:txBody>
      </p:sp>
      <p:sp>
        <p:nvSpPr>
          <p:cNvPr id="3" name="Content Placeholder 2"/>
          <p:cNvSpPr>
            <a:spLocks noGrp="1"/>
          </p:cNvSpPr>
          <p:nvPr>
            <p:ph idx="1"/>
          </p:nvPr>
        </p:nvSpPr>
        <p:spPr>
          <a:xfrm>
            <a:off x="457200" y="1600200"/>
            <a:ext cx="10541000" cy="4525963"/>
          </a:xfrm>
        </p:spPr>
        <p:txBody>
          <a:bodyPr>
            <a:normAutofit/>
          </a:bodyPr>
          <a:lstStyle/>
          <a:p>
            <a:pPr marL="0" indent="0" algn="l">
              <a:buNone/>
              <a:defRPr sz="1500">
                <a:latin typeface="Courier New"/>
              </a:defRPr>
            </a:pPr>
            <a:r>
              <a:rPr sz="2000" dirty="0"/>
              <a:t>python -m </a:t>
            </a:r>
            <a:r>
              <a:rPr sz="2000" dirty="0" err="1"/>
              <a:t>venv</a:t>
            </a:r>
            <a:r>
              <a:rPr sz="2000" dirty="0"/>
              <a:t> .</a:t>
            </a:r>
            <a:r>
              <a:rPr sz="2000" dirty="0" err="1"/>
              <a:t>venv</a:t>
            </a:r>
            <a:br>
              <a:rPr sz="2000" dirty="0"/>
            </a:br>
            <a:r>
              <a:rPr sz="2000" dirty="0"/>
              <a:t>source .</a:t>
            </a:r>
            <a:r>
              <a:rPr sz="2000" dirty="0" err="1"/>
              <a:t>venv</a:t>
            </a:r>
            <a:r>
              <a:rPr sz="2000" dirty="0"/>
              <a:t>/bin/activate        # Windows: .</a:t>
            </a:r>
            <a:r>
              <a:rPr sz="2000" dirty="0" err="1"/>
              <a:t>venv</a:t>
            </a:r>
            <a:r>
              <a:rPr sz="2000" dirty="0"/>
              <a:t>\Scripts\activate</a:t>
            </a:r>
            <a:br>
              <a:rPr sz="2000" dirty="0"/>
            </a:br>
            <a:r>
              <a:rPr sz="2000" dirty="0"/>
              <a:t>python -m pip install -U pip </a:t>
            </a:r>
            <a:r>
              <a:rPr sz="2000" dirty="0" err="1"/>
              <a:t>setuptools</a:t>
            </a:r>
            <a:r>
              <a:rPr sz="2000" dirty="0"/>
              <a:t> wheel</a:t>
            </a:r>
            <a:br>
              <a:rPr sz="2000" dirty="0"/>
            </a:br>
            <a:r>
              <a:rPr sz="2000" dirty="0"/>
              <a:t>pip install -e .                 # looks for </a:t>
            </a:r>
            <a:r>
              <a:rPr sz="2000" dirty="0" err="1"/>
              <a:t>pyproject.toml</a:t>
            </a:r>
            <a:endParaRPr sz="2000"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pyproject.toml</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400" dirty="0"/>
              <a:t>[build-system]</a:t>
            </a:r>
            <a:br>
              <a:rPr sz="2400" dirty="0"/>
            </a:br>
            <a:r>
              <a:rPr sz="2400" dirty="0"/>
              <a:t>requires = ["</a:t>
            </a:r>
            <a:r>
              <a:rPr sz="2400" dirty="0" err="1"/>
              <a:t>setuptools</a:t>
            </a:r>
            <a:r>
              <a:rPr sz="2400" dirty="0"/>
              <a:t>&gt;=64", "wheel"]</a:t>
            </a:r>
            <a:br>
              <a:rPr sz="2400" dirty="0"/>
            </a:br>
            <a:r>
              <a:rPr sz="2400" dirty="0"/>
              <a:t>build-backend = "</a:t>
            </a:r>
            <a:r>
              <a:rPr sz="2400" dirty="0" err="1"/>
              <a:t>setuptools.build_meta</a:t>
            </a:r>
            <a:r>
              <a:rPr sz="2400" dirty="0"/>
              <a:t>"</a:t>
            </a:r>
            <a:br>
              <a:rPr sz="2400" dirty="0"/>
            </a:br>
            <a:br>
              <a:rPr sz="2400" dirty="0"/>
            </a:br>
            <a:r>
              <a:rPr sz="2400" dirty="0"/>
              <a:t>[project]</a:t>
            </a:r>
            <a:br>
              <a:rPr sz="2400" dirty="0"/>
            </a:br>
            <a:r>
              <a:rPr sz="2400" dirty="0"/>
              <a:t>name = "</a:t>
            </a:r>
            <a:r>
              <a:rPr sz="2400" dirty="0" err="1"/>
              <a:t>myutils</a:t>
            </a:r>
            <a:r>
              <a:rPr sz="2400" dirty="0"/>
              <a:t>"</a:t>
            </a:r>
            <a:br>
              <a:rPr sz="2400" dirty="0"/>
            </a:br>
            <a:r>
              <a:rPr sz="2400" dirty="0"/>
              <a:t>version = "0.1.0"</a:t>
            </a:r>
            <a:br>
              <a:rPr sz="2400" dirty="0"/>
            </a:br>
            <a:r>
              <a:rPr sz="2400" dirty="0"/>
              <a:t>dependencies = ["requests&gt;=2.28"]</a:t>
            </a:r>
            <a:br>
              <a:rPr sz="2400" dirty="0"/>
            </a:br>
            <a:br>
              <a:rPr sz="2400" dirty="0"/>
            </a:br>
            <a:r>
              <a:rPr sz="2400" dirty="0"/>
              <a:t>[</a:t>
            </a:r>
            <a:r>
              <a:rPr sz="2400" dirty="0" err="1"/>
              <a:t>project.optional</a:t>
            </a:r>
            <a:r>
              <a:rPr sz="2400" dirty="0"/>
              <a:t>-dependencies]</a:t>
            </a:r>
            <a:br>
              <a:rPr sz="2400" dirty="0"/>
            </a:br>
            <a:r>
              <a:rPr sz="2400" dirty="0"/>
              <a:t>dev = ["</a:t>
            </a:r>
            <a:r>
              <a:rPr sz="2400" dirty="0" err="1"/>
              <a:t>pytest</a:t>
            </a:r>
            <a:r>
              <a:rPr sz="2400" dirty="0"/>
              <a:t>", "black", "</a:t>
            </a:r>
            <a:r>
              <a:rPr sz="2400" dirty="0" err="1"/>
              <a:t>mypy</a:t>
            </a:r>
            <a:r>
              <a:rPr sz="2400" dirty="0"/>
              <a:t>"]</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Linting, Formatting, Testing</a:t>
            </a:r>
          </a:p>
        </p:txBody>
      </p:sp>
      <p:sp>
        <p:nvSpPr>
          <p:cNvPr id="3" name="Content Placeholder 2"/>
          <p:cNvSpPr>
            <a:spLocks noGrp="1"/>
          </p:cNvSpPr>
          <p:nvPr>
            <p:ph idx="1"/>
          </p:nvPr>
        </p:nvSpPr>
        <p:spPr/>
        <p:txBody>
          <a:bodyPr/>
          <a:lstStyle/>
          <a:p>
            <a:r>
              <a:t>black for formatting</a:t>
            </a:r>
          </a:p>
          <a:p>
            <a:r>
              <a:t>flake8 / mypy for static checks</a:t>
            </a:r>
          </a:p>
          <a:p>
            <a:r>
              <a:t>pytest for automated testing</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Linting &amp; Formatting</a:t>
            </a:r>
          </a:p>
        </p:txBody>
      </p:sp>
      <p:sp>
        <p:nvSpPr>
          <p:cNvPr id="3" name="Content Placeholder 2"/>
          <p:cNvSpPr>
            <a:spLocks noGrp="1"/>
          </p:cNvSpPr>
          <p:nvPr>
            <p:ph idx="1"/>
          </p:nvPr>
        </p:nvSpPr>
        <p:spPr/>
        <p:txBody>
          <a:bodyPr>
            <a:normAutofit/>
          </a:bodyPr>
          <a:lstStyle/>
          <a:p>
            <a:pPr marL="0" indent="0" algn="l">
              <a:buNone/>
              <a:defRPr sz="1500">
                <a:latin typeface="Courier New"/>
              </a:defRPr>
            </a:pPr>
            <a:r>
              <a:rPr sz="2400" dirty="0"/>
              <a:t>pip install black flake8 </a:t>
            </a:r>
            <a:r>
              <a:rPr sz="2400" dirty="0" err="1"/>
              <a:t>mypy</a:t>
            </a:r>
            <a:br>
              <a:rPr sz="2400" dirty="0"/>
            </a:br>
            <a:r>
              <a:rPr sz="2400" dirty="0"/>
              <a:t>black </a:t>
            </a:r>
            <a:r>
              <a:rPr sz="2400" dirty="0" err="1"/>
              <a:t>src</a:t>
            </a:r>
            <a:r>
              <a:rPr sz="2400" dirty="0"/>
              <a:t>/ tests/</a:t>
            </a:r>
            <a:br>
              <a:rPr sz="2400" dirty="0"/>
            </a:br>
            <a:r>
              <a:rPr sz="2400" dirty="0"/>
              <a:t>flake8 </a:t>
            </a:r>
            <a:r>
              <a:rPr sz="2400" dirty="0" err="1"/>
              <a:t>src</a:t>
            </a:r>
            <a:r>
              <a:rPr sz="2400" dirty="0"/>
              <a:t>/</a:t>
            </a:r>
            <a:br>
              <a:rPr sz="2400" dirty="0"/>
            </a:br>
            <a:r>
              <a:rPr sz="2400" dirty="0" err="1"/>
              <a:t>mypy</a:t>
            </a:r>
            <a:r>
              <a:rPr sz="2400" dirty="0"/>
              <a:t> </a:t>
            </a:r>
            <a:r>
              <a:rPr sz="2400" dirty="0" err="1"/>
              <a:t>src</a:t>
            </a:r>
            <a:r>
              <a:rPr sz="2400" dirty="0"/>
              <a:t>/</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 with pytest</a:t>
            </a:r>
          </a:p>
        </p:txBody>
      </p:sp>
      <p:sp>
        <p:nvSpPr>
          <p:cNvPr id="3" name="Content Placeholder 2"/>
          <p:cNvSpPr>
            <a:spLocks noGrp="1"/>
          </p:cNvSpPr>
          <p:nvPr>
            <p:ph idx="1"/>
          </p:nvPr>
        </p:nvSpPr>
        <p:spPr>
          <a:xfrm>
            <a:off x="457200" y="1600200"/>
            <a:ext cx="11569700" cy="4525963"/>
          </a:xfrm>
        </p:spPr>
        <p:txBody>
          <a:bodyPr>
            <a:normAutofit/>
          </a:bodyPr>
          <a:lstStyle/>
          <a:p>
            <a:pPr marL="0" indent="0" algn="l">
              <a:buNone/>
              <a:defRPr sz="1500">
                <a:latin typeface="Courier New"/>
              </a:defRPr>
            </a:pPr>
            <a:r>
              <a:rPr sz="2000" dirty="0"/>
              <a:t># test_math_utils.py</a:t>
            </a:r>
            <a:br>
              <a:rPr sz="2000" dirty="0"/>
            </a:br>
            <a:r>
              <a:rPr sz="2000" dirty="0"/>
              <a:t>import </a:t>
            </a:r>
            <a:r>
              <a:rPr sz="2000" dirty="0" err="1"/>
              <a:t>pytest</a:t>
            </a:r>
            <a:br>
              <a:rPr sz="2000" dirty="0"/>
            </a:br>
            <a:r>
              <a:rPr sz="2000" dirty="0"/>
              <a:t>from </a:t>
            </a:r>
            <a:r>
              <a:rPr sz="2000" dirty="0" err="1"/>
              <a:t>myutils.math</a:t>
            </a:r>
            <a:r>
              <a:rPr sz="2000" dirty="0"/>
              <a:t> import clamp</a:t>
            </a:r>
            <a:br>
              <a:rPr sz="2000" dirty="0"/>
            </a:br>
            <a:r>
              <a:rPr sz="2000" dirty="0"/>
              <a:t>@pytest.mark.parametrize("x,lo,hi,e", [(5,0,10,5), (-5,0,10,0), (15,0,10,10)])</a:t>
            </a:r>
            <a:br>
              <a:rPr sz="2000" dirty="0"/>
            </a:br>
            <a:r>
              <a:rPr sz="2000" dirty="0"/>
              <a:t>def </a:t>
            </a:r>
            <a:r>
              <a:rPr sz="2000" dirty="0" err="1"/>
              <a:t>test_clamp</a:t>
            </a:r>
            <a:r>
              <a:rPr sz="2000" dirty="0"/>
              <a:t>(x, lo, hi, e): assert clamp(x, lo, hi) == e</a:t>
            </a:r>
            <a:br>
              <a:rPr sz="2000" dirty="0"/>
            </a:br>
            <a:r>
              <a:rPr sz="2000" dirty="0"/>
              <a:t># run</a:t>
            </a:r>
            <a:br>
              <a:rPr sz="2000" dirty="0"/>
            </a:br>
            <a:r>
              <a:rPr sz="2000" dirty="0" err="1"/>
              <a:t>pytest</a:t>
            </a:r>
            <a:r>
              <a:rPr sz="2000" dirty="0"/>
              <a:t> -q</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 Hints – Gradual Typing</a:t>
            </a:r>
          </a:p>
        </p:txBody>
      </p:sp>
      <p:sp>
        <p:nvSpPr>
          <p:cNvPr id="3" name="Content Placeholder 2"/>
          <p:cNvSpPr>
            <a:spLocks noGrp="1"/>
          </p:cNvSpPr>
          <p:nvPr>
            <p:ph idx="1"/>
          </p:nvPr>
        </p:nvSpPr>
        <p:spPr>
          <a:xfrm>
            <a:off x="457200" y="1600200"/>
            <a:ext cx="11430000" cy="4525963"/>
          </a:xfrm>
        </p:spPr>
        <p:txBody>
          <a:bodyPr>
            <a:normAutofit/>
          </a:bodyPr>
          <a:lstStyle/>
          <a:p>
            <a:pPr marL="0" indent="0" algn="l">
              <a:buNone/>
              <a:defRPr sz="1500">
                <a:latin typeface="Courier New"/>
              </a:defRPr>
            </a:pPr>
            <a:r>
              <a:rPr sz="2800" dirty="0"/>
              <a:t>from typing import List, </a:t>
            </a:r>
            <a:r>
              <a:rPr sz="2800" dirty="0" err="1"/>
              <a:t>Dict</a:t>
            </a:r>
            <a:r>
              <a:rPr sz="2800" dirty="0"/>
              <a:t>, Optional</a:t>
            </a:r>
            <a:br>
              <a:rPr sz="2800" dirty="0"/>
            </a:br>
            <a:r>
              <a:rPr sz="2800" dirty="0"/>
              <a:t>def </a:t>
            </a:r>
            <a:r>
              <a:rPr sz="2800" dirty="0" err="1"/>
              <a:t>freq</a:t>
            </a:r>
            <a:r>
              <a:rPr sz="2800" dirty="0"/>
              <a:t>(words: List[str]) -&gt; </a:t>
            </a:r>
            <a:r>
              <a:rPr sz="2800" dirty="0" err="1"/>
              <a:t>Dict</a:t>
            </a:r>
            <a:r>
              <a:rPr sz="2800" dirty="0"/>
              <a:t>[str, int]:</a:t>
            </a:r>
            <a:br>
              <a:rPr sz="2800" dirty="0"/>
            </a:br>
            <a:r>
              <a:rPr sz="2800" dirty="0"/>
              <a:t>    counts: </a:t>
            </a:r>
            <a:r>
              <a:rPr sz="2800" dirty="0" err="1"/>
              <a:t>Dict</a:t>
            </a:r>
            <a:r>
              <a:rPr sz="2800" dirty="0"/>
              <a:t>[str, int] = {}</a:t>
            </a:r>
            <a:br>
              <a:rPr sz="2800" dirty="0"/>
            </a:br>
            <a:r>
              <a:rPr sz="2800" dirty="0"/>
              <a:t>    for w in words: counts[w] = </a:t>
            </a:r>
            <a:r>
              <a:rPr sz="2800" dirty="0" err="1"/>
              <a:t>counts.get</a:t>
            </a:r>
            <a:r>
              <a:rPr sz="2800" dirty="0"/>
              <a:t>(w, 0) + 1</a:t>
            </a:r>
            <a:br>
              <a:rPr sz="2800" dirty="0"/>
            </a:br>
            <a:r>
              <a:rPr sz="2800" dirty="0"/>
              <a:t>    return counts</a:t>
            </a:r>
            <a:br>
              <a:rPr sz="2800" dirty="0"/>
            </a:br>
            <a:r>
              <a:rPr sz="2800" dirty="0"/>
              <a:t>def find(</a:t>
            </a:r>
            <a:r>
              <a:rPr sz="2800" dirty="0" err="1"/>
              <a:t>uid</a:t>
            </a:r>
            <a:r>
              <a:rPr sz="2800" dirty="0"/>
              <a:t>: int) -&gt; Optional[str]: ...</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Rich REPL with ipython + jupyter</a:t>
            </a:r>
          </a:p>
        </p:txBody>
      </p:sp>
      <p:sp>
        <p:nvSpPr>
          <p:cNvPr id="3" name="Content Placeholder 2"/>
          <p:cNvSpPr>
            <a:spLocks noGrp="1"/>
          </p:cNvSpPr>
          <p:nvPr>
            <p:ph idx="1"/>
          </p:nvPr>
        </p:nvSpPr>
        <p:spPr>
          <a:xfrm>
            <a:off x="457200" y="1600200"/>
            <a:ext cx="11099800" cy="4525963"/>
          </a:xfrm>
        </p:spPr>
        <p:txBody>
          <a:bodyPr>
            <a:normAutofit/>
          </a:bodyPr>
          <a:lstStyle/>
          <a:p>
            <a:pPr marL="0" indent="0" algn="l">
              <a:buNone/>
              <a:defRPr sz="1500">
                <a:latin typeface="Courier New"/>
              </a:defRPr>
            </a:pPr>
            <a:r>
              <a:rPr sz="2000" dirty="0"/>
              <a:t>pip install </a:t>
            </a:r>
            <a:r>
              <a:rPr sz="2000" dirty="0" err="1"/>
              <a:t>ipython</a:t>
            </a:r>
            <a:r>
              <a:rPr sz="2000" dirty="0"/>
              <a:t> </a:t>
            </a:r>
            <a:r>
              <a:rPr sz="2000" dirty="0" err="1"/>
              <a:t>jupyterlab</a:t>
            </a:r>
            <a:br>
              <a:rPr sz="2000" dirty="0"/>
            </a:br>
            <a:r>
              <a:rPr sz="2000" dirty="0" err="1"/>
              <a:t>ipython</a:t>
            </a:r>
            <a:r>
              <a:rPr sz="2000" dirty="0"/>
              <a:t>                           # tab-completion, ? help, %magic</a:t>
            </a:r>
            <a:br>
              <a:rPr sz="2000" dirty="0"/>
            </a:br>
            <a:r>
              <a:rPr sz="2000" dirty="0" err="1"/>
              <a:t>jupyter</a:t>
            </a:r>
            <a:r>
              <a:rPr sz="2000" dirty="0"/>
              <a:t> lab                       # browser notebooks</a:t>
            </a:r>
            <a:br>
              <a:rPr sz="2000" dirty="0"/>
            </a:br>
            <a:r>
              <a:rPr sz="2000" dirty="0"/>
              <a:t># inside notebook</a:t>
            </a:r>
            <a:br>
              <a:rPr sz="2000" dirty="0"/>
            </a:br>
            <a:r>
              <a:rPr sz="2000" dirty="0"/>
              <a:t>%matplotlib inline</a:t>
            </a:r>
            <a:br>
              <a:rPr sz="2000" dirty="0"/>
            </a:br>
            <a:r>
              <a:rPr sz="2000" dirty="0"/>
              <a:t>import </a:t>
            </a:r>
            <a:r>
              <a:rPr sz="2000" dirty="0" err="1"/>
              <a:t>matplotlib.pyplot</a:t>
            </a:r>
            <a:r>
              <a:rPr sz="2000" dirty="0"/>
              <a:t> as </a:t>
            </a:r>
            <a:r>
              <a:rPr sz="2000" dirty="0" err="1"/>
              <a:t>plt</a:t>
            </a:r>
            <a:br>
              <a:rPr sz="2000" dirty="0"/>
            </a:br>
            <a:r>
              <a:rPr sz="2000" dirty="0" err="1"/>
              <a:t>plt.plot</a:t>
            </a:r>
            <a:r>
              <a:rPr sz="2000" dirty="0"/>
              <a:t>([1,2,3], [4,5,6])</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Capstone Ideas</a:t>
            </a:r>
          </a:p>
        </p:txBody>
      </p:sp>
      <p:sp>
        <p:nvSpPr>
          <p:cNvPr id="3" name="Content Placeholder 2"/>
          <p:cNvSpPr>
            <a:spLocks noGrp="1"/>
          </p:cNvSpPr>
          <p:nvPr>
            <p:ph idx="1"/>
          </p:nvPr>
        </p:nvSpPr>
        <p:spPr>
          <a:xfrm>
            <a:off x="457200" y="1600200"/>
            <a:ext cx="11468100" cy="4525963"/>
          </a:xfrm>
        </p:spPr>
        <p:txBody>
          <a:bodyPr>
            <a:normAutofit/>
          </a:bodyPr>
          <a:lstStyle/>
          <a:p>
            <a:pPr marL="0" indent="0" algn="l">
              <a:buNone/>
              <a:defRPr sz="1500">
                <a:latin typeface="Courier New"/>
              </a:defRPr>
            </a:pPr>
            <a:r>
              <a:rPr sz="2400" dirty="0"/>
              <a:t>• Build a REST micro-service with </a:t>
            </a:r>
            <a:r>
              <a:rPr sz="2400" dirty="0" err="1"/>
              <a:t>FastAPI</a:t>
            </a:r>
            <a:br>
              <a:rPr sz="2400" dirty="0"/>
            </a:br>
            <a:r>
              <a:rPr sz="2400" dirty="0"/>
              <a:t>• Scrape + analyze live data with </a:t>
            </a:r>
            <a:r>
              <a:rPr sz="2400" dirty="0" err="1"/>
              <a:t>asyncio</a:t>
            </a:r>
            <a:r>
              <a:rPr sz="2400" dirty="0"/>
              <a:t> &amp; pandas</a:t>
            </a:r>
            <a:br>
              <a:rPr sz="2400" dirty="0"/>
            </a:br>
            <a:r>
              <a:rPr sz="2400" dirty="0"/>
              <a:t>• Automate your own boring tasks (rename photos, merge Excel)</a:t>
            </a:r>
            <a:br>
              <a:rPr sz="2400" dirty="0"/>
            </a:br>
            <a:r>
              <a:rPr sz="2400" dirty="0"/>
              <a:t>• Create a GUI desktop app with textual or PySide6</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Keep Climbing</a:t>
            </a:r>
          </a:p>
        </p:txBody>
      </p:sp>
      <p:sp>
        <p:nvSpPr>
          <p:cNvPr id="3" name="Content Placeholder 2"/>
          <p:cNvSpPr>
            <a:spLocks noGrp="1"/>
          </p:cNvSpPr>
          <p:nvPr>
            <p:ph idx="1"/>
          </p:nvPr>
        </p:nvSpPr>
        <p:spPr>
          <a:xfrm>
            <a:off x="457200" y="1600200"/>
            <a:ext cx="11188700" cy="4525963"/>
          </a:xfrm>
        </p:spPr>
        <p:txBody>
          <a:bodyPr>
            <a:normAutofit/>
          </a:bodyPr>
          <a:lstStyle/>
          <a:p>
            <a:pPr algn="l">
              <a:defRPr sz="1500">
                <a:latin typeface="Courier New"/>
              </a:defRPr>
            </a:pPr>
            <a:r>
              <a:rPr sz="2400" dirty="0"/>
              <a:t>Resources</a:t>
            </a:r>
            <a:br>
              <a:rPr sz="2400" dirty="0"/>
            </a:br>
            <a:r>
              <a:rPr sz="2400" dirty="0"/>
              <a:t>• docs.python.org/3/tutorial/</a:t>
            </a:r>
            <a:br>
              <a:rPr sz="2400" dirty="0"/>
            </a:br>
            <a:r>
              <a:rPr sz="2400" dirty="0"/>
              <a:t>• realpython.com</a:t>
            </a:r>
            <a:br>
              <a:rPr sz="2400" dirty="0"/>
            </a:br>
            <a:r>
              <a:rPr sz="2400" dirty="0"/>
              <a:t>• pypi.org – 450 k+ packages</a:t>
            </a:r>
            <a:br>
              <a:rPr sz="2400" dirty="0"/>
            </a:br>
            <a:r>
              <a:rPr sz="2400" dirty="0"/>
              <a:t>• github.com/python/</a:t>
            </a:r>
            <a:r>
              <a:rPr sz="2400" dirty="0" err="1"/>
              <a:t>cpython</a:t>
            </a:r>
            <a:r>
              <a:rPr sz="2400" dirty="0"/>
              <a:t> – read the source!</a:t>
            </a:r>
            <a:br>
              <a:rPr sz="2400" dirty="0"/>
            </a:br>
            <a:r>
              <a:rPr sz="2400" dirty="0"/>
              <a:t>• mastodon, /r/python, discord.gg/python</a:t>
            </a:r>
            <a:br>
              <a:rPr sz="2400" dirty="0"/>
            </a:br>
            <a:br>
              <a:rPr sz="2400" dirty="0"/>
            </a:br>
            <a:r>
              <a:rPr sz="2400" dirty="0"/>
              <a:t>Remember:</a:t>
            </a:r>
            <a:br>
              <a:rPr sz="2400" dirty="0"/>
            </a:br>
            <a:r>
              <a:rPr sz="2400" dirty="0"/>
              <a:t>Read code → Run code → Break code → Fix code → Repeat.</a:t>
            </a:r>
            <a:br>
              <a:rPr sz="2400" dirty="0"/>
            </a:br>
            <a:r>
              <a:rPr sz="2400" dirty="0"/>
              <a:t>Happy </a:t>
            </a:r>
            <a:r>
              <a:rPr sz="2400" dirty="0" err="1"/>
              <a:t>Pythoning</a:t>
            </a:r>
            <a:r>
              <a:rPr sz="2400" dirty="0"/>
              <a:t>! 🐍</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Appendix  Tooling &amp; Eco-system</a:t>
            </a:r>
          </a:p>
        </p:txBody>
      </p:sp>
      <p:sp>
        <p:nvSpPr>
          <p:cNvPr id="3" name="Subtitle 2"/>
          <p:cNvSpPr>
            <a:spLocks noGrp="1"/>
          </p:cNvSpPr>
          <p:nvPr>
            <p:ph type="subTitle" idx="1"/>
          </p:nvPr>
        </p:nvSpPr>
        <p:spPr/>
        <p:txBody>
          <a:bodyPr/>
          <a:lstStyle/>
          <a:p>
            <a:endParaRP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Environments &amp; Tooling</a:t>
            </a:r>
          </a:p>
        </p:txBody>
      </p:sp>
      <p:sp>
        <p:nvSpPr>
          <p:cNvPr id="3" name="Content Placeholder 2"/>
          <p:cNvSpPr>
            <a:spLocks noGrp="1"/>
          </p:cNvSpPr>
          <p:nvPr>
            <p:ph idx="1"/>
          </p:nvPr>
        </p:nvSpPr>
        <p:spPr/>
        <p:txBody>
          <a:bodyPr/>
          <a:lstStyle/>
          <a:p>
            <a:r>
              <a:t>One virtual environment per project</a:t>
            </a:r>
          </a:p>
          <a:p>
            <a:r>
              <a:t>Pinned dependencies</a:t>
            </a:r>
          </a:p>
          <a:p>
            <a:r>
              <a:t>black, pytest, type hints</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6F49F-1E68-4BEB-F567-D993F4A1B8AC}"/>
              </a:ext>
            </a:extLst>
          </p:cNvPr>
          <p:cNvSpPr>
            <a:spLocks noGrp="1"/>
          </p:cNvSpPr>
          <p:nvPr>
            <p:ph type="title"/>
          </p:nvPr>
        </p:nvSpPr>
        <p:spPr/>
        <p:txBody>
          <a:bodyPr>
            <a:normAutofit/>
          </a:bodyPr>
          <a:lstStyle/>
          <a:p>
            <a:r>
              <a:rPr lang="en-SG" b="1" dirty="0"/>
              <a:t>Tooling Expectations</a:t>
            </a:r>
            <a:endParaRPr lang="en-SG" dirty="0"/>
          </a:p>
        </p:txBody>
      </p:sp>
      <p:sp>
        <p:nvSpPr>
          <p:cNvPr id="3" name="Content Placeholder 2">
            <a:extLst>
              <a:ext uri="{FF2B5EF4-FFF2-40B4-BE49-F238E27FC236}">
                <a16:creationId xmlns:a16="http://schemas.microsoft.com/office/drawing/2014/main" id="{98191168-1E5B-C9C6-6EB8-D25482866D05}"/>
              </a:ext>
            </a:extLst>
          </p:cNvPr>
          <p:cNvSpPr>
            <a:spLocks noGrp="1"/>
          </p:cNvSpPr>
          <p:nvPr>
            <p:ph idx="1"/>
          </p:nvPr>
        </p:nvSpPr>
        <p:spPr/>
        <p:txBody>
          <a:bodyPr/>
          <a:lstStyle/>
          <a:p>
            <a:r>
              <a:rPr lang="en-SG" dirty="0"/>
              <a:t>Baseline for professional teams:</a:t>
            </a:r>
          </a:p>
          <a:p>
            <a:r>
              <a:rPr lang="en-SG" dirty="0"/>
              <a:t>black → formatting</a:t>
            </a:r>
          </a:p>
          <a:p>
            <a:r>
              <a:rPr lang="en-SG" dirty="0" err="1"/>
              <a:t>pytest</a:t>
            </a:r>
            <a:r>
              <a:rPr lang="en-SG" dirty="0"/>
              <a:t> → testing</a:t>
            </a:r>
          </a:p>
          <a:p>
            <a:r>
              <a:rPr lang="en-SG" dirty="0" err="1"/>
              <a:t>mypy</a:t>
            </a:r>
            <a:r>
              <a:rPr lang="en-SG" dirty="0"/>
              <a:t> → type safety</a:t>
            </a:r>
          </a:p>
          <a:p>
            <a:r>
              <a:rPr lang="en-SG" dirty="0"/>
              <a:t>CI enforcement</a:t>
            </a:r>
          </a:p>
          <a:p>
            <a:endParaRPr lang="en-SG" dirty="0"/>
          </a:p>
        </p:txBody>
      </p:sp>
    </p:spTree>
    <p:extLst>
      <p:ext uri="{BB962C8B-B14F-4D97-AF65-F5344CB8AC3E}">
        <p14:creationId xmlns:p14="http://schemas.microsoft.com/office/powerpoint/2010/main" val="1950266042"/>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 Python Ecosystem</a:t>
            </a:r>
          </a:p>
        </p:txBody>
      </p:sp>
      <p:sp>
        <p:nvSpPr>
          <p:cNvPr id="3" name="Content Placeholder 2"/>
          <p:cNvSpPr>
            <a:spLocks noGrp="1"/>
          </p:cNvSpPr>
          <p:nvPr>
            <p:ph idx="1"/>
          </p:nvPr>
        </p:nvSpPr>
        <p:spPr/>
        <p:txBody>
          <a:bodyPr/>
          <a:lstStyle/>
          <a:p>
            <a:r>
              <a:rPr lang="en-SG" dirty="0"/>
              <a:t>Web: </a:t>
            </a:r>
            <a:r>
              <a:rPr lang="en-SG" dirty="0" err="1"/>
              <a:t>FastAPI</a:t>
            </a:r>
            <a:r>
              <a:rPr lang="en-SG" dirty="0"/>
              <a:t>, Django</a:t>
            </a:r>
          </a:p>
          <a:p>
            <a:r>
              <a:rPr lang="en-SG" dirty="0"/>
              <a:t>Data: pandas, NumPy</a:t>
            </a:r>
          </a:p>
          <a:p>
            <a:r>
              <a:rPr lang="en-SG" dirty="0"/>
              <a:t>Automation: requests, rich</a:t>
            </a:r>
          </a:p>
          <a:p>
            <a:r>
              <a:rPr lang="en-SG" dirty="0"/>
              <a:t>Packaging: pip, </a:t>
            </a:r>
            <a:r>
              <a:rPr lang="en-SG" dirty="0" err="1"/>
              <a:t>PyPI</a:t>
            </a:r>
            <a:endParaRPr lang="en-SG" dirty="0"/>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Path Forward</a:t>
            </a:r>
          </a:p>
        </p:txBody>
      </p:sp>
      <p:sp>
        <p:nvSpPr>
          <p:cNvPr id="3" name="Content Placeholder 2"/>
          <p:cNvSpPr>
            <a:spLocks noGrp="1"/>
          </p:cNvSpPr>
          <p:nvPr>
            <p:ph idx="1"/>
          </p:nvPr>
        </p:nvSpPr>
        <p:spPr/>
        <p:txBody>
          <a:bodyPr/>
          <a:lstStyle/>
          <a:p>
            <a:r>
              <a:rPr lang="en-SG" b="1" dirty="0"/>
              <a:t>Backend</a:t>
            </a:r>
            <a:r>
              <a:rPr lang="en-SG" dirty="0"/>
              <a:t> → </a:t>
            </a:r>
            <a:r>
              <a:rPr lang="en-SG" dirty="0" err="1"/>
              <a:t>FastAPI</a:t>
            </a:r>
            <a:r>
              <a:rPr lang="en-SG" dirty="0"/>
              <a:t>, async, SQL</a:t>
            </a:r>
          </a:p>
          <a:p>
            <a:r>
              <a:rPr lang="en-SG" b="1" dirty="0"/>
              <a:t>Data</a:t>
            </a:r>
            <a:r>
              <a:rPr lang="en-SG" dirty="0"/>
              <a:t> → pandas, visualization</a:t>
            </a:r>
          </a:p>
          <a:p>
            <a:r>
              <a:rPr lang="en-SG" b="1" dirty="0"/>
              <a:t>Platform</a:t>
            </a:r>
            <a:r>
              <a:rPr lang="en-SG" dirty="0"/>
              <a:t> → packaging, CI/CD</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Advice</a:t>
            </a:r>
          </a:p>
        </p:txBody>
      </p:sp>
      <p:sp>
        <p:nvSpPr>
          <p:cNvPr id="3" name="Content Placeholder 2"/>
          <p:cNvSpPr>
            <a:spLocks noGrp="1"/>
          </p:cNvSpPr>
          <p:nvPr>
            <p:ph idx="1"/>
          </p:nvPr>
        </p:nvSpPr>
        <p:spPr>
          <a:xfrm>
            <a:off x="457200" y="1600200"/>
            <a:ext cx="9055100" cy="4525963"/>
          </a:xfrm>
        </p:spPr>
        <p:txBody>
          <a:bodyPr/>
          <a:lstStyle/>
          <a:p>
            <a:r>
              <a:rPr dirty="0"/>
              <a:t>Read code → Run code → Break code → Fix code</a:t>
            </a:r>
          </a:p>
          <a:p>
            <a:r>
              <a:rPr dirty="0"/>
              <a:t>Mistakes are how you learn</a:t>
            </a:r>
          </a:p>
          <a:p>
            <a:r>
              <a:rPr dirty="0"/>
              <a:t>Consistency beats intensity</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Happy Pythoning 🐍</a:t>
            </a:r>
          </a:p>
          <a:p>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TotalTime>
  <Words>13295</Words>
  <Application>Microsoft Office PowerPoint</Application>
  <PresentationFormat>Custom</PresentationFormat>
  <Paragraphs>2228</Paragraphs>
  <Slides>328</Slides>
  <Notes>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328</vt:i4>
      </vt:variant>
    </vt:vector>
  </HeadingPairs>
  <TitlesOfParts>
    <vt:vector size="335" baseType="lpstr">
      <vt:lpstr>Arial Unicode MS</vt:lpstr>
      <vt:lpstr>Google Sans Text</vt:lpstr>
      <vt:lpstr>Arial</vt:lpstr>
      <vt:lpstr>Calibri</vt:lpstr>
      <vt:lpstr>Courier New</vt:lpstr>
      <vt:lpstr>Wingdings</vt:lpstr>
      <vt:lpstr>Office Theme</vt:lpstr>
      <vt:lpstr>Python Crash Course 2025</vt:lpstr>
      <vt:lpstr>Course Overview</vt:lpstr>
      <vt:lpstr>Module Roadmap</vt:lpstr>
      <vt:lpstr>Module 1  FOUNDATIONS</vt:lpstr>
      <vt:lpstr>Module 1 — Foundations</vt:lpstr>
      <vt:lpstr>What Is Python?</vt:lpstr>
      <vt:lpstr>How Python Really Runs</vt:lpstr>
      <vt:lpstr>The Pythonic Philosophy</vt:lpstr>
      <vt:lpstr>Why Python?</vt:lpstr>
      <vt:lpstr>Running Python</vt:lpstr>
      <vt:lpstr>Your First Program</vt:lpstr>
      <vt:lpstr>Installing &amp; Running</vt:lpstr>
      <vt:lpstr>Progress</vt:lpstr>
      <vt:lpstr>Variables &amp; Dynamic Typing</vt:lpstr>
      <vt:lpstr>Variables Are References (Not Boxes)</vt:lpstr>
      <vt:lpstr>Mutation vs Reassignment</vt:lpstr>
      <vt:lpstr>Changing the Object</vt:lpstr>
      <vt:lpstr>Contrast with Reassignment</vt:lpstr>
      <vt:lpstr>Dynamic Typing Explained</vt:lpstr>
      <vt:lpstr>Mutable vs Immutable Types</vt:lpstr>
      <vt:lpstr>Type Checking at Runtime</vt:lpstr>
      <vt:lpstr>Core Built-in Types</vt:lpstr>
      <vt:lpstr>Reassignment and Object Identity</vt:lpstr>
      <vt:lpstr>Python Numbers: Overview</vt:lpstr>
      <vt:lpstr>Numeric Types in Python</vt:lpstr>
      <vt:lpstr>Numbers &amp; Business Impact</vt:lpstr>
      <vt:lpstr>Integers (int)</vt:lpstr>
      <vt:lpstr>Floating-Point Numbers (float)</vt:lpstr>
      <vt:lpstr>Decimal for Precision</vt:lpstr>
      <vt:lpstr>Arithmetic Operators</vt:lpstr>
      <vt:lpstr>Operators That Matter</vt:lpstr>
      <vt:lpstr>Division Operators</vt:lpstr>
      <vt:lpstr>Modulo Operator (%)</vt:lpstr>
      <vt:lpstr>Exponentiation</vt:lpstr>
      <vt:lpstr>Assignment Operators</vt:lpstr>
      <vt:lpstr>Operator Precedence</vt:lpstr>
      <vt:lpstr>Comparing Numbers</vt:lpstr>
      <vt:lpstr>Numbers &amp; Boolean Results</vt:lpstr>
      <vt:lpstr>Type Conversion with Numbers</vt:lpstr>
      <vt:lpstr>Common Numeric Pitfalls</vt:lpstr>
      <vt:lpstr>Best Practices</vt:lpstr>
      <vt:lpstr>Hands-On Exercise</vt:lpstr>
      <vt:lpstr>Solution</vt:lpstr>
      <vt:lpstr>Key Takeaways</vt:lpstr>
      <vt:lpstr>Numbers &amp; Operators</vt:lpstr>
      <vt:lpstr>Attributes and Methods</vt:lpstr>
      <vt:lpstr>Strings</vt:lpstr>
      <vt:lpstr>String Methods &amp; Formatting</vt:lpstr>
      <vt:lpstr>String Length &amp; Indexing</vt:lpstr>
      <vt:lpstr>String Slicing</vt:lpstr>
      <vt:lpstr>String Concatenation &amp; Repetition</vt:lpstr>
      <vt:lpstr>Common String Methods</vt:lpstr>
      <vt:lpstr>Searching &amp; Checking Strings</vt:lpstr>
      <vt:lpstr>Replacing &amp; Splitting Strings</vt:lpstr>
      <vt:lpstr>Joining Strings</vt:lpstr>
      <vt:lpstr>String Formatting (f-strings)</vt:lpstr>
      <vt:lpstr>Escape Characters</vt:lpstr>
      <vt:lpstr>Strings Are Immutable</vt:lpstr>
      <vt:lpstr>Common Mistakes</vt:lpstr>
      <vt:lpstr>Key Takeaways</vt:lpstr>
      <vt:lpstr>Hands-On Exercise</vt:lpstr>
      <vt:lpstr>Solution</vt:lpstr>
      <vt:lpstr>Strings – indexing, slicing, methods</vt:lpstr>
      <vt:lpstr>What Is a Boolean?</vt:lpstr>
      <vt:lpstr>Boolean Values in Python</vt:lpstr>
      <vt:lpstr>Comparisons Produce Booleans</vt:lpstr>
      <vt:lpstr>Logical Operators</vt:lpstr>
      <vt:lpstr>Booleans &amp; Truthiness</vt:lpstr>
      <vt:lpstr>Truthy and Falsy Values</vt:lpstr>
      <vt:lpstr>Falsy Values to Remember</vt:lpstr>
      <vt:lpstr>Common Truthy Values</vt:lpstr>
      <vt:lpstr>Truthiness in if Statements</vt:lpstr>
      <vt:lpstr>Truthiness Simplifies Logic</vt:lpstr>
      <vt:lpstr>Using bool()</vt:lpstr>
      <vt:lpstr>Short-Circuit Evaluation</vt:lpstr>
      <vt:lpstr>Common Mistakes</vt:lpstr>
      <vt:lpstr>Hands-On Exercise</vt:lpstr>
      <vt:lpstr>Solution 1</vt:lpstr>
      <vt:lpstr>Data Structures — Lists, Sets, and Tuples</vt:lpstr>
      <vt:lpstr>Solution 2: Ternary</vt:lpstr>
      <vt:lpstr>Solution 3: len()</vt:lpstr>
      <vt:lpstr>Key Takeaways</vt:lpstr>
      <vt:lpstr>Booleans &amp; Truthiness</vt:lpstr>
      <vt:lpstr>Logic Flow &amp; List Comprehensions</vt:lpstr>
      <vt:lpstr>Why Type Casting &amp; Input Matter</vt:lpstr>
      <vt:lpstr>Using input()</vt:lpstr>
      <vt:lpstr>Input Is Always a String</vt:lpstr>
      <vt:lpstr>What Is Type Casting?</vt:lpstr>
      <vt:lpstr>Type Casting &amp; Input</vt:lpstr>
      <vt:lpstr>Casting Input to Float</vt:lpstr>
      <vt:lpstr>Casting to String</vt:lpstr>
      <vt:lpstr>Casting to Boolean</vt:lpstr>
      <vt:lpstr>Safe Casting with try-except</vt:lpstr>
      <vt:lpstr>Input + Casting Common Pattern</vt:lpstr>
      <vt:lpstr>Mixing Input with f-Strings</vt:lpstr>
      <vt:lpstr>Common Mistakes</vt:lpstr>
      <vt:lpstr>Key Takeaways</vt:lpstr>
      <vt:lpstr>Hands-On Exercise</vt:lpstr>
      <vt:lpstr>Type Casting &amp; Input</vt:lpstr>
      <vt:lpstr>Mutable vs Immutable Objects</vt:lpstr>
      <vt:lpstr>Why Dynamic Typing Is Powerful</vt:lpstr>
      <vt:lpstr>Risks of Dynamic Typing</vt:lpstr>
      <vt:lpstr>Type Hints</vt:lpstr>
      <vt:lpstr>Comparison with Static Typing</vt:lpstr>
      <vt:lpstr>Common Beginner Mistakes</vt:lpstr>
      <vt:lpstr>Key Takeaways</vt:lpstr>
      <vt:lpstr>Practice Exercise</vt:lpstr>
      <vt:lpstr>Exercise 1: Assign Different Types</vt:lpstr>
      <vt:lpstr>Exercise 2 — Checking Types Explicitly</vt:lpstr>
      <vt:lpstr>Exercise 3 — Immutable Objects (Integers &amp; Strings)</vt:lpstr>
      <vt:lpstr>Exercise 4 — Mutable Objects (Lists)</vt:lpstr>
      <vt:lpstr>Collections – Managing Data at Scale</vt:lpstr>
      <vt:lpstr>The Core Python Collections</vt:lpstr>
      <vt:lpstr>list — Ordered, Mutable</vt:lpstr>
      <vt:lpstr>list Characteristics</vt:lpstr>
      <vt:lpstr>list – use when order matters</vt:lpstr>
      <vt:lpstr>List – Connon Pattern</vt:lpstr>
      <vt:lpstr>tuple — Ordered, Immutable</vt:lpstr>
      <vt:lpstr>Why tuple Exists</vt:lpstr>
      <vt:lpstr>Tuple – used for fixed structure</vt:lpstr>
      <vt:lpstr>tuple – function returns</vt:lpstr>
      <vt:lpstr>dict — Key → Value Mapping</vt:lpstr>
      <vt:lpstr>dict Characteristics</vt:lpstr>
      <vt:lpstr>dict — fast lookup by identifier</vt:lpstr>
      <vt:lpstr>dict – safe access</vt:lpstr>
      <vt:lpstr>dict – iteration pattern</vt:lpstr>
      <vt:lpstr>set — Unique, Unordered</vt:lpstr>
      <vt:lpstr>set Characteristics</vt:lpstr>
      <vt:lpstr>set - deduplication</vt:lpstr>
      <vt:lpstr>set – fast membership check</vt:lpstr>
      <vt:lpstr>Choosing the Right Collection</vt:lpstr>
      <vt:lpstr>Choosing the right collection</vt:lpstr>
      <vt:lpstr>Nested Collections</vt:lpstr>
      <vt:lpstr>Common Pitfalls</vt:lpstr>
      <vt:lpstr>Common Pitfalls</vt:lpstr>
      <vt:lpstr>Mutation Pitfalls</vt:lpstr>
      <vt:lpstr>Best Practices</vt:lpstr>
      <vt:lpstr>Collections Summary</vt:lpstr>
      <vt:lpstr>Key Takeaways</vt:lpstr>
      <vt:lpstr>Control Flow — if / else</vt:lpstr>
      <vt:lpstr>Conditional Statements (if)</vt:lpstr>
      <vt:lpstr>if–else Statements</vt:lpstr>
      <vt:lpstr>if–elif–else Chain</vt:lpstr>
      <vt:lpstr>Comparison Operators</vt:lpstr>
      <vt:lpstr>Logical Operators</vt:lpstr>
      <vt:lpstr>Truthy and Falsy Values</vt:lpstr>
      <vt:lpstr>Unpacking Operators: Overview</vt:lpstr>
      <vt:lpstr>What Is Unpacking?</vt:lpstr>
      <vt:lpstr>Unpacking Operators (* and **)</vt:lpstr>
      <vt:lpstr>* for Iterable Unpacking</vt:lpstr>
      <vt:lpstr>Extended Unpacking with *</vt:lpstr>
      <vt:lpstr>* Can Appear Anywhere</vt:lpstr>
      <vt:lpstr>Unpacking in Function Calls (*args)</vt:lpstr>
      <vt:lpstr>*args in Function Definitions</vt:lpstr>
      <vt:lpstr>** for Dictionary Unpacking</vt:lpstr>
      <vt:lpstr>**kwargs in Function Definitions</vt:lpstr>
      <vt:lpstr>Combining *args and **kwargs</vt:lpstr>
      <vt:lpstr>Unpacking When Calling Functions</vt:lpstr>
      <vt:lpstr>Merging Collections with Unpacking</vt:lpstr>
      <vt:lpstr>Common Mistakes</vt:lpstr>
      <vt:lpstr>When to Use Unpacking</vt:lpstr>
      <vt:lpstr>Mental Model</vt:lpstr>
      <vt:lpstr>Hands-On Exercise</vt:lpstr>
      <vt:lpstr>Exercise Solution</vt:lpstr>
      <vt:lpstr>Key Takeaways</vt:lpstr>
      <vt:lpstr>Control Flow – if / elif / else</vt:lpstr>
      <vt:lpstr>What Is a Ternary Expression?</vt:lpstr>
      <vt:lpstr>Simple Example</vt:lpstr>
      <vt:lpstr>Ternary with Expressions</vt:lpstr>
      <vt:lpstr>Ternary with Function Calls</vt:lpstr>
      <vt:lpstr>Nested Ternary Expressions (Warning)</vt:lpstr>
      <vt:lpstr>Common Pitfall: Forgetting Else</vt:lpstr>
      <vt:lpstr>Ternary vs if–else</vt:lpstr>
      <vt:lpstr>Hands-On Exercise</vt:lpstr>
      <vt:lpstr>Solution</vt:lpstr>
      <vt:lpstr>Loops — for &amp; while</vt:lpstr>
      <vt:lpstr>for Loops</vt:lpstr>
      <vt:lpstr>Looping Through Collections</vt:lpstr>
      <vt:lpstr>while Loops</vt:lpstr>
      <vt:lpstr>break and continue</vt:lpstr>
      <vt:lpstr>Nested Control Flow</vt:lpstr>
      <vt:lpstr>Common Mistakes</vt:lpstr>
      <vt:lpstr>When to Use What</vt:lpstr>
      <vt:lpstr>Hands-On Exercise</vt:lpstr>
      <vt:lpstr>Key Takeaways</vt:lpstr>
      <vt:lpstr>Solution</vt:lpstr>
      <vt:lpstr>Loops – for &amp; while</vt:lpstr>
      <vt:lpstr>Discussion</vt:lpstr>
      <vt:lpstr>Answers</vt:lpstr>
      <vt:lpstr>Break, Continue, Else</vt:lpstr>
      <vt:lpstr>What Is a Function?</vt:lpstr>
      <vt:lpstr>Why Use Functions?</vt:lpstr>
      <vt:lpstr>Functions Are Contracts</vt:lpstr>
      <vt:lpstr>Defining Functions</vt:lpstr>
      <vt:lpstr>Calling a Function</vt:lpstr>
      <vt:lpstr>Functions with Parameters</vt:lpstr>
      <vt:lpstr>Return Values</vt:lpstr>
      <vt:lpstr>Multiple Parameters</vt:lpstr>
      <vt:lpstr>Default Values</vt:lpstr>
      <vt:lpstr>Keyword Arguments</vt:lpstr>
      <vt:lpstr>Functional Foundations &amp; Scoping</vt:lpstr>
      <vt:lpstr>Scope: Local vs Global</vt:lpstr>
      <vt:lpstr>Docstrings</vt:lpstr>
      <vt:lpstr>What Are *args and **kwargs?</vt:lpstr>
      <vt:lpstr>Using *args</vt:lpstr>
      <vt:lpstr>Using **kwargs</vt:lpstr>
      <vt:lpstr>Combining *args and **kwargs</vt:lpstr>
      <vt:lpstr>When to Use Them</vt:lpstr>
      <vt:lpstr>Hands-On Exercise</vt:lpstr>
      <vt:lpstr>Solution</vt:lpstr>
      <vt:lpstr>When to Create a Function</vt:lpstr>
      <vt:lpstr>Hands-On Exercise</vt:lpstr>
      <vt:lpstr>Exercise Solution</vt:lpstr>
      <vt:lpstr>Key Takeaways</vt:lpstr>
      <vt:lpstr>Multiple Returns</vt:lpstr>
      <vt:lpstr>*args  **kwargs</vt:lpstr>
      <vt:lpstr>Lambda &amp; Sorted</vt:lpstr>
      <vt:lpstr>Python lambda — Anonymous Functions</vt:lpstr>
      <vt:lpstr>What a lambda Is</vt:lpstr>
      <vt:lpstr>Lambda Syntax</vt:lpstr>
      <vt:lpstr>Lambda vs def</vt:lpstr>
      <vt:lpstr>Where lambda Is Used Well</vt:lpstr>
      <vt:lpstr>Lambda with sorted()</vt:lpstr>
      <vt:lpstr>When NOT to Use lambda</vt:lpstr>
      <vt:lpstr>Readability Rule</vt:lpstr>
      <vt:lpstr>Lambda and Scope</vt:lpstr>
      <vt:lpstr>Common Pitfall</vt:lpstr>
      <vt:lpstr>Best Practices</vt:lpstr>
      <vt:lpstr>Key Takeaways</vt:lpstr>
      <vt:lpstr>Mini-Project: CLI Calculator</vt:lpstr>
      <vt:lpstr>Getting Help in Python</vt:lpstr>
      <vt:lpstr>help() — The Built-In Manual</vt:lpstr>
      <vt:lpstr>Using help() Effectively</vt:lpstr>
      <vt:lpstr>When to Use help()</vt:lpstr>
      <vt:lpstr>dir() — Discover What Exists</vt:lpstr>
      <vt:lpstr>Using dir()</vt:lpstr>
      <vt:lpstr>dir() vs help()</vt:lpstr>
      <vt:lpstr>dir(builtins) — The Python Toolbox</vt:lpstr>
      <vt:lpstr>Why builtins Matters</vt:lpstr>
      <vt:lpstr>Common Use Cases</vt:lpstr>
      <vt:lpstr>Best Practices</vt:lpstr>
      <vt:lpstr>Key Takeaways</vt:lpstr>
      <vt:lpstr>Module 2  INTERMEDIATE</vt:lpstr>
      <vt:lpstr>Module 2 — Intermediate</vt:lpstr>
      <vt:lpstr>Clean Code Structure</vt:lpstr>
      <vt:lpstr>Object-Oriented Programming (OOP)</vt:lpstr>
      <vt:lpstr>Why Object-Oriented Programming?</vt:lpstr>
      <vt:lpstr>Pragmatic OOP</vt:lpstr>
      <vt:lpstr>Defining a Class</vt:lpstr>
      <vt:lpstr>Object-Oriented Programming – Classes</vt:lpstr>
      <vt:lpstr>Encapsulation</vt:lpstr>
      <vt:lpstr>Encapsulation &amp; Private Attributes</vt:lpstr>
      <vt:lpstr>Encapsulation in Practice</vt:lpstr>
      <vt:lpstr>Inheritance &amp; Polymorphism</vt:lpstr>
      <vt:lpstr>Polymorphism</vt:lpstr>
      <vt:lpstr>Inheritance &amp; Polymorphism</vt:lpstr>
      <vt:lpstr>super() &amp; Cooperative Multiple Inheritance</vt:lpstr>
      <vt:lpstr>Dunder Methods (When Needed)</vt:lpstr>
      <vt:lpstr>Dunder (Magic) Methods</vt:lpstr>
      <vt:lpstr>Modules &amp; Packages</vt:lpstr>
      <vt:lpstr>Modules – Creating &amp; Importing</vt:lpstr>
      <vt:lpstr>Import Patterns &amp; Aliases</vt:lpstr>
      <vt:lpstr>File I/O Basics</vt:lpstr>
      <vt:lpstr>File I/O – Text &amp; CSV</vt:lpstr>
      <vt:lpstr>File I/O (Production-Safe)</vt:lpstr>
      <vt:lpstr>Error Handling &amp; Context Managers</vt:lpstr>
      <vt:lpstr>Why Error Handling Exists</vt:lpstr>
      <vt:lpstr>What Errors Really Mean</vt:lpstr>
      <vt:lpstr>Two Categories of Errors</vt:lpstr>
      <vt:lpstr>Catch Specific Exceptions </vt:lpstr>
      <vt:lpstr>Anti-Pattern: Blanket Catching</vt:lpstr>
      <vt:lpstr>Correct Pattern: Narrow Catch</vt:lpstr>
      <vt:lpstr>EAFP — The Pythonic Style</vt:lpstr>
      <vt:lpstr>Never Swallow Errors</vt:lpstr>
      <vt:lpstr>Bad vs Good Error Handling</vt:lpstr>
      <vt:lpstr>Three Valid Responses to Errors</vt:lpstr>
      <vt:lpstr>Escalation with Meaning</vt:lpstr>
      <vt:lpstr>When to Catch vs Let Crash</vt:lpstr>
      <vt:lpstr>Best Practices</vt:lpstr>
      <vt:lpstr>Error Boundaries (Enterprise Pattern)</vt:lpstr>
      <vt:lpstr>Exception Translation</vt:lpstr>
      <vt:lpstr>Logging Is Not Optional</vt:lpstr>
      <vt:lpstr>Context Managers = Safety Rails</vt:lpstr>
      <vt:lpstr>Best Practices</vt:lpstr>
      <vt:lpstr>Key Takeaways</vt:lpstr>
      <vt:lpstr>pathlib vs os.path</vt:lpstr>
      <vt:lpstr>pathlib vs os.path</vt:lpstr>
      <vt:lpstr>JSON Serialization</vt:lpstr>
      <vt:lpstr>Mini-Project: Contact Manager</vt:lpstr>
      <vt:lpstr>Enterprise Patterns</vt:lpstr>
      <vt:lpstr>Module 3  ADVANCED</vt:lpstr>
      <vt:lpstr>Module 3 — Advanced</vt:lpstr>
      <vt:lpstr>Type Hinting &amp; Decorators</vt:lpstr>
      <vt:lpstr>Type Hints</vt:lpstr>
      <vt:lpstr>Decorators &amp; Generators</vt:lpstr>
      <vt:lpstr>Decorators</vt:lpstr>
      <vt:lpstr>Decorators – Function Wrappers</vt:lpstr>
      <vt:lpstr>Decorators with Arguments</vt:lpstr>
      <vt:lpstr>Timing &amp; Caching Decorators</vt:lpstr>
      <vt:lpstr>Generators</vt:lpstr>
      <vt:lpstr>Generators – Lazy Iteration</vt:lpstr>
      <vt:lpstr>Reading Giant Files</vt:lpstr>
      <vt:lpstr>Concurrency Matrix</vt:lpstr>
      <vt:lpstr>Concurrency: Choose Wisely</vt:lpstr>
      <vt:lpstr>threading – Download Many Images</vt:lpstr>
      <vt:lpstr>multiprocessing – CPU-bound Pi Monte-Carlo</vt:lpstr>
      <vt:lpstr>asyncio Mental Model</vt:lpstr>
      <vt:lpstr>asyncio – Concurrent HTTP with aiohttp</vt:lpstr>
      <vt:lpstr>Mixing sync ↔ async</vt:lpstr>
      <vt:lpstr>Environments &amp; Dependency Management</vt:lpstr>
      <vt:lpstr>Virtual Environments</vt:lpstr>
      <vt:lpstr>Dependency Management</vt:lpstr>
      <vt:lpstr>Virtual Environments &amp; Packaging</vt:lpstr>
      <vt:lpstr>pyproject.toml</vt:lpstr>
      <vt:lpstr>Linting, Formatting, Testing</vt:lpstr>
      <vt:lpstr>Linting &amp; Formatting</vt:lpstr>
      <vt:lpstr>Testing with pytest</vt:lpstr>
      <vt:lpstr>Type Hints – Gradual Typing</vt:lpstr>
      <vt:lpstr>Rich REPL with ipython + jupyter</vt:lpstr>
      <vt:lpstr>Final Capstone Ideas</vt:lpstr>
      <vt:lpstr>Keep Climbing</vt:lpstr>
      <vt:lpstr>Appendix  Tooling &amp; Eco-system</vt:lpstr>
      <vt:lpstr>Environments &amp; Tooling</vt:lpstr>
      <vt:lpstr>Tooling Expectations</vt:lpstr>
      <vt:lpstr>Appendix — Python Ecosystem</vt:lpstr>
      <vt:lpstr>Learning Path Forward</vt:lpstr>
      <vt:lpstr>Final Advice</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Sean</cp:lastModifiedBy>
  <cp:revision>85</cp:revision>
  <dcterms:created xsi:type="dcterms:W3CDTF">2013-01-27T09:14:16Z</dcterms:created>
  <dcterms:modified xsi:type="dcterms:W3CDTF">2025-12-19T05:18:47Z</dcterms:modified>
  <cp:category/>
</cp:coreProperties>
</file>