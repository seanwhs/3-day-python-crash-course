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2"/>
  </p:notesMasterIdLst>
  <p:sldIdLst>
    <p:sldId id="424" r:id="rId2"/>
    <p:sldId id="425" r:id="rId3"/>
    <p:sldId id="426" r:id="rId4"/>
    <p:sldId id="257" r:id="rId5"/>
    <p:sldId id="427" r:id="rId6"/>
    <p:sldId id="428" r:id="rId7"/>
    <p:sldId id="501" r:id="rId8"/>
    <p:sldId id="493" r:id="rId9"/>
    <p:sldId id="258" r:id="rId10"/>
    <p:sldId id="429" r:id="rId11"/>
    <p:sldId id="430" r:id="rId12"/>
    <p:sldId id="259" r:id="rId13"/>
    <p:sldId id="307" r:id="rId14"/>
    <p:sldId id="260" r:id="rId15"/>
    <p:sldId id="309" r:id="rId16"/>
    <p:sldId id="431" r:id="rId17"/>
    <p:sldId id="321" r:id="rId18"/>
    <p:sldId id="322" r:id="rId19"/>
    <p:sldId id="310" r:id="rId20"/>
    <p:sldId id="267" r:id="rId21"/>
    <p:sldId id="311" r:id="rId22"/>
    <p:sldId id="432" r:id="rId23"/>
    <p:sldId id="312" r:id="rId24"/>
    <p:sldId id="456" r:id="rId25"/>
    <p:sldId id="457" r:id="rId26"/>
    <p:sldId id="502" r:id="rId27"/>
    <p:sldId id="458" r:id="rId28"/>
    <p:sldId id="459" r:id="rId29"/>
    <p:sldId id="460" r:id="rId30"/>
    <p:sldId id="461" r:id="rId31"/>
    <p:sldId id="503" r:id="rId32"/>
    <p:sldId id="462" r:id="rId33"/>
    <p:sldId id="463" r:id="rId34"/>
    <p:sldId id="464" r:id="rId35"/>
    <p:sldId id="465" r:id="rId36"/>
    <p:sldId id="466" r:id="rId37"/>
    <p:sldId id="467" r:id="rId38"/>
    <p:sldId id="468" r:id="rId39"/>
    <p:sldId id="469" r:id="rId40"/>
    <p:sldId id="470" r:id="rId41"/>
    <p:sldId id="471" r:id="rId42"/>
    <p:sldId id="472" r:id="rId43"/>
    <p:sldId id="473" r:id="rId44"/>
    <p:sldId id="474" r:id="rId45"/>
    <p:sldId id="262" r:id="rId46"/>
    <p:sldId id="378" r:id="rId47"/>
    <p:sldId id="379" r:id="rId48"/>
    <p:sldId id="270" r:id="rId49"/>
    <p:sldId id="380" r:id="rId50"/>
    <p:sldId id="381" r:id="rId51"/>
    <p:sldId id="382" r:id="rId52"/>
    <p:sldId id="383" r:id="rId53"/>
    <p:sldId id="384" r:id="rId54"/>
    <p:sldId id="385" r:id="rId55"/>
    <p:sldId id="386" r:id="rId56"/>
    <p:sldId id="387" r:id="rId57"/>
    <p:sldId id="388" r:id="rId58"/>
    <p:sldId id="389" r:id="rId59"/>
    <p:sldId id="390" r:id="rId60"/>
    <p:sldId id="392" r:id="rId61"/>
    <p:sldId id="391" r:id="rId62"/>
    <p:sldId id="393" r:id="rId63"/>
    <p:sldId id="263" r:id="rId64"/>
    <p:sldId id="394" r:id="rId65"/>
    <p:sldId id="395" r:id="rId66"/>
    <p:sldId id="396" r:id="rId67"/>
    <p:sldId id="397" r:id="rId68"/>
    <p:sldId id="433" r:id="rId69"/>
    <p:sldId id="398" r:id="rId70"/>
    <p:sldId id="399" r:id="rId71"/>
    <p:sldId id="400" r:id="rId72"/>
    <p:sldId id="401" r:id="rId73"/>
    <p:sldId id="504" r:id="rId74"/>
    <p:sldId id="402" r:id="rId75"/>
    <p:sldId id="403" r:id="rId76"/>
    <p:sldId id="404" r:id="rId77"/>
    <p:sldId id="405" r:id="rId78"/>
    <p:sldId id="407" r:id="rId79"/>
    <p:sldId id="494" r:id="rId80"/>
    <p:sldId id="408" r:id="rId81"/>
    <p:sldId id="409" r:id="rId82"/>
    <p:sldId id="406" r:id="rId83"/>
    <p:sldId id="264" r:id="rId84"/>
    <p:sldId id="495" r:id="rId85"/>
    <p:sldId id="410" r:id="rId86"/>
    <p:sldId id="411" r:id="rId87"/>
    <p:sldId id="412" r:id="rId88"/>
    <p:sldId id="413" r:id="rId89"/>
    <p:sldId id="434" r:id="rId90"/>
    <p:sldId id="415" r:id="rId91"/>
    <p:sldId id="416" r:id="rId92"/>
    <p:sldId id="417" r:id="rId93"/>
    <p:sldId id="418" r:id="rId94"/>
    <p:sldId id="419" r:id="rId95"/>
    <p:sldId id="420" r:id="rId96"/>
    <p:sldId id="421" r:id="rId97"/>
    <p:sldId id="422" r:id="rId98"/>
    <p:sldId id="423" r:id="rId99"/>
    <p:sldId id="265" r:id="rId100"/>
    <p:sldId id="313" r:id="rId101"/>
    <p:sldId id="314" r:id="rId102"/>
    <p:sldId id="315" r:id="rId103"/>
    <p:sldId id="316" r:id="rId104"/>
    <p:sldId id="317" r:id="rId105"/>
    <p:sldId id="318" r:id="rId106"/>
    <p:sldId id="319" r:id="rId107"/>
    <p:sldId id="320" r:id="rId108"/>
    <p:sldId id="323" r:id="rId109"/>
    <p:sldId id="324" r:id="rId110"/>
    <p:sldId id="325" r:id="rId111"/>
    <p:sldId id="326" r:id="rId112"/>
    <p:sldId id="435" r:id="rId113"/>
    <p:sldId id="328" r:id="rId114"/>
    <p:sldId id="329" r:id="rId115"/>
    <p:sldId id="330" r:id="rId116"/>
    <p:sldId id="331" r:id="rId117"/>
    <p:sldId id="332" r:id="rId118"/>
    <p:sldId id="333" r:id="rId119"/>
    <p:sldId id="475" r:id="rId120"/>
    <p:sldId id="476" r:id="rId121"/>
    <p:sldId id="505" r:id="rId122"/>
    <p:sldId id="477" r:id="rId123"/>
    <p:sldId id="478" r:id="rId124"/>
    <p:sldId id="479" r:id="rId125"/>
    <p:sldId id="480" r:id="rId126"/>
    <p:sldId id="481" r:id="rId127"/>
    <p:sldId id="482" r:id="rId128"/>
    <p:sldId id="483" r:id="rId129"/>
    <p:sldId id="484" r:id="rId130"/>
    <p:sldId id="485" r:id="rId131"/>
    <p:sldId id="486" r:id="rId132"/>
    <p:sldId id="487" r:id="rId133"/>
    <p:sldId id="488" r:id="rId134"/>
    <p:sldId id="489" r:id="rId135"/>
    <p:sldId id="490" r:id="rId136"/>
    <p:sldId id="491" r:id="rId137"/>
    <p:sldId id="492" r:id="rId138"/>
    <p:sldId id="266" r:id="rId139"/>
    <p:sldId id="344" r:id="rId140"/>
    <p:sldId id="345" r:id="rId141"/>
    <p:sldId id="346" r:id="rId142"/>
    <p:sldId id="347" r:id="rId143"/>
    <p:sldId id="348" r:id="rId144"/>
    <p:sldId id="349" r:id="rId145"/>
    <p:sldId id="350" r:id="rId146"/>
    <p:sldId id="351" r:id="rId147"/>
    <p:sldId id="352" r:id="rId148"/>
    <p:sldId id="436" r:id="rId149"/>
    <p:sldId id="334" r:id="rId150"/>
    <p:sldId id="335" r:id="rId151"/>
    <p:sldId id="336" r:id="rId152"/>
    <p:sldId id="337" r:id="rId153"/>
    <p:sldId id="338" r:id="rId154"/>
    <p:sldId id="339" r:id="rId155"/>
    <p:sldId id="340" r:id="rId156"/>
    <p:sldId id="341" r:id="rId157"/>
    <p:sldId id="342" r:id="rId158"/>
    <p:sldId id="343" r:id="rId159"/>
    <p:sldId id="268" r:id="rId160"/>
    <p:sldId id="353" r:id="rId161"/>
    <p:sldId id="354" r:id="rId162"/>
    <p:sldId id="269" r:id="rId163"/>
    <p:sldId id="355" r:id="rId164"/>
    <p:sldId id="356" r:id="rId165"/>
    <p:sldId id="506" r:id="rId166"/>
    <p:sldId id="357" r:id="rId167"/>
    <p:sldId id="358" r:id="rId168"/>
    <p:sldId id="359" r:id="rId169"/>
    <p:sldId id="360" r:id="rId170"/>
    <p:sldId id="362" r:id="rId171"/>
    <p:sldId id="361" r:id="rId172"/>
    <p:sldId id="363" r:id="rId173"/>
    <p:sldId id="496" r:id="rId174"/>
    <p:sldId id="364" r:id="rId175"/>
    <p:sldId id="365" r:id="rId176"/>
    <p:sldId id="370" r:id="rId177"/>
    <p:sldId id="371" r:id="rId178"/>
    <p:sldId id="372" r:id="rId179"/>
    <p:sldId id="373" r:id="rId180"/>
    <p:sldId id="374" r:id="rId181"/>
    <p:sldId id="375" r:id="rId182"/>
    <p:sldId id="376" r:id="rId183"/>
    <p:sldId id="366" r:id="rId184"/>
    <p:sldId id="367" r:id="rId185"/>
    <p:sldId id="368" r:id="rId186"/>
    <p:sldId id="369" r:id="rId187"/>
    <p:sldId id="271" r:id="rId188"/>
    <p:sldId id="272" r:id="rId189"/>
    <p:sldId id="273" r:id="rId190"/>
    <p:sldId id="553" r:id="rId191"/>
    <p:sldId id="554" r:id="rId192"/>
    <p:sldId id="555" r:id="rId193"/>
    <p:sldId id="556" r:id="rId194"/>
    <p:sldId id="557" r:id="rId195"/>
    <p:sldId id="558" r:id="rId196"/>
    <p:sldId id="559" r:id="rId197"/>
    <p:sldId id="560" r:id="rId198"/>
    <p:sldId id="561" r:id="rId199"/>
    <p:sldId id="563" r:id="rId200"/>
    <p:sldId id="564" r:id="rId201"/>
    <p:sldId id="565" r:id="rId202"/>
    <p:sldId id="274" r:id="rId203"/>
    <p:sldId id="541" r:id="rId204"/>
    <p:sldId id="542" r:id="rId205"/>
    <p:sldId id="543" r:id="rId206"/>
    <p:sldId id="544" r:id="rId207"/>
    <p:sldId id="545" r:id="rId208"/>
    <p:sldId id="546" r:id="rId209"/>
    <p:sldId id="547" r:id="rId210"/>
    <p:sldId id="548" r:id="rId211"/>
    <p:sldId id="549" r:id="rId212"/>
    <p:sldId id="550" r:id="rId213"/>
    <p:sldId id="551" r:id="rId214"/>
    <p:sldId id="552" r:id="rId215"/>
    <p:sldId id="275" r:id="rId216"/>
    <p:sldId id="437" r:id="rId217"/>
    <p:sldId id="507" r:id="rId218"/>
    <p:sldId id="497" r:id="rId219"/>
    <p:sldId id="438" r:id="rId220"/>
    <p:sldId id="508" r:id="rId221"/>
    <p:sldId id="439" r:id="rId222"/>
    <p:sldId id="276" r:id="rId223"/>
    <p:sldId id="440" r:id="rId224"/>
    <p:sldId id="277" r:id="rId225"/>
    <p:sldId id="509" r:id="rId226"/>
    <p:sldId id="441" r:id="rId227"/>
    <p:sldId id="510" r:id="rId228"/>
    <p:sldId id="278" r:id="rId229"/>
    <p:sldId id="279" r:id="rId230"/>
    <p:sldId id="442" r:id="rId231"/>
    <p:sldId id="280" r:id="rId232"/>
    <p:sldId id="443" r:id="rId233"/>
    <p:sldId id="281" r:id="rId234"/>
    <p:sldId id="282" r:id="rId235"/>
    <p:sldId id="444" r:id="rId236"/>
    <p:sldId id="283" r:id="rId237"/>
    <p:sldId id="511" r:id="rId238"/>
    <p:sldId id="500" r:id="rId239"/>
    <p:sldId id="517" r:id="rId240"/>
    <p:sldId id="525" r:id="rId241"/>
    <p:sldId id="533" r:id="rId242"/>
    <p:sldId id="518" r:id="rId243"/>
    <p:sldId id="534" r:id="rId244"/>
    <p:sldId id="535" r:id="rId245"/>
    <p:sldId id="519" r:id="rId246"/>
    <p:sldId id="520" r:id="rId247"/>
    <p:sldId id="526" r:id="rId248"/>
    <p:sldId id="527" r:id="rId249"/>
    <p:sldId id="537" r:id="rId250"/>
    <p:sldId id="521" r:id="rId251"/>
    <p:sldId id="522" r:id="rId252"/>
    <p:sldId id="528" r:id="rId253"/>
    <p:sldId id="529" r:id="rId254"/>
    <p:sldId id="530" r:id="rId255"/>
    <p:sldId id="531" r:id="rId256"/>
    <p:sldId id="532" r:id="rId257"/>
    <p:sldId id="523" r:id="rId258"/>
    <p:sldId id="445" r:id="rId259"/>
    <p:sldId id="284" r:id="rId260"/>
    <p:sldId id="285" r:id="rId261"/>
    <p:sldId id="286" r:id="rId262"/>
    <p:sldId id="513" r:id="rId263"/>
    <p:sldId id="287" r:id="rId264"/>
    <p:sldId id="446" r:id="rId265"/>
    <p:sldId id="498" r:id="rId266"/>
    <p:sldId id="516" r:id="rId267"/>
    <p:sldId id="538" r:id="rId268"/>
    <p:sldId id="447" r:id="rId269"/>
    <p:sldId id="288" r:id="rId270"/>
    <p:sldId id="289" r:id="rId271"/>
    <p:sldId id="290" r:id="rId272"/>
    <p:sldId id="448" r:id="rId273"/>
    <p:sldId id="291" r:id="rId274"/>
    <p:sldId id="292" r:id="rId275"/>
    <p:sldId id="539" r:id="rId276"/>
    <p:sldId id="449" r:id="rId277"/>
    <p:sldId id="294" r:id="rId278"/>
    <p:sldId id="295" r:id="rId279"/>
    <p:sldId id="451" r:id="rId280"/>
    <p:sldId id="296" r:id="rId281"/>
    <p:sldId id="297" r:id="rId282"/>
    <p:sldId id="499" r:id="rId283"/>
    <p:sldId id="450" r:id="rId284"/>
    <p:sldId id="514" r:id="rId285"/>
    <p:sldId id="298" r:id="rId286"/>
    <p:sldId id="299" r:id="rId287"/>
    <p:sldId id="293" r:id="rId288"/>
    <p:sldId id="300" r:id="rId289"/>
    <p:sldId id="301" r:id="rId290"/>
    <p:sldId id="302" r:id="rId291"/>
    <p:sldId id="303" r:id="rId292"/>
    <p:sldId id="304" r:id="rId293"/>
    <p:sldId id="305" r:id="rId294"/>
    <p:sldId id="306" r:id="rId295"/>
    <p:sldId id="540" r:id="rId296"/>
    <p:sldId id="515" r:id="rId297"/>
    <p:sldId id="452" r:id="rId298"/>
    <p:sldId id="453" r:id="rId299"/>
    <p:sldId id="454" r:id="rId300"/>
    <p:sldId id="455" r:id="rId30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viewProps" Target="view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305"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presProps" Target="presProp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19/12/2025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12</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117</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118</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120</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122</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123</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124</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125</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126</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127</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128</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129</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131</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140</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141</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142</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143</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144</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149</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151</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152</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153</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166</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169</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171</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172</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174</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175</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177</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178</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179</a:t>
            </a:fld>
            <a:endParaRPr lang="en-SG"/>
          </a:p>
        </p:txBody>
      </p:sp>
    </p:spTree>
    <p:extLst>
      <p:ext uri="{BB962C8B-B14F-4D97-AF65-F5344CB8AC3E}">
        <p14:creationId xmlns:p14="http://schemas.microsoft.com/office/powerpoint/2010/main" val="30395599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E917-B92F-F2F3-3E25-78CD6A19C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4CDC-FD55-0810-DB7B-11E708D0E3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B31B0-9E52-715B-FBE7-6A24D2515A7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D328ACB-2853-CCC0-F61C-0A2B6FE1EFF4}"/>
              </a:ext>
            </a:extLst>
          </p:cNvPr>
          <p:cNvSpPr>
            <a:spLocks noGrp="1"/>
          </p:cNvSpPr>
          <p:nvPr>
            <p:ph type="sldNum" sz="quarter" idx="5"/>
          </p:nvPr>
        </p:nvSpPr>
        <p:spPr/>
        <p:txBody>
          <a:bodyPr/>
          <a:lstStyle/>
          <a:p>
            <a:fld id="{4F57C094-21CE-47C2-B85E-15CC2B32E4F0}" type="slidenum">
              <a:rPr lang="en-SG" smtClean="0"/>
              <a:t>192</a:t>
            </a:fld>
            <a:endParaRPr lang="en-SG"/>
          </a:p>
        </p:txBody>
      </p:sp>
    </p:spTree>
    <p:extLst>
      <p:ext uri="{BB962C8B-B14F-4D97-AF65-F5344CB8AC3E}">
        <p14:creationId xmlns:p14="http://schemas.microsoft.com/office/powerpoint/2010/main" val="29772079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4FEC-27C1-230E-2EA8-3AE1329D6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5B0-2D7C-2D53-EC7D-8CA349990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B5D3E-A53D-98DB-E3E5-8325EFF7280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AB20166-6EC4-BEF7-1B2D-167E17AFDDB4}"/>
              </a:ext>
            </a:extLst>
          </p:cNvPr>
          <p:cNvSpPr>
            <a:spLocks noGrp="1"/>
          </p:cNvSpPr>
          <p:nvPr>
            <p:ph type="sldNum" sz="quarter" idx="5"/>
          </p:nvPr>
        </p:nvSpPr>
        <p:spPr/>
        <p:txBody>
          <a:bodyPr/>
          <a:lstStyle/>
          <a:p>
            <a:fld id="{4F57C094-21CE-47C2-B85E-15CC2B32E4F0}" type="slidenum">
              <a:rPr lang="en-SG" smtClean="0"/>
              <a:t>193</a:t>
            </a:fld>
            <a:endParaRPr lang="en-SG"/>
          </a:p>
        </p:txBody>
      </p:sp>
    </p:spTree>
    <p:extLst>
      <p:ext uri="{BB962C8B-B14F-4D97-AF65-F5344CB8AC3E}">
        <p14:creationId xmlns:p14="http://schemas.microsoft.com/office/powerpoint/2010/main" val="28252237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4CAEE-EA6B-9518-0D11-74C3C3E8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6FB7B-DCFF-4710-05EA-EE09DDB9F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E6AC4B-6160-3E28-C4F5-AD13676280F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7C93671-E2ED-D925-BE59-A7E26712B12E}"/>
              </a:ext>
            </a:extLst>
          </p:cNvPr>
          <p:cNvSpPr>
            <a:spLocks noGrp="1"/>
          </p:cNvSpPr>
          <p:nvPr>
            <p:ph type="sldNum" sz="quarter" idx="5"/>
          </p:nvPr>
        </p:nvSpPr>
        <p:spPr/>
        <p:txBody>
          <a:bodyPr/>
          <a:lstStyle/>
          <a:p>
            <a:fld id="{4F57C094-21CE-47C2-B85E-15CC2B32E4F0}" type="slidenum">
              <a:rPr lang="en-SG" smtClean="0"/>
              <a:t>194</a:t>
            </a:fld>
            <a:endParaRPr lang="en-SG"/>
          </a:p>
        </p:txBody>
      </p:sp>
    </p:spTree>
    <p:extLst>
      <p:ext uri="{BB962C8B-B14F-4D97-AF65-F5344CB8AC3E}">
        <p14:creationId xmlns:p14="http://schemas.microsoft.com/office/powerpoint/2010/main" val="32375119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D4278-28CA-62FD-89E2-4842FE6EF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49ADC-F530-A930-56BB-6EC55FE0DD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30ADE-E9A1-757F-23D2-E1A2ED66930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BE69D1C7-E74A-AD72-28D6-7EAD40D5CECA}"/>
              </a:ext>
            </a:extLst>
          </p:cNvPr>
          <p:cNvSpPr>
            <a:spLocks noGrp="1"/>
          </p:cNvSpPr>
          <p:nvPr>
            <p:ph type="sldNum" sz="quarter" idx="5"/>
          </p:nvPr>
        </p:nvSpPr>
        <p:spPr/>
        <p:txBody>
          <a:bodyPr/>
          <a:lstStyle/>
          <a:p>
            <a:fld id="{4F57C094-21CE-47C2-B85E-15CC2B32E4F0}" type="slidenum">
              <a:rPr lang="en-SG" smtClean="0"/>
              <a:t>195</a:t>
            </a:fld>
            <a:endParaRPr lang="en-SG"/>
          </a:p>
        </p:txBody>
      </p:sp>
    </p:spTree>
    <p:extLst>
      <p:ext uri="{BB962C8B-B14F-4D97-AF65-F5344CB8AC3E}">
        <p14:creationId xmlns:p14="http://schemas.microsoft.com/office/powerpoint/2010/main" val="35066446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2E1D-E328-4123-8454-0EF607E63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553EE-30F4-945A-77FE-2DD26BAD7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38A6B-6F10-D20B-B7BC-13D112D5CB5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BAF98A4-AA5E-DA9B-F4F4-DB99BD9A8C36}"/>
              </a:ext>
            </a:extLst>
          </p:cNvPr>
          <p:cNvSpPr>
            <a:spLocks noGrp="1"/>
          </p:cNvSpPr>
          <p:nvPr>
            <p:ph type="sldNum" sz="quarter" idx="5"/>
          </p:nvPr>
        </p:nvSpPr>
        <p:spPr/>
        <p:txBody>
          <a:bodyPr/>
          <a:lstStyle/>
          <a:p>
            <a:fld id="{4F57C094-21CE-47C2-B85E-15CC2B32E4F0}" type="slidenum">
              <a:rPr lang="en-SG" smtClean="0"/>
              <a:t>199</a:t>
            </a:fld>
            <a:endParaRPr lang="en-SG"/>
          </a:p>
        </p:txBody>
      </p:sp>
    </p:spTree>
    <p:extLst>
      <p:ext uri="{BB962C8B-B14F-4D97-AF65-F5344CB8AC3E}">
        <p14:creationId xmlns:p14="http://schemas.microsoft.com/office/powerpoint/2010/main" val="16496126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2EF-1694-2E43-005F-25A4DEF25C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7F2EA-5B38-57F1-58D6-36D755A49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7B254-C091-776B-32AA-BD41169F42C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63C847-7B67-5FC9-347A-9DF8D29A673D}"/>
              </a:ext>
            </a:extLst>
          </p:cNvPr>
          <p:cNvSpPr>
            <a:spLocks noGrp="1"/>
          </p:cNvSpPr>
          <p:nvPr>
            <p:ph type="sldNum" sz="quarter" idx="5"/>
          </p:nvPr>
        </p:nvSpPr>
        <p:spPr/>
        <p:txBody>
          <a:bodyPr/>
          <a:lstStyle/>
          <a:p>
            <a:fld id="{4F57C094-21CE-47C2-B85E-15CC2B32E4F0}" type="slidenum">
              <a:rPr lang="en-SG" smtClean="0"/>
              <a:t>205</a:t>
            </a:fld>
            <a:endParaRPr lang="en-SG"/>
          </a:p>
        </p:txBody>
      </p:sp>
    </p:spTree>
    <p:extLst>
      <p:ext uri="{BB962C8B-B14F-4D97-AF65-F5344CB8AC3E}">
        <p14:creationId xmlns:p14="http://schemas.microsoft.com/office/powerpoint/2010/main" val="3021329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2860-AE90-59FC-863C-F5C38EBC55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6738A-95AA-3750-1245-03AB273303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5C73F-9356-A1D4-FF70-AB0D67A9907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4D92FB9-21C2-32F4-6340-D7D749500703}"/>
              </a:ext>
            </a:extLst>
          </p:cNvPr>
          <p:cNvSpPr>
            <a:spLocks noGrp="1"/>
          </p:cNvSpPr>
          <p:nvPr>
            <p:ph type="sldNum" sz="quarter" idx="5"/>
          </p:nvPr>
        </p:nvSpPr>
        <p:spPr/>
        <p:txBody>
          <a:bodyPr/>
          <a:lstStyle/>
          <a:p>
            <a:fld id="{4F57C094-21CE-47C2-B85E-15CC2B32E4F0}" type="slidenum">
              <a:rPr lang="en-SG" smtClean="0"/>
              <a:t>208</a:t>
            </a:fld>
            <a:endParaRPr lang="en-SG"/>
          </a:p>
        </p:txBody>
      </p:sp>
    </p:spTree>
    <p:extLst>
      <p:ext uri="{BB962C8B-B14F-4D97-AF65-F5344CB8AC3E}">
        <p14:creationId xmlns:p14="http://schemas.microsoft.com/office/powerpoint/2010/main" val="39234743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217</a:t>
            </a:fld>
            <a:endParaRPr lang="en-SG"/>
          </a:p>
        </p:txBody>
      </p:sp>
    </p:spTree>
    <p:extLst>
      <p:ext uri="{BB962C8B-B14F-4D97-AF65-F5344CB8AC3E}">
        <p14:creationId xmlns:p14="http://schemas.microsoft.com/office/powerpoint/2010/main" val="1677635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a:xfrm>
            <a:off x="457200" y="1600200"/>
            <a:ext cx="9080500" cy="4525963"/>
          </a:xfrm>
        </p:spPr>
        <p:txBody>
          <a:bodyPr/>
          <a:lstStyle/>
          <a:p>
            <a:r>
              <a:rPr dirty="0"/>
              <a:t>Hands-on, example-driven Python training</a:t>
            </a:r>
          </a:p>
          <a:p>
            <a:r>
              <a:rPr dirty="0"/>
              <a:t>Focus on real mental models, not just syntax</a:t>
            </a:r>
          </a:p>
          <a:p>
            <a:r>
              <a:rPr dirty="0"/>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p:txBody>
          <a:bodyPr/>
          <a:lstStyle/>
          <a:p>
            <a:r>
              <a:t>Module 1 – Foundations: Core language &amp; thinking in Python</a:t>
            </a:r>
          </a:p>
          <a:p>
            <a:r>
              <a:t>Module 2 – Intermediate: OOP, modules, files, structure</a:t>
            </a:r>
          </a:p>
          <a:p>
            <a:r>
              <a:t>Module 3 – Advanced: Performance, async, tooling</a:t>
            </a:r>
          </a:p>
          <a:p>
            <a:r>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1650-6BF8-66F2-B486-E0858DDD5B45}"/>
              </a:ext>
            </a:extLst>
          </p:cNvPr>
          <p:cNvSpPr>
            <a:spLocks noGrp="1"/>
          </p:cNvSpPr>
          <p:nvPr>
            <p:ph type="title"/>
          </p:nvPr>
        </p:nvSpPr>
        <p:spPr/>
        <p:txBody>
          <a:bodyPr>
            <a:normAutofit/>
          </a:bodyPr>
          <a:lstStyle/>
          <a:p>
            <a:r>
              <a:rPr lang="en-US" dirty="0"/>
              <a:t>How Python Really Runs</a:t>
            </a:r>
            <a:endParaRPr lang="en-SG" dirty="0"/>
          </a:p>
        </p:txBody>
      </p:sp>
      <p:sp>
        <p:nvSpPr>
          <p:cNvPr id="3" name="Content Placeholder 2">
            <a:extLst>
              <a:ext uri="{FF2B5EF4-FFF2-40B4-BE49-F238E27FC236}">
                <a16:creationId xmlns:a16="http://schemas.microsoft.com/office/drawing/2014/main" id="{3EAEEAA0-5B6B-EC0F-FE8C-076B7BF5907C}"/>
              </a:ext>
            </a:extLst>
          </p:cNvPr>
          <p:cNvSpPr>
            <a:spLocks noGrp="1"/>
          </p:cNvSpPr>
          <p:nvPr>
            <p:ph idx="1"/>
          </p:nvPr>
        </p:nvSpPr>
        <p:spPr>
          <a:xfrm>
            <a:off x="457200" y="1600200"/>
            <a:ext cx="11239500" cy="4525963"/>
          </a:xfrm>
        </p:spPr>
        <p:txBody>
          <a:bodyPr>
            <a:normAutofit/>
          </a:bodyPr>
          <a:lstStyle/>
          <a:p>
            <a:r>
              <a:rPr lang="en-US" dirty="0"/>
              <a:t>Source code is compiled to </a:t>
            </a:r>
            <a:r>
              <a:rPr lang="en-US" b="1" dirty="0"/>
              <a:t>bytecode</a:t>
            </a:r>
            <a:endParaRPr lang="en-US" dirty="0"/>
          </a:p>
          <a:p>
            <a:r>
              <a:rPr lang="en-US" dirty="0"/>
              <a:t>Bytecode runs on the </a:t>
            </a:r>
            <a:r>
              <a:rPr lang="en-US" b="1" dirty="0"/>
              <a:t>Python Virtual Machine (PVM)</a:t>
            </a:r>
          </a:p>
          <a:p>
            <a:pPr marL="0" indent="0">
              <a:buNone/>
            </a:pPr>
            <a:r>
              <a:rPr lang="en-US" dirty="0"/>
              <a:t>Source → bytecode → Python Virtual Machine</a:t>
            </a:r>
          </a:p>
          <a:p>
            <a:r>
              <a:rPr lang="en-US" dirty="0"/>
              <a:t>Everything is an object; variables are references</a:t>
            </a:r>
          </a:p>
          <a:p>
            <a:r>
              <a:rPr lang="en-US" dirty="0"/>
              <a:t>Execution is </a:t>
            </a:r>
            <a:r>
              <a:rPr lang="en-US" b="1" dirty="0"/>
              <a:t>top-down, explicit, and predictable</a:t>
            </a:r>
            <a:endParaRPr lang="en-US" dirty="0"/>
          </a:p>
          <a:p>
            <a:r>
              <a:rPr lang="en-US" dirty="0"/>
              <a:t>Performance issues come from </a:t>
            </a:r>
            <a:r>
              <a:rPr lang="en-US" b="1" dirty="0"/>
              <a:t>design choices</a:t>
            </a:r>
            <a:r>
              <a:rPr lang="en-US" dirty="0"/>
              <a:t>, not syntax</a:t>
            </a:r>
          </a:p>
          <a:p>
            <a:r>
              <a:rPr lang="en-US" b="1" dirty="0"/>
              <a:t>Mental model:</a:t>
            </a:r>
            <a:r>
              <a:rPr lang="en-US" dirty="0"/>
              <a:t> Python is </a:t>
            </a:r>
            <a:r>
              <a:rPr lang="en-US" i="1" dirty="0"/>
              <a:t>interpreted</a:t>
            </a:r>
            <a:r>
              <a:rPr lang="en-US" dirty="0"/>
              <a:t>, but not </a:t>
            </a:r>
            <a:r>
              <a:rPr lang="en-US" i="1" dirty="0"/>
              <a:t>uncompiled</a:t>
            </a:r>
            <a:endParaRPr lang="en-US" dirty="0"/>
          </a:p>
          <a:p>
            <a:endParaRPr lang="en-SG" dirty="0"/>
          </a:p>
        </p:txBody>
      </p:sp>
    </p:spTree>
    <p:extLst>
      <p:ext uri="{BB962C8B-B14F-4D97-AF65-F5344CB8AC3E}">
        <p14:creationId xmlns:p14="http://schemas.microsoft.com/office/powerpoint/2010/main" val="1917708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6CD-12B8-DB88-8753-84AF54434805}"/>
              </a:ext>
            </a:extLst>
          </p:cNvPr>
          <p:cNvSpPr>
            <a:spLocks noGrp="1"/>
          </p:cNvSpPr>
          <p:nvPr>
            <p:ph type="title"/>
          </p:nvPr>
        </p:nvSpPr>
        <p:spPr/>
        <p:txBody>
          <a:bodyPr/>
          <a:lstStyle/>
          <a:p>
            <a:r>
              <a:rPr lang="en-US" b="1" dirty="0"/>
              <a:t>The Pythonic Philosophy</a:t>
            </a:r>
            <a:endParaRPr lang="en-SG" dirty="0"/>
          </a:p>
        </p:txBody>
      </p:sp>
      <p:sp>
        <p:nvSpPr>
          <p:cNvPr id="3" name="Content Placeholder 2">
            <a:extLst>
              <a:ext uri="{FF2B5EF4-FFF2-40B4-BE49-F238E27FC236}">
                <a16:creationId xmlns:a16="http://schemas.microsoft.com/office/drawing/2014/main" id="{7DBF055D-5F73-E9B7-4399-E8F1E9E487E7}"/>
              </a:ext>
            </a:extLst>
          </p:cNvPr>
          <p:cNvSpPr>
            <a:spLocks noGrp="1"/>
          </p:cNvSpPr>
          <p:nvPr>
            <p:ph idx="1"/>
          </p:nvPr>
        </p:nvSpPr>
        <p:spPr/>
        <p:txBody>
          <a:bodyPr>
            <a:normAutofit fontScale="92500"/>
          </a:bodyPr>
          <a:lstStyle/>
          <a:p>
            <a:r>
              <a:rPr lang="en-US" b="1" dirty="0"/>
              <a:t>The Zen of Python (PEP 20):</a:t>
            </a:r>
            <a:r>
              <a:rPr lang="en-US" dirty="0"/>
              <a:t> "Explicit is better than implicit" and "Simple is better than complex."</a:t>
            </a:r>
          </a:p>
          <a:p>
            <a:r>
              <a:rPr lang="en-US" b="1" dirty="0"/>
              <a:t>Interpreted Nature:</a:t>
            </a:r>
            <a:r>
              <a:rPr lang="en-US" dirty="0"/>
              <a:t> Python code is compiled into </a:t>
            </a:r>
            <a:r>
              <a:rPr lang="en-US" b="1" dirty="0"/>
              <a:t>bytecode</a:t>
            </a:r>
            <a:r>
              <a:rPr lang="en-US" dirty="0"/>
              <a:t> and executed by the Python Virtual Machine (PVM).</a:t>
            </a:r>
          </a:p>
          <a:p>
            <a:r>
              <a:rPr lang="en-US" b="1" dirty="0"/>
              <a:t>Strong, Dynamic Typing:</a:t>
            </a:r>
            <a:r>
              <a:rPr lang="en-US" dirty="0"/>
              <a:t> Types are enforced at runtime, but variables can change type (though this should be used cautiously in engineering).</a:t>
            </a:r>
          </a:p>
          <a:p>
            <a:endParaRPr lang="en-SG" dirty="0"/>
          </a:p>
        </p:txBody>
      </p:sp>
    </p:spTree>
    <p:extLst>
      <p:ext uri="{BB962C8B-B14F-4D97-AF65-F5344CB8AC3E}">
        <p14:creationId xmlns:p14="http://schemas.microsoft.com/office/powerpoint/2010/main" val="1098652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24041"/>
            <a:ext cx="5524500" cy="1348061"/>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do not store values</a:t>
            </a:r>
          </a:p>
          <a:p>
            <a:r>
              <a:rPr lang="en-US" sz="2400" dirty="0"/>
              <a:t>They refer to objects in memory</a:t>
            </a:r>
          </a:p>
          <a:p>
            <a:r>
              <a:rPr lang="en-US" sz="2400" dirty="0"/>
              <a:t>Assignment never copies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094412"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562100" y="3285734"/>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
        <p:nvSpPr>
          <p:cNvPr id="3" name="Rectangle 1">
            <a:extLst>
              <a:ext uri="{FF2B5EF4-FFF2-40B4-BE49-F238E27FC236}">
                <a16:creationId xmlns:a16="http://schemas.microsoft.com/office/drawing/2014/main" id="{9E6EBE4E-876C-A284-C1CA-C8093A30751C}"/>
              </a:ext>
            </a:extLst>
          </p:cNvPr>
          <p:cNvSpPr txBox="1">
            <a:spLocks noChangeArrowheads="1"/>
          </p:cNvSpPr>
          <p:nvPr/>
        </p:nvSpPr>
        <p:spPr bwMode="auto">
          <a:xfrm>
            <a:off x="368299" y="4500075"/>
            <a:ext cx="5524500" cy="1717393"/>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400" b="1" dirty="0"/>
              <a:t>Why this matters</a:t>
            </a:r>
            <a:endParaRPr lang="en-US" sz="2400" dirty="0"/>
          </a:p>
          <a:p>
            <a:r>
              <a:rPr lang="en-US" sz="2400" dirty="0"/>
              <a:t>Shared references cause hidden bugs</a:t>
            </a:r>
          </a:p>
          <a:p>
            <a:r>
              <a:rPr lang="en-US" sz="2400" dirty="0"/>
              <a:t>Mutation vs reassignment is a critical distinction</a:t>
            </a:r>
          </a:p>
        </p:txBody>
      </p:sp>
    </p:spTree>
    <p:extLst>
      <p:ext uri="{BB962C8B-B14F-4D97-AF65-F5344CB8AC3E}">
        <p14:creationId xmlns:p14="http://schemas.microsoft.com/office/powerpoint/2010/main" val="12834070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a:xfrm>
            <a:off x="457200" y="1600200"/>
            <a:ext cx="11188700" cy="4525963"/>
          </a:xfrm>
        </p:spPr>
        <p:txBody>
          <a:bodyPr/>
          <a:lstStyle/>
          <a:p>
            <a:r>
              <a:rPr lang="en-US" b="1" dirty="0"/>
              <a:t>Mutation</a:t>
            </a:r>
            <a:r>
              <a:rPr lang="en-US" dirty="0"/>
              <a:t> changes the object</a:t>
            </a:r>
          </a:p>
          <a:p>
            <a:r>
              <a:rPr lang="en-US" b="1" dirty="0"/>
              <a:t>Reassignment</a:t>
            </a:r>
            <a:r>
              <a:rPr lang="en-US" dirty="0"/>
              <a:t> changes the reference</a:t>
            </a:r>
          </a:p>
          <a:p>
            <a:r>
              <a:rPr lang="en-US" dirty="0"/>
              <a:t>Mutable objects share changes</a:t>
            </a:r>
          </a:p>
          <a:p>
            <a:r>
              <a:rPr lang="en-US" dirty="0"/>
              <a:t>Immutable objects create new ones</a:t>
            </a:r>
          </a:p>
          <a:p>
            <a:pPr marL="0" indent="0">
              <a:buNone/>
            </a:pPr>
            <a:r>
              <a:rPr lang="en-US" b="1" dirty="0"/>
              <a:t>Common pitfall:</a:t>
            </a:r>
            <a:r>
              <a:rPr lang="en-US" dirty="0"/>
              <a:t> unexpected side effects across functions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0" y="1687508"/>
            <a:ext cx="8458199" cy="155734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800" dirty="0"/>
              <a:t>Types belong to </a:t>
            </a:r>
            <a:r>
              <a:rPr lang="en-US" sz="2800" b="1" dirty="0"/>
              <a:t>objects</a:t>
            </a:r>
            <a:r>
              <a:rPr lang="en-US" sz="2800" dirty="0"/>
              <a:t>, not variables</a:t>
            </a:r>
          </a:p>
          <a:p>
            <a:r>
              <a:rPr lang="en-US" sz="2800" dirty="0"/>
              <a:t>Variables may rebind to new types</a:t>
            </a:r>
          </a:p>
          <a:p>
            <a:r>
              <a:rPr lang="en-US" sz="2800" dirty="0"/>
              <a:t>Errors appear </a:t>
            </a:r>
            <a:r>
              <a:rPr lang="en-US" sz="2800" b="1" dirty="0"/>
              <a:t>at runtime</a:t>
            </a:r>
            <a:endParaRPr lang="en-US" sz="2800" dirty="0"/>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483725" y="1687508"/>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3" name="Rectangle 1">
            <a:extLst>
              <a:ext uri="{FF2B5EF4-FFF2-40B4-BE49-F238E27FC236}">
                <a16:creationId xmlns:a16="http://schemas.microsoft.com/office/drawing/2014/main" id="{A838CB88-4EC8-AFAC-4E44-11489426397A}"/>
              </a:ext>
            </a:extLst>
          </p:cNvPr>
          <p:cNvSpPr txBox="1">
            <a:spLocks noChangeArrowheads="1"/>
          </p:cNvSpPr>
          <p:nvPr/>
        </p:nvSpPr>
        <p:spPr bwMode="auto">
          <a:xfrm>
            <a:off x="457200" y="3537176"/>
            <a:ext cx="8458199" cy="2074414"/>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b="1" dirty="0"/>
              <a:t>Best practice</a:t>
            </a:r>
            <a:endParaRPr lang="en-US" sz="2800" dirty="0"/>
          </a:p>
          <a:p>
            <a:r>
              <a:rPr lang="en-US" sz="2800" dirty="0"/>
              <a:t>Be consistent</a:t>
            </a:r>
          </a:p>
          <a:p>
            <a:r>
              <a:rPr lang="en-US" sz="2800" dirty="0"/>
              <a:t>Use </a:t>
            </a:r>
            <a:r>
              <a:rPr lang="en-US" sz="2800" b="1" dirty="0"/>
              <a:t>type hints</a:t>
            </a:r>
            <a:r>
              <a:rPr lang="en-US" sz="2800" dirty="0"/>
              <a:t> as projects scale</a:t>
            </a:r>
          </a:p>
          <a:p>
            <a:r>
              <a:rPr lang="en-US" sz="2800" dirty="0"/>
              <a:t>Prefer clarity over cleverness</a:t>
            </a:r>
          </a:p>
        </p:txBody>
      </p:sp>
    </p:spTree>
    <p:extLst>
      <p:ext uri="{BB962C8B-B14F-4D97-AF65-F5344CB8AC3E}">
        <p14:creationId xmlns:p14="http://schemas.microsoft.com/office/powerpoint/2010/main" val="60189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t>Immutable: int, float, str, tuple</a:t>
            </a:r>
          </a:p>
          <a:p>
            <a:r>
              <a:t>Mutable: list, dict, set</a:t>
            </a:r>
          </a:p>
          <a:p>
            <a:r>
              <a:t>Mutability affects shared 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rPr lang="en-US" dirty="0"/>
              <a:t>Numbers: int, float, Decimal</a:t>
            </a:r>
          </a:p>
          <a:p>
            <a:r>
              <a:rPr lang="en-US" dirty="0"/>
              <a:t>Text: str</a:t>
            </a:r>
          </a:p>
          <a:p>
            <a:r>
              <a:rPr lang="en-US" dirty="0"/>
              <a:t>Logic: bool, None</a:t>
            </a:r>
          </a:p>
          <a:p>
            <a:r>
              <a:rPr lang="en-US" dirty="0"/>
              <a:t>Collections: list, tuple, </a:t>
            </a:r>
            <a:r>
              <a:rPr lang="en-US" dirty="0" err="1"/>
              <a:t>dict</a:t>
            </a:r>
            <a:r>
              <a:rPr lang="en-US" dirty="0"/>
              <a:t>, set</a:t>
            </a:r>
          </a:p>
          <a:p>
            <a:pPr marL="0" indent="0">
              <a:buNone/>
            </a:pPr>
            <a:r>
              <a:rPr lang="en-US" b="1" dirty="0"/>
              <a:t>Rule:</a:t>
            </a:r>
            <a:r>
              <a:rPr lang="en-US" dirty="0"/>
              <a:t> correct type → correct outcome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8D996-FA41-FB72-3484-65ED2FC652F6}"/>
              </a:ext>
            </a:extLst>
          </p:cNvPr>
          <p:cNvSpPr>
            <a:spLocks noGrp="1"/>
          </p:cNvSpPr>
          <p:nvPr>
            <p:ph type="title"/>
          </p:nvPr>
        </p:nvSpPr>
        <p:spPr/>
        <p:txBody>
          <a:bodyPr>
            <a:normAutofit/>
          </a:bodyPr>
          <a:lstStyle/>
          <a:p>
            <a:r>
              <a:rPr lang="en-US" dirty="0"/>
              <a:t>Numbers &amp; Business Impact</a:t>
            </a:r>
            <a:endParaRPr lang="en-SG" dirty="0"/>
          </a:p>
        </p:txBody>
      </p:sp>
      <p:sp>
        <p:nvSpPr>
          <p:cNvPr id="3" name="Content Placeholder 2">
            <a:extLst>
              <a:ext uri="{FF2B5EF4-FFF2-40B4-BE49-F238E27FC236}">
                <a16:creationId xmlns:a16="http://schemas.microsoft.com/office/drawing/2014/main" id="{87870E60-2C51-4F7C-2A36-EADE8B5AE1D1}"/>
              </a:ext>
            </a:extLst>
          </p:cNvPr>
          <p:cNvSpPr>
            <a:spLocks noGrp="1"/>
          </p:cNvSpPr>
          <p:nvPr>
            <p:ph idx="1"/>
          </p:nvPr>
        </p:nvSpPr>
        <p:spPr/>
        <p:txBody>
          <a:bodyPr/>
          <a:lstStyle/>
          <a:p>
            <a:r>
              <a:rPr lang="en-US" dirty="0"/>
              <a:t>int: counts, IDs, indexes</a:t>
            </a:r>
          </a:p>
          <a:p>
            <a:r>
              <a:rPr lang="en-US" dirty="0"/>
              <a:t>float: scientific values (⚠ precision)</a:t>
            </a:r>
          </a:p>
          <a:p>
            <a:r>
              <a:rPr lang="en-US" dirty="0"/>
              <a:t>Decimal: </a:t>
            </a:r>
            <a:r>
              <a:rPr lang="en-US" b="1" dirty="0"/>
              <a:t>money and finance</a:t>
            </a:r>
            <a:endParaRPr lang="en-US" dirty="0"/>
          </a:p>
          <a:p>
            <a:r>
              <a:rPr lang="en-US" b="1" dirty="0"/>
              <a:t>Never</a:t>
            </a:r>
            <a:r>
              <a:rPr lang="en-US" dirty="0"/>
              <a:t> use float for currency</a:t>
            </a:r>
          </a:p>
          <a:p>
            <a:endParaRPr lang="en-SG" dirty="0"/>
          </a:p>
        </p:txBody>
      </p:sp>
    </p:spTree>
    <p:extLst>
      <p:ext uri="{BB962C8B-B14F-4D97-AF65-F5344CB8AC3E}">
        <p14:creationId xmlns:p14="http://schemas.microsoft.com/office/powerpoint/2010/main" val="28469418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B00A-0287-53B5-222F-C9DD6E7E87C6}"/>
              </a:ext>
            </a:extLst>
          </p:cNvPr>
          <p:cNvSpPr>
            <a:spLocks noGrp="1"/>
          </p:cNvSpPr>
          <p:nvPr>
            <p:ph type="title"/>
          </p:nvPr>
        </p:nvSpPr>
        <p:spPr/>
        <p:txBody>
          <a:bodyPr>
            <a:normAutofit/>
          </a:bodyPr>
          <a:lstStyle/>
          <a:p>
            <a:r>
              <a:rPr lang="en-US" dirty="0"/>
              <a:t>Operators That Matter</a:t>
            </a:r>
            <a:endParaRPr lang="en-SG" dirty="0"/>
          </a:p>
        </p:txBody>
      </p:sp>
      <p:sp>
        <p:nvSpPr>
          <p:cNvPr id="3" name="Content Placeholder 2">
            <a:extLst>
              <a:ext uri="{FF2B5EF4-FFF2-40B4-BE49-F238E27FC236}">
                <a16:creationId xmlns:a16="http://schemas.microsoft.com/office/drawing/2014/main" id="{34BD1336-9F49-ECBE-B8CA-D1480CE78482}"/>
              </a:ext>
            </a:extLst>
          </p:cNvPr>
          <p:cNvSpPr>
            <a:spLocks noGrp="1"/>
          </p:cNvSpPr>
          <p:nvPr>
            <p:ph idx="1"/>
          </p:nvPr>
        </p:nvSpPr>
        <p:spPr/>
        <p:txBody>
          <a:bodyPr/>
          <a:lstStyle/>
          <a:p>
            <a:r>
              <a:rPr lang="en-US" dirty="0"/>
              <a:t>/ vs // vs % → different business logic</a:t>
            </a:r>
          </a:p>
          <a:p>
            <a:r>
              <a:rPr lang="en-US" dirty="0"/>
              <a:t>** → exponentiation, not multiplication</a:t>
            </a:r>
          </a:p>
          <a:p>
            <a:r>
              <a:rPr lang="en-US" dirty="0"/>
              <a:t>Operator choice affects </a:t>
            </a:r>
            <a:r>
              <a:rPr lang="en-US" b="1" dirty="0"/>
              <a:t>correctness</a:t>
            </a:r>
            <a:endParaRPr lang="en-US" dirty="0"/>
          </a:p>
          <a:p>
            <a:endParaRPr lang="en-SG" dirty="0"/>
          </a:p>
        </p:txBody>
      </p:sp>
    </p:spTree>
    <p:extLst>
      <p:ext uri="{BB962C8B-B14F-4D97-AF65-F5344CB8AC3E}">
        <p14:creationId xmlns:p14="http://schemas.microsoft.com/office/powerpoint/2010/main" val="24542527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b="1" dirty="0"/>
              <a:t>Strings: Immutable by Design</a:t>
            </a:r>
          </a:p>
          <a:p>
            <a:pPr lvl="1"/>
            <a:r>
              <a:rPr lang="en-US" dirty="0"/>
              <a:t>Strings cannot change in place</a:t>
            </a:r>
          </a:p>
          <a:p>
            <a:pPr lvl="1"/>
            <a:r>
              <a:rPr lang="en-US" dirty="0"/>
              <a:t>Methods always return </a:t>
            </a:r>
            <a:r>
              <a:rPr lang="en-US" b="1" dirty="0"/>
              <a:t>new strings</a:t>
            </a:r>
            <a:endParaRPr lang="en-US" dirty="0"/>
          </a:p>
          <a:p>
            <a:pPr lvl="1"/>
            <a:r>
              <a:rPr lang="en-US" dirty="0"/>
              <a:t>Use </a:t>
            </a:r>
            <a:r>
              <a:rPr lang="en-US" b="1" dirty="0"/>
              <a:t>f-strings</a:t>
            </a:r>
            <a:r>
              <a:rPr lang="en-US" dirty="0"/>
              <a:t> exclusively</a:t>
            </a:r>
          </a:p>
          <a:p>
            <a:pPr lvl="1"/>
            <a:endParaRPr lang="en-US" dirty="0"/>
          </a:p>
          <a:p>
            <a:r>
              <a:rPr lang="en-US" b="1" dirty="0"/>
              <a:t>Why this matters</a:t>
            </a:r>
            <a:endParaRPr lang="en-US" dirty="0"/>
          </a:p>
          <a:p>
            <a:pPr lvl="1"/>
            <a:r>
              <a:rPr lang="en-US" dirty="0"/>
              <a:t>Prevents accidental side effects</a:t>
            </a:r>
          </a:p>
          <a:p>
            <a:pPr lvl="1"/>
            <a:r>
              <a:rPr lang="en-US" dirty="0"/>
              <a:t>Enables safer text processing</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9862"/>
            <a:ext cx="8229600" cy="1143000"/>
          </a:xfrm>
        </p:spPr>
        <p:txBody>
          <a:bodyPr/>
          <a:lstStyle/>
          <a:p>
            <a:r>
              <a:rPr dirty="0"/>
              <a:t>String Methods &amp; Formatting</a:t>
            </a:r>
          </a:p>
        </p:txBody>
      </p:sp>
      <p:sp>
        <p:nvSpPr>
          <p:cNvPr id="3" name="Content Placeholder 2"/>
          <p:cNvSpPr>
            <a:spLocks noGrp="1"/>
          </p:cNvSpPr>
          <p:nvPr>
            <p:ph idx="1"/>
          </p:nvPr>
        </p:nvSpPr>
        <p:spPr>
          <a:xfrm>
            <a:off x="457200" y="973138"/>
            <a:ext cx="11391900" cy="5757862"/>
          </a:xfrm>
        </p:spPr>
        <p:txBody>
          <a:bodyPr>
            <a:normAutofit/>
          </a:bodyPr>
          <a:lstStyle/>
          <a:p>
            <a:r>
              <a:rPr lang="en-US" sz="2400" dirty="0"/>
              <a:t>Case Manipulation:</a:t>
            </a:r>
          </a:p>
          <a:p>
            <a:endParaRPr lang="en-US" sz="2400" dirty="0"/>
          </a:p>
          <a:p>
            <a:pPr lvl="1"/>
            <a:r>
              <a:rPr lang="en-US" sz="2400" dirty="0"/>
              <a:t>.capitalize(): Uppercases only the first character of the entire string.</a:t>
            </a:r>
          </a:p>
          <a:p>
            <a:endParaRPr lang="en-US" sz="2400" dirty="0"/>
          </a:p>
          <a:p>
            <a:pPr lvl="1"/>
            <a:r>
              <a:rPr lang="en-US" sz="2400" dirty="0"/>
              <a:t>.title(): Uppercases the first character of every word (ideal for names).</a:t>
            </a:r>
          </a:p>
          <a:p>
            <a:endParaRPr lang="en-US" sz="2400" dirty="0"/>
          </a:p>
          <a:p>
            <a:pPr lvl="1"/>
            <a:r>
              <a:rPr lang="en-US" sz="2400" dirty="0"/>
              <a:t>.upper() / .lower(): For standardizing data for comparison.</a:t>
            </a:r>
          </a:p>
          <a:p>
            <a:endParaRPr lang="en-US" sz="2400" dirty="0"/>
          </a:p>
          <a:p>
            <a:r>
              <a:rPr lang="en-US" sz="2400" dirty="0"/>
              <a:t>Stripping &amp; Splitting: Use .strip() to remove whitespace and .split() to tokenize strings into lists.</a:t>
            </a:r>
          </a:p>
          <a:p>
            <a:endParaRPr lang="en-US" sz="2400" dirty="0"/>
          </a:p>
          <a:p>
            <a:r>
              <a:rPr lang="en-US" sz="2400" dirty="0"/>
              <a:t>F-Strings (Python 3.6+): The modern standard for string interpolation, allowing embedded expressions: </a:t>
            </a:r>
            <a:r>
              <a:rPr lang="en-US" sz="2400" dirty="0" err="1"/>
              <a:t>f"Result</a:t>
            </a:r>
            <a:r>
              <a:rPr lang="en-US" sz="2400" dirty="0"/>
              <a:t>: {value:.2f}".</a:t>
            </a:r>
            <a:endParaRPr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6C48-3307-B294-F23A-70052987DB66}"/>
              </a:ext>
            </a:extLst>
          </p:cNvPr>
          <p:cNvSpPr>
            <a:spLocks noGrp="1"/>
          </p:cNvSpPr>
          <p:nvPr>
            <p:ph type="title"/>
          </p:nvPr>
        </p:nvSpPr>
        <p:spPr/>
        <p:txBody>
          <a:bodyPr>
            <a:normAutofit/>
          </a:bodyPr>
          <a:lstStyle/>
          <a:p>
            <a:r>
              <a:rPr lang="en-SG" dirty="0"/>
              <a:t>Truthiness Simplifies Logic</a:t>
            </a:r>
          </a:p>
        </p:txBody>
      </p:sp>
      <p:sp>
        <p:nvSpPr>
          <p:cNvPr id="3" name="Content Placeholder 2">
            <a:extLst>
              <a:ext uri="{FF2B5EF4-FFF2-40B4-BE49-F238E27FC236}">
                <a16:creationId xmlns:a16="http://schemas.microsoft.com/office/drawing/2014/main" id="{C665FE19-9B0B-F2D5-132A-55F9672B7B80}"/>
              </a:ext>
            </a:extLst>
          </p:cNvPr>
          <p:cNvSpPr>
            <a:spLocks noGrp="1"/>
          </p:cNvSpPr>
          <p:nvPr>
            <p:ph idx="1"/>
          </p:nvPr>
        </p:nvSpPr>
        <p:spPr/>
        <p:txBody>
          <a:bodyPr/>
          <a:lstStyle/>
          <a:p>
            <a:r>
              <a:rPr lang="en-SG" dirty="0" err="1"/>
              <a:t>Falsy</a:t>
            </a:r>
            <a:r>
              <a:rPr lang="en-SG" dirty="0"/>
              <a:t> values:</a:t>
            </a:r>
          </a:p>
          <a:p>
            <a:pPr lvl="1"/>
            <a:r>
              <a:rPr lang="en-SG" dirty="0"/>
              <a:t>False, None</a:t>
            </a:r>
          </a:p>
          <a:p>
            <a:pPr lvl="1"/>
            <a:r>
              <a:rPr lang="en-SG" dirty="0"/>
              <a:t>0, 0.0</a:t>
            </a:r>
          </a:p>
          <a:p>
            <a:pPr lvl="1"/>
            <a:r>
              <a:rPr lang="en-SG" dirty="0"/>
              <a:t>"", [], {}, set()</a:t>
            </a:r>
          </a:p>
          <a:p>
            <a:endParaRPr lang="en-SG" b="1" dirty="0"/>
          </a:p>
          <a:p>
            <a:r>
              <a:rPr lang="en-SG" b="1" dirty="0"/>
              <a:t>Mental model:</a:t>
            </a:r>
            <a:endParaRPr lang="en-SG" dirty="0"/>
          </a:p>
          <a:p>
            <a:pPr lvl="1"/>
            <a:r>
              <a:rPr lang="en-SG" dirty="0"/>
              <a:t>“Empty means false”</a:t>
            </a:r>
          </a:p>
          <a:p>
            <a:endParaRPr lang="en-SG" dirty="0"/>
          </a:p>
        </p:txBody>
      </p:sp>
    </p:spTree>
    <p:extLst>
      <p:ext uri="{BB962C8B-B14F-4D97-AF65-F5344CB8AC3E}">
        <p14:creationId xmlns:p14="http://schemas.microsoft.com/office/powerpoint/2010/main" val="6141432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Slide 9 — 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BD9C-73E6-2085-231F-F6213375A9E8}"/>
              </a:ext>
            </a:extLst>
          </p:cNvPr>
          <p:cNvSpPr>
            <a:spLocks noGrp="1"/>
          </p:cNvSpPr>
          <p:nvPr>
            <p:ph type="title"/>
          </p:nvPr>
        </p:nvSpPr>
        <p:spPr>
          <a:xfrm>
            <a:off x="457200" y="-182562"/>
            <a:ext cx="10833100" cy="1143000"/>
          </a:xfrm>
        </p:spPr>
        <p:txBody>
          <a:bodyPr>
            <a:normAutofit/>
          </a:bodyPr>
          <a:lstStyle/>
          <a:p>
            <a:r>
              <a:rPr lang="en-US" dirty="0"/>
              <a:t>Data Structures — Lists, Sets, and Tuples</a:t>
            </a:r>
            <a:endParaRPr lang="en-SG" dirty="0"/>
          </a:p>
        </p:txBody>
      </p:sp>
      <p:graphicFrame>
        <p:nvGraphicFramePr>
          <p:cNvPr id="4" name="Table 3">
            <a:extLst>
              <a:ext uri="{FF2B5EF4-FFF2-40B4-BE49-F238E27FC236}">
                <a16:creationId xmlns:a16="http://schemas.microsoft.com/office/drawing/2014/main" id="{A4EA0EE4-3388-37F9-D288-B3D55C688A49}"/>
              </a:ext>
            </a:extLst>
          </p:cNvPr>
          <p:cNvGraphicFramePr>
            <a:graphicFrameLocks noGrp="1"/>
          </p:cNvGraphicFramePr>
          <p:nvPr>
            <p:extLst>
              <p:ext uri="{D42A27DB-BD31-4B8C-83A1-F6EECF244321}">
                <p14:modId xmlns:p14="http://schemas.microsoft.com/office/powerpoint/2010/main" val="3513351184"/>
              </p:ext>
            </p:extLst>
          </p:nvPr>
        </p:nvGraphicFramePr>
        <p:xfrm>
          <a:off x="292100" y="850901"/>
          <a:ext cx="11747500" cy="5871892"/>
        </p:xfrm>
        <a:graphic>
          <a:graphicData uri="http://schemas.openxmlformats.org/drawingml/2006/table">
            <a:tbl>
              <a:tblPr/>
              <a:tblGrid>
                <a:gridCol w="2349500">
                  <a:extLst>
                    <a:ext uri="{9D8B030D-6E8A-4147-A177-3AD203B41FA5}">
                      <a16:colId xmlns:a16="http://schemas.microsoft.com/office/drawing/2014/main" val="24851224"/>
                    </a:ext>
                  </a:extLst>
                </a:gridCol>
                <a:gridCol w="2349500">
                  <a:extLst>
                    <a:ext uri="{9D8B030D-6E8A-4147-A177-3AD203B41FA5}">
                      <a16:colId xmlns:a16="http://schemas.microsoft.com/office/drawing/2014/main" val="3390414847"/>
                    </a:ext>
                  </a:extLst>
                </a:gridCol>
                <a:gridCol w="2349500">
                  <a:extLst>
                    <a:ext uri="{9D8B030D-6E8A-4147-A177-3AD203B41FA5}">
                      <a16:colId xmlns:a16="http://schemas.microsoft.com/office/drawing/2014/main" val="3146186434"/>
                    </a:ext>
                  </a:extLst>
                </a:gridCol>
                <a:gridCol w="2349500">
                  <a:extLst>
                    <a:ext uri="{9D8B030D-6E8A-4147-A177-3AD203B41FA5}">
                      <a16:colId xmlns:a16="http://schemas.microsoft.com/office/drawing/2014/main" val="1258871052"/>
                    </a:ext>
                  </a:extLst>
                </a:gridCol>
                <a:gridCol w="2349500">
                  <a:extLst>
                    <a:ext uri="{9D8B030D-6E8A-4147-A177-3AD203B41FA5}">
                      <a16:colId xmlns:a16="http://schemas.microsoft.com/office/drawing/2014/main" val="65556977"/>
                    </a:ext>
                  </a:extLst>
                </a:gridCol>
              </a:tblGrid>
              <a:tr h="428718">
                <a:tc>
                  <a:txBody>
                    <a:bodyPr/>
                    <a:lstStyle/>
                    <a:p>
                      <a:pPr rtl="0">
                        <a:buNone/>
                      </a:pPr>
                      <a:r>
                        <a:rPr lang="en-SG" sz="2400" b="1">
                          <a:solidFill>
                            <a:srgbClr val="1F1F1F"/>
                          </a:solidFill>
                          <a:effectLst/>
                          <a:latin typeface="Google Sans Text"/>
                        </a:rPr>
                        <a:t>Structure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Ordered?</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Mutable?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Unique?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Use Case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77812970"/>
                  </a:ext>
                </a:extLst>
              </a:tr>
              <a:tr h="1215708">
                <a:tc>
                  <a:txBody>
                    <a:bodyPr/>
                    <a:lstStyle/>
                    <a:p>
                      <a:pPr rtl="0">
                        <a:buNone/>
                      </a:pPr>
                      <a:r>
                        <a:rPr lang="en-SG" sz="2400" b="1">
                          <a:solidFill>
                            <a:srgbClr val="1F1F1F"/>
                          </a:solidFill>
                          <a:effectLst/>
                          <a:latin typeface="Google Sans Text"/>
                        </a:rPr>
                        <a:t>List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General purpose collections (e.g., </a:t>
                      </a:r>
                      <a:r>
                        <a:rPr lang="en-US" sz="2400">
                          <a:solidFill>
                            <a:srgbClr val="444746"/>
                          </a:solidFill>
                          <a:effectLst/>
                          <a:latin typeface="Google Sans Text"/>
                        </a:rPr>
                        <a:t>[cap, title]</a:t>
                      </a:r>
                      <a:r>
                        <a:rPr lang="en-US" sz="2400">
                          <a:solidFill>
                            <a:srgbClr val="1F1F1F"/>
                          </a:solidFill>
                          <a:effectLst/>
                          <a:latin typeface="Google Sans Text"/>
                        </a:rPr>
                        <a:t>).</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5069397"/>
                  </a:ext>
                </a:extLst>
              </a:tr>
              <a:tr h="1118473">
                <a:tc>
                  <a:txBody>
                    <a:bodyPr/>
                    <a:lstStyle/>
                    <a:p>
                      <a:pPr rtl="0">
                        <a:buNone/>
                      </a:pPr>
                      <a:r>
                        <a:rPr lang="en-SG" sz="2400" b="1">
                          <a:solidFill>
                            <a:srgbClr val="1F1F1F"/>
                          </a:solidFill>
                          <a:effectLst/>
                          <a:latin typeface="Google Sans Text"/>
                        </a:rPr>
                        <a:t>Tuple</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Fixed records, coordinates, or dictionary keys.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8626009"/>
                  </a:ext>
                </a:extLst>
              </a:tr>
              <a:tr h="1463350">
                <a:tc>
                  <a:txBody>
                    <a:bodyPr/>
                    <a:lstStyle/>
                    <a:p>
                      <a:pPr rtl="0">
                        <a:buNone/>
                      </a:pPr>
                      <a:r>
                        <a:rPr lang="en-SG" sz="2400" b="1">
                          <a:solidFill>
                            <a:srgbClr val="1F1F1F"/>
                          </a:solidFill>
                          <a:effectLst/>
                          <a:latin typeface="Google Sans Text"/>
                        </a:rPr>
                        <a:t>Set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Membership testing and removing duplicates.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77294078"/>
                  </a:ext>
                </a:extLst>
              </a:tr>
              <a:tr h="1463350">
                <a:tc>
                  <a:txBody>
                    <a:bodyPr/>
                    <a:lstStyle/>
                    <a:p>
                      <a:pPr rtl="0">
                        <a:buNone/>
                      </a:pPr>
                      <a:r>
                        <a:rPr lang="en-SG" sz="2400" b="1">
                          <a:solidFill>
                            <a:srgbClr val="1F1F1F"/>
                          </a:solidFill>
                          <a:effectLst/>
                          <a:latin typeface="Google Sans Text"/>
                        </a:rPr>
                        <a:t>Dict</a:t>
                      </a:r>
                      <a:r>
                        <a:rPr lang="en-SG" sz="2400">
                          <a:solidFill>
                            <a:srgbClr val="1F1F1F"/>
                          </a:solidFill>
                          <a:effectLst/>
                          <a:latin typeface="Google Sans Text"/>
                        </a:rPr>
                        <a:t> </a:t>
                      </a:r>
                      <a:r>
                        <a:rPr lang="en-SG" sz="2400">
                          <a:solidFill>
                            <a:srgbClr val="444746"/>
                          </a:solidFill>
                          <a:effectLst/>
                          <a:latin typeface="Google Sans Text"/>
                        </a:rPr>
                        <a:t>{k:v}</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 (3.7+)</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dirty="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Keys: 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dirty="0">
                          <a:solidFill>
                            <a:srgbClr val="1F1F1F"/>
                          </a:solidFill>
                          <a:effectLst/>
                          <a:latin typeface="Google Sans Text"/>
                        </a:rPr>
                        <a:t>Key-value mapping for fast lookups ($O(1)$).</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9885563"/>
                  </a:ext>
                </a:extLst>
              </a:tr>
            </a:tbl>
          </a:graphicData>
        </a:graphic>
      </p:graphicFrame>
    </p:spTree>
    <p:extLst>
      <p:ext uri="{BB962C8B-B14F-4D97-AF65-F5344CB8AC3E}">
        <p14:creationId xmlns:p14="http://schemas.microsoft.com/office/powerpoint/2010/main" val="41485101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6764-731A-41D6-6189-61DF4690616A}"/>
              </a:ext>
            </a:extLst>
          </p:cNvPr>
          <p:cNvSpPr>
            <a:spLocks noGrp="1"/>
          </p:cNvSpPr>
          <p:nvPr>
            <p:ph type="title"/>
          </p:nvPr>
        </p:nvSpPr>
        <p:spPr>
          <a:xfrm>
            <a:off x="457200" y="274638"/>
            <a:ext cx="10985500" cy="1143000"/>
          </a:xfrm>
        </p:spPr>
        <p:txBody>
          <a:bodyPr/>
          <a:lstStyle/>
          <a:p>
            <a:r>
              <a:rPr lang="en-SG" dirty="0"/>
              <a:t>Logic Flow &amp; List Comprehensions</a:t>
            </a:r>
          </a:p>
        </p:txBody>
      </p:sp>
      <p:sp>
        <p:nvSpPr>
          <p:cNvPr id="3" name="Content Placeholder 2">
            <a:extLst>
              <a:ext uri="{FF2B5EF4-FFF2-40B4-BE49-F238E27FC236}">
                <a16:creationId xmlns:a16="http://schemas.microsoft.com/office/drawing/2014/main" id="{AFDB1925-D781-7449-3170-24071630EAA8}"/>
              </a:ext>
            </a:extLst>
          </p:cNvPr>
          <p:cNvSpPr>
            <a:spLocks noGrp="1"/>
          </p:cNvSpPr>
          <p:nvPr>
            <p:ph idx="1"/>
          </p:nvPr>
        </p:nvSpPr>
        <p:spPr>
          <a:xfrm>
            <a:off x="203200" y="1392238"/>
            <a:ext cx="11671300" cy="2481262"/>
          </a:xfrm>
        </p:spPr>
        <p:txBody>
          <a:bodyPr>
            <a:normAutofit fontScale="92500" lnSpcReduction="10000"/>
          </a:bodyPr>
          <a:lstStyle/>
          <a:p>
            <a:r>
              <a:rPr lang="en-US" dirty="0"/>
              <a:t>Conditional Logic: Standard if/</a:t>
            </a:r>
            <a:r>
              <a:rPr lang="en-US" dirty="0" err="1"/>
              <a:t>elif</a:t>
            </a:r>
            <a:r>
              <a:rPr lang="en-US" dirty="0"/>
              <a:t>/else blocks and the "Ternary Operator": x = a if condition else b.</a:t>
            </a:r>
          </a:p>
          <a:p>
            <a:endParaRPr lang="en-US" dirty="0"/>
          </a:p>
          <a:p>
            <a:r>
              <a:rPr lang="en-US" dirty="0"/>
              <a:t>List Comprehensions: A powerful syntax to create new lists from existing </a:t>
            </a:r>
            <a:r>
              <a:rPr lang="en-US" dirty="0" err="1"/>
              <a:t>iterables</a:t>
            </a:r>
            <a:r>
              <a:rPr lang="en-US" dirty="0"/>
              <a:t>.</a:t>
            </a:r>
          </a:p>
          <a:p>
            <a:endParaRPr lang="en-US" dirty="0"/>
          </a:p>
          <a:p>
            <a:pPr marL="0" indent="0">
              <a:buNone/>
            </a:pPr>
            <a:endParaRPr lang="en-US" dirty="0"/>
          </a:p>
          <a:p>
            <a:endParaRPr lang="en-US" dirty="0"/>
          </a:p>
          <a:p>
            <a:endParaRPr lang="en-US" dirty="0"/>
          </a:p>
        </p:txBody>
      </p:sp>
      <p:sp>
        <p:nvSpPr>
          <p:cNvPr id="6" name="TextBox 5">
            <a:extLst>
              <a:ext uri="{FF2B5EF4-FFF2-40B4-BE49-F238E27FC236}">
                <a16:creationId xmlns:a16="http://schemas.microsoft.com/office/drawing/2014/main" id="{7939AF17-BCAB-ADC4-7837-822598D72295}"/>
              </a:ext>
            </a:extLst>
          </p:cNvPr>
          <p:cNvSpPr txBox="1"/>
          <p:nvPr/>
        </p:nvSpPr>
        <p:spPr>
          <a:xfrm>
            <a:off x="1525588" y="4252734"/>
            <a:ext cx="38989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dirty="0"/>
              <a:t># Verbose</a:t>
            </a:r>
            <a:br>
              <a:rPr lang="en-SG" dirty="0"/>
            </a:br>
            <a:r>
              <a:rPr lang="en-US" dirty="0" err="1"/>
              <a:t>new_list</a:t>
            </a:r>
            <a:r>
              <a:rPr lang="en-US" dirty="0"/>
              <a:t> = []</a:t>
            </a:r>
          </a:p>
          <a:p>
            <a:r>
              <a:rPr lang="en-US" dirty="0"/>
              <a:t>for x in </a:t>
            </a:r>
            <a:r>
              <a:rPr lang="en-US" dirty="0" err="1"/>
              <a:t>old_list</a:t>
            </a:r>
            <a:r>
              <a:rPr lang="en-US" dirty="0"/>
              <a:t>:</a:t>
            </a:r>
          </a:p>
          <a:p>
            <a:r>
              <a:rPr lang="en-US" dirty="0"/>
              <a:t>    if x &gt; 0: </a:t>
            </a:r>
            <a:r>
              <a:rPr lang="en-US" dirty="0" err="1"/>
              <a:t>new_list.append</a:t>
            </a:r>
            <a:r>
              <a:rPr lang="en-US" dirty="0"/>
              <a:t>(x)</a:t>
            </a:r>
            <a:endParaRPr lang="en-SG" dirty="0"/>
          </a:p>
        </p:txBody>
      </p:sp>
      <p:sp>
        <p:nvSpPr>
          <p:cNvPr id="7" name="TextBox 6">
            <a:extLst>
              <a:ext uri="{FF2B5EF4-FFF2-40B4-BE49-F238E27FC236}">
                <a16:creationId xmlns:a16="http://schemas.microsoft.com/office/drawing/2014/main" id="{2154DB07-DE9A-74FB-CD88-D34AF530A0AF}"/>
              </a:ext>
            </a:extLst>
          </p:cNvPr>
          <p:cNvSpPr txBox="1"/>
          <p:nvPr/>
        </p:nvSpPr>
        <p:spPr>
          <a:xfrm>
            <a:off x="6802438" y="4252734"/>
            <a:ext cx="38989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Pythonic</a:t>
            </a:r>
          </a:p>
          <a:p>
            <a:r>
              <a:rPr lang="en-US" dirty="0" err="1"/>
              <a:t>new_list</a:t>
            </a:r>
            <a:r>
              <a:rPr lang="en-US" dirty="0"/>
              <a:t> = [x for x in </a:t>
            </a:r>
            <a:r>
              <a:rPr lang="en-US" dirty="0" err="1"/>
              <a:t>old_list</a:t>
            </a:r>
            <a:r>
              <a:rPr lang="en-US" dirty="0"/>
              <a:t> if x &gt; 0]</a:t>
            </a:r>
            <a:endParaRPr lang="en-SG" dirty="0"/>
          </a:p>
        </p:txBody>
      </p:sp>
      <p:sp>
        <p:nvSpPr>
          <p:cNvPr id="9" name="Content Placeholder 2">
            <a:extLst>
              <a:ext uri="{FF2B5EF4-FFF2-40B4-BE49-F238E27FC236}">
                <a16:creationId xmlns:a16="http://schemas.microsoft.com/office/drawing/2014/main" id="{33097FFA-9B05-14DF-2286-94ED2F4FEB63}"/>
              </a:ext>
            </a:extLst>
          </p:cNvPr>
          <p:cNvSpPr txBox="1">
            <a:spLocks/>
          </p:cNvSpPr>
          <p:nvPr/>
        </p:nvSpPr>
        <p:spPr>
          <a:xfrm>
            <a:off x="203200" y="5619745"/>
            <a:ext cx="11671300" cy="1397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Enumerate &amp; Zip: Use enumerate() to get indexes and zip() to iterate over two lists simultaneously.</a:t>
            </a:r>
          </a:p>
        </p:txBody>
      </p:sp>
    </p:spTree>
    <p:extLst>
      <p:ext uri="{BB962C8B-B14F-4D97-AF65-F5344CB8AC3E}">
        <p14:creationId xmlns:p14="http://schemas.microsoft.com/office/powerpoint/2010/main" val="229023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a:xfrm>
            <a:off x="457200" y="261938"/>
            <a:ext cx="8229600" cy="1143000"/>
          </a:xfrm>
        </p:spPr>
        <p:txBody>
          <a:bodyPr>
            <a:normAutofit fontScale="90000"/>
          </a:bodyPr>
          <a:lstStyle/>
          <a:p>
            <a:r>
              <a:rPr lang="en-SG"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rPr dirty="0"/>
              <a:t>Programs make decisions using conditions</a:t>
            </a:r>
          </a:p>
          <a:p>
            <a:r>
              <a:rPr dirty="0"/>
              <a:t>if / </a:t>
            </a:r>
            <a:r>
              <a:rPr dirty="0" err="1"/>
              <a:t>elif</a:t>
            </a:r>
            <a:r>
              <a:rPr dirty="0"/>
              <a:t> / else chains</a:t>
            </a:r>
          </a:p>
          <a:p>
            <a:r>
              <a:rPr dirty="0"/>
              <a:t>Indentation defines logic blocks</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DE736-29C6-0904-0F92-4DCED3521657}"/>
              </a:ext>
            </a:extLst>
          </p:cNvPr>
          <p:cNvSpPr>
            <a:spLocks noGrp="1"/>
          </p:cNvSpPr>
          <p:nvPr>
            <p:ph type="title"/>
          </p:nvPr>
        </p:nvSpPr>
        <p:spPr/>
        <p:txBody>
          <a:bodyPr>
            <a:normAutofit/>
          </a:bodyPr>
          <a:lstStyle/>
          <a:p>
            <a:r>
              <a:rPr lang="en-US" dirty="0"/>
              <a:t>Unpacking Operators (* and **)</a:t>
            </a:r>
            <a:endParaRPr lang="en-SG" dirty="0"/>
          </a:p>
        </p:txBody>
      </p:sp>
      <p:sp>
        <p:nvSpPr>
          <p:cNvPr id="3" name="Content Placeholder 2">
            <a:extLst>
              <a:ext uri="{FF2B5EF4-FFF2-40B4-BE49-F238E27FC236}">
                <a16:creationId xmlns:a16="http://schemas.microsoft.com/office/drawing/2014/main" id="{336DA768-5FCD-848F-88AC-D3F9A9AA5016}"/>
              </a:ext>
            </a:extLst>
          </p:cNvPr>
          <p:cNvSpPr>
            <a:spLocks noGrp="1"/>
          </p:cNvSpPr>
          <p:nvPr>
            <p:ph idx="1"/>
          </p:nvPr>
        </p:nvSpPr>
        <p:spPr/>
        <p:txBody>
          <a:bodyPr/>
          <a:lstStyle/>
          <a:p>
            <a:r>
              <a:rPr lang="en-US" dirty="0"/>
              <a:t>* → positional values</a:t>
            </a:r>
          </a:p>
          <a:p>
            <a:r>
              <a:rPr lang="en-US" dirty="0"/>
              <a:t>** → named values</a:t>
            </a:r>
          </a:p>
          <a:p>
            <a:r>
              <a:rPr lang="en-US" dirty="0"/>
              <a:t>Meaning depends on </a:t>
            </a:r>
            <a:r>
              <a:rPr lang="en-US" b="1" dirty="0"/>
              <a:t>context</a:t>
            </a:r>
            <a:endParaRPr lang="en-US" dirty="0"/>
          </a:p>
          <a:p>
            <a:r>
              <a:rPr lang="en-US" b="1" dirty="0"/>
              <a:t>Used everywhere</a:t>
            </a:r>
            <a:r>
              <a:rPr lang="en-US" dirty="0"/>
              <a:t>: APIs, wrappers, forwarding</a:t>
            </a:r>
          </a:p>
          <a:p>
            <a:endParaRPr lang="en-SG" dirty="0"/>
          </a:p>
        </p:txBody>
      </p:sp>
    </p:spTree>
    <p:extLst>
      <p:ext uri="{BB962C8B-B14F-4D97-AF65-F5344CB8AC3E}">
        <p14:creationId xmlns:p14="http://schemas.microsoft.com/office/powerpoint/2010/main" val="34653266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65FC8-C5A2-18D9-D56E-8B8F1E24796E}"/>
              </a:ext>
            </a:extLst>
          </p:cNvPr>
          <p:cNvSpPr>
            <a:spLocks noGrp="1"/>
          </p:cNvSpPr>
          <p:nvPr>
            <p:ph type="title"/>
          </p:nvPr>
        </p:nvSpPr>
        <p:spPr/>
        <p:txBody>
          <a:bodyPr>
            <a:normAutofit/>
          </a:bodyPr>
          <a:lstStyle/>
          <a:p>
            <a:r>
              <a:rPr lang="en-US" dirty="0"/>
              <a:t>Functions Are Contracts</a:t>
            </a:r>
            <a:endParaRPr lang="en-SG" dirty="0"/>
          </a:p>
        </p:txBody>
      </p:sp>
      <p:sp>
        <p:nvSpPr>
          <p:cNvPr id="3" name="Content Placeholder 2">
            <a:extLst>
              <a:ext uri="{FF2B5EF4-FFF2-40B4-BE49-F238E27FC236}">
                <a16:creationId xmlns:a16="http://schemas.microsoft.com/office/drawing/2014/main" id="{80D886D0-613E-DAE9-1079-608E0B943E07}"/>
              </a:ext>
            </a:extLst>
          </p:cNvPr>
          <p:cNvSpPr>
            <a:spLocks noGrp="1"/>
          </p:cNvSpPr>
          <p:nvPr>
            <p:ph idx="1"/>
          </p:nvPr>
        </p:nvSpPr>
        <p:spPr/>
        <p:txBody>
          <a:bodyPr>
            <a:normAutofit/>
          </a:bodyPr>
          <a:lstStyle/>
          <a:p>
            <a:r>
              <a:rPr lang="en-US" dirty="0"/>
              <a:t>Inputs → Outputs</a:t>
            </a:r>
          </a:p>
          <a:p>
            <a:r>
              <a:rPr lang="en-US" dirty="0"/>
              <a:t>Minimal side effects</a:t>
            </a:r>
          </a:p>
          <a:p>
            <a:r>
              <a:rPr lang="en-US" dirty="0"/>
              <a:t>Return values &gt; print()</a:t>
            </a:r>
          </a:p>
          <a:p>
            <a:endParaRPr lang="en-US" dirty="0"/>
          </a:p>
          <a:p>
            <a:r>
              <a:rPr lang="en-US" b="1" dirty="0"/>
              <a:t>Good functions</a:t>
            </a:r>
            <a:endParaRPr lang="en-US" dirty="0"/>
          </a:p>
          <a:p>
            <a:pPr lvl="1"/>
            <a:r>
              <a:rPr lang="en-US" dirty="0"/>
              <a:t>Small</a:t>
            </a:r>
          </a:p>
          <a:p>
            <a:pPr lvl="1"/>
            <a:r>
              <a:rPr lang="en-US" dirty="0"/>
              <a:t>Named clearly</a:t>
            </a:r>
          </a:p>
          <a:p>
            <a:pPr lvl="1"/>
            <a:r>
              <a:rPr lang="en-US" dirty="0"/>
              <a:t>Easy to test</a:t>
            </a:r>
          </a:p>
          <a:p>
            <a:endParaRPr lang="en-SG" dirty="0"/>
          </a:p>
        </p:txBody>
      </p:sp>
    </p:spTree>
    <p:extLst>
      <p:ext uri="{BB962C8B-B14F-4D97-AF65-F5344CB8AC3E}">
        <p14:creationId xmlns:p14="http://schemas.microsoft.com/office/powerpoint/2010/main" val="364468918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Tree>
    <p:extLst>
      <p:ext uri="{BB962C8B-B14F-4D97-AF65-F5344CB8AC3E}">
        <p14:creationId xmlns:p14="http://schemas.microsoft.com/office/powerpoint/2010/main" val="6749720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F7CA7-EB29-C0DD-E51B-859B2A051676}"/>
              </a:ext>
            </a:extLst>
          </p:cNvPr>
          <p:cNvSpPr>
            <a:spLocks noGrp="1"/>
          </p:cNvSpPr>
          <p:nvPr>
            <p:ph type="title"/>
          </p:nvPr>
        </p:nvSpPr>
        <p:spPr>
          <a:xfrm>
            <a:off x="457200" y="274638"/>
            <a:ext cx="10909300" cy="1143000"/>
          </a:xfrm>
        </p:spPr>
        <p:txBody>
          <a:bodyPr/>
          <a:lstStyle/>
          <a:p>
            <a:r>
              <a:rPr lang="en-US" dirty="0"/>
              <a:t>Functional Foundations &amp; Scoping</a:t>
            </a:r>
            <a:endParaRPr lang="en-SG" dirty="0"/>
          </a:p>
        </p:txBody>
      </p:sp>
      <p:sp>
        <p:nvSpPr>
          <p:cNvPr id="3" name="Content Placeholder 2">
            <a:extLst>
              <a:ext uri="{FF2B5EF4-FFF2-40B4-BE49-F238E27FC236}">
                <a16:creationId xmlns:a16="http://schemas.microsoft.com/office/drawing/2014/main" id="{75397CF6-D903-EE4A-6F81-A66EFE9C79BB}"/>
              </a:ext>
            </a:extLst>
          </p:cNvPr>
          <p:cNvSpPr>
            <a:spLocks noGrp="1"/>
          </p:cNvSpPr>
          <p:nvPr>
            <p:ph idx="1"/>
          </p:nvPr>
        </p:nvSpPr>
        <p:spPr>
          <a:xfrm>
            <a:off x="457200" y="1600200"/>
            <a:ext cx="10909300" cy="4525963"/>
          </a:xfrm>
        </p:spPr>
        <p:txBody>
          <a:bodyPr>
            <a:normAutofit/>
          </a:bodyPr>
          <a:lstStyle/>
          <a:p>
            <a:r>
              <a:rPr lang="en-US" dirty="0"/>
              <a:t>Understanding how Python searches for variables is essential for debugging.</a:t>
            </a:r>
          </a:p>
          <a:p>
            <a:r>
              <a:rPr lang="en-US" dirty="0"/>
              <a:t>The LEGB Rule: Local </a:t>
            </a:r>
            <a:r>
              <a:rPr lang="en-US" dirty="0">
                <a:sym typeface="Wingdings" panose="05000000000000000000" pitchFamily="2" charset="2"/>
              </a:rPr>
              <a:t> </a:t>
            </a:r>
            <a:r>
              <a:rPr lang="en-US" dirty="0"/>
              <a:t>Enclosing </a:t>
            </a:r>
            <a:r>
              <a:rPr lang="en-US" dirty="0">
                <a:sym typeface="Wingdings" panose="05000000000000000000" pitchFamily="2" charset="2"/>
              </a:rPr>
              <a:t> </a:t>
            </a:r>
            <a:r>
              <a:rPr lang="en-US" dirty="0"/>
              <a:t>Global </a:t>
            </a:r>
            <a:r>
              <a:rPr lang="en-US" dirty="0">
                <a:sym typeface="Wingdings" panose="05000000000000000000" pitchFamily="2" charset="2"/>
              </a:rPr>
              <a:t> </a:t>
            </a:r>
            <a:r>
              <a:rPr lang="en-US" dirty="0"/>
              <a:t>Built-in.</a:t>
            </a:r>
          </a:p>
          <a:p>
            <a:r>
              <a:rPr lang="en-US" dirty="0"/>
              <a:t>First-Class Functions: Functions can be passed as arguments, returned from other functions, and assigned to variables.</a:t>
            </a:r>
          </a:p>
          <a:p>
            <a:r>
              <a:rPr lang="en-US" dirty="0"/>
              <a:t>Lambda Functions: Anonymous, one-line functions for short-lived logic: add = lambda x, y: x + y.</a:t>
            </a:r>
            <a:endParaRPr lang="en-SG" dirty="0"/>
          </a:p>
        </p:txBody>
      </p:sp>
    </p:spTree>
    <p:extLst>
      <p:ext uri="{BB962C8B-B14F-4D97-AF65-F5344CB8AC3E}">
        <p14:creationId xmlns:p14="http://schemas.microsoft.com/office/powerpoint/2010/main" val="375484402"/>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6012D-6133-8F49-DF09-27B7303F6871}"/>
              </a:ext>
            </a:extLst>
          </p:cNvPr>
          <p:cNvSpPr>
            <a:spLocks noGrp="1"/>
          </p:cNvSpPr>
          <p:nvPr>
            <p:ph type="title"/>
          </p:nvPr>
        </p:nvSpPr>
        <p:spPr>
          <a:xfrm>
            <a:off x="457200" y="274638"/>
            <a:ext cx="10960100" cy="1143000"/>
          </a:xfrm>
        </p:spPr>
        <p:txBody>
          <a:bodyPr>
            <a:normAutofit/>
          </a:bodyPr>
          <a:lstStyle/>
          <a:p>
            <a:r>
              <a:rPr lang="en-SG" b="1" dirty="0"/>
              <a:t>Python lambda — Anonymous Functions</a:t>
            </a:r>
            <a:endParaRPr lang="en-SG" dirty="0"/>
          </a:p>
        </p:txBody>
      </p:sp>
      <p:sp>
        <p:nvSpPr>
          <p:cNvPr id="3" name="Content Placeholder 2">
            <a:extLst>
              <a:ext uri="{FF2B5EF4-FFF2-40B4-BE49-F238E27FC236}">
                <a16:creationId xmlns:a16="http://schemas.microsoft.com/office/drawing/2014/main" id="{A877A841-9DC6-31C0-E075-55BFFF36E9CE}"/>
              </a:ext>
            </a:extLst>
          </p:cNvPr>
          <p:cNvSpPr>
            <a:spLocks noGrp="1"/>
          </p:cNvSpPr>
          <p:nvPr>
            <p:ph idx="1"/>
          </p:nvPr>
        </p:nvSpPr>
        <p:spPr>
          <a:xfrm>
            <a:off x="457200" y="1600200"/>
            <a:ext cx="10960100" cy="4525963"/>
          </a:xfrm>
        </p:spPr>
        <p:txBody>
          <a:bodyPr>
            <a:normAutofit/>
          </a:bodyPr>
          <a:lstStyle/>
          <a:p>
            <a:r>
              <a:rPr lang="en-SG" dirty="0"/>
              <a:t>Define </a:t>
            </a:r>
            <a:r>
              <a:rPr lang="en-SG" b="1" dirty="0"/>
              <a:t>small functions inline</a:t>
            </a:r>
            <a:endParaRPr lang="en-SG" dirty="0"/>
          </a:p>
          <a:p>
            <a:r>
              <a:rPr lang="en-SG" dirty="0"/>
              <a:t>Reduce noise for trivial logic</a:t>
            </a:r>
          </a:p>
          <a:p>
            <a:r>
              <a:rPr lang="en-SG" dirty="0"/>
              <a:t>Improve readability </a:t>
            </a:r>
            <a:r>
              <a:rPr lang="en-SG" b="1" dirty="0"/>
              <a:t>when used correctly</a:t>
            </a:r>
            <a:endParaRPr lang="en-SG" dirty="0"/>
          </a:p>
          <a:p>
            <a:r>
              <a:rPr lang="en-SG" b="1" dirty="0"/>
              <a:t>Outcome:</a:t>
            </a:r>
            <a:r>
              <a:rPr lang="en-SG" dirty="0"/>
              <a:t> engineers write concise, intentional transformations</a:t>
            </a:r>
          </a:p>
          <a:p>
            <a:endParaRPr lang="en-SG" dirty="0"/>
          </a:p>
        </p:txBody>
      </p:sp>
    </p:spTree>
    <p:extLst>
      <p:ext uri="{BB962C8B-B14F-4D97-AF65-F5344CB8AC3E}">
        <p14:creationId xmlns:p14="http://schemas.microsoft.com/office/powerpoint/2010/main" val="6120781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D518-39FE-F9E1-02D3-74E41332A0A1}"/>
              </a:ext>
            </a:extLst>
          </p:cNvPr>
          <p:cNvSpPr>
            <a:spLocks noGrp="1"/>
          </p:cNvSpPr>
          <p:nvPr>
            <p:ph type="title"/>
          </p:nvPr>
        </p:nvSpPr>
        <p:spPr/>
        <p:txBody>
          <a:bodyPr>
            <a:normAutofit/>
          </a:bodyPr>
          <a:lstStyle/>
          <a:p>
            <a:r>
              <a:rPr lang="en-US" dirty="0"/>
              <a:t>What a lambda Is</a:t>
            </a:r>
            <a:endParaRPr lang="en-SG" dirty="0"/>
          </a:p>
        </p:txBody>
      </p:sp>
      <p:sp>
        <p:nvSpPr>
          <p:cNvPr id="3" name="Content Placeholder 2">
            <a:extLst>
              <a:ext uri="{FF2B5EF4-FFF2-40B4-BE49-F238E27FC236}">
                <a16:creationId xmlns:a16="http://schemas.microsoft.com/office/drawing/2014/main" id="{1A3FA520-7227-6248-9827-B724A00FE9F7}"/>
              </a:ext>
            </a:extLst>
          </p:cNvPr>
          <p:cNvSpPr>
            <a:spLocks noGrp="1"/>
          </p:cNvSpPr>
          <p:nvPr>
            <p:ph idx="1"/>
          </p:nvPr>
        </p:nvSpPr>
        <p:spPr>
          <a:xfrm>
            <a:off x="457200" y="1600200"/>
            <a:ext cx="10883900" cy="4525963"/>
          </a:xfrm>
        </p:spPr>
        <p:txBody>
          <a:bodyPr/>
          <a:lstStyle/>
          <a:p>
            <a:r>
              <a:rPr lang="en-US" dirty="0"/>
              <a:t>A </a:t>
            </a:r>
            <a:r>
              <a:rPr lang="en-US" b="1" dirty="0"/>
              <a:t>single-expression function</a:t>
            </a:r>
            <a:endParaRPr lang="en-US" dirty="0"/>
          </a:p>
          <a:p>
            <a:r>
              <a:rPr lang="en-US" dirty="0"/>
              <a:t>No name</a:t>
            </a:r>
          </a:p>
          <a:p>
            <a:r>
              <a:rPr lang="en-US" dirty="0"/>
              <a:t>No statements (no loops, no assignments)</a:t>
            </a:r>
          </a:p>
          <a:p>
            <a:endParaRPr lang="en-US" dirty="0"/>
          </a:p>
          <a:p>
            <a:pPr marL="0" indent="0">
              <a:buNone/>
            </a:pPr>
            <a:r>
              <a:rPr lang="en-US" b="1" dirty="0"/>
              <a:t>Mental model: </a:t>
            </a:r>
            <a:r>
              <a:rPr lang="en-US" dirty="0"/>
              <a:t>A lambda is a </a:t>
            </a:r>
            <a:r>
              <a:rPr lang="en-US" i="1" dirty="0"/>
              <a:t>one-line function literal</a:t>
            </a:r>
            <a:endParaRPr lang="en-US" dirty="0"/>
          </a:p>
          <a:p>
            <a:endParaRPr lang="en-SG" dirty="0"/>
          </a:p>
        </p:txBody>
      </p:sp>
    </p:spTree>
    <p:extLst>
      <p:ext uri="{BB962C8B-B14F-4D97-AF65-F5344CB8AC3E}">
        <p14:creationId xmlns:p14="http://schemas.microsoft.com/office/powerpoint/2010/main" val="93763393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C85-8088-BD55-0041-C49793D194A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0415899-BAAD-88F4-233E-03A0AD2BD296}"/>
              </a:ext>
            </a:extLst>
          </p:cNvPr>
          <p:cNvSpPr>
            <a:spLocks noGrp="1"/>
          </p:cNvSpPr>
          <p:nvPr>
            <p:ph type="title"/>
          </p:nvPr>
        </p:nvSpPr>
        <p:spPr>
          <a:xfrm>
            <a:off x="457199" y="160337"/>
            <a:ext cx="8229600" cy="1143000"/>
          </a:xfrm>
        </p:spPr>
        <p:txBody>
          <a:bodyPr/>
          <a:lstStyle/>
          <a:p>
            <a:r>
              <a:rPr lang="en-SG" dirty="0"/>
              <a:t>Lambda Syntax</a:t>
            </a:r>
          </a:p>
        </p:txBody>
      </p:sp>
      <p:sp>
        <p:nvSpPr>
          <p:cNvPr id="8" name="Content Placeholder 7">
            <a:extLst>
              <a:ext uri="{FF2B5EF4-FFF2-40B4-BE49-F238E27FC236}">
                <a16:creationId xmlns:a16="http://schemas.microsoft.com/office/drawing/2014/main" id="{A953A06B-B993-9239-4BB6-B307BA0B1CFB}"/>
              </a:ext>
            </a:extLst>
          </p:cNvPr>
          <p:cNvSpPr>
            <a:spLocks noGrp="1"/>
          </p:cNvSpPr>
          <p:nvPr>
            <p:ph idx="1"/>
          </p:nvPr>
        </p:nvSpPr>
        <p:spPr>
          <a:xfrm>
            <a:off x="457200" y="1303338"/>
            <a:ext cx="11274427" cy="673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lambda arguments: expression</a:t>
            </a:r>
          </a:p>
        </p:txBody>
      </p:sp>
      <p:sp>
        <p:nvSpPr>
          <p:cNvPr id="10" name="Content Placeholder 7">
            <a:extLst>
              <a:ext uri="{FF2B5EF4-FFF2-40B4-BE49-F238E27FC236}">
                <a16:creationId xmlns:a16="http://schemas.microsoft.com/office/drawing/2014/main" id="{B68DC255-8D64-3783-F718-E3ACC7DDA1B1}"/>
              </a:ext>
            </a:extLst>
          </p:cNvPr>
          <p:cNvSpPr txBox="1">
            <a:spLocks/>
          </p:cNvSpPr>
          <p:nvPr/>
        </p:nvSpPr>
        <p:spPr>
          <a:xfrm>
            <a:off x="457200" y="2476500"/>
            <a:ext cx="11274426" cy="36496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Arguments on the left</a:t>
            </a:r>
          </a:p>
          <a:p>
            <a:endParaRPr lang="en-US" dirty="0"/>
          </a:p>
          <a:p>
            <a:r>
              <a:rPr lang="en-US" dirty="0"/>
              <a:t>Expression on the right</a:t>
            </a:r>
          </a:p>
          <a:p>
            <a:endParaRPr lang="en-US" dirty="0"/>
          </a:p>
          <a:p>
            <a:r>
              <a:rPr lang="en-US" dirty="0"/>
              <a:t>Expression result is returned automatically</a:t>
            </a:r>
          </a:p>
        </p:txBody>
      </p:sp>
    </p:spTree>
    <p:extLst>
      <p:ext uri="{BB962C8B-B14F-4D97-AF65-F5344CB8AC3E}">
        <p14:creationId xmlns:p14="http://schemas.microsoft.com/office/powerpoint/2010/main" val="85538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2C58E-FB80-69C2-4D35-276682EEB42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92FD50E-76B3-3CAB-88B6-8D81BDAF412D}"/>
              </a:ext>
            </a:extLst>
          </p:cNvPr>
          <p:cNvSpPr>
            <a:spLocks noGrp="1"/>
          </p:cNvSpPr>
          <p:nvPr>
            <p:ph type="title"/>
          </p:nvPr>
        </p:nvSpPr>
        <p:spPr>
          <a:xfrm>
            <a:off x="457199" y="160337"/>
            <a:ext cx="8229600" cy="1143000"/>
          </a:xfrm>
        </p:spPr>
        <p:txBody>
          <a:bodyPr/>
          <a:lstStyle/>
          <a:p>
            <a:r>
              <a:rPr lang="en-SG" dirty="0"/>
              <a:t>Lambda vs def</a:t>
            </a:r>
          </a:p>
        </p:txBody>
      </p:sp>
      <p:sp>
        <p:nvSpPr>
          <p:cNvPr id="8" name="Content Placeholder 7">
            <a:extLst>
              <a:ext uri="{FF2B5EF4-FFF2-40B4-BE49-F238E27FC236}">
                <a16:creationId xmlns:a16="http://schemas.microsoft.com/office/drawing/2014/main" id="{0050FA3D-EEB7-F6AC-FF78-66CD3E9F445A}"/>
              </a:ext>
            </a:extLst>
          </p:cNvPr>
          <p:cNvSpPr>
            <a:spLocks noGrp="1"/>
          </p:cNvSpPr>
          <p:nvPr>
            <p:ph idx="1"/>
          </p:nvPr>
        </p:nvSpPr>
        <p:spPr>
          <a:xfrm>
            <a:off x="457199" y="1930401"/>
            <a:ext cx="5257801" cy="1054100"/>
          </a:xfrm>
        </p:spPr>
        <p:style>
          <a:lnRef idx="2">
            <a:schemeClr val="dk1"/>
          </a:lnRef>
          <a:fillRef idx="1">
            <a:schemeClr val="lt1"/>
          </a:fillRef>
          <a:effectRef idx="0">
            <a:schemeClr val="dk1"/>
          </a:effectRef>
          <a:fontRef idx="minor">
            <a:schemeClr val="dk1"/>
          </a:fontRef>
        </p:style>
        <p:txBody>
          <a:bodyPr>
            <a:normAutofit fontScale="92500" lnSpcReduction="10000"/>
          </a:bodyPr>
          <a:lstStyle/>
          <a:p>
            <a:pPr marL="0" indent="0">
              <a:buNone/>
            </a:pPr>
            <a:r>
              <a:rPr lang="en-US" dirty="0"/>
              <a:t>def square(x):</a:t>
            </a:r>
          </a:p>
          <a:p>
            <a:pPr marL="0" indent="0">
              <a:buNone/>
            </a:pPr>
            <a:r>
              <a:rPr lang="en-US" dirty="0"/>
              <a:t>    return x * x</a:t>
            </a:r>
          </a:p>
        </p:txBody>
      </p:sp>
      <p:sp>
        <p:nvSpPr>
          <p:cNvPr id="10" name="Content Placeholder 7">
            <a:extLst>
              <a:ext uri="{FF2B5EF4-FFF2-40B4-BE49-F238E27FC236}">
                <a16:creationId xmlns:a16="http://schemas.microsoft.com/office/drawing/2014/main" id="{41F7FF13-DCF4-E5A7-FB8D-5AC1C95543BD}"/>
              </a:ext>
            </a:extLst>
          </p:cNvPr>
          <p:cNvSpPr txBox="1">
            <a:spLocks/>
          </p:cNvSpPr>
          <p:nvPr/>
        </p:nvSpPr>
        <p:spPr>
          <a:xfrm>
            <a:off x="6094412" y="1930401"/>
            <a:ext cx="5637213"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it-IT" dirty="0"/>
              <a:t>square = lambda x: x * x</a:t>
            </a:r>
          </a:p>
        </p:txBody>
      </p:sp>
      <p:sp>
        <p:nvSpPr>
          <p:cNvPr id="2" name="Content Placeholder 7">
            <a:extLst>
              <a:ext uri="{FF2B5EF4-FFF2-40B4-BE49-F238E27FC236}">
                <a16:creationId xmlns:a16="http://schemas.microsoft.com/office/drawing/2014/main" id="{B381F718-548C-FA39-D68D-454E3388E51D}"/>
              </a:ext>
            </a:extLst>
          </p:cNvPr>
          <p:cNvSpPr txBox="1">
            <a:spLocks/>
          </p:cNvSpPr>
          <p:nvPr/>
        </p:nvSpPr>
        <p:spPr>
          <a:xfrm>
            <a:off x="457199" y="3987801"/>
            <a:ext cx="11274426"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a:t>
            </a:r>
            <a:r>
              <a:rPr lang="en-US" dirty="0"/>
              <a:t> if it needs a name or explanation, use def</a:t>
            </a:r>
          </a:p>
        </p:txBody>
      </p:sp>
    </p:spTree>
    <p:extLst>
      <p:ext uri="{BB962C8B-B14F-4D97-AF65-F5344CB8AC3E}">
        <p14:creationId xmlns:p14="http://schemas.microsoft.com/office/powerpoint/2010/main" val="121188248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F070E-BF8D-FEB2-1A23-2A11FEB12BC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DF5B3B6-A83F-847B-F9E1-DA974DFD8293}"/>
              </a:ext>
            </a:extLst>
          </p:cNvPr>
          <p:cNvSpPr>
            <a:spLocks noGrp="1"/>
          </p:cNvSpPr>
          <p:nvPr>
            <p:ph type="title"/>
          </p:nvPr>
        </p:nvSpPr>
        <p:spPr>
          <a:xfrm>
            <a:off x="457199" y="160337"/>
            <a:ext cx="8229600" cy="1143000"/>
          </a:xfrm>
        </p:spPr>
        <p:txBody>
          <a:bodyPr/>
          <a:lstStyle/>
          <a:p>
            <a:r>
              <a:rPr lang="en-US" b="1" dirty="0"/>
              <a:t>Where lambda Is Used Well</a:t>
            </a:r>
          </a:p>
        </p:txBody>
      </p:sp>
      <p:sp>
        <p:nvSpPr>
          <p:cNvPr id="8" name="Content Placeholder 7">
            <a:extLst>
              <a:ext uri="{FF2B5EF4-FFF2-40B4-BE49-F238E27FC236}">
                <a16:creationId xmlns:a16="http://schemas.microsoft.com/office/drawing/2014/main" id="{9424C4A6-BC06-DE1B-F063-4869CFDBB1A2}"/>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users.sort</a:t>
            </a:r>
            <a:r>
              <a:rPr lang="en-US" dirty="0"/>
              <a:t>(key=lambda u: </a:t>
            </a:r>
            <a:r>
              <a:rPr lang="en-US" dirty="0" err="1"/>
              <a:t>u.last_login</a:t>
            </a:r>
            <a:r>
              <a:rPr lang="en-US" dirty="0"/>
              <a:t>)</a:t>
            </a:r>
          </a:p>
        </p:txBody>
      </p:sp>
      <p:sp>
        <p:nvSpPr>
          <p:cNvPr id="2" name="Content Placeholder 7">
            <a:extLst>
              <a:ext uri="{FF2B5EF4-FFF2-40B4-BE49-F238E27FC236}">
                <a16:creationId xmlns:a16="http://schemas.microsoft.com/office/drawing/2014/main" id="{961EF869-B161-0529-C659-596F280263FE}"/>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sorted()</a:t>
            </a:r>
          </a:p>
          <a:p>
            <a:r>
              <a:rPr lang="en-US" dirty="0"/>
              <a:t>min() / max()</a:t>
            </a:r>
          </a:p>
          <a:p>
            <a:r>
              <a:rPr lang="en-US" dirty="0"/>
              <a:t>map(), filter()</a:t>
            </a:r>
          </a:p>
          <a:p>
            <a:r>
              <a:rPr lang="en-US" dirty="0"/>
              <a:t>Key functions</a:t>
            </a:r>
          </a:p>
        </p:txBody>
      </p:sp>
    </p:spTree>
    <p:extLst>
      <p:ext uri="{BB962C8B-B14F-4D97-AF65-F5344CB8AC3E}">
        <p14:creationId xmlns:p14="http://schemas.microsoft.com/office/powerpoint/2010/main" val="28436326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B86C6-2CA4-8026-4E6F-394D5691BE9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10FCA03-76D2-6177-B2DE-3E0F0698B458}"/>
              </a:ext>
            </a:extLst>
          </p:cNvPr>
          <p:cNvSpPr>
            <a:spLocks noGrp="1"/>
          </p:cNvSpPr>
          <p:nvPr>
            <p:ph type="title"/>
          </p:nvPr>
        </p:nvSpPr>
        <p:spPr>
          <a:xfrm>
            <a:off x="457199" y="160337"/>
            <a:ext cx="8229600" cy="1143000"/>
          </a:xfrm>
        </p:spPr>
        <p:txBody>
          <a:bodyPr/>
          <a:lstStyle/>
          <a:p>
            <a:r>
              <a:rPr lang="en-SG" b="1" dirty="0"/>
              <a:t>Lambda with sorted()</a:t>
            </a:r>
          </a:p>
        </p:txBody>
      </p:sp>
      <p:sp>
        <p:nvSpPr>
          <p:cNvPr id="8" name="Content Placeholder 7">
            <a:extLst>
              <a:ext uri="{FF2B5EF4-FFF2-40B4-BE49-F238E27FC236}">
                <a16:creationId xmlns:a16="http://schemas.microsoft.com/office/drawing/2014/main" id="{F1D8E441-6228-5F9B-BEF2-6B8BFD3B2510}"/>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sorted(orders, key=lambda o: </a:t>
            </a:r>
            <a:r>
              <a:rPr lang="en-US" dirty="0" err="1"/>
              <a:t>o.total</a:t>
            </a:r>
            <a:r>
              <a:rPr lang="en-US" dirty="0"/>
              <a:t>)</a:t>
            </a:r>
          </a:p>
        </p:txBody>
      </p:sp>
      <p:sp>
        <p:nvSpPr>
          <p:cNvPr id="2" name="Content Placeholder 7">
            <a:extLst>
              <a:ext uri="{FF2B5EF4-FFF2-40B4-BE49-F238E27FC236}">
                <a16:creationId xmlns:a16="http://schemas.microsoft.com/office/drawing/2014/main" id="{95A45525-FF6B-8650-BF2C-B437931976C4}"/>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Clear intent</a:t>
            </a:r>
          </a:p>
          <a:p>
            <a:r>
              <a:rPr lang="en-US" dirty="0"/>
              <a:t>No helper function needed</a:t>
            </a:r>
          </a:p>
          <a:p>
            <a:r>
              <a:rPr lang="en-US" dirty="0"/>
              <a:t>Logic is obvious at the call site</a:t>
            </a:r>
          </a:p>
        </p:txBody>
      </p:sp>
    </p:spTree>
    <p:extLst>
      <p:ext uri="{BB962C8B-B14F-4D97-AF65-F5344CB8AC3E}">
        <p14:creationId xmlns:p14="http://schemas.microsoft.com/office/powerpoint/2010/main" val="171288485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6EF1-670F-7883-0267-E39E88186342}"/>
              </a:ext>
            </a:extLst>
          </p:cNvPr>
          <p:cNvSpPr>
            <a:spLocks noGrp="1"/>
          </p:cNvSpPr>
          <p:nvPr>
            <p:ph type="title"/>
          </p:nvPr>
        </p:nvSpPr>
        <p:spPr/>
        <p:txBody>
          <a:bodyPr>
            <a:normAutofit/>
          </a:bodyPr>
          <a:lstStyle/>
          <a:p>
            <a:r>
              <a:rPr lang="en-US" b="1" dirty="0"/>
              <a:t>When NOT to Use lambda</a:t>
            </a:r>
            <a:endParaRPr lang="en-SG" dirty="0"/>
          </a:p>
        </p:txBody>
      </p:sp>
      <p:sp>
        <p:nvSpPr>
          <p:cNvPr id="3" name="Content Placeholder 2">
            <a:extLst>
              <a:ext uri="{FF2B5EF4-FFF2-40B4-BE49-F238E27FC236}">
                <a16:creationId xmlns:a16="http://schemas.microsoft.com/office/drawing/2014/main" id="{B756F548-502C-9FC9-9ED9-ACB0D25BBD1D}"/>
              </a:ext>
            </a:extLst>
          </p:cNvPr>
          <p:cNvSpPr>
            <a:spLocks noGrp="1"/>
          </p:cNvSpPr>
          <p:nvPr>
            <p:ph idx="1"/>
          </p:nvPr>
        </p:nvSpPr>
        <p:spPr/>
        <p:txBody>
          <a:bodyPr/>
          <a:lstStyle/>
          <a:p>
            <a:r>
              <a:rPr lang="en-US" dirty="0"/>
              <a:t>Multi-step logic</a:t>
            </a:r>
          </a:p>
          <a:p>
            <a:r>
              <a:rPr lang="en-US" dirty="0"/>
              <a:t>Complex conditions</a:t>
            </a:r>
          </a:p>
          <a:p>
            <a:r>
              <a:rPr lang="en-US" dirty="0"/>
              <a:t>Error handling</a:t>
            </a:r>
          </a:p>
          <a:p>
            <a:r>
              <a:rPr lang="en-US" dirty="0"/>
              <a:t>Reusable business logic</a:t>
            </a:r>
          </a:p>
          <a:p>
            <a:pPr marL="0" indent="0">
              <a:buNone/>
            </a:pPr>
            <a:endParaRPr lang="en-US" b="1" dirty="0"/>
          </a:p>
          <a:p>
            <a:pPr marL="0" indent="0">
              <a:buNone/>
            </a:pPr>
            <a:r>
              <a:rPr lang="en-US" b="1" dirty="0"/>
              <a:t>Anti-pattern:</a:t>
            </a:r>
            <a:r>
              <a:rPr lang="en-US" dirty="0"/>
              <a:t> clever one-liners</a:t>
            </a:r>
          </a:p>
          <a:p>
            <a:endParaRPr lang="en-SG" dirty="0"/>
          </a:p>
        </p:txBody>
      </p:sp>
    </p:spTree>
    <p:extLst>
      <p:ext uri="{BB962C8B-B14F-4D97-AF65-F5344CB8AC3E}">
        <p14:creationId xmlns:p14="http://schemas.microsoft.com/office/powerpoint/2010/main" val="338918804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51976-562A-3BCC-EF7D-3834D9EB229E}"/>
              </a:ext>
            </a:extLst>
          </p:cNvPr>
          <p:cNvSpPr>
            <a:spLocks noGrp="1"/>
          </p:cNvSpPr>
          <p:nvPr>
            <p:ph type="title"/>
          </p:nvPr>
        </p:nvSpPr>
        <p:spPr/>
        <p:txBody>
          <a:bodyPr>
            <a:normAutofit/>
          </a:bodyPr>
          <a:lstStyle/>
          <a:p>
            <a:r>
              <a:rPr lang="en-US" dirty="0"/>
              <a:t>Readability Rule</a:t>
            </a:r>
            <a:endParaRPr lang="en-SG" dirty="0"/>
          </a:p>
        </p:txBody>
      </p:sp>
      <p:sp>
        <p:nvSpPr>
          <p:cNvPr id="3" name="Content Placeholder 2">
            <a:extLst>
              <a:ext uri="{FF2B5EF4-FFF2-40B4-BE49-F238E27FC236}">
                <a16:creationId xmlns:a16="http://schemas.microsoft.com/office/drawing/2014/main" id="{E046CA47-A767-4786-F953-802AE911F665}"/>
              </a:ext>
            </a:extLst>
          </p:cNvPr>
          <p:cNvSpPr>
            <a:spLocks noGrp="1"/>
          </p:cNvSpPr>
          <p:nvPr>
            <p:ph idx="1"/>
          </p:nvPr>
        </p:nvSpPr>
        <p:spPr>
          <a:xfrm>
            <a:off x="457200" y="2057399"/>
            <a:ext cx="8229600" cy="4525963"/>
          </a:xfrm>
        </p:spPr>
        <p:txBody>
          <a:bodyPr>
            <a:normAutofit/>
          </a:bodyPr>
          <a:lstStyle/>
          <a:p>
            <a:r>
              <a:rPr lang="en-US" sz="3600" dirty="0"/>
              <a:t>Ask:</a:t>
            </a:r>
          </a:p>
          <a:p>
            <a:pPr lvl="1"/>
            <a:r>
              <a:rPr lang="en-US" sz="3200" dirty="0"/>
              <a:t>Can this be understood in </a:t>
            </a:r>
            <a:r>
              <a:rPr lang="en-US" sz="3200" b="1" dirty="0"/>
              <a:t>one glance</a:t>
            </a:r>
            <a:r>
              <a:rPr lang="en-US" sz="3200" dirty="0"/>
              <a:t>?</a:t>
            </a:r>
          </a:p>
          <a:p>
            <a:pPr lvl="1"/>
            <a:r>
              <a:rPr lang="en-US" sz="3200" dirty="0"/>
              <a:t>Would a new hire understand it immediately?</a:t>
            </a:r>
          </a:p>
          <a:p>
            <a:r>
              <a:rPr lang="en-US" sz="3600" dirty="0"/>
              <a:t>If not → use def</a:t>
            </a:r>
          </a:p>
          <a:p>
            <a:endParaRPr lang="en-SG" sz="3600" dirty="0"/>
          </a:p>
        </p:txBody>
      </p:sp>
    </p:spTree>
    <p:extLst>
      <p:ext uri="{BB962C8B-B14F-4D97-AF65-F5344CB8AC3E}">
        <p14:creationId xmlns:p14="http://schemas.microsoft.com/office/powerpoint/2010/main" val="27912771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A45D-6D43-C50D-3E75-5A4C05D6BA8D}"/>
              </a:ext>
            </a:extLst>
          </p:cNvPr>
          <p:cNvSpPr>
            <a:spLocks noGrp="1"/>
          </p:cNvSpPr>
          <p:nvPr>
            <p:ph type="title"/>
          </p:nvPr>
        </p:nvSpPr>
        <p:spPr/>
        <p:txBody>
          <a:bodyPr>
            <a:normAutofit/>
          </a:bodyPr>
          <a:lstStyle/>
          <a:p>
            <a:r>
              <a:rPr lang="en-US" dirty="0"/>
              <a:t>Lambda and Scope</a:t>
            </a:r>
            <a:endParaRPr lang="en-SG" dirty="0"/>
          </a:p>
        </p:txBody>
      </p:sp>
      <p:sp>
        <p:nvSpPr>
          <p:cNvPr id="3" name="Content Placeholder 2">
            <a:extLst>
              <a:ext uri="{FF2B5EF4-FFF2-40B4-BE49-F238E27FC236}">
                <a16:creationId xmlns:a16="http://schemas.microsoft.com/office/drawing/2014/main" id="{64A5563B-1F00-271D-ECEF-1A182D25E6B8}"/>
              </a:ext>
            </a:extLst>
          </p:cNvPr>
          <p:cNvSpPr>
            <a:spLocks noGrp="1"/>
          </p:cNvSpPr>
          <p:nvPr>
            <p:ph idx="1"/>
          </p:nvPr>
        </p:nvSpPr>
        <p:spPr/>
        <p:txBody>
          <a:bodyPr/>
          <a:lstStyle/>
          <a:p>
            <a:r>
              <a:rPr lang="en-US" dirty="0"/>
              <a:t>Lambdas capture variables from outer scope</a:t>
            </a:r>
          </a:p>
          <a:p>
            <a:r>
              <a:rPr lang="en-US" dirty="0"/>
              <a:t>Same closure rules as functions</a:t>
            </a:r>
          </a:p>
          <a:p>
            <a:pPr marL="0" indent="0">
              <a:buNone/>
            </a:pPr>
            <a:endParaRPr lang="en-US" b="1" dirty="0"/>
          </a:p>
          <a:p>
            <a:pPr marL="0" indent="0">
              <a:buNone/>
            </a:pPr>
            <a:r>
              <a:rPr lang="en-US" b="1" dirty="0"/>
              <a:t>Caution:</a:t>
            </a:r>
            <a:r>
              <a:rPr lang="en-US" dirty="0"/>
              <a:t> late binding in loops</a:t>
            </a:r>
          </a:p>
          <a:p>
            <a:endParaRPr lang="en-SG" dirty="0"/>
          </a:p>
        </p:txBody>
      </p:sp>
    </p:spTree>
    <p:extLst>
      <p:ext uri="{BB962C8B-B14F-4D97-AF65-F5344CB8AC3E}">
        <p14:creationId xmlns:p14="http://schemas.microsoft.com/office/powerpoint/2010/main" val="79413651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49A39-8CEC-7EAF-3DF4-31EFA7037A2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B34D27A-DC2D-A7CB-5100-F0B29CE8B7BB}"/>
              </a:ext>
            </a:extLst>
          </p:cNvPr>
          <p:cNvSpPr>
            <a:spLocks noGrp="1"/>
          </p:cNvSpPr>
          <p:nvPr>
            <p:ph type="title"/>
          </p:nvPr>
        </p:nvSpPr>
        <p:spPr>
          <a:xfrm>
            <a:off x="457199" y="160337"/>
            <a:ext cx="8229600" cy="1143000"/>
          </a:xfrm>
        </p:spPr>
        <p:txBody>
          <a:bodyPr/>
          <a:lstStyle/>
          <a:p>
            <a:r>
              <a:rPr lang="en-SG" b="1" dirty="0"/>
              <a:t>Common Pitfall</a:t>
            </a:r>
          </a:p>
        </p:txBody>
      </p:sp>
      <p:sp>
        <p:nvSpPr>
          <p:cNvPr id="8" name="Content Placeholder 7">
            <a:extLst>
              <a:ext uri="{FF2B5EF4-FFF2-40B4-BE49-F238E27FC236}">
                <a16:creationId xmlns:a16="http://schemas.microsoft.com/office/drawing/2014/main" id="{7A6C92CA-1D0E-71BD-6D96-8DEDC25D5990}"/>
              </a:ext>
            </a:extLst>
          </p:cNvPr>
          <p:cNvSpPr>
            <a:spLocks noGrp="1"/>
          </p:cNvSpPr>
          <p:nvPr>
            <p:ph idx="1"/>
          </p:nvPr>
        </p:nvSpPr>
        <p:spPr>
          <a:xfrm>
            <a:off x="228599" y="1989138"/>
            <a:ext cx="5740401" cy="2989262"/>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4000" dirty="0"/>
              <a:t># </a:t>
            </a:r>
            <a:r>
              <a:rPr lang="en-SG" sz="4000" dirty="0"/>
              <a:t>All lambdas return </a:t>
            </a:r>
            <a:r>
              <a:rPr lang="en-SG" dirty="0"/>
              <a:t>2</a:t>
            </a:r>
            <a:endParaRPr lang="en-US" sz="4000" dirty="0"/>
          </a:p>
          <a:p>
            <a:pPr marL="0" indent="0">
              <a:buNone/>
            </a:pPr>
            <a:r>
              <a:rPr lang="en-US" sz="4000" dirty="0" err="1"/>
              <a:t>funcs</a:t>
            </a:r>
            <a:r>
              <a:rPr lang="en-US" sz="4000" dirty="0"/>
              <a:t> = []</a:t>
            </a:r>
          </a:p>
          <a:p>
            <a:pPr marL="0" indent="0">
              <a:buNone/>
            </a:pPr>
            <a:r>
              <a:rPr lang="en-US" sz="4000" dirty="0"/>
              <a:t>for </a:t>
            </a:r>
            <a:r>
              <a:rPr lang="en-US" sz="4000" dirty="0" err="1"/>
              <a:t>i</a:t>
            </a:r>
            <a:r>
              <a:rPr lang="en-US" sz="4000" dirty="0"/>
              <a:t> in range(3):</a:t>
            </a:r>
          </a:p>
          <a:p>
            <a:pPr marL="0" indent="0">
              <a:buNone/>
            </a:pPr>
            <a:r>
              <a:rPr lang="en-US" sz="4000" dirty="0"/>
              <a:t>    </a:t>
            </a:r>
            <a:r>
              <a:rPr lang="en-US" sz="4000" dirty="0" err="1"/>
              <a:t>funcs.append</a:t>
            </a:r>
            <a:r>
              <a:rPr lang="en-US" sz="4000" dirty="0"/>
              <a:t>(lambda: </a:t>
            </a:r>
            <a:r>
              <a:rPr lang="en-US" sz="4000" dirty="0" err="1"/>
              <a:t>i</a:t>
            </a:r>
            <a:r>
              <a:rPr lang="en-US" sz="4000" dirty="0"/>
              <a:t>)</a:t>
            </a:r>
          </a:p>
        </p:txBody>
      </p:sp>
      <p:sp>
        <p:nvSpPr>
          <p:cNvPr id="10" name="Content Placeholder 7">
            <a:extLst>
              <a:ext uri="{FF2B5EF4-FFF2-40B4-BE49-F238E27FC236}">
                <a16:creationId xmlns:a16="http://schemas.microsoft.com/office/drawing/2014/main" id="{38AEE923-F9D9-0246-38AD-272AE968A9C9}"/>
              </a:ext>
            </a:extLst>
          </p:cNvPr>
          <p:cNvSpPr txBox="1">
            <a:spLocks/>
          </p:cNvSpPr>
          <p:nvPr/>
        </p:nvSpPr>
        <p:spPr>
          <a:xfrm>
            <a:off x="6121400" y="1989137"/>
            <a:ext cx="5838825" cy="2989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nn-NO" sz="4000" dirty="0"/>
              <a:t># fix</a:t>
            </a:r>
          </a:p>
          <a:p>
            <a:pPr marL="0" indent="0">
              <a:buNone/>
            </a:pPr>
            <a:r>
              <a:rPr lang="nn-NO" sz="4000" dirty="0"/>
              <a:t>funcs.append(lambda i=i: i)</a:t>
            </a:r>
          </a:p>
        </p:txBody>
      </p:sp>
    </p:spTree>
    <p:extLst>
      <p:ext uri="{BB962C8B-B14F-4D97-AF65-F5344CB8AC3E}">
        <p14:creationId xmlns:p14="http://schemas.microsoft.com/office/powerpoint/2010/main" val="400943101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069E-77A9-8E6D-5071-2687F6D1C726}"/>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0A439AFE-A476-372C-A3A4-51798B6213BC}"/>
              </a:ext>
            </a:extLst>
          </p:cNvPr>
          <p:cNvSpPr>
            <a:spLocks noGrp="1"/>
          </p:cNvSpPr>
          <p:nvPr>
            <p:ph idx="1"/>
          </p:nvPr>
        </p:nvSpPr>
        <p:spPr>
          <a:xfrm>
            <a:off x="457200" y="2286001"/>
            <a:ext cx="5384800" cy="2781300"/>
          </a:xfrm>
        </p:spPr>
        <p:txBody>
          <a:bodyPr>
            <a:normAutofit/>
          </a:bodyPr>
          <a:lstStyle/>
          <a:p>
            <a:pPr marL="0" indent="0">
              <a:buNone/>
            </a:pPr>
            <a:r>
              <a:rPr lang="en-US" sz="4000" dirty="0"/>
              <a:t>Use </a:t>
            </a:r>
            <a:r>
              <a:rPr lang="en-US" sz="4000" b="1" dirty="0"/>
              <a:t>lambda</a:t>
            </a:r>
            <a:r>
              <a:rPr lang="en-US" sz="4000" dirty="0"/>
              <a:t> for:</a:t>
            </a:r>
          </a:p>
          <a:p>
            <a:pPr marL="457200" lvl="1" indent="0">
              <a:buNone/>
            </a:pPr>
            <a:r>
              <a:rPr lang="en-US" sz="3600" dirty="0"/>
              <a:t>small, local transformations</a:t>
            </a:r>
          </a:p>
          <a:p>
            <a:pPr marL="457200" lvl="1" indent="0">
              <a:buNone/>
            </a:pPr>
            <a:r>
              <a:rPr lang="en-US" sz="3600" dirty="0"/>
              <a:t>key functions</a:t>
            </a:r>
          </a:p>
          <a:p>
            <a:pPr marL="0" indent="0">
              <a:buNone/>
            </a:pPr>
            <a:endParaRPr lang="en-US" sz="4000" dirty="0"/>
          </a:p>
          <a:p>
            <a:pPr marL="0" indent="0">
              <a:buNone/>
            </a:pPr>
            <a:endParaRPr lang="en-SG" sz="4000" dirty="0"/>
          </a:p>
        </p:txBody>
      </p:sp>
      <p:sp>
        <p:nvSpPr>
          <p:cNvPr id="4" name="Content Placeholder 2">
            <a:extLst>
              <a:ext uri="{FF2B5EF4-FFF2-40B4-BE49-F238E27FC236}">
                <a16:creationId xmlns:a16="http://schemas.microsoft.com/office/drawing/2014/main" id="{B03916D8-B4A1-2B55-B3AA-8DEC2BF10095}"/>
              </a:ext>
            </a:extLst>
          </p:cNvPr>
          <p:cNvSpPr txBox="1">
            <a:spLocks/>
          </p:cNvSpPr>
          <p:nvPr/>
        </p:nvSpPr>
        <p:spPr>
          <a:xfrm>
            <a:off x="6346826" y="2324101"/>
            <a:ext cx="5384800" cy="27813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400" dirty="0"/>
              <a:t>Prefer </a:t>
            </a:r>
            <a:r>
              <a:rPr lang="en-US" sz="4400" b="1" dirty="0"/>
              <a:t>def</a:t>
            </a:r>
            <a:r>
              <a:rPr lang="en-US" sz="4400" dirty="0"/>
              <a:t> for:</a:t>
            </a:r>
          </a:p>
          <a:p>
            <a:pPr marL="457200" lvl="1" indent="0">
              <a:buNone/>
            </a:pPr>
            <a:r>
              <a:rPr lang="en-US" sz="4000" dirty="0"/>
              <a:t>business logic</a:t>
            </a:r>
          </a:p>
          <a:p>
            <a:pPr marL="457200" lvl="1" indent="0">
              <a:buNone/>
            </a:pPr>
            <a:r>
              <a:rPr lang="en-US" sz="4000" dirty="0"/>
              <a:t>anything non-trivial</a:t>
            </a:r>
          </a:p>
          <a:p>
            <a:pPr marL="0" indent="0">
              <a:buNone/>
            </a:pPr>
            <a:endParaRPr lang="en-SG" sz="4400" dirty="0"/>
          </a:p>
        </p:txBody>
      </p:sp>
    </p:spTree>
    <p:extLst>
      <p:ext uri="{BB962C8B-B14F-4D97-AF65-F5344CB8AC3E}">
        <p14:creationId xmlns:p14="http://schemas.microsoft.com/office/powerpoint/2010/main" val="7953637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20396-415D-DFB3-A388-285F8071A64F}"/>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6EE40E6-75A8-7800-970A-CF90B370979C}"/>
              </a:ext>
            </a:extLst>
          </p:cNvPr>
          <p:cNvSpPr>
            <a:spLocks noGrp="1"/>
          </p:cNvSpPr>
          <p:nvPr>
            <p:ph idx="1"/>
          </p:nvPr>
        </p:nvSpPr>
        <p:spPr>
          <a:xfrm>
            <a:off x="457200" y="1600200"/>
            <a:ext cx="10998200" cy="4525963"/>
          </a:xfrm>
        </p:spPr>
        <p:txBody>
          <a:bodyPr/>
          <a:lstStyle/>
          <a:p>
            <a:r>
              <a:rPr lang="en-US" dirty="0"/>
              <a:t>lambda = one-expression function</a:t>
            </a:r>
          </a:p>
          <a:p>
            <a:r>
              <a:rPr lang="en-US" dirty="0"/>
              <a:t>Inline and disposable</a:t>
            </a:r>
          </a:p>
          <a:p>
            <a:r>
              <a:rPr lang="en-US" dirty="0"/>
              <a:t>Readability &gt; brevity</a:t>
            </a:r>
          </a:p>
          <a:p>
            <a:r>
              <a:rPr lang="en-US" dirty="0"/>
              <a:t>def is always acceptable</a:t>
            </a:r>
          </a:p>
          <a:p>
            <a:endParaRPr lang="en-US" dirty="0"/>
          </a:p>
          <a:p>
            <a:pPr marL="0" indent="0">
              <a:buNone/>
            </a:pPr>
            <a:r>
              <a:rPr lang="en-US" b="1" dirty="0"/>
              <a:t>Final mental model: </a:t>
            </a:r>
            <a:r>
              <a:rPr lang="en-US" i="1" dirty="0"/>
              <a:t>If you have to explain it, don’t lambda it.</a:t>
            </a:r>
            <a:endParaRPr lang="en-US" dirty="0"/>
          </a:p>
          <a:p>
            <a:endParaRPr lang="en-SG" dirty="0"/>
          </a:p>
        </p:txBody>
      </p:sp>
    </p:spTree>
    <p:extLst>
      <p:ext uri="{BB962C8B-B14F-4D97-AF65-F5344CB8AC3E}">
        <p14:creationId xmlns:p14="http://schemas.microsoft.com/office/powerpoint/2010/main" val="271917716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DD1B6-D528-D0DD-4189-875D09D73BE5}"/>
              </a:ext>
            </a:extLst>
          </p:cNvPr>
          <p:cNvSpPr>
            <a:spLocks noGrp="1"/>
          </p:cNvSpPr>
          <p:nvPr>
            <p:ph type="title"/>
          </p:nvPr>
        </p:nvSpPr>
        <p:spPr/>
        <p:txBody>
          <a:bodyPr>
            <a:normAutofit/>
          </a:bodyPr>
          <a:lstStyle/>
          <a:p>
            <a:r>
              <a:rPr lang="en-US" dirty="0"/>
              <a:t>Getting Help in Python</a:t>
            </a:r>
            <a:endParaRPr lang="en-SG" dirty="0"/>
          </a:p>
        </p:txBody>
      </p:sp>
      <p:sp>
        <p:nvSpPr>
          <p:cNvPr id="3" name="Content Placeholder 2">
            <a:extLst>
              <a:ext uri="{FF2B5EF4-FFF2-40B4-BE49-F238E27FC236}">
                <a16:creationId xmlns:a16="http://schemas.microsoft.com/office/drawing/2014/main" id="{EB2F5F6C-43AB-ECAA-4EC0-D1C3E4C793F5}"/>
              </a:ext>
            </a:extLst>
          </p:cNvPr>
          <p:cNvSpPr>
            <a:spLocks noGrp="1"/>
          </p:cNvSpPr>
          <p:nvPr>
            <p:ph idx="1"/>
          </p:nvPr>
        </p:nvSpPr>
        <p:spPr/>
        <p:txBody>
          <a:bodyPr/>
          <a:lstStyle/>
          <a:p>
            <a:r>
              <a:rPr lang="en-US" dirty="0"/>
              <a:t>Python is </a:t>
            </a:r>
            <a:r>
              <a:rPr lang="en-US" b="1" dirty="0"/>
              <a:t>self-describing</a:t>
            </a:r>
            <a:endParaRPr lang="en-US" dirty="0"/>
          </a:p>
          <a:p>
            <a:r>
              <a:rPr lang="en-US" dirty="0"/>
              <a:t>Engineers should </a:t>
            </a:r>
            <a:r>
              <a:rPr lang="en-US" b="1" dirty="0"/>
              <a:t>inspect, not guess</a:t>
            </a:r>
            <a:endParaRPr lang="en-US" dirty="0"/>
          </a:p>
          <a:p>
            <a:r>
              <a:rPr lang="en-US" dirty="0"/>
              <a:t>Built-in help tools reduce context-switching</a:t>
            </a:r>
          </a:p>
          <a:p>
            <a:r>
              <a:rPr lang="en-US" b="1" dirty="0"/>
              <a:t>Outcome:</a:t>
            </a:r>
            <a:r>
              <a:rPr lang="en-US" dirty="0"/>
              <a:t> engineers navigate unfamiliar codebases faster</a:t>
            </a:r>
          </a:p>
          <a:p>
            <a:endParaRPr lang="en-US" dirty="0"/>
          </a:p>
          <a:p>
            <a:endParaRPr lang="en-SG" dirty="0"/>
          </a:p>
        </p:txBody>
      </p:sp>
    </p:spTree>
    <p:extLst>
      <p:ext uri="{BB962C8B-B14F-4D97-AF65-F5344CB8AC3E}">
        <p14:creationId xmlns:p14="http://schemas.microsoft.com/office/powerpoint/2010/main" val="396541957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0F82-046E-8504-4158-9C0C8B5D97BB}"/>
              </a:ext>
            </a:extLst>
          </p:cNvPr>
          <p:cNvSpPr>
            <a:spLocks noGrp="1"/>
          </p:cNvSpPr>
          <p:nvPr>
            <p:ph type="title"/>
          </p:nvPr>
        </p:nvSpPr>
        <p:spPr/>
        <p:txBody>
          <a:bodyPr>
            <a:normAutofit/>
          </a:bodyPr>
          <a:lstStyle/>
          <a:p>
            <a:r>
              <a:rPr lang="en-US" dirty="0"/>
              <a:t>help() — The Built-In Manual</a:t>
            </a:r>
            <a:endParaRPr lang="en-SG" dirty="0"/>
          </a:p>
        </p:txBody>
      </p:sp>
      <p:sp>
        <p:nvSpPr>
          <p:cNvPr id="3" name="Content Placeholder 2">
            <a:extLst>
              <a:ext uri="{FF2B5EF4-FFF2-40B4-BE49-F238E27FC236}">
                <a16:creationId xmlns:a16="http://schemas.microsoft.com/office/drawing/2014/main" id="{E9C6DEF8-4C0F-2FF0-3AE8-9A02EF259D0A}"/>
              </a:ext>
            </a:extLst>
          </p:cNvPr>
          <p:cNvSpPr>
            <a:spLocks noGrp="1"/>
          </p:cNvSpPr>
          <p:nvPr>
            <p:ph idx="1"/>
          </p:nvPr>
        </p:nvSpPr>
        <p:spPr/>
        <p:txBody>
          <a:bodyPr>
            <a:normAutofit fontScale="92500" lnSpcReduction="20000"/>
          </a:bodyPr>
          <a:lstStyle/>
          <a:p>
            <a:r>
              <a:rPr lang="en-US" dirty="0"/>
              <a:t>Displays documentation for:</a:t>
            </a:r>
          </a:p>
          <a:p>
            <a:pPr lvl="1"/>
            <a:r>
              <a:rPr lang="en-US" dirty="0"/>
              <a:t>functions</a:t>
            </a:r>
          </a:p>
          <a:p>
            <a:pPr lvl="1"/>
            <a:r>
              <a:rPr lang="en-US" dirty="0"/>
              <a:t>classes</a:t>
            </a:r>
          </a:p>
          <a:p>
            <a:pPr lvl="1"/>
            <a:r>
              <a:rPr lang="en-US" dirty="0"/>
              <a:t>modules</a:t>
            </a:r>
          </a:p>
          <a:p>
            <a:r>
              <a:rPr lang="en-US" dirty="0"/>
              <a:t>Shows:</a:t>
            </a:r>
          </a:p>
          <a:p>
            <a:pPr lvl="1"/>
            <a:r>
              <a:rPr lang="en-US" dirty="0"/>
              <a:t>purpose</a:t>
            </a:r>
          </a:p>
          <a:p>
            <a:pPr lvl="1"/>
            <a:r>
              <a:rPr lang="en-US" dirty="0"/>
              <a:t>parameters</a:t>
            </a:r>
          </a:p>
          <a:p>
            <a:pPr lvl="1"/>
            <a:r>
              <a:rPr lang="en-US" dirty="0"/>
              <a:t>return values</a:t>
            </a:r>
          </a:p>
          <a:p>
            <a:pPr lvl="1"/>
            <a:r>
              <a:rPr lang="en-US" dirty="0"/>
              <a:t>usage notes</a:t>
            </a:r>
          </a:p>
          <a:p>
            <a:pPr marL="0" indent="0">
              <a:buNone/>
            </a:pPr>
            <a:r>
              <a:rPr lang="en-US" b="1" dirty="0"/>
              <a:t>Mental model: </a:t>
            </a:r>
            <a:r>
              <a:rPr lang="en-US" dirty="0"/>
              <a:t>help() answers </a:t>
            </a:r>
            <a:r>
              <a:rPr lang="en-US" i="1" dirty="0"/>
              <a:t>“How do I use this?”</a:t>
            </a:r>
            <a:endParaRPr lang="en-US" dirty="0"/>
          </a:p>
          <a:p>
            <a:endParaRPr lang="en-SG" dirty="0"/>
          </a:p>
        </p:txBody>
      </p:sp>
    </p:spTree>
    <p:extLst>
      <p:ext uri="{BB962C8B-B14F-4D97-AF65-F5344CB8AC3E}">
        <p14:creationId xmlns:p14="http://schemas.microsoft.com/office/powerpoint/2010/main" val="201551728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3C0FF-71FB-6174-2B74-FD714CB0EA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BD0C33E-02D4-F219-235E-E39489858227}"/>
              </a:ext>
            </a:extLst>
          </p:cNvPr>
          <p:cNvSpPr>
            <a:spLocks noGrp="1"/>
          </p:cNvSpPr>
          <p:nvPr>
            <p:ph type="title"/>
          </p:nvPr>
        </p:nvSpPr>
        <p:spPr>
          <a:xfrm>
            <a:off x="457199" y="160337"/>
            <a:ext cx="8229600" cy="1143000"/>
          </a:xfrm>
        </p:spPr>
        <p:txBody>
          <a:bodyPr/>
          <a:lstStyle/>
          <a:p>
            <a:r>
              <a:rPr lang="en-US" dirty="0"/>
              <a:t>Using help() Effectively</a:t>
            </a:r>
          </a:p>
        </p:txBody>
      </p:sp>
      <p:sp>
        <p:nvSpPr>
          <p:cNvPr id="8" name="Content Placeholder 7">
            <a:extLst>
              <a:ext uri="{FF2B5EF4-FFF2-40B4-BE49-F238E27FC236}">
                <a16:creationId xmlns:a16="http://schemas.microsoft.com/office/drawing/2014/main" id="{400BFB3E-7F33-F14E-4EEC-F35273278CF8}"/>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help(</a:t>
            </a:r>
            <a:r>
              <a:rPr lang="en-US" dirty="0" err="1"/>
              <a:t>len</a:t>
            </a:r>
            <a:r>
              <a:rPr lang="en-US" dirty="0"/>
              <a:t>)</a:t>
            </a:r>
          </a:p>
          <a:p>
            <a:pPr marL="0" indent="0">
              <a:buNone/>
            </a:pPr>
            <a:r>
              <a:rPr lang="en-US" dirty="0"/>
              <a:t>help(</a:t>
            </a:r>
            <a:r>
              <a:rPr lang="en-US" dirty="0" err="1"/>
              <a:t>str.upper</a:t>
            </a:r>
            <a:r>
              <a:rPr lang="en-US" dirty="0"/>
              <a:t>)</a:t>
            </a:r>
          </a:p>
          <a:p>
            <a:pPr marL="0" indent="0">
              <a:buNone/>
            </a:pPr>
            <a:r>
              <a:rPr lang="en-US" dirty="0"/>
              <a:t>help(list)</a:t>
            </a:r>
          </a:p>
        </p:txBody>
      </p:sp>
      <p:sp>
        <p:nvSpPr>
          <p:cNvPr id="10" name="Content Placeholder 7">
            <a:extLst>
              <a:ext uri="{FF2B5EF4-FFF2-40B4-BE49-F238E27FC236}">
                <a16:creationId xmlns:a16="http://schemas.microsoft.com/office/drawing/2014/main" id="{8DA9AE16-0A8D-98A9-63BD-2FCC993B6C1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 in REPL, notebooks, or scripts</a:t>
            </a:r>
          </a:p>
          <a:p>
            <a:r>
              <a:rPr lang="en-US" dirty="0"/>
              <a:t>Works on:</a:t>
            </a:r>
          </a:p>
          <a:p>
            <a:pPr lvl="1"/>
            <a:r>
              <a:rPr lang="en-US" dirty="0"/>
              <a:t>names</a:t>
            </a:r>
          </a:p>
          <a:p>
            <a:pPr lvl="1"/>
            <a:r>
              <a:rPr lang="en-US" dirty="0"/>
              <a:t>objects</a:t>
            </a:r>
          </a:p>
          <a:p>
            <a:pPr lvl="1"/>
            <a:r>
              <a:rPr lang="en-US" dirty="0"/>
              <a:t>modules</a:t>
            </a:r>
          </a:p>
        </p:txBody>
      </p:sp>
    </p:spTree>
    <p:extLst>
      <p:ext uri="{BB962C8B-B14F-4D97-AF65-F5344CB8AC3E}">
        <p14:creationId xmlns:p14="http://schemas.microsoft.com/office/powerpoint/2010/main" val="167220885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BA0DB-0693-50D8-E615-82D2F4BD5775}"/>
              </a:ext>
            </a:extLst>
          </p:cNvPr>
          <p:cNvSpPr>
            <a:spLocks noGrp="1"/>
          </p:cNvSpPr>
          <p:nvPr>
            <p:ph type="title"/>
          </p:nvPr>
        </p:nvSpPr>
        <p:spPr/>
        <p:txBody>
          <a:bodyPr>
            <a:normAutofit/>
          </a:bodyPr>
          <a:lstStyle/>
          <a:p>
            <a:r>
              <a:rPr lang="en-US" dirty="0"/>
              <a:t>When to Use help()</a:t>
            </a:r>
            <a:endParaRPr lang="en-SG" dirty="0"/>
          </a:p>
        </p:txBody>
      </p:sp>
      <p:sp>
        <p:nvSpPr>
          <p:cNvPr id="3" name="Content Placeholder 2">
            <a:extLst>
              <a:ext uri="{FF2B5EF4-FFF2-40B4-BE49-F238E27FC236}">
                <a16:creationId xmlns:a16="http://schemas.microsoft.com/office/drawing/2014/main" id="{F8008DA9-768E-DF54-C404-C3F35F9736EA}"/>
              </a:ext>
            </a:extLst>
          </p:cNvPr>
          <p:cNvSpPr>
            <a:spLocks noGrp="1"/>
          </p:cNvSpPr>
          <p:nvPr>
            <p:ph idx="1"/>
          </p:nvPr>
        </p:nvSpPr>
        <p:spPr/>
        <p:txBody>
          <a:bodyPr/>
          <a:lstStyle/>
          <a:p>
            <a:r>
              <a:rPr lang="en-US" dirty="0"/>
              <a:t>Learning a new API</a:t>
            </a:r>
          </a:p>
          <a:p>
            <a:r>
              <a:rPr lang="en-US" dirty="0"/>
              <a:t>Understanding method behavior</a:t>
            </a:r>
          </a:p>
          <a:p>
            <a:r>
              <a:rPr lang="en-US" dirty="0"/>
              <a:t>Confirming arguments and defaults</a:t>
            </a:r>
          </a:p>
          <a:p>
            <a:r>
              <a:rPr lang="en-US" dirty="0"/>
              <a:t>Verifying return types</a:t>
            </a:r>
          </a:p>
          <a:p>
            <a:endParaRPr lang="en-SG" dirty="0"/>
          </a:p>
        </p:txBody>
      </p:sp>
    </p:spTree>
    <p:extLst>
      <p:ext uri="{BB962C8B-B14F-4D97-AF65-F5344CB8AC3E}">
        <p14:creationId xmlns:p14="http://schemas.microsoft.com/office/powerpoint/2010/main" val="324200872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BF5C-1332-5BC8-9A24-54B90577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95A71-6DE4-43EA-60EE-A4FAE8CD7B57}"/>
              </a:ext>
            </a:extLst>
          </p:cNvPr>
          <p:cNvSpPr>
            <a:spLocks noGrp="1"/>
          </p:cNvSpPr>
          <p:nvPr>
            <p:ph type="title"/>
          </p:nvPr>
        </p:nvSpPr>
        <p:spPr/>
        <p:txBody>
          <a:bodyPr>
            <a:normAutofit/>
          </a:bodyPr>
          <a:lstStyle/>
          <a:p>
            <a:r>
              <a:rPr lang="en-US" dirty="0" err="1"/>
              <a:t>dir</a:t>
            </a:r>
            <a:r>
              <a:rPr lang="en-US" dirty="0"/>
              <a:t>() — Discover What Exists</a:t>
            </a:r>
          </a:p>
        </p:txBody>
      </p:sp>
      <p:sp>
        <p:nvSpPr>
          <p:cNvPr id="3" name="Content Placeholder 2">
            <a:extLst>
              <a:ext uri="{FF2B5EF4-FFF2-40B4-BE49-F238E27FC236}">
                <a16:creationId xmlns:a16="http://schemas.microsoft.com/office/drawing/2014/main" id="{C3C51C92-712A-F809-93D0-95E4AF0651DA}"/>
              </a:ext>
            </a:extLst>
          </p:cNvPr>
          <p:cNvSpPr>
            <a:spLocks noGrp="1"/>
          </p:cNvSpPr>
          <p:nvPr>
            <p:ph idx="1"/>
          </p:nvPr>
        </p:nvSpPr>
        <p:spPr>
          <a:xfrm>
            <a:off x="457200" y="1600200"/>
            <a:ext cx="9855200" cy="4525963"/>
          </a:xfrm>
        </p:spPr>
        <p:txBody>
          <a:bodyPr/>
          <a:lstStyle/>
          <a:p>
            <a:r>
              <a:rPr lang="en-US" dirty="0"/>
              <a:t>Lists available:</a:t>
            </a:r>
          </a:p>
          <a:p>
            <a:pPr lvl="1"/>
            <a:r>
              <a:rPr lang="en-US" dirty="0"/>
              <a:t>attributes</a:t>
            </a:r>
          </a:p>
          <a:p>
            <a:pPr lvl="1"/>
            <a:r>
              <a:rPr lang="en-US" dirty="0"/>
              <a:t>methods</a:t>
            </a:r>
          </a:p>
          <a:p>
            <a:r>
              <a:rPr lang="en-US" dirty="0"/>
              <a:t>Works on any object</a:t>
            </a:r>
          </a:p>
          <a:p>
            <a:pPr marL="0" indent="0">
              <a:buNone/>
            </a:pPr>
            <a:endParaRPr lang="en-US" b="1" dirty="0"/>
          </a:p>
          <a:p>
            <a:pPr marL="0" indent="0">
              <a:buNone/>
            </a:pPr>
            <a:r>
              <a:rPr lang="en-US" b="1" dirty="0"/>
              <a:t>Mental model: </a:t>
            </a:r>
            <a:r>
              <a:rPr lang="en-US" dirty="0" err="1"/>
              <a:t>dir</a:t>
            </a:r>
            <a:r>
              <a:rPr lang="en-US" dirty="0"/>
              <a:t>() answers </a:t>
            </a:r>
            <a:r>
              <a:rPr lang="en-US" i="1" dirty="0"/>
              <a:t>“What can this do?”</a:t>
            </a:r>
            <a:endParaRPr lang="en-US" dirty="0"/>
          </a:p>
        </p:txBody>
      </p:sp>
    </p:spTree>
    <p:extLst>
      <p:ext uri="{BB962C8B-B14F-4D97-AF65-F5344CB8AC3E}">
        <p14:creationId xmlns:p14="http://schemas.microsoft.com/office/powerpoint/2010/main" val="352399945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77AA-F059-F508-5897-BE68857FD1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2797FC-C5D2-1E74-50D6-5BB8291BFCF5}"/>
              </a:ext>
            </a:extLst>
          </p:cNvPr>
          <p:cNvSpPr>
            <a:spLocks noGrp="1"/>
          </p:cNvSpPr>
          <p:nvPr>
            <p:ph type="title"/>
          </p:nvPr>
        </p:nvSpPr>
        <p:spPr>
          <a:xfrm>
            <a:off x="457199" y="160337"/>
            <a:ext cx="8229600" cy="1143000"/>
          </a:xfrm>
        </p:spPr>
        <p:txBody>
          <a:bodyPr/>
          <a:lstStyle/>
          <a:p>
            <a:r>
              <a:rPr lang="en-SG" b="1" dirty="0"/>
              <a:t>Using </a:t>
            </a:r>
            <a:r>
              <a:rPr lang="en-SG" b="1" dirty="0" err="1"/>
              <a:t>dir</a:t>
            </a:r>
            <a:r>
              <a:rPr lang="en-SG" b="1" dirty="0"/>
              <a:t>()</a:t>
            </a:r>
          </a:p>
        </p:txBody>
      </p:sp>
      <p:sp>
        <p:nvSpPr>
          <p:cNvPr id="8" name="Content Placeholder 7">
            <a:extLst>
              <a:ext uri="{FF2B5EF4-FFF2-40B4-BE49-F238E27FC236}">
                <a16:creationId xmlns:a16="http://schemas.microsoft.com/office/drawing/2014/main" id="{9C779114-9D09-A517-C615-E6E374319512}"/>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dir</a:t>
            </a:r>
            <a:r>
              <a:rPr lang="en-US" dirty="0"/>
              <a:t>(text)</a:t>
            </a:r>
          </a:p>
          <a:p>
            <a:pPr marL="0" indent="0">
              <a:buNone/>
            </a:pPr>
            <a:r>
              <a:rPr lang="en-US" dirty="0" err="1"/>
              <a:t>dir</a:t>
            </a:r>
            <a:r>
              <a:rPr lang="en-US" dirty="0"/>
              <a:t>(list)</a:t>
            </a:r>
          </a:p>
          <a:p>
            <a:pPr marL="0" indent="0">
              <a:buNone/>
            </a:pPr>
            <a:r>
              <a:rPr lang="en-US" dirty="0" err="1"/>
              <a:t>dir</a:t>
            </a:r>
            <a:r>
              <a:rPr lang="en-US" dirty="0"/>
              <a:t>(module)</a:t>
            </a:r>
          </a:p>
        </p:txBody>
      </p:sp>
      <p:sp>
        <p:nvSpPr>
          <p:cNvPr id="10" name="Content Placeholder 7">
            <a:extLst>
              <a:ext uri="{FF2B5EF4-FFF2-40B4-BE49-F238E27FC236}">
                <a16:creationId xmlns:a16="http://schemas.microsoft.com/office/drawing/2014/main" id="{6CC07383-9973-DAE3-241C-6262E0C8E68D}"/>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Returns attribute names only</a:t>
            </a:r>
          </a:p>
          <a:p>
            <a:endParaRPr lang="en-US" dirty="0"/>
          </a:p>
          <a:p>
            <a:r>
              <a:rPr lang="en-US" dirty="0"/>
              <a:t>Does not explain behavior</a:t>
            </a:r>
          </a:p>
        </p:txBody>
      </p:sp>
    </p:spTree>
    <p:extLst>
      <p:ext uri="{BB962C8B-B14F-4D97-AF65-F5344CB8AC3E}">
        <p14:creationId xmlns:p14="http://schemas.microsoft.com/office/powerpoint/2010/main" val="811225524"/>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B6FFE-CE0D-1865-4CDE-2C6EF9CD95A0}"/>
              </a:ext>
            </a:extLst>
          </p:cNvPr>
          <p:cNvSpPr>
            <a:spLocks noGrp="1"/>
          </p:cNvSpPr>
          <p:nvPr>
            <p:ph type="title"/>
          </p:nvPr>
        </p:nvSpPr>
        <p:spPr/>
        <p:txBody>
          <a:bodyPr>
            <a:normAutofit/>
          </a:bodyPr>
          <a:lstStyle/>
          <a:p>
            <a:r>
              <a:rPr lang="en-SG" b="1" dirty="0" err="1"/>
              <a:t>dir</a:t>
            </a:r>
            <a:r>
              <a:rPr lang="en-SG" b="1" dirty="0"/>
              <a:t>() vs help()</a:t>
            </a:r>
            <a:endParaRPr lang="en-SG" dirty="0"/>
          </a:p>
        </p:txBody>
      </p:sp>
      <p:graphicFrame>
        <p:nvGraphicFramePr>
          <p:cNvPr id="4" name="Table 3">
            <a:extLst>
              <a:ext uri="{FF2B5EF4-FFF2-40B4-BE49-F238E27FC236}">
                <a16:creationId xmlns:a16="http://schemas.microsoft.com/office/drawing/2014/main" id="{86C99343-4927-CED7-2959-EF5B6A4F227B}"/>
              </a:ext>
            </a:extLst>
          </p:cNvPr>
          <p:cNvGraphicFramePr>
            <a:graphicFrameLocks noGrp="1"/>
          </p:cNvGraphicFramePr>
          <p:nvPr>
            <p:extLst>
              <p:ext uri="{D42A27DB-BD31-4B8C-83A1-F6EECF244321}">
                <p14:modId xmlns:p14="http://schemas.microsoft.com/office/powerpoint/2010/main" val="1415784011"/>
              </p:ext>
            </p:extLst>
          </p:nvPr>
        </p:nvGraphicFramePr>
        <p:xfrm>
          <a:off x="252412" y="2158682"/>
          <a:ext cx="11684000" cy="3627120"/>
        </p:xfrm>
        <a:graphic>
          <a:graphicData uri="http://schemas.openxmlformats.org/drawingml/2006/table">
            <a:tbl>
              <a:tblPr/>
              <a:tblGrid>
                <a:gridCol w="5842000">
                  <a:extLst>
                    <a:ext uri="{9D8B030D-6E8A-4147-A177-3AD203B41FA5}">
                      <a16:colId xmlns:a16="http://schemas.microsoft.com/office/drawing/2014/main" val="1160505537"/>
                    </a:ext>
                  </a:extLst>
                </a:gridCol>
                <a:gridCol w="5842000">
                  <a:extLst>
                    <a:ext uri="{9D8B030D-6E8A-4147-A177-3AD203B41FA5}">
                      <a16:colId xmlns:a16="http://schemas.microsoft.com/office/drawing/2014/main" val="267623663"/>
                    </a:ext>
                  </a:extLst>
                </a:gridCol>
              </a:tblGrid>
              <a:tr h="0">
                <a:tc>
                  <a:txBody>
                    <a:bodyPr/>
                    <a:lstStyle/>
                    <a:p>
                      <a:pPr>
                        <a:buNone/>
                      </a:pPr>
                      <a:r>
                        <a:rPr lang="en-SG" sz="4400" b="1" dirty="0"/>
                        <a:t>Tool</a:t>
                      </a:r>
                    </a:p>
                  </a:txBody>
                  <a:tcPr anchor="ctr">
                    <a:lnL>
                      <a:noFill/>
                    </a:lnL>
                    <a:lnR>
                      <a:noFill/>
                    </a:lnR>
                    <a:lnT>
                      <a:noFill/>
                    </a:lnT>
                    <a:lnB>
                      <a:noFill/>
                    </a:lnB>
                    <a:noFill/>
                  </a:tcPr>
                </a:tc>
                <a:tc>
                  <a:txBody>
                    <a:bodyPr/>
                    <a:lstStyle/>
                    <a:p>
                      <a:pPr>
                        <a:buNone/>
                      </a:pPr>
                      <a:r>
                        <a:rPr lang="en-SG" sz="4400" b="1" dirty="0"/>
                        <a:t>Purpose</a:t>
                      </a:r>
                    </a:p>
                  </a:txBody>
                  <a:tcPr anchor="ctr">
                    <a:lnL>
                      <a:noFill/>
                    </a:lnL>
                    <a:lnR>
                      <a:noFill/>
                    </a:lnR>
                    <a:lnT>
                      <a:noFill/>
                    </a:lnT>
                    <a:lnB>
                      <a:noFill/>
                    </a:lnB>
                    <a:noFill/>
                  </a:tcPr>
                </a:tc>
                <a:extLst>
                  <a:ext uri="{0D108BD9-81ED-4DB2-BD59-A6C34878D82A}">
                    <a16:rowId xmlns:a16="http://schemas.microsoft.com/office/drawing/2014/main" val="291263717"/>
                  </a:ext>
                </a:extLst>
              </a:tr>
              <a:tr h="0">
                <a:tc>
                  <a:txBody>
                    <a:bodyPr/>
                    <a:lstStyle/>
                    <a:p>
                      <a:pPr>
                        <a:buNone/>
                      </a:pPr>
                      <a:r>
                        <a:rPr lang="en-SG" sz="4400">
                          <a:latin typeface="Courier New" panose="02070309020205020404" pitchFamily="49" charset="0"/>
                        </a:rPr>
                        <a:t>dir()</a:t>
                      </a:r>
                      <a:endParaRPr lang="en-SG" sz="4400"/>
                    </a:p>
                  </a:txBody>
                  <a:tcPr anchor="ctr">
                    <a:lnL>
                      <a:noFill/>
                    </a:lnL>
                    <a:lnR>
                      <a:noFill/>
                    </a:lnR>
                    <a:lnT>
                      <a:noFill/>
                    </a:lnT>
                    <a:lnB>
                      <a:noFill/>
                    </a:lnB>
                    <a:noFill/>
                  </a:tcPr>
                </a:tc>
                <a:tc>
                  <a:txBody>
                    <a:bodyPr/>
                    <a:lstStyle/>
                    <a:p>
                      <a:pPr>
                        <a:buNone/>
                      </a:pPr>
                      <a:r>
                        <a:rPr lang="en-SG" sz="4400" dirty="0"/>
                        <a:t>Discover available names</a:t>
                      </a:r>
                    </a:p>
                  </a:txBody>
                  <a:tcPr anchor="ctr">
                    <a:lnL>
                      <a:noFill/>
                    </a:lnL>
                    <a:lnR>
                      <a:noFill/>
                    </a:lnR>
                    <a:lnT>
                      <a:noFill/>
                    </a:lnT>
                    <a:lnB>
                      <a:noFill/>
                    </a:lnB>
                    <a:noFill/>
                  </a:tcPr>
                </a:tc>
                <a:extLst>
                  <a:ext uri="{0D108BD9-81ED-4DB2-BD59-A6C34878D82A}">
                    <a16:rowId xmlns:a16="http://schemas.microsoft.com/office/drawing/2014/main" val="220491180"/>
                  </a:ext>
                </a:extLst>
              </a:tr>
              <a:tr h="0">
                <a:tc>
                  <a:txBody>
                    <a:bodyPr/>
                    <a:lstStyle/>
                    <a:p>
                      <a:pPr>
                        <a:buNone/>
                      </a:pPr>
                      <a:r>
                        <a:rPr lang="en-SG" sz="4400">
                          <a:latin typeface="Courier New" panose="02070309020205020404" pitchFamily="49" charset="0"/>
                        </a:rPr>
                        <a:t>help()</a:t>
                      </a:r>
                      <a:endParaRPr lang="en-SG" sz="4400"/>
                    </a:p>
                  </a:txBody>
                  <a:tcPr anchor="ctr">
                    <a:lnL>
                      <a:noFill/>
                    </a:lnL>
                    <a:lnR>
                      <a:noFill/>
                    </a:lnR>
                    <a:lnT>
                      <a:noFill/>
                    </a:lnT>
                    <a:lnB>
                      <a:noFill/>
                    </a:lnB>
                    <a:noFill/>
                  </a:tcPr>
                </a:tc>
                <a:tc>
                  <a:txBody>
                    <a:bodyPr/>
                    <a:lstStyle/>
                    <a:p>
                      <a:pPr>
                        <a:buNone/>
                      </a:pPr>
                      <a:r>
                        <a:rPr lang="en-SG" sz="4400" dirty="0"/>
                        <a:t>Understand usage and </a:t>
                      </a:r>
                      <a:r>
                        <a:rPr lang="en-SG" sz="4400" dirty="0" err="1"/>
                        <a:t>behavior</a:t>
                      </a:r>
                      <a:endParaRPr lang="en-SG" sz="4400" dirty="0"/>
                    </a:p>
                  </a:txBody>
                  <a:tcPr anchor="ctr">
                    <a:lnL>
                      <a:noFill/>
                    </a:lnL>
                    <a:lnR>
                      <a:noFill/>
                    </a:lnR>
                    <a:lnT>
                      <a:noFill/>
                    </a:lnT>
                    <a:lnB>
                      <a:noFill/>
                    </a:lnB>
                    <a:noFill/>
                  </a:tcPr>
                </a:tc>
                <a:extLst>
                  <a:ext uri="{0D108BD9-81ED-4DB2-BD59-A6C34878D82A}">
                    <a16:rowId xmlns:a16="http://schemas.microsoft.com/office/drawing/2014/main" val="550580456"/>
                  </a:ext>
                </a:extLst>
              </a:tr>
            </a:tbl>
          </a:graphicData>
        </a:graphic>
      </p:graphicFrame>
    </p:spTree>
    <p:extLst>
      <p:ext uri="{BB962C8B-B14F-4D97-AF65-F5344CB8AC3E}">
        <p14:creationId xmlns:p14="http://schemas.microsoft.com/office/powerpoint/2010/main" val="25497207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E62F0-874F-3A34-33B1-053C292054ED}"/>
              </a:ext>
            </a:extLst>
          </p:cNvPr>
          <p:cNvSpPr>
            <a:spLocks noGrp="1"/>
          </p:cNvSpPr>
          <p:nvPr>
            <p:ph type="title"/>
          </p:nvPr>
        </p:nvSpPr>
        <p:spPr/>
        <p:txBody>
          <a:bodyPr>
            <a:normAutofit fontScale="90000"/>
          </a:bodyPr>
          <a:lstStyle/>
          <a:p>
            <a:r>
              <a:rPr lang="en-US" b="1" dirty="0" err="1"/>
              <a:t>dir</a:t>
            </a:r>
            <a:r>
              <a:rPr lang="en-US" b="1" dirty="0"/>
              <a:t>(</a:t>
            </a:r>
            <a:r>
              <a:rPr lang="en-US" b="1" dirty="0" err="1"/>
              <a:t>builtins</a:t>
            </a:r>
            <a:r>
              <a:rPr lang="en-US" b="1" dirty="0"/>
              <a:t>) — The Python Toolbox</a:t>
            </a:r>
            <a:endParaRPr lang="en-SG" dirty="0"/>
          </a:p>
        </p:txBody>
      </p:sp>
      <p:sp>
        <p:nvSpPr>
          <p:cNvPr id="3" name="Content Placeholder 2">
            <a:extLst>
              <a:ext uri="{FF2B5EF4-FFF2-40B4-BE49-F238E27FC236}">
                <a16:creationId xmlns:a16="http://schemas.microsoft.com/office/drawing/2014/main" id="{25811073-92B0-BBDA-E78D-45544411DBC5}"/>
              </a:ext>
            </a:extLst>
          </p:cNvPr>
          <p:cNvSpPr>
            <a:spLocks noGrp="1"/>
          </p:cNvSpPr>
          <p:nvPr>
            <p:ph idx="1"/>
          </p:nvPr>
        </p:nvSpPr>
        <p:spPr>
          <a:xfrm>
            <a:off x="457200" y="1600200"/>
            <a:ext cx="11404600" cy="4525963"/>
          </a:xfrm>
        </p:spPr>
        <p:txBody>
          <a:bodyPr>
            <a:normAutofit/>
          </a:bodyPr>
          <a:lstStyle/>
          <a:p>
            <a:r>
              <a:rPr lang="en-US" dirty="0"/>
              <a:t>Lists all built-in functions and objects</a:t>
            </a:r>
          </a:p>
          <a:p>
            <a:r>
              <a:rPr lang="en-US" dirty="0"/>
              <a:t>Reveals:</a:t>
            </a:r>
          </a:p>
          <a:p>
            <a:pPr lvl="1"/>
            <a:r>
              <a:rPr lang="en-US" dirty="0" err="1"/>
              <a:t>len</a:t>
            </a:r>
            <a:r>
              <a:rPr lang="en-US" dirty="0"/>
              <a:t>, range, enumerate</a:t>
            </a:r>
          </a:p>
          <a:p>
            <a:pPr lvl="1"/>
            <a:r>
              <a:rPr lang="en-US" dirty="0"/>
              <a:t>Exception, </a:t>
            </a:r>
            <a:r>
              <a:rPr lang="en-US" dirty="0" err="1"/>
              <a:t>ValueError</a:t>
            </a:r>
            <a:endParaRPr lang="en-US" dirty="0"/>
          </a:p>
          <a:p>
            <a:pPr lvl="1"/>
            <a:r>
              <a:rPr lang="en-US" dirty="0"/>
              <a:t>int, str, list</a:t>
            </a:r>
          </a:p>
          <a:p>
            <a:pPr lvl="1"/>
            <a:endParaRPr lang="en-US" dirty="0"/>
          </a:p>
          <a:p>
            <a:pPr marL="0" indent="0">
              <a:buNone/>
            </a:pPr>
            <a:r>
              <a:rPr lang="en-US" b="1" dirty="0"/>
              <a:t>Mental model: </a:t>
            </a:r>
            <a:r>
              <a:rPr lang="en-US" dirty="0"/>
              <a:t>Python ships with a full toolbox — know what’s already there</a:t>
            </a:r>
          </a:p>
          <a:p>
            <a:endParaRPr lang="en-SG" dirty="0"/>
          </a:p>
        </p:txBody>
      </p:sp>
    </p:spTree>
    <p:extLst>
      <p:ext uri="{BB962C8B-B14F-4D97-AF65-F5344CB8AC3E}">
        <p14:creationId xmlns:p14="http://schemas.microsoft.com/office/powerpoint/2010/main" val="37945347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77A3-46CD-7F0A-4578-B12EA8B9241D}"/>
              </a:ext>
            </a:extLst>
          </p:cNvPr>
          <p:cNvSpPr>
            <a:spLocks noGrp="1"/>
          </p:cNvSpPr>
          <p:nvPr>
            <p:ph type="title"/>
          </p:nvPr>
        </p:nvSpPr>
        <p:spPr/>
        <p:txBody>
          <a:bodyPr>
            <a:normAutofit/>
          </a:bodyPr>
          <a:lstStyle/>
          <a:p>
            <a:r>
              <a:rPr lang="en-US" b="1" dirty="0"/>
              <a:t>Why </a:t>
            </a:r>
            <a:r>
              <a:rPr lang="en-US" b="1" dirty="0" err="1"/>
              <a:t>builtins</a:t>
            </a:r>
            <a:r>
              <a:rPr lang="en-US" b="1" dirty="0"/>
              <a:t> Matters</a:t>
            </a:r>
            <a:endParaRPr lang="en-SG" dirty="0"/>
          </a:p>
        </p:txBody>
      </p:sp>
      <p:sp>
        <p:nvSpPr>
          <p:cNvPr id="3" name="Content Placeholder 2">
            <a:extLst>
              <a:ext uri="{FF2B5EF4-FFF2-40B4-BE49-F238E27FC236}">
                <a16:creationId xmlns:a16="http://schemas.microsoft.com/office/drawing/2014/main" id="{E39B3CEE-E76B-B3B4-AB32-FB6E461C9B59}"/>
              </a:ext>
            </a:extLst>
          </p:cNvPr>
          <p:cNvSpPr>
            <a:spLocks noGrp="1"/>
          </p:cNvSpPr>
          <p:nvPr>
            <p:ph idx="1"/>
          </p:nvPr>
        </p:nvSpPr>
        <p:spPr/>
        <p:txBody>
          <a:bodyPr/>
          <a:lstStyle/>
          <a:p>
            <a:r>
              <a:rPr lang="en-US" dirty="0"/>
              <a:t>Avoid reinventing utilities</a:t>
            </a:r>
          </a:p>
          <a:p>
            <a:r>
              <a:rPr lang="en-US" dirty="0"/>
              <a:t>Recognize standard patterns</a:t>
            </a:r>
          </a:p>
          <a:p>
            <a:r>
              <a:rPr lang="en-US" dirty="0"/>
              <a:t>Write more idiomatic Python</a:t>
            </a:r>
          </a:p>
          <a:p>
            <a:endParaRPr lang="en-SG" dirty="0"/>
          </a:p>
        </p:txBody>
      </p:sp>
    </p:spTree>
    <p:extLst>
      <p:ext uri="{BB962C8B-B14F-4D97-AF65-F5344CB8AC3E}">
        <p14:creationId xmlns:p14="http://schemas.microsoft.com/office/powerpoint/2010/main" val="167764076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30399-EB30-CB77-2209-CDBAA0FA6174}"/>
              </a:ext>
            </a:extLst>
          </p:cNvPr>
          <p:cNvSpPr>
            <a:spLocks noGrp="1"/>
          </p:cNvSpPr>
          <p:nvPr>
            <p:ph type="title"/>
          </p:nvPr>
        </p:nvSpPr>
        <p:spPr/>
        <p:txBody>
          <a:bodyPr>
            <a:normAutofit/>
          </a:bodyPr>
          <a:lstStyle/>
          <a:p>
            <a:r>
              <a:rPr lang="en-US" b="1" dirty="0"/>
              <a:t>Common Use Cases</a:t>
            </a:r>
            <a:endParaRPr lang="en-SG" dirty="0"/>
          </a:p>
        </p:txBody>
      </p:sp>
      <p:sp>
        <p:nvSpPr>
          <p:cNvPr id="3" name="Content Placeholder 2">
            <a:extLst>
              <a:ext uri="{FF2B5EF4-FFF2-40B4-BE49-F238E27FC236}">
                <a16:creationId xmlns:a16="http://schemas.microsoft.com/office/drawing/2014/main" id="{9AE0466B-2F14-8A20-AF40-C1E95F5F8268}"/>
              </a:ext>
            </a:extLst>
          </p:cNvPr>
          <p:cNvSpPr>
            <a:spLocks noGrp="1"/>
          </p:cNvSpPr>
          <p:nvPr>
            <p:ph idx="1"/>
          </p:nvPr>
        </p:nvSpPr>
        <p:spPr/>
        <p:txBody>
          <a:bodyPr/>
          <a:lstStyle/>
          <a:p>
            <a:r>
              <a:rPr lang="en-US" dirty="0"/>
              <a:t>Inspecting unfamiliar libraries</a:t>
            </a:r>
          </a:p>
          <a:p>
            <a:r>
              <a:rPr lang="en-US" dirty="0"/>
              <a:t>Debugging production objects</a:t>
            </a:r>
          </a:p>
          <a:p>
            <a:r>
              <a:rPr lang="en-US" dirty="0"/>
              <a:t>Rapid onboarding to legacy code</a:t>
            </a:r>
          </a:p>
          <a:p>
            <a:r>
              <a:rPr lang="en-US" dirty="0"/>
              <a:t>Exploring APIs interactively</a:t>
            </a:r>
          </a:p>
          <a:p>
            <a:endParaRPr lang="en-SG" dirty="0"/>
          </a:p>
        </p:txBody>
      </p:sp>
    </p:spTree>
    <p:extLst>
      <p:ext uri="{BB962C8B-B14F-4D97-AF65-F5344CB8AC3E}">
        <p14:creationId xmlns:p14="http://schemas.microsoft.com/office/powerpoint/2010/main" val="421254863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FAAB8-47FD-0572-9245-8FD00A258AF4}"/>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2E307097-0A3B-B606-24EF-CEB3027801F8}"/>
              </a:ext>
            </a:extLst>
          </p:cNvPr>
          <p:cNvSpPr>
            <a:spLocks noGrp="1"/>
          </p:cNvSpPr>
          <p:nvPr>
            <p:ph idx="1"/>
          </p:nvPr>
        </p:nvSpPr>
        <p:spPr/>
        <p:txBody>
          <a:bodyPr/>
          <a:lstStyle/>
          <a:p>
            <a:r>
              <a:rPr lang="en-US" dirty="0"/>
              <a:t>Start with </a:t>
            </a:r>
            <a:r>
              <a:rPr lang="en-US" dirty="0" err="1"/>
              <a:t>dir</a:t>
            </a:r>
            <a:r>
              <a:rPr lang="en-US" dirty="0"/>
              <a:t>() to discover</a:t>
            </a:r>
          </a:p>
          <a:p>
            <a:r>
              <a:rPr lang="en-US" dirty="0"/>
              <a:t>Use help() to understand</a:t>
            </a:r>
          </a:p>
          <a:p>
            <a:r>
              <a:rPr lang="en-US" dirty="0"/>
              <a:t>Prefer built-ins over custom helpers</a:t>
            </a:r>
          </a:p>
          <a:p>
            <a:r>
              <a:rPr lang="en-US" dirty="0"/>
              <a:t>Read docstrings in the REPL</a:t>
            </a:r>
          </a:p>
          <a:p>
            <a:endParaRPr lang="en-SG" dirty="0"/>
          </a:p>
        </p:txBody>
      </p:sp>
    </p:spTree>
    <p:extLst>
      <p:ext uri="{BB962C8B-B14F-4D97-AF65-F5344CB8AC3E}">
        <p14:creationId xmlns:p14="http://schemas.microsoft.com/office/powerpoint/2010/main" val="1061052355"/>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9907-8CFF-8E79-6094-D0DB91464E9B}"/>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6915035D-853A-DAE8-DE7F-801CC972AE5B}"/>
              </a:ext>
            </a:extLst>
          </p:cNvPr>
          <p:cNvSpPr>
            <a:spLocks noGrp="1"/>
          </p:cNvSpPr>
          <p:nvPr>
            <p:ph idx="1"/>
          </p:nvPr>
        </p:nvSpPr>
        <p:spPr>
          <a:xfrm>
            <a:off x="457200" y="1600200"/>
            <a:ext cx="10134600" cy="4525963"/>
          </a:xfrm>
        </p:spPr>
        <p:txBody>
          <a:bodyPr/>
          <a:lstStyle/>
          <a:p>
            <a:r>
              <a:rPr lang="en-US" dirty="0"/>
              <a:t>Python is introspectable by design</a:t>
            </a:r>
          </a:p>
          <a:p>
            <a:r>
              <a:rPr lang="en-US" dirty="0" err="1"/>
              <a:t>dir</a:t>
            </a:r>
            <a:r>
              <a:rPr lang="en-US" dirty="0"/>
              <a:t>() shows </a:t>
            </a:r>
            <a:r>
              <a:rPr lang="en-US" b="1" dirty="0"/>
              <a:t>what exists</a:t>
            </a:r>
            <a:endParaRPr lang="en-US" dirty="0"/>
          </a:p>
          <a:p>
            <a:r>
              <a:rPr lang="en-US" dirty="0"/>
              <a:t>help() explains </a:t>
            </a:r>
            <a:r>
              <a:rPr lang="en-US" b="1" dirty="0"/>
              <a:t>how to use it</a:t>
            </a:r>
            <a:endParaRPr lang="en-US" dirty="0"/>
          </a:p>
          <a:p>
            <a:r>
              <a:rPr lang="en-US" dirty="0" err="1"/>
              <a:t>builtins</a:t>
            </a:r>
            <a:r>
              <a:rPr lang="en-US" dirty="0"/>
              <a:t> prevents reinventing the wheel</a:t>
            </a:r>
          </a:p>
          <a:p>
            <a:endParaRPr lang="en-US" dirty="0"/>
          </a:p>
          <a:p>
            <a:pPr marL="0" indent="0">
              <a:buNone/>
            </a:pPr>
            <a:r>
              <a:rPr lang="en-US" b="1" dirty="0"/>
              <a:t>Final mental model: </a:t>
            </a:r>
            <a:r>
              <a:rPr lang="en-US" i="1" dirty="0"/>
              <a:t>Explore first. Code second.</a:t>
            </a:r>
            <a:endParaRPr lang="en-US" dirty="0"/>
          </a:p>
          <a:p>
            <a:endParaRPr lang="en-SG" dirty="0"/>
          </a:p>
        </p:txBody>
      </p:sp>
    </p:spTree>
    <p:extLst>
      <p:ext uri="{BB962C8B-B14F-4D97-AF65-F5344CB8AC3E}">
        <p14:creationId xmlns:p14="http://schemas.microsoft.com/office/powerpoint/2010/main" val="387740856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CEAEE-404F-4D18-6FC3-EDD66F80D232}"/>
              </a:ext>
            </a:extLst>
          </p:cNvPr>
          <p:cNvSpPr>
            <a:spLocks noGrp="1"/>
          </p:cNvSpPr>
          <p:nvPr>
            <p:ph type="title"/>
          </p:nvPr>
        </p:nvSpPr>
        <p:spPr/>
        <p:txBody>
          <a:bodyPr>
            <a:normAutofit/>
          </a:bodyPr>
          <a:lstStyle/>
          <a:p>
            <a:r>
              <a:rPr lang="en-US" dirty="0"/>
              <a:t>Clean Code Structure</a:t>
            </a:r>
            <a:endParaRPr lang="en-SG" dirty="0"/>
          </a:p>
        </p:txBody>
      </p:sp>
      <p:sp>
        <p:nvSpPr>
          <p:cNvPr id="3" name="Content Placeholder 2">
            <a:extLst>
              <a:ext uri="{FF2B5EF4-FFF2-40B4-BE49-F238E27FC236}">
                <a16:creationId xmlns:a16="http://schemas.microsoft.com/office/drawing/2014/main" id="{1BC9A6E3-0BC4-AA0B-5F1A-1664832EE296}"/>
              </a:ext>
            </a:extLst>
          </p:cNvPr>
          <p:cNvSpPr>
            <a:spLocks noGrp="1"/>
          </p:cNvSpPr>
          <p:nvPr>
            <p:ph idx="1"/>
          </p:nvPr>
        </p:nvSpPr>
        <p:spPr/>
        <p:txBody>
          <a:bodyPr/>
          <a:lstStyle/>
          <a:p>
            <a:r>
              <a:rPr lang="en-US" dirty="0"/>
              <a:t>One responsibility per module</a:t>
            </a:r>
          </a:p>
          <a:p>
            <a:r>
              <a:rPr lang="en-US" dirty="0"/>
              <a:t>Explicit imports define dependencies</a:t>
            </a:r>
          </a:p>
          <a:p>
            <a:r>
              <a:rPr lang="en-US" dirty="0"/>
              <a:t>Predictable layouts improve onboarding</a:t>
            </a:r>
          </a:p>
          <a:p>
            <a:endParaRPr lang="en-SG" dirty="0"/>
          </a:p>
        </p:txBody>
      </p:sp>
    </p:spTree>
    <p:extLst>
      <p:ext uri="{BB962C8B-B14F-4D97-AF65-F5344CB8AC3E}">
        <p14:creationId xmlns:p14="http://schemas.microsoft.com/office/powerpoint/2010/main" val="332297963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66659-3C48-D948-B9B2-8C36B3DA88DE}"/>
              </a:ext>
            </a:extLst>
          </p:cNvPr>
          <p:cNvSpPr>
            <a:spLocks noGrp="1"/>
          </p:cNvSpPr>
          <p:nvPr>
            <p:ph type="title"/>
          </p:nvPr>
        </p:nvSpPr>
        <p:spPr>
          <a:xfrm>
            <a:off x="457200" y="274638"/>
            <a:ext cx="10934700" cy="1143000"/>
          </a:xfrm>
        </p:spPr>
        <p:txBody>
          <a:bodyPr/>
          <a:lstStyle/>
          <a:p>
            <a:r>
              <a:rPr lang="en-US" b="1" dirty="0"/>
              <a:t>Object-Oriented Programming (OOP)</a:t>
            </a:r>
            <a:endParaRPr lang="en-SG" dirty="0"/>
          </a:p>
        </p:txBody>
      </p:sp>
      <p:sp>
        <p:nvSpPr>
          <p:cNvPr id="3" name="Content Placeholder 2">
            <a:extLst>
              <a:ext uri="{FF2B5EF4-FFF2-40B4-BE49-F238E27FC236}">
                <a16:creationId xmlns:a16="http://schemas.microsoft.com/office/drawing/2014/main" id="{9C1AF83F-AE13-3867-9524-790EDA45CD25}"/>
              </a:ext>
            </a:extLst>
          </p:cNvPr>
          <p:cNvSpPr>
            <a:spLocks noGrp="1"/>
          </p:cNvSpPr>
          <p:nvPr>
            <p:ph idx="1"/>
          </p:nvPr>
        </p:nvSpPr>
        <p:spPr>
          <a:xfrm>
            <a:off x="457200" y="1600200"/>
            <a:ext cx="10934700" cy="4525963"/>
          </a:xfrm>
        </p:spPr>
        <p:txBody>
          <a:bodyPr>
            <a:normAutofit fontScale="92500" lnSpcReduction="10000"/>
          </a:bodyPr>
          <a:lstStyle/>
          <a:p>
            <a:r>
              <a:rPr lang="en-US" dirty="0"/>
              <a:t>Python uses a class-based system to organize code into reusable objects.</a:t>
            </a:r>
          </a:p>
          <a:p>
            <a:r>
              <a:rPr lang="en-US" b="1" dirty="0"/>
              <a:t>Classes and Instances:</a:t>
            </a:r>
            <a:r>
              <a:rPr lang="en-US" dirty="0"/>
              <a:t> Use __</a:t>
            </a:r>
            <a:r>
              <a:rPr lang="en-US" dirty="0" err="1"/>
              <a:t>init</a:t>
            </a:r>
            <a:r>
              <a:rPr lang="en-US" dirty="0"/>
              <a:t>__ (the constructor) to initialize state.</a:t>
            </a:r>
          </a:p>
          <a:p>
            <a:r>
              <a:rPr lang="en-US" b="1" dirty="0"/>
              <a:t>The self Parameter:</a:t>
            </a:r>
            <a:r>
              <a:rPr lang="en-US" dirty="0"/>
              <a:t> Represents the specific instance of the object.</a:t>
            </a:r>
          </a:p>
          <a:p>
            <a:r>
              <a:rPr lang="en-US" b="1" dirty="0"/>
              <a:t>Inheritance:</a:t>
            </a:r>
            <a:r>
              <a:rPr lang="en-US" dirty="0"/>
              <a:t> Create a hierarchy where child classes inherit methods from parents.</a:t>
            </a:r>
          </a:p>
          <a:p>
            <a:r>
              <a:rPr lang="en-US" b="1" dirty="0"/>
              <a:t>Dunder Methods:</a:t>
            </a:r>
            <a:r>
              <a:rPr lang="en-US" dirty="0"/>
              <a:t> (Double Under) Like __str__ for human-readable output or __</a:t>
            </a:r>
            <a:r>
              <a:rPr lang="en-US" dirty="0" err="1"/>
              <a:t>len</a:t>
            </a:r>
            <a:r>
              <a:rPr lang="en-US" dirty="0"/>
              <a:t>__ to define behavior for the </a:t>
            </a:r>
            <a:r>
              <a:rPr lang="en-US" dirty="0" err="1"/>
              <a:t>len</a:t>
            </a:r>
            <a:r>
              <a:rPr lang="en-US" dirty="0"/>
              <a:t>() function.</a:t>
            </a:r>
          </a:p>
          <a:p>
            <a:endParaRPr lang="en-SG" dirty="0"/>
          </a:p>
        </p:txBody>
      </p:sp>
    </p:spTree>
    <p:extLst>
      <p:ext uri="{BB962C8B-B14F-4D97-AF65-F5344CB8AC3E}">
        <p14:creationId xmlns:p14="http://schemas.microsoft.com/office/powerpoint/2010/main" val="75889412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3963-F84B-8721-C169-C6DC9E8DF459}"/>
              </a:ext>
            </a:extLst>
          </p:cNvPr>
          <p:cNvSpPr>
            <a:spLocks noGrp="1"/>
          </p:cNvSpPr>
          <p:nvPr>
            <p:ph type="title"/>
          </p:nvPr>
        </p:nvSpPr>
        <p:spPr/>
        <p:txBody>
          <a:bodyPr>
            <a:normAutofit/>
          </a:bodyPr>
          <a:lstStyle/>
          <a:p>
            <a:r>
              <a:rPr lang="en-US" dirty="0"/>
              <a:t>Pragmatic OOP</a:t>
            </a:r>
            <a:endParaRPr lang="en-SG" dirty="0"/>
          </a:p>
        </p:txBody>
      </p:sp>
      <p:sp>
        <p:nvSpPr>
          <p:cNvPr id="3" name="Content Placeholder 2">
            <a:extLst>
              <a:ext uri="{FF2B5EF4-FFF2-40B4-BE49-F238E27FC236}">
                <a16:creationId xmlns:a16="http://schemas.microsoft.com/office/drawing/2014/main" id="{27276AE4-CE40-F6BE-1A83-B458D2396F4D}"/>
              </a:ext>
            </a:extLst>
          </p:cNvPr>
          <p:cNvSpPr>
            <a:spLocks noGrp="1"/>
          </p:cNvSpPr>
          <p:nvPr>
            <p:ph idx="1"/>
          </p:nvPr>
        </p:nvSpPr>
        <p:spPr/>
        <p:txBody>
          <a:bodyPr/>
          <a:lstStyle/>
          <a:p>
            <a:r>
              <a:rPr lang="en-US" dirty="0"/>
              <a:t>Classes group </a:t>
            </a:r>
            <a:r>
              <a:rPr lang="en-US" b="1" dirty="0"/>
              <a:t>data + behavior</a:t>
            </a:r>
            <a:endParaRPr lang="en-US" dirty="0"/>
          </a:p>
          <a:p>
            <a:r>
              <a:rPr lang="en-US" dirty="0"/>
              <a:t>Encapsulation protects invariants</a:t>
            </a:r>
          </a:p>
          <a:p>
            <a:r>
              <a:rPr lang="en-US" dirty="0"/>
              <a:t>Inheritance only when behavior truly differs</a:t>
            </a:r>
          </a:p>
          <a:p>
            <a:pPr marL="0" indent="0">
              <a:buNone/>
            </a:pPr>
            <a:endParaRPr lang="en-US" b="1" dirty="0"/>
          </a:p>
          <a:p>
            <a:pPr marL="0" indent="0">
              <a:buNone/>
            </a:pPr>
            <a:r>
              <a:rPr lang="en-US" b="1" dirty="0"/>
              <a:t>Avoid</a:t>
            </a:r>
            <a:r>
              <a:rPr lang="en-US" dirty="0"/>
              <a:t> inheritance for convenience</a:t>
            </a:r>
          </a:p>
          <a:p>
            <a:endParaRPr lang="en-SG" dirty="0"/>
          </a:p>
        </p:txBody>
      </p:sp>
    </p:spTree>
    <p:extLst>
      <p:ext uri="{BB962C8B-B14F-4D97-AF65-F5344CB8AC3E}">
        <p14:creationId xmlns:p14="http://schemas.microsoft.com/office/powerpoint/2010/main" val="40385499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FA812-9814-5FD7-241B-37ABADFBD616}"/>
              </a:ext>
            </a:extLst>
          </p:cNvPr>
          <p:cNvSpPr>
            <a:spLocks noGrp="1"/>
          </p:cNvSpPr>
          <p:nvPr>
            <p:ph type="title"/>
          </p:nvPr>
        </p:nvSpPr>
        <p:spPr/>
        <p:txBody>
          <a:bodyPr>
            <a:normAutofit/>
          </a:bodyPr>
          <a:lstStyle/>
          <a:p>
            <a:r>
              <a:rPr lang="en-US" b="1" dirty="0"/>
              <a:t>Encapsulation in Practice</a:t>
            </a:r>
            <a:endParaRPr lang="en-SG" dirty="0"/>
          </a:p>
        </p:txBody>
      </p:sp>
      <p:sp>
        <p:nvSpPr>
          <p:cNvPr id="3" name="Content Placeholder 2">
            <a:extLst>
              <a:ext uri="{FF2B5EF4-FFF2-40B4-BE49-F238E27FC236}">
                <a16:creationId xmlns:a16="http://schemas.microsoft.com/office/drawing/2014/main" id="{D5F50576-4BCA-B500-65B3-879C15A55617}"/>
              </a:ext>
            </a:extLst>
          </p:cNvPr>
          <p:cNvSpPr>
            <a:spLocks noGrp="1"/>
          </p:cNvSpPr>
          <p:nvPr>
            <p:ph idx="1"/>
          </p:nvPr>
        </p:nvSpPr>
        <p:spPr/>
        <p:txBody>
          <a:bodyPr/>
          <a:lstStyle/>
          <a:p>
            <a:r>
              <a:rPr lang="en-US" dirty="0"/>
              <a:t>Hide internals</a:t>
            </a:r>
          </a:p>
          <a:p>
            <a:r>
              <a:rPr lang="en-US" dirty="0"/>
              <a:t>Expose behavior via methods</a:t>
            </a:r>
          </a:p>
          <a:p>
            <a:r>
              <a:rPr lang="en-US" dirty="0"/>
              <a:t>Properties protect state</a:t>
            </a:r>
          </a:p>
          <a:p>
            <a:pPr marL="0" indent="0">
              <a:buNone/>
            </a:pPr>
            <a:endParaRPr lang="en-US" b="1" dirty="0"/>
          </a:p>
          <a:p>
            <a:pPr marL="0" indent="0">
              <a:buNone/>
            </a:pPr>
            <a:r>
              <a:rPr lang="en-US" b="1" dirty="0"/>
              <a:t>Goal:</a:t>
            </a:r>
            <a:r>
              <a:rPr lang="en-US" dirty="0"/>
              <a:t> prevent invalid states</a:t>
            </a:r>
          </a:p>
          <a:p>
            <a:endParaRPr lang="en-SG" dirty="0"/>
          </a:p>
        </p:txBody>
      </p:sp>
    </p:spTree>
    <p:extLst>
      <p:ext uri="{BB962C8B-B14F-4D97-AF65-F5344CB8AC3E}">
        <p14:creationId xmlns:p14="http://schemas.microsoft.com/office/powerpoint/2010/main" val="127207770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ACF13-CCAE-A2B6-3707-DDC2B3A33C24}"/>
              </a:ext>
            </a:extLst>
          </p:cNvPr>
          <p:cNvSpPr>
            <a:spLocks noGrp="1"/>
          </p:cNvSpPr>
          <p:nvPr>
            <p:ph type="title"/>
          </p:nvPr>
        </p:nvSpPr>
        <p:spPr/>
        <p:txBody>
          <a:bodyPr>
            <a:normAutofit/>
          </a:bodyPr>
          <a:lstStyle/>
          <a:p>
            <a:r>
              <a:rPr lang="en-US" b="1" dirty="0"/>
              <a:t>Polymorphism</a:t>
            </a:r>
            <a:endParaRPr lang="en-SG" dirty="0"/>
          </a:p>
        </p:txBody>
      </p:sp>
      <p:sp>
        <p:nvSpPr>
          <p:cNvPr id="3" name="Content Placeholder 2">
            <a:extLst>
              <a:ext uri="{FF2B5EF4-FFF2-40B4-BE49-F238E27FC236}">
                <a16:creationId xmlns:a16="http://schemas.microsoft.com/office/drawing/2014/main" id="{92925A9E-78D8-4E03-2761-A719E924B089}"/>
              </a:ext>
            </a:extLst>
          </p:cNvPr>
          <p:cNvSpPr>
            <a:spLocks noGrp="1"/>
          </p:cNvSpPr>
          <p:nvPr>
            <p:ph idx="1"/>
          </p:nvPr>
        </p:nvSpPr>
        <p:spPr/>
        <p:txBody>
          <a:bodyPr/>
          <a:lstStyle/>
          <a:p>
            <a:r>
              <a:rPr lang="en-US" dirty="0"/>
              <a:t>Same interface, different behavior</a:t>
            </a:r>
          </a:p>
          <a:p>
            <a:r>
              <a:rPr lang="en-US" dirty="0"/>
              <a:t>Enables extensibility without modification</a:t>
            </a:r>
          </a:p>
          <a:p>
            <a:r>
              <a:rPr lang="en-US" dirty="0"/>
              <a:t>Used heavily in frameworks</a:t>
            </a:r>
          </a:p>
          <a:p>
            <a:endParaRPr lang="en-SG" dirty="0"/>
          </a:p>
        </p:txBody>
      </p:sp>
    </p:spTree>
    <p:extLst>
      <p:ext uri="{BB962C8B-B14F-4D97-AF65-F5344CB8AC3E}">
        <p14:creationId xmlns:p14="http://schemas.microsoft.com/office/powerpoint/2010/main" val="300833911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5276"/>
            <a:ext cx="8229600" cy="1143000"/>
          </a:xfrm>
        </p:spPr>
        <p:txBody>
          <a:bodyPr/>
          <a:lstStyle/>
          <a:p>
            <a:r>
              <a:rPr lang="en-US" dirty="0"/>
              <a:t>Dunder Methods (When Needed)</a:t>
            </a:r>
          </a:p>
        </p:txBody>
      </p:sp>
      <p:sp>
        <p:nvSpPr>
          <p:cNvPr id="3" name="Content Placeholder 2"/>
          <p:cNvSpPr>
            <a:spLocks noGrp="1"/>
          </p:cNvSpPr>
          <p:nvPr>
            <p:ph idx="1"/>
          </p:nvPr>
        </p:nvSpPr>
        <p:spPr/>
        <p:txBody>
          <a:bodyPr/>
          <a:lstStyle/>
          <a:p>
            <a:r>
              <a:rPr lang="en-US" dirty="0"/>
              <a:t>__str__, __</a:t>
            </a:r>
            <a:r>
              <a:rPr lang="en-US" dirty="0" err="1"/>
              <a:t>repr</a:t>
            </a:r>
            <a:r>
              <a:rPr lang="en-US" dirty="0"/>
              <a:t>__ → readability</a:t>
            </a:r>
          </a:p>
          <a:p>
            <a:r>
              <a:rPr lang="en-US" dirty="0"/>
              <a:t>__add__, __</a:t>
            </a:r>
            <a:r>
              <a:rPr lang="en-US" dirty="0" err="1"/>
              <a:t>len</a:t>
            </a:r>
            <a:r>
              <a:rPr lang="en-US" dirty="0"/>
              <a:t>__ → Pythonic behavior</a:t>
            </a:r>
          </a:p>
          <a:p>
            <a:r>
              <a:rPr lang="en-US" dirty="0"/>
              <a:t>Use sparingly and intentionally</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&amp; Packages</a:t>
            </a:r>
          </a:p>
        </p:txBody>
      </p:sp>
      <p:sp>
        <p:nvSpPr>
          <p:cNvPr id="3" name="Content Placeholder 2"/>
          <p:cNvSpPr>
            <a:spLocks noGrp="1"/>
          </p:cNvSpPr>
          <p:nvPr>
            <p:ph idx="1"/>
          </p:nvPr>
        </p:nvSpPr>
        <p:spPr/>
        <p:txBody>
          <a:bodyPr>
            <a:normAutofit/>
          </a:bodyPr>
          <a:lstStyle/>
          <a:p>
            <a:r>
              <a:rPr lang="en-US" dirty="0"/>
              <a:t>Files = modules</a:t>
            </a:r>
          </a:p>
          <a:p>
            <a:r>
              <a:rPr lang="en-US" dirty="0"/>
              <a:t>Folders = packages</a:t>
            </a:r>
          </a:p>
          <a:p>
            <a:r>
              <a:rPr lang="en-US" dirty="0"/>
              <a:t>__init__.py defines public API</a:t>
            </a:r>
          </a:p>
          <a:p>
            <a:r>
              <a:rPr lang="en-US" dirty="0" err="1"/>
              <a:t>pathlib</a:t>
            </a:r>
            <a:r>
              <a:rPr lang="en-US" dirty="0"/>
              <a:t> over </a:t>
            </a:r>
            <a:r>
              <a:rPr lang="en-US" dirty="0" err="1"/>
              <a:t>os.path</a:t>
            </a:r>
            <a:endParaRPr lang="en-US" dirty="0"/>
          </a:p>
          <a:p>
            <a:r>
              <a:rPr lang="en-US" dirty="0"/>
              <a:t>JSON and CSV at boundaries</a:t>
            </a:r>
          </a:p>
          <a:p>
            <a:pPr marL="0" indent="0">
              <a:buNone/>
            </a:pPr>
            <a:endParaRPr lang="en-US" dirty="0"/>
          </a:p>
          <a:p>
            <a:r>
              <a:rPr lang="en-US" b="1" dirty="0"/>
              <a:t>Rule:</a:t>
            </a:r>
            <a:r>
              <a:rPr lang="en-US" dirty="0"/>
              <a:t> imports describe architecture</a:t>
            </a:r>
          </a:p>
          <a:p>
            <a:endParaRPr lang="en-US" dirty="0"/>
          </a:p>
          <a:p>
            <a:pPr marL="0" indent="0">
              <a:buNone/>
            </a:pP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337"/>
            <a:ext cx="8229600" cy="1143000"/>
          </a:xfrm>
        </p:spPr>
        <p:txBody>
          <a:bodyPr/>
          <a:lstStyle/>
          <a:p>
            <a:r>
              <a:rPr dirty="0"/>
              <a:t>File I/O – Text &amp; CSV</a:t>
            </a:r>
          </a:p>
        </p:txBody>
      </p:sp>
      <p:sp>
        <p:nvSpPr>
          <p:cNvPr id="3" name="Content Placeholder 2"/>
          <p:cNvSpPr>
            <a:spLocks noGrp="1"/>
          </p:cNvSpPr>
          <p:nvPr>
            <p:ph idx="1"/>
          </p:nvPr>
        </p:nvSpPr>
        <p:spPr>
          <a:xfrm>
            <a:off x="457200" y="1587500"/>
            <a:ext cx="11493500" cy="4538663"/>
          </a:xfrm>
        </p:spPr>
        <p:txBody>
          <a:bodyPr>
            <a:normAutofit/>
          </a:bodyPr>
          <a:lstStyle/>
          <a:p>
            <a:pPr marL="0" indent="0" algn="l">
              <a:buNone/>
              <a:defRPr sz="1500">
                <a:latin typeface="Courier New"/>
              </a:defRPr>
            </a:pPr>
            <a:r>
              <a:rPr sz="2000" dirty="0"/>
              <a:t>with open("haiku.txt", "w") as f:</a:t>
            </a:r>
            <a:br>
              <a:rPr sz="2000" dirty="0"/>
            </a:br>
            <a:r>
              <a:rPr sz="2000" dirty="0"/>
              <a:t>    </a:t>
            </a:r>
            <a:r>
              <a:rPr sz="2000" dirty="0" err="1"/>
              <a:t>f.write</a:t>
            </a:r>
            <a:r>
              <a:rPr sz="2000" dirty="0"/>
              <a:t>("Ancient silent pond\n…")</a:t>
            </a:r>
            <a:br>
              <a:rPr sz="2000" dirty="0"/>
            </a:br>
            <a:br>
              <a:rPr sz="2000" dirty="0"/>
            </a:br>
            <a:r>
              <a:rPr sz="2000" dirty="0"/>
              <a:t>with open("haiku.txt") as f:</a:t>
            </a:r>
            <a:br>
              <a:rPr sz="2000" dirty="0"/>
            </a:br>
            <a:r>
              <a:rPr sz="2000" dirty="0"/>
              <a:t>    for </a:t>
            </a:r>
            <a:r>
              <a:rPr sz="2000" dirty="0" err="1"/>
              <a:t>i</a:t>
            </a:r>
            <a:r>
              <a:rPr sz="2000" dirty="0"/>
              <a:t>, line in enumerate(f, 1):</a:t>
            </a:r>
            <a:br>
              <a:rPr sz="2000" dirty="0"/>
            </a:br>
            <a:r>
              <a:rPr sz="2000" dirty="0"/>
              <a:t>        print(f"{</a:t>
            </a:r>
            <a:r>
              <a:rPr sz="2000" dirty="0" err="1"/>
              <a:t>i</a:t>
            </a:r>
            <a:r>
              <a:rPr sz="2000" dirty="0"/>
              <a:t>}: {</a:t>
            </a:r>
            <a:r>
              <a:rPr sz="2000" dirty="0" err="1"/>
              <a:t>line.rstrip</a:t>
            </a:r>
            <a:r>
              <a:rPr sz="2000" dirty="0"/>
              <a:t>()}")</a:t>
            </a:r>
            <a:br>
              <a:rPr sz="2000" dirty="0"/>
            </a:br>
            <a:br>
              <a:rPr sz="2000" dirty="0"/>
            </a:br>
            <a:r>
              <a:rPr sz="2000" dirty="0"/>
              <a:t>import csv</a:t>
            </a:r>
            <a:br>
              <a:rPr sz="2000" dirty="0"/>
            </a:br>
            <a:r>
              <a:rPr sz="2000" dirty="0"/>
              <a:t>rows = [{"name": "Ada", "age": 36}, {"name": "Linus", "age": 52}]</a:t>
            </a:r>
            <a:br>
              <a:rPr sz="2000" dirty="0"/>
            </a:br>
            <a:r>
              <a:rPr sz="2000" dirty="0"/>
              <a:t>with open("users.csv", "w", newline="") as f:</a:t>
            </a:r>
            <a:br>
              <a:rPr sz="2000" dirty="0"/>
            </a:br>
            <a:r>
              <a:rPr sz="2000" dirty="0"/>
              <a:t>    writer = </a:t>
            </a:r>
            <a:r>
              <a:rPr sz="2000" dirty="0" err="1"/>
              <a:t>csv.DictWriter</a:t>
            </a:r>
            <a:r>
              <a:rPr sz="2000" dirty="0"/>
              <a:t>(f, fieldnames=["name", "age"])</a:t>
            </a:r>
            <a:br>
              <a:rPr sz="2000" dirty="0"/>
            </a:br>
            <a:r>
              <a:rPr sz="2000" dirty="0"/>
              <a:t>    </a:t>
            </a:r>
            <a:r>
              <a:rPr sz="2000" dirty="0" err="1"/>
              <a:t>writer.writeheader</a:t>
            </a:r>
            <a:r>
              <a:rPr sz="2000" dirty="0"/>
              <a:t>(); </a:t>
            </a:r>
            <a:r>
              <a:rPr sz="2000" dirty="0" err="1"/>
              <a:t>writer.writerows</a:t>
            </a:r>
            <a:r>
              <a:rPr sz="2000" dirty="0"/>
              <a:t>(rows)</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AC820-E7AD-86A2-AA28-236FAC7BA68C}"/>
              </a:ext>
            </a:extLst>
          </p:cNvPr>
          <p:cNvSpPr>
            <a:spLocks noGrp="1"/>
          </p:cNvSpPr>
          <p:nvPr>
            <p:ph type="title"/>
          </p:nvPr>
        </p:nvSpPr>
        <p:spPr/>
        <p:txBody>
          <a:bodyPr>
            <a:normAutofit/>
          </a:bodyPr>
          <a:lstStyle/>
          <a:p>
            <a:r>
              <a:rPr lang="en-US" b="1" dirty="0"/>
              <a:t>File I/O (Production-Safe)</a:t>
            </a:r>
            <a:endParaRPr lang="en-SG" dirty="0"/>
          </a:p>
        </p:txBody>
      </p:sp>
      <p:sp>
        <p:nvSpPr>
          <p:cNvPr id="3" name="Content Placeholder 2">
            <a:extLst>
              <a:ext uri="{FF2B5EF4-FFF2-40B4-BE49-F238E27FC236}">
                <a16:creationId xmlns:a16="http://schemas.microsoft.com/office/drawing/2014/main" id="{667F216A-AB57-7DFC-B4C2-55B0B8B00E41}"/>
              </a:ext>
            </a:extLst>
          </p:cNvPr>
          <p:cNvSpPr>
            <a:spLocks noGrp="1"/>
          </p:cNvSpPr>
          <p:nvPr>
            <p:ph idx="1"/>
          </p:nvPr>
        </p:nvSpPr>
        <p:spPr/>
        <p:txBody>
          <a:bodyPr/>
          <a:lstStyle/>
          <a:p>
            <a:r>
              <a:rPr lang="en-US" dirty="0"/>
              <a:t>Always use with</a:t>
            </a:r>
          </a:p>
          <a:p>
            <a:r>
              <a:rPr lang="en-US" dirty="0"/>
              <a:t>Prefer </a:t>
            </a:r>
            <a:r>
              <a:rPr lang="en-US" dirty="0" err="1"/>
              <a:t>pathlib</a:t>
            </a:r>
            <a:endParaRPr lang="en-US" dirty="0"/>
          </a:p>
          <a:p>
            <a:r>
              <a:rPr lang="en-US" dirty="0"/>
              <a:t>Text, CSV, JSON for system boundaries</a:t>
            </a:r>
          </a:p>
          <a:p>
            <a:endParaRPr lang="en-SG" dirty="0"/>
          </a:p>
        </p:txBody>
      </p:sp>
    </p:spTree>
    <p:extLst>
      <p:ext uri="{BB962C8B-B14F-4D97-AF65-F5344CB8AC3E}">
        <p14:creationId xmlns:p14="http://schemas.microsoft.com/office/powerpoint/2010/main" val="88351031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B5E4B-0D36-6A2A-9206-A5BE7DC6A300}"/>
              </a:ext>
            </a:extLst>
          </p:cNvPr>
          <p:cNvSpPr>
            <a:spLocks noGrp="1"/>
          </p:cNvSpPr>
          <p:nvPr>
            <p:ph type="title"/>
          </p:nvPr>
        </p:nvSpPr>
        <p:spPr>
          <a:xfrm>
            <a:off x="457200" y="274638"/>
            <a:ext cx="11036300" cy="1143000"/>
          </a:xfrm>
        </p:spPr>
        <p:txBody>
          <a:bodyPr>
            <a:normAutofit/>
          </a:bodyPr>
          <a:lstStyle/>
          <a:p>
            <a:r>
              <a:rPr lang="en-US" dirty="0"/>
              <a:t>Error Handling &amp; Context Managers</a:t>
            </a:r>
            <a:endParaRPr lang="en-SG" dirty="0"/>
          </a:p>
        </p:txBody>
      </p:sp>
      <p:sp>
        <p:nvSpPr>
          <p:cNvPr id="3" name="Content Placeholder 2">
            <a:extLst>
              <a:ext uri="{FF2B5EF4-FFF2-40B4-BE49-F238E27FC236}">
                <a16:creationId xmlns:a16="http://schemas.microsoft.com/office/drawing/2014/main" id="{2339B22E-3B9B-EFAA-DD32-D88127BF5A36}"/>
              </a:ext>
            </a:extLst>
          </p:cNvPr>
          <p:cNvSpPr>
            <a:spLocks noGrp="1"/>
          </p:cNvSpPr>
          <p:nvPr>
            <p:ph idx="1"/>
          </p:nvPr>
        </p:nvSpPr>
        <p:spPr>
          <a:xfrm>
            <a:off x="457200" y="1600200"/>
            <a:ext cx="11264900" cy="3086099"/>
          </a:xfrm>
        </p:spPr>
        <p:txBody>
          <a:bodyPr>
            <a:normAutofit fontScale="85000" lnSpcReduction="20000"/>
          </a:bodyPr>
          <a:lstStyle/>
          <a:p>
            <a:r>
              <a:rPr lang="en-US" dirty="0"/>
              <a:t>Engineering code must be resilient to failure.</a:t>
            </a:r>
          </a:p>
          <a:p>
            <a:r>
              <a:rPr lang="en-US" b="1" dirty="0"/>
              <a:t>Exception Handling:</a:t>
            </a:r>
            <a:r>
              <a:rPr lang="en-US" dirty="0"/>
              <a:t> Use try/except/finally blocks to catch specific errors (e.g., </a:t>
            </a:r>
            <a:r>
              <a:rPr lang="en-US" dirty="0" err="1"/>
              <a:t>ValueError</a:t>
            </a:r>
            <a:r>
              <a:rPr lang="en-US" dirty="0"/>
              <a:t>, </a:t>
            </a:r>
            <a:r>
              <a:rPr lang="en-US" dirty="0" err="1"/>
              <a:t>KeyError</a:t>
            </a:r>
            <a:r>
              <a:rPr lang="en-US" dirty="0"/>
              <a:t>).</a:t>
            </a:r>
          </a:p>
          <a:p>
            <a:r>
              <a:rPr lang="en-US" b="1" dirty="0"/>
              <a:t>EAFP Principle:</a:t>
            </a:r>
            <a:r>
              <a:rPr lang="en-US" dirty="0"/>
              <a:t> "Easier to Ask Forgiveness than Permission"—Pythonistas prefer trying an action and catching the error rather than checking conditions first.</a:t>
            </a:r>
          </a:p>
          <a:p>
            <a:r>
              <a:rPr lang="en-US" b="1" dirty="0"/>
              <a:t>Context Managers (with):</a:t>
            </a:r>
            <a:r>
              <a:rPr lang="en-US" dirty="0"/>
              <a:t> Ensures resources (like files or database connections) are properly closed, even if an error occurs.</a:t>
            </a:r>
          </a:p>
          <a:p>
            <a:endParaRPr lang="en-SG" dirty="0"/>
          </a:p>
        </p:txBody>
      </p:sp>
      <p:sp>
        <p:nvSpPr>
          <p:cNvPr id="5" name="TextBox 4">
            <a:extLst>
              <a:ext uri="{FF2B5EF4-FFF2-40B4-BE49-F238E27FC236}">
                <a16:creationId xmlns:a16="http://schemas.microsoft.com/office/drawing/2014/main" id="{FC50A4F6-0ED3-6FA0-E450-8E19285283E4}"/>
              </a:ext>
            </a:extLst>
          </p:cNvPr>
          <p:cNvSpPr txBox="1"/>
          <p:nvPr/>
        </p:nvSpPr>
        <p:spPr>
          <a:xfrm>
            <a:off x="571500" y="5029200"/>
            <a:ext cx="11036300" cy="138499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2800" dirty="0"/>
              <a:t>with open('data.txt', 'r') as file:</a:t>
            </a:r>
          </a:p>
          <a:p>
            <a:r>
              <a:rPr lang="en-US" sz="2800" dirty="0"/>
              <a:t>    content = </a:t>
            </a:r>
            <a:r>
              <a:rPr lang="en-US" sz="2800" dirty="0" err="1"/>
              <a:t>file.read</a:t>
            </a:r>
            <a:r>
              <a:rPr lang="en-US" sz="2800" dirty="0"/>
              <a:t>()</a:t>
            </a:r>
          </a:p>
          <a:p>
            <a:r>
              <a:rPr lang="en-US" sz="2800" dirty="0"/>
              <a:t># File is automatically closed here</a:t>
            </a:r>
            <a:endParaRPr lang="en-SG" sz="2800" dirty="0"/>
          </a:p>
        </p:txBody>
      </p:sp>
    </p:spTree>
    <p:extLst>
      <p:ext uri="{BB962C8B-B14F-4D97-AF65-F5344CB8AC3E}">
        <p14:creationId xmlns:p14="http://schemas.microsoft.com/office/powerpoint/2010/main" val="96384887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417A3-51D3-989C-8C9B-50D673F106EA}"/>
              </a:ext>
            </a:extLst>
          </p:cNvPr>
          <p:cNvSpPr>
            <a:spLocks noGrp="1"/>
          </p:cNvSpPr>
          <p:nvPr>
            <p:ph type="title"/>
          </p:nvPr>
        </p:nvSpPr>
        <p:spPr/>
        <p:txBody>
          <a:bodyPr>
            <a:normAutofit/>
          </a:bodyPr>
          <a:lstStyle/>
          <a:p>
            <a:r>
              <a:rPr lang="en-US" dirty="0"/>
              <a:t>Why Error Handling Exists</a:t>
            </a:r>
          </a:p>
        </p:txBody>
      </p:sp>
      <p:sp>
        <p:nvSpPr>
          <p:cNvPr id="3" name="Content Placeholder 2">
            <a:extLst>
              <a:ext uri="{FF2B5EF4-FFF2-40B4-BE49-F238E27FC236}">
                <a16:creationId xmlns:a16="http://schemas.microsoft.com/office/drawing/2014/main" id="{6636A299-B593-DE0B-5C60-75701260007F}"/>
              </a:ext>
            </a:extLst>
          </p:cNvPr>
          <p:cNvSpPr>
            <a:spLocks noGrp="1"/>
          </p:cNvSpPr>
          <p:nvPr>
            <p:ph idx="1"/>
          </p:nvPr>
        </p:nvSpPr>
        <p:spPr>
          <a:xfrm>
            <a:off x="457200" y="1600200"/>
            <a:ext cx="11099800" cy="4525963"/>
          </a:xfrm>
        </p:spPr>
        <p:txBody>
          <a:bodyPr/>
          <a:lstStyle/>
          <a:p>
            <a:r>
              <a:rPr lang="en-US" dirty="0"/>
              <a:t>Failures are </a:t>
            </a:r>
            <a:r>
              <a:rPr lang="en-US" b="1" dirty="0"/>
              <a:t>normal</a:t>
            </a:r>
            <a:r>
              <a:rPr lang="en-US" dirty="0"/>
              <a:t>, not exceptional</a:t>
            </a:r>
          </a:p>
          <a:p>
            <a:r>
              <a:rPr lang="en-US" dirty="0"/>
              <a:t>Systems must fail </a:t>
            </a:r>
            <a:r>
              <a:rPr lang="en-US" b="1" dirty="0"/>
              <a:t>predictably</a:t>
            </a:r>
            <a:endParaRPr lang="en-US" dirty="0"/>
          </a:p>
          <a:p>
            <a:r>
              <a:rPr lang="en-US" dirty="0"/>
              <a:t>Debuggability is a </a:t>
            </a:r>
            <a:r>
              <a:rPr lang="en-US" b="1" dirty="0"/>
              <a:t>feature</a:t>
            </a:r>
            <a:endParaRPr lang="en-US" dirty="0"/>
          </a:p>
          <a:p>
            <a:pPr marL="0" indent="0">
              <a:buNone/>
            </a:pPr>
            <a:r>
              <a:rPr lang="en-US" b="1" dirty="0"/>
              <a:t>Outcome:</a:t>
            </a:r>
            <a:r>
              <a:rPr lang="en-US" dirty="0"/>
              <a:t> engineers design software that fails </a:t>
            </a:r>
            <a:r>
              <a:rPr lang="en-US" i="1" dirty="0"/>
              <a:t>safely and visibly</a:t>
            </a:r>
            <a:endParaRPr lang="en-US" dirty="0"/>
          </a:p>
        </p:txBody>
      </p:sp>
    </p:spTree>
    <p:extLst>
      <p:ext uri="{BB962C8B-B14F-4D97-AF65-F5344CB8AC3E}">
        <p14:creationId xmlns:p14="http://schemas.microsoft.com/office/powerpoint/2010/main" val="121971188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E5163-B3B6-517A-9703-7408C821D7FE}"/>
              </a:ext>
            </a:extLst>
          </p:cNvPr>
          <p:cNvSpPr>
            <a:spLocks noGrp="1"/>
          </p:cNvSpPr>
          <p:nvPr>
            <p:ph type="title"/>
          </p:nvPr>
        </p:nvSpPr>
        <p:spPr/>
        <p:txBody>
          <a:bodyPr>
            <a:normAutofit/>
          </a:bodyPr>
          <a:lstStyle/>
          <a:p>
            <a:r>
              <a:rPr lang="en-US" dirty="0"/>
              <a:t>What Errors Really Mean</a:t>
            </a:r>
          </a:p>
        </p:txBody>
      </p:sp>
      <p:sp>
        <p:nvSpPr>
          <p:cNvPr id="3" name="Content Placeholder 2">
            <a:extLst>
              <a:ext uri="{FF2B5EF4-FFF2-40B4-BE49-F238E27FC236}">
                <a16:creationId xmlns:a16="http://schemas.microsoft.com/office/drawing/2014/main" id="{B02EFEEC-F4B5-D64F-3FC0-CB714C1F4320}"/>
              </a:ext>
            </a:extLst>
          </p:cNvPr>
          <p:cNvSpPr>
            <a:spLocks noGrp="1"/>
          </p:cNvSpPr>
          <p:nvPr>
            <p:ph idx="1"/>
          </p:nvPr>
        </p:nvSpPr>
        <p:spPr>
          <a:xfrm>
            <a:off x="457200" y="1600200"/>
            <a:ext cx="10414000" cy="4525963"/>
          </a:xfrm>
        </p:spPr>
        <p:txBody>
          <a:bodyPr>
            <a:normAutofit/>
          </a:bodyPr>
          <a:lstStyle/>
          <a:p>
            <a:pPr marL="0" indent="0">
              <a:buNone/>
            </a:pPr>
            <a:r>
              <a:rPr lang="en-US" dirty="0"/>
              <a:t>Errors indicate:</a:t>
            </a:r>
          </a:p>
          <a:p>
            <a:pPr lvl="1"/>
            <a:r>
              <a:rPr lang="en-US" dirty="0"/>
              <a:t>Invalid inputs</a:t>
            </a:r>
          </a:p>
          <a:p>
            <a:pPr lvl="1"/>
            <a:r>
              <a:rPr lang="en-US" dirty="0"/>
              <a:t>Broken assumptions</a:t>
            </a:r>
          </a:p>
          <a:p>
            <a:pPr lvl="1"/>
            <a:r>
              <a:rPr lang="en-US" dirty="0"/>
              <a:t>Missing dependencies</a:t>
            </a:r>
          </a:p>
          <a:p>
            <a:pPr lvl="1"/>
            <a:r>
              <a:rPr lang="en-US" dirty="0"/>
              <a:t>External system failures</a:t>
            </a:r>
          </a:p>
          <a:p>
            <a:pPr marL="0" indent="0">
              <a:buNone/>
            </a:pPr>
            <a:endParaRPr lang="en-US" b="1" dirty="0"/>
          </a:p>
          <a:p>
            <a:pPr marL="0" indent="0">
              <a:buNone/>
            </a:pPr>
            <a:r>
              <a:rPr lang="en-US" b="1" dirty="0"/>
              <a:t>Mental model - </a:t>
            </a:r>
            <a:r>
              <a:rPr lang="en-US" dirty="0"/>
              <a:t>Errors are </a:t>
            </a:r>
            <a:r>
              <a:rPr lang="en-US" i="1" dirty="0"/>
              <a:t>signals</a:t>
            </a:r>
            <a:r>
              <a:rPr lang="en-US" dirty="0"/>
              <a:t>, not mistakes to hide</a:t>
            </a:r>
          </a:p>
        </p:txBody>
      </p:sp>
    </p:spTree>
    <p:extLst>
      <p:ext uri="{BB962C8B-B14F-4D97-AF65-F5344CB8AC3E}">
        <p14:creationId xmlns:p14="http://schemas.microsoft.com/office/powerpoint/2010/main" val="3727867456"/>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4CEA-74D7-0AB4-F0E7-0069B5BF2485}"/>
              </a:ext>
            </a:extLst>
          </p:cNvPr>
          <p:cNvSpPr>
            <a:spLocks noGrp="1"/>
          </p:cNvSpPr>
          <p:nvPr>
            <p:ph type="title"/>
          </p:nvPr>
        </p:nvSpPr>
        <p:spPr/>
        <p:txBody>
          <a:bodyPr>
            <a:normAutofit/>
          </a:bodyPr>
          <a:lstStyle/>
          <a:p>
            <a:r>
              <a:rPr lang="en-US" dirty="0"/>
              <a:t>Two Categories of Errors</a:t>
            </a:r>
            <a:endParaRPr lang="en-SG" dirty="0"/>
          </a:p>
        </p:txBody>
      </p:sp>
      <p:sp>
        <p:nvSpPr>
          <p:cNvPr id="3" name="Content Placeholder 2">
            <a:extLst>
              <a:ext uri="{FF2B5EF4-FFF2-40B4-BE49-F238E27FC236}">
                <a16:creationId xmlns:a16="http://schemas.microsoft.com/office/drawing/2014/main" id="{680CBBFA-071F-3D40-B6AD-3356FCC9103C}"/>
              </a:ext>
            </a:extLst>
          </p:cNvPr>
          <p:cNvSpPr>
            <a:spLocks noGrp="1"/>
          </p:cNvSpPr>
          <p:nvPr>
            <p:ph idx="1"/>
          </p:nvPr>
        </p:nvSpPr>
        <p:spPr>
          <a:xfrm>
            <a:off x="558800" y="1765300"/>
            <a:ext cx="5168900" cy="2628902"/>
          </a:xfrm>
        </p:spPr>
        <p:style>
          <a:lnRef idx="2">
            <a:schemeClr val="dk1"/>
          </a:lnRef>
          <a:fillRef idx="1">
            <a:schemeClr val="lt1"/>
          </a:fillRef>
          <a:effectRef idx="0">
            <a:schemeClr val="dk1"/>
          </a:effectRef>
          <a:fontRef idx="minor">
            <a:schemeClr val="dk1"/>
          </a:fontRef>
        </p:style>
        <p:txBody>
          <a:bodyPr>
            <a:normAutofit/>
          </a:bodyPr>
          <a:lstStyle/>
          <a:p>
            <a:r>
              <a:rPr lang="en-US" b="1" dirty="0"/>
              <a:t>Recoverable</a:t>
            </a:r>
            <a:endParaRPr lang="en-US" dirty="0"/>
          </a:p>
          <a:p>
            <a:pPr lvl="1"/>
            <a:r>
              <a:rPr lang="en-US" dirty="0"/>
              <a:t>Invalid user input</a:t>
            </a:r>
          </a:p>
          <a:p>
            <a:pPr lvl="1"/>
            <a:r>
              <a:rPr lang="en-US" dirty="0"/>
              <a:t>Missing optional data</a:t>
            </a:r>
          </a:p>
          <a:p>
            <a:pPr lvl="1"/>
            <a:r>
              <a:rPr lang="en-US" dirty="0"/>
              <a:t>Transient network failures</a:t>
            </a:r>
          </a:p>
          <a:p>
            <a:endParaRPr lang="en-SG" dirty="0"/>
          </a:p>
        </p:txBody>
      </p:sp>
      <p:sp>
        <p:nvSpPr>
          <p:cNvPr id="4" name="Content Placeholder 2">
            <a:extLst>
              <a:ext uri="{FF2B5EF4-FFF2-40B4-BE49-F238E27FC236}">
                <a16:creationId xmlns:a16="http://schemas.microsoft.com/office/drawing/2014/main" id="{077ABE26-984F-43C7-2B54-65114CEC582F}"/>
              </a:ext>
            </a:extLst>
          </p:cNvPr>
          <p:cNvSpPr txBox="1">
            <a:spLocks/>
          </p:cNvSpPr>
          <p:nvPr/>
        </p:nvSpPr>
        <p:spPr>
          <a:xfrm>
            <a:off x="6286500" y="1765301"/>
            <a:ext cx="5168900" cy="2628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Non-recoverable</a:t>
            </a:r>
            <a:endParaRPr lang="en-US" dirty="0"/>
          </a:p>
          <a:p>
            <a:pPr lvl="1"/>
            <a:r>
              <a:rPr lang="en-US" dirty="0"/>
              <a:t>Programmer errors</a:t>
            </a:r>
          </a:p>
          <a:p>
            <a:pPr lvl="1"/>
            <a:r>
              <a:rPr lang="en-US" dirty="0"/>
              <a:t>Corrupted state</a:t>
            </a:r>
          </a:p>
          <a:p>
            <a:pPr lvl="1"/>
            <a:r>
              <a:rPr lang="en-US" dirty="0"/>
              <a:t>Violated invariants</a:t>
            </a:r>
          </a:p>
          <a:p>
            <a:pPr marL="0" indent="0">
              <a:buNone/>
            </a:pPr>
            <a:endParaRPr lang="en-SG" dirty="0"/>
          </a:p>
        </p:txBody>
      </p:sp>
      <p:sp>
        <p:nvSpPr>
          <p:cNvPr id="5" name="TextBox 4">
            <a:extLst>
              <a:ext uri="{FF2B5EF4-FFF2-40B4-BE49-F238E27FC236}">
                <a16:creationId xmlns:a16="http://schemas.microsoft.com/office/drawing/2014/main" id="{B49D8E03-6435-A5B1-7AB6-8C0ABFC85F67}"/>
              </a:ext>
            </a:extLst>
          </p:cNvPr>
          <p:cNvSpPr txBox="1"/>
          <p:nvPr/>
        </p:nvSpPr>
        <p:spPr>
          <a:xfrm>
            <a:off x="558800" y="5092700"/>
            <a:ext cx="10896600"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Rule:</a:t>
            </a:r>
            <a:r>
              <a:rPr lang="en-US" sz="3200" dirty="0"/>
              <a:t> treat them differently</a:t>
            </a:r>
          </a:p>
          <a:p>
            <a:endParaRPr lang="en-SG" sz="3200" dirty="0"/>
          </a:p>
        </p:txBody>
      </p:sp>
    </p:spTree>
    <p:extLst>
      <p:ext uri="{BB962C8B-B14F-4D97-AF65-F5344CB8AC3E}">
        <p14:creationId xmlns:p14="http://schemas.microsoft.com/office/powerpoint/2010/main" val="146949161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A5E95-836E-27D6-4E3E-F6A75DE9AC48}"/>
              </a:ext>
            </a:extLst>
          </p:cNvPr>
          <p:cNvSpPr>
            <a:spLocks noGrp="1"/>
          </p:cNvSpPr>
          <p:nvPr>
            <p:ph type="title"/>
          </p:nvPr>
        </p:nvSpPr>
        <p:spPr/>
        <p:txBody>
          <a:bodyPr>
            <a:normAutofit fontScale="90000"/>
          </a:bodyPr>
          <a:lstStyle/>
          <a:p>
            <a:r>
              <a:rPr lang="en-US" dirty="0"/>
              <a:t>Catch Specific Exceptions</a:t>
            </a:r>
            <a:br>
              <a:rPr lang="en-US" dirty="0"/>
            </a:br>
            <a:endParaRPr lang="en-SG" dirty="0"/>
          </a:p>
        </p:txBody>
      </p:sp>
      <p:sp>
        <p:nvSpPr>
          <p:cNvPr id="3" name="Content Placeholder 2">
            <a:extLst>
              <a:ext uri="{FF2B5EF4-FFF2-40B4-BE49-F238E27FC236}">
                <a16:creationId xmlns:a16="http://schemas.microsoft.com/office/drawing/2014/main" id="{8913E631-14AB-2A91-8051-4D87734A2C0A}"/>
              </a:ext>
            </a:extLst>
          </p:cNvPr>
          <p:cNvSpPr>
            <a:spLocks noGrp="1"/>
          </p:cNvSpPr>
          <p:nvPr>
            <p:ph idx="1"/>
          </p:nvPr>
        </p:nvSpPr>
        <p:spPr>
          <a:xfrm>
            <a:off x="457200" y="1079502"/>
            <a:ext cx="4724400" cy="5310980"/>
          </a:xfrm>
        </p:spPr>
        <p:style>
          <a:lnRef idx="2">
            <a:schemeClr val="dk1"/>
          </a:lnRef>
          <a:fillRef idx="1">
            <a:schemeClr val="lt1"/>
          </a:fillRef>
          <a:effectRef idx="0">
            <a:schemeClr val="dk1"/>
          </a:effectRef>
          <a:fontRef idx="minor">
            <a:schemeClr val="dk1"/>
          </a:fontRef>
        </p:style>
        <p:txBody>
          <a:bodyPr>
            <a:normAutofit lnSpcReduction="10000"/>
          </a:bodyPr>
          <a:lstStyle/>
          <a:p>
            <a:r>
              <a:rPr lang="en-US" b="1" dirty="0"/>
              <a:t>Catch Only What You Expect</a:t>
            </a:r>
          </a:p>
          <a:p>
            <a:pPr lvl="1"/>
            <a:r>
              <a:rPr lang="en-US" dirty="0"/>
              <a:t>Handle </a:t>
            </a:r>
            <a:r>
              <a:rPr lang="en-US" b="1" dirty="0"/>
              <a:t>specific</a:t>
            </a:r>
            <a:r>
              <a:rPr lang="en-US" dirty="0"/>
              <a:t> failure modes</a:t>
            </a:r>
          </a:p>
          <a:p>
            <a:pPr lvl="1"/>
            <a:r>
              <a:rPr lang="en-US" dirty="0"/>
              <a:t>Let unknown failures crash</a:t>
            </a:r>
          </a:p>
          <a:p>
            <a:pPr lvl="1"/>
            <a:r>
              <a:rPr lang="en-US" dirty="0"/>
              <a:t>Avoid except Exception</a:t>
            </a:r>
          </a:p>
          <a:p>
            <a:r>
              <a:rPr lang="en-US" b="1" dirty="0"/>
              <a:t>Why</a:t>
            </a:r>
            <a:endParaRPr lang="en-US" dirty="0"/>
          </a:p>
          <a:p>
            <a:pPr lvl="1"/>
            <a:r>
              <a:rPr lang="en-US" dirty="0"/>
              <a:t>Broad catches hide bugs</a:t>
            </a:r>
          </a:p>
          <a:p>
            <a:pPr lvl="1"/>
            <a:r>
              <a:rPr lang="en-US" dirty="0"/>
              <a:t>Specific catches document intent</a:t>
            </a:r>
          </a:p>
        </p:txBody>
      </p:sp>
      <p:sp>
        <p:nvSpPr>
          <p:cNvPr id="4" name="Content Placeholder 2">
            <a:extLst>
              <a:ext uri="{FF2B5EF4-FFF2-40B4-BE49-F238E27FC236}">
                <a16:creationId xmlns:a16="http://schemas.microsoft.com/office/drawing/2014/main" id="{E98D79E1-6C9F-E699-A990-6CCD7AD8A67E}"/>
              </a:ext>
            </a:extLst>
          </p:cNvPr>
          <p:cNvSpPr txBox="1">
            <a:spLocks/>
          </p:cNvSpPr>
          <p:nvPr/>
        </p:nvSpPr>
        <p:spPr>
          <a:xfrm>
            <a:off x="5851525" y="1079501"/>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Exception:</a:t>
            </a:r>
          </a:p>
          <a:p>
            <a:pPr marL="0" indent="0">
              <a:buNone/>
            </a:pPr>
            <a:r>
              <a:rPr lang="en-US" dirty="0"/>
              <a:t>    pass</a:t>
            </a:r>
          </a:p>
        </p:txBody>
      </p:sp>
      <p:sp>
        <p:nvSpPr>
          <p:cNvPr id="6" name="Content Placeholder 2">
            <a:extLst>
              <a:ext uri="{FF2B5EF4-FFF2-40B4-BE49-F238E27FC236}">
                <a16:creationId xmlns:a16="http://schemas.microsoft.com/office/drawing/2014/main" id="{892C82BF-D8E7-904D-F166-5EADC36037F6}"/>
              </a:ext>
            </a:extLst>
          </p:cNvPr>
          <p:cNvSpPr txBox="1">
            <a:spLocks/>
          </p:cNvSpPr>
          <p:nvPr/>
        </p:nvSpPr>
        <p:spPr>
          <a:xfrm>
            <a:off x="5851525" y="3875882"/>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1907044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B8CE5-0084-9B80-2F66-0B308B87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69AD-3C30-C134-A3D9-E7A63DDBF53B}"/>
              </a:ext>
            </a:extLst>
          </p:cNvPr>
          <p:cNvSpPr>
            <a:spLocks noGrp="1"/>
          </p:cNvSpPr>
          <p:nvPr>
            <p:ph type="title"/>
          </p:nvPr>
        </p:nvSpPr>
        <p:spPr/>
        <p:txBody>
          <a:bodyPr>
            <a:normAutofit/>
          </a:bodyPr>
          <a:lstStyle/>
          <a:p>
            <a:r>
              <a:rPr lang="en-SG" dirty="0"/>
              <a:t>Anti-Pattern: Blanket Catching</a:t>
            </a:r>
          </a:p>
        </p:txBody>
      </p:sp>
      <p:sp>
        <p:nvSpPr>
          <p:cNvPr id="3" name="Content Placeholder 2">
            <a:extLst>
              <a:ext uri="{FF2B5EF4-FFF2-40B4-BE49-F238E27FC236}">
                <a16:creationId xmlns:a16="http://schemas.microsoft.com/office/drawing/2014/main" id="{55AC2611-EA1B-F977-D75E-07AABE2B39C8}"/>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Masks defects</a:t>
            </a:r>
          </a:p>
          <a:p>
            <a:r>
              <a:rPr lang="en-US" dirty="0"/>
              <a:t>Corrupts state</a:t>
            </a:r>
          </a:p>
          <a:p>
            <a:r>
              <a:rPr lang="en-US" dirty="0"/>
              <a:t>Breaks observability</a:t>
            </a:r>
          </a:p>
          <a:p>
            <a:r>
              <a:rPr lang="en-US" b="1" dirty="0"/>
              <a:t>This is never acceptable in production</a:t>
            </a:r>
            <a:endParaRPr lang="en-US" dirty="0"/>
          </a:p>
        </p:txBody>
      </p:sp>
      <p:sp>
        <p:nvSpPr>
          <p:cNvPr id="4" name="Content Placeholder 2">
            <a:extLst>
              <a:ext uri="{FF2B5EF4-FFF2-40B4-BE49-F238E27FC236}">
                <a16:creationId xmlns:a16="http://schemas.microsoft.com/office/drawing/2014/main" id="{FF0F9E6C-BB98-6DCE-388E-A0050B52DE8C}"/>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Exception:</a:t>
            </a:r>
          </a:p>
          <a:p>
            <a:pPr marL="0" indent="0">
              <a:buNone/>
            </a:pPr>
            <a:r>
              <a:rPr lang="en-US" dirty="0"/>
              <a:t>    pass</a:t>
            </a:r>
          </a:p>
        </p:txBody>
      </p:sp>
    </p:spTree>
    <p:extLst>
      <p:ext uri="{BB962C8B-B14F-4D97-AF65-F5344CB8AC3E}">
        <p14:creationId xmlns:p14="http://schemas.microsoft.com/office/powerpoint/2010/main" val="163202573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73E6-0033-0BB1-B59D-9A25A1D75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58320-8C2D-D3EE-0C93-7F506B1B5617}"/>
              </a:ext>
            </a:extLst>
          </p:cNvPr>
          <p:cNvSpPr>
            <a:spLocks noGrp="1"/>
          </p:cNvSpPr>
          <p:nvPr>
            <p:ph type="title"/>
          </p:nvPr>
        </p:nvSpPr>
        <p:spPr/>
        <p:txBody>
          <a:bodyPr>
            <a:normAutofit/>
          </a:bodyPr>
          <a:lstStyle/>
          <a:p>
            <a:r>
              <a:rPr lang="en-SG" dirty="0"/>
              <a:t>Correct Pattern: Narrow Catch</a:t>
            </a:r>
          </a:p>
        </p:txBody>
      </p:sp>
      <p:sp>
        <p:nvSpPr>
          <p:cNvPr id="3" name="Content Placeholder 2">
            <a:extLst>
              <a:ext uri="{FF2B5EF4-FFF2-40B4-BE49-F238E27FC236}">
                <a16:creationId xmlns:a16="http://schemas.microsoft.com/office/drawing/2014/main" id="{51F99217-D8B8-615F-4674-39A7EF576FFD}"/>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Clear intent</a:t>
            </a:r>
          </a:p>
          <a:p>
            <a:r>
              <a:rPr lang="en-US" dirty="0"/>
              <a:t>Predictable behavior</a:t>
            </a:r>
          </a:p>
          <a:p>
            <a:r>
              <a:rPr lang="en-US" dirty="0"/>
              <a:t>Safer recovery</a:t>
            </a:r>
          </a:p>
        </p:txBody>
      </p:sp>
      <p:sp>
        <p:nvSpPr>
          <p:cNvPr id="4" name="Content Placeholder 2">
            <a:extLst>
              <a:ext uri="{FF2B5EF4-FFF2-40B4-BE49-F238E27FC236}">
                <a16:creationId xmlns:a16="http://schemas.microsoft.com/office/drawing/2014/main" id="{CD8DC11B-1091-8C24-E1A3-D867D1ED5293}"/>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22789476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14487-9A26-17CE-7F8C-605C9723C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9E407-3D26-0734-1A1A-DE386066DAAD}"/>
              </a:ext>
            </a:extLst>
          </p:cNvPr>
          <p:cNvSpPr>
            <a:spLocks noGrp="1"/>
          </p:cNvSpPr>
          <p:nvPr>
            <p:ph type="title"/>
          </p:nvPr>
        </p:nvSpPr>
        <p:spPr>
          <a:xfrm>
            <a:off x="368300" y="-103982"/>
            <a:ext cx="8229600" cy="1143000"/>
          </a:xfrm>
        </p:spPr>
        <p:txBody>
          <a:bodyPr>
            <a:normAutofit/>
          </a:bodyPr>
          <a:lstStyle/>
          <a:p>
            <a:r>
              <a:rPr lang="en-US" dirty="0"/>
              <a:t>EAFP — The Pythonic Style</a:t>
            </a:r>
          </a:p>
        </p:txBody>
      </p:sp>
      <p:sp>
        <p:nvSpPr>
          <p:cNvPr id="3" name="Content Placeholder 2">
            <a:extLst>
              <a:ext uri="{FF2B5EF4-FFF2-40B4-BE49-F238E27FC236}">
                <a16:creationId xmlns:a16="http://schemas.microsoft.com/office/drawing/2014/main" id="{AE5288EE-3E88-6977-8450-63A72509D297}"/>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lstStyle/>
          <a:p>
            <a:r>
              <a:rPr lang="en-US" b="1" dirty="0"/>
              <a:t>Easier to Ask Forgiveness than Permission</a:t>
            </a:r>
            <a:endParaRPr lang="en-US" dirty="0"/>
          </a:p>
          <a:p>
            <a:r>
              <a:rPr lang="en-US" dirty="0"/>
              <a:t>Attempt the operation</a:t>
            </a:r>
          </a:p>
          <a:p>
            <a:r>
              <a:rPr lang="en-US" dirty="0"/>
              <a:t>Handle failure if it happens</a:t>
            </a:r>
          </a:p>
          <a:p>
            <a:r>
              <a:rPr lang="en-US" dirty="0"/>
              <a:t>Fewer checks, fewer races</a:t>
            </a:r>
          </a:p>
        </p:txBody>
      </p:sp>
      <p:sp>
        <p:nvSpPr>
          <p:cNvPr id="4" name="Content Placeholder 2">
            <a:extLst>
              <a:ext uri="{FF2B5EF4-FFF2-40B4-BE49-F238E27FC236}">
                <a16:creationId xmlns:a16="http://schemas.microsoft.com/office/drawing/2014/main" id="{0158841A-4948-9F5B-BBE7-02374A95D15B}"/>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Bad</a:t>
            </a:r>
          </a:p>
          <a:p>
            <a:pPr marL="0" indent="0">
              <a:buNone/>
            </a:pPr>
            <a:r>
              <a:rPr lang="en-US" dirty="0"/>
              <a:t>if key in data:</a:t>
            </a:r>
          </a:p>
          <a:p>
            <a:pPr marL="0" indent="0">
              <a:buNone/>
            </a:pPr>
            <a:r>
              <a:rPr lang="en-US" dirty="0"/>
              <a:t>    value = data[key]</a:t>
            </a:r>
          </a:p>
        </p:txBody>
      </p:sp>
      <p:sp>
        <p:nvSpPr>
          <p:cNvPr id="6" name="Content Placeholder 2">
            <a:extLst>
              <a:ext uri="{FF2B5EF4-FFF2-40B4-BE49-F238E27FC236}">
                <a16:creationId xmlns:a16="http://schemas.microsoft.com/office/drawing/2014/main" id="{289B1564-8919-08A2-6448-46FD846DC968}"/>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Good</a:t>
            </a:r>
          </a:p>
          <a:p>
            <a:pPr marL="0" indent="0">
              <a:buNone/>
            </a:pPr>
            <a:r>
              <a:rPr lang="en-US" dirty="0"/>
              <a:t>try:</a:t>
            </a:r>
          </a:p>
          <a:p>
            <a:pPr marL="0" indent="0">
              <a:buNone/>
            </a:pPr>
            <a:r>
              <a:rPr lang="en-US" dirty="0"/>
              <a:t>    value = data[key]</a:t>
            </a:r>
          </a:p>
          <a:p>
            <a:pPr marL="0" indent="0">
              <a:buNone/>
            </a:pPr>
            <a:r>
              <a:rPr lang="en-US" dirty="0"/>
              <a:t>except </a:t>
            </a:r>
            <a:r>
              <a:rPr lang="en-US" dirty="0" err="1"/>
              <a:t>KeyError</a:t>
            </a:r>
            <a:r>
              <a:rPr lang="en-US" dirty="0"/>
              <a:t>:</a:t>
            </a:r>
          </a:p>
          <a:p>
            <a:pPr marL="0" indent="0">
              <a:buNone/>
            </a:pPr>
            <a:r>
              <a:rPr lang="en-US" dirty="0"/>
              <a:t>    value = default</a:t>
            </a:r>
          </a:p>
        </p:txBody>
      </p:sp>
    </p:spTree>
    <p:extLst>
      <p:ext uri="{BB962C8B-B14F-4D97-AF65-F5344CB8AC3E}">
        <p14:creationId xmlns:p14="http://schemas.microsoft.com/office/powerpoint/2010/main" val="3392506045"/>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9637-E33B-7846-AE98-08963A430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3D006-21AE-20B2-96CE-E46EBE5D3BDD}"/>
              </a:ext>
            </a:extLst>
          </p:cNvPr>
          <p:cNvSpPr>
            <a:spLocks noGrp="1"/>
          </p:cNvSpPr>
          <p:nvPr>
            <p:ph type="title"/>
          </p:nvPr>
        </p:nvSpPr>
        <p:spPr>
          <a:xfrm>
            <a:off x="368300" y="-103982"/>
            <a:ext cx="8229600" cy="1143000"/>
          </a:xfrm>
        </p:spPr>
        <p:txBody>
          <a:bodyPr>
            <a:normAutofit/>
          </a:bodyPr>
          <a:lstStyle/>
          <a:p>
            <a:r>
              <a:rPr lang="en-US" b="1" dirty="0"/>
              <a:t>Never Swallow Errors</a:t>
            </a:r>
          </a:p>
        </p:txBody>
      </p:sp>
      <p:sp>
        <p:nvSpPr>
          <p:cNvPr id="3" name="Content Placeholder 2">
            <a:extLst>
              <a:ext uri="{FF2B5EF4-FFF2-40B4-BE49-F238E27FC236}">
                <a16:creationId xmlns:a16="http://schemas.microsoft.com/office/drawing/2014/main" id="{EA1C85A9-B2F1-B871-0346-B14C972F92C3}"/>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If you catch an error, you must </a:t>
            </a:r>
            <a:r>
              <a:rPr lang="en-US" b="1" dirty="0"/>
              <a:t>do one thing</a:t>
            </a:r>
            <a:r>
              <a:rPr lang="en-US" dirty="0"/>
              <a:t>:</a:t>
            </a:r>
          </a:p>
          <a:p>
            <a:pPr lvl="1"/>
            <a:r>
              <a:rPr lang="en-US" b="1" dirty="0"/>
              <a:t>Recover</a:t>
            </a:r>
            <a:endParaRPr lang="en-US" dirty="0"/>
          </a:p>
          <a:p>
            <a:pPr lvl="1"/>
            <a:r>
              <a:rPr lang="en-US" b="1" dirty="0"/>
              <a:t>Escalate</a:t>
            </a:r>
            <a:endParaRPr lang="en-US" dirty="0"/>
          </a:p>
          <a:p>
            <a:pPr lvl="1"/>
            <a:r>
              <a:rPr lang="en-US" b="1" dirty="0"/>
              <a:t>Record</a:t>
            </a:r>
            <a:endParaRPr lang="en-US" dirty="0"/>
          </a:p>
          <a:p>
            <a:r>
              <a:rPr lang="en-US" dirty="0"/>
              <a:t>Anything else is a bug.</a:t>
            </a:r>
          </a:p>
          <a:p>
            <a:pPr marL="0" indent="0">
              <a:buNone/>
            </a:pPr>
            <a:endParaRPr lang="en-US" b="1" dirty="0"/>
          </a:p>
          <a:p>
            <a:pPr marL="0" indent="0">
              <a:buNone/>
            </a:pPr>
            <a:r>
              <a:rPr lang="en-US" b="1" dirty="0"/>
              <a:t>Rule -</a:t>
            </a:r>
            <a:r>
              <a:rPr lang="en-US" dirty="0"/>
              <a:t>Every caught error must do </a:t>
            </a:r>
            <a:r>
              <a:rPr lang="en-US" i="1" dirty="0"/>
              <a:t>something</a:t>
            </a:r>
            <a:endParaRPr lang="en-US" dirty="0"/>
          </a:p>
        </p:txBody>
      </p:sp>
      <p:sp>
        <p:nvSpPr>
          <p:cNvPr id="4" name="Content Placeholder 2">
            <a:extLst>
              <a:ext uri="{FF2B5EF4-FFF2-40B4-BE49-F238E27FC236}">
                <a16:creationId xmlns:a16="http://schemas.microsoft.com/office/drawing/2014/main" id="{61A1D6C7-FF0E-1BA4-587C-41EB257D5A6F}"/>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 #bad</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518117A8-1CD4-6025-786D-675D800AA9BD}"/>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try: #good</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p:txBody>
      </p:sp>
    </p:spTree>
    <p:extLst>
      <p:ext uri="{BB962C8B-B14F-4D97-AF65-F5344CB8AC3E}">
        <p14:creationId xmlns:p14="http://schemas.microsoft.com/office/powerpoint/2010/main" val="294764056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82B6C-1291-4B69-FE0B-D2EB9832C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997409-EF2C-F34B-264B-230FE9CA770E}"/>
              </a:ext>
            </a:extLst>
          </p:cNvPr>
          <p:cNvSpPr>
            <a:spLocks noGrp="1"/>
          </p:cNvSpPr>
          <p:nvPr>
            <p:ph type="title"/>
          </p:nvPr>
        </p:nvSpPr>
        <p:spPr>
          <a:xfrm>
            <a:off x="368300" y="-103982"/>
            <a:ext cx="8229600" cy="1143000"/>
          </a:xfrm>
        </p:spPr>
        <p:txBody>
          <a:bodyPr>
            <a:normAutofit/>
          </a:bodyPr>
          <a:lstStyle/>
          <a:p>
            <a:r>
              <a:rPr lang="en-SG" b="1" dirty="0"/>
              <a:t>Bad vs Good Error Handling</a:t>
            </a:r>
          </a:p>
        </p:txBody>
      </p:sp>
      <p:sp>
        <p:nvSpPr>
          <p:cNvPr id="3" name="Content Placeholder 2">
            <a:extLst>
              <a:ext uri="{FF2B5EF4-FFF2-40B4-BE49-F238E27FC236}">
                <a16:creationId xmlns:a16="http://schemas.microsoft.com/office/drawing/2014/main" id="{3F4B044B-9DD5-6380-F996-B27FEAC1CEEA}"/>
              </a:ext>
            </a:extLst>
          </p:cNvPr>
          <p:cNvSpPr>
            <a:spLocks noGrp="1"/>
          </p:cNvSpPr>
          <p:nvPr>
            <p:ph idx="1"/>
          </p:nvPr>
        </p:nvSpPr>
        <p:spPr>
          <a:xfrm>
            <a:off x="457200" y="1079502"/>
            <a:ext cx="3505200" cy="531098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bad</a:t>
            </a:r>
          </a:p>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B0DE4CD4-9704-C1CC-ACBD-1FB87F8F9141}"/>
              </a:ext>
            </a:extLst>
          </p:cNvPr>
          <p:cNvSpPr txBox="1">
            <a:spLocks/>
          </p:cNvSpPr>
          <p:nvPr/>
        </p:nvSpPr>
        <p:spPr>
          <a:xfrm>
            <a:off x="4330700" y="1079502"/>
            <a:ext cx="7400925" cy="531098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 good</a:t>
            </a:r>
          </a:p>
          <a:p>
            <a:pPr marL="0" indent="0">
              <a:buNone/>
            </a:pPr>
            <a:r>
              <a:rPr lang="pt-BR" dirty="0"/>
              <a:t>try:</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a:p>
            <a:pPr marL="0" indent="0">
              <a:buNone/>
            </a:pPr>
            <a:endParaRPr lang="pt-BR" dirty="0"/>
          </a:p>
        </p:txBody>
      </p:sp>
    </p:spTree>
    <p:extLst>
      <p:ext uri="{BB962C8B-B14F-4D97-AF65-F5344CB8AC3E}">
        <p14:creationId xmlns:p14="http://schemas.microsoft.com/office/powerpoint/2010/main" val="249826412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0FDFF-D835-723B-E08C-5731D6587A7B}"/>
              </a:ext>
            </a:extLst>
          </p:cNvPr>
          <p:cNvSpPr>
            <a:spLocks noGrp="1"/>
          </p:cNvSpPr>
          <p:nvPr>
            <p:ph type="title"/>
          </p:nvPr>
        </p:nvSpPr>
        <p:spPr>
          <a:xfrm>
            <a:off x="457200" y="-119062"/>
            <a:ext cx="8229600" cy="1143000"/>
          </a:xfrm>
        </p:spPr>
        <p:txBody>
          <a:bodyPr>
            <a:normAutofit/>
          </a:bodyPr>
          <a:lstStyle/>
          <a:p>
            <a:r>
              <a:rPr lang="en-US" dirty="0"/>
              <a:t>Three Valid Responses to Errors</a:t>
            </a:r>
            <a:endParaRPr lang="en-SG" dirty="0"/>
          </a:p>
        </p:txBody>
      </p:sp>
      <p:sp>
        <p:nvSpPr>
          <p:cNvPr id="3" name="Content Placeholder 2">
            <a:extLst>
              <a:ext uri="{FF2B5EF4-FFF2-40B4-BE49-F238E27FC236}">
                <a16:creationId xmlns:a16="http://schemas.microsoft.com/office/drawing/2014/main" id="{6C757572-A022-1F6D-5480-0A732F4081EE}"/>
              </a:ext>
            </a:extLst>
          </p:cNvPr>
          <p:cNvSpPr>
            <a:spLocks noGrp="1"/>
          </p:cNvSpPr>
          <p:nvPr>
            <p:ph idx="1"/>
          </p:nvPr>
        </p:nvSpPr>
        <p:spPr>
          <a:xfrm>
            <a:off x="457200" y="1023938"/>
            <a:ext cx="9867900" cy="5559424"/>
          </a:xfrm>
        </p:spPr>
        <p:txBody>
          <a:bodyPr>
            <a:normAutofit lnSpcReduction="10000"/>
          </a:bodyPr>
          <a:lstStyle/>
          <a:p>
            <a:r>
              <a:rPr lang="en-US" sz="2800" b="1" dirty="0"/>
              <a:t>Recover</a:t>
            </a:r>
            <a:endParaRPr lang="en-US" sz="2800" dirty="0"/>
          </a:p>
          <a:p>
            <a:pPr lvl="1"/>
            <a:r>
              <a:rPr lang="en-US" dirty="0"/>
              <a:t>Retry</a:t>
            </a:r>
          </a:p>
          <a:p>
            <a:pPr lvl="1"/>
            <a:r>
              <a:rPr lang="en-US" dirty="0"/>
              <a:t>Default</a:t>
            </a:r>
          </a:p>
          <a:p>
            <a:pPr lvl="1"/>
            <a:r>
              <a:rPr lang="en-US" dirty="0"/>
              <a:t>Fallback path</a:t>
            </a:r>
          </a:p>
          <a:p>
            <a:r>
              <a:rPr lang="en-US" sz="2800" b="1" dirty="0"/>
              <a:t>Escalate</a:t>
            </a:r>
            <a:endParaRPr lang="en-US" sz="2800" dirty="0"/>
          </a:p>
          <a:p>
            <a:pPr lvl="1"/>
            <a:r>
              <a:rPr lang="en-US" dirty="0"/>
              <a:t>Re-raise</a:t>
            </a:r>
          </a:p>
          <a:p>
            <a:pPr lvl="1"/>
            <a:r>
              <a:rPr lang="en-US" dirty="0"/>
              <a:t>Wrap with domain meaning</a:t>
            </a:r>
          </a:p>
          <a:p>
            <a:r>
              <a:rPr lang="en-US" sz="2800" b="1" dirty="0"/>
              <a:t>Record</a:t>
            </a:r>
            <a:endParaRPr lang="en-US" sz="2800" dirty="0"/>
          </a:p>
          <a:p>
            <a:pPr lvl="1"/>
            <a:r>
              <a:rPr lang="en-US" dirty="0"/>
              <a:t>Log with context</a:t>
            </a:r>
          </a:p>
          <a:p>
            <a:pPr lvl="1"/>
            <a:r>
              <a:rPr lang="en-US" dirty="0"/>
              <a:t>Preserve traceback</a:t>
            </a:r>
          </a:p>
          <a:p>
            <a:pPr marL="0" indent="0">
              <a:buNone/>
            </a:pPr>
            <a:r>
              <a:rPr lang="en-US" sz="2800" b="1" dirty="0"/>
              <a:t>Anything else is a bug.</a:t>
            </a:r>
          </a:p>
          <a:p>
            <a:endParaRPr lang="en-SG" sz="2800" dirty="0"/>
          </a:p>
        </p:txBody>
      </p:sp>
    </p:spTree>
    <p:extLst>
      <p:ext uri="{BB962C8B-B14F-4D97-AF65-F5344CB8AC3E}">
        <p14:creationId xmlns:p14="http://schemas.microsoft.com/office/powerpoint/2010/main" val="4216145019"/>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70FC-D9A8-BBA0-B59E-AA98EE78B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76F67-002E-94FA-3F5F-46E1F7218327}"/>
              </a:ext>
            </a:extLst>
          </p:cNvPr>
          <p:cNvSpPr>
            <a:spLocks noGrp="1"/>
          </p:cNvSpPr>
          <p:nvPr>
            <p:ph type="title"/>
          </p:nvPr>
        </p:nvSpPr>
        <p:spPr>
          <a:xfrm>
            <a:off x="368300" y="-103982"/>
            <a:ext cx="8229600" cy="1143000"/>
          </a:xfrm>
        </p:spPr>
        <p:txBody>
          <a:bodyPr>
            <a:normAutofit/>
          </a:bodyPr>
          <a:lstStyle/>
          <a:p>
            <a:r>
              <a:rPr lang="en-SG" dirty="0"/>
              <a:t>Escalation with Meaning</a:t>
            </a:r>
          </a:p>
        </p:txBody>
      </p:sp>
      <p:sp>
        <p:nvSpPr>
          <p:cNvPr id="3" name="Content Placeholder 2">
            <a:extLst>
              <a:ext uri="{FF2B5EF4-FFF2-40B4-BE49-F238E27FC236}">
                <a16:creationId xmlns:a16="http://schemas.microsoft.com/office/drawing/2014/main" id="{49F2791B-34C0-2D2E-F2F7-6F31781CDE24}"/>
              </a:ext>
            </a:extLst>
          </p:cNvPr>
          <p:cNvSpPr>
            <a:spLocks noGrp="1"/>
          </p:cNvSpPr>
          <p:nvPr>
            <p:ph idx="1"/>
          </p:nvPr>
        </p:nvSpPr>
        <p:spPr>
          <a:xfrm>
            <a:off x="457200" y="1079502"/>
            <a:ext cx="42037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Cleaner APIs</a:t>
            </a:r>
          </a:p>
          <a:p>
            <a:r>
              <a:rPr lang="en-US" dirty="0"/>
              <a:t>Better debugging</a:t>
            </a:r>
          </a:p>
          <a:p>
            <a:r>
              <a:rPr lang="en-US" dirty="0"/>
              <a:t>Business-level clarity</a:t>
            </a:r>
          </a:p>
        </p:txBody>
      </p:sp>
      <p:sp>
        <p:nvSpPr>
          <p:cNvPr id="4" name="Content Placeholder 2">
            <a:extLst>
              <a:ext uri="{FF2B5EF4-FFF2-40B4-BE49-F238E27FC236}">
                <a16:creationId xmlns:a16="http://schemas.microsoft.com/office/drawing/2014/main" id="{AE6B4477-9DF2-A2A2-1F43-53673F7C6872}"/>
              </a:ext>
            </a:extLst>
          </p:cNvPr>
          <p:cNvSpPr txBox="1">
            <a:spLocks/>
          </p:cNvSpPr>
          <p:nvPr/>
        </p:nvSpPr>
        <p:spPr>
          <a:xfrm>
            <a:off x="5054600" y="1079501"/>
            <a:ext cx="6677025" cy="531098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715870159"/>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07CC-4280-E74D-6D73-6768E837960E}"/>
              </a:ext>
            </a:extLst>
          </p:cNvPr>
          <p:cNvSpPr>
            <a:spLocks noGrp="1"/>
          </p:cNvSpPr>
          <p:nvPr>
            <p:ph type="title"/>
          </p:nvPr>
        </p:nvSpPr>
        <p:spPr/>
        <p:txBody>
          <a:bodyPr>
            <a:normAutofit/>
          </a:bodyPr>
          <a:lstStyle/>
          <a:p>
            <a:r>
              <a:rPr lang="en-US" b="1" dirty="0"/>
              <a:t>When to Catch vs Let Crash</a:t>
            </a:r>
            <a:endParaRPr lang="en-SG" dirty="0"/>
          </a:p>
        </p:txBody>
      </p:sp>
      <p:sp>
        <p:nvSpPr>
          <p:cNvPr id="3" name="Content Placeholder 2">
            <a:extLst>
              <a:ext uri="{FF2B5EF4-FFF2-40B4-BE49-F238E27FC236}">
                <a16:creationId xmlns:a16="http://schemas.microsoft.com/office/drawing/2014/main" id="{2A05727C-5AEF-2DAA-3ADF-6AE33D78B1FB}"/>
              </a:ext>
            </a:extLst>
          </p:cNvPr>
          <p:cNvSpPr>
            <a:spLocks noGrp="1"/>
          </p:cNvSpPr>
          <p:nvPr>
            <p:ph idx="1"/>
          </p:nvPr>
        </p:nvSpPr>
        <p:spPr>
          <a:xfrm>
            <a:off x="457200" y="1600200"/>
            <a:ext cx="5245100" cy="4525963"/>
          </a:xfrm>
        </p:spPr>
        <p:txBody>
          <a:bodyPr>
            <a:normAutofit/>
          </a:bodyPr>
          <a:lstStyle/>
          <a:p>
            <a:pPr marL="0" indent="0">
              <a:buNone/>
            </a:pPr>
            <a:r>
              <a:rPr lang="en-US" sz="3600" dirty="0"/>
              <a:t>Catch exceptions when:</a:t>
            </a:r>
          </a:p>
          <a:p>
            <a:pPr lvl="1"/>
            <a:r>
              <a:rPr lang="en-US" sz="3200" dirty="0"/>
              <a:t>You can recover safely</a:t>
            </a:r>
          </a:p>
          <a:p>
            <a:pPr lvl="1"/>
            <a:r>
              <a:rPr lang="en-US" sz="3200" dirty="0"/>
              <a:t>You can retry</a:t>
            </a:r>
          </a:p>
          <a:p>
            <a:pPr lvl="1"/>
            <a:r>
              <a:rPr lang="en-US" sz="3200" dirty="0"/>
              <a:t>You can provide a meaningful fallback</a:t>
            </a:r>
          </a:p>
          <a:p>
            <a:pPr lvl="1"/>
            <a:r>
              <a:rPr lang="en-US" sz="3200" dirty="0"/>
              <a:t>You are translating errors across layers</a:t>
            </a:r>
          </a:p>
        </p:txBody>
      </p:sp>
      <p:sp>
        <p:nvSpPr>
          <p:cNvPr id="4" name="Content Placeholder 2">
            <a:extLst>
              <a:ext uri="{FF2B5EF4-FFF2-40B4-BE49-F238E27FC236}">
                <a16:creationId xmlns:a16="http://schemas.microsoft.com/office/drawing/2014/main" id="{F52BFCB2-44FF-A3C2-C294-B0F9CFAAFA47}"/>
              </a:ext>
            </a:extLst>
          </p:cNvPr>
          <p:cNvSpPr txBox="1">
            <a:spLocks/>
          </p:cNvSpPr>
          <p:nvPr/>
        </p:nvSpPr>
        <p:spPr>
          <a:xfrm>
            <a:off x="6616700" y="1600200"/>
            <a:ext cx="5245100" cy="45259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000" dirty="0"/>
              <a:t>Do </a:t>
            </a:r>
            <a:r>
              <a:rPr lang="en-US" sz="4000" b="1" dirty="0"/>
              <a:t>not</a:t>
            </a:r>
            <a:r>
              <a:rPr lang="en-US" sz="4000" dirty="0"/>
              <a:t> catch when:</a:t>
            </a:r>
          </a:p>
          <a:p>
            <a:pPr lvl="1"/>
            <a:r>
              <a:rPr lang="en-US" sz="3600" dirty="0"/>
              <a:t>State may be corrupted</a:t>
            </a:r>
          </a:p>
          <a:p>
            <a:pPr lvl="1"/>
            <a:r>
              <a:rPr lang="en-US" sz="3600" dirty="0"/>
              <a:t>Preconditions are violated</a:t>
            </a:r>
          </a:p>
          <a:p>
            <a:pPr lvl="1"/>
            <a:r>
              <a:rPr lang="en-US" sz="3600" dirty="0"/>
              <a:t>Programmer error is detected</a:t>
            </a:r>
          </a:p>
          <a:p>
            <a:pPr lvl="1"/>
            <a:r>
              <a:rPr lang="en-US" sz="3600" dirty="0"/>
              <a:t>Continuing would hide defects</a:t>
            </a:r>
          </a:p>
          <a:p>
            <a:pPr marL="0" indent="0">
              <a:buNone/>
            </a:pPr>
            <a:r>
              <a:rPr lang="en-US" sz="4000" b="1" dirty="0"/>
              <a:t>Fail fast beats fail silently</a:t>
            </a:r>
            <a:endParaRPr lang="en-US" sz="4000" dirty="0"/>
          </a:p>
        </p:txBody>
      </p:sp>
    </p:spTree>
    <p:extLst>
      <p:ext uri="{BB962C8B-B14F-4D97-AF65-F5344CB8AC3E}">
        <p14:creationId xmlns:p14="http://schemas.microsoft.com/office/powerpoint/2010/main" val="125227329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76135-333C-8B4E-6AC9-359B2FFA610B}"/>
              </a:ext>
            </a:extLst>
          </p:cNvPr>
          <p:cNvSpPr>
            <a:spLocks noGrp="1"/>
          </p:cNvSpPr>
          <p:nvPr>
            <p:ph type="title"/>
          </p:nvPr>
        </p:nvSpPr>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13470B1-7739-FCA0-8C35-90A6D078CC27}"/>
              </a:ext>
            </a:extLst>
          </p:cNvPr>
          <p:cNvSpPr>
            <a:spLocks noGrp="1"/>
          </p:cNvSpPr>
          <p:nvPr>
            <p:ph idx="1"/>
          </p:nvPr>
        </p:nvSpPr>
        <p:spPr/>
        <p:txBody>
          <a:bodyPr>
            <a:normAutofit/>
          </a:bodyPr>
          <a:lstStyle/>
          <a:p>
            <a:r>
              <a:rPr lang="en-US" dirty="0"/>
              <a:t>Catch specific exceptions</a:t>
            </a:r>
          </a:p>
          <a:p>
            <a:r>
              <a:rPr lang="en-US" dirty="0"/>
              <a:t>Prefer EAFP (try → handle)</a:t>
            </a:r>
          </a:p>
          <a:p>
            <a:r>
              <a:rPr lang="en-US" dirty="0"/>
              <a:t>Log with context</a:t>
            </a:r>
          </a:p>
          <a:p>
            <a:r>
              <a:rPr lang="en-US" dirty="0"/>
              <a:t>Fail fast on programmer errors</a:t>
            </a:r>
          </a:p>
          <a:p>
            <a:r>
              <a:rPr lang="en-US" dirty="0"/>
              <a:t>Never swallow errors silently</a:t>
            </a:r>
          </a:p>
          <a:p>
            <a:endParaRPr lang="en-US" dirty="0"/>
          </a:p>
          <a:p>
            <a:pPr marL="0" indent="0">
              <a:buNone/>
            </a:pPr>
            <a:endParaRPr lang="en-US" dirty="0"/>
          </a:p>
          <a:p>
            <a:endParaRPr lang="en-SG" dirty="0"/>
          </a:p>
        </p:txBody>
      </p:sp>
    </p:spTree>
    <p:extLst>
      <p:ext uri="{BB962C8B-B14F-4D97-AF65-F5344CB8AC3E}">
        <p14:creationId xmlns:p14="http://schemas.microsoft.com/office/powerpoint/2010/main" val="329649084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E4FA4-A47B-EE7B-B526-CD24BC3A2578}"/>
              </a:ext>
            </a:extLst>
          </p:cNvPr>
          <p:cNvSpPr>
            <a:spLocks noGrp="1"/>
          </p:cNvSpPr>
          <p:nvPr>
            <p:ph type="title"/>
          </p:nvPr>
        </p:nvSpPr>
        <p:spPr/>
        <p:txBody>
          <a:bodyPr>
            <a:normAutofit fontScale="90000"/>
          </a:bodyPr>
          <a:lstStyle/>
          <a:p>
            <a:r>
              <a:rPr lang="en-SG" dirty="0"/>
              <a:t>Error Boundaries (Enterprise Pattern)</a:t>
            </a:r>
          </a:p>
        </p:txBody>
      </p:sp>
      <p:sp>
        <p:nvSpPr>
          <p:cNvPr id="3" name="Content Placeholder 2">
            <a:extLst>
              <a:ext uri="{FF2B5EF4-FFF2-40B4-BE49-F238E27FC236}">
                <a16:creationId xmlns:a16="http://schemas.microsoft.com/office/drawing/2014/main" id="{15168820-65FA-5860-0868-57C8216E5240}"/>
              </a:ext>
            </a:extLst>
          </p:cNvPr>
          <p:cNvSpPr>
            <a:spLocks noGrp="1"/>
          </p:cNvSpPr>
          <p:nvPr>
            <p:ph idx="1"/>
          </p:nvPr>
        </p:nvSpPr>
        <p:spPr>
          <a:xfrm>
            <a:off x="457200" y="1600200"/>
            <a:ext cx="10210800" cy="4525963"/>
          </a:xfrm>
        </p:spPr>
        <p:txBody>
          <a:bodyPr/>
          <a:lstStyle/>
          <a:p>
            <a:r>
              <a:rPr lang="en-SG" dirty="0"/>
              <a:t>Catch errors at </a:t>
            </a:r>
            <a:r>
              <a:rPr lang="en-SG" b="1" dirty="0"/>
              <a:t>system boundaries</a:t>
            </a:r>
            <a:endParaRPr lang="en-SG" dirty="0"/>
          </a:p>
          <a:p>
            <a:pPr lvl="1"/>
            <a:r>
              <a:rPr lang="en-SG" dirty="0"/>
              <a:t>API layer</a:t>
            </a:r>
          </a:p>
          <a:p>
            <a:pPr lvl="1"/>
            <a:r>
              <a:rPr lang="en-SG" dirty="0"/>
              <a:t>CLI </a:t>
            </a:r>
            <a:r>
              <a:rPr lang="en-SG" dirty="0" err="1"/>
              <a:t>entrypoint</a:t>
            </a:r>
            <a:endParaRPr lang="en-SG" dirty="0"/>
          </a:p>
          <a:p>
            <a:pPr lvl="1"/>
            <a:r>
              <a:rPr lang="en-SG" dirty="0"/>
              <a:t>Worker/task runner</a:t>
            </a:r>
          </a:p>
          <a:p>
            <a:r>
              <a:rPr lang="en-SG" dirty="0"/>
              <a:t>Keep core logic </a:t>
            </a:r>
            <a:r>
              <a:rPr lang="en-SG" b="1" dirty="0"/>
              <a:t>exception-transparent</a:t>
            </a:r>
            <a:endParaRPr lang="en-SG" dirty="0"/>
          </a:p>
          <a:p>
            <a:pPr marL="0" indent="0">
              <a:buNone/>
            </a:pPr>
            <a:r>
              <a:rPr lang="en-SG" b="1" dirty="0"/>
              <a:t>Mental model - </a:t>
            </a:r>
            <a:r>
              <a:rPr lang="en-SG" dirty="0"/>
              <a:t>Catch errors where responsibility changes</a:t>
            </a:r>
          </a:p>
          <a:p>
            <a:endParaRPr lang="en-SG" dirty="0"/>
          </a:p>
        </p:txBody>
      </p:sp>
    </p:spTree>
    <p:extLst>
      <p:ext uri="{BB962C8B-B14F-4D97-AF65-F5344CB8AC3E}">
        <p14:creationId xmlns:p14="http://schemas.microsoft.com/office/powerpoint/2010/main" val="69543517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327E-54C4-740F-3B2F-8EBD56023540}"/>
              </a:ext>
            </a:extLst>
          </p:cNvPr>
          <p:cNvSpPr>
            <a:spLocks noGrp="1"/>
          </p:cNvSpPr>
          <p:nvPr>
            <p:ph type="title"/>
          </p:nvPr>
        </p:nvSpPr>
        <p:spPr/>
        <p:txBody>
          <a:bodyPr>
            <a:normAutofit/>
          </a:bodyPr>
          <a:lstStyle/>
          <a:p>
            <a:r>
              <a:rPr lang="en-US" dirty="0"/>
              <a:t>Exception Translation</a:t>
            </a:r>
            <a:endParaRPr lang="en-SG" dirty="0"/>
          </a:p>
        </p:txBody>
      </p:sp>
      <p:sp>
        <p:nvSpPr>
          <p:cNvPr id="3" name="Content Placeholder 2">
            <a:extLst>
              <a:ext uri="{FF2B5EF4-FFF2-40B4-BE49-F238E27FC236}">
                <a16:creationId xmlns:a16="http://schemas.microsoft.com/office/drawing/2014/main" id="{9E4A8C77-BCE5-70BF-8CDA-FFF423BB8F4E}"/>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Convert low-level errors into domain meaning</a:t>
            </a:r>
          </a:p>
          <a:p>
            <a:r>
              <a:rPr lang="en-US" b="1" dirty="0"/>
              <a:t>Benefit</a:t>
            </a:r>
            <a:endParaRPr lang="en-US" dirty="0"/>
          </a:p>
          <a:p>
            <a:pPr lvl="1"/>
            <a:r>
              <a:rPr lang="en-US" dirty="0"/>
              <a:t>Clear intent</a:t>
            </a:r>
          </a:p>
          <a:p>
            <a:pPr lvl="1"/>
            <a:r>
              <a:rPr lang="en-US" dirty="0"/>
              <a:t>Better debugging</a:t>
            </a:r>
          </a:p>
          <a:p>
            <a:pPr lvl="1"/>
            <a:r>
              <a:rPr lang="en-US" dirty="0"/>
              <a:t>Cleaner APIs</a:t>
            </a:r>
          </a:p>
          <a:p>
            <a:endParaRPr lang="en-US" dirty="0"/>
          </a:p>
          <a:p>
            <a:endParaRPr lang="en-SG" dirty="0"/>
          </a:p>
        </p:txBody>
      </p:sp>
      <p:sp>
        <p:nvSpPr>
          <p:cNvPr id="4" name="Content Placeholder 2">
            <a:extLst>
              <a:ext uri="{FF2B5EF4-FFF2-40B4-BE49-F238E27FC236}">
                <a16:creationId xmlns:a16="http://schemas.microsoft.com/office/drawing/2014/main" id="{B0FB6B7E-CC59-E1DB-B1EF-1F72AD7051B6}"/>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11304349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7A18-3054-B727-73EC-8F2646E3B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BEBCF-A264-7274-C117-B70FD59E7666}"/>
              </a:ext>
            </a:extLst>
          </p:cNvPr>
          <p:cNvSpPr>
            <a:spLocks noGrp="1"/>
          </p:cNvSpPr>
          <p:nvPr>
            <p:ph type="title"/>
          </p:nvPr>
        </p:nvSpPr>
        <p:spPr/>
        <p:txBody>
          <a:bodyPr>
            <a:normAutofit/>
          </a:bodyPr>
          <a:lstStyle/>
          <a:p>
            <a:r>
              <a:rPr lang="en-US" dirty="0"/>
              <a:t>Logging Is Not Optional</a:t>
            </a:r>
          </a:p>
        </p:txBody>
      </p:sp>
      <p:sp>
        <p:nvSpPr>
          <p:cNvPr id="3" name="Content Placeholder 2">
            <a:extLst>
              <a:ext uri="{FF2B5EF4-FFF2-40B4-BE49-F238E27FC236}">
                <a16:creationId xmlns:a16="http://schemas.microsoft.com/office/drawing/2014/main" id="{CF9B991B-9D55-46F3-B365-986903910B04}"/>
              </a:ext>
            </a:extLst>
          </p:cNvPr>
          <p:cNvSpPr>
            <a:spLocks noGrp="1"/>
          </p:cNvSpPr>
          <p:nvPr>
            <p:ph idx="1"/>
          </p:nvPr>
        </p:nvSpPr>
        <p:spPr>
          <a:xfrm>
            <a:off x="457200" y="1600200"/>
            <a:ext cx="4914900" cy="4525963"/>
          </a:xfrm>
        </p:spPr>
        <p:style>
          <a:lnRef idx="2">
            <a:schemeClr val="dk1"/>
          </a:lnRef>
          <a:fillRef idx="1">
            <a:schemeClr val="lt1"/>
          </a:fillRef>
          <a:effectRef idx="0">
            <a:schemeClr val="dk1"/>
          </a:effectRef>
          <a:fontRef idx="minor">
            <a:schemeClr val="dk1"/>
          </a:fontRef>
        </p:style>
        <p:txBody>
          <a:bodyPr/>
          <a:lstStyle/>
          <a:p>
            <a:r>
              <a:rPr lang="en-US" dirty="0"/>
              <a:t>Always log:</a:t>
            </a:r>
          </a:p>
          <a:p>
            <a:pPr lvl="1"/>
            <a:r>
              <a:rPr lang="en-US" dirty="0"/>
              <a:t>What failed</a:t>
            </a:r>
          </a:p>
          <a:p>
            <a:pPr lvl="1"/>
            <a:r>
              <a:rPr lang="en-US" dirty="0"/>
              <a:t>Why it matters</a:t>
            </a:r>
          </a:p>
          <a:p>
            <a:pPr lvl="1"/>
            <a:r>
              <a:rPr lang="en-US" dirty="0"/>
              <a:t>Relevant identifiers</a:t>
            </a:r>
          </a:p>
        </p:txBody>
      </p:sp>
      <p:sp>
        <p:nvSpPr>
          <p:cNvPr id="4" name="Content Placeholder 2">
            <a:extLst>
              <a:ext uri="{FF2B5EF4-FFF2-40B4-BE49-F238E27FC236}">
                <a16:creationId xmlns:a16="http://schemas.microsoft.com/office/drawing/2014/main" id="{B5A6E009-9F41-B0CB-1591-6F039645582C}"/>
              </a:ext>
            </a:extLst>
          </p:cNvPr>
          <p:cNvSpPr txBox="1">
            <a:spLocks/>
          </p:cNvSpPr>
          <p:nvPr/>
        </p:nvSpPr>
        <p:spPr>
          <a:xfrm>
            <a:off x="5727700" y="1600200"/>
            <a:ext cx="6003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logger.error</a:t>
            </a:r>
            <a:r>
              <a:rPr lang="en-US" dirty="0"/>
              <a:t>(</a:t>
            </a:r>
          </a:p>
          <a:p>
            <a:pPr marL="0" indent="0">
              <a:buNone/>
            </a:pPr>
            <a:r>
              <a:rPr lang="en-US" dirty="0"/>
              <a:t>    "Payment processing failed",</a:t>
            </a:r>
          </a:p>
          <a:p>
            <a:pPr marL="0" indent="0">
              <a:buNone/>
            </a:pPr>
            <a:r>
              <a:rPr lang="en-US" dirty="0"/>
              <a:t>    extra={"</a:t>
            </a:r>
            <a:r>
              <a:rPr lang="en-US" dirty="0" err="1"/>
              <a:t>order_id</a:t>
            </a:r>
            <a:r>
              <a:rPr lang="en-US" dirty="0"/>
              <a:t>": order.id}</a:t>
            </a:r>
          </a:p>
          <a:p>
            <a:pPr marL="0" indent="0">
              <a:buNone/>
            </a:pPr>
            <a:r>
              <a:rPr lang="en-US" dirty="0"/>
              <a:t>)</a:t>
            </a:r>
          </a:p>
        </p:txBody>
      </p:sp>
    </p:spTree>
    <p:extLst>
      <p:ext uri="{BB962C8B-B14F-4D97-AF65-F5344CB8AC3E}">
        <p14:creationId xmlns:p14="http://schemas.microsoft.com/office/powerpoint/2010/main" val="32354928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4F7D2-F0E9-44CE-EC7B-D09337A55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5DBC61-014D-AF59-C229-248C6A4FE205}"/>
              </a:ext>
            </a:extLst>
          </p:cNvPr>
          <p:cNvSpPr>
            <a:spLocks noGrp="1"/>
          </p:cNvSpPr>
          <p:nvPr>
            <p:ph type="title"/>
          </p:nvPr>
        </p:nvSpPr>
        <p:spPr/>
        <p:txBody>
          <a:bodyPr>
            <a:normAutofit/>
          </a:bodyPr>
          <a:lstStyle/>
          <a:p>
            <a:r>
              <a:rPr lang="en-SG" dirty="0"/>
              <a:t>Context Managers = Safety Rails</a:t>
            </a:r>
          </a:p>
        </p:txBody>
      </p:sp>
      <p:sp>
        <p:nvSpPr>
          <p:cNvPr id="3" name="Content Placeholder 2">
            <a:extLst>
              <a:ext uri="{FF2B5EF4-FFF2-40B4-BE49-F238E27FC236}">
                <a16:creationId xmlns:a16="http://schemas.microsoft.com/office/drawing/2014/main" id="{B2469093-798D-3F41-F422-B1F16CC56459}"/>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Use </a:t>
            </a:r>
            <a:r>
              <a:rPr lang="en-US" b="1" dirty="0"/>
              <a:t>with</a:t>
            </a:r>
            <a:r>
              <a:rPr lang="en-US" dirty="0"/>
              <a:t> to guarantee cleanup.</a:t>
            </a:r>
          </a:p>
          <a:p>
            <a:r>
              <a:rPr lang="en-US" dirty="0"/>
              <a:t>Even if errors occur:</a:t>
            </a:r>
          </a:p>
          <a:p>
            <a:pPr lvl="1"/>
            <a:r>
              <a:rPr lang="en-US" dirty="0"/>
              <a:t>Files close</a:t>
            </a:r>
          </a:p>
          <a:p>
            <a:pPr lvl="1"/>
            <a:r>
              <a:rPr lang="en-US" dirty="0"/>
              <a:t>Locks release</a:t>
            </a:r>
          </a:p>
          <a:p>
            <a:pPr lvl="1"/>
            <a:r>
              <a:rPr lang="en-US" dirty="0"/>
              <a:t>Resources clean up</a:t>
            </a:r>
          </a:p>
          <a:p>
            <a:endParaRPr lang="en-US" dirty="0"/>
          </a:p>
        </p:txBody>
      </p:sp>
      <p:sp>
        <p:nvSpPr>
          <p:cNvPr id="4" name="Content Placeholder 2">
            <a:extLst>
              <a:ext uri="{FF2B5EF4-FFF2-40B4-BE49-F238E27FC236}">
                <a16:creationId xmlns:a16="http://schemas.microsoft.com/office/drawing/2014/main" id="{31A5612F-EFB1-A3A6-8AA3-AEC0520AA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with open("data.txt") as f:</a:t>
            </a:r>
          </a:p>
          <a:p>
            <a:pPr marL="0" indent="0">
              <a:buNone/>
            </a:pPr>
            <a:r>
              <a:rPr lang="en-US" dirty="0"/>
              <a:t>    process(f)</a:t>
            </a:r>
          </a:p>
        </p:txBody>
      </p:sp>
    </p:spTree>
    <p:extLst>
      <p:ext uri="{BB962C8B-B14F-4D97-AF65-F5344CB8AC3E}">
        <p14:creationId xmlns:p14="http://schemas.microsoft.com/office/powerpoint/2010/main" val="1453821617"/>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267AF-4329-577F-E992-47DA7AB64B58}"/>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5A69E04D-FB64-C9EF-705D-B5E5EBF0BD47}"/>
              </a:ext>
            </a:extLst>
          </p:cNvPr>
          <p:cNvSpPr>
            <a:spLocks noGrp="1"/>
          </p:cNvSpPr>
          <p:nvPr>
            <p:ph idx="1"/>
          </p:nvPr>
        </p:nvSpPr>
        <p:spPr/>
        <p:txBody>
          <a:bodyPr/>
          <a:lstStyle/>
          <a:p>
            <a:r>
              <a:rPr lang="en-US" dirty="0"/>
              <a:t>Narrow exceptions only</a:t>
            </a:r>
          </a:p>
          <a:p>
            <a:r>
              <a:rPr lang="en-US" dirty="0"/>
              <a:t>Prefer EAFP</a:t>
            </a:r>
          </a:p>
          <a:p>
            <a:r>
              <a:rPr lang="en-US" dirty="0"/>
              <a:t>Log once, at the boundary</a:t>
            </a:r>
          </a:p>
          <a:p>
            <a:r>
              <a:rPr lang="en-US" dirty="0"/>
              <a:t>Never suppress unknown failures</a:t>
            </a:r>
          </a:p>
          <a:p>
            <a:r>
              <a:rPr lang="en-US" dirty="0"/>
              <a:t>Treat error handling as design</a:t>
            </a:r>
          </a:p>
        </p:txBody>
      </p:sp>
    </p:spTree>
    <p:extLst>
      <p:ext uri="{BB962C8B-B14F-4D97-AF65-F5344CB8AC3E}">
        <p14:creationId xmlns:p14="http://schemas.microsoft.com/office/powerpoint/2010/main" val="400650407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2F8BF-5FB8-E80A-E31E-09211C333082}"/>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539A7A5-5CEB-61F4-95C6-A7EC1670D891}"/>
              </a:ext>
            </a:extLst>
          </p:cNvPr>
          <p:cNvSpPr>
            <a:spLocks noGrp="1"/>
          </p:cNvSpPr>
          <p:nvPr>
            <p:ph idx="1"/>
          </p:nvPr>
        </p:nvSpPr>
        <p:spPr>
          <a:xfrm>
            <a:off x="457200" y="1600200"/>
            <a:ext cx="11099800" cy="4525963"/>
          </a:xfrm>
        </p:spPr>
        <p:txBody>
          <a:bodyPr/>
          <a:lstStyle/>
          <a:p>
            <a:r>
              <a:rPr lang="en-US" dirty="0"/>
              <a:t>Specific exceptions &gt; broad catches</a:t>
            </a:r>
          </a:p>
          <a:p>
            <a:r>
              <a:rPr lang="en-US" dirty="0"/>
              <a:t>EAFP is the Pythonic default</a:t>
            </a:r>
          </a:p>
          <a:p>
            <a:r>
              <a:rPr lang="en-US" dirty="0"/>
              <a:t>Silent errors are production bugs</a:t>
            </a:r>
          </a:p>
          <a:p>
            <a:r>
              <a:rPr lang="en-US" dirty="0"/>
              <a:t>Error handling is system design</a:t>
            </a:r>
          </a:p>
          <a:p>
            <a:pPr marL="0" indent="0">
              <a:buNone/>
            </a:pPr>
            <a:endParaRPr lang="en-US" b="1" dirty="0"/>
          </a:p>
          <a:p>
            <a:pPr marL="0" indent="0">
              <a:buNone/>
            </a:pPr>
            <a:r>
              <a:rPr lang="en-US" b="1" dirty="0"/>
              <a:t>Mental model: </a:t>
            </a:r>
            <a:r>
              <a:rPr lang="en-US" dirty="0"/>
              <a:t>“If it fails, fail loudly, clearly, and intentionally”</a:t>
            </a:r>
          </a:p>
        </p:txBody>
      </p:sp>
    </p:spTree>
    <p:extLst>
      <p:ext uri="{BB962C8B-B14F-4D97-AF65-F5344CB8AC3E}">
        <p14:creationId xmlns:p14="http://schemas.microsoft.com/office/powerpoint/2010/main" val="3913052123"/>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6D38-FFE3-F638-D4FB-86C7DC930A7C}"/>
              </a:ext>
            </a:extLst>
          </p:cNvPr>
          <p:cNvSpPr>
            <a:spLocks noGrp="1"/>
          </p:cNvSpPr>
          <p:nvPr>
            <p:ph type="title"/>
          </p:nvPr>
        </p:nvSpPr>
        <p:spPr/>
        <p:txBody>
          <a:bodyPr>
            <a:normAutofit/>
          </a:bodyPr>
          <a:lstStyle/>
          <a:p>
            <a:r>
              <a:rPr lang="en-US" b="1" dirty="0"/>
              <a:t>Enterprise Patterns</a:t>
            </a:r>
            <a:endParaRPr lang="en-SG" dirty="0"/>
          </a:p>
        </p:txBody>
      </p:sp>
      <p:sp>
        <p:nvSpPr>
          <p:cNvPr id="3" name="Content Placeholder 2">
            <a:extLst>
              <a:ext uri="{FF2B5EF4-FFF2-40B4-BE49-F238E27FC236}">
                <a16:creationId xmlns:a16="http://schemas.microsoft.com/office/drawing/2014/main" id="{067D570C-B4E6-7E31-6655-DC41D2EBF9C7}"/>
              </a:ext>
            </a:extLst>
          </p:cNvPr>
          <p:cNvSpPr>
            <a:spLocks noGrp="1"/>
          </p:cNvSpPr>
          <p:nvPr>
            <p:ph idx="1"/>
          </p:nvPr>
        </p:nvSpPr>
        <p:spPr/>
        <p:txBody>
          <a:bodyPr/>
          <a:lstStyle/>
          <a:p>
            <a:r>
              <a:rPr lang="en-US" dirty="0"/>
              <a:t>Configuration via files</a:t>
            </a:r>
          </a:p>
          <a:p>
            <a:r>
              <a:rPr lang="en-US" dirty="0"/>
              <a:t>Logging over print</a:t>
            </a:r>
          </a:p>
          <a:p>
            <a:r>
              <a:rPr lang="en-US" dirty="0"/>
              <a:t>Pure functions for business logic</a:t>
            </a:r>
          </a:p>
          <a:p>
            <a:r>
              <a:rPr lang="en-US" dirty="0"/>
              <a:t>Side effects at the edges</a:t>
            </a:r>
          </a:p>
          <a:p>
            <a:endParaRPr lang="en-SG" dirty="0"/>
          </a:p>
        </p:txBody>
      </p:sp>
    </p:spTree>
    <p:extLst>
      <p:ext uri="{BB962C8B-B14F-4D97-AF65-F5344CB8AC3E}">
        <p14:creationId xmlns:p14="http://schemas.microsoft.com/office/powerpoint/2010/main" val="240919053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59F30-FB26-B395-071E-943E61791B07}"/>
              </a:ext>
            </a:extLst>
          </p:cNvPr>
          <p:cNvSpPr>
            <a:spLocks noGrp="1"/>
          </p:cNvSpPr>
          <p:nvPr>
            <p:ph type="title"/>
          </p:nvPr>
        </p:nvSpPr>
        <p:spPr>
          <a:xfrm>
            <a:off x="457200" y="274638"/>
            <a:ext cx="11087100" cy="1143000"/>
          </a:xfrm>
        </p:spPr>
        <p:txBody>
          <a:bodyPr/>
          <a:lstStyle/>
          <a:p>
            <a:r>
              <a:rPr lang="en-SG" b="1" dirty="0"/>
              <a:t>Type Hinting &amp; Decorators</a:t>
            </a:r>
            <a:endParaRPr lang="en-SG" dirty="0"/>
          </a:p>
        </p:txBody>
      </p:sp>
      <p:sp>
        <p:nvSpPr>
          <p:cNvPr id="3" name="Content Placeholder 2">
            <a:extLst>
              <a:ext uri="{FF2B5EF4-FFF2-40B4-BE49-F238E27FC236}">
                <a16:creationId xmlns:a16="http://schemas.microsoft.com/office/drawing/2014/main" id="{5777C4F3-D0A3-250A-7699-B104DEBCDC52}"/>
              </a:ext>
            </a:extLst>
          </p:cNvPr>
          <p:cNvSpPr>
            <a:spLocks noGrp="1"/>
          </p:cNvSpPr>
          <p:nvPr>
            <p:ph idx="1"/>
          </p:nvPr>
        </p:nvSpPr>
        <p:spPr>
          <a:xfrm>
            <a:off x="457200" y="1600201"/>
            <a:ext cx="11087100" cy="2616200"/>
          </a:xfrm>
        </p:spPr>
        <p:txBody>
          <a:bodyPr>
            <a:normAutofit fontScale="92500" lnSpcReduction="20000"/>
          </a:bodyPr>
          <a:lstStyle/>
          <a:p>
            <a:r>
              <a:rPr lang="en-SG" dirty="0"/>
              <a:t>As projects grow, "meta" features help maintain code quality.</a:t>
            </a:r>
          </a:p>
          <a:p>
            <a:r>
              <a:rPr lang="en-SG" b="1" dirty="0"/>
              <a:t>Type Hinting:</a:t>
            </a:r>
            <a:r>
              <a:rPr lang="en-SG" dirty="0"/>
              <a:t> Helps IDEs and static </a:t>
            </a:r>
            <a:r>
              <a:rPr lang="en-SG" dirty="0" err="1"/>
              <a:t>analyzers</a:t>
            </a:r>
            <a:r>
              <a:rPr lang="en-SG" dirty="0"/>
              <a:t> (like </a:t>
            </a:r>
            <a:r>
              <a:rPr lang="en-SG" dirty="0" err="1"/>
              <a:t>MyPy</a:t>
            </a:r>
            <a:r>
              <a:rPr lang="en-SG" dirty="0"/>
              <a:t>) catch bugs before they run.</a:t>
            </a:r>
          </a:p>
          <a:p>
            <a:pPr lvl="1"/>
            <a:r>
              <a:rPr lang="en-SG" dirty="0"/>
              <a:t>def process(name: str) -&gt; list[str]:</a:t>
            </a:r>
          </a:p>
          <a:p>
            <a:r>
              <a:rPr lang="en-SG" b="1" dirty="0"/>
              <a:t>Decorators:</a:t>
            </a:r>
            <a:r>
              <a:rPr lang="en-SG" dirty="0"/>
              <a:t> Functions that wrap other functions to modify their </a:t>
            </a:r>
            <a:r>
              <a:rPr lang="en-SG" dirty="0" err="1"/>
              <a:t>behavior</a:t>
            </a:r>
            <a:r>
              <a:rPr lang="en-SG" dirty="0"/>
              <a:t> (e.g., logging, timing, or access control).</a:t>
            </a:r>
          </a:p>
          <a:p>
            <a:endParaRPr lang="en-SG" dirty="0"/>
          </a:p>
        </p:txBody>
      </p:sp>
      <p:sp>
        <p:nvSpPr>
          <p:cNvPr id="4" name="TextBox 3">
            <a:extLst>
              <a:ext uri="{FF2B5EF4-FFF2-40B4-BE49-F238E27FC236}">
                <a16:creationId xmlns:a16="http://schemas.microsoft.com/office/drawing/2014/main" id="{5CF10D27-44F8-CA5C-D8D3-FBC038F32DD6}"/>
              </a:ext>
            </a:extLst>
          </p:cNvPr>
          <p:cNvSpPr txBox="1"/>
          <p:nvPr/>
        </p:nvSpPr>
        <p:spPr>
          <a:xfrm>
            <a:off x="457200" y="4648200"/>
            <a:ext cx="110871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@timer_decorator</a:t>
            </a:r>
          </a:p>
          <a:p>
            <a:r>
              <a:rPr lang="en-US" sz="3200" dirty="0"/>
              <a:t>def </a:t>
            </a:r>
            <a:r>
              <a:rPr lang="en-US" sz="3200" dirty="0" err="1"/>
              <a:t>heavy_computation</a:t>
            </a:r>
            <a:r>
              <a:rPr lang="en-US" sz="3200" dirty="0"/>
              <a:t>():</a:t>
            </a:r>
          </a:p>
          <a:p>
            <a:r>
              <a:rPr lang="en-US" sz="3200" dirty="0"/>
              <a:t>    pass</a:t>
            </a:r>
            <a:endParaRPr lang="en-SG" sz="3200" dirty="0"/>
          </a:p>
        </p:txBody>
      </p:sp>
    </p:spTree>
    <p:extLst>
      <p:ext uri="{BB962C8B-B14F-4D97-AF65-F5344CB8AC3E}">
        <p14:creationId xmlns:p14="http://schemas.microsoft.com/office/powerpoint/2010/main" val="288114307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FB94-C97F-1D02-2030-D86022C6F880}"/>
              </a:ext>
            </a:extLst>
          </p:cNvPr>
          <p:cNvSpPr>
            <a:spLocks noGrp="1"/>
          </p:cNvSpPr>
          <p:nvPr>
            <p:ph type="title"/>
          </p:nvPr>
        </p:nvSpPr>
        <p:spPr/>
        <p:txBody>
          <a:bodyPr>
            <a:normAutofit/>
          </a:bodyPr>
          <a:lstStyle/>
          <a:p>
            <a:r>
              <a:rPr lang="en-US" dirty="0"/>
              <a:t>Type Hints</a:t>
            </a:r>
            <a:endParaRPr lang="en-SG" dirty="0"/>
          </a:p>
        </p:txBody>
      </p:sp>
      <p:sp>
        <p:nvSpPr>
          <p:cNvPr id="3" name="Content Placeholder 2">
            <a:extLst>
              <a:ext uri="{FF2B5EF4-FFF2-40B4-BE49-F238E27FC236}">
                <a16:creationId xmlns:a16="http://schemas.microsoft.com/office/drawing/2014/main" id="{4128C229-9AD8-E4EC-081E-DBB6B236A1E1}"/>
              </a:ext>
            </a:extLst>
          </p:cNvPr>
          <p:cNvSpPr>
            <a:spLocks noGrp="1"/>
          </p:cNvSpPr>
          <p:nvPr>
            <p:ph idx="1"/>
          </p:nvPr>
        </p:nvSpPr>
        <p:spPr/>
        <p:txBody>
          <a:bodyPr/>
          <a:lstStyle/>
          <a:p>
            <a:r>
              <a:rPr lang="en-US" dirty="0"/>
              <a:t>Improve readability</a:t>
            </a:r>
          </a:p>
          <a:p>
            <a:r>
              <a:rPr lang="en-US" dirty="0"/>
              <a:t>Catch bugs early</a:t>
            </a:r>
          </a:p>
          <a:p>
            <a:r>
              <a:rPr lang="en-US" dirty="0"/>
              <a:t>Still fully dynamic at runtime</a:t>
            </a:r>
          </a:p>
          <a:p>
            <a:pPr marL="0" indent="0">
              <a:buNone/>
            </a:pPr>
            <a:endParaRPr lang="en-US" b="1" dirty="0"/>
          </a:p>
          <a:p>
            <a:pPr marL="0" indent="0">
              <a:buNone/>
            </a:pPr>
            <a:r>
              <a:rPr lang="en-US" b="1" dirty="0"/>
              <a:t>Use more as code grows</a:t>
            </a:r>
            <a:endParaRPr lang="en-US" dirty="0"/>
          </a:p>
          <a:p>
            <a:endParaRPr lang="en-SG" dirty="0"/>
          </a:p>
        </p:txBody>
      </p:sp>
    </p:spTree>
    <p:extLst>
      <p:ext uri="{BB962C8B-B14F-4D97-AF65-F5344CB8AC3E}">
        <p14:creationId xmlns:p14="http://schemas.microsoft.com/office/powerpoint/2010/main" val="417124280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&amp; Generators</a:t>
            </a:r>
          </a:p>
        </p:txBody>
      </p:sp>
      <p:sp>
        <p:nvSpPr>
          <p:cNvPr id="3" name="Content Placeholder 2"/>
          <p:cNvSpPr>
            <a:spLocks noGrp="1"/>
          </p:cNvSpPr>
          <p:nvPr>
            <p:ph idx="1"/>
          </p:nvPr>
        </p:nvSpPr>
        <p:spPr/>
        <p:txBody>
          <a:bodyPr/>
          <a:lstStyle/>
          <a:p>
            <a:r>
              <a:t>Decorators add behavior cleanly</a:t>
            </a:r>
          </a:p>
          <a:p>
            <a:r>
              <a:t>Generators process data lazily</a:t>
            </a:r>
          </a:p>
          <a:p>
            <a:r>
              <a:t>Reduce duplication at scale</a:t>
            </a: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normAutofit/>
          </a:bodyPr>
          <a:lstStyle/>
          <a:p>
            <a:r>
              <a:rPr lang="en-US" dirty="0"/>
              <a:t>Add behavior without modifying logic</a:t>
            </a:r>
          </a:p>
          <a:p>
            <a:r>
              <a:rPr lang="en-US" dirty="0"/>
              <a:t>Common uses:</a:t>
            </a:r>
          </a:p>
          <a:p>
            <a:pPr lvl="1"/>
            <a:r>
              <a:rPr lang="en-US" dirty="0"/>
              <a:t>Logging</a:t>
            </a:r>
          </a:p>
          <a:p>
            <a:pPr lvl="1"/>
            <a:r>
              <a:rPr lang="en-US" dirty="0"/>
              <a:t>Timing</a:t>
            </a:r>
          </a:p>
          <a:p>
            <a:pPr lvl="1"/>
            <a:r>
              <a:rPr lang="en-US" dirty="0"/>
              <a:t>Authorization</a:t>
            </a:r>
          </a:p>
          <a:p>
            <a:pPr lvl="1"/>
            <a:r>
              <a:rPr lang="en-US" dirty="0"/>
              <a:t>Caching</a:t>
            </a:r>
          </a:p>
          <a:p>
            <a:r>
              <a:rPr lang="en-US" b="1" dirty="0"/>
              <a:t>Mental model:</a:t>
            </a:r>
            <a:r>
              <a:rPr lang="en-US" dirty="0"/>
              <a:t> reusable cross-cutting concerns</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a:xfrm>
            <a:off x="457200" y="1600200"/>
            <a:ext cx="9664700" cy="4525963"/>
          </a:xfrm>
        </p:spPr>
        <p:txBody>
          <a:bodyPr/>
          <a:lstStyle/>
          <a:p>
            <a:r>
              <a:rPr lang="en-US" dirty="0"/>
              <a:t>Produce values lazily</a:t>
            </a:r>
          </a:p>
          <a:p>
            <a:r>
              <a:rPr lang="en-US" dirty="0"/>
              <a:t>Reduce memory usage</a:t>
            </a:r>
          </a:p>
          <a:p>
            <a:r>
              <a:rPr lang="en-US" dirty="0"/>
              <a:t>Essential for large files &amp; streams</a:t>
            </a:r>
          </a:p>
          <a:p>
            <a:pPr marL="0" indent="0">
              <a:buNone/>
            </a:pPr>
            <a:endParaRPr lang="en-US" b="1" dirty="0"/>
          </a:p>
          <a:p>
            <a:pPr marL="0" indent="0">
              <a:buNone/>
            </a:pPr>
            <a:r>
              <a:rPr lang="en-US" b="1" dirty="0"/>
              <a:t>Enterprise benefit:</a:t>
            </a:r>
            <a:r>
              <a:rPr lang="en-US" dirty="0"/>
              <a:t> scale without RAM explosions</a:t>
            </a: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Matrix</a:t>
            </a:r>
          </a:p>
        </p:txBody>
      </p:sp>
      <p:sp>
        <p:nvSpPr>
          <p:cNvPr id="3" name="Content Placeholder 2"/>
          <p:cNvSpPr>
            <a:spLocks noGrp="1"/>
          </p:cNvSpPr>
          <p:nvPr>
            <p:ph idx="1"/>
          </p:nvPr>
        </p:nvSpPr>
        <p:spPr/>
        <p:txBody>
          <a:bodyPr/>
          <a:lstStyle/>
          <a:p>
            <a:r>
              <a:t>threading → I/O-bound</a:t>
            </a:r>
          </a:p>
          <a:p>
            <a:r>
              <a:t>multiprocessing → CPU-bound</a:t>
            </a:r>
          </a:p>
          <a:p>
            <a:r>
              <a:t>asyncio → high-volume async I/O</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Concurrency</a:t>
            </a:r>
            <a:r>
              <a:rPr lang="en-SG" dirty="0"/>
              <a:t>: Choose Wisely</a:t>
            </a:r>
            <a:endParaRPr dirty="0"/>
          </a:p>
        </p:txBody>
      </p:sp>
      <p:graphicFrame>
        <p:nvGraphicFramePr>
          <p:cNvPr id="6" name="Table 5">
            <a:extLst>
              <a:ext uri="{FF2B5EF4-FFF2-40B4-BE49-F238E27FC236}">
                <a16:creationId xmlns:a16="http://schemas.microsoft.com/office/drawing/2014/main" id="{17D4C5B0-21E5-1195-494A-0AAE1A517DC9}"/>
              </a:ext>
            </a:extLst>
          </p:cNvPr>
          <p:cNvGraphicFramePr>
            <a:graphicFrameLocks noGrp="1"/>
          </p:cNvGraphicFramePr>
          <p:nvPr>
            <p:extLst>
              <p:ext uri="{D42A27DB-BD31-4B8C-83A1-F6EECF244321}">
                <p14:modId xmlns:p14="http://schemas.microsoft.com/office/powerpoint/2010/main" val="4150335828"/>
              </p:ext>
            </p:extLst>
          </p:nvPr>
        </p:nvGraphicFramePr>
        <p:xfrm>
          <a:off x="1397000" y="1677988"/>
          <a:ext cx="9042400" cy="2560320"/>
        </p:xfrm>
        <a:graphic>
          <a:graphicData uri="http://schemas.openxmlformats.org/drawingml/2006/table">
            <a:tbl>
              <a:tblPr/>
              <a:tblGrid>
                <a:gridCol w="4521200">
                  <a:extLst>
                    <a:ext uri="{9D8B030D-6E8A-4147-A177-3AD203B41FA5}">
                      <a16:colId xmlns:a16="http://schemas.microsoft.com/office/drawing/2014/main" val="4172774735"/>
                    </a:ext>
                  </a:extLst>
                </a:gridCol>
                <a:gridCol w="4521200">
                  <a:extLst>
                    <a:ext uri="{9D8B030D-6E8A-4147-A177-3AD203B41FA5}">
                      <a16:colId xmlns:a16="http://schemas.microsoft.com/office/drawing/2014/main" val="3540327697"/>
                    </a:ext>
                  </a:extLst>
                </a:gridCol>
              </a:tblGrid>
              <a:tr h="0">
                <a:tc>
                  <a:txBody>
                    <a:bodyPr/>
                    <a:lstStyle/>
                    <a:p>
                      <a:pPr>
                        <a:buNone/>
                      </a:pPr>
                      <a:r>
                        <a:rPr lang="en-SG" sz="3600"/>
                        <a:t>Problem Type</a:t>
                      </a:r>
                    </a:p>
                  </a:txBody>
                  <a:tcPr anchor="ctr">
                    <a:lnL>
                      <a:noFill/>
                    </a:lnL>
                    <a:lnR>
                      <a:noFill/>
                    </a:lnR>
                    <a:lnT>
                      <a:noFill/>
                    </a:lnT>
                    <a:lnB>
                      <a:noFill/>
                    </a:lnB>
                    <a:noFill/>
                  </a:tcPr>
                </a:tc>
                <a:tc>
                  <a:txBody>
                    <a:bodyPr/>
                    <a:lstStyle/>
                    <a:p>
                      <a:pPr>
                        <a:buNone/>
                      </a:pPr>
                      <a:r>
                        <a:rPr lang="en-SG" sz="3600"/>
                        <a:t>Tool</a:t>
                      </a:r>
                    </a:p>
                  </a:txBody>
                  <a:tcPr anchor="ctr">
                    <a:lnL>
                      <a:noFill/>
                    </a:lnL>
                    <a:lnR>
                      <a:noFill/>
                    </a:lnR>
                    <a:lnT>
                      <a:noFill/>
                    </a:lnT>
                    <a:lnB>
                      <a:noFill/>
                    </a:lnB>
                    <a:noFill/>
                  </a:tcPr>
                </a:tc>
                <a:extLst>
                  <a:ext uri="{0D108BD9-81ED-4DB2-BD59-A6C34878D82A}">
                    <a16:rowId xmlns:a16="http://schemas.microsoft.com/office/drawing/2014/main" val="1720516217"/>
                  </a:ext>
                </a:extLst>
              </a:tr>
              <a:tr h="0">
                <a:tc>
                  <a:txBody>
                    <a:bodyPr/>
                    <a:lstStyle/>
                    <a:p>
                      <a:pPr>
                        <a:buNone/>
                      </a:pPr>
                      <a:r>
                        <a:rPr lang="en-SG" sz="3600"/>
                        <a:t>I/O-bound</a:t>
                      </a:r>
                    </a:p>
                  </a:txBody>
                  <a:tcPr anchor="ctr">
                    <a:lnL>
                      <a:noFill/>
                    </a:lnL>
                    <a:lnR>
                      <a:noFill/>
                    </a:lnR>
                    <a:lnT>
                      <a:noFill/>
                    </a:lnT>
                    <a:lnB>
                      <a:noFill/>
                    </a:lnB>
                    <a:noFill/>
                  </a:tcPr>
                </a:tc>
                <a:tc>
                  <a:txBody>
                    <a:bodyPr/>
                    <a:lstStyle/>
                    <a:p>
                      <a:pPr>
                        <a:buNone/>
                      </a:pPr>
                      <a:r>
                        <a:rPr lang="en-SG" sz="3600">
                          <a:latin typeface="Courier New" panose="02070309020205020404" pitchFamily="49" charset="0"/>
                        </a:rPr>
                        <a:t>threading</a:t>
                      </a:r>
                      <a:endParaRPr lang="en-SG" sz="3600"/>
                    </a:p>
                  </a:txBody>
                  <a:tcPr anchor="ctr">
                    <a:lnL>
                      <a:noFill/>
                    </a:lnL>
                    <a:lnR>
                      <a:noFill/>
                    </a:lnR>
                    <a:lnT>
                      <a:noFill/>
                    </a:lnT>
                    <a:lnB>
                      <a:noFill/>
                    </a:lnB>
                    <a:noFill/>
                  </a:tcPr>
                </a:tc>
                <a:extLst>
                  <a:ext uri="{0D108BD9-81ED-4DB2-BD59-A6C34878D82A}">
                    <a16:rowId xmlns:a16="http://schemas.microsoft.com/office/drawing/2014/main" val="3186626072"/>
                  </a:ext>
                </a:extLst>
              </a:tr>
              <a:tr h="0">
                <a:tc>
                  <a:txBody>
                    <a:bodyPr/>
                    <a:lstStyle/>
                    <a:p>
                      <a:pPr>
                        <a:buNone/>
                      </a:pPr>
                      <a:r>
                        <a:rPr lang="en-SG" sz="3600" dirty="0"/>
                        <a:t>CPU-bound</a:t>
                      </a:r>
                    </a:p>
                  </a:txBody>
                  <a:tcPr anchor="ctr">
                    <a:lnL>
                      <a:noFill/>
                    </a:lnL>
                    <a:lnR>
                      <a:noFill/>
                    </a:lnR>
                    <a:lnT>
                      <a:noFill/>
                    </a:lnT>
                    <a:lnB>
                      <a:noFill/>
                    </a:lnB>
                    <a:noFill/>
                  </a:tcPr>
                </a:tc>
                <a:tc>
                  <a:txBody>
                    <a:bodyPr/>
                    <a:lstStyle/>
                    <a:p>
                      <a:pPr>
                        <a:buNone/>
                      </a:pPr>
                      <a:r>
                        <a:rPr lang="en-SG" sz="3600" dirty="0">
                          <a:latin typeface="Courier New" panose="02070309020205020404" pitchFamily="49" charset="0"/>
                        </a:rPr>
                        <a:t>multiprocessing</a:t>
                      </a:r>
                      <a:endParaRPr lang="en-SG" sz="3600" dirty="0"/>
                    </a:p>
                  </a:txBody>
                  <a:tcPr anchor="ctr">
                    <a:lnL>
                      <a:noFill/>
                    </a:lnL>
                    <a:lnR>
                      <a:noFill/>
                    </a:lnR>
                    <a:lnT>
                      <a:noFill/>
                    </a:lnT>
                    <a:lnB>
                      <a:noFill/>
                    </a:lnB>
                    <a:noFill/>
                  </a:tcPr>
                </a:tc>
                <a:extLst>
                  <a:ext uri="{0D108BD9-81ED-4DB2-BD59-A6C34878D82A}">
                    <a16:rowId xmlns:a16="http://schemas.microsoft.com/office/drawing/2014/main" val="2958736589"/>
                  </a:ext>
                </a:extLst>
              </a:tr>
              <a:tr h="0">
                <a:tc>
                  <a:txBody>
                    <a:bodyPr/>
                    <a:lstStyle/>
                    <a:p>
                      <a:pPr>
                        <a:buNone/>
                      </a:pPr>
                      <a:r>
                        <a:rPr lang="en-SG" sz="3600" dirty="0"/>
                        <a:t>High-volume I/O</a:t>
                      </a:r>
                    </a:p>
                  </a:txBody>
                  <a:tcPr anchor="ctr">
                    <a:lnL>
                      <a:noFill/>
                    </a:lnL>
                    <a:lnR>
                      <a:noFill/>
                    </a:lnR>
                    <a:lnT>
                      <a:noFill/>
                    </a:lnT>
                    <a:lnB>
                      <a:noFill/>
                    </a:lnB>
                    <a:noFill/>
                  </a:tcPr>
                </a:tc>
                <a:tc>
                  <a:txBody>
                    <a:bodyPr/>
                    <a:lstStyle/>
                    <a:p>
                      <a:pPr>
                        <a:buNone/>
                      </a:pPr>
                      <a:r>
                        <a:rPr lang="en-SG" sz="3600" dirty="0" err="1">
                          <a:latin typeface="Courier New" panose="02070309020205020404" pitchFamily="49" charset="0"/>
                        </a:rPr>
                        <a:t>asyncio</a:t>
                      </a:r>
                      <a:endParaRPr lang="en-SG" sz="3600" dirty="0"/>
                    </a:p>
                  </a:txBody>
                  <a:tcPr anchor="ctr">
                    <a:lnL>
                      <a:noFill/>
                    </a:lnL>
                    <a:lnR>
                      <a:noFill/>
                    </a:lnR>
                    <a:lnT>
                      <a:noFill/>
                    </a:lnT>
                    <a:lnB>
                      <a:noFill/>
                    </a:lnB>
                    <a:noFill/>
                  </a:tcPr>
                </a:tc>
                <a:extLst>
                  <a:ext uri="{0D108BD9-81ED-4DB2-BD59-A6C34878D82A}">
                    <a16:rowId xmlns:a16="http://schemas.microsoft.com/office/drawing/2014/main" val="1441553841"/>
                  </a:ext>
                </a:extLst>
              </a:tr>
            </a:tbl>
          </a:graphicData>
        </a:graphic>
      </p:graphicFrame>
      <p:sp>
        <p:nvSpPr>
          <p:cNvPr id="7" name="TextBox 6">
            <a:extLst>
              <a:ext uri="{FF2B5EF4-FFF2-40B4-BE49-F238E27FC236}">
                <a16:creationId xmlns:a16="http://schemas.microsoft.com/office/drawing/2014/main" id="{B9F70DFA-2591-E778-CF89-31F13D30A38C}"/>
              </a:ext>
            </a:extLst>
          </p:cNvPr>
          <p:cNvSpPr txBox="1"/>
          <p:nvPr/>
        </p:nvSpPr>
        <p:spPr>
          <a:xfrm>
            <a:off x="1079500" y="5321300"/>
            <a:ext cx="8877300" cy="646331"/>
          </a:xfrm>
          <a:prstGeom prst="rect">
            <a:avLst/>
          </a:prstGeom>
          <a:noFill/>
        </p:spPr>
        <p:txBody>
          <a:bodyPr wrap="square" rtlCol="0">
            <a:spAutoFit/>
          </a:bodyPr>
          <a:lstStyle/>
          <a:p>
            <a:r>
              <a:rPr lang="en-SG" sz="3600" b="1" dirty="0"/>
              <a:t>Wrong model = worse performance</a:t>
            </a: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rPr lang="en-US" dirty="0"/>
              <a:t>Single thread</a:t>
            </a:r>
          </a:p>
          <a:p>
            <a:r>
              <a:rPr lang="en-US" dirty="0"/>
              <a:t>Cooperative multitasking</a:t>
            </a:r>
          </a:p>
          <a:p>
            <a:r>
              <a:rPr lang="en-US" dirty="0"/>
              <a:t>await yields control</a:t>
            </a:r>
          </a:p>
          <a:p>
            <a:pPr marL="0" indent="0">
              <a:buNone/>
            </a:pPr>
            <a:r>
              <a:rPr lang="en-US" b="1" dirty="0"/>
              <a:t>Best for:</a:t>
            </a:r>
            <a:r>
              <a:rPr lang="en-US" dirty="0"/>
              <a:t> network-heavy workloads</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A8904-4F0F-9249-C933-1CD15CD93991}"/>
              </a:ext>
            </a:extLst>
          </p:cNvPr>
          <p:cNvSpPr>
            <a:spLocks noGrp="1"/>
          </p:cNvSpPr>
          <p:nvPr>
            <p:ph type="title"/>
          </p:nvPr>
        </p:nvSpPr>
        <p:spPr>
          <a:xfrm>
            <a:off x="457200" y="274638"/>
            <a:ext cx="11137900" cy="1143000"/>
          </a:xfrm>
        </p:spPr>
        <p:txBody>
          <a:bodyPr>
            <a:normAutofit/>
          </a:bodyPr>
          <a:lstStyle/>
          <a:p>
            <a:r>
              <a:rPr lang="en-SG" dirty="0"/>
              <a:t>Environments &amp; Dependency Management</a:t>
            </a:r>
          </a:p>
        </p:txBody>
      </p:sp>
      <p:sp>
        <p:nvSpPr>
          <p:cNvPr id="3" name="Content Placeholder 2">
            <a:extLst>
              <a:ext uri="{FF2B5EF4-FFF2-40B4-BE49-F238E27FC236}">
                <a16:creationId xmlns:a16="http://schemas.microsoft.com/office/drawing/2014/main" id="{E4B03D63-A40E-0AA2-EBE6-E2A7AF1392DD}"/>
              </a:ext>
            </a:extLst>
          </p:cNvPr>
          <p:cNvSpPr>
            <a:spLocks noGrp="1"/>
          </p:cNvSpPr>
          <p:nvPr>
            <p:ph idx="1"/>
          </p:nvPr>
        </p:nvSpPr>
        <p:spPr>
          <a:xfrm>
            <a:off x="457200" y="1600200"/>
            <a:ext cx="11137900" cy="4525963"/>
          </a:xfrm>
        </p:spPr>
        <p:txBody>
          <a:bodyPr>
            <a:normAutofit/>
          </a:bodyPr>
          <a:lstStyle/>
          <a:p>
            <a:r>
              <a:rPr lang="en-SG" b="1" dirty="0"/>
              <a:t>Virtual Environments (</a:t>
            </a:r>
            <a:r>
              <a:rPr lang="en-SG" b="1" dirty="0" err="1"/>
              <a:t>venv</a:t>
            </a:r>
            <a:r>
              <a:rPr lang="en-SG" b="1" dirty="0"/>
              <a:t>):</a:t>
            </a:r>
            <a:r>
              <a:rPr lang="en-SG" dirty="0"/>
              <a:t> Isolate project-specific libraries to prevent "Dependency Hell".</a:t>
            </a:r>
          </a:p>
          <a:p>
            <a:pPr lvl="1"/>
            <a:r>
              <a:rPr lang="en-SG" dirty="0"/>
              <a:t>Creation: python -m </a:t>
            </a:r>
            <a:r>
              <a:rPr lang="en-SG" dirty="0" err="1"/>
              <a:t>venv</a:t>
            </a:r>
            <a:r>
              <a:rPr lang="en-SG" dirty="0"/>
              <a:t> </a:t>
            </a:r>
            <a:r>
              <a:rPr lang="en-SG" dirty="0" err="1"/>
              <a:t>venv</a:t>
            </a:r>
            <a:r>
              <a:rPr lang="en-SG" dirty="0"/>
              <a:t>.</a:t>
            </a:r>
          </a:p>
          <a:p>
            <a:pPr lvl="1"/>
            <a:r>
              <a:rPr lang="en-SG" dirty="0"/>
              <a:t>Activation: source </a:t>
            </a:r>
            <a:r>
              <a:rPr lang="en-SG" dirty="0" err="1"/>
              <a:t>venv</a:t>
            </a:r>
            <a:r>
              <a:rPr lang="en-SG" dirty="0"/>
              <a:t>/bin/activate.</a:t>
            </a:r>
          </a:p>
          <a:p>
            <a:r>
              <a:rPr lang="en-SG" b="1" dirty="0"/>
              <a:t>Pip &amp; Requirements:</a:t>
            </a:r>
            <a:r>
              <a:rPr lang="en-SG" dirty="0"/>
              <a:t> Use pip freeze &gt; requirements.txt to lock versions for other engineers.</a:t>
            </a:r>
          </a:p>
          <a:p>
            <a:r>
              <a:rPr lang="en-SG" b="1" dirty="0"/>
              <a:t>Project Structure:</a:t>
            </a:r>
            <a:r>
              <a:rPr lang="en-SG" dirty="0"/>
              <a:t> Organizing code into modules (.</a:t>
            </a:r>
            <a:r>
              <a:rPr lang="en-SG" dirty="0" err="1"/>
              <a:t>py</a:t>
            </a:r>
            <a:r>
              <a:rPr lang="en-SG" dirty="0"/>
              <a:t> files) and packages (folders with __init__.py).</a:t>
            </a:r>
          </a:p>
          <a:p>
            <a:endParaRPr lang="en-SG" dirty="0"/>
          </a:p>
        </p:txBody>
      </p:sp>
    </p:spTree>
    <p:extLst>
      <p:ext uri="{BB962C8B-B14F-4D97-AF65-F5344CB8AC3E}">
        <p14:creationId xmlns:p14="http://schemas.microsoft.com/office/powerpoint/2010/main" val="2069389280"/>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rPr lang="en-US" dirty="0"/>
              <a:t>One </a:t>
            </a:r>
            <a:r>
              <a:rPr lang="en-US" dirty="0" err="1"/>
              <a:t>venv</a:t>
            </a:r>
            <a:r>
              <a:rPr lang="en-US" dirty="0"/>
              <a:t> per project</a:t>
            </a:r>
          </a:p>
          <a:p>
            <a:r>
              <a:rPr lang="en-US" dirty="0"/>
              <a:t>Isolate dependencies</a:t>
            </a:r>
          </a:p>
          <a:p>
            <a:r>
              <a:rPr lang="en-US" dirty="0"/>
              <a:t>Prevent “works on my machine”</a:t>
            </a: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7FB0-3F85-604C-4114-F7165EF77296}"/>
              </a:ext>
            </a:extLst>
          </p:cNvPr>
          <p:cNvSpPr>
            <a:spLocks noGrp="1"/>
          </p:cNvSpPr>
          <p:nvPr>
            <p:ph type="title"/>
          </p:nvPr>
        </p:nvSpPr>
        <p:spPr/>
        <p:txBody>
          <a:bodyPr>
            <a:normAutofit/>
          </a:bodyPr>
          <a:lstStyle/>
          <a:p>
            <a:r>
              <a:rPr lang="en-US" dirty="0"/>
              <a:t>Dependency Management</a:t>
            </a:r>
            <a:endParaRPr lang="en-SG" dirty="0"/>
          </a:p>
        </p:txBody>
      </p:sp>
      <p:sp>
        <p:nvSpPr>
          <p:cNvPr id="3" name="Content Placeholder 2">
            <a:extLst>
              <a:ext uri="{FF2B5EF4-FFF2-40B4-BE49-F238E27FC236}">
                <a16:creationId xmlns:a16="http://schemas.microsoft.com/office/drawing/2014/main" id="{463FD849-D103-2C58-3665-F81C40B57B19}"/>
              </a:ext>
            </a:extLst>
          </p:cNvPr>
          <p:cNvSpPr>
            <a:spLocks noGrp="1"/>
          </p:cNvSpPr>
          <p:nvPr>
            <p:ph idx="1"/>
          </p:nvPr>
        </p:nvSpPr>
        <p:spPr/>
        <p:txBody>
          <a:bodyPr/>
          <a:lstStyle/>
          <a:p>
            <a:r>
              <a:rPr lang="en-US" dirty="0"/>
              <a:t>Pin versions</a:t>
            </a:r>
          </a:p>
          <a:p>
            <a:r>
              <a:rPr lang="en-US" dirty="0"/>
              <a:t>Use </a:t>
            </a:r>
            <a:r>
              <a:rPr lang="en-US" dirty="0" err="1"/>
              <a:t>pyproject.toml</a:t>
            </a:r>
            <a:endParaRPr lang="en-US" dirty="0"/>
          </a:p>
          <a:p>
            <a:r>
              <a:rPr lang="en-US" dirty="0"/>
              <a:t>Separate prod vs dev dependencies</a:t>
            </a:r>
          </a:p>
          <a:p>
            <a:endParaRPr lang="en-SG" dirty="0"/>
          </a:p>
        </p:txBody>
      </p:sp>
    </p:spTree>
    <p:extLst>
      <p:ext uri="{BB962C8B-B14F-4D97-AF65-F5344CB8AC3E}">
        <p14:creationId xmlns:p14="http://schemas.microsoft.com/office/powerpoint/2010/main" val="204845385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a:xfrm>
            <a:off x="457200" y="1600200"/>
            <a:ext cx="11569700" cy="4525963"/>
          </a:xfrm>
        </p:spPr>
        <p:txBody>
          <a:bodyPr>
            <a:normAutofit/>
          </a:bodyPr>
          <a:lstStyle/>
          <a:p>
            <a:pPr marL="0" indent="0" algn="l">
              <a:buNone/>
              <a:defRPr sz="1500">
                <a:latin typeface="Courier New"/>
              </a:defRPr>
            </a:pPr>
            <a:r>
              <a:rPr sz="2000" dirty="0"/>
              <a:t># test_math_utils.py</a:t>
            </a:r>
            <a:br>
              <a:rPr sz="2000" dirty="0"/>
            </a:br>
            <a:r>
              <a:rPr sz="2000" dirty="0"/>
              <a:t>import </a:t>
            </a:r>
            <a:r>
              <a:rPr sz="2000" dirty="0" err="1"/>
              <a:t>pytest</a:t>
            </a:r>
            <a:br>
              <a:rPr sz="2000" dirty="0"/>
            </a:br>
            <a:r>
              <a:rPr sz="2000" dirty="0"/>
              <a:t>from </a:t>
            </a:r>
            <a:r>
              <a:rPr sz="2000" dirty="0" err="1"/>
              <a:t>myutils.math</a:t>
            </a:r>
            <a:r>
              <a:rPr sz="2000" dirty="0"/>
              <a:t> import clamp</a:t>
            </a:r>
            <a:br>
              <a:rPr sz="2000" dirty="0"/>
            </a:br>
            <a:r>
              <a:rPr sz="2000" dirty="0"/>
              <a:t>@pytest.mark.parametrize("x,lo,hi,e", [(5,0,10,5), (-5,0,10,0), (15,0,10,10)])</a:t>
            </a:r>
            <a:br>
              <a:rPr sz="2000" dirty="0"/>
            </a:br>
            <a:r>
              <a:rPr sz="2000" dirty="0"/>
              <a:t>def </a:t>
            </a:r>
            <a:r>
              <a:rPr sz="2000" dirty="0" err="1"/>
              <a:t>test_clamp</a:t>
            </a:r>
            <a:r>
              <a:rPr sz="2000" dirty="0"/>
              <a:t>(x, lo, hi, e): assert clamp(x, lo, hi) == e</a:t>
            </a:r>
            <a:br>
              <a:rPr sz="2000" dirty="0"/>
            </a:br>
            <a:r>
              <a:rPr sz="2000" dirty="0"/>
              <a:t># run</a:t>
            </a:r>
            <a:br>
              <a:rPr sz="2000" dirty="0"/>
            </a:br>
            <a:r>
              <a:rPr sz="2000" dirty="0" err="1"/>
              <a:t>pytest</a:t>
            </a:r>
            <a:r>
              <a:rPr sz="2000" dirty="0"/>
              <a:t> -q</a:t>
            </a:r>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a:xfrm>
            <a:off x="457200" y="1600200"/>
            <a:ext cx="11430000" cy="4525963"/>
          </a:xfrm>
        </p:spPr>
        <p:txBody>
          <a:bodyPr>
            <a:normAutofit/>
          </a:bodyPr>
          <a:lstStyle/>
          <a:p>
            <a:pPr marL="0" indent="0" algn="l">
              <a:buNone/>
              <a:defRPr sz="1500">
                <a:latin typeface="Courier New"/>
              </a:defRPr>
            </a:pPr>
            <a:r>
              <a:rPr sz="2800" dirty="0"/>
              <a:t>from typing import List, </a:t>
            </a:r>
            <a:r>
              <a:rPr sz="2800" dirty="0" err="1"/>
              <a:t>Dict</a:t>
            </a:r>
            <a:r>
              <a:rPr sz="2800" dirty="0"/>
              <a:t>, Optional</a:t>
            </a:r>
            <a:br>
              <a:rPr sz="2800" dirty="0"/>
            </a:br>
            <a:r>
              <a:rPr sz="2800" dirty="0"/>
              <a:t>def </a:t>
            </a:r>
            <a:r>
              <a:rPr sz="2800" dirty="0" err="1"/>
              <a:t>freq</a:t>
            </a:r>
            <a:r>
              <a:rPr sz="2800" dirty="0"/>
              <a:t>(words: List[str]) -&gt; </a:t>
            </a:r>
            <a:r>
              <a:rPr sz="2800" dirty="0" err="1"/>
              <a:t>Dict</a:t>
            </a:r>
            <a:r>
              <a:rPr sz="2800" dirty="0"/>
              <a:t>[str, int]:</a:t>
            </a:r>
            <a:br>
              <a:rPr sz="2800" dirty="0"/>
            </a:br>
            <a:r>
              <a:rPr sz="2800" dirty="0"/>
              <a:t>    counts: </a:t>
            </a:r>
            <a:r>
              <a:rPr sz="2800" dirty="0" err="1"/>
              <a:t>Dict</a:t>
            </a:r>
            <a:r>
              <a:rPr sz="2800" dirty="0"/>
              <a:t>[str, int] = {}</a:t>
            </a:r>
            <a:br>
              <a:rPr sz="2800" dirty="0"/>
            </a:br>
            <a:r>
              <a:rPr sz="2800" dirty="0"/>
              <a:t>    for w in words: counts[w] = </a:t>
            </a:r>
            <a:r>
              <a:rPr sz="2800" dirty="0" err="1"/>
              <a:t>counts.get</a:t>
            </a:r>
            <a:r>
              <a:rPr sz="2800" dirty="0"/>
              <a:t>(w, 0) + 1</a:t>
            </a:r>
            <a:br>
              <a:rPr sz="2800" dirty="0"/>
            </a:br>
            <a:r>
              <a:rPr sz="2800" dirty="0"/>
              <a:t>    return counts</a:t>
            </a:r>
            <a:br>
              <a:rPr sz="2800" dirty="0"/>
            </a:br>
            <a:r>
              <a:rPr sz="2800" dirty="0"/>
              <a:t>def find(</a:t>
            </a:r>
            <a:r>
              <a:rPr sz="2800" dirty="0" err="1"/>
              <a:t>uid</a:t>
            </a:r>
            <a:r>
              <a:rPr sz="2800" dirty="0"/>
              <a:t>: int) -&gt; Optional[str]: ...</a:t>
            </a:r>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a:xfrm>
            <a:off x="457200" y="1600200"/>
            <a:ext cx="11099800" cy="4525963"/>
          </a:xfrm>
        </p:spPr>
        <p:txBody>
          <a:bodyPr>
            <a:normAutofit/>
          </a:bodyPr>
          <a:lstStyle/>
          <a:p>
            <a:pPr marL="0" indent="0" algn="l">
              <a:buNone/>
              <a:defRPr sz="1500">
                <a:latin typeface="Courier New"/>
              </a:defRPr>
            </a:pPr>
            <a:r>
              <a:rPr sz="2000" dirty="0"/>
              <a:t>pip install </a:t>
            </a:r>
            <a:r>
              <a:rPr sz="2000" dirty="0" err="1"/>
              <a:t>ipython</a:t>
            </a:r>
            <a:r>
              <a:rPr sz="2000" dirty="0"/>
              <a:t> </a:t>
            </a:r>
            <a:r>
              <a:rPr sz="2000" dirty="0" err="1"/>
              <a:t>jupyterlab</a:t>
            </a:r>
            <a:br>
              <a:rPr sz="2000" dirty="0"/>
            </a:br>
            <a:r>
              <a:rPr sz="2000" dirty="0" err="1"/>
              <a:t>ipython</a:t>
            </a:r>
            <a:r>
              <a:rPr sz="2000" dirty="0"/>
              <a:t>                           # tab-completion, ? help, %magic</a:t>
            </a:r>
            <a:br>
              <a:rPr sz="2000" dirty="0"/>
            </a:br>
            <a:r>
              <a:rPr sz="2000" dirty="0" err="1"/>
              <a:t>jupyter</a:t>
            </a:r>
            <a:r>
              <a:rPr sz="2000" dirty="0"/>
              <a:t> lab                       # browser notebooks</a:t>
            </a:r>
            <a:br>
              <a:rPr sz="2000" dirty="0"/>
            </a:br>
            <a:r>
              <a:rPr sz="2000" dirty="0"/>
              <a:t># inside notebook</a:t>
            </a:r>
            <a:br>
              <a:rPr sz="2000" dirty="0"/>
            </a:br>
            <a:r>
              <a:rPr sz="2000" dirty="0"/>
              <a:t>%matplotlib inline</a:t>
            </a:r>
            <a:br>
              <a:rPr sz="2000" dirty="0"/>
            </a:br>
            <a:r>
              <a:rPr sz="2000" dirty="0"/>
              <a:t>import </a:t>
            </a:r>
            <a:r>
              <a:rPr sz="2000" dirty="0" err="1"/>
              <a:t>matplotlib.pyplot</a:t>
            </a:r>
            <a:r>
              <a:rPr sz="2000" dirty="0"/>
              <a:t> as </a:t>
            </a:r>
            <a:r>
              <a:rPr sz="2000" dirty="0" err="1"/>
              <a:t>plt</a:t>
            </a:r>
            <a:br>
              <a:rPr sz="2000" dirty="0"/>
            </a:br>
            <a:r>
              <a:rPr sz="2000" dirty="0" err="1"/>
              <a:t>plt.plot</a:t>
            </a:r>
            <a:r>
              <a:rPr sz="2000" dirty="0"/>
              <a:t>([1,2,3], [4,5,6])</a:t>
            </a:r>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a:xfrm>
            <a:off x="457200" y="1600200"/>
            <a:ext cx="11468100" cy="4525963"/>
          </a:xfrm>
        </p:spPr>
        <p:txBody>
          <a:bodyPr>
            <a:normAutofit/>
          </a:bodyPr>
          <a:lstStyle/>
          <a:p>
            <a:pPr marL="0" indent="0" algn="l">
              <a:buNone/>
              <a:defRPr sz="1500">
                <a:latin typeface="Courier New"/>
              </a:defRPr>
            </a:pPr>
            <a:r>
              <a:rPr sz="2400" dirty="0"/>
              <a:t>• Build a REST micro-service with </a:t>
            </a:r>
            <a:r>
              <a:rPr sz="2400" dirty="0" err="1"/>
              <a:t>FastAPI</a:t>
            </a:r>
            <a:br>
              <a:rPr sz="2400" dirty="0"/>
            </a:br>
            <a:r>
              <a:rPr sz="2400" dirty="0"/>
              <a:t>• Scrape + analyze live data with </a:t>
            </a:r>
            <a:r>
              <a:rPr sz="2400" dirty="0" err="1"/>
              <a:t>asyncio</a:t>
            </a:r>
            <a:r>
              <a:rPr sz="2400" dirty="0"/>
              <a:t> &amp; pandas</a:t>
            </a:r>
            <a:br>
              <a:rPr sz="2400" dirty="0"/>
            </a:br>
            <a:r>
              <a:rPr sz="2400" dirty="0"/>
              <a:t>• Automate your own boring tasks (rename photos, merge Excel)</a:t>
            </a:r>
            <a:br>
              <a:rPr sz="2400" dirty="0"/>
            </a:br>
            <a:r>
              <a:rPr sz="2400" dirty="0"/>
              <a:t>• Create a GUI desktop app with textual or PySide6</a:t>
            </a: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a:xfrm>
            <a:off x="457200" y="1600200"/>
            <a:ext cx="11188700" cy="4525963"/>
          </a:xfrm>
        </p:spPr>
        <p:txBody>
          <a:bodyPr>
            <a:normAutofit/>
          </a:bodyPr>
          <a:lstStyle/>
          <a:p>
            <a:pPr algn="l">
              <a:defRPr sz="1500">
                <a:latin typeface="Courier New"/>
              </a:defRPr>
            </a:pPr>
            <a:r>
              <a:rPr sz="2400" dirty="0"/>
              <a:t>Resources</a:t>
            </a:r>
            <a:br>
              <a:rPr sz="2400" dirty="0"/>
            </a:br>
            <a:r>
              <a:rPr sz="2400" dirty="0"/>
              <a:t>• docs.python.org/3/tutorial/</a:t>
            </a:r>
            <a:br>
              <a:rPr sz="2400" dirty="0"/>
            </a:br>
            <a:r>
              <a:rPr sz="2400" dirty="0"/>
              <a:t>• realpython.com</a:t>
            </a:r>
            <a:br>
              <a:rPr sz="2400" dirty="0"/>
            </a:br>
            <a:r>
              <a:rPr sz="2400" dirty="0"/>
              <a:t>• pypi.org – 450 k+ packages</a:t>
            </a:r>
            <a:br>
              <a:rPr sz="2400" dirty="0"/>
            </a:br>
            <a:r>
              <a:rPr sz="2400" dirty="0"/>
              <a:t>• github.com/python/</a:t>
            </a:r>
            <a:r>
              <a:rPr sz="2400" dirty="0" err="1"/>
              <a:t>cpython</a:t>
            </a:r>
            <a:r>
              <a:rPr sz="2400" dirty="0"/>
              <a:t> – read the source!</a:t>
            </a:r>
            <a:br>
              <a:rPr sz="2400" dirty="0"/>
            </a:br>
            <a:r>
              <a:rPr sz="2400" dirty="0"/>
              <a:t>• mastodon, /r/python, discord.gg/python</a:t>
            </a:r>
            <a:br>
              <a:rPr sz="2400" dirty="0"/>
            </a:br>
            <a:br>
              <a:rPr sz="2400" dirty="0"/>
            </a:br>
            <a:r>
              <a:rPr sz="2400" dirty="0"/>
              <a:t>Remember:</a:t>
            </a:r>
            <a:br>
              <a:rPr sz="2400" dirty="0"/>
            </a:br>
            <a:r>
              <a:rPr sz="2400" dirty="0"/>
              <a:t>Read code → Run code → Break code → Fix code → Repeat.</a:t>
            </a:r>
            <a:br>
              <a:rPr sz="2400" dirty="0"/>
            </a:br>
            <a:r>
              <a:rPr sz="2400" dirty="0"/>
              <a:t>Happy </a:t>
            </a:r>
            <a:r>
              <a:rPr sz="2400" dirty="0" err="1"/>
              <a:t>Pythoning</a:t>
            </a:r>
            <a:r>
              <a:rPr sz="2400" dirty="0"/>
              <a:t>! 🐍</a:t>
            </a: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Environments &amp; Tooling</a:t>
            </a:r>
          </a:p>
        </p:txBody>
      </p:sp>
      <p:sp>
        <p:nvSpPr>
          <p:cNvPr id="3" name="Content Placeholder 2"/>
          <p:cNvSpPr>
            <a:spLocks noGrp="1"/>
          </p:cNvSpPr>
          <p:nvPr>
            <p:ph idx="1"/>
          </p:nvPr>
        </p:nvSpPr>
        <p:spPr/>
        <p:txBody>
          <a:bodyPr/>
          <a:lstStyle/>
          <a:p>
            <a:r>
              <a:t>One virtual environment per project</a:t>
            </a:r>
          </a:p>
          <a:p>
            <a:r>
              <a:t>Pinned dependencies</a:t>
            </a:r>
          </a:p>
          <a:p>
            <a:r>
              <a:t>black, pytest, type hints</a:t>
            </a: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F49F-1E68-4BEB-F567-D993F4A1B8AC}"/>
              </a:ext>
            </a:extLst>
          </p:cNvPr>
          <p:cNvSpPr>
            <a:spLocks noGrp="1"/>
          </p:cNvSpPr>
          <p:nvPr>
            <p:ph type="title"/>
          </p:nvPr>
        </p:nvSpPr>
        <p:spPr/>
        <p:txBody>
          <a:bodyPr>
            <a:normAutofit/>
          </a:bodyPr>
          <a:lstStyle/>
          <a:p>
            <a:r>
              <a:rPr lang="en-SG" b="1" dirty="0"/>
              <a:t>Tooling Expectations</a:t>
            </a:r>
            <a:endParaRPr lang="en-SG" dirty="0"/>
          </a:p>
        </p:txBody>
      </p:sp>
      <p:sp>
        <p:nvSpPr>
          <p:cNvPr id="3" name="Content Placeholder 2">
            <a:extLst>
              <a:ext uri="{FF2B5EF4-FFF2-40B4-BE49-F238E27FC236}">
                <a16:creationId xmlns:a16="http://schemas.microsoft.com/office/drawing/2014/main" id="{98191168-1E5B-C9C6-6EB8-D25482866D05}"/>
              </a:ext>
            </a:extLst>
          </p:cNvPr>
          <p:cNvSpPr>
            <a:spLocks noGrp="1"/>
          </p:cNvSpPr>
          <p:nvPr>
            <p:ph idx="1"/>
          </p:nvPr>
        </p:nvSpPr>
        <p:spPr/>
        <p:txBody>
          <a:bodyPr/>
          <a:lstStyle/>
          <a:p>
            <a:r>
              <a:rPr lang="en-SG" dirty="0"/>
              <a:t>Baseline for professional teams:</a:t>
            </a:r>
          </a:p>
          <a:p>
            <a:r>
              <a:rPr lang="en-SG" dirty="0"/>
              <a:t>black → formatting</a:t>
            </a:r>
          </a:p>
          <a:p>
            <a:r>
              <a:rPr lang="en-SG" dirty="0" err="1"/>
              <a:t>pytest</a:t>
            </a:r>
            <a:r>
              <a:rPr lang="en-SG" dirty="0"/>
              <a:t> → testing</a:t>
            </a:r>
          </a:p>
          <a:p>
            <a:r>
              <a:rPr lang="en-SG" dirty="0" err="1"/>
              <a:t>mypy</a:t>
            </a:r>
            <a:r>
              <a:rPr lang="en-SG" dirty="0"/>
              <a:t> → type safety</a:t>
            </a:r>
          </a:p>
          <a:p>
            <a:r>
              <a:rPr lang="en-SG" dirty="0"/>
              <a:t>CI enforcement</a:t>
            </a:r>
          </a:p>
          <a:p>
            <a:endParaRPr lang="en-SG" dirty="0"/>
          </a:p>
        </p:txBody>
      </p:sp>
    </p:spTree>
    <p:extLst>
      <p:ext uri="{BB962C8B-B14F-4D97-AF65-F5344CB8AC3E}">
        <p14:creationId xmlns:p14="http://schemas.microsoft.com/office/powerpoint/2010/main" val="1950266042"/>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rPr lang="en-SG" dirty="0"/>
              <a:t>Web: </a:t>
            </a:r>
            <a:r>
              <a:rPr lang="en-SG" dirty="0" err="1"/>
              <a:t>FastAPI</a:t>
            </a:r>
            <a:r>
              <a:rPr lang="en-SG" dirty="0"/>
              <a:t>, Django</a:t>
            </a:r>
          </a:p>
          <a:p>
            <a:r>
              <a:rPr lang="en-SG" dirty="0"/>
              <a:t>Data: pandas, NumPy</a:t>
            </a:r>
          </a:p>
          <a:p>
            <a:r>
              <a:rPr lang="en-SG" dirty="0"/>
              <a:t>Automation: requests, rich</a:t>
            </a:r>
          </a:p>
          <a:p>
            <a:r>
              <a:rPr lang="en-SG" dirty="0"/>
              <a:t>Packaging: pip, </a:t>
            </a:r>
            <a:r>
              <a:rPr lang="en-SG" dirty="0" err="1"/>
              <a:t>PyPI</a:t>
            </a:r>
            <a:endParaRPr lang="en-SG"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Path Forward</a:t>
            </a:r>
          </a:p>
        </p:txBody>
      </p:sp>
      <p:sp>
        <p:nvSpPr>
          <p:cNvPr id="3" name="Content Placeholder 2"/>
          <p:cNvSpPr>
            <a:spLocks noGrp="1"/>
          </p:cNvSpPr>
          <p:nvPr>
            <p:ph idx="1"/>
          </p:nvPr>
        </p:nvSpPr>
        <p:spPr/>
        <p:txBody>
          <a:bodyPr/>
          <a:lstStyle/>
          <a:p>
            <a:r>
              <a:rPr lang="en-SG" b="1" dirty="0"/>
              <a:t>Backend</a:t>
            </a:r>
            <a:r>
              <a:rPr lang="en-SG" dirty="0"/>
              <a:t> → </a:t>
            </a:r>
            <a:r>
              <a:rPr lang="en-SG" dirty="0" err="1"/>
              <a:t>FastAPI</a:t>
            </a:r>
            <a:r>
              <a:rPr lang="en-SG" dirty="0"/>
              <a:t>, async, SQL</a:t>
            </a:r>
          </a:p>
          <a:p>
            <a:r>
              <a:rPr lang="en-SG" b="1" dirty="0"/>
              <a:t>Data</a:t>
            </a:r>
            <a:r>
              <a:rPr lang="en-SG" dirty="0"/>
              <a:t> → pandas, visualization</a:t>
            </a:r>
          </a:p>
          <a:p>
            <a:r>
              <a:rPr lang="en-SG" b="1" dirty="0"/>
              <a:t>Platform</a:t>
            </a:r>
            <a:r>
              <a:rPr lang="en-SG" dirty="0"/>
              <a:t> → packaging, CI/CD</a:t>
            </a: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a:xfrm>
            <a:off x="457200" y="1600200"/>
            <a:ext cx="9055100" cy="4525963"/>
          </a:xfrm>
        </p:spPr>
        <p:txBody>
          <a:bodyPr/>
          <a:lstStyle/>
          <a:p>
            <a:r>
              <a:rPr dirty="0"/>
              <a:t>Read code → Run code → Break code → Fix code</a:t>
            </a:r>
          </a:p>
          <a:p>
            <a:r>
              <a:rPr dirty="0"/>
              <a:t>Mistakes are how you learn</a:t>
            </a:r>
          </a:p>
          <a:p>
            <a:r>
              <a:rPr dirty="0"/>
              <a:t>Consistency beats intensity</a:t>
            </a: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460</TotalTime>
  <Words>12202</Words>
  <Application>Microsoft Office PowerPoint</Application>
  <PresentationFormat>Custom</PresentationFormat>
  <Paragraphs>2005</Paragraphs>
  <Slides>300</Slides>
  <Notes>41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300</vt:i4>
      </vt:variant>
    </vt:vector>
  </HeadingPairs>
  <TitlesOfParts>
    <vt:vector size="307" baseType="lpstr">
      <vt:lpstr>Arial Unicode MS</vt:lpstr>
      <vt:lpstr>Google Sans Text</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How Python Really Runs</vt:lpstr>
      <vt:lpstr>The Pythonic Philosophy</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Numbers &amp; Business Impact</vt:lpstr>
      <vt:lpstr>Integers (int)</vt:lpstr>
      <vt:lpstr>Floating-Point Numbers (float)</vt:lpstr>
      <vt:lpstr>Decimal for Precision</vt:lpstr>
      <vt:lpstr>Arithmetic Operators</vt:lpstr>
      <vt:lpstr>Operators That Matter</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Truthiness Simplifies Logic</vt:lpstr>
      <vt:lpstr>Slide 9 — Using bool()</vt:lpstr>
      <vt:lpstr>Short-Circuit Evaluation</vt:lpstr>
      <vt:lpstr>Common Mistakes</vt:lpstr>
      <vt:lpstr>Hands-On Exercise</vt:lpstr>
      <vt:lpstr>Solution 1</vt:lpstr>
      <vt:lpstr>Data Structures — Lists, Sets, and Tuples</vt:lpstr>
      <vt:lpstr>Solution 2: Ternary</vt:lpstr>
      <vt:lpstr>Solution 3: len()</vt:lpstr>
      <vt:lpstr>Key Takeaways</vt:lpstr>
      <vt:lpstr>Booleans &amp; Truthiness</vt:lpstr>
      <vt:lpstr>Logic Flow &amp; List Comprehensions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Unpacking Operators (* and **)</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Functions Are Contracts</vt:lpstr>
      <vt:lpstr>Defining Functions</vt:lpstr>
      <vt:lpstr>Calling a Function</vt:lpstr>
      <vt:lpstr>Functions with Parameters</vt:lpstr>
      <vt:lpstr>Return Values</vt:lpstr>
      <vt:lpstr>Multiple Parameters</vt:lpstr>
      <vt:lpstr>Default Values</vt:lpstr>
      <vt:lpstr>Keyword Arguments</vt:lpstr>
      <vt:lpstr>Functional Foundations &amp; Scoping</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Python lambda — Anonymous Functions</vt:lpstr>
      <vt:lpstr>What a lambda Is</vt:lpstr>
      <vt:lpstr>Lambda Syntax</vt:lpstr>
      <vt:lpstr>Lambda vs def</vt:lpstr>
      <vt:lpstr>Where lambda Is Used Well</vt:lpstr>
      <vt:lpstr>Lambda with sorted()</vt:lpstr>
      <vt:lpstr>When NOT to Use lambda</vt:lpstr>
      <vt:lpstr>Readability Rule</vt:lpstr>
      <vt:lpstr>Lambda and Scope</vt:lpstr>
      <vt:lpstr>Common Pitfall</vt:lpstr>
      <vt:lpstr>Best Practices</vt:lpstr>
      <vt:lpstr>Key Takeaways</vt:lpstr>
      <vt:lpstr>Mini-Project: CLI Calculator</vt:lpstr>
      <vt:lpstr>Getting Help in Python</vt:lpstr>
      <vt:lpstr>help() — The Built-In Manual</vt:lpstr>
      <vt:lpstr>Using help() Effectively</vt:lpstr>
      <vt:lpstr>When to Use help()</vt:lpstr>
      <vt:lpstr>dir() — Discover What Exists</vt:lpstr>
      <vt:lpstr>Using dir()</vt:lpstr>
      <vt:lpstr>dir() vs help()</vt:lpstr>
      <vt:lpstr>dir(builtins) — The Python Toolbox</vt:lpstr>
      <vt:lpstr>Why builtins Matters</vt:lpstr>
      <vt:lpstr>Common Use Cases</vt:lpstr>
      <vt:lpstr>Best Practices</vt:lpstr>
      <vt:lpstr>Key Takeaways</vt:lpstr>
      <vt:lpstr>Module 2  INTERMEDIATE</vt:lpstr>
      <vt:lpstr>Module 2 — Intermediate</vt:lpstr>
      <vt:lpstr>Clean Code Structure</vt:lpstr>
      <vt:lpstr>Object-Oriented Programming (OOP)</vt:lpstr>
      <vt:lpstr>Why Object-Oriented Programming?</vt:lpstr>
      <vt:lpstr>Pragmatic OOP</vt:lpstr>
      <vt:lpstr>Defining a Class</vt:lpstr>
      <vt:lpstr>Object-Oriented Programming – Classes</vt:lpstr>
      <vt:lpstr>Encapsulation</vt:lpstr>
      <vt:lpstr>Encapsulation &amp; Private Attributes</vt:lpstr>
      <vt:lpstr>Encapsulation in Practice</vt:lpstr>
      <vt:lpstr>Inheritance &amp; Polymorphism</vt:lpstr>
      <vt:lpstr>Polymorphism</vt:lpstr>
      <vt:lpstr>Inheritance &amp; Polymorphism</vt:lpstr>
      <vt:lpstr>super() &amp; Cooperative Multiple Inheritance</vt:lpstr>
      <vt:lpstr>Dunder Methods (When Needed)</vt:lpstr>
      <vt:lpstr>Dunder (Magic) Methods</vt:lpstr>
      <vt:lpstr>Modules &amp; Packages</vt:lpstr>
      <vt:lpstr>Modules – Creating &amp; Importing</vt:lpstr>
      <vt:lpstr>Import Patterns &amp; Aliases</vt:lpstr>
      <vt:lpstr>File I/O Basics</vt:lpstr>
      <vt:lpstr>File I/O – Text &amp; CSV</vt:lpstr>
      <vt:lpstr>File I/O (Production-Safe)</vt:lpstr>
      <vt:lpstr>Error Handling &amp; Context Managers</vt:lpstr>
      <vt:lpstr>Why Error Handling Exists</vt:lpstr>
      <vt:lpstr>What Errors Really Mean</vt:lpstr>
      <vt:lpstr>Two Categories of Errors</vt:lpstr>
      <vt:lpstr>Catch Specific Exceptions </vt:lpstr>
      <vt:lpstr>Anti-Pattern: Blanket Catching</vt:lpstr>
      <vt:lpstr>Correct Pattern: Narrow Catch</vt:lpstr>
      <vt:lpstr>EAFP — The Pythonic Style</vt:lpstr>
      <vt:lpstr>Never Swallow Errors</vt:lpstr>
      <vt:lpstr>Bad vs Good Error Handling</vt:lpstr>
      <vt:lpstr>Three Valid Responses to Errors</vt:lpstr>
      <vt:lpstr>Escalation with Meaning</vt:lpstr>
      <vt:lpstr>When to Catch vs Let Crash</vt:lpstr>
      <vt:lpstr>Best Practices</vt:lpstr>
      <vt:lpstr>Error Boundaries (Enterprise Pattern)</vt:lpstr>
      <vt:lpstr>Exception Translation</vt:lpstr>
      <vt:lpstr>Logging Is Not Optional</vt:lpstr>
      <vt:lpstr>Context Managers = Safety Rails</vt:lpstr>
      <vt:lpstr>Best Practices</vt:lpstr>
      <vt:lpstr>Key Takeaways</vt:lpstr>
      <vt:lpstr>pathlib vs os.path</vt:lpstr>
      <vt:lpstr>pathlib vs os.path</vt:lpstr>
      <vt:lpstr>JSON Serialization</vt:lpstr>
      <vt:lpstr>Mini-Project: Contact Manager</vt:lpstr>
      <vt:lpstr>Enterprise Patterns</vt:lpstr>
      <vt:lpstr>Module 3  ADVANCED</vt:lpstr>
      <vt:lpstr>Module 3 — Advanced</vt:lpstr>
      <vt:lpstr>Type Hinting &amp; Decorators</vt:lpstr>
      <vt:lpstr>Type Hints</vt:lpstr>
      <vt:lpstr>Decorators &amp; Generators</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Matrix</vt:lpstr>
      <vt:lpstr>Concurrency: Choose Wisely</vt:lpstr>
      <vt:lpstr>threading – Download Many Images</vt:lpstr>
      <vt:lpstr>multiprocessing – CPU-bound Pi Monte-Carlo</vt:lpstr>
      <vt:lpstr>asyncio Mental Model</vt:lpstr>
      <vt:lpstr>asyncio – Concurrent HTTP with aiohttp</vt:lpstr>
      <vt:lpstr>Mixing sync ↔ async</vt:lpstr>
      <vt:lpstr>Environments &amp; Dependency Management</vt:lpstr>
      <vt:lpstr>Virtual Environments</vt:lpstr>
      <vt:lpstr>Dependency Management</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Environments &amp; Tooling</vt:lpstr>
      <vt:lpstr>Tooling Expectations</vt:lpstr>
      <vt:lpstr>Appendix — Python Ecosystem</vt:lpstr>
      <vt:lpstr>Learning Path Forward</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77</cp:revision>
  <dcterms:created xsi:type="dcterms:W3CDTF">2013-01-27T09:14:16Z</dcterms:created>
  <dcterms:modified xsi:type="dcterms:W3CDTF">2025-12-19T03:00:54Z</dcterms:modified>
  <cp:category/>
</cp:coreProperties>
</file>