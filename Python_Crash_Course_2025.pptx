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57" r:id="rId3"/>
    <p:sldId id="258" r:id="rId4"/>
    <p:sldId id="259" r:id="rId5"/>
    <p:sldId id="307" r:id="rId6"/>
    <p:sldId id="260" r:id="rId7"/>
    <p:sldId id="309" r:id="rId8"/>
    <p:sldId id="321" r:id="rId9"/>
    <p:sldId id="322" r:id="rId10"/>
    <p:sldId id="310" r:id="rId11"/>
    <p:sldId id="311" r:id="rId12"/>
    <p:sldId id="261" r:id="rId13"/>
    <p:sldId id="312" r:id="rId14"/>
    <p:sldId id="262" r:id="rId15"/>
    <p:sldId id="263" r:id="rId16"/>
    <p:sldId id="264" r:id="rId17"/>
    <p:sldId id="265" r:id="rId18"/>
    <p:sldId id="313" r:id="rId19"/>
    <p:sldId id="314" r:id="rId20"/>
    <p:sldId id="315" r:id="rId21"/>
    <p:sldId id="316" r:id="rId22"/>
    <p:sldId id="317" r:id="rId23"/>
    <p:sldId id="318" r:id="rId24"/>
    <p:sldId id="319" r:id="rId25"/>
    <p:sldId id="320" r:id="rId26"/>
    <p:sldId id="323" r:id="rId27"/>
    <p:sldId id="324" r:id="rId28"/>
    <p:sldId id="325" r:id="rId29"/>
    <p:sldId id="326" r:id="rId30"/>
    <p:sldId id="266" r:id="rId31"/>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3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16/12/2025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4</a:t>
            </a:fld>
            <a:endParaRPr lang="en-SG"/>
          </a:p>
        </p:txBody>
      </p:sp>
    </p:spTree>
    <p:extLst>
      <p:ext uri="{BB962C8B-B14F-4D97-AF65-F5344CB8AC3E}">
        <p14:creationId xmlns:p14="http://schemas.microsoft.com/office/powerpoint/2010/main" val="1732500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PYTHON CRASH COURSE</a:t>
            </a:r>
          </a:p>
        </p:txBody>
      </p:sp>
      <p:sp>
        <p:nvSpPr>
          <p:cNvPr id="3" name="Subtitle 2"/>
          <p:cNvSpPr>
            <a:spLocks noGrp="1"/>
          </p:cNvSpPr>
          <p:nvPr>
            <p:ph type="subTitle" idx="1"/>
          </p:nvPr>
        </p:nvSpPr>
        <p:spPr/>
        <p:txBody>
          <a:bodyPr>
            <a:normAutofit fontScale="85000" lnSpcReduction="20000"/>
          </a:bodyPr>
          <a:lstStyle/>
          <a:p>
            <a:r>
              <a:t>Module 1  Foundation</a:t>
            </a:r>
          </a:p>
          <a:p>
            <a:r>
              <a:t>Module 2  Intermediate</a:t>
            </a:r>
          </a:p>
          <a:p>
            <a:r>
              <a:t>Module 3  Advanced</a:t>
            </a:r>
          </a:p>
          <a:p>
            <a:r>
              <a:t>Appendix  Tooling &amp; Eco-system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1  FOUNDATION</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defRPr sz="2000"/>
            </a:pPr>
            <a:r>
              <a:rPr sz="2400" dirty="0"/>
              <a:t>Readable, indentation-driven syntax</a:t>
            </a:r>
            <a:endParaRPr lang="en-SG" sz="2400" dirty="0"/>
          </a:p>
          <a:p>
            <a:pPr marL="0" indent="0">
              <a:buNone/>
              <a:defRPr sz="2000"/>
            </a:pPr>
            <a:endParaRPr sz="2400" dirty="0"/>
          </a:p>
          <a:p>
            <a:pPr marL="0" indent="0">
              <a:buNone/>
              <a:defRPr sz="2000"/>
            </a:pPr>
            <a:r>
              <a:rPr sz="2400" dirty="0"/>
              <a:t>Huge standard library (“batteries included”)</a:t>
            </a:r>
          </a:p>
          <a:p>
            <a:pPr marL="0" indent="0">
              <a:buNone/>
              <a:defRPr sz="2000"/>
            </a:pPr>
            <a:endParaRPr lang="en-SG" sz="2400" dirty="0"/>
          </a:p>
          <a:p>
            <a:pPr marL="0" indent="0">
              <a:buNone/>
              <a:defRPr sz="2000"/>
            </a:pPr>
            <a:r>
              <a:rPr sz="2400" dirty="0"/>
              <a:t>Cross-platform, open-source, massive community</a:t>
            </a:r>
          </a:p>
          <a:p>
            <a:pPr marL="0" indent="0">
              <a:buNone/>
              <a:defRPr sz="2000"/>
            </a:pPr>
            <a:endParaRPr lang="en-SG" sz="2400" dirty="0"/>
          </a:p>
          <a:p>
            <a:pPr marL="0" indent="0">
              <a:buNone/>
              <a:defRPr sz="2000"/>
            </a:pPr>
            <a:r>
              <a:rPr sz="2400" dirty="0"/>
              <a:t>Runs servers, scripts, science, games, IoT, Excel…</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1556734"/>
            <a:ext cx="4965700" cy="3539430"/>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defTabSz="914400" eaLnBrk="0" fontAlgn="base" hangingPunct="0">
              <a:spcBef>
                <a:spcPct val="0"/>
              </a:spcBef>
              <a:spcAft>
                <a:spcPct val="0"/>
              </a:spcAft>
            </a:pPr>
            <a:r>
              <a:rPr lang="en-US" altLang="en-US" sz="2800" dirty="0">
                <a:latin typeface="Arial" panose="020B0604020202020204" pitchFamily="34" charset="0"/>
              </a:rPr>
              <a:t> A variable is a </a:t>
            </a:r>
            <a:r>
              <a:rPr lang="en-US" altLang="en-US" sz="2800" b="1" dirty="0">
                <a:latin typeface="Arial" panose="020B0604020202020204" pitchFamily="34" charset="0"/>
              </a:rPr>
              <a:t>name bound to an object</a:t>
            </a:r>
            <a:endParaRPr lang="en-US" altLang="en-US" sz="2800" dirty="0">
              <a:latin typeface="Arial" panose="020B0604020202020204" pitchFamily="34" charset="0"/>
            </a:endParaRPr>
          </a:p>
          <a:p>
            <a:pPr marL="0" indent="0" defTabSz="914400" eaLnBrk="0" fontAlgn="base" hangingPunct="0">
              <a:spcBef>
                <a:spcPct val="0"/>
              </a:spcBef>
              <a:spcAft>
                <a:spcPct val="0"/>
              </a:spcAft>
              <a:buNone/>
            </a:pPr>
            <a:r>
              <a:rPr lang="en-US" altLang="en-US" sz="2800" dirty="0">
                <a:latin typeface="Arial" panose="020B0604020202020204" pitchFamily="34" charset="0"/>
              </a:rPr>
              <a:t> </a:t>
            </a:r>
          </a:p>
          <a:p>
            <a:pPr defTabSz="914400" eaLnBrk="0" fontAlgn="base" hangingPunct="0">
              <a:spcBef>
                <a:spcPct val="0"/>
              </a:spcBef>
              <a:spcAft>
                <a:spcPct val="0"/>
              </a:spcAft>
            </a:pPr>
            <a:r>
              <a:rPr lang="en-US" altLang="en-US" sz="2800" dirty="0">
                <a:latin typeface="Arial" panose="020B0604020202020204" pitchFamily="34" charset="0"/>
              </a:rPr>
              <a:t>Created by </a:t>
            </a:r>
            <a:r>
              <a:rPr lang="en-US" altLang="en-US" sz="2800" b="1" dirty="0">
                <a:latin typeface="Arial" panose="020B0604020202020204" pitchFamily="34" charset="0"/>
              </a:rPr>
              <a:t>assignment</a:t>
            </a:r>
            <a:r>
              <a:rPr lang="en-US" altLang="en-US" sz="2800" dirty="0">
                <a:latin typeface="Arial" panose="020B0604020202020204" pitchFamily="34" charset="0"/>
              </a:rPr>
              <a:t>, not declaration</a:t>
            </a:r>
          </a:p>
          <a:p>
            <a:pPr defTabSz="914400" eaLnBrk="0" fontAlgn="base" hangingPunct="0">
              <a:spcBef>
                <a:spcPct val="0"/>
              </a:spcBef>
              <a:spcAft>
                <a:spcPct val="0"/>
              </a:spcAft>
            </a:pPr>
            <a:endParaRPr lang="en-US" altLang="en-US" sz="2800" dirty="0">
              <a:latin typeface="Arial" panose="020B0604020202020204" pitchFamily="34" charset="0"/>
            </a:endParaRPr>
          </a:p>
          <a:p>
            <a:pPr defTabSz="914400" eaLnBrk="0" fontAlgn="base" hangingPunct="0">
              <a:spcBef>
                <a:spcPct val="0"/>
              </a:spcBef>
              <a:spcAft>
                <a:spcPct val="0"/>
              </a:spcAft>
            </a:pPr>
            <a:r>
              <a:rPr lang="en-US" altLang="en-US" sz="2800" dirty="0">
                <a:latin typeface="Arial" panose="020B0604020202020204" pitchFamily="34" charset="0"/>
              </a:rPr>
              <a:t> No need to specify data types explicitly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89390"/>
            <a:ext cx="5524500" cy="1717393"/>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In Python, variables don’t hold objects — </a:t>
            </a:r>
            <a:r>
              <a:rPr lang="en-US" sz="2400" b="1" dirty="0"/>
              <a:t>they point to them</a:t>
            </a:r>
            <a:r>
              <a:rPr lang="en-US" sz="2400" dirty="0"/>
              <a:t>.</a:t>
            </a:r>
          </a:p>
          <a:p>
            <a:r>
              <a:rPr lang="en-US" sz="2400" dirty="0"/>
              <a:t>Variables are </a:t>
            </a:r>
            <a:r>
              <a:rPr lang="en-US" sz="2400" b="1" dirty="0"/>
              <a:t>name tags</a:t>
            </a:r>
            <a:r>
              <a:rPr lang="en-US" sz="2400" dirty="0"/>
              <a:t>, not containers</a:t>
            </a:r>
          </a:p>
          <a:p>
            <a:r>
              <a:rPr lang="en-US" sz="2400" dirty="0"/>
              <a:t>Objects live independently in memory</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207126"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308100" y="4040016"/>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Tree>
    <p:extLst>
      <p:ext uri="{BB962C8B-B14F-4D97-AF65-F5344CB8AC3E}">
        <p14:creationId xmlns:p14="http://schemas.microsoft.com/office/powerpoint/2010/main" val="1283407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b="1" dirty="0"/>
              <a:t>Contrast with Reassignment</a:t>
            </a:r>
            <a:endParaRPr lang="en-SG" dirty="0"/>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3225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1" y="2739798"/>
            <a:ext cx="8458199"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Python is </a:t>
            </a:r>
            <a:r>
              <a:rPr kumimoji="0" lang="en-US" altLang="en-US" sz="2800" b="1" i="0" u="none" strike="noStrike" cap="none" normalizeH="0" baseline="0" dirty="0">
                <a:ln>
                  <a:noFill/>
                </a:ln>
                <a:solidFill>
                  <a:schemeClr val="tx1"/>
                </a:solidFill>
                <a:effectLst/>
                <a:latin typeface="Arial" panose="020B0604020202020204" pitchFamily="34" charset="0"/>
              </a:rPr>
              <a:t>dynamically typed</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The </a:t>
            </a:r>
            <a:r>
              <a:rPr kumimoji="0" lang="en-US" altLang="en-US" sz="2800" b="1" i="0" u="none" strike="noStrike" cap="none" normalizeH="0" baseline="0" dirty="0">
                <a:ln>
                  <a:noFill/>
                </a:ln>
                <a:solidFill>
                  <a:schemeClr val="tx1"/>
                </a:solidFill>
                <a:effectLst/>
                <a:latin typeface="Arial" panose="020B0604020202020204" pitchFamily="34" charset="0"/>
              </a:rPr>
              <a:t>type belongs to the object</a:t>
            </a:r>
            <a:r>
              <a:rPr kumimoji="0" lang="en-US" altLang="en-US" sz="2800" b="0" i="0" u="none" strike="noStrike" cap="none" normalizeH="0" baseline="0" dirty="0">
                <a:ln>
                  <a:noFill/>
                </a:ln>
                <a:solidFill>
                  <a:schemeClr val="tx1"/>
                </a:solidFill>
                <a:effectLst/>
                <a:latin typeface="Arial" panose="020B0604020202020204" pitchFamily="34" charset="0"/>
              </a:rPr>
              <a:t>, not the variable</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 variable can reference different types over time</a:t>
            </a:r>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779000" y="2955241"/>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Tree>
    <p:extLst>
      <p:ext uri="{BB962C8B-B14F-4D97-AF65-F5344CB8AC3E}">
        <p14:creationId xmlns:p14="http://schemas.microsoft.com/office/powerpoint/2010/main" val="601899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int        0  -42  1_000_000</a:t>
            </a:r>
            <a:br>
              <a:rPr sz="2400" dirty="0"/>
            </a:br>
            <a:r>
              <a:rPr sz="2400" dirty="0"/>
              <a:t>float      0.0  3.14159  6.02e23</a:t>
            </a:r>
            <a:br>
              <a:rPr sz="2400" dirty="0"/>
            </a:br>
            <a:r>
              <a:rPr sz="2400" dirty="0"/>
              <a:t>complex    3+4j</a:t>
            </a:r>
            <a:br>
              <a:rPr sz="2400" dirty="0"/>
            </a:br>
            <a:r>
              <a:rPr sz="2400" dirty="0"/>
              <a:t>str        'spam'  "spam"  """multi-line"""</a:t>
            </a:r>
            <a:br>
              <a:rPr sz="2400" dirty="0"/>
            </a:br>
            <a:r>
              <a:rPr sz="2400" dirty="0"/>
              <a:t>bool       True  False</a:t>
            </a:r>
            <a:br>
              <a:rPr sz="2400" dirty="0"/>
            </a:br>
            <a:r>
              <a:rPr sz="2400" dirty="0" err="1"/>
              <a:t>NoneType</a:t>
            </a:r>
            <a:r>
              <a:rPr sz="2400" dirty="0"/>
              <a:t>   None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lstStyle/>
          <a:p>
            <a:pPr algn="l">
              <a:defRPr sz="1500">
                <a:latin typeface="Courier New"/>
              </a:defRPr>
            </a:pPr>
            <a:r>
              <a:t>7 / 3            # 2.333…  (float)</a:t>
            </a:r>
            <a:br/>
            <a:r>
              <a:t>7 // 3           # 2       (floor int)</a:t>
            </a:r>
            <a:br/>
            <a:r>
              <a:t>7 % 3            # 1       (modulo)</a:t>
            </a:r>
            <a:br/>
            <a:r>
              <a:t>divmod(7, 3)     # (2, 1)</a:t>
            </a:r>
            <a:br/>
            <a:br/>
            <a:r>
              <a:t>2 ** 10          # 1024</a:t>
            </a:r>
            <a:br/>
            <a:r>
              <a:t>pow(2, 10, 100)  # 24  (modular exponentiation)</a:t>
            </a:r>
            <a:br/>
            <a:br/>
            <a:r>
              <a:t>from decimal import Decimal</a:t>
            </a:r>
            <a:br/>
            <a:r>
              <a:t>price = Decimal('19.99')</a:t>
            </a:r>
            <a:br/>
            <a:r>
              <a:t>tax   = price * Decimal('0.07')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b="1"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b="1"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p:txBody>
          <a:bodyPr>
            <a:normAutofit fontScale="90000"/>
          </a:bodyPr>
          <a:lstStyle/>
          <a:p>
            <a:r>
              <a:rPr lang="en-SG" b="1"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Ternary Expression</a:t>
            </a:r>
          </a:p>
        </p:txBody>
      </p:sp>
      <p:sp>
        <p:nvSpPr>
          <p:cNvPr id="3" name="Content Placeholder 2"/>
          <p:cNvSpPr>
            <a:spLocks noGrp="1"/>
          </p:cNvSpPr>
          <p:nvPr>
            <p:ph idx="1"/>
          </p:nvPr>
        </p:nvSpPr>
        <p:spPr/>
        <p:txBody>
          <a:bodyPr/>
          <a:lstStyle/>
          <a:p>
            <a:pPr algn="l">
              <a:defRPr sz="1500">
                <a:latin typeface="Courier New"/>
              </a:defRPr>
            </a:pPr>
            <a:r>
              <a:t>status = "Approved" if score &gt; 700 else "Denied"</a:t>
            </a:r>
            <a:br/>
            <a:r>
              <a:t>tier = "High" if income &gt; 100_000 else "Mid" if income &gt; 50_000 else "Low"</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lstStyle/>
          <a:p>
            <a:pPr algn="l">
              <a:defRPr sz="1500">
                <a:latin typeface="Courier New"/>
              </a:defRPr>
            </a:pPr>
            <a:r>
              <a:t>for i in range(5):          # 0 1 2 3 4</a:t>
            </a:r>
            <a:br/>
            <a:r>
              <a:t>    print(i, end=" ")</a:t>
            </a:r>
            <a:br/>
            <a:br/>
            <a:r>
              <a:t>colors = ["red", "green", "blue"]</a:t>
            </a:r>
            <a:br/>
            <a:r>
              <a:t>for idx, color in enumerate(colors, start=1):</a:t>
            </a:r>
            <a:br/>
            <a:r>
              <a:t>    print(f"{idx}. {color}")</a:t>
            </a:r>
            <a:br/>
            <a:br/>
            <a:r>
              <a:t>n = 5</a:t>
            </a:r>
            <a:br/>
            <a:r>
              <a:t>while n &gt; 0:</a:t>
            </a:r>
            <a:br/>
            <a:r>
              <a:t>    print(n); n -= 1</a:t>
            </a:r>
            <a:br/>
            <a:r>
              <a:t>else:</a:t>
            </a:r>
            <a:br/>
            <a:r>
              <a:t>    print("Blast off!")</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lstStyle/>
          <a:p>
            <a:pPr algn="l">
              <a:defRPr sz="1500">
                <a:latin typeface="Courier New"/>
              </a:defRPr>
            </a:pPr>
            <a:r>
              <a:t>nums = [10, 15, 18, 19, 20]</a:t>
            </a:r>
            <a:br/>
            <a:r>
              <a:t>for n in nums:</a:t>
            </a:r>
            <a:br/>
            <a:r>
              <a:t>    if n % 2 == 0:</a:t>
            </a:r>
            <a:br/>
            <a:r>
              <a:t>        continue</a:t>
            </a:r>
            <a:br/>
            <a:r>
              <a:t>    for i in range(3, int(n**0.5)+1, 2):</a:t>
            </a:r>
            <a:br/>
            <a:r>
              <a:t>        if n % i == 0:</a:t>
            </a:r>
            <a:br/>
            <a:r>
              <a:t>            break</a:t>
            </a:r>
            <a:br/>
            <a:r>
              <a:t>    else:                       # no break → prime</a:t>
            </a:r>
            <a:br/>
            <a:r>
              <a:t>        print("Prime:", n)</a:t>
            </a:r>
            <a:br/>
            <a:r>
              <a:t>        break</a:t>
            </a:r>
            <a:br/>
            <a:r>
              <a:t>else:</a:t>
            </a:r>
            <a:br/>
            <a:r>
              <a:t>    print("No prime found")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Functions – the basics</a:t>
            </a:r>
          </a:p>
        </p:txBody>
      </p:sp>
      <p:sp>
        <p:nvSpPr>
          <p:cNvPr id="3" name="Content Placeholder 2"/>
          <p:cNvSpPr>
            <a:spLocks noGrp="1"/>
          </p:cNvSpPr>
          <p:nvPr>
            <p:ph idx="1"/>
          </p:nvPr>
        </p:nvSpPr>
        <p:spPr/>
        <p:txBody>
          <a:bodyPr/>
          <a:lstStyle/>
          <a:p>
            <a:pPr algn="l">
              <a:defRPr sz="1500">
                <a:latin typeface="Courier New"/>
              </a:defRPr>
            </a:pPr>
            <a:r>
              <a:t>def greet(name="stranger"):</a:t>
            </a:r>
            <a:br/>
            <a:r>
              <a:t>    """Return a greeting."""</a:t>
            </a:r>
            <a:br/>
            <a:r>
              <a:t>    return f"Hello, {name}!"</a:t>
            </a:r>
            <a:br/>
            <a:br/>
            <a:r>
              <a:t>print(greet())          # Hello, stranger!</a:t>
            </a:r>
            <a:br/>
            <a:r>
              <a:t>print(greet("Ada"))     # Hello, Ada!</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lstStyle/>
          <a:p>
            <a:pPr algn="l">
              <a:defRPr sz="1500">
                <a:latin typeface="Courier New"/>
              </a:defRPr>
            </a:pPr>
            <a:r>
              <a:t>def divide(a, b):</a:t>
            </a:r>
            <a:br/>
            <a:r>
              <a:t>    return a // b, a % b</a:t>
            </a:r>
            <a:br/>
            <a:br/>
            <a:r>
              <a:t>q, r = divide(20, 3)</a:t>
            </a:r>
            <a:br/>
            <a:r>
              <a:t>print(q, r)             # 6 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lstStyle/>
          <a:p>
            <a:pPr algn="l">
              <a:defRPr sz="1500">
                <a:latin typeface="Courier New"/>
              </a:defRPr>
            </a:pPr>
            <a:r>
              <a:t>def log(message, *args, **kwargs):</a:t>
            </a:r>
            <a:br/>
            <a:r>
              <a:t>    print(f"[LOG] {message}")</a:t>
            </a:r>
            <a:br/>
            <a:r>
              <a:t>    if args: print("  Extra positional:", args)</a:t>
            </a:r>
            <a:br/>
            <a:r>
              <a:t>    if kwargs: print("  Extra keyword:", kwargs)</a:t>
            </a:r>
            <a:br/>
            <a:br/>
            <a:r>
              <a:t>log("Start", 1, 2, 3, user="Ada", code=42)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lstStyle/>
          <a:p>
            <a:pPr algn="l">
              <a:defRPr sz="1500">
                <a:latin typeface="Courier New"/>
              </a:defRPr>
            </a:pPr>
            <a:r>
              <a:t>pairs = [(1, "one"), (2, "two"), (3, "three")]</a:t>
            </a:r>
            <a:br/>
            <a:r>
              <a:t>pairs.sort(key=lambda x: x[1])</a:t>
            </a:r>
            <a:br/>
            <a:r>
              <a:t>print(pairs)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lstStyle/>
          <a:p>
            <a:pPr algn="l">
              <a:defRPr sz="1500">
                <a:latin typeface="Courier New"/>
              </a:defRPr>
            </a:pPr>
            <a:r>
              <a:t>ops = {"+": lambda x,y: x+y,</a:t>
            </a:r>
            <a:br/>
            <a:r>
              <a:t>      "-": lambda x,y: x-y,</a:t>
            </a:r>
            <a:br/>
            <a:r>
              <a:t>      "*": lambda x,y: x*y,</a:t>
            </a:r>
            <a:br/>
            <a:r>
              <a:t>      "/": lambda x,y: x/y}</a:t>
            </a:r>
            <a:br/>
            <a:br/>
            <a:r>
              <a:t>_, a, op, b = sys.argv</a:t>
            </a:r>
            <a:br/>
            <a:r>
              <a:t>print(ops[op](float(a), float(b)))</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lstStyle/>
          <a:p>
            <a:pPr algn="l">
              <a:defRPr sz="1500">
                <a:latin typeface="Courier New"/>
              </a:defRPr>
            </a:pPr>
            <a:r>
              <a:t>class Dog:</a:t>
            </a:r>
            <a:br/>
            <a:r>
              <a:t>    species = "Canis familiaris"</a:t>
            </a:r>
            <a:br/>
            <a:r>
              <a:t>    def __init__(self, name, age):</a:t>
            </a:r>
            <a:br/>
            <a:r>
              <a:t>        self.name, self.age = name, age</a:t>
            </a:r>
            <a:br/>
            <a:r>
              <a:t>    def __str__(self):</a:t>
            </a:r>
            <a:br/>
            <a:r>
              <a:t>        return f"{self.name} is {self.age}"</a:t>
            </a:r>
            <a:br/>
            <a:r>
              <a:t>    def speak(self, sound="Woof!"):</a:t>
            </a:r>
            <a:br/>
            <a:r>
              <a:t>        return f"{self.name} says {sound}"</a:t>
            </a:r>
            <a:br/>
            <a:br/>
            <a:r>
              <a:t>d = Dog("Buddy", 4)</a:t>
            </a:r>
            <a:br/>
            <a:r>
              <a:t>print(d)                    # Buddy is 4</a:t>
            </a:r>
            <a:br/>
            <a:r>
              <a:t>print(d.speak("Ruff"))</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lstStyle/>
          <a:p>
            <a:pPr algn="l">
              <a:defRPr sz="1500">
                <a:latin typeface="Courier New"/>
              </a:defRPr>
            </a:pPr>
            <a:r>
              <a:t>class BankAccount:</a:t>
            </a:r>
            <a:br/>
            <a:r>
              <a:t>    def __init__(self, owner, balance=0):</a:t>
            </a:r>
            <a:br/>
            <a:r>
              <a:t>        self.owner = owner</a:t>
            </a:r>
            <a:br/>
            <a:r>
              <a:t>        self.__balance = balance      # name mangled</a:t>
            </a:r>
            <a:br/>
            <a:r>
              <a:t>    def deposit(self, amount):</a:t>
            </a:r>
            <a:br/>
            <a:r>
              <a:t>        self.__balance += amount</a:t>
            </a:r>
            <a:br/>
            <a:r>
              <a:t>    @property</a:t>
            </a:r>
            <a:br/>
            <a:r>
              <a:t>    def balance(self):</a:t>
            </a:r>
            <a:br/>
            <a:r>
              <a:t>        return self.__balance</a:t>
            </a:r>
            <a:br/>
            <a:br/>
            <a:r>
              <a:t>acct = BankAccount("Ada")</a:t>
            </a:r>
            <a:br/>
            <a:r>
              <a:t>acct.deposit(100)</a:t>
            </a:r>
            <a:br/>
            <a:r>
              <a:t>print(acct.balance)         # 100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pPr algn="l">
              <a:defRPr sz="1500">
                <a:latin typeface="Courier New"/>
              </a:defRPr>
            </a:pPr>
            <a:r>
              <a:t>class Animal:</a:t>
            </a:r>
            <a:br/>
            <a:r>
              <a:t>    def speak(self): raise NotImplementedError</a:t>
            </a:r>
            <a:br/>
            <a:r>
              <a:t>class Cat(Animal):</a:t>
            </a:r>
            <a:br/>
            <a:r>
              <a:t>    def speak(self): return "Meow"</a:t>
            </a:r>
            <a:br/>
            <a:r>
              <a:t>class Cow(Animal):</a:t>
            </a:r>
            <a:br/>
            <a:r>
              <a:t>    def speak(self): return "Moo"</a:t>
            </a:r>
            <a:br/>
            <a:br/>
            <a:r>
              <a:t>for creature in [Cat(), Cow()]:</a:t>
            </a:r>
            <a:br/>
            <a:r>
              <a:t>    print(creature.speak())</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lstStyle/>
          <a:p>
            <a:pPr algn="l">
              <a:defRPr sz="1500">
                <a:latin typeface="Courier New"/>
              </a:defRPr>
            </a:pPr>
            <a:r>
              <a:t>class Person:</a:t>
            </a:r>
            <a:br/>
            <a:r>
              <a:t>    def __init__(self, name): self.name = name</a:t>
            </a:r>
            <a:br/>
            <a:r>
              <a:t>class Employee(Person):</a:t>
            </a:r>
            <a:br/>
            <a:r>
              <a:t>    def __init__(self, name, salary):</a:t>
            </a:r>
            <a:br/>
            <a:r>
              <a:t>        super().__init__(name); self.salary = salary</a:t>
            </a:r>
            <a:br/>
            <a:r>
              <a:t>class Manager(Employee):</a:t>
            </a:r>
            <a:br/>
            <a:r>
              <a:t>    def __init__(self, name, salary, level):</a:t>
            </a:r>
            <a:br/>
            <a:r>
              <a:t>        super().__init__(name, salary); self.level = level</a:t>
            </a:r>
            <a:br/>
            <a:br/>
            <a:r>
              <a:t>m = Manager("Grace", 120_000, "L3")</a:t>
            </a:r>
            <a:br/>
            <a:r>
              <a:t>print(m.name, m.salary, m.level)</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lstStyle/>
          <a:p>
            <a:pPr algn="l">
              <a:defRPr sz="1500">
                <a:latin typeface="Courier New"/>
              </a:defRPr>
            </a:pPr>
            <a:r>
              <a:t>class Vector:</a:t>
            </a:r>
            <a:br/>
            <a:r>
              <a:t>    def __init__(self, x, y): self.x, self.y = x, y</a:t>
            </a:r>
            <a:br/>
            <a:r>
              <a:t>    def __add__(self, other):</a:t>
            </a:r>
            <a:br/>
            <a:r>
              <a:t>        return Vector(self.x + other.x, self.y + other.y)</a:t>
            </a:r>
            <a:br/>
            <a:r>
              <a:t>    def __mul__(self, scalar):</a:t>
            </a:r>
            <a:br/>
            <a:r>
              <a:t>        return Vector(self.x * scalar, self.y * scalar)</a:t>
            </a:r>
            <a:br/>
            <a:r>
              <a:t>    def __repr__(self): return f"Vector({self.x}, {self.y})"</a:t>
            </a:r>
            <a:br/>
            <a:br/>
            <a:r>
              <a:t>v1, v2 = Vector(2, 3), Vector(1, 4)</a:t>
            </a:r>
            <a:br/>
            <a:r>
              <a:t>print(v1 + v2)              # Vector(3, 7)</a:t>
            </a:r>
            <a:br/>
            <a:r>
              <a:t>print(v1 * 3)               # Vector(6, 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lstStyle/>
          <a:p>
            <a:pPr algn="l">
              <a:defRPr sz="1500">
                <a:latin typeface="Courier New"/>
              </a:defRPr>
            </a:pPr>
            <a:r>
              <a:t># tree</a:t>
            </a:r>
            <a:br/>
            <a:r>
              <a:t>project/</a:t>
            </a:r>
            <a:br/>
            <a:r>
              <a:t>  ├── geometry/</a:t>
            </a:r>
            <a:br/>
            <a:r>
              <a:t>  │   ├── __init__.py</a:t>
            </a:r>
            <a:br/>
            <a:r>
              <a:t>  │   └── shapes.py</a:t>
            </a:r>
            <a:br/>
            <a:r>
              <a:t>  └── app.py</a:t>
            </a:r>
            <a:br/>
            <a:br/>
            <a:r>
              <a:t># shapes.py</a:t>
            </a:r>
            <a:br/>
            <a:r>
              <a:t>def area_circle(r): from math import pi; return pi * r ** 2</a:t>
            </a:r>
            <a:br/>
            <a:br/>
            <a:r>
              <a:t># __init__.py</a:t>
            </a:r>
            <a:br/>
            <a:r>
              <a:t>from .shapes import area_circle</a:t>
            </a:r>
            <a:br/>
            <a:r>
              <a:t>__all__ = ["area_circle"]</a:t>
            </a:r>
            <a:br/>
            <a:br/>
            <a:r>
              <a:t># app.py</a:t>
            </a:r>
            <a:br/>
            <a:r>
              <a:t>from geometry import area_circle</a:t>
            </a:r>
            <a:br/>
            <a:r>
              <a:t>print(area_circle(5))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lstStyle/>
          <a:p>
            <a:pPr algn="l">
              <a:defRPr sz="1500">
                <a:latin typeface="Courier New"/>
              </a:defRPr>
            </a:pPr>
            <a:r>
              <a:t>import datetime as dt</a:t>
            </a:r>
            <a:br/>
            <a:r>
              <a:t>from pathlib import Path</a:t>
            </a:r>
            <a:br/>
            <a:r>
              <a:t>from collections import defaultdict, Counter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 Text &amp; CSV</a:t>
            </a:r>
          </a:p>
        </p:txBody>
      </p:sp>
      <p:sp>
        <p:nvSpPr>
          <p:cNvPr id="3" name="Content Placeholder 2"/>
          <p:cNvSpPr>
            <a:spLocks noGrp="1"/>
          </p:cNvSpPr>
          <p:nvPr>
            <p:ph idx="1"/>
          </p:nvPr>
        </p:nvSpPr>
        <p:spPr/>
        <p:txBody>
          <a:bodyPr/>
          <a:lstStyle/>
          <a:p>
            <a:pPr algn="l">
              <a:defRPr sz="1500">
                <a:latin typeface="Courier New"/>
              </a:defRPr>
            </a:pPr>
            <a:r>
              <a:t>with open("haiku.txt", "w") as f:</a:t>
            </a:r>
            <a:br/>
            <a:r>
              <a:t>    f.write("Ancient silent pond\n…")</a:t>
            </a:r>
            <a:br/>
            <a:br/>
            <a:r>
              <a:t>with open("haiku.txt") as f:</a:t>
            </a:r>
            <a:br/>
            <a:r>
              <a:t>    for i, line in enumerate(f, 1):</a:t>
            </a:r>
            <a:br/>
            <a:r>
              <a:t>        print(f"{i}: {line.rstrip()}")</a:t>
            </a:r>
            <a:br/>
            <a:br/>
            <a:r>
              <a:t>import csv</a:t>
            </a:r>
            <a:br/>
            <a:r>
              <a:t>rows = [{"name": "Ada", "age": 36}, {"name": "Linus", "age": 52}]</a:t>
            </a:r>
            <a:br/>
            <a:r>
              <a:t>with open("users.csv", "w", newline="") as f:</a:t>
            </a:r>
            <a:br/>
            <a:r>
              <a:t>    writer = csv.DictWriter(f, fieldnames=["name", "age"])</a:t>
            </a:r>
            <a:br/>
            <a:r>
              <a:t>    writer.writeheader(); writer.writerows(rows)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pPr algn="l">
              <a:defRPr sz="1500">
                <a:latin typeface="Courier New"/>
              </a:defRPr>
            </a:pPr>
            <a:r>
              <a:t>from pathlib import Path</a:t>
            </a:r>
            <a:br/>
            <a:r>
              <a:t>root = Path("docs") / "letters"</a:t>
            </a:r>
            <a:br/>
            <a:r>
              <a:t>for file in root.glob("*.txt"):</a:t>
            </a:r>
            <a:br/>
            <a:r>
              <a:t>    print(file.stem)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lstStyle/>
          <a:p>
            <a:pPr algn="l">
              <a:defRPr sz="1500">
                <a:latin typeface="Courier New"/>
              </a:defRPr>
            </a:pPr>
            <a:r>
              <a:t>import json, pathlib, sys</a:t>
            </a:r>
            <a:br/>
            <a:r>
              <a:t>FILE = pathlib.Path("contacts.json")</a:t>
            </a:r>
            <a:br/>
            <a:r>
              <a:t>def load(): return json.loads(FILE.read_text()) if FILE.exists() else {}</a:t>
            </a:r>
            <a:br/>
            <a:r>
              <a:t>def save(data): FILE.write_text(json.dumps(data, indent=2))</a:t>
            </a:r>
            <a:br/>
            <a:r>
              <a:t>def add(name, phone):</a:t>
            </a:r>
            <a:br/>
            <a:r>
              <a:t>    book = load(); book[name] = phone; save(book); print(f"Added {name}")</a:t>
            </a:r>
            <a:br/>
            <a:r>
              <a:t>if sys.argv[1:2] == ["add"]: add(sys.argv[2], sys.argv[3])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lstStyle/>
          <a:p>
            <a:pPr algn="l">
              <a:defRPr sz="1500">
                <a:latin typeface="Courier New"/>
              </a:defRPr>
            </a:pPr>
            <a:r>
              <a:t>def debug(func):</a:t>
            </a:r>
            <a:br/>
            <a:r>
              <a:t>    import functools</a:t>
            </a:r>
            <a:br/>
            <a:r>
              <a:t>    @functools.wraps(func)</a:t>
            </a:r>
            <a:br/>
            <a:r>
              <a:t>    def wrapper(*args, **kwargs):</a:t>
            </a:r>
            <a:br/>
            <a:r>
              <a:t>        print(f"Calling {func.__name__}{args}")</a:t>
            </a:r>
            <a:br/>
            <a:r>
              <a:t>        value = func(*args, **kwargs)</a:t>
            </a:r>
            <a:br/>
            <a:r>
              <a:t>        print(f"{func.__name__} returned {value}")</a:t>
            </a:r>
            <a:br/>
            <a:r>
              <a:t>        return value</a:t>
            </a:r>
            <a:br/>
            <a:r>
              <a:t>    return wrapper</a:t>
            </a:r>
            <a:br/>
            <a:br/>
            <a:r>
              <a:t>@debug</a:t>
            </a:r>
            <a:br/>
            <a:r>
              <a:t>def gcd(a, b):</a:t>
            </a:r>
            <a:br/>
            <a:r>
              <a:t>    while b: a, b = b, a % b</a:t>
            </a:r>
            <a:br/>
            <a:r>
              <a:t>    return a</a:t>
            </a:r>
            <a:br/>
            <a:br/>
            <a:r>
              <a:t>gcd(42, 56)</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p:txBody>
          <a:bodyPr/>
          <a:lstStyle/>
          <a:p>
            <a:pPr algn="l">
              <a:defRPr sz="1500">
                <a:latin typeface="Courier New"/>
              </a:defRPr>
            </a:pPr>
            <a:r>
              <a:t>def repeat(times):</a:t>
            </a:r>
            <a:br/>
            <a:r>
              <a:t>    def decorator(func):</a:t>
            </a:r>
            <a:br/>
            <a:r>
              <a:t>        import functools</a:t>
            </a:r>
            <a:br/>
            <a:r>
              <a:t>        @functools.wraps(func)</a:t>
            </a:r>
            <a:br/>
            <a:r>
              <a:t>        def wrapper(*args, **kwargs):</a:t>
            </a:r>
            <a:br/>
            <a:r>
              <a:t>            for _ in range(times): value = func(*args, **kwargs)</a:t>
            </a:r>
            <a:br/>
            <a:r>
              <a:t>            return value</a:t>
            </a:r>
            <a:br/>
            <a:r>
              <a:t>        return wrapper</a:t>
            </a:r>
            <a:br/>
            <a:r>
              <a:t>    return decorator</a:t>
            </a:r>
            <a:br/>
            <a:br/>
            <a:r>
              <a:t>@repeat(3)</a:t>
            </a:r>
            <a:br/>
            <a:r>
              <a:t>def greet(): print("Hi!")</a:t>
            </a:r>
            <a:br/>
            <a:r>
              <a:t>greet()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p:txBody>
          <a:bodyPr/>
          <a:lstStyle/>
          <a:p>
            <a:pPr algn="l">
              <a:defRPr sz="1500">
                <a:latin typeface="Courier New"/>
              </a:defRPr>
            </a:pPr>
            <a:r>
              <a:t>import time, functools</a:t>
            </a:r>
            <a:br/>
            <a:br/>
            <a:r>
              <a:t>def timed(func):</a:t>
            </a:r>
            <a:br/>
            <a:r>
              <a:t>    @functools.wraps(func)</a:t>
            </a:r>
            <a:br/>
            <a:r>
              <a:t>    def wrapper(*args, **kwargs):</a:t>
            </a:r>
            <a:br/>
            <a:r>
              <a:t>        t0 = time.perf_counter()</a:t>
            </a:r>
            <a:br/>
            <a:r>
              <a:t>        value = func(*args, **kwargs)</a:t>
            </a:r>
            <a:br/>
            <a:r>
              <a:t>        print(f"{func.__name__} took {(time.perf_counter()-t0)*1000:.2f} ms")</a:t>
            </a:r>
            <a:br/>
            <a:r>
              <a:t>        return value</a:t>
            </a:r>
            <a:br/>
            <a:r>
              <a:t>    return wrapper</a:t>
            </a:r>
            <a:br/>
            <a:br/>
            <a:r>
              <a:t>@functools.lru_cache(maxsize=None)</a:t>
            </a:r>
            <a:br/>
            <a:r>
              <a:t>def fib(n): return n if n &lt; 2 else fib(n-1) + fib(n-2)</a:t>
            </a:r>
            <a:br/>
            <a:br/>
            <a:r>
              <a:t>timed(fib)(35)</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lstStyle/>
          <a:p>
            <a:pPr algn="l">
              <a:defRPr sz="1500">
                <a:latin typeface="Courier New"/>
              </a:defRPr>
            </a:pPr>
            <a:r>
              <a:t>def evens(limit):</a:t>
            </a:r>
            <a:br/>
            <a:r>
              <a:t>    value = 0</a:t>
            </a:r>
            <a:br/>
            <a:r>
              <a:t>    while value &lt;= limit:</a:t>
            </a:r>
            <a:br/>
            <a:r>
              <a:t>        yield value; value += 2</a:t>
            </a:r>
            <a:br/>
            <a:br/>
            <a:r>
              <a:t>for n in evens(10): print(n, end=" ")   # 0 2 4 6 8 10</a:t>
            </a:r>
            <a:br/>
            <a:br/>
            <a:r>
              <a:t>squares = (x*x for x in range(10**6))   # ~200 B</a:t>
            </a:r>
            <a:br/>
            <a:r>
              <a:t>import sys, os</a:t>
            </a:r>
            <a:br/>
            <a:r>
              <a:t>print(sys.getsizeof(squares), "bytes")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p:txBody>
          <a:bodyPr/>
          <a:lstStyle/>
          <a:p>
            <a:pPr algn="l">
              <a:defRPr sz="1500">
                <a:latin typeface="Courier New"/>
              </a:defRPr>
            </a:pPr>
            <a:r>
              <a:t>def parse_access_log(path):</a:t>
            </a:r>
            <a:br/>
            <a:r>
              <a:t>    with open(path) as f:</a:t>
            </a:r>
            <a:br/>
            <a:r>
              <a:t>        for line in f:</a:t>
            </a:r>
            <a:br/>
            <a:r>
              <a:t>            ip, _, _, dt, meth, url, st, sz = line.split()[:8]</a:t>
            </a:r>
            <a:br/>
            <a:r>
              <a:t>            yield {"ip": ip, "datetime": dt[1:],</a:t>
            </a:r>
            <a:br/>
            <a:r>
              <a:t>                   "method": meth[1:-1], "url": url,</a:t>
            </a:r>
            <a:br/>
            <a:r>
              <a:t>                   "status": int(st), "size": int(sz)}</a:t>
            </a:r>
            <a:br/>
            <a:br/>
            <a:r>
              <a:t>for entry in parse_access_log("access.log"):</a:t>
            </a:r>
            <a:br/>
            <a:r>
              <a:t>    if entry["status"] == 404:</a:t>
            </a:r>
            <a:br/>
            <a:r>
              <a:t>        print(entry["url"])</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Landscape</a:t>
            </a:r>
          </a:p>
        </p:txBody>
      </p:sp>
      <p:sp>
        <p:nvSpPr>
          <p:cNvPr id="3" name="Content Placeholder 2"/>
          <p:cNvSpPr>
            <a:spLocks noGrp="1"/>
          </p:cNvSpPr>
          <p:nvPr>
            <p:ph idx="1"/>
          </p:nvPr>
        </p:nvSpPr>
        <p:spPr/>
        <p:txBody>
          <a:bodyPr/>
          <a:lstStyle/>
          <a:p>
            <a:pPr algn="l">
              <a:defRPr sz="1500">
                <a:latin typeface="Courier New"/>
              </a:defRPr>
            </a:pPr>
            <a:r>
              <a:t>• threading        – concurrent, shared memory, I/O bound</a:t>
            </a:r>
            <a:br/>
            <a:r>
              <a:t>• multiprocessing – parallel, separate memory, CPU bound</a:t>
            </a:r>
            <a:br/>
            <a:r>
              <a:t>• asyncio         – single-threaded cooperative, I/O bound, no GIL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p:txBody>
          <a:bodyPr/>
          <a:lstStyle/>
          <a:p>
            <a:pPr algn="l">
              <a:defRPr sz="1500">
                <a:latin typeface="Courier New"/>
              </a:defRPr>
            </a:pPr>
            <a:r>
              <a:t>import multiprocessing as mp, random</a:t>
            </a:r>
            <a:br/>
            <a:r>
              <a:t>def sample_pi(n):</a:t>
            </a:r>
            <a:br/>
            <a:r>
              <a:t>    inside = 0</a:t>
            </a:r>
            <a:br/>
            <a:r>
              <a:t>    for _ in range(n):</a:t>
            </a:r>
            <a:br/>
            <a:r>
              <a:t>        x, y = random.random(), random.random()</a:t>
            </a:r>
            <a:br/>
            <a:r>
              <a:t>        if x*x + y*y &lt;= 1: inside += 1</a:t>
            </a:r>
            <a:br/>
            <a:r>
              <a:t>    return inside</a:t>
            </a:r>
            <a:br/>
            <a:r>
              <a:t>cores = mp.cpu_count()</a:t>
            </a:r>
            <a:br/>
            <a:r>
              <a:t>total = 1_000_000</a:t>
            </a:r>
            <a:br/>
            <a:r>
              <a:t>counts = mp.Pool(cores).map(sample_pi, [total//cores]*cores)</a:t>
            </a:r>
            <a:br/>
            <a:r>
              <a:t>print("π ≈", 4 * sum(counts) / total)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p:txBody>
          <a:bodyPr/>
          <a:lstStyle/>
          <a:p>
            <a:pPr algn="l">
              <a:defRPr sz="1500">
                <a:latin typeface="Courier New"/>
              </a:defRPr>
            </a:pPr>
            <a:r>
              <a:t>import aiohttp, asyncio, time</a:t>
            </a:r>
            <a:br/>
            <a:r>
              <a:t>async def fetch(s, url):</a:t>
            </a:r>
            <a:br/>
            <a:r>
              <a:t>    async with s.get(url) as r: return await r.text()</a:t>
            </a:r>
            <a:br/>
            <a:r>
              <a:t>async def fetch_all(urls):</a:t>
            </a:r>
            <a:br/>
            <a:r>
              <a:t>    async with aiohttp.ClientSession() as s:</a:t>
            </a:r>
            <a:br/>
            <a:r>
              <a:t>        return await asyncio.gather(*[fetch(s, u) for u in urls])</a:t>
            </a:r>
            <a:br/>
            <a:r>
              <a:t>urls = ["https://httpbin.org/delay/1"] * 50</a:t>
            </a:r>
            <a:br/>
            <a:r>
              <a:t>t0 = time.time()</a:t>
            </a:r>
            <a:br/>
            <a:r>
              <a:t>pages = asyncio.run(fetch_all(urls))</a:t>
            </a:r>
            <a:br/>
            <a:r>
              <a:t>print("Fetched", len(pages), "pages in", time.time()-t0, "s")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p:txBody>
          <a:bodyPr/>
          <a:lstStyle/>
          <a:p>
            <a:pPr algn="l">
              <a:defRPr sz="1500">
                <a:latin typeface="Courier New"/>
              </a:defRPr>
            </a:pPr>
            <a:r>
              <a:t>def blocking_func():</a:t>
            </a:r>
            <a:br/>
            <a:r>
              <a:t>    time.sleep(1)</a:t>
            </a:r>
            <a:br/>
            <a:r>
              <a:t>    return 42</a:t>
            </a:r>
            <a:br/>
            <a:r>
              <a:t>async def main():</a:t>
            </a:r>
            <a:br/>
            <a:r>
              <a:t>    loop = asyncio.get_running_loop()</a:t>
            </a:r>
            <a:br/>
            <a:r>
              <a:t>    result = await loop.run_in_executor(None, blocking_func)</a:t>
            </a:r>
            <a:br/>
            <a:r>
              <a:t>    print(result)</a:t>
            </a:r>
            <a:br/>
            <a:r>
              <a:t>asyncio.run(main())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p:txBody>
          <a:bodyPr/>
          <a:lstStyle/>
          <a:p>
            <a:pPr algn="l">
              <a:defRPr sz="1500">
                <a:latin typeface="Courier New"/>
              </a:defRPr>
            </a:pPr>
            <a:r>
              <a:t>python -m venv .venv</a:t>
            </a:r>
            <a:br/>
            <a:r>
              <a:t>source .venv/bin/activate        # Windows: .venv\Scripts\activate</a:t>
            </a:r>
            <a:br/>
            <a:r>
              <a:t>python -m pip install -U pip setuptools wheel</a:t>
            </a:r>
            <a:br/>
            <a:r>
              <a:t>pip install -e .                 # looks for pyproject.toml</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lstStyle/>
          <a:p>
            <a:pPr algn="l">
              <a:defRPr sz="1500">
                <a:latin typeface="Courier New"/>
              </a:defRPr>
            </a:pPr>
            <a:r>
              <a:t>[build-system]</a:t>
            </a:r>
            <a:br/>
            <a:r>
              <a:t>requires = ["setuptools&gt;=64", "wheel"]</a:t>
            </a:r>
            <a:br/>
            <a:r>
              <a:t>build-backend = "setuptools.build_meta"</a:t>
            </a:r>
            <a:br/>
            <a:br/>
            <a:r>
              <a:t>[project]</a:t>
            </a:r>
            <a:br/>
            <a:r>
              <a:t>name = "myutils"</a:t>
            </a:r>
            <a:br/>
            <a:r>
              <a:t>version = "0.1.0"</a:t>
            </a:r>
            <a:br/>
            <a:r>
              <a:t>dependencies = ["requests&gt;=2.28"]</a:t>
            </a:r>
            <a:br/>
            <a:br/>
            <a:r>
              <a:t>[project.optional-dependencies]</a:t>
            </a:r>
            <a:br/>
            <a:r>
              <a:t>dev = ["pytest", "black", "mypy"]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lstStyle/>
          <a:p>
            <a:pPr algn="l">
              <a:defRPr sz="1500">
                <a:latin typeface="Courier New"/>
              </a:defRPr>
            </a:pPr>
            <a:r>
              <a:t>pip install black flake8 mypy</a:t>
            </a:r>
            <a:br/>
            <a:r>
              <a:t>black src/ tests/</a:t>
            </a:r>
            <a:br/>
            <a:r>
              <a:t>flake8 src/</a:t>
            </a:r>
            <a:br/>
            <a:r>
              <a:t>mypy src/</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p:txBody>
          <a:bodyPr/>
          <a:lstStyle/>
          <a:p>
            <a:pPr algn="l">
              <a:defRPr sz="1500">
                <a:latin typeface="Courier New"/>
              </a:defRPr>
            </a:pPr>
            <a:r>
              <a:t># test_math_utils.py</a:t>
            </a:r>
            <a:br/>
            <a:r>
              <a:t>import pytest</a:t>
            </a:r>
            <a:br/>
            <a:r>
              <a:t>from myutils.math import clamp</a:t>
            </a:r>
            <a:br/>
            <a:r>
              <a:t>@pytest.mark.parametrize("x,lo,hi,e", [(5,0,10,5), (-5,0,10,0), (15,0,10,10)])</a:t>
            </a:r>
            <a:br/>
            <a:r>
              <a:t>def test_clamp(x, lo, hi, e): assert clamp(x, lo, hi) == e</a:t>
            </a:r>
            <a:br/>
            <a:r>
              <a:t># run</a:t>
            </a:r>
            <a:br/>
            <a:r>
              <a:t>pytest -q</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p:txBody>
          <a:bodyPr/>
          <a:lstStyle/>
          <a:p>
            <a:pPr algn="l">
              <a:defRPr sz="1500">
                <a:latin typeface="Courier New"/>
              </a:defRPr>
            </a:pPr>
            <a:r>
              <a:t>from typing import List, Dict, Optional</a:t>
            </a:r>
            <a:br/>
            <a:r>
              <a:t>def freq(words: List[str]) -&gt; Dict[str, int]:</a:t>
            </a:r>
            <a:br/>
            <a:r>
              <a:t>    counts: Dict[str, int] = {}</a:t>
            </a:r>
            <a:br/>
            <a:r>
              <a:t>    for w in words: counts[w] = counts.get(w, 0) + 1</a:t>
            </a:r>
            <a:br/>
            <a:r>
              <a:t>    return counts</a:t>
            </a:r>
            <a:br/>
            <a:r>
              <a:t>def find(uid: int) -&gt; Optional[str]: ...</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p:txBody>
          <a:bodyPr/>
          <a:lstStyle/>
          <a:p>
            <a:pPr algn="l">
              <a:defRPr sz="1500">
                <a:latin typeface="Courier New"/>
              </a:defRPr>
            </a:pPr>
            <a:r>
              <a:t>pip install ipython jupyterlab</a:t>
            </a:r>
            <a:br/>
            <a:r>
              <a:t>ipython                           # tab-completion, ? help, %magic</a:t>
            </a:r>
            <a:br/>
            <a:r>
              <a:t>jupyter lab                       # browser notebooks</a:t>
            </a:r>
            <a:br/>
            <a:r>
              <a:t># inside notebook</a:t>
            </a:r>
            <a:br/>
            <a:r>
              <a:t>%matplotlib inline</a:t>
            </a:r>
            <a:br/>
            <a:r>
              <a:t>import matplotlib.pyplot as plt</a:t>
            </a:r>
            <a:br/>
            <a:r>
              <a:t>plt.plot([1,2,3], [4,5,6])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p:txBody>
          <a:bodyPr/>
          <a:lstStyle/>
          <a:p>
            <a:pPr algn="l">
              <a:defRPr sz="1500">
                <a:latin typeface="Courier New"/>
              </a:defRPr>
            </a:pPr>
            <a:r>
              <a:t>• Build a REST micro-service with FastAPI</a:t>
            </a:r>
            <a:br/>
            <a:r>
              <a:t>• Scrape + analyze live data with asyncio &amp; pandas</a:t>
            </a:r>
            <a:br/>
            <a:r>
              <a:t>• Automate your own boring tasks (rename photos, merge Excel)</a:t>
            </a:r>
            <a:br/>
            <a:r>
              <a:t>• Deploy a serverless function on AWS Lambda</a:t>
            </a:r>
            <a:br/>
            <a:r>
              <a:t>• Create a GUI desktop app with textual or PySide6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p:txBody>
          <a:bodyPr/>
          <a:lstStyle/>
          <a:p>
            <a:pPr algn="l">
              <a:defRPr sz="1500">
                <a:latin typeface="Courier New"/>
              </a:defRPr>
            </a:pPr>
            <a:r>
              <a:t>Resources</a:t>
            </a:r>
            <a:br/>
            <a:r>
              <a:t>• docs.python.org/3/tutorial/</a:t>
            </a:r>
            <a:br/>
            <a:r>
              <a:t>• realpython.com</a:t>
            </a:r>
            <a:br/>
            <a:r>
              <a:t>• pypi.org – 450 k+ packages</a:t>
            </a:r>
            <a:br/>
            <a:r>
              <a:t>• github.com/python/cpython – read the source!</a:t>
            </a:r>
            <a:br/>
            <a:r>
              <a:t>• mastodon, /r/python, discord.gg/python</a:t>
            </a:r>
            <a:br/>
            <a:br/>
            <a:r>
              <a:t>Remember:</a:t>
            </a:r>
            <a:br/>
            <a:r>
              <a:t>Read code → Run code → Break code → Fix code → Repeat.</a:t>
            </a:r>
            <a:br/>
            <a:r>
              <a:t>Happy Pythoning!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4808</Words>
  <Application>Microsoft Office PowerPoint</Application>
  <PresentationFormat>Custom</PresentationFormat>
  <Paragraphs>336</Paragraphs>
  <Slides>70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70</vt:i4>
      </vt:variant>
    </vt:vector>
  </HeadingPairs>
  <TitlesOfParts>
    <vt:vector size="76" baseType="lpstr">
      <vt:lpstr>Arial Unicode MS</vt:lpstr>
      <vt:lpstr>Arial</vt:lpstr>
      <vt:lpstr>Calibri</vt:lpstr>
      <vt:lpstr>Courier New</vt:lpstr>
      <vt:lpstr>Wingdings</vt:lpstr>
      <vt:lpstr>Office Theme</vt:lpstr>
      <vt:lpstr>PYTHON CRASH COURSE</vt:lpstr>
      <vt:lpstr>Module 1  FOUNDATION</vt:lpstr>
      <vt:lpstr>Why Python?</vt:lpstr>
      <vt:lpstr>Installing &amp; Running</vt:lpstr>
      <vt:lpstr>Progress</vt:lpstr>
      <vt:lpstr>Variables &amp; Dynamic Typing</vt:lpstr>
      <vt:lpstr>Variables Are References (Not Boxes)</vt:lpstr>
      <vt:lpstr>Changing the Object</vt:lpstr>
      <vt:lpstr>Contrast with Reassignment</vt:lpstr>
      <vt:lpstr>Dynamic Typing Explained</vt:lpstr>
      <vt:lpstr>Type Checking at Runtime</vt:lpstr>
      <vt:lpstr>Core Built-in Types</vt:lpstr>
      <vt:lpstr>Reassignment and Object Identity</vt:lpstr>
      <vt:lpstr>Numbers &amp; Operators</vt:lpstr>
      <vt:lpstr>Strings – indexing, slicing, methods</vt:lpstr>
      <vt:lpstr>Booleans &amp; Truthiness</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Control Flow – if / elif / else</vt:lpstr>
      <vt:lpstr>Ternary Expression</vt:lpstr>
      <vt:lpstr>Loops – for &amp; while</vt:lpstr>
      <vt:lpstr>Break, Continue, Else</vt:lpstr>
      <vt:lpstr>Functions – the basics</vt:lpstr>
      <vt:lpstr>Multiple Returns</vt:lpstr>
      <vt:lpstr>*args  **kwargs</vt:lpstr>
      <vt:lpstr>Lambda &amp; Sorted</vt:lpstr>
      <vt:lpstr>Mini-Project: CLI Calculator</vt:lpstr>
      <vt:lpstr>Module 2  INTERMEDIATE</vt:lpstr>
      <vt:lpstr>Object-Oriented Programming – Classes</vt:lpstr>
      <vt:lpstr>Encapsulation &amp; Private Attributes</vt:lpstr>
      <vt:lpstr>Inheritance &amp; Polymorphism</vt:lpstr>
      <vt:lpstr>super() &amp; Cooperative Multiple Inheritance</vt:lpstr>
      <vt:lpstr>Dunder (Magic) Methods</vt:lpstr>
      <vt:lpstr>Modules – Creating &amp; Importing</vt:lpstr>
      <vt:lpstr>Import Patterns &amp; Aliases</vt:lpstr>
      <vt:lpstr>File I/O – Text &amp; CSV</vt:lpstr>
      <vt:lpstr>pathlib vs os.path</vt:lpstr>
      <vt:lpstr>JSON Serialization</vt:lpstr>
      <vt:lpstr>Mini-Project: Contact Manager</vt:lpstr>
      <vt:lpstr>Module 3  ADVANCED</vt:lpstr>
      <vt:lpstr>Decorators – Function Wrappers</vt:lpstr>
      <vt:lpstr>Decorators with Arguments</vt:lpstr>
      <vt:lpstr>Timing &amp; Caching Decorators</vt:lpstr>
      <vt:lpstr>Generators – Lazy Iteration</vt:lpstr>
      <vt:lpstr>Reading Giant Files</vt:lpstr>
      <vt:lpstr>Concurrency Landscape</vt:lpstr>
      <vt:lpstr>threading – Download Many Images</vt:lpstr>
      <vt:lpstr>multiprocessing – CPU-bound Pi Monte-Carlo</vt:lpstr>
      <vt:lpstr>asyncio – Concurrent HTTP with aiohttp</vt:lpstr>
      <vt:lpstr>Mixing sync ↔ async</vt:lpstr>
      <vt:lpstr>Virtual Environments &amp; Packaging</vt:lpstr>
      <vt:lpstr>pyproject.toml</vt:lpstr>
      <vt:lpstr>Linting &amp; Formatting</vt:lpstr>
      <vt:lpstr>Testing with pytest</vt:lpstr>
      <vt:lpstr>Type Hints – Gradual Typing</vt:lpstr>
      <vt:lpstr>Rich REPL with ipython + jupyter</vt:lpstr>
      <vt:lpstr>Final Capstone Ideas</vt:lpstr>
      <vt:lpstr>Keep Climbing</vt:lpstr>
      <vt:lpstr>Appendix  Tooling &amp; Eco-system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10</cp:revision>
  <dcterms:created xsi:type="dcterms:W3CDTF">2013-01-27T09:14:16Z</dcterms:created>
  <dcterms:modified xsi:type="dcterms:W3CDTF">2025-12-16T12:37:23Z</dcterms:modified>
  <cp:category/>
</cp:coreProperties>
</file>