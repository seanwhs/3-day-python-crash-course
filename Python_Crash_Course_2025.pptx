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3"/>
  </p:notesMasterIdLst>
  <p:sldIdLst>
    <p:sldId id="424" r:id="rId2"/>
    <p:sldId id="425" r:id="rId3"/>
    <p:sldId id="426" r:id="rId4"/>
    <p:sldId id="257" r:id="rId5"/>
    <p:sldId id="427" r:id="rId6"/>
    <p:sldId id="428" r:id="rId7"/>
    <p:sldId id="258" r:id="rId8"/>
    <p:sldId id="429" r:id="rId9"/>
    <p:sldId id="430" r:id="rId10"/>
    <p:sldId id="259" r:id="rId11"/>
    <p:sldId id="307" r:id="rId12"/>
    <p:sldId id="260" r:id="rId13"/>
    <p:sldId id="309" r:id="rId14"/>
    <p:sldId id="431" r:id="rId15"/>
    <p:sldId id="321" r:id="rId16"/>
    <p:sldId id="322" r:id="rId17"/>
    <p:sldId id="310" r:id="rId18"/>
    <p:sldId id="267" r:id="rId19"/>
    <p:sldId id="311" r:id="rId20"/>
    <p:sldId id="432" r:id="rId21"/>
    <p:sldId id="312" r:id="rId22"/>
    <p:sldId id="456" r:id="rId23"/>
    <p:sldId id="457" r:id="rId24"/>
    <p:sldId id="458" r:id="rId25"/>
    <p:sldId id="459" r:id="rId26"/>
    <p:sldId id="460" r:id="rId27"/>
    <p:sldId id="461" r:id="rId28"/>
    <p:sldId id="462" r:id="rId29"/>
    <p:sldId id="463" r:id="rId30"/>
    <p:sldId id="464" r:id="rId31"/>
    <p:sldId id="465" r:id="rId32"/>
    <p:sldId id="466" r:id="rId33"/>
    <p:sldId id="467" r:id="rId34"/>
    <p:sldId id="468" r:id="rId35"/>
    <p:sldId id="469" r:id="rId36"/>
    <p:sldId id="470" r:id="rId37"/>
    <p:sldId id="471" r:id="rId38"/>
    <p:sldId id="472" r:id="rId39"/>
    <p:sldId id="473" r:id="rId40"/>
    <p:sldId id="474" r:id="rId41"/>
    <p:sldId id="262" r:id="rId42"/>
    <p:sldId id="378" r:id="rId43"/>
    <p:sldId id="379" r:id="rId44"/>
    <p:sldId id="270" r:id="rId45"/>
    <p:sldId id="380" r:id="rId46"/>
    <p:sldId id="381" r:id="rId47"/>
    <p:sldId id="382" r:id="rId48"/>
    <p:sldId id="383" r:id="rId49"/>
    <p:sldId id="384" r:id="rId50"/>
    <p:sldId id="385" r:id="rId51"/>
    <p:sldId id="386" r:id="rId52"/>
    <p:sldId id="387" r:id="rId53"/>
    <p:sldId id="388" r:id="rId54"/>
    <p:sldId id="389" r:id="rId55"/>
    <p:sldId id="390" r:id="rId56"/>
    <p:sldId id="392" r:id="rId57"/>
    <p:sldId id="391" r:id="rId58"/>
    <p:sldId id="393" r:id="rId59"/>
    <p:sldId id="263" r:id="rId60"/>
    <p:sldId id="394" r:id="rId61"/>
    <p:sldId id="395" r:id="rId62"/>
    <p:sldId id="396" r:id="rId63"/>
    <p:sldId id="397" r:id="rId64"/>
    <p:sldId id="433" r:id="rId65"/>
    <p:sldId id="398" r:id="rId66"/>
    <p:sldId id="399" r:id="rId67"/>
    <p:sldId id="400" r:id="rId68"/>
    <p:sldId id="401" r:id="rId69"/>
    <p:sldId id="402" r:id="rId70"/>
    <p:sldId id="403" r:id="rId71"/>
    <p:sldId id="404" r:id="rId72"/>
    <p:sldId id="405" r:id="rId73"/>
    <p:sldId id="407" r:id="rId74"/>
    <p:sldId id="408" r:id="rId75"/>
    <p:sldId id="409" r:id="rId76"/>
    <p:sldId id="406" r:id="rId77"/>
    <p:sldId id="264" r:id="rId78"/>
    <p:sldId id="410" r:id="rId79"/>
    <p:sldId id="411" r:id="rId80"/>
    <p:sldId id="412" r:id="rId81"/>
    <p:sldId id="413" r:id="rId82"/>
    <p:sldId id="434" r:id="rId83"/>
    <p:sldId id="415" r:id="rId84"/>
    <p:sldId id="416" r:id="rId85"/>
    <p:sldId id="417" r:id="rId86"/>
    <p:sldId id="418" r:id="rId87"/>
    <p:sldId id="419" r:id="rId88"/>
    <p:sldId id="420" r:id="rId89"/>
    <p:sldId id="421" r:id="rId90"/>
    <p:sldId id="422" r:id="rId91"/>
    <p:sldId id="423" r:id="rId92"/>
    <p:sldId id="265" r:id="rId93"/>
    <p:sldId id="313" r:id="rId94"/>
    <p:sldId id="314" r:id="rId95"/>
    <p:sldId id="315" r:id="rId96"/>
    <p:sldId id="316" r:id="rId97"/>
    <p:sldId id="317" r:id="rId98"/>
    <p:sldId id="318" r:id="rId99"/>
    <p:sldId id="319" r:id="rId100"/>
    <p:sldId id="320" r:id="rId101"/>
    <p:sldId id="323" r:id="rId102"/>
    <p:sldId id="324" r:id="rId103"/>
    <p:sldId id="325" r:id="rId104"/>
    <p:sldId id="326" r:id="rId105"/>
    <p:sldId id="435" r:id="rId106"/>
    <p:sldId id="328" r:id="rId107"/>
    <p:sldId id="329" r:id="rId108"/>
    <p:sldId id="330" r:id="rId109"/>
    <p:sldId id="331" r:id="rId110"/>
    <p:sldId id="332" r:id="rId111"/>
    <p:sldId id="333" r:id="rId112"/>
    <p:sldId id="475" r:id="rId113"/>
    <p:sldId id="476" r:id="rId114"/>
    <p:sldId id="477" r:id="rId115"/>
    <p:sldId id="478" r:id="rId116"/>
    <p:sldId id="479" r:id="rId117"/>
    <p:sldId id="480" r:id="rId118"/>
    <p:sldId id="481" r:id="rId119"/>
    <p:sldId id="482" r:id="rId120"/>
    <p:sldId id="483" r:id="rId121"/>
    <p:sldId id="484" r:id="rId122"/>
    <p:sldId id="485" r:id="rId123"/>
    <p:sldId id="486" r:id="rId124"/>
    <p:sldId id="487" r:id="rId125"/>
    <p:sldId id="488" r:id="rId126"/>
    <p:sldId id="489" r:id="rId127"/>
    <p:sldId id="490" r:id="rId128"/>
    <p:sldId id="491" r:id="rId129"/>
    <p:sldId id="492" r:id="rId130"/>
    <p:sldId id="266" r:id="rId131"/>
    <p:sldId id="344" r:id="rId132"/>
    <p:sldId id="345" r:id="rId133"/>
    <p:sldId id="346" r:id="rId134"/>
    <p:sldId id="347" r:id="rId135"/>
    <p:sldId id="348" r:id="rId136"/>
    <p:sldId id="349" r:id="rId137"/>
    <p:sldId id="350" r:id="rId138"/>
    <p:sldId id="351" r:id="rId139"/>
    <p:sldId id="352" r:id="rId140"/>
    <p:sldId id="436" r:id="rId141"/>
    <p:sldId id="334" r:id="rId142"/>
    <p:sldId id="335" r:id="rId143"/>
    <p:sldId id="336" r:id="rId144"/>
    <p:sldId id="337" r:id="rId145"/>
    <p:sldId id="338" r:id="rId146"/>
    <p:sldId id="339" r:id="rId147"/>
    <p:sldId id="340" r:id="rId148"/>
    <p:sldId id="341" r:id="rId149"/>
    <p:sldId id="342" r:id="rId150"/>
    <p:sldId id="343" r:id="rId151"/>
    <p:sldId id="268" r:id="rId152"/>
    <p:sldId id="353" r:id="rId153"/>
    <p:sldId id="354" r:id="rId154"/>
    <p:sldId id="269" r:id="rId155"/>
    <p:sldId id="355" r:id="rId156"/>
    <p:sldId id="356" r:id="rId157"/>
    <p:sldId id="357" r:id="rId158"/>
    <p:sldId id="358" r:id="rId159"/>
    <p:sldId id="359" r:id="rId160"/>
    <p:sldId id="360" r:id="rId161"/>
    <p:sldId id="362" r:id="rId162"/>
    <p:sldId id="361" r:id="rId163"/>
    <p:sldId id="363" r:id="rId164"/>
    <p:sldId id="364" r:id="rId165"/>
    <p:sldId id="365" r:id="rId166"/>
    <p:sldId id="370" r:id="rId167"/>
    <p:sldId id="371" r:id="rId168"/>
    <p:sldId id="372" r:id="rId169"/>
    <p:sldId id="373" r:id="rId170"/>
    <p:sldId id="374" r:id="rId171"/>
    <p:sldId id="375" r:id="rId172"/>
    <p:sldId id="376" r:id="rId173"/>
    <p:sldId id="366" r:id="rId174"/>
    <p:sldId id="367" r:id="rId175"/>
    <p:sldId id="368" r:id="rId176"/>
    <p:sldId id="369" r:id="rId177"/>
    <p:sldId id="271" r:id="rId178"/>
    <p:sldId id="272" r:id="rId179"/>
    <p:sldId id="273" r:id="rId180"/>
    <p:sldId id="274" r:id="rId181"/>
    <p:sldId id="275" r:id="rId182"/>
    <p:sldId id="437" r:id="rId183"/>
    <p:sldId id="438" r:id="rId184"/>
    <p:sldId id="439" r:id="rId185"/>
    <p:sldId id="276" r:id="rId186"/>
    <p:sldId id="440" r:id="rId187"/>
    <p:sldId id="277" r:id="rId188"/>
    <p:sldId id="441" r:id="rId189"/>
    <p:sldId id="278" r:id="rId190"/>
    <p:sldId id="279" r:id="rId191"/>
    <p:sldId id="442" r:id="rId192"/>
    <p:sldId id="280" r:id="rId193"/>
    <p:sldId id="443" r:id="rId194"/>
    <p:sldId id="281" r:id="rId195"/>
    <p:sldId id="282" r:id="rId196"/>
    <p:sldId id="444" r:id="rId197"/>
    <p:sldId id="283" r:id="rId198"/>
    <p:sldId id="445" r:id="rId199"/>
    <p:sldId id="284" r:id="rId200"/>
    <p:sldId id="285" r:id="rId201"/>
    <p:sldId id="286" r:id="rId202"/>
    <p:sldId id="287" r:id="rId203"/>
    <p:sldId id="446" r:id="rId204"/>
    <p:sldId id="447" r:id="rId205"/>
    <p:sldId id="288" r:id="rId206"/>
    <p:sldId id="289" r:id="rId207"/>
    <p:sldId id="290" r:id="rId208"/>
    <p:sldId id="448" r:id="rId209"/>
    <p:sldId id="291" r:id="rId210"/>
    <p:sldId id="292" r:id="rId211"/>
    <p:sldId id="449" r:id="rId212"/>
    <p:sldId id="294" r:id="rId213"/>
    <p:sldId id="295" r:id="rId214"/>
    <p:sldId id="451" r:id="rId215"/>
    <p:sldId id="296" r:id="rId216"/>
    <p:sldId id="297" r:id="rId217"/>
    <p:sldId id="450" r:id="rId218"/>
    <p:sldId id="298" r:id="rId219"/>
    <p:sldId id="299" r:id="rId220"/>
    <p:sldId id="293" r:id="rId221"/>
    <p:sldId id="300" r:id="rId222"/>
    <p:sldId id="301" r:id="rId223"/>
    <p:sldId id="302" r:id="rId224"/>
    <p:sldId id="303" r:id="rId225"/>
    <p:sldId id="304" r:id="rId226"/>
    <p:sldId id="305" r:id="rId227"/>
    <p:sldId id="306" r:id="rId228"/>
    <p:sldId id="452" r:id="rId229"/>
    <p:sldId id="453" r:id="rId230"/>
    <p:sldId id="454" r:id="rId231"/>
    <p:sldId id="455" r:id="rId23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theme" Target="theme/theme1.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notesMaster" Target="notesMasters/notes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viewProps" Target="viewProp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17/12/2025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10</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110</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111</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E50B-7E5A-D15B-B59A-E94E31D28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E1BD-7349-8537-4DD7-8802A35BF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485DAB-303C-A164-3AFE-9CE37EE9A8C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62F506D-1A6A-5EA4-BD36-FC588DE2C457}"/>
              </a:ext>
            </a:extLst>
          </p:cNvPr>
          <p:cNvSpPr>
            <a:spLocks noGrp="1"/>
          </p:cNvSpPr>
          <p:nvPr>
            <p:ph type="sldNum" sz="quarter" idx="5"/>
          </p:nvPr>
        </p:nvSpPr>
        <p:spPr/>
        <p:txBody>
          <a:bodyPr/>
          <a:lstStyle/>
          <a:p>
            <a:fld id="{4F57C094-21CE-47C2-B85E-15CC2B32E4F0}" type="slidenum">
              <a:rPr lang="en-SG" smtClean="0"/>
              <a:t>113</a:t>
            </a:fld>
            <a:endParaRPr lang="en-SG"/>
          </a:p>
        </p:txBody>
      </p:sp>
    </p:spTree>
    <p:extLst>
      <p:ext uri="{BB962C8B-B14F-4D97-AF65-F5344CB8AC3E}">
        <p14:creationId xmlns:p14="http://schemas.microsoft.com/office/powerpoint/2010/main" val="2830843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ECBB-AEEF-E7DD-183B-FC74619EA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2385D-8E77-32FB-F45B-0310DD65E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C6DCA-11CA-E1A0-23E8-612AD78F6F8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86F0090-3024-495D-A2F9-E1F299B79FE7}"/>
              </a:ext>
            </a:extLst>
          </p:cNvPr>
          <p:cNvSpPr>
            <a:spLocks noGrp="1"/>
          </p:cNvSpPr>
          <p:nvPr>
            <p:ph type="sldNum" sz="quarter" idx="5"/>
          </p:nvPr>
        </p:nvSpPr>
        <p:spPr/>
        <p:txBody>
          <a:bodyPr/>
          <a:lstStyle/>
          <a:p>
            <a:fld id="{4F57C094-21CE-47C2-B85E-15CC2B32E4F0}" type="slidenum">
              <a:rPr lang="en-SG" smtClean="0"/>
              <a:t>114</a:t>
            </a:fld>
            <a:endParaRPr lang="en-SG"/>
          </a:p>
        </p:txBody>
      </p:sp>
    </p:spTree>
    <p:extLst>
      <p:ext uri="{BB962C8B-B14F-4D97-AF65-F5344CB8AC3E}">
        <p14:creationId xmlns:p14="http://schemas.microsoft.com/office/powerpoint/2010/main" val="2485414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62D5E-F4D1-8D0E-8E9D-071892431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ABAC4-A52F-DCE4-23F0-36C92C1E0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7EE85-B256-45BD-7796-3055F6FA36E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0A62A8F-6A45-5B57-8150-9F1C8DDB0153}"/>
              </a:ext>
            </a:extLst>
          </p:cNvPr>
          <p:cNvSpPr>
            <a:spLocks noGrp="1"/>
          </p:cNvSpPr>
          <p:nvPr>
            <p:ph type="sldNum" sz="quarter" idx="5"/>
          </p:nvPr>
        </p:nvSpPr>
        <p:spPr/>
        <p:txBody>
          <a:bodyPr/>
          <a:lstStyle/>
          <a:p>
            <a:fld id="{4F57C094-21CE-47C2-B85E-15CC2B32E4F0}" type="slidenum">
              <a:rPr lang="en-SG" smtClean="0"/>
              <a:t>115</a:t>
            </a:fld>
            <a:endParaRPr lang="en-SG"/>
          </a:p>
        </p:txBody>
      </p:sp>
    </p:spTree>
    <p:extLst>
      <p:ext uri="{BB962C8B-B14F-4D97-AF65-F5344CB8AC3E}">
        <p14:creationId xmlns:p14="http://schemas.microsoft.com/office/powerpoint/2010/main" val="173311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AFD15-381B-80D9-C9AF-8C6DA1342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52A6E-EF27-60EB-1521-3954D0EDD8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83BCD-BD33-937F-1D49-E339A8B94F4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D812A42-FB51-BCFB-BC8C-AFDD06CF2812}"/>
              </a:ext>
            </a:extLst>
          </p:cNvPr>
          <p:cNvSpPr>
            <a:spLocks noGrp="1"/>
          </p:cNvSpPr>
          <p:nvPr>
            <p:ph type="sldNum" sz="quarter" idx="5"/>
          </p:nvPr>
        </p:nvSpPr>
        <p:spPr/>
        <p:txBody>
          <a:bodyPr/>
          <a:lstStyle/>
          <a:p>
            <a:fld id="{4F57C094-21CE-47C2-B85E-15CC2B32E4F0}" type="slidenum">
              <a:rPr lang="en-SG" smtClean="0"/>
              <a:t>116</a:t>
            </a:fld>
            <a:endParaRPr lang="en-SG"/>
          </a:p>
        </p:txBody>
      </p:sp>
    </p:spTree>
    <p:extLst>
      <p:ext uri="{BB962C8B-B14F-4D97-AF65-F5344CB8AC3E}">
        <p14:creationId xmlns:p14="http://schemas.microsoft.com/office/powerpoint/2010/main" val="41405158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2D8BD-A46A-90A4-AA7A-4F4A904D55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53A85-76D0-7312-A5D0-F9FC74B6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09948-7E28-2EEE-2C8A-F6974352BFD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4DD62D-5218-92AD-417D-5C753D5813C0}"/>
              </a:ext>
            </a:extLst>
          </p:cNvPr>
          <p:cNvSpPr>
            <a:spLocks noGrp="1"/>
          </p:cNvSpPr>
          <p:nvPr>
            <p:ph type="sldNum" sz="quarter" idx="5"/>
          </p:nvPr>
        </p:nvSpPr>
        <p:spPr/>
        <p:txBody>
          <a:bodyPr/>
          <a:lstStyle/>
          <a:p>
            <a:fld id="{4F57C094-21CE-47C2-B85E-15CC2B32E4F0}" type="slidenum">
              <a:rPr lang="en-SG" smtClean="0"/>
              <a:t>117</a:t>
            </a:fld>
            <a:endParaRPr lang="en-SG"/>
          </a:p>
        </p:txBody>
      </p:sp>
    </p:spTree>
    <p:extLst>
      <p:ext uri="{BB962C8B-B14F-4D97-AF65-F5344CB8AC3E}">
        <p14:creationId xmlns:p14="http://schemas.microsoft.com/office/powerpoint/2010/main" val="2644155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CE43E-4985-4E3A-333F-39CB8E1BA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BFC4E4-513A-E5BB-8CFA-0EE6B6B92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E9F54-56E3-EC8F-6266-78E58BD88B9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4A2EEA2-103D-5DAB-D18F-84AF83FB77E1}"/>
              </a:ext>
            </a:extLst>
          </p:cNvPr>
          <p:cNvSpPr>
            <a:spLocks noGrp="1"/>
          </p:cNvSpPr>
          <p:nvPr>
            <p:ph type="sldNum" sz="quarter" idx="5"/>
          </p:nvPr>
        </p:nvSpPr>
        <p:spPr/>
        <p:txBody>
          <a:bodyPr/>
          <a:lstStyle/>
          <a:p>
            <a:fld id="{4F57C094-21CE-47C2-B85E-15CC2B32E4F0}" type="slidenum">
              <a:rPr lang="en-SG" smtClean="0"/>
              <a:t>118</a:t>
            </a:fld>
            <a:endParaRPr lang="en-SG"/>
          </a:p>
        </p:txBody>
      </p:sp>
    </p:spTree>
    <p:extLst>
      <p:ext uri="{BB962C8B-B14F-4D97-AF65-F5344CB8AC3E}">
        <p14:creationId xmlns:p14="http://schemas.microsoft.com/office/powerpoint/2010/main" val="3235963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426A3-BAD0-4003-8EF8-A23FB827D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92D99-F63E-177A-D63F-0D4CFAFDD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539C18-3262-4406-F9E1-F4897D8173C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3577C11-B98E-1A1B-A428-EE567A203A6B}"/>
              </a:ext>
            </a:extLst>
          </p:cNvPr>
          <p:cNvSpPr>
            <a:spLocks noGrp="1"/>
          </p:cNvSpPr>
          <p:nvPr>
            <p:ph type="sldNum" sz="quarter" idx="5"/>
          </p:nvPr>
        </p:nvSpPr>
        <p:spPr/>
        <p:txBody>
          <a:bodyPr/>
          <a:lstStyle/>
          <a:p>
            <a:fld id="{4F57C094-21CE-47C2-B85E-15CC2B32E4F0}" type="slidenum">
              <a:rPr lang="en-SG" smtClean="0"/>
              <a:t>119</a:t>
            </a:fld>
            <a:endParaRPr lang="en-SG"/>
          </a:p>
        </p:txBody>
      </p:sp>
    </p:spTree>
    <p:extLst>
      <p:ext uri="{BB962C8B-B14F-4D97-AF65-F5344CB8AC3E}">
        <p14:creationId xmlns:p14="http://schemas.microsoft.com/office/powerpoint/2010/main" val="3301808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5AF3-9142-3F7D-3418-3C991BAF2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9FA16-1540-C504-43FF-B72F36659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2C4D-3EFA-5424-EFF0-F2000623C7A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F9D6527-1B11-B518-8432-2D340E295550}"/>
              </a:ext>
            </a:extLst>
          </p:cNvPr>
          <p:cNvSpPr>
            <a:spLocks noGrp="1"/>
          </p:cNvSpPr>
          <p:nvPr>
            <p:ph type="sldNum" sz="quarter" idx="5"/>
          </p:nvPr>
        </p:nvSpPr>
        <p:spPr/>
        <p:txBody>
          <a:bodyPr/>
          <a:lstStyle/>
          <a:p>
            <a:fld id="{4F57C094-21CE-47C2-B85E-15CC2B32E4F0}" type="slidenum">
              <a:rPr lang="en-SG" smtClean="0"/>
              <a:t>120</a:t>
            </a:fld>
            <a:endParaRPr lang="en-SG"/>
          </a:p>
        </p:txBody>
      </p:sp>
    </p:spTree>
    <p:extLst>
      <p:ext uri="{BB962C8B-B14F-4D97-AF65-F5344CB8AC3E}">
        <p14:creationId xmlns:p14="http://schemas.microsoft.com/office/powerpoint/2010/main" val="4784775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42853-7923-C338-DEC2-1ECC25EE2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DEB496-2093-EDD8-FE8F-60A204C0C0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69314-C697-3DDF-B64B-2D99FB0E2F34}"/>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4F9BE31-BD2C-8E3B-DAC7-E8DA1527BD47}"/>
              </a:ext>
            </a:extLst>
          </p:cNvPr>
          <p:cNvSpPr>
            <a:spLocks noGrp="1"/>
          </p:cNvSpPr>
          <p:nvPr>
            <p:ph type="sldNum" sz="quarter" idx="5"/>
          </p:nvPr>
        </p:nvSpPr>
        <p:spPr/>
        <p:txBody>
          <a:bodyPr/>
          <a:lstStyle/>
          <a:p>
            <a:fld id="{4F57C094-21CE-47C2-B85E-15CC2B32E4F0}" type="slidenum">
              <a:rPr lang="en-SG" smtClean="0"/>
              <a:t>121</a:t>
            </a:fld>
            <a:endParaRPr lang="en-SG"/>
          </a:p>
        </p:txBody>
      </p:sp>
    </p:spTree>
    <p:extLst>
      <p:ext uri="{BB962C8B-B14F-4D97-AF65-F5344CB8AC3E}">
        <p14:creationId xmlns:p14="http://schemas.microsoft.com/office/powerpoint/2010/main" val="2314329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4984-723A-8463-9262-FA3B75B1E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F9968-7331-39AF-7B52-2E6A10BCB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B1876-4273-4F09-C719-97FE65E17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1296972-6713-6A27-B3A7-FB4B35F03C30}"/>
              </a:ext>
            </a:extLst>
          </p:cNvPr>
          <p:cNvSpPr>
            <a:spLocks noGrp="1"/>
          </p:cNvSpPr>
          <p:nvPr>
            <p:ph type="sldNum" sz="quarter" idx="5"/>
          </p:nvPr>
        </p:nvSpPr>
        <p:spPr/>
        <p:txBody>
          <a:bodyPr/>
          <a:lstStyle/>
          <a:p>
            <a:fld id="{4F57C094-21CE-47C2-B85E-15CC2B32E4F0}" type="slidenum">
              <a:rPr lang="en-SG" smtClean="0"/>
              <a:t>123</a:t>
            </a:fld>
            <a:endParaRPr lang="en-SG"/>
          </a:p>
        </p:txBody>
      </p:sp>
    </p:spTree>
    <p:extLst>
      <p:ext uri="{BB962C8B-B14F-4D97-AF65-F5344CB8AC3E}">
        <p14:creationId xmlns:p14="http://schemas.microsoft.com/office/powerpoint/2010/main" val="23690416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132</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133</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134</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135</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136</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141</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143</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144</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145</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157</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158</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159</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160</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162</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163</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164</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165</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167</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168</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169</a:t>
            </a:fld>
            <a:endParaRPr lang="en-SG"/>
          </a:p>
        </p:txBody>
      </p:sp>
    </p:spTree>
    <p:extLst>
      <p:ext uri="{BB962C8B-B14F-4D97-AF65-F5344CB8AC3E}">
        <p14:creationId xmlns:p14="http://schemas.microsoft.com/office/powerpoint/2010/main" val="30395599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Python Crash Course 2025</a:t>
            </a:r>
          </a:p>
        </p:txBody>
      </p:sp>
      <p:sp>
        <p:nvSpPr>
          <p:cNvPr id="3" name="Subtitle 2"/>
          <p:cNvSpPr>
            <a:spLocks noGrp="1"/>
          </p:cNvSpPr>
          <p:nvPr>
            <p:ph type="subTitle" idx="1"/>
          </p:nvPr>
        </p:nvSpPr>
        <p:spPr>
          <a:xfrm>
            <a:off x="1371600" y="4902200"/>
            <a:ext cx="6400800" cy="736600"/>
          </a:xfrm>
        </p:spPr>
        <p:txBody>
          <a:bodyPr/>
          <a:lstStyle/>
          <a:p>
            <a:r>
              <a:rPr dirty="0"/>
              <a:t>Instructor: Sean Wong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Overview</a:t>
            </a:r>
          </a:p>
        </p:txBody>
      </p:sp>
      <p:sp>
        <p:nvSpPr>
          <p:cNvPr id="3" name="Content Placeholder 2"/>
          <p:cNvSpPr>
            <a:spLocks noGrp="1"/>
          </p:cNvSpPr>
          <p:nvPr>
            <p:ph idx="1"/>
          </p:nvPr>
        </p:nvSpPr>
        <p:spPr/>
        <p:txBody>
          <a:bodyPr/>
          <a:lstStyle/>
          <a:p>
            <a:r>
              <a:t>Hands-on, example-driven Python training</a:t>
            </a:r>
          </a:p>
          <a:p>
            <a:r>
              <a:t>Focus on real mental models, not just syntax</a:t>
            </a:r>
          </a:p>
          <a:p>
            <a:r>
              <a:t>Build confidence from beginner to advanced topics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Roadmap</a:t>
            </a:r>
          </a:p>
        </p:txBody>
      </p:sp>
      <p:sp>
        <p:nvSpPr>
          <p:cNvPr id="3" name="Content Placeholder 2"/>
          <p:cNvSpPr>
            <a:spLocks noGrp="1"/>
          </p:cNvSpPr>
          <p:nvPr>
            <p:ph idx="1"/>
          </p:nvPr>
        </p:nvSpPr>
        <p:spPr/>
        <p:txBody>
          <a:bodyPr/>
          <a:lstStyle/>
          <a:p>
            <a:r>
              <a:t>Module 1 – Foundations: Core language &amp; thinking in Python</a:t>
            </a:r>
          </a:p>
          <a:p>
            <a:r>
              <a:t>Module 2 – Intermediate: OOP, modules, files, structure</a:t>
            </a:r>
          </a:p>
          <a:p>
            <a:r>
              <a:t>Module 3 – Advanced: Performance, async, tooling</a:t>
            </a:r>
          </a:p>
          <a:p>
            <a:r>
              <a:t>Appendix – Ecosystem &amp; next steps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Module 1  FOUNDATION</a:t>
            </a:r>
            <a:r>
              <a:rPr lang="en-SG" dirty="0"/>
              <a:t>S</a:t>
            </a:r>
            <a:endParaRPr dirty="0"/>
          </a:p>
        </p:txBody>
      </p:sp>
      <p:sp>
        <p:nvSpPr>
          <p:cNvPr id="3" name="Subtitle 2"/>
          <p:cNvSpPr>
            <a:spLocks noGrp="1"/>
          </p:cNvSpPr>
          <p:nvPr>
            <p:ph type="subTitle" idx="1"/>
          </p:nvPr>
        </p:nvSpPr>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1 — Foundations</a:t>
            </a:r>
          </a:p>
        </p:txBody>
      </p:sp>
      <p:sp>
        <p:nvSpPr>
          <p:cNvPr id="3" name="Content Placeholder 2"/>
          <p:cNvSpPr>
            <a:spLocks noGrp="1"/>
          </p:cNvSpPr>
          <p:nvPr>
            <p:ph idx="1"/>
          </p:nvPr>
        </p:nvSpPr>
        <p:spPr/>
        <p:txBody>
          <a:bodyPr/>
          <a:lstStyle/>
          <a:p>
            <a:r>
              <a:t>Understand how Python executes code</a:t>
            </a:r>
          </a:p>
          <a:p>
            <a:r>
              <a:t>Learn core syntax and built-in types</a:t>
            </a:r>
          </a:p>
          <a:p>
            <a:r>
              <a:t>Build correct mental models early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Python?</a:t>
            </a:r>
          </a:p>
        </p:txBody>
      </p:sp>
      <p:sp>
        <p:nvSpPr>
          <p:cNvPr id="3" name="Content Placeholder 2"/>
          <p:cNvSpPr>
            <a:spLocks noGrp="1"/>
          </p:cNvSpPr>
          <p:nvPr>
            <p:ph idx="1"/>
          </p:nvPr>
        </p:nvSpPr>
        <p:spPr/>
        <p:txBody>
          <a:bodyPr/>
          <a:lstStyle/>
          <a:p>
            <a:r>
              <a:t>High-level, interpreted programming language</a:t>
            </a:r>
          </a:p>
          <a:p>
            <a:r>
              <a:t>Executed at runtime by the Python interpreter</a:t>
            </a:r>
          </a:p>
          <a:p>
            <a:r>
              <a:t>Designed for readability and productivity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r>
              <a:rPr lang="en-US" sz="2400" dirty="0"/>
              <a:t>Clean, indentation-based syntax</a:t>
            </a:r>
          </a:p>
          <a:p>
            <a:r>
              <a:rPr lang="en-US" sz="2400" dirty="0"/>
              <a:t>Huge standard library ("batteries included")</a:t>
            </a:r>
          </a:p>
          <a:p>
            <a:r>
              <a:rPr lang="en-US" sz="2400" dirty="0"/>
              <a:t>Massive ecosystem and community</a:t>
            </a:r>
          </a:p>
          <a:p>
            <a:r>
              <a:rPr lang="en-US" sz="2400" dirty="0"/>
              <a:t>Used in web, data, automation, AI, DevOps</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Running Python</a:t>
            </a:r>
          </a:p>
        </p:txBody>
      </p:sp>
      <p:sp>
        <p:nvSpPr>
          <p:cNvPr id="3" name="Content Placeholder 2"/>
          <p:cNvSpPr>
            <a:spLocks noGrp="1"/>
          </p:cNvSpPr>
          <p:nvPr>
            <p:ph idx="1"/>
          </p:nvPr>
        </p:nvSpPr>
        <p:spPr/>
        <p:txBody>
          <a:bodyPr/>
          <a:lstStyle/>
          <a:p>
            <a:r>
              <a:t>Interactive mode (REPL) for experimentation</a:t>
            </a:r>
          </a:p>
          <a:p>
            <a:r>
              <a:t>Script mode for real programs</a:t>
            </a:r>
          </a:p>
          <a:p>
            <a:r>
              <a:t>Python files use the .py extension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Your First Program</a:t>
            </a:r>
          </a:p>
        </p:txBody>
      </p:sp>
      <p:sp>
        <p:nvSpPr>
          <p:cNvPr id="3" name="Content Placeholder 2"/>
          <p:cNvSpPr>
            <a:spLocks noGrp="1"/>
          </p:cNvSpPr>
          <p:nvPr>
            <p:ph idx="1"/>
          </p:nvPr>
        </p:nvSpPr>
        <p:spPr/>
        <p:txBody>
          <a:bodyPr/>
          <a:lstStyle/>
          <a:p>
            <a:r>
              <a:t>print() outputs text to the console</a:t>
            </a:r>
          </a:p>
          <a:p>
            <a:r>
              <a:t>Python is case-sensitive</a:t>
            </a:r>
          </a:p>
          <a:p>
            <a:r>
              <a:t>Programs execute top to bottom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2116886"/>
            <a:ext cx="4965700" cy="2419124"/>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800" dirty="0"/>
              <a:t>No type declarations required</a:t>
            </a:r>
          </a:p>
          <a:p>
            <a:r>
              <a:rPr lang="en-US" sz="2800" dirty="0"/>
              <a:t>Variables bind names to objects</a:t>
            </a:r>
          </a:p>
          <a:p>
            <a:r>
              <a:rPr lang="en-US" sz="2800" dirty="0"/>
              <a:t>Type belongs to the object, not the variable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89390"/>
            <a:ext cx="5524500" cy="1717393"/>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Variables point to objects in memory</a:t>
            </a:r>
          </a:p>
          <a:p>
            <a:r>
              <a:rPr lang="en-US" sz="2400" dirty="0"/>
              <a:t>Multiple names can reference the same object</a:t>
            </a:r>
          </a:p>
          <a:p>
            <a:r>
              <a:rPr lang="en-US" sz="2400" dirty="0"/>
              <a:t>Assignment does not copy objects</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207126"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308100" y="4040016"/>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Tree>
    <p:extLst>
      <p:ext uri="{BB962C8B-B14F-4D97-AF65-F5344CB8AC3E}">
        <p14:creationId xmlns:p14="http://schemas.microsoft.com/office/powerpoint/2010/main" val="12834070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Mutation vs Reassignment</a:t>
            </a:r>
          </a:p>
        </p:txBody>
      </p:sp>
      <p:sp>
        <p:nvSpPr>
          <p:cNvPr id="3" name="Content Placeholder 2"/>
          <p:cNvSpPr>
            <a:spLocks noGrp="1"/>
          </p:cNvSpPr>
          <p:nvPr>
            <p:ph idx="1"/>
          </p:nvPr>
        </p:nvSpPr>
        <p:spPr/>
        <p:txBody>
          <a:bodyPr/>
          <a:lstStyle/>
          <a:p>
            <a:r>
              <a:t>Mutation changes the object itself</a:t>
            </a:r>
          </a:p>
          <a:p>
            <a:r>
              <a:t>Reassignment changes the reference</a:t>
            </a:r>
          </a:p>
          <a:p>
            <a:r>
              <a:t>Critical distinction for lists and dicts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dirty="0"/>
              <a:t>Contrast with Reassignment</a:t>
            </a:r>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48006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58420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1" y="2739798"/>
            <a:ext cx="8458199"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Python is </a:t>
            </a:r>
            <a:r>
              <a:rPr kumimoji="0" lang="en-US" altLang="en-US" sz="2800" b="1" i="0" u="none" strike="noStrike" cap="none" normalizeH="0" baseline="0" dirty="0">
                <a:ln>
                  <a:noFill/>
                </a:ln>
                <a:solidFill>
                  <a:schemeClr val="tx1"/>
                </a:solidFill>
                <a:effectLst/>
                <a:latin typeface="Arial" panose="020B0604020202020204" pitchFamily="34" charset="0"/>
              </a:rPr>
              <a:t>dynamically typed</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The </a:t>
            </a:r>
            <a:r>
              <a:rPr kumimoji="0" lang="en-US" altLang="en-US" sz="2800" b="1" i="0" u="none" strike="noStrike" cap="none" normalizeH="0" baseline="0" dirty="0">
                <a:ln>
                  <a:noFill/>
                </a:ln>
                <a:solidFill>
                  <a:schemeClr val="tx1"/>
                </a:solidFill>
                <a:effectLst/>
                <a:latin typeface="Arial" panose="020B0604020202020204" pitchFamily="34" charset="0"/>
              </a:rPr>
              <a:t>type belongs to the object</a:t>
            </a:r>
            <a:r>
              <a:rPr kumimoji="0" lang="en-US" altLang="en-US" sz="2800" b="0" i="0" u="none" strike="noStrike" cap="none" normalizeH="0" baseline="0" dirty="0">
                <a:ln>
                  <a:noFill/>
                </a:ln>
                <a:solidFill>
                  <a:schemeClr val="tx1"/>
                </a:solidFill>
                <a:effectLst/>
                <a:latin typeface="Arial" panose="020B0604020202020204" pitchFamily="34" charset="0"/>
              </a:rPr>
              <a:t>, not the variable</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 variable can reference different types over time</a:t>
            </a:r>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779000" y="2955241"/>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Tree>
    <p:extLst>
      <p:ext uri="{BB962C8B-B14F-4D97-AF65-F5344CB8AC3E}">
        <p14:creationId xmlns:p14="http://schemas.microsoft.com/office/powerpoint/2010/main" val="601899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Mutable vs Immutable Types</a:t>
            </a:r>
          </a:p>
        </p:txBody>
      </p:sp>
      <p:sp>
        <p:nvSpPr>
          <p:cNvPr id="3" name="Content Placeholder 2"/>
          <p:cNvSpPr>
            <a:spLocks noGrp="1"/>
          </p:cNvSpPr>
          <p:nvPr>
            <p:ph idx="1"/>
          </p:nvPr>
        </p:nvSpPr>
        <p:spPr/>
        <p:txBody>
          <a:bodyPr/>
          <a:lstStyle/>
          <a:p>
            <a:r>
              <a:t>Immutable: int, float, str, tuple</a:t>
            </a:r>
          </a:p>
          <a:p>
            <a:r>
              <a:t>Mutable: list, dict, set</a:t>
            </a:r>
          </a:p>
          <a:p>
            <a:r>
              <a:t>Mutability affects shared references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lstStyle/>
          <a:p>
            <a:r>
              <a:t>Numbers: int, float, complex</a:t>
            </a:r>
          </a:p>
          <a:p>
            <a:r>
              <a:t>Text: str</a:t>
            </a:r>
          </a:p>
          <a:p>
            <a:r>
              <a:t>Logic: bool, None</a:t>
            </a:r>
          </a:p>
          <a:p>
            <a:r>
              <a:t>Collections: list, tuple, dict, set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7B67E-C0BE-A92A-5F39-3BB0D833BB6D}"/>
              </a:ext>
            </a:extLst>
          </p:cNvPr>
          <p:cNvSpPr>
            <a:spLocks noGrp="1"/>
          </p:cNvSpPr>
          <p:nvPr>
            <p:ph type="title"/>
          </p:nvPr>
        </p:nvSpPr>
        <p:spPr/>
        <p:txBody>
          <a:bodyPr/>
          <a:lstStyle/>
          <a:p>
            <a:r>
              <a:rPr lang="en-US" dirty="0"/>
              <a:t>Python Numbers: Overview</a:t>
            </a:r>
            <a:endParaRPr lang="en-SG" dirty="0"/>
          </a:p>
        </p:txBody>
      </p:sp>
      <p:sp>
        <p:nvSpPr>
          <p:cNvPr id="3" name="Content Placeholder 2">
            <a:extLst>
              <a:ext uri="{FF2B5EF4-FFF2-40B4-BE49-F238E27FC236}">
                <a16:creationId xmlns:a16="http://schemas.microsoft.com/office/drawing/2014/main" id="{F2A281FF-0143-5195-BE93-671B3F2F37A1}"/>
              </a:ext>
            </a:extLst>
          </p:cNvPr>
          <p:cNvSpPr>
            <a:spLocks noGrp="1"/>
          </p:cNvSpPr>
          <p:nvPr>
            <p:ph idx="1"/>
          </p:nvPr>
        </p:nvSpPr>
        <p:spPr/>
        <p:txBody>
          <a:bodyPr>
            <a:normAutofit/>
          </a:bodyPr>
          <a:lstStyle/>
          <a:p>
            <a:r>
              <a:rPr lang="en-US" dirty="0"/>
              <a:t>Numbers represent numeric data in Python</a:t>
            </a:r>
          </a:p>
          <a:p>
            <a:r>
              <a:rPr lang="en-US" dirty="0"/>
              <a:t>Used for calculations, comparisons, and logic</a:t>
            </a:r>
          </a:p>
          <a:p>
            <a:r>
              <a:rPr lang="en-US" dirty="0"/>
              <a:t>Python supports multiple numeric types</a:t>
            </a:r>
            <a:endParaRPr lang="en-US" b="1" dirty="0"/>
          </a:p>
          <a:p>
            <a:r>
              <a:rPr lang="en-US" dirty="0"/>
              <a:t>Correct numeric type = correct results</a:t>
            </a:r>
          </a:p>
          <a:p>
            <a:r>
              <a:rPr lang="en-US" dirty="0"/>
              <a:t>Avoids precision and logic bugs</a:t>
            </a:r>
          </a:p>
          <a:p>
            <a:endParaRPr lang="en-SG" dirty="0"/>
          </a:p>
        </p:txBody>
      </p:sp>
    </p:spTree>
    <p:extLst>
      <p:ext uri="{BB962C8B-B14F-4D97-AF65-F5344CB8AC3E}">
        <p14:creationId xmlns:p14="http://schemas.microsoft.com/office/powerpoint/2010/main" val="39705676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86CEC-1CDA-70C6-F3D3-F6411FEA06A7}"/>
              </a:ext>
            </a:extLst>
          </p:cNvPr>
          <p:cNvSpPr>
            <a:spLocks noGrp="1"/>
          </p:cNvSpPr>
          <p:nvPr>
            <p:ph type="title"/>
          </p:nvPr>
        </p:nvSpPr>
        <p:spPr/>
        <p:txBody>
          <a:bodyPr/>
          <a:lstStyle/>
          <a:p>
            <a:r>
              <a:rPr lang="en-US" dirty="0"/>
              <a:t>Numeric Types in Python</a:t>
            </a:r>
            <a:endParaRPr lang="en-SG" dirty="0"/>
          </a:p>
        </p:txBody>
      </p:sp>
      <p:sp>
        <p:nvSpPr>
          <p:cNvPr id="3" name="Content Placeholder 2">
            <a:extLst>
              <a:ext uri="{FF2B5EF4-FFF2-40B4-BE49-F238E27FC236}">
                <a16:creationId xmlns:a16="http://schemas.microsoft.com/office/drawing/2014/main" id="{63C43032-EB3B-5F48-A314-0A486E916D17}"/>
              </a:ext>
            </a:extLst>
          </p:cNvPr>
          <p:cNvSpPr>
            <a:spLocks noGrp="1"/>
          </p:cNvSpPr>
          <p:nvPr>
            <p:ph idx="1"/>
          </p:nvPr>
        </p:nvSpPr>
        <p:spPr/>
        <p:txBody>
          <a:bodyPr/>
          <a:lstStyle/>
          <a:p>
            <a:r>
              <a:rPr lang="en-US" dirty="0"/>
              <a:t>int – whole numbers</a:t>
            </a:r>
          </a:p>
          <a:p>
            <a:pPr lvl="1"/>
            <a:r>
              <a:rPr lang="en-US" dirty="0"/>
              <a:t>Examples: 0, -42, 1_000_000</a:t>
            </a:r>
          </a:p>
          <a:p>
            <a:endParaRPr lang="en-US" dirty="0"/>
          </a:p>
          <a:p>
            <a:r>
              <a:rPr lang="en-US" dirty="0"/>
              <a:t>float – decimal numbers</a:t>
            </a:r>
          </a:p>
          <a:p>
            <a:pPr lvl="1"/>
            <a:r>
              <a:rPr lang="en-US" dirty="0"/>
              <a:t>Examples: 3.14, 0.5, 6.02e23</a:t>
            </a:r>
          </a:p>
          <a:p>
            <a:endParaRPr lang="en-US" dirty="0"/>
          </a:p>
          <a:p>
            <a:r>
              <a:rPr lang="en-US" dirty="0"/>
              <a:t>complex – real + imaginary</a:t>
            </a:r>
          </a:p>
          <a:p>
            <a:pPr lvl="1"/>
            <a:r>
              <a:rPr lang="en-US" dirty="0"/>
              <a:t>Example: 3 + 4j</a:t>
            </a:r>
          </a:p>
          <a:p>
            <a:endParaRPr lang="en-SG" dirty="0"/>
          </a:p>
        </p:txBody>
      </p:sp>
    </p:spTree>
    <p:extLst>
      <p:ext uri="{BB962C8B-B14F-4D97-AF65-F5344CB8AC3E}">
        <p14:creationId xmlns:p14="http://schemas.microsoft.com/office/powerpoint/2010/main" val="2714362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FE33-D55D-103B-65B1-9BCCEA079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7C124-CEC1-AE62-849B-F209150D01F9}"/>
              </a:ext>
            </a:extLst>
          </p:cNvPr>
          <p:cNvSpPr>
            <a:spLocks noGrp="1"/>
          </p:cNvSpPr>
          <p:nvPr>
            <p:ph type="title"/>
          </p:nvPr>
        </p:nvSpPr>
        <p:spPr/>
        <p:txBody>
          <a:bodyPr>
            <a:normAutofit/>
          </a:bodyPr>
          <a:lstStyle/>
          <a:p>
            <a:r>
              <a:rPr lang="en-US" dirty="0"/>
              <a:t>Integers (int)</a:t>
            </a:r>
          </a:p>
        </p:txBody>
      </p:sp>
      <p:sp>
        <p:nvSpPr>
          <p:cNvPr id="3" name="Content Placeholder 2">
            <a:extLst>
              <a:ext uri="{FF2B5EF4-FFF2-40B4-BE49-F238E27FC236}">
                <a16:creationId xmlns:a16="http://schemas.microsoft.com/office/drawing/2014/main" id="{4034A20B-BC26-5CB2-D78A-CC992985B34D}"/>
              </a:ext>
            </a:extLst>
          </p:cNvPr>
          <p:cNvSpPr>
            <a:spLocks noGrp="1"/>
          </p:cNvSpPr>
          <p:nvPr>
            <p:ph idx="1"/>
          </p:nvPr>
        </p:nvSpPr>
        <p:spPr>
          <a:xfrm>
            <a:off x="457200" y="1600200"/>
            <a:ext cx="35687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10</a:t>
            </a:r>
          </a:p>
          <a:p>
            <a:pPr marL="0" indent="0">
              <a:buNone/>
            </a:pPr>
            <a:r>
              <a:rPr lang="pt-BR" dirty="0"/>
              <a:t>b = -5</a:t>
            </a:r>
          </a:p>
          <a:p>
            <a:pPr marL="0" indent="0">
              <a:buNone/>
            </a:pPr>
            <a:r>
              <a:rPr lang="pt-BR" dirty="0"/>
              <a:t>c = 1_000_000</a:t>
            </a:r>
          </a:p>
        </p:txBody>
      </p:sp>
      <p:sp>
        <p:nvSpPr>
          <p:cNvPr id="4" name="Content Placeholder 2">
            <a:extLst>
              <a:ext uri="{FF2B5EF4-FFF2-40B4-BE49-F238E27FC236}">
                <a16:creationId xmlns:a16="http://schemas.microsoft.com/office/drawing/2014/main" id="{4B873657-F492-BE3F-F148-A3DFF8A4B192}"/>
              </a:ext>
            </a:extLst>
          </p:cNvPr>
          <p:cNvSpPr txBox="1">
            <a:spLocks/>
          </p:cNvSpPr>
          <p:nvPr/>
        </p:nvSpPr>
        <p:spPr>
          <a:xfrm>
            <a:off x="4648200" y="1587500"/>
            <a:ext cx="6692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Whole numbers only</a:t>
            </a:r>
          </a:p>
          <a:p>
            <a:r>
              <a:rPr lang="en-US" sz="2800" dirty="0"/>
              <a:t>Arbitrary precision</a:t>
            </a:r>
          </a:p>
          <a:p>
            <a:r>
              <a:rPr lang="en-US" sz="2800" dirty="0"/>
              <a:t>Commonly used for counts, indexes, IDs</a:t>
            </a:r>
          </a:p>
        </p:txBody>
      </p:sp>
    </p:spTree>
    <p:extLst>
      <p:ext uri="{BB962C8B-B14F-4D97-AF65-F5344CB8AC3E}">
        <p14:creationId xmlns:p14="http://schemas.microsoft.com/office/powerpoint/2010/main" val="15169000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3B04-4A3E-95DF-F903-C13F1E2E9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6D2DE-7265-4C8B-218D-10EBF9B98D49}"/>
              </a:ext>
            </a:extLst>
          </p:cNvPr>
          <p:cNvSpPr>
            <a:spLocks noGrp="1"/>
          </p:cNvSpPr>
          <p:nvPr>
            <p:ph type="title"/>
          </p:nvPr>
        </p:nvSpPr>
        <p:spPr/>
        <p:txBody>
          <a:bodyPr>
            <a:normAutofit/>
          </a:bodyPr>
          <a:lstStyle/>
          <a:p>
            <a:r>
              <a:rPr lang="en-US" dirty="0"/>
              <a:t>Floating-Point Numbers (float)</a:t>
            </a:r>
          </a:p>
        </p:txBody>
      </p:sp>
      <p:sp>
        <p:nvSpPr>
          <p:cNvPr id="3" name="Content Placeholder 2">
            <a:extLst>
              <a:ext uri="{FF2B5EF4-FFF2-40B4-BE49-F238E27FC236}">
                <a16:creationId xmlns:a16="http://schemas.microsoft.com/office/drawing/2014/main" id="{985FC629-98E7-4AB4-17D6-0F6025A0A3E7}"/>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price = 19.99</a:t>
            </a:r>
          </a:p>
          <a:p>
            <a:pPr marL="0" indent="0">
              <a:buNone/>
            </a:pPr>
            <a:endParaRPr lang="en-US" dirty="0"/>
          </a:p>
          <a:p>
            <a:pPr marL="0" indent="0">
              <a:buNone/>
            </a:pPr>
            <a:r>
              <a:rPr lang="en-US" dirty="0"/>
              <a:t># 0.30000000000000004</a:t>
            </a:r>
          </a:p>
          <a:p>
            <a:pPr marL="0" indent="0">
              <a:buNone/>
            </a:pPr>
            <a:r>
              <a:rPr lang="en-US" dirty="0"/>
              <a:t>ratio = 0.1 + 0.2   </a:t>
            </a:r>
          </a:p>
          <a:p>
            <a:pPr marL="0" indent="0">
              <a:buNone/>
            </a:pPr>
            <a:endParaRPr lang="en-US" dirty="0"/>
          </a:p>
        </p:txBody>
      </p:sp>
      <p:sp>
        <p:nvSpPr>
          <p:cNvPr id="4" name="Content Placeholder 2">
            <a:extLst>
              <a:ext uri="{FF2B5EF4-FFF2-40B4-BE49-F238E27FC236}">
                <a16:creationId xmlns:a16="http://schemas.microsoft.com/office/drawing/2014/main" id="{B680B099-452E-63CF-59F8-5283C09EDEA0}"/>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Represent decimal values</a:t>
            </a:r>
          </a:p>
          <a:p>
            <a:r>
              <a:rPr lang="en-US" sz="2800" dirty="0"/>
              <a:t>Stored using binary floating-point</a:t>
            </a:r>
          </a:p>
          <a:p>
            <a:r>
              <a:rPr lang="en-US" sz="2800" dirty="0"/>
              <a:t>May introduce rounding errors</a:t>
            </a:r>
          </a:p>
        </p:txBody>
      </p:sp>
    </p:spTree>
    <p:extLst>
      <p:ext uri="{BB962C8B-B14F-4D97-AF65-F5344CB8AC3E}">
        <p14:creationId xmlns:p14="http://schemas.microsoft.com/office/powerpoint/2010/main" val="98372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8E96F-9D53-5220-0CA9-B0C0E5ECB3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D9F38-9240-547F-38A9-02A6CB08DA61}"/>
              </a:ext>
            </a:extLst>
          </p:cNvPr>
          <p:cNvSpPr>
            <a:spLocks noGrp="1"/>
          </p:cNvSpPr>
          <p:nvPr>
            <p:ph type="title"/>
          </p:nvPr>
        </p:nvSpPr>
        <p:spPr/>
        <p:txBody>
          <a:bodyPr>
            <a:normAutofit/>
          </a:bodyPr>
          <a:lstStyle/>
          <a:p>
            <a:r>
              <a:rPr lang="en-US" dirty="0"/>
              <a:t>Decimal for Precision</a:t>
            </a:r>
          </a:p>
        </p:txBody>
      </p:sp>
      <p:sp>
        <p:nvSpPr>
          <p:cNvPr id="3" name="Content Placeholder 2">
            <a:extLst>
              <a:ext uri="{FF2B5EF4-FFF2-40B4-BE49-F238E27FC236}">
                <a16:creationId xmlns:a16="http://schemas.microsoft.com/office/drawing/2014/main" id="{F6AD3492-C1B7-0279-55FE-3401BAAED6A9}"/>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b="1" dirty="0"/>
              <a:t>from decimal import Decimal</a:t>
            </a:r>
          </a:p>
          <a:p>
            <a:pPr marL="0" indent="0">
              <a:buNone/>
            </a:pPr>
            <a:endParaRPr lang="en-US" dirty="0"/>
          </a:p>
          <a:p>
            <a:pPr marL="0" indent="0">
              <a:buNone/>
            </a:pPr>
            <a:r>
              <a:rPr lang="en-US" dirty="0"/>
              <a:t>price = Decimal("19.99")</a:t>
            </a:r>
          </a:p>
          <a:p>
            <a:pPr marL="0" indent="0">
              <a:buNone/>
            </a:pPr>
            <a:r>
              <a:rPr lang="en-US" dirty="0"/>
              <a:t>tax = price * Decimal("0.07")</a:t>
            </a:r>
          </a:p>
        </p:txBody>
      </p:sp>
      <p:sp>
        <p:nvSpPr>
          <p:cNvPr id="4" name="Content Placeholder 2">
            <a:extLst>
              <a:ext uri="{FF2B5EF4-FFF2-40B4-BE49-F238E27FC236}">
                <a16:creationId xmlns:a16="http://schemas.microsoft.com/office/drawing/2014/main" id="{D6BFA9CB-337B-97A1-64A9-15D43CFDCB29}"/>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Financial calculations</a:t>
            </a:r>
          </a:p>
          <a:p>
            <a:r>
              <a:rPr lang="en-US" sz="2800" dirty="0"/>
              <a:t>Exact decimal precision required</a:t>
            </a:r>
          </a:p>
        </p:txBody>
      </p:sp>
    </p:spTree>
    <p:extLst>
      <p:ext uri="{BB962C8B-B14F-4D97-AF65-F5344CB8AC3E}">
        <p14:creationId xmlns:p14="http://schemas.microsoft.com/office/powerpoint/2010/main" val="12153165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A398-EDB8-2346-AC5D-EAFC1D8F77BE}"/>
              </a:ext>
            </a:extLst>
          </p:cNvPr>
          <p:cNvSpPr>
            <a:spLocks noGrp="1"/>
          </p:cNvSpPr>
          <p:nvPr>
            <p:ph type="title"/>
          </p:nvPr>
        </p:nvSpPr>
        <p:spPr/>
        <p:txBody>
          <a:bodyPr/>
          <a:lstStyle/>
          <a:p>
            <a:r>
              <a:rPr lang="en-SG" dirty="0"/>
              <a:t>Arithmetic Operators</a:t>
            </a:r>
          </a:p>
        </p:txBody>
      </p:sp>
      <p:graphicFrame>
        <p:nvGraphicFramePr>
          <p:cNvPr id="4" name="Table 3">
            <a:extLst>
              <a:ext uri="{FF2B5EF4-FFF2-40B4-BE49-F238E27FC236}">
                <a16:creationId xmlns:a16="http://schemas.microsoft.com/office/drawing/2014/main" id="{04842946-80E1-2E7D-5D8A-D46DE3DF8787}"/>
              </a:ext>
            </a:extLst>
          </p:cNvPr>
          <p:cNvGraphicFramePr>
            <a:graphicFrameLocks noGrp="1"/>
          </p:cNvGraphicFramePr>
          <p:nvPr>
            <p:extLst>
              <p:ext uri="{D42A27DB-BD31-4B8C-83A1-F6EECF244321}">
                <p14:modId xmlns:p14="http://schemas.microsoft.com/office/powerpoint/2010/main" val="2988513176"/>
              </p:ext>
            </p:extLst>
          </p:nvPr>
        </p:nvGraphicFramePr>
        <p:xfrm>
          <a:off x="1725612" y="1561941"/>
          <a:ext cx="8229600" cy="4632960"/>
        </p:xfrm>
        <a:graphic>
          <a:graphicData uri="http://schemas.openxmlformats.org/drawingml/2006/table">
            <a:tbl>
              <a:tblPr/>
              <a:tblGrid>
                <a:gridCol w="4114800">
                  <a:extLst>
                    <a:ext uri="{9D8B030D-6E8A-4147-A177-3AD203B41FA5}">
                      <a16:colId xmlns:a16="http://schemas.microsoft.com/office/drawing/2014/main" val="4190395564"/>
                    </a:ext>
                  </a:extLst>
                </a:gridCol>
                <a:gridCol w="4114800">
                  <a:extLst>
                    <a:ext uri="{9D8B030D-6E8A-4147-A177-3AD203B41FA5}">
                      <a16:colId xmlns:a16="http://schemas.microsoft.com/office/drawing/2014/main" val="2544141463"/>
                    </a:ext>
                  </a:extLst>
                </a:gridCol>
              </a:tblGrid>
              <a:tr h="0">
                <a:tc>
                  <a:txBody>
                    <a:bodyPr/>
                    <a:lstStyle/>
                    <a:p>
                      <a:pPr>
                        <a:buNone/>
                      </a:pPr>
                      <a:r>
                        <a:rPr lang="en-SG" sz="3200" b="1" dirty="0"/>
                        <a:t>Operator</a:t>
                      </a:r>
                    </a:p>
                  </a:txBody>
                  <a:tcPr anchor="ctr">
                    <a:lnL>
                      <a:noFill/>
                    </a:lnL>
                    <a:lnR>
                      <a:noFill/>
                    </a:lnR>
                    <a:lnT>
                      <a:noFill/>
                    </a:lnT>
                    <a:lnB>
                      <a:noFill/>
                    </a:lnB>
                    <a:noFill/>
                  </a:tcPr>
                </a:tc>
                <a:tc>
                  <a:txBody>
                    <a:bodyPr/>
                    <a:lstStyle/>
                    <a:p>
                      <a:pPr>
                        <a:buNone/>
                      </a:pPr>
                      <a:r>
                        <a:rPr lang="en-SG" sz="3200" b="1" dirty="0"/>
                        <a:t>Meaning</a:t>
                      </a:r>
                    </a:p>
                  </a:txBody>
                  <a:tcPr anchor="ctr">
                    <a:lnL>
                      <a:noFill/>
                    </a:lnL>
                    <a:lnR>
                      <a:noFill/>
                    </a:lnR>
                    <a:lnT>
                      <a:noFill/>
                    </a:lnT>
                    <a:lnB>
                      <a:noFill/>
                    </a:lnB>
                    <a:noFill/>
                  </a:tcPr>
                </a:tc>
                <a:extLst>
                  <a:ext uri="{0D108BD9-81ED-4DB2-BD59-A6C34878D82A}">
                    <a16:rowId xmlns:a16="http://schemas.microsoft.com/office/drawing/2014/main" val="2521506097"/>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Addition</a:t>
                      </a:r>
                    </a:p>
                  </a:txBody>
                  <a:tcPr anchor="ctr">
                    <a:lnL>
                      <a:noFill/>
                    </a:lnL>
                    <a:lnR>
                      <a:noFill/>
                    </a:lnR>
                    <a:lnT>
                      <a:noFill/>
                    </a:lnT>
                    <a:lnB>
                      <a:noFill/>
                    </a:lnB>
                    <a:noFill/>
                  </a:tcPr>
                </a:tc>
                <a:extLst>
                  <a:ext uri="{0D108BD9-81ED-4DB2-BD59-A6C34878D82A}">
                    <a16:rowId xmlns:a16="http://schemas.microsoft.com/office/drawing/2014/main" val="2610393482"/>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Subtraction</a:t>
                      </a:r>
                    </a:p>
                  </a:txBody>
                  <a:tcPr anchor="ctr">
                    <a:lnL>
                      <a:noFill/>
                    </a:lnL>
                    <a:lnR>
                      <a:noFill/>
                    </a:lnR>
                    <a:lnT>
                      <a:noFill/>
                    </a:lnT>
                    <a:lnB>
                      <a:noFill/>
                    </a:lnB>
                    <a:noFill/>
                  </a:tcPr>
                </a:tc>
                <a:extLst>
                  <a:ext uri="{0D108BD9-81ED-4DB2-BD59-A6C34878D82A}">
                    <a16:rowId xmlns:a16="http://schemas.microsoft.com/office/drawing/2014/main" val="2603205561"/>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Multiplication</a:t>
                      </a:r>
                    </a:p>
                  </a:txBody>
                  <a:tcPr anchor="ctr">
                    <a:lnL>
                      <a:noFill/>
                    </a:lnL>
                    <a:lnR>
                      <a:noFill/>
                    </a:lnR>
                    <a:lnT>
                      <a:noFill/>
                    </a:lnT>
                    <a:lnB>
                      <a:noFill/>
                    </a:lnB>
                    <a:noFill/>
                  </a:tcPr>
                </a:tc>
                <a:extLst>
                  <a:ext uri="{0D108BD9-81ED-4DB2-BD59-A6C34878D82A}">
                    <a16:rowId xmlns:a16="http://schemas.microsoft.com/office/drawing/2014/main" val="235469575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True division</a:t>
                      </a:r>
                    </a:p>
                  </a:txBody>
                  <a:tcPr anchor="ctr">
                    <a:lnL>
                      <a:noFill/>
                    </a:lnL>
                    <a:lnR>
                      <a:noFill/>
                    </a:lnR>
                    <a:lnT>
                      <a:noFill/>
                    </a:lnT>
                    <a:lnB>
                      <a:noFill/>
                    </a:lnB>
                    <a:noFill/>
                  </a:tcPr>
                </a:tc>
                <a:extLst>
                  <a:ext uri="{0D108BD9-81ED-4DB2-BD59-A6C34878D82A}">
                    <a16:rowId xmlns:a16="http://schemas.microsoft.com/office/drawing/2014/main" val="389331878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Floor division</a:t>
                      </a:r>
                    </a:p>
                  </a:txBody>
                  <a:tcPr anchor="ctr">
                    <a:lnL>
                      <a:noFill/>
                    </a:lnL>
                    <a:lnR>
                      <a:noFill/>
                    </a:lnR>
                    <a:lnT>
                      <a:noFill/>
                    </a:lnT>
                    <a:lnB>
                      <a:noFill/>
                    </a:lnB>
                    <a:noFill/>
                  </a:tcPr>
                </a:tc>
                <a:extLst>
                  <a:ext uri="{0D108BD9-81ED-4DB2-BD59-A6C34878D82A}">
                    <a16:rowId xmlns:a16="http://schemas.microsoft.com/office/drawing/2014/main" val="3744205803"/>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Modulo (remainder)</a:t>
                      </a:r>
                    </a:p>
                  </a:txBody>
                  <a:tcPr anchor="ctr">
                    <a:lnL>
                      <a:noFill/>
                    </a:lnL>
                    <a:lnR>
                      <a:noFill/>
                    </a:lnR>
                    <a:lnT>
                      <a:noFill/>
                    </a:lnT>
                    <a:lnB>
                      <a:noFill/>
                    </a:lnB>
                    <a:noFill/>
                  </a:tcPr>
                </a:tc>
                <a:extLst>
                  <a:ext uri="{0D108BD9-81ED-4DB2-BD59-A6C34878D82A}">
                    <a16:rowId xmlns:a16="http://schemas.microsoft.com/office/drawing/2014/main" val="2102220020"/>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dirty="0"/>
                        <a:t>Exponentiation</a:t>
                      </a:r>
                    </a:p>
                  </a:txBody>
                  <a:tcPr anchor="ctr">
                    <a:lnL>
                      <a:noFill/>
                    </a:lnL>
                    <a:lnR>
                      <a:noFill/>
                    </a:lnR>
                    <a:lnT>
                      <a:noFill/>
                    </a:lnT>
                    <a:lnB>
                      <a:noFill/>
                    </a:lnB>
                    <a:noFill/>
                  </a:tcPr>
                </a:tc>
                <a:extLst>
                  <a:ext uri="{0D108BD9-81ED-4DB2-BD59-A6C34878D82A}">
                    <a16:rowId xmlns:a16="http://schemas.microsoft.com/office/drawing/2014/main" val="4151499989"/>
                  </a:ext>
                </a:extLst>
              </a:tr>
            </a:tbl>
          </a:graphicData>
        </a:graphic>
      </p:graphicFrame>
    </p:spTree>
    <p:extLst>
      <p:ext uri="{BB962C8B-B14F-4D97-AF65-F5344CB8AC3E}">
        <p14:creationId xmlns:p14="http://schemas.microsoft.com/office/powerpoint/2010/main" val="42815067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71BF7-BF83-5AE6-5994-E8BD9D0DF83C}"/>
              </a:ext>
            </a:extLst>
          </p:cNvPr>
          <p:cNvSpPr>
            <a:spLocks noGrp="1"/>
          </p:cNvSpPr>
          <p:nvPr>
            <p:ph type="title"/>
          </p:nvPr>
        </p:nvSpPr>
        <p:spPr/>
        <p:txBody>
          <a:bodyPr/>
          <a:lstStyle/>
          <a:p>
            <a:r>
              <a:rPr lang="en-SG" dirty="0"/>
              <a:t>Division Operators</a:t>
            </a:r>
          </a:p>
        </p:txBody>
      </p:sp>
      <p:sp>
        <p:nvSpPr>
          <p:cNvPr id="3" name="Content Placeholder 2">
            <a:extLst>
              <a:ext uri="{FF2B5EF4-FFF2-40B4-BE49-F238E27FC236}">
                <a16:creationId xmlns:a16="http://schemas.microsoft.com/office/drawing/2014/main" id="{F63B24DE-56A1-B3BA-37D3-B6C90F614357}"/>
              </a:ext>
            </a:extLst>
          </p:cNvPr>
          <p:cNvSpPr>
            <a:spLocks noGrp="1"/>
          </p:cNvSpPr>
          <p:nvPr>
            <p:ph idx="1"/>
          </p:nvPr>
        </p:nvSpPr>
        <p:spPr>
          <a:xfrm>
            <a:off x="457200" y="1600200"/>
            <a:ext cx="10172700" cy="4525963"/>
          </a:xfrm>
        </p:spPr>
        <p:txBody>
          <a:bodyPr>
            <a:normAutofit fontScale="92500"/>
          </a:bodyPr>
          <a:lstStyle/>
          <a:p>
            <a:pPr marL="0" indent="0">
              <a:buNone/>
            </a:pPr>
            <a:r>
              <a:rPr lang="en-SG" dirty="0"/>
              <a:t># Division</a:t>
            </a:r>
          </a:p>
          <a:p>
            <a:pPr marL="0" indent="0">
              <a:buNone/>
            </a:pPr>
            <a:r>
              <a:rPr lang="en-SG" dirty="0"/>
              <a:t>7 / 3     # 2.3333333333333335</a:t>
            </a:r>
          </a:p>
          <a:p>
            <a:pPr marL="0" indent="0">
              <a:buNone/>
            </a:pPr>
            <a:endParaRPr lang="en-SG" dirty="0"/>
          </a:p>
          <a:p>
            <a:pPr marL="0" indent="0">
              <a:buNone/>
            </a:pPr>
            <a:r>
              <a:rPr lang="en-SG" dirty="0"/>
              <a:t># Floor Division</a:t>
            </a:r>
          </a:p>
          <a:p>
            <a:pPr marL="0" indent="0">
              <a:buNone/>
            </a:pPr>
            <a:r>
              <a:rPr lang="en-SG" dirty="0"/>
              <a:t>7 // 3    # 2</a:t>
            </a:r>
          </a:p>
          <a:p>
            <a:pPr marL="0" indent="0">
              <a:buNone/>
            </a:pPr>
            <a:r>
              <a:rPr lang="en-SG" dirty="0"/>
              <a:t>-7 // 3   # -3</a:t>
            </a:r>
          </a:p>
          <a:p>
            <a:pPr marL="0" indent="0">
              <a:buNone/>
            </a:pPr>
            <a:endParaRPr lang="en-SG" dirty="0"/>
          </a:p>
          <a:p>
            <a:r>
              <a:rPr lang="en-SG" dirty="0"/>
              <a:t># </a:t>
            </a:r>
            <a:r>
              <a:rPr lang="en-US" b="1" dirty="0"/>
              <a:t>Key Insight - </a:t>
            </a:r>
            <a:r>
              <a:rPr lang="en-US" dirty="0"/>
              <a:t>Floor division rounds </a:t>
            </a:r>
            <a:r>
              <a:rPr lang="en-US" b="1" dirty="0"/>
              <a:t>down</a:t>
            </a:r>
            <a:r>
              <a:rPr lang="en-US" dirty="0"/>
              <a:t>, not toward zero</a:t>
            </a:r>
          </a:p>
          <a:p>
            <a:pPr marL="0" indent="0">
              <a:buNone/>
            </a:pPr>
            <a:endParaRPr lang="en-SG" dirty="0"/>
          </a:p>
        </p:txBody>
      </p:sp>
    </p:spTree>
    <p:extLst>
      <p:ext uri="{BB962C8B-B14F-4D97-AF65-F5344CB8AC3E}">
        <p14:creationId xmlns:p14="http://schemas.microsoft.com/office/powerpoint/2010/main" val="28725608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A6B9-3D4B-95DE-E78E-1CF7A5862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727D3-F936-2285-236C-2763A3DD2AC0}"/>
              </a:ext>
            </a:extLst>
          </p:cNvPr>
          <p:cNvSpPr>
            <a:spLocks noGrp="1"/>
          </p:cNvSpPr>
          <p:nvPr>
            <p:ph type="title"/>
          </p:nvPr>
        </p:nvSpPr>
        <p:spPr/>
        <p:txBody>
          <a:bodyPr>
            <a:normAutofit/>
          </a:bodyPr>
          <a:lstStyle/>
          <a:p>
            <a:r>
              <a:rPr lang="en-SG" dirty="0"/>
              <a:t>Modulo Operator (%)</a:t>
            </a:r>
            <a:endParaRPr lang="en-US" dirty="0"/>
          </a:p>
        </p:txBody>
      </p:sp>
      <p:sp>
        <p:nvSpPr>
          <p:cNvPr id="3" name="Content Placeholder 2">
            <a:extLst>
              <a:ext uri="{FF2B5EF4-FFF2-40B4-BE49-F238E27FC236}">
                <a16:creationId xmlns:a16="http://schemas.microsoft.com/office/drawing/2014/main" id="{167202C2-C3B9-C8B7-C54A-050254CE346F}"/>
              </a:ext>
            </a:extLst>
          </p:cNvPr>
          <p:cNvSpPr>
            <a:spLocks noGrp="1"/>
          </p:cNvSpPr>
          <p:nvPr>
            <p:ph idx="1"/>
          </p:nvPr>
        </p:nvSpPr>
        <p:spPr>
          <a:xfrm>
            <a:off x="457200" y="1600200"/>
            <a:ext cx="41275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7 % 3     # 1</a:t>
            </a:r>
          </a:p>
          <a:p>
            <a:pPr marL="0" indent="0">
              <a:buNone/>
            </a:pPr>
            <a:r>
              <a:rPr lang="en-US" dirty="0"/>
              <a:t>10 % 2    # 0</a:t>
            </a:r>
          </a:p>
        </p:txBody>
      </p:sp>
      <p:sp>
        <p:nvSpPr>
          <p:cNvPr id="4" name="Content Placeholder 2">
            <a:extLst>
              <a:ext uri="{FF2B5EF4-FFF2-40B4-BE49-F238E27FC236}">
                <a16:creationId xmlns:a16="http://schemas.microsoft.com/office/drawing/2014/main" id="{880E34A5-4B5E-07EB-F729-E1C0FD14CF97}"/>
              </a:ext>
            </a:extLst>
          </p:cNvPr>
          <p:cNvSpPr txBox="1">
            <a:spLocks/>
          </p:cNvSpPr>
          <p:nvPr/>
        </p:nvSpPr>
        <p:spPr>
          <a:xfrm>
            <a:off x="4940300" y="1587500"/>
            <a:ext cx="64008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b="1" dirty="0"/>
              <a:t>Purpose</a:t>
            </a:r>
            <a:endParaRPr lang="en-US" sz="2800" dirty="0"/>
          </a:p>
          <a:p>
            <a:pPr lvl="1"/>
            <a:r>
              <a:rPr lang="en-US" sz="2400" dirty="0"/>
              <a:t>Returns the remainder of division</a:t>
            </a:r>
          </a:p>
          <a:p>
            <a:pPr lvl="1"/>
            <a:endParaRPr lang="en-US" sz="2400" dirty="0"/>
          </a:p>
          <a:p>
            <a:r>
              <a:rPr lang="en-US" sz="2800" b="1" dirty="0"/>
              <a:t>Common Uses</a:t>
            </a:r>
            <a:endParaRPr lang="en-US" sz="2800" dirty="0"/>
          </a:p>
          <a:p>
            <a:pPr lvl="1"/>
            <a:r>
              <a:rPr lang="en-US" sz="2400" dirty="0"/>
              <a:t>Even / odd checks</a:t>
            </a:r>
          </a:p>
          <a:p>
            <a:pPr lvl="1"/>
            <a:r>
              <a:rPr lang="en-US" sz="2400" dirty="0"/>
              <a:t>Cycling values</a:t>
            </a:r>
          </a:p>
          <a:p>
            <a:pPr lvl="1"/>
            <a:r>
              <a:rPr lang="en-US" sz="2400" dirty="0"/>
              <a:t>Time and clock arithmetic</a:t>
            </a:r>
          </a:p>
          <a:p>
            <a:endParaRPr lang="en-US" sz="2800" dirty="0"/>
          </a:p>
        </p:txBody>
      </p:sp>
    </p:spTree>
    <p:extLst>
      <p:ext uri="{BB962C8B-B14F-4D97-AF65-F5344CB8AC3E}">
        <p14:creationId xmlns:p14="http://schemas.microsoft.com/office/powerpoint/2010/main" val="35927396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13291-65A7-BA2A-7BE8-262F1F89E68C}"/>
              </a:ext>
            </a:extLst>
          </p:cNvPr>
          <p:cNvSpPr>
            <a:spLocks noGrp="1"/>
          </p:cNvSpPr>
          <p:nvPr>
            <p:ph type="title"/>
          </p:nvPr>
        </p:nvSpPr>
        <p:spPr/>
        <p:txBody>
          <a:bodyPr/>
          <a:lstStyle/>
          <a:p>
            <a:r>
              <a:rPr lang="en-SG" dirty="0"/>
              <a:t>Exponentiation</a:t>
            </a:r>
          </a:p>
        </p:txBody>
      </p:sp>
      <p:sp>
        <p:nvSpPr>
          <p:cNvPr id="3" name="Content Placeholder 2">
            <a:extLst>
              <a:ext uri="{FF2B5EF4-FFF2-40B4-BE49-F238E27FC236}">
                <a16:creationId xmlns:a16="http://schemas.microsoft.com/office/drawing/2014/main" id="{F508C48A-F330-3B83-78F5-8C3E19DA6E3E}"/>
              </a:ext>
            </a:extLst>
          </p:cNvPr>
          <p:cNvSpPr>
            <a:spLocks noGrp="1"/>
          </p:cNvSpPr>
          <p:nvPr>
            <p:ph idx="1"/>
          </p:nvPr>
        </p:nvSpPr>
        <p:spPr/>
        <p:txBody>
          <a:bodyPr/>
          <a:lstStyle/>
          <a:p>
            <a:pPr marL="0" indent="0">
              <a:buNone/>
            </a:pPr>
            <a:r>
              <a:rPr lang="en-SG" dirty="0"/>
              <a:t># Using **</a:t>
            </a:r>
          </a:p>
          <a:p>
            <a:pPr marL="0" indent="0">
              <a:buNone/>
            </a:pPr>
            <a:r>
              <a:rPr lang="en-SG" dirty="0"/>
              <a:t>2 ** 10   # 1024</a:t>
            </a:r>
          </a:p>
          <a:p>
            <a:pPr marL="0" indent="0">
              <a:buNone/>
            </a:pPr>
            <a:endParaRPr lang="en-SG" dirty="0"/>
          </a:p>
          <a:p>
            <a:pPr marL="0" indent="0">
              <a:buNone/>
            </a:pPr>
            <a:r>
              <a:rPr lang="en-SG" dirty="0"/>
              <a:t># Using pow()</a:t>
            </a:r>
          </a:p>
          <a:p>
            <a:pPr marL="0" indent="0">
              <a:buNone/>
            </a:pPr>
            <a:r>
              <a:rPr lang="en-US" dirty="0"/>
              <a:t>pow(2, 10)        # 1024</a:t>
            </a:r>
          </a:p>
          <a:p>
            <a:pPr marL="0" indent="0">
              <a:buNone/>
            </a:pPr>
            <a:r>
              <a:rPr lang="en-US" dirty="0"/>
              <a:t>pow(2, 10, 100)  # 24  (modular exponentiation)</a:t>
            </a:r>
          </a:p>
          <a:p>
            <a:pPr marL="0" indent="0">
              <a:buNone/>
            </a:pPr>
            <a:endParaRPr lang="en-SG" dirty="0"/>
          </a:p>
        </p:txBody>
      </p:sp>
    </p:spTree>
    <p:extLst>
      <p:ext uri="{BB962C8B-B14F-4D97-AF65-F5344CB8AC3E}">
        <p14:creationId xmlns:p14="http://schemas.microsoft.com/office/powerpoint/2010/main" val="31295181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7FC40-69D6-E00E-1FB7-4D0EF823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7366F-4A27-A58E-3EE1-1E6A3F0EACC1}"/>
              </a:ext>
            </a:extLst>
          </p:cNvPr>
          <p:cNvSpPr>
            <a:spLocks noGrp="1"/>
          </p:cNvSpPr>
          <p:nvPr>
            <p:ph type="title"/>
          </p:nvPr>
        </p:nvSpPr>
        <p:spPr/>
        <p:txBody>
          <a:bodyPr/>
          <a:lstStyle/>
          <a:p>
            <a:r>
              <a:rPr lang="en-SG" dirty="0"/>
              <a:t>Assignment Operators</a:t>
            </a:r>
          </a:p>
        </p:txBody>
      </p:sp>
      <p:sp>
        <p:nvSpPr>
          <p:cNvPr id="3" name="Content Placeholder 2">
            <a:extLst>
              <a:ext uri="{FF2B5EF4-FFF2-40B4-BE49-F238E27FC236}">
                <a16:creationId xmlns:a16="http://schemas.microsoft.com/office/drawing/2014/main" id="{C370E644-9C65-A86C-36CB-5626F21D75E8}"/>
              </a:ext>
            </a:extLst>
          </p:cNvPr>
          <p:cNvSpPr>
            <a:spLocks noGrp="1"/>
          </p:cNvSpPr>
          <p:nvPr>
            <p:ph idx="1"/>
          </p:nvPr>
        </p:nvSpPr>
        <p:spPr>
          <a:xfrm>
            <a:off x="457200" y="1600200"/>
            <a:ext cx="9550400" cy="4525963"/>
          </a:xfrm>
        </p:spPr>
        <p:txBody>
          <a:bodyPr>
            <a:normAutofit/>
          </a:bodyPr>
          <a:lstStyle/>
          <a:p>
            <a:pPr marL="0" indent="0">
              <a:buNone/>
            </a:pPr>
            <a:r>
              <a:rPr lang="en-SG" dirty="0"/>
              <a:t>x = 10</a:t>
            </a:r>
          </a:p>
          <a:p>
            <a:pPr marL="0" indent="0">
              <a:buNone/>
            </a:pPr>
            <a:r>
              <a:rPr lang="en-SG" dirty="0"/>
              <a:t>x += 1    # x = x + 1</a:t>
            </a:r>
          </a:p>
          <a:p>
            <a:pPr marL="0" indent="0">
              <a:buNone/>
            </a:pPr>
            <a:r>
              <a:rPr lang="en-SG" dirty="0"/>
              <a:t>x -= 2</a:t>
            </a:r>
          </a:p>
          <a:p>
            <a:pPr marL="0" indent="0">
              <a:buNone/>
            </a:pPr>
            <a:r>
              <a:rPr lang="en-SG" dirty="0"/>
              <a:t>x *= 3</a:t>
            </a:r>
          </a:p>
          <a:p>
            <a:pPr marL="0" indent="0">
              <a:buNone/>
            </a:pPr>
            <a:r>
              <a:rPr lang="en-SG" dirty="0"/>
              <a:t>x //= 2</a:t>
            </a:r>
          </a:p>
          <a:p>
            <a:pPr marL="0" indent="0">
              <a:buNone/>
            </a:pPr>
            <a:endParaRPr lang="en-SG" dirty="0"/>
          </a:p>
          <a:p>
            <a:pPr marL="0" indent="0">
              <a:buNone/>
            </a:pPr>
            <a:r>
              <a:rPr lang="en-SG" dirty="0"/>
              <a:t># </a:t>
            </a:r>
            <a:r>
              <a:rPr lang="en-US" dirty="0"/>
              <a:t>Assignment operators rebind variables to new objects</a:t>
            </a:r>
          </a:p>
          <a:p>
            <a:pPr marL="0" indent="0">
              <a:buNone/>
            </a:pPr>
            <a:endParaRPr lang="en-SG" dirty="0"/>
          </a:p>
        </p:txBody>
      </p:sp>
    </p:spTree>
    <p:extLst>
      <p:ext uri="{BB962C8B-B14F-4D97-AF65-F5344CB8AC3E}">
        <p14:creationId xmlns:p14="http://schemas.microsoft.com/office/powerpoint/2010/main" val="4471376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E7F0F-DDCD-F2EC-F850-8AB2D71BF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B7A6E-8629-EC14-A2BA-B938848B153C}"/>
              </a:ext>
            </a:extLst>
          </p:cNvPr>
          <p:cNvSpPr>
            <a:spLocks noGrp="1"/>
          </p:cNvSpPr>
          <p:nvPr>
            <p:ph type="title"/>
          </p:nvPr>
        </p:nvSpPr>
        <p:spPr/>
        <p:txBody>
          <a:bodyPr>
            <a:normAutofit/>
          </a:bodyPr>
          <a:lstStyle/>
          <a:p>
            <a:r>
              <a:rPr lang="en-US" dirty="0"/>
              <a:t>Operator Precedence</a:t>
            </a:r>
          </a:p>
        </p:txBody>
      </p:sp>
      <p:sp>
        <p:nvSpPr>
          <p:cNvPr id="3" name="Content Placeholder 2">
            <a:extLst>
              <a:ext uri="{FF2B5EF4-FFF2-40B4-BE49-F238E27FC236}">
                <a16:creationId xmlns:a16="http://schemas.microsoft.com/office/drawing/2014/main" id="{A3E05C29-3FBE-7BDF-C881-0BD223C7570C}"/>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result = 2 + 3 * 4   # 14</a:t>
            </a:r>
          </a:p>
        </p:txBody>
      </p:sp>
      <p:sp>
        <p:nvSpPr>
          <p:cNvPr id="4" name="Content Placeholder 2">
            <a:extLst>
              <a:ext uri="{FF2B5EF4-FFF2-40B4-BE49-F238E27FC236}">
                <a16:creationId xmlns:a16="http://schemas.microsoft.com/office/drawing/2014/main" id="{03EA6AD0-F977-1B5D-BDE9-19C332169FD6}"/>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a:t>
            </a:r>
            <a:r>
              <a:rPr lang="en-US" sz="2800" dirty="0"/>
              <a:t> parentheses</a:t>
            </a:r>
          </a:p>
          <a:p>
            <a:r>
              <a:rPr lang="en-US" dirty="0"/>
              <a:t>**</a:t>
            </a:r>
            <a:r>
              <a:rPr lang="en-US" sz="2800" dirty="0"/>
              <a:t> exponentiation</a:t>
            </a:r>
          </a:p>
          <a:p>
            <a:r>
              <a:rPr lang="en-US" dirty="0"/>
              <a:t>* / // %</a:t>
            </a:r>
            <a:endParaRPr lang="en-US" sz="2800" dirty="0"/>
          </a:p>
          <a:p>
            <a:r>
              <a:rPr lang="en-US" dirty="0"/>
              <a:t>+ -</a:t>
            </a:r>
            <a:endParaRPr lang="en-US" sz="2800" dirty="0"/>
          </a:p>
        </p:txBody>
      </p:sp>
    </p:spTree>
    <p:extLst>
      <p:ext uri="{BB962C8B-B14F-4D97-AF65-F5344CB8AC3E}">
        <p14:creationId xmlns:p14="http://schemas.microsoft.com/office/powerpoint/2010/main" val="10629733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CD1DD-F7DB-90E7-41CA-010220643A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1B0E6-0698-8847-8904-A084A75607B9}"/>
              </a:ext>
            </a:extLst>
          </p:cNvPr>
          <p:cNvSpPr>
            <a:spLocks noGrp="1"/>
          </p:cNvSpPr>
          <p:nvPr>
            <p:ph type="title"/>
          </p:nvPr>
        </p:nvSpPr>
        <p:spPr/>
        <p:txBody>
          <a:bodyPr>
            <a:normAutofit/>
          </a:bodyPr>
          <a:lstStyle/>
          <a:p>
            <a:r>
              <a:rPr lang="en-US" dirty="0"/>
              <a:t>Comparing Numbers</a:t>
            </a:r>
          </a:p>
        </p:txBody>
      </p:sp>
      <p:sp>
        <p:nvSpPr>
          <p:cNvPr id="3" name="Content Placeholder 2">
            <a:extLst>
              <a:ext uri="{FF2B5EF4-FFF2-40B4-BE49-F238E27FC236}">
                <a16:creationId xmlns:a16="http://schemas.microsoft.com/office/drawing/2014/main" id="{DE104900-8F50-E0A9-493B-31541B426457}"/>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Comparison Operators</a:t>
            </a:r>
          </a:p>
          <a:p>
            <a:pPr marL="0" indent="0">
              <a:buNone/>
            </a:pPr>
            <a:r>
              <a:rPr lang="en-US" dirty="0"/>
              <a:t>==   !=</a:t>
            </a:r>
          </a:p>
          <a:p>
            <a:pPr marL="0" indent="0">
              <a:buNone/>
            </a:pPr>
            <a:r>
              <a:rPr lang="en-US" dirty="0"/>
              <a:t>&gt;    &lt;</a:t>
            </a:r>
          </a:p>
          <a:p>
            <a:pPr marL="0" indent="0">
              <a:buNone/>
            </a:pPr>
            <a:r>
              <a:rPr lang="en-US" dirty="0"/>
              <a:t>&gt;=   &lt;=</a:t>
            </a:r>
          </a:p>
        </p:txBody>
      </p:sp>
      <p:sp>
        <p:nvSpPr>
          <p:cNvPr id="4" name="Content Placeholder 2">
            <a:extLst>
              <a:ext uri="{FF2B5EF4-FFF2-40B4-BE49-F238E27FC236}">
                <a16:creationId xmlns:a16="http://schemas.microsoft.com/office/drawing/2014/main" id="{62E2DCB9-C381-6C49-693F-0ACFAD14C901}"/>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dirty="0"/>
              <a:t>x = 10</a:t>
            </a:r>
          </a:p>
          <a:p>
            <a:pPr marL="0" indent="0">
              <a:buNone/>
            </a:pPr>
            <a:r>
              <a:rPr lang="en-US" dirty="0"/>
              <a:t>x &gt; 5     # True</a:t>
            </a:r>
          </a:p>
        </p:txBody>
      </p:sp>
    </p:spTree>
    <p:extLst>
      <p:ext uri="{BB962C8B-B14F-4D97-AF65-F5344CB8AC3E}">
        <p14:creationId xmlns:p14="http://schemas.microsoft.com/office/powerpoint/2010/main" val="9745681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D546-D756-E922-836A-171662F48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2BA85-DB94-C1D8-38B2-0EE127BC0DB9}"/>
              </a:ext>
            </a:extLst>
          </p:cNvPr>
          <p:cNvSpPr>
            <a:spLocks noGrp="1"/>
          </p:cNvSpPr>
          <p:nvPr>
            <p:ph type="title"/>
          </p:nvPr>
        </p:nvSpPr>
        <p:spPr/>
        <p:txBody>
          <a:bodyPr>
            <a:normAutofit/>
          </a:bodyPr>
          <a:lstStyle/>
          <a:p>
            <a:r>
              <a:rPr lang="en-US" dirty="0"/>
              <a:t>Numbers &amp; Boolean Results</a:t>
            </a:r>
          </a:p>
        </p:txBody>
      </p:sp>
      <p:sp>
        <p:nvSpPr>
          <p:cNvPr id="3" name="Content Placeholder 2">
            <a:extLst>
              <a:ext uri="{FF2B5EF4-FFF2-40B4-BE49-F238E27FC236}">
                <a16:creationId xmlns:a16="http://schemas.microsoft.com/office/drawing/2014/main" id="{5AA0564D-84FC-B23E-86FD-DEED9739BB7F}"/>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r>
              <a:rPr lang="en-US" dirty="0"/>
              <a:t>Comparisons Return Booleans</a:t>
            </a:r>
          </a:p>
          <a:p>
            <a:endParaRPr lang="en-US" dirty="0"/>
          </a:p>
          <a:p>
            <a:r>
              <a:rPr lang="en-US" dirty="0"/>
              <a:t>Used in</a:t>
            </a:r>
          </a:p>
          <a:p>
            <a:pPr lvl="1"/>
            <a:r>
              <a:rPr lang="en-US" dirty="0"/>
              <a:t>if statements</a:t>
            </a:r>
          </a:p>
          <a:p>
            <a:pPr lvl="1"/>
            <a:r>
              <a:rPr lang="en-US" dirty="0"/>
              <a:t>loops</a:t>
            </a:r>
          </a:p>
          <a:p>
            <a:pPr lvl="1"/>
            <a:r>
              <a:rPr lang="en-US" dirty="0"/>
              <a:t>conditional expressions</a:t>
            </a:r>
          </a:p>
          <a:p>
            <a:endParaRPr lang="en-US" dirty="0"/>
          </a:p>
        </p:txBody>
      </p:sp>
      <p:sp>
        <p:nvSpPr>
          <p:cNvPr id="4" name="Content Placeholder 2">
            <a:extLst>
              <a:ext uri="{FF2B5EF4-FFF2-40B4-BE49-F238E27FC236}">
                <a16:creationId xmlns:a16="http://schemas.microsoft.com/office/drawing/2014/main" id="{9BA328F4-4CCE-8765-BE89-7FFFE9B4FACA}"/>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da-DK" dirty="0"/>
              <a:t>5 &gt; 3          # True</a:t>
            </a:r>
          </a:p>
          <a:p>
            <a:pPr marL="0" indent="0">
              <a:buNone/>
            </a:pPr>
            <a:r>
              <a:rPr lang="da-DK" dirty="0"/>
              <a:t>10 == 5        # False</a:t>
            </a:r>
          </a:p>
        </p:txBody>
      </p:sp>
    </p:spTree>
    <p:extLst>
      <p:ext uri="{BB962C8B-B14F-4D97-AF65-F5344CB8AC3E}">
        <p14:creationId xmlns:p14="http://schemas.microsoft.com/office/powerpoint/2010/main" val="3461805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9AA33-B2D9-3421-BE7E-D3A6DFC4A4C6}"/>
              </a:ext>
            </a:extLst>
          </p:cNvPr>
          <p:cNvSpPr>
            <a:spLocks noGrp="1"/>
          </p:cNvSpPr>
          <p:nvPr>
            <p:ph type="title"/>
          </p:nvPr>
        </p:nvSpPr>
        <p:spPr/>
        <p:txBody>
          <a:bodyPr/>
          <a:lstStyle/>
          <a:p>
            <a:r>
              <a:rPr lang="en-SG" dirty="0"/>
              <a:t>Type Conversion with Numbers</a:t>
            </a:r>
          </a:p>
        </p:txBody>
      </p:sp>
      <p:sp>
        <p:nvSpPr>
          <p:cNvPr id="3" name="Content Placeholder 2">
            <a:extLst>
              <a:ext uri="{FF2B5EF4-FFF2-40B4-BE49-F238E27FC236}">
                <a16:creationId xmlns:a16="http://schemas.microsoft.com/office/drawing/2014/main" id="{82A75FAB-C388-750F-EF87-4C86AC813260}"/>
              </a:ext>
            </a:extLst>
          </p:cNvPr>
          <p:cNvSpPr>
            <a:spLocks noGrp="1"/>
          </p:cNvSpPr>
          <p:nvPr>
            <p:ph idx="1"/>
          </p:nvPr>
        </p:nvSpPr>
        <p:spPr/>
        <p:txBody>
          <a:bodyPr/>
          <a:lstStyle/>
          <a:p>
            <a:pPr marL="0" indent="0">
              <a:buNone/>
            </a:pPr>
            <a:r>
              <a:rPr lang="en-SG" dirty="0"/>
              <a:t>int("10")      # 10</a:t>
            </a:r>
          </a:p>
          <a:p>
            <a:pPr marL="0" indent="0">
              <a:buNone/>
            </a:pPr>
            <a:r>
              <a:rPr lang="en-SG" dirty="0"/>
              <a:t>float("3.14")  # 3.14</a:t>
            </a:r>
          </a:p>
          <a:p>
            <a:pPr marL="0" indent="0">
              <a:buNone/>
            </a:pPr>
            <a:r>
              <a:rPr lang="en-SG" dirty="0"/>
              <a:t>int(3.9)       # 3</a:t>
            </a:r>
          </a:p>
          <a:p>
            <a:pPr marL="0" indent="0">
              <a:buNone/>
            </a:pPr>
            <a:endParaRPr lang="en-SG" dirty="0"/>
          </a:p>
          <a:p>
            <a:r>
              <a:rPr lang="en-SG" dirty="0"/>
              <a:t># </a:t>
            </a:r>
            <a:r>
              <a:rPr lang="en-US" dirty="0"/>
              <a:t>Casting truncates, not rounds</a:t>
            </a:r>
          </a:p>
          <a:p>
            <a:pPr marL="0" indent="0">
              <a:buNone/>
            </a:pPr>
            <a:endParaRPr lang="en-SG" dirty="0"/>
          </a:p>
        </p:txBody>
      </p:sp>
    </p:spTree>
    <p:extLst>
      <p:ext uri="{BB962C8B-B14F-4D97-AF65-F5344CB8AC3E}">
        <p14:creationId xmlns:p14="http://schemas.microsoft.com/office/powerpoint/2010/main" val="3941521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132CF-4819-C9F5-78E4-201E0348A3D0}"/>
              </a:ext>
            </a:extLst>
          </p:cNvPr>
          <p:cNvSpPr>
            <a:spLocks noGrp="1"/>
          </p:cNvSpPr>
          <p:nvPr>
            <p:ph type="title"/>
          </p:nvPr>
        </p:nvSpPr>
        <p:spPr/>
        <p:txBody>
          <a:bodyPr/>
          <a:lstStyle/>
          <a:p>
            <a:r>
              <a:rPr lang="en-US" dirty="0"/>
              <a:t>Common Numeric Pitfalls</a:t>
            </a:r>
            <a:endParaRPr lang="en-SG" dirty="0"/>
          </a:p>
        </p:txBody>
      </p:sp>
      <p:sp>
        <p:nvSpPr>
          <p:cNvPr id="3" name="Content Placeholder 2">
            <a:extLst>
              <a:ext uri="{FF2B5EF4-FFF2-40B4-BE49-F238E27FC236}">
                <a16:creationId xmlns:a16="http://schemas.microsoft.com/office/drawing/2014/main" id="{E2B33AE8-C5B3-7B88-E836-E7A2AD00E6EC}"/>
              </a:ext>
            </a:extLst>
          </p:cNvPr>
          <p:cNvSpPr>
            <a:spLocks noGrp="1"/>
          </p:cNvSpPr>
          <p:nvPr>
            <p:ph idx="1"/>
          </p:nvPr>
        </p:nvSpPr>
        <p:spPr/>
        <p:txBody>
          <a:bodyPr/>
          <a:lstStyle/>
          <a:p>
            <a:r>
              <a:rPr lang="en-US" dirty="0"/>
              <a:t>Floating-point precision errors</a:t>
            </a:r>
          </a:p>
          <a:p>
            <a:r>
              <a:rPr lang="en-US" dirty="0"/>
              <a:t>Dividing integers expecting integers</a:t>
            </a:r>
          </a:p>
          <a:p>
            <a:r>
              <a:rPr lang="en-US" dirty="0"/>
              <a:t>Using == with floats</a:t>
            </a:r>
          </a:p>
          <a:p>
            <a:r>
              <a:rPr lang="en-US" dirty="0"/>
              <a:t>Floor division with negative numbers</a:t>
            </a:r>
          </a:p>
          <a:p>
            <a:endParaRPr lang="en-SG" dirty="0"/>
          </a:p>
        </p:txBody>
      </p:sp>
    </p:spTree>
    <p:extLst>
      <p:ext uri="{BB962C8B-B14F-4D97-AF65-F5344CB8AC3E}">
        <p14:creationId xmlns:p14="http://schemas.microsoft.com/office/powerpoint/2010/main" val="15421123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63E25-4811-4BBF-74BA-C0EF882BECCE}"/>
              </a:ext>
            </a:extLst>
          </p:cNvPr>
          <p:cNvSpPr>
            <a:spLocks noGrp="1"/>
          </p:cNvSpPr>
          <p:nvPr>
            <p:ph type="title"/>
          </p:nvPr>
        </p:nvSpPr>
        <p:spPr/>
        <p:txBody>
          <a:bodyPr/>
          <a:lstStyle/>
          <a:p>
            <a:r>
              <a:rPr lang="en-SG" dirty="0"/>
              <a:t>Best Practices</a:t>
            </a:r>
          </a:p>
        </p:txBody>
      </p:sp>
      <p:sp>
        <p:nvSpPr>
          <p:cNvPr id="3" name="Content Placeholder 2">
            <a:extLst>
              <a:ext uri="{FF2B5EF4-FFF2-40B4-BE49-F238E27FC236}">
                <a16:creationId xmlns:a16="http://schemas.microsoft.com/office/drawing/2014/main" id="{2285A6F8-D947-3FF2-6A24-B46EB4C20D95}"/>
              </a:ext>
            </a:extLst>
          </p:cNvPr>
          <p:cNvSpPr>
            <a:spLocks noGrp="1"/>
          </p:cNvSpPr>
          <p:nvPr>
            <p:ph idx="1"/>
          </p:nvPr>
        </p:nvSpPr>
        <p:spPr/>
        <p:txBody>
          <a:bodyPr/>
          <a:lstStyle/>
          <a:p>
            <a:r>
              <a:rPr lang="en-US" dirty="0"/>
              <a:t>Use Decimal for money</a:t>
            </a:r>
          </a:p>
          <a:p>
            <a:r>
              <a:rPr lang="en-US" dirty="0"/>
              <a:t>Use integers for counts</a:t>
            </a:r>
          </a:p>
          <a:p>
            <a:r>
              <a:rPr lang="en-US" dirty="0"/>
              <a:t>Use // and % intentionally</a:t>
            </a:r>
          </a:p>
          <a:p>
            <a:r>
              <a:rPr lang="en-US" dirty="0"/>
              <a:t>Group expressions with parentheses</a:t>
            </a:r>
          </a:p>
          <a:p>
            <a:endParaRPr lang="en-SG" dirty="0"/>
          </a:p>
        </p:txBody>
      </p:sp>
    </p:spTree>
    <p:extLst>
      <p:ext uri="{BB962C8B-B14F-4D97-AF65-F5344CB8AC3E}">
        <p14:creationId xmlns:p14="http://schemas.microsoft.com/office/powerpoint/2010/main" val="12505818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BF920-9D3F-421F-0F1A-2CD702CA6688}"/>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D797C996-680F-2593-A35D-380A8967E0E3}"/>
              </a:ext>
            </a:extLst>
          </p:cNvPr>
          <p:cNvSpPr>
            <a:spLocks noGrp="1"/>
          </p:cNvSpPr>
          <p:nvPr>
            <p:ph idx="1"/>
          </p:nvPr>
        </p:nvSpPr>
        <p:spPr/>
        <p:txBody>
          <a:bodyPr/>
          <a:lstStyle/>
          <a:p>
            <a:r>
              <a:rPr lang="en-US" dirty="0"/>
              <a:t>Ask the user for two numbers</a:t>
            </a:r>
          </a:p>
          <a:p>
            <a:endParaRPr lang="en-US" dirty="0"/>
          </a:p>
          <a:p>
            <a:r>
              <a:rPr lang="en-US" dirty="0"/>
              <a:t>Print:</a:t>
            </a:r>
          </a:p>
          <a:p>
            <a:pPr lvl="1"/>
            <a:r>
              <a:rPr lang="en-US" dirty="0"/>
              <a:t>Sum</a:t>
            </a:r>
          </a:p>
          <a:p>
            <a:pPr lvl="1"/>
            <a:r>
              <a:rPr lang="en-US" dirty="0"/>
              <a:t>Difference</a:t>
            </a:r>
          </a:p>
          <a:p>
            <a:pPr lvl="1"/>
            <a:r>
              <a:rPr lang="en-US" dirty="0"/>
              <a:t>Product</a:t>
            </a:r>
          </a:p>
          <a:p>
            <a:pPr lvl="1"/>
            <a:r>
              <a:rPr lang="en-US" dirty="0"/>
              <a:t>Quotient (float)</a:t>
            </a:r>
          </a:p>
          <a:p>
            <a:endParaRPr lang="en-SG" dirty="0"/>
          </a:p>
        </p:txBody>
      </p:sp>
    </p:spTree>
    <p:extLst>
      <p:ext uri="{BB962C8B-B14F-4D97-AF65-F5344CB8AC3E}">
        <p14:creationId xmlns:p14="http://schemas.microsoft.com/office/powerpoint/2010/main" val="41650023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CBBA6-53A4-6534-2C34-5A94061664F5}"/>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8DDEFB3B-326D-B11C-DA90-9312FE9E35D1}"/>
              </a:ext>
            </a:extLst>
          </p:cNvPr>
          <p:cNvSpPr>
            <a:spLocks noGrp="1"/>
          </p:cNvSpPr>
          <p:nvPr>
            <p:ph idx="1"/>
          </p:nvPr>
        </p:nvSpPr>
        <p:spPr/>
        <p:txBody>
          <a:bodyPr/>
          <a:lstStyle/>
          <a:p>
            <a:pPr marL="0" indent="0">
              <a:buNone/>
            </a:pPr>
            <a:r>
              <a:rPr lang="en-US" dirty="0"/>
              <a:t>a = float(input("Enter first number: "))</a:t>
            </a:r>
          </a:p>
          <a:p>
            <a:pPr marL="0" indent="0">
              <a:buNone/>
            </a:pPr>
            <a:r>
              <a:rPr lang="en-US" dirty="0"/>
              <a:t>b = float(input("Enter second number: "))</a:t>
            </a:r>
          </a:p>
          <a:p>
            <a:pPr marL="0" indent="0">
              <a:buNone/>
            </a:pPr>
            <a:endParaRPr lang="en-US" dirty="0"/>
          </a:p>
          <a:p>
            <a:pPr marL="0" indent="0">
              <a:buNone/>
            </a:pPr>
            <a:r>
              <a:rPr lang="en-US" dirty="0"/>
              <a:t>print("Sum:", a + b)</a:t>
            </a:r>
          </a:p>
          <a:p>
            <a:pPr marL="0" indent="0">
              <a:buNone/>
            </a:pPr>
            <a:r>
              <a:rPr lang="en-US" dirty="0"/>
              <a:t>print("Difference:", a - b)</a:t>
            </a:r>
          </a:p>
          <a:p>
            <a:pPr marL="0" indent="0">
              <a:buNone/>
            </a:pPr>
            <a:r>
              <a:rPr lang="en-US" dirty="0"/>
              <a:t>print("Product:", a * b)</a:t>
            </a:r>
          </a:p>
          <a:p>
            <a:pPr marL="0" indent="0">
              <a:buNone/>
            </a:pPr>
            <a:r>
              <a:rPr lang="en-US" dirty="0"/>
              <a:t>print("Quotient:", a / b)</a:t>
            </a:r>
          </a:p>
          <a:p>
            <a:pPr marL="0" indent="0">
              <a:buNone/>
            </a:pPr>
            <a:endParaRPr lang="en-SG" dirty="0"/>
          </a:p>
        </p:txBody>
      </p:sp>
    </p:spTree>
    <p:extLst>
      <p:ext uri="{BB962C8B-B14F-4D97-AF65-F5344CB8AC3E}">
        <p14:creationId xmlns:p14="http://schemas.microsoft.com/office/powerpoint/2010/main" val="3676730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C874-8C58-E955-9F43-BE98606C8193}"/>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21A9ED1-5A58-F025-D60A-80A827BE713C}"/>
              </a:ext>
            </a:extLst>
          </p:cNvPr>
          <p:cNvSpPr>
            <a:spLocks noGrp="1"/>
          </p:cNvSpPr>
          <p:nvPr>
            <p:ph idx="1"/>
          </p:nvPr>
        </p:nvSpPr>
        <p:spPr/>
        <p:txBody>
          <a:bodyPr/>
          <a:lstStyle/>
          <a:p>
            <a:r>
              <a:rPr lang="en-US" dirty="0"/>
              <a:t>Python supports multiple numeric types</a:t>
            </a:r>
          </a:p>
          <a:p>
            <a:r>
              <a:rPr lang="en-US" dirty="0"/>
              <a:t>Operator choice affects results</a:t>
            </a:r>
          </a:p>
          <a:p>
            <a:r>
              <a:rPr lang="en-US" dirty="0"/>
              <a:t>Floating-point math has limitations</a:t>
            </a:r>
          </a:p>
          <a:p>
            <a:r>
              <a:rPr lang="en-US" dirty="0"/>
              <a:t>Clarity beats cleverness in numeric code</a:t>
            </a:r>
          </a:p>
          <a:p>
            <a:endParaRPr lang="en-SG" dirty="0"/>
          </a:p>
        </p:txBody>
      </p:sp>
    </p:spTree>
    <p:extLst>
      <p:ext uri="{BB962C8B-B14F-4D97-AF65-F5344CB8AC3E}">
        <p14:creationId xmlns:p14="http://schemas.microsoft.com/office/powerpoint/2010/main" val="39148844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7 / 3            # 2.333…  (float)</a:t>
            </a:r>
            <a:br>
              <a:rPr sz="2400" dirty="0"/>
            </a:br>
            <a:r>
              <a:rPr sz="2400" dirty="0"/>
              <a:t>7 // 3           # 2       (floor int)</a:t>
            </a:r>
            <a:br>
              <a:rPr sz="2400" dirty="0"/>
            </a:br>
            <a:r>
              <a:rPr sz="2400" dirty="0"/>
              <a:t>7 % 3            # 1       (modulo)</a:t>
            </a:r>
            <a:br>
              <a:rPr sz="2400" dirty="0"/>
            </a:br>
            <a:r>
              <a:rPr sz="2400" dirty="0" err="1"/>
              <a:t>divmod</a:t>
            </a:r>
            <a:r>
              <a:rPr sz="2400" dirty="0"/>
              <a:t>(7, 3)     # (2, 1)</a:t>
            </a:r>
            <a:br>
              <a:rPr sz="2400" dirty="0"/>
            </a:br>
            <a:br>
              <a:rPr sz="2400" dirty="0"/>
            </a:br>
            <a:r>
              <a:rPr sz="2400" dirty="0"/>
              <a:t>2 ** 10          # 1024</a:t>
            </a:r>
            <a:br>
              <a:rPr sz="2400" dirty="0"/>
            </a:br>
            <a:r>
              <a:rPr sz="2400" dirty="0"/>
              <a:t>pow(2, 10, 100)  # 24  (modular exponentiation)</a:t>
            </a:r>
            <a:br>
              <a:rPr sz="2400" dirty="0"/>
            </a:br>
            <a:br>
              <a:rPr sz="2400" dirty="0"/>
            </a:br>
            <a:r>
              <a:rPr sz="2400" dirty="0"/>
              <a:t>from decimal import Decimal</a:t>
            </a:r>
            <a:br>
              <a:rPr sz="2400" dirty="0"/>
            </a:br>
            <a:r>
              <a:rPr sz="2400" dirty="0"/>
              <a:t>price = Decimal('19.99')</a:t>
            </a:r>
            <a:br>
              <a:rPr sz="2400" dirty="0"/>
            </a:br>
            <a:r>
              <a:rPr sz="2400" dirty="0"/>
              <a:t>tax   = price * Decimal('0.07')</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EDBEF-D376-5E7E-2F51-E597F0E9A040}"/>
              </a:ext>
            </a:extLst>
          </p:cNvPr>
          <p:cNvSpPr>
            <a:spLocks noGrp="1"/>
          </p:cNvSpPr>
          <p:nvPr>
            <p:ph type="title"/>
          </p:nvPr>
        </p:nvSpPr>
        <p:spPr/>
        <p:txBody>
          <a:bodyPr/>
          <a:lstStyle/>
          <a:p>
            <a:r>
              <a:rPr lang="en-SG" dirty="0"/>
              <a:t>Attributes and Methods</a:t>
            </a:r>
          </a:p>
        </p:txBody>
      </p:sp>
      <p:sp>
        <p:nvSpPr>
          <p:cNvPr id="3" name="Content Placeholder 2">
            <a:extLst>
              <a:ext uri="{FF2B5EF4-FFF2-40B4-BE49-F238E27FC236}">
                <a16:creationId xmlns:a16="http://schemas.microsoft.com/office/drawing/2014/main" id="{D400DD97-CB3B-C333-B251-F749C8C26444}"/>
              </a:ext>
            </a:extLst>
          </p:cNvPr>
          <p:cNvSpPr>
            <a:spLocks noGrp="1"/>
          </p:cNvSpPr>
          <p:nvPr>
            <p:ph idx="1"/>
          </p:nvPr>
        </p:nvSpPr>
        <p:spPr/>
        <p:txBody>
          <a:bodyPr/>
          <a:lstStyle/>
          <a:p>
            <a:r>
              <a:rPr lang="en-US" dirty="0"/>
              <a:t>Different data types will have various attributes/methods that are associated with them.</a:t>
            </a:r>
          </a:p>
          <a:p>
            <a:r>
              <a:rPr lang="en-US" dirty="0"/>
              <a:t>We can access these attributes by using a period: [</a:t>
            </a:r>
            <a:r>
              <a:rPr lang="en-US" dirty="0" err="1"/>
              <a:t>var_name</a:t>
            </a:r>
            <a:r>
              <a:rPr lang="en-US" dirty="0"/>
              <a:t>].[attribute]</a:t>
            </a:r>
            <a:endParaRPr lang="en-SG" dirty="0"/>
          </a:p>
        </p:txBody>
      </p:sp>
    </p:spTree>
    <p:extLst>
      <p:ext uri="{BB962C8B-B14F-4D97-AF65-F5344CB8AC3E}">
        <p14:creationId xmlns:p14="http://schemas.microsoft.com/office/powerpoint/2010/main" val="14119773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6BCB-A5CF-82F4-5B90-6E0B4CF53EFE}"/>
              </a:ext>
            </a:extLst>
          </p:cNvPr>
          <p:cNvSpPr>
            <a:spLocks noGrp="1"/>
          </p:cNvSpPr>
          <p:nvPr>
            <p:ph type="title"/>
          </p:nvPr>
        </p:nvSpPr>
        <p:spPr/>
        <p:txBody>
          <a:bodyPr/>
          <a:lstStyle/>
          <a:p>
            <a:r>
              <a:rPr lang="en-SG" dirty="0"/>
              <a:t>Strings</a:t>
            </a:r>
          </a:p>
        </p:txBody>
      </p:sp>
      <p:sp>
        <p:nvSpPr>
          <p:cNvPr id="3" name="Content Placeholder 2">
            <a:extLst>
              <a:ext uri="{FF2B5EF4-FFF2-40B4-BE49-F238E27FC236}">
                <a16:creationId xmlns:a16="http://schemas.microsoft.com/office/drawing/2014/main" id="{1F2E1D83-BFB6-344E-AF06-1EFAA12E572B}"/>
              </a:ext>
            </a:extLst>
          </p:cNvPr>
          <p:cNvSpPr>
            <a:spLocks noGrp="1"/>
          </p:cNvSpPr>
          <p:nvPr>
            <p:ph idx="1"/>
          </p:nvPr>
        </p:nvSpPr>
        <p:spPr>
          <a:xfrm>
            <a:off x="571500" y="1600198"/>
            <a:ext cx="6604000" cy="4525963"/>
          </a:xfrm>
        </p:spPr>
        <p:style>
          <a:lnRef idx="2">
            <a:schemeClr val="dk1"/>
          </a:lnRef>
          <a:fillRef idx="1">
            <a:schemeClr val="lt1"/>
          </a:fillRef>
          <a:effectRef idx="0">
            <a:schemeClr val="dk1"/>
          </a:effectRef>
          <a:fontRef idx="minor">
            <a:schemeClr val="dk1"/>
          </a:fontRef>
        </p:style>
        <p:txBody>
          <a:bodyPr/>
          <a:lstStyle/>
          <a:p>
            <a:r>
              <a:rPr lang="en-US" dirty="0"/>
              <a:t>Strings are sequences of characters</a:t>
            </a:r>
          </a:p>
          <a:p>
            <a:r>
              <a:rPr lang="en-US" dirty="0"/>
              <a:t>Indexed from 0, support slicing</a:t>
            </a:r>
          </a:p>
          <a:p>
            <a:r>
              <a:rPr lang="en-US" dirty="0"/>
              <a:t>Strings are immutable</a:t>
            </a:r>
          </a:p>
        </p:txBody>
      </p:sp>
      <p:sp>
        <p:nvSpPr>
          <p:cNvPr id="7" name="Content Placeholder 2">
            <a:extLst>
              <a:ext uri="{FF2B5EF4-FFF2-40B4-BE49-F238E27FC236}">
                <a16:creationId xmlns:a16="http://schemas.microsoft.com/office/drawing/2014/main" id="{B9882589-B8AD-D557-ACA0-1FC895A4A797}"/>
              </a:ext>
            </a:extLst>
          </p:cNvPr>
          <p:cNvSpPr txBox="1">
            <a:spLocks/>
          </p:cNvSpPr>
          <p:nvPr/>
        </p:nvSpPr>
        <p:spPr>
          <a:xfrm>
            <a:off x="7454900" y="1600199"/>
            <a:ext cx="4276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800" dirty="0"/>
              <a:t>#Small example </a:t>
            </a:r>
          </a:p>
          <a:p>
            <a:pPr marL="0" indent="0">
              <a:buNone/>
            </a:pPr>
            <a:r>
              <a:rPr lang="en-US" sz="2800" dirty="0"/>
              <a:t>x = "Hello World!" </a:t>
            </a:r>
          </a:p>
          <a:p>
            <a:pPr marL="0" indent="0">
              <a:buNone/>
            </a:pPr>
            <a:r>
              <a:rPr lang="en-US" sz="2800" dirty="0" err="1"/>
              <a:t>x.split</a:t>
            </a:r>
            <a:r>
              <a:rPr lang="en-US" sz="2800" dirty="0"/>
              <a:t>(" ") </a:t>
            </a:r>
          </a:p>
          <a:p>
            <a:pPr marL="0" indent="0">
              <a:buNone/>
            </a:pPr>
            <a:endParaRPr lang="en-US" sz="2800" dirty="0"/>
          </a:p>
          <a:p>
            <a:pPr marL="0" indent="0">
              <a:buNone/>
            </a:pPr>
            <a:r>
              <a:rPr lang="en-US" sz="2800" dirty="0"/>
              <a:t># Output</a:t>
            </a:r>
          </a:p>
          <a:p>
            <a:pPr marL="0" indent="0">
              <a:buNone/>
            </a:pPr>
            <a:r>
              <a:rPr lang="en-US" sz="2800" dirty="0"/>
              <a:t>"Hello" "World!"</a:t>
            </a:r>
            <a:endParaRPr lang="en-SG" sz="2800" dirty="0"/>
          </a:p>
        </p:txBody>
      </p:sp>
    </p:spTree>
    <p:extLst>
      <p:ext uri="{BB962C8B-B14F-4D97-AF65-F5344CB8AC3E}">
        <p14:creationId xmlns:p14="http://schemas.microsoft.com/office/powerpoint/2010/main" val="19107981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 Methods &amp; Formatting</a:t>
            </a:r>
          </a:p>
        </p:txBody>
      </p:sp>
      <p:sp>
        <p:nvSpPr>
          <p:cNvPr id="3" name="Content Placeholder 2"/>
          <p:cNvSpPr>
            <a:spLocks noGrp="1"/>
          </p:cNvSpPr>
          <p:nvPr>
            <p:ph idx="1"/>
          </p:nvPr>
        </p:nvSpPr>
        <p:spPr/>
        <p:txBody>
          <a:bodyPr/>
          <a:lstStyle/>
          <a:p>
            <a:r>
              <a:t>Common methods: upper(), split(), replace()</a:t>
            </a:r>
          </a:p>
          <a:p>
            <a:r>
              <a:t>f-strings for clean formatting</a:t>
            </a:r>
          </a:p>
          <a:p>
            <a:r>
              <a:t>Operations return new strings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5B096-4217-FB31-C64B-1FA0E42B6162}"/>
              </a:ext>
            </a:extLst>
          </p:cNvPr>
          <p:cNvSpPr>
            <a:spLocks noGrp="1"/>
          </p:cNvSpPr>
          <p:nvPr>
            <p:ph type="title"/>
          </p:nvPr>
        </p:nvSpPr>
        <p:spPr/>
        <p:txBody>
          <a:bodyPr>
            <a:normAutofit/>
          </a:bodyPr>
          <a:lstStyle/>
          <a:p>
            <a:r>
              <a:rPr lang="en-SG" dirty="0"/>
              <a:t>String Length &amp; Indexing</a:t>
            </a:r>
          </a:p>
        </p:txBody>
      </p:sp>
      <p:sp>
        <p:nvSpPr>
          <p:cNvPr id="3" name="Content Placeholder 2">
            <a:extLst>
              <a:ext uri="{FF2B5EF4-FFF2-40B4-BE49-F238E27FC236}">
                <a16:creationId xmlns:a16="http://schemas.microsoft.com/office/drawing/2014/main" id="{8EC399F5-F139-FEF0-12D5-E3B058FBEDA3}"/>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 = "Python"</a:t>
            </a:r>
          </a:p>
          <a:p>
            <a:pPr marL="0" indent="0">
              <a:buNone/>
            </a:pPr>
            <a:r>
              <a:rPr lang="en-US" dirty="0"/>
              <a:t>print(</a:t>
            </a:r>
            <a:r>
              <a:rPr lang="en-US" dirty="0" err="1"/>
              <a:t>len</a:t>
            </a:r>
            <a:r>
              <a:rPr lang="en-US" dirty="0"/>
              <a:t>(word))</a:t>
            </a:r>
          </a:p>
          <a:p>
            <a:pPr marL="0" indent="0">
              <a:buNone/>
            </a:pPr>
            <a:r>
              <a:rPr lang="en-US" dirty="0"/>
              <a:t>print(word[0])</a:t>
            </a:r>
          </a:p>
          <a:p>
            <a:pPr marL="0" indent="0">
              <a:buNone/>
            </a:pPr>
            <a:r>
              <a:rPr lang="en-US" dirty="0"/>
              <a:t>print(word[-1])</a:t>
            </a:r>
          </a:p>
          <a:p>
            <a:pPr marL="0" indent="0">
              <a:buNone/>
            </a:pPr>
            <a:endParaRPr lang="en-SG" dirty="0"/>
          </a:p>
        </p:txBody>
      </p:sp>
      <p:sp>
        <p:nvSpPr>
          <p:cNvPr id="4" name="Content Placeholder 2">
            <a:extLst>
              <a:ext uri="{FF2B5EF4-FFF2-40B4-BE49-F238E27FC236}">
                <a16:creationId xmlns:a16="http://schemas.microsoft.com/office/drawing/2014/main" id="{0C1A0489-A9EF-D7A9-ABF8-5A6E67046EAE}"/>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Indexing starts at </a:t>
            </a:r>
            <a:r>
              <a:rPr lang="en-US" b="1" dirty="0"/>
              <a:t>0</a:t>
            </a:r>
            <a:endParaRPr lang="en-US" dirty="0"/>
          </a:p>
          <a:p>
            <a:r>
              <a:rPr lang="en-US" dirty="0"/>
              <a:t>Negative indexing counts from the end</a:t>
            </a:r>
          </a:p>
        </p:txBody>
      </p:sp>
    </p:spTree>
    <p:extLst>
      <p:ext uri="{BB962C8B-B14F-4D97-AF65-F5344CB8AC3E}">
        <p14:creationId xmlns:p14="http://schemas.microsoft.com/office/powerpoint/2010/main" val="13869093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5E237-3914-1BB3-6DA9-7B6023E09A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506C1-F2C2-5468-9694-01D2B652D419}"/>
              </a:ext>
            </a:extLst>
          </p:cNvPr>
          <p:cNvSpPr>
            <a:spLocks noGrp="1"/>
          </p:cNvSpPr>
          <p:nvPr>
            <p:ph type="title"/>
          </p:nvPr>
        </p:nvSpPr>
        <p:spPr/>
        <p:txBody>
          <a:bodyPr>
            <a:normAutofit/>
          </a:bodyPr>
          <a:lstStyle/>
          <a:p>
            <a:r>
              <a:rPr lang="en-SG" dirty="0"/>
              <a:t>String Slicing</a:t>
            </a:r>
          </a:p>
        </p:txBody>
      </p:sp>
      <p:sp>
        <p:nvSpPr>
          <p:cNvPr id="3" name="Content Placeholder 2">
            <a:extLst>
              <a:ext uri="{FF2B5EF4-FFF2-40B4-BE49-F238E27FC236}">
                <a16:creationId xmlns:a16="http://schemas.microsoft.com/office/drawing/2014/main" id="{61146DA2-6A56-6A37-4796-D6AC5E99A940}"/>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"Programming"</a:t>
            </a:r>
          </a:p>
          <a:p>
            <a:pPr marL="0" indent="0">
              <a:buNone/>
            </a:pPr>
            <a:r>
              <a:rPr lang="en-US" dirty="0"/>
              <a:t>print(text[0:6])</a:t>
            </a:r>
          </a:p>
          <a:p>
            <a:pPr marL="0" indent="0">
              <a:buNone/>
            </a:pPr>
            <a:r>
              <a:rPr lang="en-US" dirty="0"/>
              <a:t>print(text[:6])</a:t>
            </a:r>
          </a:p>
          <a:p>
            <a:pPr marL="0" indent="0">
              <a:buNone/>
            </a:pPr>
            <a:r>
              <a:rPr lang="en-US" dirty="0"/>
              <a:t>print(text[3:])</a:t>
            </a:r>
          </a:p>
        </p:txBody>
      </p:sp>
      <p:sp>
        <p:nvSpPr>
          <p:cNvPr id="4" name="Content Placeholder 2">
            <a:extLst>
              <a:ext uri="{FF2B5EF4-FFF2-40B4-BE49-F238E27FC236}">
                <a16:creationId xmlns:a16="http://schemas.microsoft.com/office/drawing/2014/main" id="{34AE2250-E4F4-765E-821B-AEB8D93A1EF7}"/>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Extract substrings</a:t>
            </a:r>
          </a:p>
          <a:p>
            <a:r>
              <a:rPr lang="en-US" dirty="0"/>
              <a:t>Start index inclusive, end index exclusive</a:t>
            </a:r>
          </a:p>
        </p:txBody>
      </p:sp>
    </p:spTree>
    <p:extLst>
      <p:ext uri="{BB962C8B-B14F-4D97-AF65-F5344CB8AC3E}">
        <p14:creationId xmlns:p14="http://schemas.microsoft.com/office/powerpoint/2010/main" val="5797259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8F3E-2CC7-17B5-8A4D-87ACC40576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DFA907-D8BD-0499-6A06-18CE497A92F8}"/>
              </a:ext>
            </a:extLst>
          </p:cNvPr>
          <p:cNvSpPr>
            <a:spLocks noGrp="1"/>
          </p:cNvSpPr>
          <p:nvPr>
            <p:ph type="title"/>
          </p:nvPr>
        </p:nvSpPr>
        <p:spPr/>
        <p:txBody>
          <a:bodyPr>
            <a:normAutofit/>
          </a:bodyPr>
          <a:lstStyle/>
          <a:p>
            <a:r>
              <a:rPr lang="en-SG" dirty="0"/>
              <a:t>String Concatenation &amp; Repetition</a:t>
            </a:r>
          </a:p>
        </p:txBody>
      </p:sp>
      <p:sp>
        <p:nvSpPr>
          <p:cNvPr id="3" name="Content Placeholder 2">
            <a:extLst>
              <a:ext uri="{FF2B5EF4-FFF2-40B4-BE49-F238E27FC236}">
                <a16:creationId xmlns:a16="http://schemas.microsoft.com/office/drawing/2014/main" id="{BE653EFF-BECC-FEE5-B6B5-320AE6E9F9F5}"/>
              </a:ext>
            </a:extLst>
          </p:cNvPr>
          <p:cNvSpPr>
            <a:spLocks noGrp="1"/>
          </p:cNvSpPr>
          <p:nvPr>
            <p:ph idx="1"/>
          </p:nvPr>
        </p:nvSpPr>
        <p:spPr>
          <a:xfrm>
            <a:off x="457199" y="1600200"/>
            <a:ext cx="80010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first = "Hello"</a:t>
            </a:r>
          </a:p>
          <a:p>
            <a:pPr marL="0" indent="0">
              <a:buNone/>
            </a:pPr>
            <a:r>
              <a:rPr lang="en-US" dirty="0"/>
              <a:t>second = "World"</a:t>
            </a:r>
          </a:p>
          <a:p>
            <a:pPr marL="0" indent="0">
              <a:buNone/>
            </a:pPr>
            <a:endParaRPr lang="en-US" dirty="0"/>
          </a:p>
          <a:p>
            <a:pPr marL="0" indent="0">
              <a:buNone/>
            </a:pPr>
            <a:r>
              <a:rPr lang="en-US" dirty="0"/>
              <a:t>print(first + " " + second)</a:t>
            </a:r>
          </a:p>
          <a:p>
            <a:pPr marL="0" indent="0">
              <a:buNone/>
            </a:pPr>
            <a:r>
              <a:rPr lang="en-US" dirty="0"/>
              <a:t>print(first * 3)</a:t>
            </a:r>
          </a:p>
        </p:txBody>
      </p:sp>
    </p:spTree>
    <p:extLst>
      <p:ext uri="{BB962C8B-B14F-4D97-AF65-F5344CB8AC3E}">
        <p14:creationId xmlns:p14="http://schemas.microsoft.com/office/powerpoint/2010/main" val="1350195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508C-4832-C0AA-C1C2-72A24A8DF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F64BEC-5503-6AD8-C568-A5189F477DDD}"/>
              </a:ext>
            </a:extLst>
          </p:cNvPr>
          <p:cNvSpPr>
            <a:spLocks noGrp="1"/>
          </p:cNvSpPr>
          <p:nvPr>
            <p:ph type="title"/>
          </p:nvPr>
        </p:nvSpPr>
        <p:spPr/>
        <p:txBody>
          <a:bodyPr>
            <a:normAutofit/>
          </a:bodyPr>
          <a:lstStyle/>
          <a:p>
            <a:r>
              <a:rPr lang="en-SG" dirty="0"/>
              <a:t>Common String Methods</a:t>
            </a:r>
          </a:p>
        </p:txBody>
      </p:sp>
      <p:sp>
        <p:nvSpPr>
          <p:cNvPr id="3" name="Content Placeholder 2">
            <a:extLst>
              <a:ext uri="{FF2B5EF4-FFF2-40B4-BE49-F238E27FC236}">
                <a16:creationId xmlns:a16="http://schemas.microsoft.com/office/drawing/2014/main" id="{7E3822BC-2820-39EA-E2F7-0F1074EB346C}"/>
              </a:ext>
            </a:extLst>
          </p:cNvPr>
          <p:cNvSpPr>
            <a:spLocks noGrp="1"/>
          </p:cNvSpPr>
          <p:nvPr>
            <p:ph idx="1"/>
          </p:nvPr>
        </p:nvSpPr>
        <p:spPr>
          <a:xfrm>
            <a:off x="457199" y="1600200"/>
            <a:ext cx="52959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SG" dirty="0" err="1"/>
              <a:t>msg</a:t>
            </a:r>
            <a:r>
              <a:rPr lang="en-SG" dirty="0"/>
              <a:t> = "python programming"</a:t>
            </a:r>
          </a:p>
          <a:p>
            <a:pPr marL="0" indent="0">
              <a:buNone/>
            </a:pPr>
            <a:endParaRPr lang="en-SG" dirty="0"/>
          </a:p>
          <a:p>
            <a:pPr marL="0" indent="0">
              <a:buNone/>
            </a:pPr>
            <a:r>
              <a:rPr lang="en-SG" dirty="0"/>
              <a:t>print(</a:t>
            </a:r>
            <a:r>
              <a:rPr lang="en-SG" dirty="0" err="1"/>
              <a:t>msg.upper</a:t>
            </a:r>
            <a:r>
              <a:rPr lang="en-SG" dirty="0"/>
              <a:t>())</a:t>
            </a:r>
          </a:p>
          <a:p>
            <a:pPr marL="0" indent="0">
              <a:buNone/>
            </a:pPr>
            <a:r>
              <a:rPr lang="en-SG" dirty="0"/>
              <a:t>print(</a:t>
            </a:r>
            <a:r>
              <a:rPr lang="en-SG" dirty="0" err="1"/>
              <a:t>msg.lower</a:t>
            </a:r>
            <a:r>
              <a:rPr lang="en-SG" dirty="0"/>
              <a:t>())</a:t>
            </a:r>
          </a:p>
          <a:p>
            <a:pPr marL="0" indent="0">
              <a:buNone/>
            </a:pPr>
            <a:r>
              <a:rPr lang="en-SG" dirty="0"/>
              <a:t>print(</a:t>
            </a:r>
            <a:r>
              <a:rPr lang="en-SG" dirty="0" err="1"/>
              <a:t>msg.title</a:t>
            </a:r>
            <a:r>
              <a:rPr lang="en-SG" dirty="0"/>
              <a:t>())</a:t>
            </a:r>
          </a:p>
          <a:p>
            <a:pPr marL="0" indent="0">
              <a:buNone/>
            </a:pPr>
            <a:r>
              <a:rPr lang="en-SG" dirty="0"/>
              <a:t>print(</a:t>
            </a:r>
            <a:r>
              <a:rPr lang="en-SG" dirty="0" err="1"/>
              <a:t>msg.strip</a:t>
            </a:r>
            <a:r>
              <a:rPr lang="en-SG" dirty="0"/>
              <a:t>())</a:t>
            </a:r>
          </a:p>
        </p:txBody>
      </p:sp>
      <p:sp>
        <p:nvSpPr>
          <p:cNvPr id="4" name="Content Placeholder 2">
            <a:extLst>
              <a:ext uri="{FF2B5EF4-FFF2-40B4-BE49-F238E27FC236}">
                <a16:creationId xmlns:a16="http://schemas.microsoft.com/office/drawing/2014/main" id="{479D9F21-99D3-4AC0-2352-FDEBC88FD872}"/>
              </a:ext>
            </a:extLst>
          </p:cNvPr>
          <p:cNvSpPr txBox="1">
            <a:spLocks/>
          </p:cNvSpPr>
          <p:nvPr/>
        </p:nvSpPr>
        <p:spPr>
          <a:xfrm>
            <a:off x="6337300" y="1600199"/>
            <a:ext cx="5575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Methods return </a:t>
            </a:r>
            <a:r>
              <a:rPr lang="en-US" b="1" dirty="0"/>
              <a:t>new strings</a:t>
            </a:r>
            <a:r>
              <a:rPr lang="en-US" dirty="0"/>
              <a:t> (immutability)</a:t>
            </a:r>
          </a:p>
        </p:txBody>
      </p:sp>
    </p:spTree>
    <p:extLst>
      <p:ext uri="{BB962C8B-B14F-4D97-AF65-F5344CB8AC3E}">
        <p14:creationId xmlns:p14="http://schemas.microsoft.com/office/powerpoint/2010/main" val="1341202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62805-1DA4-79CC-278A-7A4975B8E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E00A9-A182-4B8E-8B3B-897A1A472916}"/>
              </a:ext>
            </a:extLst>
          </p:cNvPr>
          <p:cNvSpPr>
            <a:spLocks noGrp="1"/>
          </p:cNvSpPr>
          <p:nvPr>
            <p:ph type="title"/>
          </p:nvPr>
        </p:nvSpPr>
        <p:spPr/>
        <p:txBody>
          <a:bodyPr>
            <a:normAutofit/>
          </a:bodyPr>
          <a:lstStyle/>
          <a:p>
            <a:r>
              <a:rPr lang="en-SG" dirty="0"/>
              <a:t>Searching &amp; Checking Strings</a:t>
            </a:r>
          </a:p>
        </p:txBody>
      </p:sp>
      <p:sp>
        <p:nvSpPr>
          <p:cNvPr id="3" name="Content Placeholder 2">
            <a:extLst>
              <a:ext uri="{FF2B5EF4-FFF2-40B4-BE49-F238E27FC236}">
                <a16:creationId xmlns:a16="http://schemas.microsoft.com/office/drawing/2014/main" id="{758111DC-9291-BACD-8D3B-0EB3DDA0F018}"/>
              </a:ext>
            </a:extLst>
          </p:cNvPr>
          <p:cNvSpPr>
            <a:spLocks noGrp="1"/>
          </p:cNvSpPr>
          <p:nvPr>
            <p:ph idx="1"/>
          </p:nvPr>
        </p:nvSpPr>
        <p:spPr>
          <a:xfrm>
            <a:off x="1320799" y="1587500"/>
            <a:ext cx="67056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"learning python"</a:t>
            </a:r>
          </a:p>
          <a:p>
            <a:pPr marL="0" indent="0">
              <a:buNone/>
            </a:pPr>
            <a:endParaRPr lang="en-US" dirty="0"/>
          </a:p>
          <a:p>
            <a:pPr marL="0" indent="0">
              <a:buNone/>
            </a:pPr>
            <a:r>
              <a:rPr lang="en-US" dirty="0"/>
              <a:t>print("python" in text)</a:t>
            </a:r>
          </a:p>
          <a:p>
            <a:pPr marL="0" indent="0">
              <a:buNone/>
            </a:pPr>
            <a:r>
              <a:rPr lang="en-US" dirty="0"/>
              <a:t>print(</a:t>
            </a:r>
            <a:r>
              <a:rPr lang="en-US" dirty="0" err="1"/>
              <a:t>text.startswith</a:t>
            </a:r>
            <a:r>
              <a:rPr lang="en-US" dirty="0"/>
              <a:t>("learn"))</a:t>
            </a:r>
          </a:p>
          <a:p>
            <a:pPr marL="0" indent="0">
              <a:buNone/>
            </a:pPr>
            <a:r>
              <a:rPr lang="en-US" dirty="0"/>
              <a:t>print(</a:t>
            </a:r>
            <a:r>
              <a:rPr lang="en-US" dirty="0" err="1"/>
              <a:t>text.endswith</a:t>
            </a:r>
            <a:r>
              <a:rPr lang="en-US" dirty="0"/>
              <a:t>("on"))</a:t>
            </a:r>
          </a:p>
        </p:txBody>
      </p:sp>
    </p:spTree>
    <p:extLst>
      <p:ext uri="{BB962C8B-B14F-4D97-AF65-F5344CB8AC3E}">
        <p14:creationId xmlns:p14="http://schemas.microsoft.com/office/powerpoint/2010/main" val="378091804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85A83-8218-208A-47C9-3A6AE267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6CF148-FD2F-E6DB-6AAF-FECE6271258B}"/>
              </a:ext>
            </a:extLst>
          </p:cNvPr>
          <p:cNvSpPr>
            <a:spLocks noGrp="1"/>
          </p:cNvSpPr>
          <p:nvPr>
            <p:ph type="title"/>
          </p:nvPr>
        </p:nvSpPr>
        <p:spPr/>
        <p:txBody>
          <a:bodyPr>
            <a:normAutofit/>
          </a:bodyPr>
          <a:lstStyle/>
          <a:p>
            <a:r>
              <a:rPr lang="en-SG" dirty="0"/>
              <a:t>Replacing &amp; Splitting Strings</a:t>
            </a:r>
          </a:p>
        </p:txBody>
      </p:sp>
      <p:sp>
        <p:nvSpPr>
          <p:cNvPr id="3" name="Content Placeholder 2">
            <a:extLst>
              <a:ext uri="{FF2B5EF4-FFF2-40B4-BE49-F238E27FC236}">
                <a16:creationId xmlns:a16="http://schemas.microsoft.com/office/drawing/2014/main" id="{BD8BA225-F5BF-B3BA-25D4-E6076B77D900}"/>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"I love Python"</a:t>
            </a:r>
          </a:p>
          <a:p>
            <a:pPr marL="0" indent="0">
              <a:buNone/>
            </a:pPr>
            <a:endParaRPr lang="en-US" dirty="0"/>
          </a:p>
          <a:p>
            <a:pPr marL="0" indent="0">
              <a:buNone/>
            </a:pPr>
            <a:r>
              <a:rPr lang="en-US" dirty="0"/>
              <a:t>print(</a:t>
            </a:r>
            <a:r>
              <a:rPr lang="en-US" dirty="0" err="1"/>
              <a:t>sentence.replace</a:t>
            </a:r>
            <a:r>
              <a:rPr lang="en-US" dirty="0"/>
              <a:t>("love", "enjoy"))</a:t>
            </a:r>
          </a:p>
          <a:p>
            <a:pPr marL="0" indent="0">
              <a:buNone/>
            </a:pPr>
            <a:r>
              <a:rPr lang="en-US" dirty="0"/>
              <a:t>print(</a:t>
            </a:r>
            <a:r>
              <a:rPr lang="en-US" dirty="0" err="1"/>
              <a:t>sentence.split</a:t>
            </a:r>
            <a:r>
              <a:rPr lang="en-US" dirty="0"/>
              <a:t>())</a:t>
            </a:r>
          </a:p>
        </p:txBody>
      </p:sp>
    </p:spTree>
    <p:extLst>
      <p:ext uri="{BB962C8B-B14F-4D97-AF65-F5344CB8AC3E}">
        <p14:creationId xmlns:p14="http://schemas.microsoft.com/office/powerpoint/2010/main" val="39324142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443B-ED52-A679-F09E-296E11FBA1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44576-DFFF-AE7D-9CA0-55D2EE68A6E5}"/>
              </a:ext>
            </a:extLst>
          </p:cNvPr>
          <p:cNvSpPr>
            <a:spLocks noGrp="1"/>
          </p:cNvSpPr>
          <p:nvPr>
            <p:ph type="title"/>
          </p:nvPr>
        </p:nvSpPr>
        <p:spPr/>
        <p:txBody>
          <a:bodyPr>
            <a:normAutofit/>
          </a:bodyPr>
          <a:lstStyle/>
          <a:p>
            <a:r>
              <a:rPr lang="en-SG" dirty="0"/>
              <a:t>Joining Strings</a:t>
            </a:r>
          </a:p>
        </p:txBody>
      </p:sp>
      <p:sp>
        <p:nvSpPr>
          <p:cNvPr id="3" name="Content Placeholder 2">
            <a:extLst>
              <a:ext uri="{FF2B5EF4-FFF2-40B4-BE49-F238E27FC236}">
                <a16:creationId xmlns:a16="http://schemas.microsoft.com/office/drawing/2014/main" id="{8A9C42D5-6994-85DB-A737-E05A65E2BCA7}"/>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words = ["Python", "is", "fun"]</a:t>
            </a:r>
          </a:p>
          <a:p>
            <a:pPr marL="0" indent="0">
              <a:buNone/>
            </a:pPr>
            <a:r>
              <a:rPr lang="en-US" dirty="0"/>
              <a:t>sentence = " ".join(words)</a:t>
            </a:r>
          </a:p>
          <a:p>
            <a:pPr marL="0" indent="0">
              <a:buNone/>
            </a:pPr>
            <a:r>
              <a:rPr lang="en-US" dirty="0"/>
              <a:t>print(sentence)</a:t>
            </a:r>
          </a:p>
        </p:txBody>
      </p:sp>
    </p:spTree>
    <p:extLst>
      <p:ext uri="{BB962C8B-B14F-4D97-AF65-F5344CB8AC3E}">
        <p14:creationId xmlns:p14="http://schemas.microsoft.com/office/powerpoint/2010/main" val="10023612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5FDCE-89CD-7116-F268-79C51C839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9D1B0-0E93-25CF-A94F-82838D219837}"/>
              </a:ext>
            </a:extLst>
          </p:cNvPr>
          <p:cNvSpPr>
            <a:spLocks noGrp="1"/>
          </p:cNvSpPr>
          <p:nvPr>
            <p:ph type="title"/>
          </p:nvPr>
        </p:nvSpPr>
        <p:spPr/>
        <p:txBody>
          <a:bodyPr>
            <a:normAutofit/>
          </a:bodyPr>
          <a:lstStyle/>
          <a:p>
            <a:r>
              <a:rPr lang="en-SG" dirty="0"/>
              <a:t>String Formatting (f-strings)</a:t>
            </a:r>
          </a:p>
        </p:txBody>
      </p:sp>
      <p:sp>
        <p:nvSpPr>
          <p:cNvPr id="3" name="Content Placeholder 2">
            <a:extLst>
              <a:ext uri="{FF2B5EF4-FFF2-40B4-BE49-F238E27FC236}">
                <a16:creationId xmlns:a16="http://schemas.microsoft.com/office/drawing/2014/main" id="{F055F6D5-79E6-8CF4-3BC4-EDAF57AE84CB}"/>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name = "Alex"</a:t>
            </a:r>
          </a:p>
          <a:p>
            <a:pPr marL="0" indent="0">
              <a:buNone/>
            </a:pPr>
            <a:r>
              <a:rPr lang="en-US" dirty="0"/>
              <a:t>age = 25</a:t>
            </a:r>
          </a:p>
          <a:p>
            <a:pPr marL="0" indent="0">
              <a:buNone/>
            </a:pPr>
            <a:endParaRPr lang="en-US" dirty="0"/>
          </a:p>
          <a:p>
            <a:pPr marL="0" indent="0">
              <a:buNone/>
            </a:pPr>
            <a:r>
              <a:rPr lang="en-US" dirty="0"/>
              <a:t>print(f"{name} is {age} years old")</a:t>
            </a:r>
          </a:p>
        </p:txBody>
      </p:sp>
      <p:sp>
        <p:nvSpPr>
          <p:cNvPr id="4" name="Content Placeholder 2">
            <a:extLst>
              <a:ext uri="{FF2B5EF4-FFF2-40B4-BE49-F238E27FC236}">
                <a16:creationId xmlns:a16="http://schemas.microsoft.com/office/drawing/2014/main" id="{472431FE-D0D2-88C4-FFA7-126534A057B7}"/>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b="1" dirty="0"/>
              <a:t>Why f-strings?</a:t>
            </a:r>
          </a:p>
          <a:p>
            <a:pPr lvl="1"/>
            <a:r>
              <a:rPr lang="en-US" dirty="0"/>
              <a:t>Clean</a:t>
            </a:r>
          </a:p>
          <a:p>
            <a:pPr lvl="1"/>
            <a:r>
              <a:rPr lang="en-US" dirty="0"/>
              <a:t>Readable</a:t>
            </a:r>
          </a:p>
          <a:p>
            <a:pPr lvl="1"/>
            <a:r>
              <a:rPr lang="en-US" dirty="0"/>
              <a:t>Efficient</a:t>
            </a:r>
          </a:p>
        </p:txBody>
      </p:sp>
    </p:spTree>
    <p:extLst>
      <p:ext uri="{BB962C8B-B14F-4D97-AF65-F5344CB8AC3E}">
        <p14:creationId xmlns:p14="http://schemas.microsoft.com/office/powerpoint/2010/main" val="3821208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8324-9E2C-19F3-4AC3-E657CC5F4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24399-F764-A999-6680-DB144714049A}"/>
              </a:ext>
            </a:extLst>
          </p:cNvPr>
          <p:cNvSpPr>
            <a:spLocks noGrp="1"/>
          </p:cNvSpPr>
          <p:nvPr>
            <p:ph type="title"/>
          </p:nvPr>
        </p:nvSpPr>
        <p:spPr/>
        <p:txBody>
          <a:bodyPr>
            <a:normAutofit/>
          </a:bodyPr>
          <a:lstStyle/>
          <a:p>
            <a:r>
              <a:rPr lang="en-SG" dirty="0"/>
              <a:t>Escape Characters</a:t>
            </a:r>
          </a:p>
        </p:txBody>
      </p:sp>
      <p:sp>
        <p:nvSpPr>
          <p:cNvPr id="3" name="Content Placeholder 2">
            <a:extLst>
              <a:ext uri="{FF2B5EF4-FFF2-40B4-BE49-F238E27FC236}">
                <a16:creationId xmlns:a16="http://schemas.microsoft.com/office/drawing/2014/main" id="{ED7DACCD-97D6-F19B-6862-C82A16DE4C42}"/>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print("Line 1\</a:t>
            </a:r>
            <a:r>
              <a:rPr lang="en-US" dirty="0" err="1"/>
              <a:t>nLine</a:t>
            </a:r>
            <a:r>
              <a:rPr lang="en-US" dirty="0"/>
              <a:t> 2")</a:t>
            </a:r>
          </a:p>
          <a:p>
            <a:pPr marL="0" indent="0">
              <a:buNone/>
            </a:pPr>
            <a:r>
              <a:rPr lang="en-US" dirty="0"/>
              <a:t>print("He said, \"Hello\"")</a:t>
            </a:r>
          </a:p>
        </p:txBody>
      </p:sp>
    </p:spTree>
    <p:extLst>
      <p:ext uri="{BB962C8B-B14F-4D97-AF65-F5344CB8AC3E}">
        <p14:creationId xmlns:p14="http://schemas.microsoft.com/office/powerpoint/2010/main" val="12117287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8F92A-D7BE-F963-36FD-FD407B2D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EDBD-3D4D-7AD9-C579-4C4961BF2244}"/>
              </a:ext>
            </a:extLst>
          </p:cNvPr>
          <p:cNvSpPr>
            <a:spLocks noGrp="1"/>
          </p:cNvSpPr>
          <p:nvPr>
            <p:ph type="title"/>
          </p:nvPr>
        </p:nvSpPr>
        <p:spPr/>
        <p:txBody>
          <a:bodyPr>
            <a:normAutofit/>
          </a:bodyPr>
          <a:lstStyle/>
          <a:p>
            <a:r>
              <a:rPr lang="en-SG" dirty="0"/>
              <a:t>Strings Are Immutable</a:t>
            </a:r>
          </a:p>
        </p:txBody>
      </p:sp>
      <p:sp>
        <p:nvSpPr>
          <p:cNvPr id="3" name="Content Placeholder 2">
            <a:extLst>
              <a:ext uri="{FF2B5EF4-FFF2-40B4-BE49-F238E27FC236}">
                <a16:creationId xmlns:a16="http://schemas.microsoft.com/office/drawing/2014/main" id="{7508A068-1496-BECB-9FD9-831BDDD9A961}"/>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 = "hello"</a:t>
            </a:r>
          </a:p>
          <a:p>
            <a:pPr marL="0" indent="0">
              <a:buNone/>
            </a:pPr>
            <a:r>
              <a:rPr lang="en-US" dirty="0"/>
              <a:t>s = </a:t>
            </a:r>
            <a:r>
              <a:rPr lang="en-US" dirty="0" err="1"/>
              <a:t>s.upper</a:t>
            </a:r>
            <a:r>
              <a:rPr lang="en-US" dirty="0"/>
              <a:t>()</a:t>
            </a:r>
          </a:p>
          <a:p>
            <a:pPr marL="0" indent="0">
              <a:buNone/>
            </a:pPr>
            <a:r>
              <a:rPr lang="en-US" dirty="0"/>
              <a:t>print(s)</a:t>
            </a:r>
          </a:p>
        </p:txBody>
      </p:sp>
      <p:sp>
        <p:nvSpPr>
          <p:cNvPr id="4" name="Content Placeholder 2">
            <a:extLst>
              <a:ext uri="{FF2B5EF4-FFF2-40B4-BE49-F238E27FC236}">
                <a16:creationId xmlns:a16="http://schemas.microsoft.com/office/drawing/2014/main" id="{ECA001BE-501B-5962-B548-C3D95138369F}"/>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Strings cannot be modified in place</a:t>
            </a:r>
          </a:p>
          <a:p>
            <a:r>
              <a:rPr lang="en-US" dirty="0"/>
              <a:t>Operations create </a:t>
            </a:r>
            <a:r>
              <a:rPr lang="en-US" b="1" dirty="0"/>
              <a:t>new strings</a:t>
            </a:r>
            <a:endParaRPr lang="en-US" dirty="0"/>
          </a:p>
        </p:txBody>
      </p:sp>
    </p:spTree>
    <p:extLst>
      <p:ext uri="{BB962C8B-B14F-4D97-AF65-F5344CB8AC3E}">
        <p14:creationId xmlns:p14="http://schemas.microsoft.com/office/powerpoint/2010/main" val="26992651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CA45-4DF4-E0AD-6406-128EACBEB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A7A09-472E-ED32-A1F8-1BBF3CB1B870}"/>
              </a:ext>
            </a:extLst>
          </p:cNvPr>
          <p:cNvSpPr>
            <a:spLocks noGrp="1"/>
          </p:cNvSpPr>
          <p:nvPr>
            <p:ph type="title"/>
          </p:nvPr>
        </p:nvSpPr>
        <p:spPr/>
        <p:txBody>
          <a:bodyPr>
            <a:normAutofit/>
          </a:bodyPr>
          <a:lstStyle/>
          <a:p>
            <a:r>
              <a:rPr lang="en-SG" dirty="0"/>
              <a:t>Common Mistakes</a:t>
            </a:r>
          </a:p>
        </p:txBody>
      </p:sp>
      <p:sp>
        <p:nvSpPr>
          <p:cNvPr id="3" name="Content Placeholder 2">
            <a:extLst>
              <a:ext uri="{FF2B5EF4-FFF2-40B4-BE49-F238E27FC236}">
                <a16:creationId xmlns:a16="http://schemas.microsoft.com/office/drawing/2014/main" id="{C8505F7E-F6A5-02BC-F0B3-D4ABFF934996}"/>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Error</a:t>
            </a:r>
          </a:p>
          <a:p>
            <a:pPr marL="0" indent="0">
              <a:buNone/>
            </a:pPr>
            <a:r>
              <a:rPr lang="en-US" dirty="0"/>
              <a:t>"Age: " + 25</a:t>
            </a:r>
          </a:p>
        </p:txBody>
      </p:sp>
      <p:sp>
        <p:nvSpPr>
          <p:cNvPr id="4" name="Content Placeholder 2">
            <a:extLst>
              <a:ext uri="{FF2B5EF4-FFF2-40B4-BE49-F238E27FC236}">
                <a16:creationId xmlns:a16="http://schemas.microsoft.com/office/drawing/2014/main" id="{FC3B14BA-3814-E8BD-A569-D389569CC554}"/>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Index out of range</a:t>
            </a:r>
          </a:p>
          <a:p>
            <a:r>
              <a:rPr lang="en-US" dirty="0"/>
              <a:t>Forgetting strings are immutable</a:t>
            </a:r>
          </a:p>
          <a:p>
            <a:r>
              <a:rPr lang="en-US" dirty="0"/>
              <a:t>Mixing strings and numbers without conversion</a:t>
            </a:r>
          </a:p>
        </p:txBody>
      </p:sp>
    </p:spTree>
    <p:extLst>
      <p:ext uri="{BB962C8B-B14F-4D97-AF65-F5344CB8AC3E}">
        <p14:creationId xmlns:p14="http://schemas.microsoft.com/office/powerpoint/2010/main" val="23643028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5AD84-CEC1-4FF2-344F-0EE5D96621C6}"/>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F821F046-422A-C743-25A1-2C2D54CC5390}"/>
              </a:ext>
            </a:extLst>
          </p:cNvPr>
          <p:cNvSpPr>
            <a:spLocks noGrp="1"/>
          </p:cNvSpPr>
          <p:nvPr>
            <p:ph idx="1"/>
          </p:nvPr>
        </p:nvSpPr>
        <p:spPr/>
        <p:txBody>
          <a:bodyPr/>
          <a:lstStyle/>
          <a:p>
            <a:r>
              <a:rPr lang="en-US" dirty="0"/>
              <a:t>Strings are sequences and immutable</a:t>
            </a:r>
          </a:p>
          <a:p>
            <a:r>
              <a:rPr lang="en-US" dirty="0"/>
              <a:t>Many built-in methods simplify text processing</a:t>
            </a:r>
          </a:p>
          <a:p>
            <a:r>
              <a:rPr lang="en-US" dirty="0"/>
              <a:t>f-strings are the preferred formatting method</a:t>
            </a:r>
          </a:p>
          <a:p>
            <a:endParaRPr lang="en-SG" dirty="0"/>
          </a:p>
        </p:txBody>
      </p:sp>
    </p:spTree>
    <p:extLst>
      <p:ext uri="{BB962C8B-B14F-4D97-AF65-F5344CB8AC3E}">
        <p14:creationId xmlns:p14="http://schemas.microsoft.com/office/powerpoint/2010/main" val="37102863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4C972-34EC-07EF-D1DF-4548E8FCC4EB}"/>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91879F81-7551-89BA-58C4-C175EC54400E}"/>
              </a:ext>
            </a:extLst>
          </p:cNvPr>
          <p:cNvSpPr>
            <a:spLocks noGrp="1"/>
          </p:cNvSpPr>
          <p:nvPr>
            <p:ph idx="1"/>
          </p:nvPr>
        </p:nvSpPr>
        <p:spPr/>
        <p:txBody>
          <a:bodyPr/>
          <a:lstStyle/>
          <a:p>
            <a:r>
              <a:rPr lang="en-US" dirty="0"/>
              <a:t>Ask the user for a sentence</a:t>
            </a:r>
          </a:p>
          <a:p>
            <a:r>
              <a:rPr lang="en-US" dirty="0"/>
              <a:t>Print:</a:t>
            </a:r>
          </a:p>
          <a:p>
            <a:pPr lvl="1"/>
            <a:r>
              <a:rPr lang="en-US" dirty="0"/>
              <a:t>Length of the sentence</a:t>
            </a:r>
          </a:p>
          <a:p>
            <a:pPr lvl="1"/>
            <a:r>
              <a:rPr lang="en-US" dirty="0"/>
              <a:t>Uppercase version</a:t>
            </a:r>
          </a:p>
          <a:p>
            <a:pPr lvl="1"/>
            <a:r>
              <a:rPr lang="en-US" dirty="0"/>
              <a:t>Number of words</a:t>
            </a:r>
          </a:p>
          <a:p>
            <a:endParaRPr lang="en-SG" dirty="0"/>
          </a:p>
        </p:txBody>
      </p:sp>
    </p:spTree>
    <p:extLst>
      <p:ext uri="{BB962C8B-B14F-4D97-AF65-F5344CB8AC3E}">
        <p14:creationId xmlns:p14="http://schemas.microsoft.com/office/powerpoint/2010/main" val="6354800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4080D-8A6A-B3A4-88A5-B78093C2179F}"/>
              </a:ext>
            </a:extLst>
          </p:cNvPr>
          <p:cNvSpPr>
            <a:spLocks noGrp="1"/>
          </p:cNvSpPr>
          <p:nvPr>
            <p:ph type="title"/>
          </p:nvPr>
        </p:nvSpPr>
        <p:spPr>
          <a:xfrm>
            <a:off x="457200" y="-762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3E029F3-8EB0-047B-26AB-9BD1FBD5213A}"/>
              </a:ext>
            </a:extLst>
          </p:cNvPr>
          <p:cNvSpPr>
            <a:spLocks noGrp="1"/>
          </p:cNvSpPr>
          <p:nvPr>
            <p:ph idx="1"/>
          </p:nvPr>
        </p:nvSpPr>
        <p:spPr>
          <a:xfrm>
            <a:off x="292100" y="1066800"/>
            <a:ext cx="6527800" cy="52959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sentence = input("Enter a sentence: ")</a:t>
            </a:r>
          </a:p>
          <a:p>
            <a:pPr marL="0" indent="0">
              <a:buNone/>
            </a:pPr>
            <a:endParaRPr lang="en-US" dirty="0"/>
          </a:p>
          <a:p>
            <a:pPr marL="0" indent="0">
              <a:buNone/>
            </a:pPr>
            <a:r>
              <a:rPr lang="en-US" dirty="0"/>
              <a:t># Length of the sentence</a:t>
            </a:r>
          </a:p>
          <a:p>
            <a:pPr marL="0" indent="0">
              <a:buNone/>
            </a:pPr>
            <a:r>
              <a:rPr lang="en-US" dirty="0"/>
              <a:t>print("Length:", </a:t>
            </a:r>
            <a:r>
              <a:rPr lang="en-US" dirty="0" err="1"/>
              <a:t>len</a:t>
            </a:r>
            <a:r>
              <a:rPr lang="en-US" dirty="0"/>
              <a:t>(sentence))</a:t>
            </a:r>
          </a:p>
          <a:p>
            <a:pPr marL="0" indent="0">
              <a:buNone/>
            </a:pPr>
            <a:endParaRPr lang="en-US" dirty="0"/>
          </a:p>
          <a:p>
            <a:pPr marL="0" indent="0">
              <a:buNone/>
            </a:pPr>
            <a:r>
              <a:rPr lang="en-US" dirty="0"/>
              <a:t># Uppercase version</a:t>
            </a:r>
          </a:p>
          <a:p>
            <a:pPr marL="0" indent="0">
              <a:buNone/>
            </a:pPr>
            <a:r>
              <a:rPr lang="en-US" dirty="0"/>
              <a:t>print("Uppercase:", </a:t>
            </a:r>
            <a:r>
              <a:rPr lang="en-US" dirty="0" err="1"/>
              <a:t>sentence.upper</a:t>
            </a:r>
            <a:r>
              <a:rPr lang="en-US" dirty="0"/>
              <a:t>())</a:t>
            </a:r>
          </a:p>
          <a:p>
            <a:pPr marL="0" indent="0">
              <a:buNone/>
            </a:pPr>
            <a:endParaRPr lang="en-US" dirty="0"/>
          </a:p>
          <a:p>
            <a:pPr marL="0" indent="0">
              <a:buNone/>
            </a:pPr>
            <a:r>
              <a:rPr lang="en-US" dirty="0"/>
              <a:t># Number of words</a:t>
            </a:r>
          </a:p>
          <a:p>
            <a:pPr marL="0" indent="0">
              <a:buNone/>
            </a:pPr>
            <a:r>
              <a:rPr lang="en-US" dirty="0"/>
              <a:t>words = </a:t>
            </a:r>
            <a:r>
              <a:rPr lang="en-US" dirty="0" err="1"/>
              <a:t>sentence.split</a:t>
            </a:r>
            <a:r>
              <a:rPr lang="en-US" dirty="0"/>
              <a:t>()</a:t>
            </a:r>
          </a:p>
          <a:p>
            <a:pPr marL="0" indent="0">
              <a:buNone/>
            </a:pPr>
            <a:r>
              <a:rPr lang="en-US" dirty="0"/>
              <a:t>print("Number of words:", </a:t>
            </a:r>
            <a:r>
              <a:rPr lang="en-US" dirty="0" err="1"/>
              <a:t>len</a:t>
            </a:r>
            <a:r>
              <a:rPr lang="en-US" dirty="0"/>
              <a:t>(words))</a:t>
            </a:r>
          </a:p>
          <a:p>
            <a:pPr marL="0" indent="0">
              <a:buNone/>
            </a:pPr>
            <a:endParaRPr lang="en-SG" dirty="0"/>
          </a:p>
        </p:txBody>
      </p:sp>
      <p:sp>
        <p:nvSpPr>
          <p:cNvPr id="4" name="Content Placeholder 2">
            <a:extLst>
              <a:ext uri="{FF2B5EF4-FFF2-40B4-BE49-F238E27FC236}">
                <a16:creationId xmlns:a16="http://schemas.microsoft.com/office/drawing/2014/main" id="{86FF1BB5-C277-F9BD-9CB4-8C4DAC373758}"/>
              </a:ext>
            </a:extLst>
          </p:cNvPr>
          <p:cNvSpPr txBox="1">
            <a:spLocks/>
          </p:cNvSpPr>
          <p:nvPr/>
        </p:nvSpPr>
        <p:spPr>
          <a:xfrm>
            <a:off x="7086599" y="1054100"/>
            <a:ext cx="4746625"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input() reads the sentence as a </a:t>
            </a:r>
            <a:r>
              <a:rPr lang="en-US" b="1" dirty="0"/>
              <a:t>string</a:t>
            </a:r>
            <a:endParaRPr lang="en-US" dirty="0"/>
          </a:p>
          <a:p>
            <a:r>
              <a:rPr lang="en-US" dirty="0" err="1"/>
              <a:t>len</a:t>
            </a:r>
            <a:r>
              <a:rPr lang="en-US" dirty="0"/>
              <a:t>(sentence) counts </a:t>
            </a:r>
            <a:r>
              <a:rPr lang="en-US" b="1" dirty="0"/>
              <a:t>all characters</a:t>
            </a:r>
            <a:r>
              <a:rPr lang="en-US" dirty="0"/>
              <a:t>, including spaces</a:t>
            </a:r>
          </a:p>
          <a:p>
            <a:r>
              <a:rPr lang="en-US" dirty="0"/>
              <a:t>upper() returns a </a:t>
            </a:r>
            <a:r>
              <a:rPr lang="en-US" b="1" dirty="0"/>
              <a:t>new uppercase string</a:t>
            </a:r>
            <a:endParaRPr lang="en-US" dirty="0"/>
          </a:p>
          <a:p>
            <a:r>
              <a:rPr lang="en-US" dirty="0"/>
              <a:t>split() separates the sentence into words using spaces</a:t>
            </a:r>
          </a:p>
        </p:txBody>
      </p:sp>
    </p:spTree>
    <p:extLst>
      <p:ext uri="{BB962C8B-B14F-4D97-AF65-F5344CB8AC3E}">
        <p14:creationId xmlns:p14="http://schemas.microsoft.com/office/powerpoint/2010/main" val="16340231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29143-C99B-001C-9CA5-3B88F816A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1E049-DD3F-9F86-23B3-A52F3A7D9AC7}"/>
              </a:ext>
            </a:extLst>
          </p:cNvPr>
          <p:cNvSpPr>
            <a:spLocks noGrp="1"/>
          </p:cNvSpPr>
          <p:nvPr>
            <p:ph type="title"/>
          </p:nvPr>
        </p:nvSpPr>
        <p:spPr>
          <a:xfrm>
            <a:off x="457200" y="-76200"/>
            <a:ext cx="8229600" cy="1143000"/>
          </a:xfrm>
        </p:spPr>
        <p:txBody>
          <a:bodyPr/>
          <a:lstStyle/>
          <a:p>
            <a:r>
              <a:rPr lang="en-SG" dirty="0"/>
              <a:t>What Is a Boolean?</a:t>
            </a:r>
          </a:p>
        </p:txBody>
      </p:sp>
      <p:sp>
        <p:nvSpPr>
          <p:cNvPr id="3" name="Content Placeholder 2">
            <a:extLst>
              <a:ext uri="{FF2B5EF4-FFF2-40B4-BE49-F238E27FC236}">
                <a16:creationId xmlns:a16="http://schemas.microsoft.com/office/drawing/2014/main" id="{719DDE9C-211E-5770-64C8-4CB35ED88FDF}"/>
              </a:ext>
            </a:extLst>
          </p:cNvPr>
          <p:cNvSpPr>
            <a:spLocks noGrp="1"/>
          </p:cNvSpPr>
          <p:nvPr>
            <p:ph idx="1"/>
          </p:nvPr>
        </p:nvSpPr>
        <p:spPr>
          <a:xfrm>
            <a:off x="609600" y="1079500"/>
            <a:ext cx="7035800" cy="5295900"/>
          </a:xfrm>
        </p:spPr>
        <p:style>
          <a:lnRef idx="2">
            <a:schemeClr val="dk1"/>
          </a:lnRef>
          <a:fillRef idx="1">
            <a:schemeClr val="lt1"/>
          </a:fillRef>
          <a:effectRef idx="0">
            <a:schemeClr val="dk1"/>
          </a:effectRef>
          <a:fontRef idx="minor">
            <a:schemeClr val="dk1"/>
          </a:fontRef>
        </p:style>
        <p:txBody>
          <a:bodyPr>
            <a:normAutofit/>
          </a:bodyPr>
          <a:lstStyle/>
          <a:p>
            <a:r>
              <a:rPr lang="en-US" dirty="0"/>
              <a:t>Boolean represents </a:t>
            </a:r>
            <a:r>
              <a:rPr lang="en-US" b="1" dirty="0"/>
              <a:t>True or False</a:t>
            </a:r>
            <a:endParaRPr lang="en-US" dirty="0"/>
          </a:p>
          <a:p>
            <a:r>
              <a:rPr lang="en-US" dirty="0"/>
              <a:t>Result of comparisons and conditions</a:t>
            </a:r>
          </a:p>
          <a:p>
            <a:r>
              <a:rPr lang="en-US" dirty="0"/>
              <a:t>Core to decision-making in Python</a:t>
            </a:r>
          </a:p>
        </p:txBody>
      </p:sp>
      <p:sp>
        <p:nvSpPr>
          <p:cNvPr id="4" name="Content Placeholder 2">
            <a:extLst>
              <a:ext uri="{FF2B5EF4-FFF2-40B4-BE49-F238E27FC236}">
                <a16:creationId xmlns:a16="http://schemas.microsoft.com/office/drawing/2014/main" id="{A7C10B56-194D-997D-5DE6-FB0BB2C2E6C4}"/>
              </a:ext>
            </a:extLst>
          </p:cNvPr>
          <p:cNvSpPr txBox="1">
            <a:spLocks/>
          </p:cNvSpPr>
          <p:nvPr/>
        </p:nvSpPr>
        <p:spPr>
          <a:xfrm>
            <a:off x="7937501" y="1079500"/>
            <a:ext cx="3641724"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is_active</a:t>
            </a:r>
            <a:r>
              <a:rPr lang="en-US" dirty="0"/>
              <a:t> = True</a:t>
            </a:r>
          </a:p>
          <a:p>
            <a:pPr marL="0" indent="0">
              <a:buNone/>
            </a:pPr>
            <a:r>
              <a:rPr lang="en-US" dirty="0" err="1"/>
              <a:t>is_admin</a:t>
            </a:r>
            <a:r>
              <a:rPr lang="en-US" dirty="0"/>
              <a:t> = False</a:t>
            </a:r>
          </a:p>
        </p:txBody>
      </p:sp>
    </p:spTree>
    <p:extLst>
      <p:ext uri="{BB962C8B-B14F-4D97-AF65-F5344CB8AC3E}">
        <p14:creationId xmlns:p14="http://schemas.microsoft.com/office/powerpoint/2010/main" val="38924197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D209F-ACF2-F272-F013-EC25A724A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2CB21-BCCC-F83E-0D7F-EB7CA0880269}"/>
              </a:ext>
            </a:extLst>
          </p:cNvPr>
          <p:cNvSpPr>
            <a:spLocks noGrp="1"/>
          </p:cNvSpPr>
          <p:nvPr>
            <p:ph type="title"/>
          </p:nvPr>
        </p:nvSpPr>
        <p:spPr>
          <a:xfrm>
            <a:off x="457200" y="-76200"/>
            <a:ext cx="8229600" cy="1143000"/>
          </a:xfrm>
        </p:spPr>
        <p:txBody>
          <a:bodyPr/>
          <a:lstStyle/>
          <a:p>
            <a:r>
              <a:rPr lang="en-SG" dirty="0"/>
              <a:t>Boolean Values in Python</a:t>
            </a:r>
          </a:p>
        </p:txBody>
      </p:sp>
      <p:sp>
        <p:nvSpPr>
          <p:cNvPr id="3" name="Content Placeholder 2">
            <a:extLst>
              <a:ext uri="{FF2B5EF4-FFF2-40B4-BE49-F238E27FC236}">
                <a16:creationId xmlns:a16="http://schemas.microsoft.com/office/drawing/2014/main" id="{4E94AE7A-0C57-8845-908E-5AF2D036BE11}"/>
              </a:ext>
            </a:extLst>
          </p:cNvPr>
          <p:cNvSpPr>
            <a:spLocks noGrp="1"/>
          </p:cNvSpPr>
          <p:nvPr>
            <p:ph idx="1"/>
          </p:nvPr>
        </p:nvSpPr>
        <p:spPr>
          <a:xfrm>
            <a:off x="1268412" y="1079500"/>
            <a:ext cx="4826000" cy="5295900"/>
          </a:xfrm>
        </p:spPr>
        <p:style>
          <a:lnRef idx="2">
            <a:schemeClr val="dk1"/>
          </a:lnRef>
          <a:fillRef idx="1">
            <a:schemeClr val="lt1"/>
          </a:fillRef>
          <a:effectRef idx="0">
            <a:schemeClr val="dk1"/>
          </a:effectRef>
          <a:fontRef idx="minor">
            <a:schemeClr val="dk1"/>
          </a:fontRef>
        </p:style>
        <p:txBody>
          <a:bodyPr>
            <a:normAutofit/>
          </a:bodyPr>
          <a:lstStyle/>
          <a:p>
            <a:r>
              <a:rPr lang="en-US" b="1" dirty="0"/>
              <a:t>Two Boolean Literals</a:t>
            </a:r>
          </a:p>
          <a:p>
            <a:pPr lvl="1"/>
            <a:r>
              <a:rPr lang="en-US" dirty="0"/>
              <a:t>True</a:t>
            </a:r>
          </a:p>
          <a:p>
            <a:pPr lvl="1"/>
            <a:r>
              <a:rPr lang="en-US" dirty="0"/>
              <a:t>False</a:t>
            </a:r>
          </a:p>
        </p:txBody>
      </p:sp>
      <p:sp>
        <p:nvSpPr>
          <p:cNvPr id="4" name="Content Placeholder 2">
            <a:extLst>
              <a:ext uri="{FF2B5EF4-FFF2-40B4-BE49-F238E27FC236}">
                <a16:creationId xmlns:a16="http://schemas.microsoft.com/office/drawing/2014/main" id="{CF3E497A-28E9-D532-5855-4EEC81C15214}"/>
              </a:ext>
            </a:extLst>
          </p:cNvPr>
          <p:cNvSpPr txBox="1">
            <a:spLocks/>
          </p:cNvSpPr>
          <p:nvPr/>
        </p:nvSpPr>
        <p:spPr>
          <a:xfrm>
            <a:off x="6524625" y="1079500"/>
            <a:ext cx="4826000"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print(type(True))</a:t>
            </a:r>
          </a:p>
          <a:p>
            <a:pPr marL="0" indent="0">
              <a:buNone/>
            </a:pPr>
            <a:r>
              <a:rPr lang="en-US" dirty="0"/>
              <a:t>print(type(False))</a:t>
            </a:r>
          </a:p>
        </p:txBody>
      </p:sp>
    </p:spTree>
    <p:extLst>
      <p:ext uri="{BB962C8B-B14F-4D97-AF65-F5344CB8AC3E}">
        <p14:creationId xmlns:p14="http://schemas.microsoft.com/office/powerpoint/2010/main" val="11832790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3000-335A-6F9A-B4D9-536A1F51C5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8C2DE-9F2D-184C-85DE-E3D1ADB53B04}"/>
              </a:ext>
            </a:extLst>
          </p:cNvPr>
          <p:cNvSpPr>
            <a:spLocks noGrp="1"/>
          </p:cNvSpPr>
          <p:nvPr>
            <p:ph type="title"/>
          </p:nvPr>
        </p:nvSpPr>
        <p:spPr>
          <a:xfrm>
            <a:off x="457200" y="381000"/>
            <a:ext cx="8229600" cy="1143000"/>
          </a:xfrm>
        </p:spPr>
        <p:txBody>
          <a:bodyPr>
            <a:normAutofit/>
          </a:bodyPr>
          <a:lstStyle/>
          <a:p>
            <a:r>
              <a:rPr lang="en-SG" dirty="0"/>
              <a:t>Comparisons Produce Booleans</a:t>
            </a:r>
          </a:p>
        </p:txBody>
      </p:sp>
      <p:sp>
        <p:nvSpPr>
          <p:cNvPr id="3" name="Content Placeholder 2">
            <a:extLst>
              <a:ext uri="{FF2B5EF4-FFF2-40B4-BE49-F238E27FC236}">
                <a16:creationId xmlns:a16="http://schemas.microsoft.com/office/drawing/2014/main" id="{970A2573-BAD7-059B-FF8C-355B67F8A125}"/>
              </a:ext>
            </a:extLst>
          </p:cNvPr>
          <p:cNvSpPr>
            <a:spLocks noGrp="1"/>
          </p:cNvSpPr>
          <p:nvPr>
            <p:ph idx="1"/>
          </p:nvPr>
        </p:nvSpPr>
        <p:spPr>
          <a:xfrm>
            <a:off x="1003300" y="1828800"/>
            <a:ext cx="7327900" cy="45466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endParaRPr lang="en-US" dirty="0"/>
          </a:p>
          <a:p>
            <a:pPr marL="0" indent="0">
              <a:buNone/>
            </a:pPr>
            <a:r>
              <a:rPr lang="en-US" dirty="0"/>
              <a:t>print(x &gt; 5)</a:t>
            </a:r>
          </a:p>
          <a:p>
            <a:pPr marL="0" indent="0">
              <a:buNone/>
            </a:pPr>
            <a:r>
              <a:rPr lang="en-US" dirty="0"/>
              <a:t>print(x == 10)</a:t>
            </a:r>
          </a:p>
          <a:p>
            <a:pPr marL="0" indent="0">
              <a:buNone/>
            </a:pPr>
            <a:r>
              <a:rPr lang="en-US" dirty="0"/>
              <a:t>print(x != 3)</a:t>
            </a:r>
          </a:p>
        </p:txBody>
      </p:sp>
    </p:spTree>
    <p:extLst>
      <p:ext uri="{BB962C8B-B14F-4D97-AF65-F5344CB8AC3E}">
        <p14:creationId xmlns:p14="http://schemas.microsoft.com/office/powerpoint/2010/main" val="5777880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40599-CCC0-5A31-FAD0-E79A7EA98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9A1D2-F027-FF6F-F12F-E376B0C928B0}"/>
              </a:ext>
            </a:extLst>
          </p:cNvPr>
          <p:cNvSpPr>
            <a:spLocks noGrp="1"/>
          </p:cNvSpPr>
          <p:nvPr>
            <p:ph type="title"/>
          </p:nvPr>
        </p:nvSpPr>
        <p:spPr>
          <a:xfrm>
            <a:off x="457200" y="228600"/>
            <a:ext cx="8229600" cy="1143000"/>
          </a:xfrm>
        </p:spPr>
        <p:txBody>
          <a:bodyPr/>
          <a:lstStyle/>
          <a:p>
            <a:r>
              <a:rPr lang="en-SG" dirty="0"/>
              <a:t>Logical Operators</a:t>
            </a:r>
          </a:p>
        </p:txBody>
      </p:sp>
      <p:sp>
        <p:nvSpPr>
          <p:cNvPr id="3" name="Content Placeholder 2">
            <a:extLst>
              <a:ext uri="{FF2B5EF4-FFF2-40B4-BE49-F238E27FC236}">
                <a16:creationId xmlns:a16="http://schemas.microsoft.com/office/drawing/2014/main" id="{040DDE43-A6D6-220D-B9BE-8D59A792763D}"/>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a:t>student = True</a:t>
            </a:r>
          </a:p>
          <a:p>
            <a:pPr marL="0" indent="0">
              <a:buNone/>
            </a:pPr>
            <a:endParaRPr lang="en-US" dirty="0"/>
          </a:p>
          <a:p>
            <a:pPr marL="0" indent="0">
              <a:buNone/>
            </a:pPr>
            <a:r>
              <a:rPr lang="en-US" dirty="0"/>
              <a:t>print(age &gt;= 18 and student)</a:t>
            </a:r>
          </a:p>
        </p:txBody>
      </p:sp>
      <p:sp>
        <p:nvSpPr>
          <p:cNvPr id="4" name="Content Placeholder 2">
            <a:extLst>
              <a:ext uri="{FF2B5EF4-FFF2-40B4-BE49-F238E27FC236}">
                <a16:creationId xmlns:a16="http://schemas.microsoft.com/office/drawing/2014/main" id="{20ABF535-DD48-1571-79B3-77F53857EB1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r>
              <a:rPr lang="en-US" dirty="0"/>
              <a:t>or → at least one condition is True</a:t>
            </a:r>
          </a:p>
          <a:p>
            <a:r>
              <a:rPr lang="en-US" dirty="0"/>
              <a:t>not → reverses a Boolean value</a:t>
            </a:r>
          </a:p>
        </p:txBody>
      </p:sp>
    </p:spTree>
    <p:extLst>
      <p:ext uri="{BB962C8B-B14F-4D97-AF65-F5344CB8AC3E}">
        <p14:creationId xmlns:p14="http://schemas.microsoft.com/office/powerpoint/2010/main" val="409982673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lstStyle/>
          <a:p>
            <a:r>
              <a:t>Boolean values: True and False</a:t>
            </a:r>
          </a:p>
          <a:p>
            <a:r>
              <a:t>Conditions rely on truthy / falsy values</a:t>
            </a:r>
          </a:p>
          <a:p>
            <a:r>
              <a:t>Empty values evaluate to False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F10CD-6BCB-6D42-5C87-16C03C9DC596}"/>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3" name="Content Placeholder 2">
            <a:extLst>
              <a:ext uri="{FF2B5EF4-FFF2-40B4-BE49-F238E27FC236}">
                <a16:creationId xmlns:a16="http://schemas.microsoft.com/office/drawing/2014/main" id="{ECABB4D3-D173-7785-A0A0-F3413F81D156}"/>
              </a:ext>
            </a:extLst>
          </p:cNvPr>
          <p:cNvSpPr>
            <a:spLocks noGrp="1"/>
          </p:cNvSpPr>
          <p:nvPr>
            <p:ph idx="1"/>
          </p:nvPr>
        </p:nvSpPr>
        <p:spPr/>
        <p:txBody>
          <a:bodyPr/>
          <a:lstStyle/>
          <a:p>
            <a:r>
              <a:rPr lang="en-US" dirty="0"/>
              <a:t>Not all conditions are explicitly True or False</a:t>
            </a:r>
          </a:p>
          <a:p>
            <a:r>
              <a:rPr lang="en-US" dirty="0"/>
              <a:t>Python treats some values as </a:t>
            </a:r>
            <a:r>
              <a:rPr lang="en-US" b="1" dirty="0"/>
              <a:t>truthy</a:t>
            </a:r>
            <a:r>
              <a:rPr lang="en-US" dirty="0"/>
              <a:t> or </a:t>
            </a:r>
            <a:r>
              <a:rPr lang="en-US" b="1" dirty="0" err="1"/>
              <a:t>falsy</a:t>
            </a:r>
            <a:endParaRPr lang="en-US" dirty="0"/>
          </a:p>
          <a:p>
            <a:endParaRPr lang="en-SG" dirty="0"/>
          </a:p>
        </p:txBody>
      </p:sp>
    </p:spTree>
    <p:extLst>
      <p:ext uri="{BB962C8B-B14F-4D97-AF65-F5344CB8AC3E}">
        <p14:creationId xmlns:p14="http://schemas.microsoft.com/office/powerpoint/2010/main" val="42213955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8160-E6CC-A4E6-DDCC-691BAA543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063FC-196C-2FE6-47C8-FB1A4CA51ACB}"/>
              </a:ext>
            </a:extLst>
          </p:cNvPr>
          <p:cNvSpPr>
            <a:spLocks noGrp="1"/>
          </p:cNvSpPr>
          <p:nvPr>
            <p:ph type="title"/>
          </p:nvPr>
        </p:nvSpPr>
        <p:spPr>
          <a:xfrm>
            <a:off x="457200" y="228600"/>
            <a:ext cx="8229600" cy="1143000"/>
          </a:xfrm>
        </p:spPr>
        <p:txBody>
          <a:bodyPr/>
          <a:lstStyle/>
          <a:p>
            <a:r>
              <a:rPr lang="en-SG" dirty="0" err="1"/>
              <a:t>Falsy</a:t>
            </a:r>
            <a:r>
              <a:rPr lang="en-SG" dirty="0"/>
              <a:t> Values to Remember</a:t>
            </a:r>
          </a:p>
        </p:txBody>
      </p:sp>
      <p:sp>
        <p:nvSpPr>
          <p:cNvPr id="3" name="Content Placeholder 2">
            <a:extLst>
              <a:ext uri="{FF2B5EF4-FFF2-40B4-BE49-F238E27FC236}">
                <a16:creationId xmlns:a16="http://schemas.microsoft.com/office/drawing/2014/main" id="{E5AC3908-1420-4EF8-5CB3-338F5785D505}"/>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p>
          <a:p>
            <a:pPr marL="0" indent="0">
              <a:buNone/>
            </a:pPr>
            <a:r>
              <a:rPr lang="en-US" dirty="0"/>
              <a:t>    print("This will not run")</a:t>
            </a:r>
          </a:p>
        </p:txBody>
      </p:sp>
      <p:sp>
        <p:nvSpPr>
          <p:cNvPr id="4" name="Content Placeholder 2">
            <a:extLst>
              <a:ext uri="{FF2B5EF4-FFF2-40B4-BE49-F238E27FC236}">
                <a16:creationId xmlns:a16="http://schemas.microsoft.com/office/drawing/2014/main" id="{7C0F3385-2ABB-CB95-F9E0-5CDD6FB76C44}"/>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False, None</a:t>
            </a:r>
          </a:p>
          <a:p>
            <a:r>
              <a:rPr lang="en-US" dirty="0"/>
              <a:t>0, 0.0</a:t>
            </a:r>
          </a:p>
          <a:p>
            <a:r>
              <a:rPr lang="en-US" dirty="0"/>
              <a:t>Empty string, list, </a:t>
            </a:r>
            <a:r>
              <a:rPr lang="en-US" dirty="0" err="1"/>
              <a:t>dict</a:t>
            </a:r>
            <a:r>
              <a:rPr lang="en-US" dirty="0"/>
              <a:t>, set</a:t>
            </a:r>
          </a:p>
        </p:txBody>
      </p:sp>
    </p:spTree>
    <p:extLst>
      <p:ext uri="{BB962C8B-B14F-4D97-AF65-F5344CB8AC3E}">
        <p14:creationId xmlns:p14="http://schemas.microsoft.com/office/powerpoint/2010/main" val="352698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4C84B-0ECA-C777-B42D-2988C5F0F3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D32824-EA41-2466-2F35-85958214E121}"/>
              </a:ext>
            </a:extLst>
          </p:cNvPr>
          <p:cNvSpPr>
            <a:spLocks noGrp="1"/>
          </p:cNvSpPr>
          <p:nvPr>
            <p:ph type="title"/>
          </p:nvPr>
        </p:nvSpPr>
        <p:spPr>
          <a:xfrm>
            <a:off x="457200" y="228600"/>
            <a:ext cx="8229600" cy="1143000"/>
          </a:xfrm>
        </p:spPr>
        <p:txBody>
          <a:bodyPr/>
          <a:lstStyle/>
          <a:p>
            <a:r>
              <a:rPr lang="en-SG" dirty="0"/>
              <a:t>Common Truthy Values</a:t>
            </a:r>
          </a:p>
        </p:txBody>
      </p:sp>
      <p:sp>
        <p:nvSpPr>
          <p:cNvPr id="3" name="Content Placeholder 2">
            <a:extLst>
              <a:ext uri="{FF2B5EF4-FFF2-40B4-BE49-F238E27FC236}">
                <a16:creationId xmlns:a16="http://schemas.microsoft.com/office/drawing/2014/main" id="{A6FE32E8-F74D-2D28-7BEA-954152DF052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"hello":</a:t>
            </a:r>
          </a:p>
          <a:p>
            <a:pPr marL="0" indent="0">
              <a:buNone/>
            </a:pPr>
            <a:r>
              <a:rPr lang="en-US" dirty="0"/>
              <a:t>    print("This will run")</a:t>
            </a:r>
          </a:p>
        </p:txBody>
      </p:sp>
      <p:sp>
        <p:nvSpPr>
          <p:cNvPr id="4" name="Content Placeholder 2">
            <a:extLst>
              <a:ext uri="{FF2B5EF4-FFF2-40B4-BE49-F238E27FC236}">
                <a16:creationId xmlns:a16="http://schemas.microsoft.com/office/drawing/2014/main" id="{4F6B4319-A1DD-66FA-4136-BB3DBF9A3600}"/>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Non-zero numbers</a:t>
            </a:r>
          </a:p>
          <a:p>
            <a:r>
              <a:rPr lang="en-US" dirty="0"/>
              <a:t>Non-empty strings</a:t>
            </a:r>
          </a:p>
          <a:p>
            <a:r>
              <a:rPr lang="en-US" dirty="0"/>
              <a:t>Non-empty collections</a:t>
            </a:r>
          </a:p>
          <a:p>
            <a:r>
              <a:rPr lang="en-US" dirty="0"/>
              <a:t>Most objects</a:t>
            </a:r>
          </a:p>
        </p:txBody>
      </p:sp>
    </p:spTree>
    <p:extLst>
      <p:ext uri="{BB962C8B-B14F-4D97-AF65-F5344CB8AC3E}">
        <p14:creationId xmlns:p14="http://schemas.microsoft.com/office/powerpoint/2010/main" val="449841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9C117-A5F5-8D50-49CC-751928513CB0}"/>
              </a:ext>
            </a:extLst>
          </p:cNvPr>
          <p:cNvSpPr>
            <a:spLocks noGrp="1"/>
          </p:cNvSpPr>
          <p:nvPr>
            <p:ph type="title"/>
          </p:nvPr>
        </p:nvSpPr>
        <p:spPr/>
        <p:txBody>
          <a:bodyPr>
            <a:normAutofit/>
          </a:bodyPr>
          <a:lstStyle/>
          <a:p>
            <a:r>
              <a:rPr lang="en-US" dirty="0"/>
              <a:t>Truthiness in if Statements</a:t>
            </a:r>
            <a:endParaRPr lang="en-SG" dirty="0"/>
          </a:p>
        </p:txBody>
      </p:sp>
      <p:sp>
        <p:nvSpPr>
          <p:cNvPr id="3" name="Content Placeholder 2">
            <a:extLst>
              <a:ext uri="{FF2B5EF4-FFF2-40B4-BE49-F238E27FC236}">
                <a16:creationId xmlns:a16="http://schemas.microsoft.com/office/drawing/2014/main" id="{0FAE71B0-954D-39C3-9C8C-0971DDD654E0}"/>
              </a:ext>
            </a:extLst>
          </p:cNvPr>
          <p:cNvSpPr>
            <a:spLocks noGrp="1"/>
          </p:cNvSpPr>
          <p:nvPr>
            <p:ph idx="1"/>
          </p:nvPr>
        </p:nvSpPr>
        <p:spPr/>
        <p:txBody>
          <a:bodyPr/>
          <a:lstStyle/>
          <a:p>
            <a:pPr marL="0" indent="0">
              <a:buNone/>
            </a:pPr>
            <a:r>
              <a:rPr lang="en-US" dirty="0"/>
              <a:t>name = ""</a:t>
            </a:r>
          </a:p>
          <a:p>
            <a:pPr marL="0" indent="0">
              <a:buNone/>
            </a:pPr>
            <a:endParaRPr lang="en-US" dirty="0"/>
          </a:p>
          <a:p>
            <a:pPr marL="0" indent="0">
              <a:buNone/>
            </a:pPr>
            <a:r>
              <a:rPr lang="en-US" dirty="0"/>
              <a:t>if name:</a:t>
            </a:r>
          </a:p>
          <a:p>
            <a:pPr marL="0" indent="0">
              <a:buNone/>
            </a:pPr>
            <a:r>
              <a:rPr lang="en-US" dirty="0"/>
              <a:t>    print("Name provided")</a:t>
            </a:r>
          </a:p>
          <a:p>
            <a:pPr marL="0" indent="0">
              <a:buNone/>
            </a:pPr>
            <a:r>
              <a:rPr lang="en-US" dirty="0"/>
              <a:t>else:</a:t>
            </a:r>
          </a:p>
          <a:p>
            <a:pPr marL="0" indent="0">
              <a:buNone/>
            </a:pPr>
            <a:r>
              <a:rPr lang="en-US" dirty="0"/>
              <a:t>    print("Name missing")</a:t>
            </a:r>
          </a:p>
          <a:p>
            <a:pPr marL="0" indent="0">
              <a:buNone/>
            </a:pPr>
            <a:endParaRPr lang="en-SG" dirty="0"/>
          </a:p>
        </p:txBody>
      </p:sp>
    </p:spTree>
    <p:extLst>
      <p:ext uri="{BB962C8B-B14F-4D97-AF65-F5344CB8AC3E}">
        <p14:creationId xmlns:p14="http://schemas.microsoft.com/office/powerpoint/2010/main" val="14336078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74C43-5727-83BE-5992-40219A2CE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97C093-CF32-65C4-B78A-B8C38D239BF6}"/>
              </a:ext>
            </a:extLst>
          </p:cNvPr>
          <p:cNvSpPr>
            <a:spLocks noGrp="1"/>
          </p:cNvSpPr>
          <p:nvPr>
            <p:ph type="title"/>
          </p:nvPr>
        </p:nvSpPr>
        <p:spPr/>
        <p:txBody>
          <a:bodyPr>
            <a:normAutofit/>
          </a:bodyPr>
          <a:lstStyle/>
          <a:p>
            <a:r>
              <a:rPr lang="en-SG" dirty="0"/>
              <a:t>Slide 9 — Using bool()</a:t>
            </a:r>
          </a:p>
        </p:txBody>
      </p:sp>
      <p:sp>
        <p:nvSpPr>
          <p:cNvPr id="3" name="Content Placeholder 2">
            <a:extLst>
              <a:ext uri="{FF2B5EF4-FFF2-40B4-BE49-F238E27FC236}">
                <a16:creationId xmlns:a16="http://schemas.microsoft.com/office/drawing/2014/main" id="{C6EB74F7-D3CA-1E5A-9BAD-079247ACF5E1}"/>
              </a:ext>
            </a:extLst>
          </p:cNvPr>
          <p:cNvSpPr>
            <a:spLocks noGrp="1"/>
          </p:cNvSpPr>
          <p:nvPr>
            <p:ph idx="1"/>
          </p:nvPr>
        </p:nvSpPr>
        <p:spPr/>
        <p:txBody>
          <a:bodyPr>
            <a:normAutofit/>
          </a:bodyPr>
          <a:lstStyle/>
          <a:p>
            <a:pPr marL="0" indent="0">
              <a:buNone/>
            </a:pPr>
            <a:r>
              <a:rPr lang="en-US" dirty="0"/>
              <a:t># bool() reveals how Python evaluates truthiness</a:t>
            </a:r>
          </a:p>
          <a:p>
            <a:pPr marL="0" indent="0">
              <a:buNone/>
            </a:pPr>
            <a:endParaRPr lang="en-US" dirty="0"/>
          </a:p>
          <a:p>
            <a:pPr marL="0" indent="0">
              <a:buNone/>
            </a:pPr>
            <a:endParaRPr lang="en-US" dirty="0"/>
          </a:p>
          <a:p>
            <a:pPr marL="0" indent="0">
              <a:buNone/>
            </a:pPr>
            <a:r>
              <a:rPr lang="en-US" dirty="0"/>
              <a:t>print(bool(0))</a:t>
            </a:r>
          </a:p>
          <a:p>
            <a:pPr marL="0" indent="0">
              <a:buNone/>
            </a:pPr>
            <a:r>
              <a:rPr lang="en-US" dirty="0"/>
              <a:t>print(bool("Python"))</a:t>
            </a:r>
          </a:p>
          <a:p>
            <a:pPr marL="0" indent="0">
              <a:buNone/>
            </a:pPr>
            <a:r>
              <a:rPr lang="en-US" dirty="0"/>
              <a:t>print(bool([]))</a:t>
            </a:r>
          </a:p>
        </p:txBody>
      </p:sp>
    </p:spTree>
    <p:extLst>
      <p:ext uri="{BB962C8B-B14F-4D97-AF65-F5344CB8AC3E}">
        <p14:creationId xmlns:p14="http://schemas.microsoft.com/office/powerpoint/2010/main" val="273251651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B84-EA1F-E379-A9BE-18D12CBB2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98FC-9D77-CDB7-D9AA-C99DB52FCEA7}"/>
              </a:ext>
            </a:extLst>
          </p:cNvPr>
          <p:cNvSpPr>
            <a:spLocks noGrp="1"/>
          </p:cNvSpPr>
          <p:nvPr>
            <p:ph type="title"/>
          </p:nvPr>
        </p:nvSpPr>
        <p:spPr>
          <a:xfrm>
            <a:off x="457200" y="228600"/>
            <a:ext cx="8229600" cy="1143000"/>
          </a:xfrm>
        </p:spPr>
        <p:txBody>
          <a:bodyPr/>
          <a:lstStyle/>
          <a:p>
            <a:r>
              <a:rPr lang="en-SG" dirty="0"/>
              <a:t>Short-Circuit Evaluation</a:t>
            </a:r>
          </a:p>
        </p:txBody>
      </p:sp>
      <p:sp>
        <p:nvSpPr>
          <p:cNvPr id="3" name="Content Placeholder 2">
            <a:extLst>
              <a:ext uri="{FF2B5EF4-FFF2-40B4-BE49-F238E27FC236}">
                <a16:creationId xmlns:a16="http://schemas.microsoft.com/office/drawing/2014/main" id="{0B646BA0-8A10-2092-D0C3-AB6672EF43E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0</a:t>
            </a:r>
          </a:p>
          <a:p>
            <a:pPr marL="0" indent="0">
              <a:buNone/>
            </a:pPr>
            <a:r>
              <a:rPr lang="en-US" dirty="0"/>
              <a:t>print(x != 0 and 10 / x)</a:t>
            </a:r>
          </a:p>
        </p:txBody>
      </p:sp>
      <p:sp>
        <p:nvSpPr>
          <p:cNvPr id="4" name="Content Placeholder 2">
            <a:extLst>
              <a:ext uri="{FF2B5EF4-FFF2-40B4-BE49-F238E27FC236}">
                <a16:creationId xmlns:a16="http://schemas.microsoft.com/office/drawing/2014/main" id="{9E4D7B9F-EC1F-883E-AD44-68523FF7A5B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and</a:t>
            </a:r>
            <a:r>
              <a:rPr lang="en-US" dirty="0"/>
              <a:t> stops at first False</a:t>
            </a:r>
          </a:p>
          <a:p>
            <a:r>
              <a:rPr lang="en-US" b="1" dirty="0"/>
              <a:t>or</a:t>
            </a:r>
            <a:r>
              <a:rPr lang="en-US" dirty="0"/>
              <a:t> stops at first True</a:t>
            </a:r>
          </a:p>
        </p:txBody>
      </p:sp>
    </p:spTree>
    <p:extLst>
      <p:ext uri="{BB962C8B-B14F-4D97-AF65-F5344CB8AC3E}">
        <p14:creationId xmlns:p14="http://schemas.microsoft.com/office/powerpoint/2010/main" val="25548997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ECBED-323C-9DFF-3E85-2A6F17E1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15D93-9AB9-E864-CC35-F084D0036101}"/>
              </a:ext>
            </a:extLst>
          </p:cNvPr>
          <p:cNvSpPr>
            <a:spLocks noGrp="1"/>
          </p:cNvSpPr>
          <p:nvPr>
            <p:ph type="title"/>
          </p:nvPr>
        </p:nvSpPr>
        <p:spPr>
          <a:xfrm>
            <a:off x="457200" y="228600"/>
            <a:ext cx="8229600" cy="1143000"/>
          </a:xfrm>
        </p:spPr>
        <p:txBody>
          <a:bodyPr/>
          <a:lstStyle/>
          <a:p>
            <a:r>
              <a:rPr lang="en-SG" dirty="0"/>
              <a:t>Common Mistakes</a:t>
            </a:r>
          </a:p>
        </p:txBody>
      </p:sp>
      <p:sp>
        <p:nvSpPr>
          <p:cNvPr id="3" name="Content Placeholder 2">
            <a:extLst>
              <a:ext uri="{FF2B5EF4-FFF2-40B4-BE49-F238E27FC236}">
                <a16:creationId xmlns:a16="http://schemas.microsoft.com/office/drawing/2014/main" id="{2F80F0AB-ADDB-D097-7E02-7964BA92CA9B}"/>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r>
              <a:rPr lang="en-US" dirty="0" err="1"/>
              <a:t>is_ready</a:t>
            </a:r>
            <a:r>
              <a:rPr lang="en-US" dirty="0"/>
              <a:t> == True:  #bad</a:t>
            </a:r>
          </a:p>
          <a:p>
            <a:pPr marL="0" indent="0">
              <a:buNone/>
            </a:pPr>
            <a:endParaRPr lang="en-US" dirty="0"/>
          </a:p>
          <a:p>
            <a:pPr marL="0" indent="0">
              <a:buNone/>
            </a:pPr>
            <a:r>
              <a:rPr lang="en-US" dirty="0"/>
              <a:t>if </a:t>
            </a:r>
            <a:r>
              <a:rPr lang="en-US" dirty="0" err="1"/>
              <a:t>is_ready</a:t>
            </a:r>
            <a:r>
              <a:rPr lang="en-US" dirty="0"/>
              <a:t>:                 #good</a:t>
            </a:r>
          </a:p>
          <a:p>
            <a:pPr marL="0" indent="0">
              <a:buNone/>
            </a:pPr>
            <a:endParaRPr lang="en-US" dirty="0"/>
          </a:p>
        </p:txBody>
      </p:sp>
      <p:sp>
        <p:nvSpPr>
          <p:cNvPr id="4" name="Content Placeholder 2">
            <a:extLst>
              <a:ext uri="{FF2B5EF4-FFF2-40B4-BE49-F238E27FC236}">
                <a16:creationId xmlns:a16="http://schemas.microsoft.com/office/drawing/2014/main" id="{E955F866-2EC2-6368-3A1A-7D31324425B9}"/>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Comparing to True or False explicitly</a:t>
            </a:r>
          </a:p>
          <a:p>
            <a:r>
              <a:rPr lang="en-US" dirty="0"/>
              <a:t>Confusing None with False</a:t>
            </a:r>
          </a:p>
          <a:p>
            <a:r>
              <a:rPr lang="en-US" dirty="0"/>
              <a:t>Assuming empty collections are True</a:t>
            </a:r>
          </a:p>
        </p:txBody>
      </p:sp>
    </p:spTree>
    <p:extLst>
      <p:ext uri="{BB962C8B-B14F-4D97-AF65-F5344CB8AC3E}">
        <p14:creationId xmlns:p14="http://schemas.microsoft.com/office/powerpoint/2010/main" val="199016434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FE668-0829-A4DA-E2FA-9B997E2C70EF}"/>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1F3D3B31-D388-E6BC-17C8-00E703254856}"/>
              </a:ext>
            </a:extLst>
          </p:cNvPr>
          <p:cNvSpPr>
            <a:spLocks noGrp="1"/>
          </p:cNvSpPr>
          <p:nvPr>
            <p:ph idx="1"/>
          </p:nvPr>
        </p:nvSpPr>
        <p:spPr/>
        <p:txBody>
          <a:bodyPr/>
          <a:lstStyle/>
          <a:p>
            <a:r>
              <a:rPr lang="en-US" dirty="0"/>
              <a:t>Ask the user for a string</a:t>
            </a:r>
          </a:p>
          <a:p>
            <a:r>
              <a:rPr lang="en-US" dirty="0"/>
              <a:t>Print:</a:t>
            </a:r>
          </a:p>
          <a:p>
            <a:pPr lvl="1"/>
            <a:r>
              <a:rPr lang="en-US" dirty="0"/>
              <a:t>"Empty" if no input</a:t>
            </a:r>
          </a:p>
          <a:p>
            <a:pPr lvl="1"/>
            <a:r>
              <a:rPr lang="en-US" dirty="0"/>
              <a:t>"Not empty" otherwise</a:t>
            </a:r>
          </a:p>
          <a:p>
            <a:endParaRPr lang="en-SG" dirty="0"/>
          </a:p>
        </p:txBody>
      </p:sp>
    </p:spTree>
    <p:extLst>
      <p:ext uri="{BB962C8B-B14F-4D97-AF65-F5344CB8AC3E}">
        <p14:creationId xmlns:p14="http://schemas.microsoft.com/office/powerpoint/2010/main" val="40295939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A8C4E-9C3B-0447-3ACD-1EFECB590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F7F27-E9E5-239F-2921-3CCC50980CD3}"/>
              </a:ext>
            </a:extLst>
          </p:cNvPr>
          <p:cNvSpPr>
            <a:spLocks noGrp="1"/>
          </p:cNvSpPr>
          <p:nvPr>
            <p:ph type="title"/>
          </p:nvPr>
        </p:nvSpPr>
        <p:spPr>
          <a:xfrm>
            <a:off x="457200" y="228600"/>
            <a:ext cx="8229600" cy="1143000"/>
          </a:xfrm>
        </p:spPr>
        <p:txBody>
          <a:bodyPr/>
          <a:lstStyle/>
          <a:p>
            <a:r>
              <a:rPr lang="en-SG" dirty="0"/>
              <a:t>Solution 1</a:t>
            </a:r>
          </a:p>
        </p:txBody>
      </p:sp>
      <p:sp>
        <p:nvSpPr>
          <p:cNvPr id="3" name="Content Placeholder 2">
            <a:extLst>
              <a:ext uri="{FF2B5EF4-FFF2-40B4-BE49-F238E27FC236}">
                <a16:creationId xmlns:a16="http://schemas.microsoft.com/office/drawing/2014/main" id="{8D514EFF-F943-C67F-B923-2CBF6E814A05}"/>
              </a:ext>
            </a:extLst>
          </p:cNvPr>
          <p:cNvSpPr>
            <a:spLocks noGrp="1"/>
          </p:cNvSpPr>
          <p:nvPr>
            <p:ph idx="1"/>
          </p:nvPr>
        </p:nvSpPr>
        <p:spPr>
          <a:xfrm>
            <a:off x="457200" y="1676400"/>
            <a:ext cx="52451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text = input("Enter a string: ")</a:t>
            </a:r>
          </a:p>
          <a:p>
            <a:pPr marL="0" indent="0">
              <a:buNone/>
            </a:pPr>
            <a:endParaRPr lang="en-US" dirty="0"/>
          </a:p>
          <a:p>
            <a:pPr marL="0" indent="0">
              <a:buNone/>
            </a:pPr>
            <a:r>
              <a:rPr lang="en-US" dirty="0"/>
              <a:t>if text:</a:t>
            </a:r>
          </a:p>
          <a:p>
            <a:pPr marL="0" indent="0">
              <a:buNone/>
            </a:pPr>
            <a:r>
              <a:rPr lang="en-US" dirty="0"/>
              <a:t>    print("Not empty")</a:t>
            </a:r>
          </a:p>
          <a:p>
            <a:pPr marL="0" indent="0">
              <a:buNone/>
            </a:pPr>
            <a:r>
              <a:rPr lang="en-US" dirty="0"/>
              <a:t>else:</a:t>
            </a:r>
          </a:p>
          <a:p>
            <a:pPr marL="0" indent="0">
              <a:buNone/>
            </a:pPr>
            <a:r>
              <a:rPr lang="en-US" dirty="0"/>
              <a:t>    print("Empty")</a:t>
            </a:r>
          </a:p>
        </p:txBody>
      </p:sp>
      <p:sp>
        <p:nvSpPr>
          <p:cNvPr id="4" name="Content Placeholder 2">
            <a:extLst>
              <a:ext uri="{FF2B5EF4-FFF2-40B4-BE49-F238E27FC236}">
                <a16:creationId xmlns:a16="http://schemas.microsoft.com/office/drawing/2014/main" id="{43373FEB-6339-1B4D-2721-45118BCE6BD8}"/>
              </a:ext>
            </a:extLst>
          </p:cNvPr>
          <p:cNvSpPr txBox="1">
            <a:spLocks/>
          </p:cNvSpPr>
          <p:nvPr/>
        </p:nvSpPr>
        <p:spPr>
          <a:xfrm>
            <a:off x="6094412" y="1676400"/>
            <a:ext cx="5843588"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 </a:t>
            </a:r>
            <a:r>
              <a:rPr lang="en-US" b="1" dirty="0"/>
              <a:t>empty string</a:t>
            </a:r>
            <a:r>
              <a:rPr lang="en-US" dirty="0"/>
              <a:t> ("") is </a:t>
            </a:r>
            <a:r>
              <a:rPr lang="en-US" i="1" dirty="0" err="1"/>
              <a:t>falsy</a:t>
            </a:r>
            <a:endParaRPr lang="en-US" dirty="0"/>
          </a:p>
          <a:p>
            <a:r>
              <a:rPr lang="en-US" dirty="0"/>
              <a:t>A </a:t>
            </a:r>
            <a:r>
              <a:rPr lang="en-US" b="1" dirty="0"/>
              <a:t>non-empty string</a:t>
            </a:r>
            <a:r>
              <a:rPr lang="en-US" dirty="0"/>
              <a:t> is </a:t>
            </a:r>
            <a:r>
              <a:rPr lang="en-US" i="1" dirty="0"/>
              <a:t>truthy</a:t>
            </a:r>
            <a:endParaRPr lang="en-US" dirty="0"/>
          </a:p>
          <a:p>
            <a:r>
              <a:rPr lang="en-US" dirty="0"/>
              <a:t>Python evaluates the string directly in the if condition</a:t>
            </a:r>
          </a:p>
        </p:txBody>
      </p:sp>
    </p:spTree>
    <p:extLst>
      <p:ext uri="{BB962C8B-B14F-4D97-AF65-F5344CB8AC3E}">
        <p14:creationId xmlns:p14="http://schemas.microsoft.com/office/powerpoint/2010/main" val="41081384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F5674-2506-496C-A8D8-8F47D2DDBE30}"/>
              </a:ext>
            </a:extLst>
          </p:cNvPr>
          <p:cNvSpPr>
            <a:spLocks noGrp="1"/>
          </p:cNvSpPr>
          <p:nvPr>
            <p:ph type="title"/>
          </p:nvPr>
        </p:nvSpPr>
        <p:spPr/>
        <p:txBody>
          <a:bodyPr/>
          <a:lstStyle/>
          <a:p>
            <a:r>
              <a:rPr lang="en-SG" dirty="0"/>
              <a:t>Solution 2: Ternary</a:t>
            </a:r>
          </a:p>
        </p:txBody>
      </p:sp>
      <p:sp>
        <p:nvSpPr>
          <p:cNvPr id="3" name="Content Placeholder 2">
            <a:extLst>
              <a:ext uri="{FF2B5EF4-FFF2-40B4-BE49-F238E27FC236}">
                <a16:creationId xmlns:a16="http://schemas.microsoft.com/office/drawing/2014/main" id="{034A91F2-2167-B172-B1C0-42D97EE8DE96}"/>
              </a:ext>
            </a:extLst>
          </p:cNvPr>
          <p:cNvSpPr>
            <a:spLocks noGrp="1"/>
          </p:cNvSpPr>
          <p:nvPr>
            <p:ph idx="1"/>
          </p:nvPr>
        </p:nvSpPr>
        <p:spPr/>
        <p:txBody>
          <a:bodyPr/>
          <a:lstStyle/>
          <a:p>
            <a:pPr marL="0" indent="0">
              <a:buNone/>
            </a:pPr>
            <a:r>
              <a:rPr lang="en-US" dirty="0"/>
              <a:t>text = input("Enter a string: ")</a:t>
            </a:r>
          </a:p>
          <a:p>
            <a:pPr marL="0" indent="0">
              <a:buNone/>
            </a:pPr>
            <a:r>
              <a:rPr lang="en-US" dirty="0"/>
              <a:t>print("Not empty" if text else "Empty")</a:t>
            </a:r>
          </a:p>
          <a:p>
            <a:pPr marL="0" indent="0">
              <a:buNone/>
            </a:pPr>
            <a:endParaRPr lang="en-SG" dirty="0"/>
          </a:p>
        </p:txBody>
      </p:sp>
    </p:spTree>
    <p:extLst>
      <p:ext uri="{BB962C8B-B14F-4D97-AF65-F5344CB8AC3E}">
        <p14:creationId xmlns:p14="http://schemas.microsoft.com/office/powerpoint/2010/main" val="27624177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35253-35D0-DF65-6D8F-8519BCD6C2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2F5CF-B16F-FFB0-11D3-5478C4BA169C}"/>
              </a:ext>
            </a:extLst>
          </p:cNvPr>
          <p:cNvSpPr>
            <a:spLocks noGrp="1"/>
          </p:cNvSpPr>
          <p:nvPr>
            <p:ph type="title"/>
          </p:nvPr>
        </p:nvSpPr>
        <p:spPr/>
        <p:txBody>
          <a:bodyPr/>
          <a:lstStyle/>
          <a:p>
            <a:r>
              <a:rPr lang="en-SG" dirty="0"/>
              <a:t>Solution 3: </a:t>
            </a:r>
            <a:r>
              <a:rPr lang="en-SG" dirty="0" err="1"/>
              <a:t>len</a:t>
            </a:r>
            <a:r>
              <a:rPr lang="en-SG" dirty="0"/>
              <a:t>()</a:t>
            </a:r>
          </a:p>
        </p:txBody>
      </p:sp>
      <p:sp>
        <p:nvSpPr>
          <p:cNvPr id="3" name="Content Placeholder 2">
            <a:extLst>
              <a:ext uri="{FF2B5EF4-FFF2-40B4-BE49-F238E27FC236}">
                <a16:creationId xmlns:a16="http://schemas.microsoft.com/office/drawing/2014/main" id="{6A00E301-8BF1-1359-E0FB-713AF06FDE01}"/>
              </a:ext>
            </a:extLst>
          </p:cNvPr>
          <p:cNvSpPr>
            <a:spLocks noGrp="1"/>
          </p:cNvSpPr>
          <p:nvPr>
            <p:ph idx="1"/>
          </p:nvPr>
        </p:nvSpPr>
        <p:spPr/>
        <p:txBody>
          <a:bodyPr/>
          <a:lstStyle/>
          <a:p>
            <a:pPr marL="0" indent="0">
              <a:buNone/>
            </a:pPr>
            <a:r>
              <a:rPr lang="en-US" dirty="0"/>
              <a:t>text = input("Enter a string: ")</a:t>
            </a:r>
          </a:p>
          <a:p>
            <a:pPr marL="0" indent="0">
              <a:buNone/>
            </a:pPr>
            <a:endParaRPr lang="en-US" dirty="0"/>
          </a:p>
          <a:p>
            <a:pPr marL="0" indent="0">
              <a:buNone/>
            </a:pPr>
            <a:r>
              <a:rPr lang="en-US" dirty="0"/>
              <a:t>if </a:t>
            </a:r>
            <a:r>
              <a:rPr lang="en-US" dirty="0" err="1"/>
              <a:t>len</a:t>
            </a:r>
            <a:r>
              <a:rPr lang="en-US" dirty="0"/>
              <a:t>(text) == 0:</a:t>
            </a:r>
          </a:p>
          <a:p>
            <a:pPr marL="0" indent="0">
              <a:buNone/>
            </a:pPr>
            <a:r>
              <a:rPr lang="en-US" dirty="0"/>
              <a:t>    print("Empty")</a:t>
            </a:r>
          </a:p>
          <a:p>
            <a:pPr marL="0" indent="0">
              <a:buNone/>
            </a:pPr>
            <a:r>
              <a:rPr lang="en-US" dirty="0"/>
              <a:t>else:</a:t>
            </a:r>
          </a:p>
          <a:p>
            <a:pPr marL="0" indent="0">
              <a:buNone/>
            </a:pPr>
            <a:r>
              <a:rPr lang="en-US" dirty="0"/>
              <a:t>    print("Not empty")</a:t>
            </a:r>
          </a:p>
        </p:txBody>
      </p:sp>
    </p:spTree>
    <p:extLst>
      <p:ext uri="{BB962C8B-B14F-4D97-AF65-F5344CB8AC3E}">
        <p14:creationId xmlns:p14="http://schemas.microsoft.com/office/powerpoint/2010/main" val="401173457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6517-6CA0-9A2C-BCEF-A288B253B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30B80-5FC2-EF7B-E7AB-353789D3097B}"/>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A1BDC9C0-8F9B-358C-8A6B-9D986391005C}"/>
              </a:ext>
            </a:extLst>
          </p:cNvPr>
          <p:cNvSpPr>
            <a:spLocks noGrp="1"/>
          </p:cNvSpPr>
          <p:nvPr>
            <p:ph idx="1"/>
          </p:nvPr>
        </p:nvSpPr>
        <p:spPr/>
        <p:txBody>
          <a:bodyPr/>
          <a:lstStyle/>
          <a:p>
            <a:r>
              <a:rPr lang="en-US" dirty="0"/>
              <a:t>Booleans drive program logic</a:t>
            </a:r>
          </a:p>
          <a:p>
            <a:r>
              <a:rPr lang="en-US" dirty="0"/>
              <a:t>Truthiness simplifies conditions</a:t>
            </a:r>
          </a:p>
          <a:p>
            <a:r>
              <a:rPr lang="en-US" dirty="0"/>
              <a:t>Understanding </a:t>
            </a:r>
            <a:r>
              <a:rPr lang="en-US" dirty="0" err="1"/>
              <a:t>falsy</a:t>
            </a:r>
            <a:r>
              <a:rPr lang="en-US" dirty="0"/>
              <a:t> values prevents bugs</a:t>
            </a:r>
          </a:p>
        </p:txBody>
      </p:sp>
    </p:spTree>
    <p:extLst>
      <p:ext uri="{BB962C8B-B14F-4D97-AF65-F5344CB8AC3E}">
        <p14:creationId xmlns:p14="http://schemas.microsoft.com/office/powerpoint/2010/main" val="205018144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F71B3-2EC1-9554-B479-279FCE8390C5}"/>
              </a:ext>
            </a:extLst>
          </p:cNvPr>
          <p:cNvSpPr>
            <a:spLocks noGrp="1"/>
          </p:cNvSpPr>
          <p:nvPr>
            <p:ph type="title"/>
          </p:nvPr>
        </p:nvSpPr>
        <p:spPr/>
        <p:txBody>
          <a:bodyPr>
            <a:normAutofit/>
          </a:bodyPr>
          <a:lstStyle/>
          <a:p>
            <a:r>
              <a:rPr lang="en-US" dirty="0"/>
              <a:t>Why Type Casting &amp; Input Matter</a:t>
            </a:r>
            <a:endParaRPr lang="en-SG" dirty="0"/>
          </a:p>
        </p:txBody>
      </p:sp>
      <p:sp>
        <p:nvSpPr>
          <p:cNvPr id="3" name="Content Placeholder 2">
            <a:extLst>
              <a:ext uri="{FF2B5EF4-FFF2-40B4-BE49-F238E27FC236}">
                <a16:creationId xmlns:a16="http://schemas.microsoft.com/office/drawing/2014/main" id="{2C38C9B6-CFA3-A508-C121-7D5AE8A0C147}"/>
              </a:ext>
            </a:extLst>
          </p:cNvPr>
          <p:cNvSpPr>
            <a:spLocks noGrp="1"/>
          </p:cNvSpPr>
          <p:nvPr>
            <p:ph idx="1"/>
          </p:nvPr>
        </p:nvSpPr>
        <p:spPr/>
        <p:txBody>
          <a:bodyPr/>
          <a:lstStyle/>
          <a:p>
            <a:r>
              <a:rPr lang="en-US" dirty="0"/>
              <a:t>Programs often need </a:t>
            </a:r>
            <a:r>
              <a:rPr lang="en-US" b="1" dirty="0"/>
              <a:t>user input</a:t>
            </a:r>
            <a:endParaRPr lang="en-US" dirty="0"/>
          </a:p>
          <a:p>
            <a:r>
              <a:rPr lang="en-US" dirty="0"/>
              <a:t>Input comes in as </a:t>
            </a:r>
            <a:r>
              <a:rPr lang="en-US" b="1" dirty="0"/>
              <a:t>strings</a:t>
            </a:r>
            <a:endParaRPr lang="en-US" dirty="0"/>
          </a:p>
          <a:p>
            <a:r>
              <a:rPr lang="en-US" dirty="0"/>
              <a:t>Type casting converts data to the </a:t>
            </a:r>
            <a:r>
              <a:rPr lang="en-US" b="1" dirty="0"/>
              <a:t>correct type</a:t>
            </a:r>
            <a:endParaRPr lang="en-US" dirty="0"/>
          </a:p>
          <a:p>
            <a:endParaRPr lang="en-SG" dirty="0"/>
          </a:p>
        </p:txBody>
      </p:sp>
    </p:spTree>
    <p:extLst>
      <p:ext uri="{BB962C8B-B14F-4D97-AF65-F5344CB8AC3E}">
        <p14:creationId xmlns:p14="http://schemas.microsoft.com/office/powerpoint/2010/main" val="10339876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DC5A-A887-2620-5809-B4B9914CB1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CA268C-D76A-6BAE-9004-F80764452F57}"/>
              </a:ext>
            </a:extLst>
          </p:cNvPr>
          <p:cNvSpPr>
            <a:spLocks noGrp="1"/>
          </p:cNvSpPr>
          <p:nvPr>
            <p:ph type="title"/>
          </p:nvPr>
        </p:nvSpPr>
        <p:spPr>
          <a:xfrm>
            <a:off x="457200" y="228600"/>
            <a:ext cx="8229600" cy="1143000"/>
          </a:xfrm>
        </p:spPr>
        <p:txBody>
          <a:bodyPr/>
          <a:lstStyle/>
          <a:p>
            <a:r>
              <a:rPr lang="en-SG" dirty="0"/>
              <a:t>Using input()</a:t>
            </a:r>
          </a:p>
        </p:txBody>
      </p:sp>
      <p:sp>
        <p:nvSpPr>
          <p:cNvPr id="3" name="Content Placeholder 2">
            <a:extLst>
              <a:ext uri="{FF2B5EF4-FFF2-40B4-BE49-F238E27FC236}">
                <a16:creationId xmlns:a16="http://schemas.microsoft.com/office/drawing/2014/main" id="{A64ACC18-2450-F769-661D-C67D6444080D}"/>
              </a:ext>
            </a:extLst>
          </p:cNvPr>
          <p:cNvSpPr>
            <a:spLocks noGrp="1"/>
          </p:cNvSpPr>
          <p:nvPr>
            <p:ph idx="1"/>
          </p:nvPr>
        </p:nvSpPr>
        <p:spPr>
          <a:xfrm>
            <a:off x="457200" y="1676400"/>
            <a:ext cx="61214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input("Enter your name: ")</a:t>
            </a:r>
          </a:p>
          <a:p>
            <a:pPr marL="0" indent="0">
              <a:buNone/>
            </a:pPr>
            <a:r>
              <a:rPr lang="en-US" dirty="0"/>
              <a:t>print(name)</a:t>
            </a:r>
          </a:p>
        </p:txBody>
      </p:sp>
      <p:sp>
        <p:nvSpPr>
          <p:cNvPr id="4" name="Content Placeholder 2">
            <a:extLst>
              <a:ext uri="{FF2B5EF4-FFF2-40B4-BE49-F238E27FC236}">
                <a16:creationId xmlns:a16="http://schemas.microsoft.com/office/drawing/2014/main" id="{C16A0BCA-E380-BC0D-EABF-6E769C30ECA2}"/>
              </a:ext>
            </a:extLst>
          </p:cNvPr>
          <p:cNvSpPr txBox="1">
            <a:spLocks/>
          </p:cNvSpPr>
          <p:nvPr/>
        </p:nvSpPr>
        <p:spPr>
          <a:xfrm>
            <a:off x="6743700" y="1676400"/>
            <a:ext cx="51943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Always returns a </a:t>
            </a:r>
            <a:r>
              <a:rPr lang="en-US" b="1" dirty="0"/>
              <a:t>string</a:t>
            </a:r>
            <a:endParaRPr lang="en-US" dirty="0"/>
          </a:p>
          <a:p>
            <a:r>
              <a:rPr lang="en-US" dirty="0"/>
              <a:t>Prompt text is optional but recommended</a:t>
            </a:r>
          </a:p>
        </p:txBody>
      </p:sp>
    </p:spTree>
    <p:extLst>
      <p:ext uri="{BB962C8B-B14F-4D97-AF65-F5344CB8AC3E}">
        <p14:creationId xmlns:p14="http://schemas.microsoft.com/office/powerpoint/2010/main" val="23318860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F47ED-E9D3-C56B-FC70-D505D44218C9}"/>
              </a:ext>
            </a:extLst>
          </p:cNvPr>
          <p:cNvSpPr>
            <a:spLocks noGrp="1"/>
          </p:cNvSpPr>
          <p:nvPr>
            <p:ph type="title"/>
          </p:nvPr>
        </p:nvSpPr>
        <p:spPr/>
        <p:txBody>
          <a:bodyPr/>
          <a:lstStyle/>
          <a:p>
            <a:r>
              <a:rPr lang="en-US" dirty="0"/>
              <a:t>Input Is Always a String</a:t>
            </a:r>
            <a:endParaRPr lang="en-SG" dirty="0"/>
          </a:p>
        </p:txBody>
      </p:sp>
      <p:sp>
        <p:nvSpPr>
          <p:cNvPr id="3" name="Content Placeholder 2">
            <a:extLst>
              <a:ext uri="{FF2B5EF4-FFF2-40B4-BE49-F238E27FC236}">
                <a16:creationId xmlns:a16="http://schemas.microsoft.com/office/drawing/2014/main" id="{8912829C-91C8-074C-EBC2-AD5864B471B6}"/>
              </a:ext>
            </a:extLst>
          </p:cNvPr>
          <p:cNvSpPr>
            <a:spLocks noGrp="1"/>
          </p:cNvSpPr>
          <p:nvPr>
            <p:ph idx="1"/>
          </p:nvPr>
        </p:nvSpPr>
        <p:spPr/>
        <p:txBody>
          <a:bodyPr/>
          <a:lstStyle/>
          <a:p>
            <a:pPr marL="0" indent="0">
              <a:buNone/>
            </a:pPr>
            <a:r>
              <a:rPr lang="en-US" dirty="0"/>
              <a:t>age = input("Enter your age: ")</a:t>
            </a:r>
          </a:p>
          <a:p>
            <a:pPr marL="0" indent="0">
              <a:buNone/>
            </a:pPr>
            <a:r>
              <a:rPr lang="en-US" dirty="0"/>
              <a:t>print(type(age))</a:t>
            </a:r>
          </a:p>
          <a:p>
            <a:pPr marL="0" indent="0">
              <a:buNone/>
            </a:pPr>
            <a:endParaRPr lang="en-SG" dirty="0"/>
          </a:p>
          <a:p>
            <a:pPr marL="0" indent="0">
              <a:buNone/>
            </a:pPr>
            <a:r>
              <a:rPr lang="en-SG" dirty="0"/>
              <a:t>&lt;class 'str'&gt;</a:t>
            </a:r>
          </a:p>
          <a:p>
            <a:pPr marL="0" indent="0">
              <a:buNone/>
            </a:pPr>
            <a:endParaRPr lang="en-SG" dirty="0"/>
          </a:p>
        </p:txBody>
      </p:sp>
    </p:spTree>
    <p:extLst>
      <p:ext uri="{BB962C8B-B14F-4D97-AF65-F5344CB8AC3E}">
        <p14:creationId xmlns:p14="http://schemas.microsoft.com/office/powerpoint/2010/main" val="9762607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84F49-09CE-6317-1836-767D67266017}"/>
              </a:ext>
            </a:extLst>
          </p:cNvPr>
          <p:cNvSpPr>
            <a:spLocks noGrp="1"/>
          </p:cNvSpPr>
          <p:nvPr>
            <p:ph type="title"/>
          </p:nvPr>
        </p:nvSpPr>
        <p:spPr/>
        <p:txBody>
          <a:bodyPr>
            <a:normAutofit/>
          </a:bodyPr>
          <a:lstStyle/>
          <a:p>
            <a:r>
              <a:rPr lang="en-US" dirty="0"/>
              <a:t>What Is Type Casting?</a:t>
            </a:r>
            <a:endParaRPr lang="en-SG" dirty="0"/>
          </a:p>
        </p:txBody>
      </p:sp>
      <p:sp>
        <p:nvSpPr>
          <p:cNvPr id="3" name="Content Placeholder 2">
            <a:extLst>
              <a:ext uri="{FF2B5EF4-FFF2-40B4-BE49-F238E27FC236}">
                <a16:creationId xmlns:a16="http://schemas.microsoft.com/office/drawing/2014/main" id="{3283A7EB-848C-45A6-DBF6-869B1C8A97D4}"/>
              </a:ext>
            </a:extLst>
          </p:cNvPr>
          <p:cNvSpPr>
            <a:spLocks noGrp="1"/>
          </p:cNvSpPr>
          <p:nvPr>
            <p:ph idx="1"/>
          </p:nvPr>
        </p:nvSpPr>
        <p:spPr/>
        <p:txBody>
          <a:bodyPr>
            <a:normAutofit/>
          </a:bodyPr>
          <a:lstStyle/>
          <a:p>
            <a:r>
              <a:rPr lang="en-US" b="1" dirty="0"/>
              <a:t>Definition</a:t>
            </a:r>
          </a:p>
          <a:p>
            <a:pPr lvl="1"/>
            <a:r>
              <a:rPr lang="en-US" dirty="0"/>
              <a:t>Converting a value from one type to another</a:t>
            </a:r>
          </a:p>
          <a:p>
            <a:pPr lvl="1"/>
            <a:endParaRPr lang="en-US" dirty="0"/>
          </a:p>
          <a:p>
            <a:r>
              <a:rPr lang="en-US" b="1" dirty="0"/>
              <a:t>Common Casting Functions</a:t>
            </a:r>
          </a:p>
          <a:p>
            <a:pPr lvl="1"/>
            <a:r>
              <a:rPr lang="en-US" dirty="0"/>
              <a:t>int()</a:t>
            </a:r>
          </a:p>
          <a:p>
            <a:pPr lvl="1"/>
            <a:r>
              <a:rPr lang="en-US" dirty="0"/>
              <a:t>float()</a:t>
            </a:r>
          </a:p>
          <a:p>
            <a:pPr lvl="1"/>
            <a:r>
              <a:rPr lang="en-US" dirty="0"/>
              <a:t>str()</a:t>
            </a:r>
          </a:p>
          <a:p>
            <a:pPr lvl="1"/>
            <a:r>
              <a:rPr lang="en-US" dirty="0"/>
              <a:t>bool()</a:t>
            </a:r>
          </a:p>
          <a:p>
            <a:endParaRPr lang="en-SG" dirty="0"/>
          </a:p>
        </p:txBody>
      </p:sp>
    </p:spTree>
    <p:extLst>
      <p:ext uri="{BB962C8B-B14F-4D97-AF65-F5344CB8AC3E}">
        <p14:creationId xmlns:p14="http://schemas.microsoft.com/office/powerpoint/2010/main" val="25399721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a:xfrm>
            <a:off x="457200" y="1600201"/>
            <a:ext cx="8229600" cy="1968500"/>
          </a:xfrm>
        </p:spPr>
        <p:style>
          <a:lnRef idx="2">
            <a:schemeClr val="dk1"/>
          </a:lnRef>
          <a:fillRef idx="1">
            <a:schemeClr val="lt1"/>
          </a:fillRef>
          <a:effectRef idx="0">
            <a:schemeClr val="dk1"/>
          </a:effectRef>
          <a:fontRef idx="minor">
            <a:schemeClr val="dk1"/>
          </a:fontRef>
        </p:style>
        <p:txBody>
          <a:bodyPr/>
          <a:lstStyle/>
          <a:p>
            <a:r>
              <a:rPr dirty="0"/>
              <a:t>input() always returns a string</a:t>
            </a:r>
          </a:p>
          <a:p>
            <a:r>
              <a:rPr dirty="0"/>
              <a:t>Use int(), float(), str(), bool()</a:t>
            </a:r>
          </a:p>
          <a:p>
            <a:r>
              <a:rPr dirty="0"/>
              <a:t>Validate input to avoid runtime errors</a:t>
            </a:r>
          </a:p>
        </p:txBody>
      </p:sp>
      <p:sp>
        <p:nvSpPr>
          <p:cNvPr id="4" name="TextBox 3">
            <a:extLst>
              <a:ext uri="{FF2B5EF4-FFF2-40B4-BE49-F238E27FC236}">
                <a16:creationId xmlns:a16="http://schemas.microsoft.com/office/drawing/2014/main" id="{0972A754-9016-1F20-3769-52F073D2754D}"/>
              </a:ext>
            </a:extLst>
          </p:cNvPr>
          <p:cNvSpPr txBox="1"/>
          <p:nvPr/>
        </p:nvSpPr>
        <p:spPr>
          <a:xfrm>
            <a:off x="457200" y="4191000"/>
            <a:ext cx="82296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age = int(input("Enter your age: "))</a:t>
            </a:r>
          </a:p>
          <a:p>
            <a:r>
              <a:rPr lang="en-US" sz="3200" dirty="0"/>
              <a:t>print(age + 1)</a:t>
            </a:r>
          </a:p>
          <a:p>
            <a:endParaRPr lang="en-SG" sz="3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1BDA-5226-320D-EC70-2D51CB4F4D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4074C-8DA8-CEED-3D3C-B5B2897F5FDF}"/>
              </a:ext>
            </a:extLst>
          </p:cNvPr>
          <p:cNvSpPr>
            <a:spLocks noGrp="1"/>
          </p:cNvSpPr>
          <p:nvPr>
            <p:ph type="title"/>
          </p:nvPr>
        </p:nvSpPr>
        <p:spPr>
          <a:xfrm>
            <a:off x="457200" y="228600"/>
            <a:ext cx="8229600" cy="1143000"/>
          </a:xfrm>
        </p:spPr>
        <p:txBody>
          <a:bodyPr/>
          <a:lstStyle/>
          <a:p>
            <a:r>
              <a:rPr lang="en-US" dirty="0"/>
              <a:t>Casting Input to Float</a:t>
            </a:r>
          </a:p>
        </p:txBody>
      </p:sp>
      <p:sp>
        <p:nvSpPr>
          <p:cNvPr id="3" name="Content Placeholder 2">
            <a:extLst>
              <a:ext uri="{FF2B5EF4-FFF2-40B4-BE49-F238E27FC236}">
                <a16:creationId xmlns:a16="http://schemas.microsoft.com/office/drawing/2014/main" id="{ECCF02C3-4217-921E-133C-D87A98A87DB6}"/>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price = float(input("Enter price: "))</a:t>
            </a:r>
          </a:p>
          <a:p>
            <a:pPr marL="0" indent="0">
              <a:buNone/>
            </a:pPr>
            <a:r>
              <a:rPr lang="en-US" dirty="0"/>
              <a:t>print(price * 1.08)</a:t>
            </a:r>
          </a:p>
        </p:txBody>
      </p:sp>
    </p:spTree>
    <p:extLst>
      <p:ext uri="{BB962C8B-B14F-4D97-AF65-F5344CB8AC3E}">
        <p14:creationId xmlns:p14="http://schemas.microsoft.com/office/powerpoint/2010/main" val="42282147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F31AF-8F2C-3553-C3EB-1ACF6624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00C8F-DAA2-0778-6A96-CE3D5AA2AA58}"/>
              </a:ext>
            </a:extLst>
          </p:cNvPr>
          <p:cNvSpPr>
            <a:spLocks noGrp="1"/>
          </p:cNvSpPr>
          <p:nvPr>
            <p:ph type="title"/>
          </p:nvPr>
        </p:nvSpPr>
        <p:spPr>
          <a:xfrm>
            <a:off x="457200" y="228600"/>
            <a:ext cx="8229600" cy="1143000"/>
          </a:xfrm>
        </p:spPr>
        <p:txBody>
          <a:bodyPr/>
          <a:lstStyle/>
          <a:p>
            <a:r>
              <a:rPr lang="en-US" dirty="0"/>
              <a:t>Casting to String</a:t>
            </a:r>
          </a:p>
        </p:txBody>
      </p:sp>
      <p:sp>
        <p:nvSpPr>
          <p:cNvPr id="3" name="Content Placeholder 2">
            <a:extLst>
              <a:ext uri="{FF2B5EF4-FFF2-40B4-BE49-F238E27FC236}">
                <a16:creationId xmlns:a16="http://schemas.microsoft.com/office/drawing/2014/main" id="{6A43D2B2-6147-65FF-3D18-7C5C7F714ABF}"/>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year = 2025</a:t>
            </a:r>
          </a:p>
          <a:p>
            <a:pPr marL="0" indent="0">
              <a:buNone/>
            </a:pPr>
            <a:r>
              <a:rPr lang="en-US" dirty="0"/>
              <a:t>text = str(year)</a:t>
            </a:r>
          </a:p>
          <a:p>
            <a:pPr marL="0" indent="0">
              <a:buNone/>
            </a:pPr>
            <a:r>
              <a:rPr lang="en-US" dirty="0"/>
              <a:t>print("Year: " + text)</a:t>
            </a:r>
          </a:p>
        </p:txBody>
      </p:sp>
    </p:spTree>
    <p:extLst>
      <p:ext uri="{BB962C8B-B14F-4D97-AF65-F5344CB8AC3E}">
        <p14:creationId xmlns:p14="http://schemas.microsoft.com/office/powerpoint/2010/main" val="33781906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A33C4-75B8-0C76-C139-FEA7AB857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C68768-97B6-A65B-0579-F631DABF0C69}"/>
              </a:ext>
            </a:extLst>
          </p:cNvPr>
          <p:cNvSpPr>
            <a:spLocks noGrp="1"/>
          </p:cNvSpPr>
          <p:nvPr>
            <p:ph type="title"/>
          </p:nvPr>
        </p:nvSpPr>
        <p:spPr>
          <a:xfrm>
            <a:off x="1320800" y="304800"/>
            <a:ext cx="7137400" cy="1143000"/>
          </a:xfrm>
        </p:spPr>
        <p:txBody>
          <a:bodyPr>
            <a:normAutofit/>
          </a:bodyPr>
          <a:lstStyle/>
          <a:p>
            <a:r>
              <a:rPr lang="en-US" dirty="0"/>
              <a:t>Casting to Boolean</a:t>
            </a:r>
          </a:p>
        </p:txBody>
      </p:sp>
      <p:sp>
        <p:nvSpPr>
          <p:cNvPr id="3" name="Content Placeholder 2">
            <a:extLst>
              <a:ext uri="{FF2B5EF4-FFF2-40B4-BE49-F238E27FC236}">
                <a16:creationId xmlns:a16="http://schemas.microsoft.com/office/drawing/2014/main" id="{D096118A-142E-841D-53B3-D33E2FF3C34B}"/>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a:t>
            </a:r>
            <a:r>
              <a:rPr lang="en-SG" dirty="0"/>
              <a:t>Truthiness Reminder</a:t>
            </a:r>
            <a:endParaRPr lang="en-US" dirty="0"/>
          </a:p>
          <a:p>
            <a:pPr marL="0" indent="0">
              <a:buNone/>
            </a:pPr>
            <a:endParaRPr lang="en-US" dirty="0"/>
          </a:p>
          <a:p>
            <a:pPr marL="0" indent="0">
              <a:buNone/>
            </a:pPr>
            <a:r>
              <a:rPr lang="en-US" dirty="0"/>
              <a:t>print(bool(0))</a:t>
            </a:r>
          </a:p>
          <a:p>
            <a:pPr marL="0" indent="0">
              <a:buNone/>
            </a:pPr>
            <a:r>
              <a:rPr lang="en-US" dirty="0"/>
              <a:t>print(bool(""))</a:t>
            </a:r>
          </a:p>
          <a:p>
            <a:pPr marL="0" indent="0">
              <a:buNone/>
            </a:pPr>
            <a:r>
              <a:rPr lang="en-US" dirty="0"/>
              <a:t>print(bool("Python"))</a:t>
            </a:r>
          </a:p>
        </p:txBody>
      </p:sp>
    </p:spTree>
    <p:extLst>
      <p:ext uri="{BB962C8B-B14F-4D97-AF65-F5344CB8AC3E}">
        <p14:creationId xmlns:p14="http://schemas.microsoft.com/office/powerpoint/2010/main" val="162613169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11319-48DF-2990-1863-55B0F64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2C1C1-DFFF-E4E9-3188-2C26BA95D814}"/>
              </a:ext>
            </a:extLst>
          </p:cNvPr>
          <p:cNvSpPr>
            <a:spLocks noGrp="1"/>
          </p:cNvSpPr>
          <p:nvPr>
            <p:ph type="title"/>
          </p:nvPr>
        </p:nvSpPr>
        <p:spPr>
          <a:xfrm>
            <a:off x="1320800" y="304800"/>
            <a:ext cx="7137400" cy="1143000"/>
          </a:xfrm>
        </p:spPr>
        <p:txBody>
          <a:bodyPr>
            <a:normAutofit/>
          </a:bodyPr>
          <a:lstStyle/>
          <a:p>
            <a:r>
              <a:rPr lang="en-SG" dirty="0"/>
              <a:t>Safe Casting with try-except</a:t>
            </a:r>
            <a:endParaRPr lang="en-US" dirty="0"/>
          </a:p>
        </p:txBody>
      </p:sp>
      <p:sp>
        <p:nvSpPr>
          <p:cNvPr id="3" name="Content Placeholder 2">
            <a:extLst>
              <a:ext uri="{FF2B5EF4-FFF2-40B4-BE49-F238E27FC236}">
                <a16:creationId xmlns:a16="http://schemas.microsoft.com/office/drawing/2014/main" id="{2ABF811B-73B2-7394-6C57-036BF79F3C53}"/>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try:</a:t>
            </a:r>
          </a:p>
          <a:p>
            <a:pPr marL="0" indent="0">
              <a:buNone/>
            </a:pPr>
            <a:r>
              <a:rPr lang="en-US" dirty="0"/>
              <a:t>    age = int(input("Enter age: "))</a:t>
            </a:r>
          </a:p>
          <a:p>
            <a:pPr marL="0" indent="0">
              <a:buNone/>
            </a:pPr>
            <a:r>
              <a:rPr lang="en-US" dirty="0"/>
              <a:t>    print("Next year:", age + 1)</a:t>
            </a:r>
          </a:p>
          <a:p>
            <a:pPr marL="0" indent="0">
              <a:buNone/>
            </a:pPr>
            <a:r>
              <a:rPr lang="en-US" dirty="0"/>
              <a:t>except </a:t>
            </a:r>
            <a:r>
              <a:rPr lang="en-US" dirty="0" err="1"/>
              <a:t>ValueError</a:t>
            </a:r>
            <a:r>
              <a:rPr lang="en-US" dirty="0"/>
              <a:t>:</a:t>
            </a:r>
          </a:p>
          <a:p>
            <a:pPr marL="0" indent="0">
              <a:buNone/>
            </a:pPr>
            <a:r>
              <a:rPr lang="en-US" dirty="0"/>
              <a:t>    print("Please enter a valid number")</a:t>
            </a:r>
          </a:p>
        </p:txBody>
      </p:sp>
    </p:spTree>
    <p:extLst>
      <p:ext uri="{BB962C8B-B14F-4D97-AF65-F5344CB8AC3E}">
        <p14:creationId xmlns:p14="http://schemas.microsoft.com/office/powerpoint/2010/main" val="343750604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AA277-726C-9050-A48C-089A93924D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C8CBA-C3E6-5827-7079-2B4286D5FD4A}"/>
              </a:ext>
            </a:extLst>
          </p:cNvPr>
          <p:cNvSpPr>
            <a:spLocks noGrp="1"/>
          </p:cNvSpPr>
          <p:nvPr>
            <p:ph type="title"/>
          </p:nvPr>
        </p:nvSpPr>
        <p:spPr>
          <a:xfrm>
            <a:off x="457200" y="228600"/>
            <a:ext cx="8229600" cy="1143000"/>
          </a:xfrm>
        </p:spPr>
        <p:txBody>
          <a:bodyPr/>
          <a:lstStyle/>
          <a:p>
            <a:r>
              <a:rPr lang="en-US" dirty="0"/>
              <a:t>Input + Casting Common Pattern</a:t>
            </a:r>
          </a:p>
        </p:txBody>
      </p:sp>
      <p:sp>
        <p:nvSpPr>
          <p:cNvPr id="3" name="Content Placeholder 2">
            <a:extLst>
              <a:ext uri="{FF2B5EF4-FFF2-40B4-BE49-F238E27FC236}">
                <a16:creationId xmlns:a16="http://schemas.microsoft.com/office/drawing/2014/main" id="{29B3819F-932C-6D49-BF2E-72A4A86F32E6}"/>
              </a:ext>
            </a:extLst>
          </p:cNvPr>
          <p:cNvSpPr>
            <a:spLocks noGrp="1"/>
          </p:cNvSpPr>
          <p:nvPr>
            <p:ph idx="1"/>
          </p:nvPr>
        </p:nvSpPr>
        <p:spPr>
          <a:xfrm>
            <a:off x="266700" y="1676400"/>
            <a:ext cx="52705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value = type(input("Prompt"))</a:t>
            </a:r>
          </a:p>
        </p:txBody>
      </p:sp>
      <p:sp>
        <p:nvSpPr>
          <p:cNvPr id="4" name="Content Placeholder 2">
            <a:extLst>
              <a:ext uri="{FF2B5EF4-FFF2-40B4-BE49-F238E27FC236}">
                <a16:creationId xmlns:a16="http://schemas.microsoft.com/office/drawing/2014/main" id="{7AC9CD96-CFF1-ADDE-7ED1-E8CFD475F9D2}"/>
              </a:ext>
            </a:extLst>
          </p:cNvPr>
          <p:cNvSpPr txBox="1">
            <a:spLocks/>
          </p:cNvSpPr>
          <p:nvPr/>
        </p:nvSpPr>
        <p:spPr>
          <a:xfrm>
            <a:off x="5867400" y="1676400"/>
            <a:ext cx="61849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count = int(input("Enter count: "))</a:t>
            </a:r>
          </a:p>
        </p:txBody>
      </p:sp>
    </p:spTree>
    <p:extLst>
      <p:ext uri="{BB962C8B-B14F-4D97-AF65-F5344CB8AC3E}">
        <p14:creationId xmlns:p14="http://schemas.microsoft.com/office/powerpoint/2010/main" val="11620424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6134-3812-5831-03F6-D38FD64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13CA-8AA9-16C1-ADE6-38C59DCE01C6}"/>
              </a:ext>
            </a:extLst>
          </p:cNvPr>
          <p:cNvSpPr>
            <a:spLocks noGrp="1"/>
          </p:cNvSpPr>
          <p:nvPr>
            <p:ph type="title"/>
          </p:nvPr>
        </p:nvSpPr>
        <p:spPr>
          <a:xfrm>
            <a:off x="1320800" y="304800"/>
            <a:ext cx="7137400" cy="1143000"/>
          </a:xfrm>
        </p:spPr>
        <p:txBody>
          <a:bodyPr>
            <a:normAutofit/>
          </a:bodyPr>
          <a:lstStyle/>
          <a:p>
            <a:r>
              <a:rPr lang="en-US" dirty="0"/>
              <a:t>Mixing Input with f-Strings</a:t>
            </a:r>
          </a:p>
        </p:txBody>
      </p:sp>
      <p:sp>
        <p:nvSpPr>
          <p:cNvPr id="3" name="Content Placeholder 2">
            <a:extLst>
              <a:ext uri="{FF2B5EF4-FFF2-40B4-BE49-F238E27FC236}">
                <a16:creationId xmlns:a16="http://schemas.microsoft.com/office/drawing/2014/main" id="{DC80FC08-09D1-0453-8AB3-1C496112C609}"/>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input("Name: ")</a:t>
            </a:r>
          </a:p>
          <a:p>
            <a:pPr marL="0" indent="0">
              <a:buNone/>
            </a:pPr>
            <a:r>
              <a:rPr lang="en-US" dirty="0"/>
              <a:t>age = int(input("Age: "))</a:t>
            </a:r>
          </a:p>
          <a:p>
            <a:pPr marL="0" indent="0">
              <a:buNone/>
            </a:pPr>
            <a:endParaRPr lang="en-US" dirty="0"/>
          </a:p>
          <a:p>
            <a:pPr marL="0" indent="0">
              <a:buNone/>
            </a:pPr>
            <a:r>
              <a:rPr lang="en-US" dirty="0"/>
              <a:t>print(f"{name} will be {age + 1} next year")</a:t>
            </a:r>
          </a:p>
        </p:txBody>
      </p:sp>
    </p:spTree>
    <p:extLst>
      <p:ext uri="{BB962C8B-B14F-4D97-AF65-F5344CB8AC3E}">
        <p14:creationId xmlns:p14="http://schemas.microsoft.com/office/powerpoint/2010/main" val="337044962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B6BEC-D10A-0417-9BC2-11E559A052D2}"/>
              </a:ext>
            </a:extLst>
          </p:cNvPr>
          <p:cNvSpPr>
            <a:spLocks noGrp="1"/>
          </p:cNvSpPr>
          <p:nvPr>
            <p:ph type="title"/>
          </p:nvPr>
        </p:nvSpPr>
        <p:spPr/>
        <p:txBody>
          <a:bodyPr>
            <a:normAutofit/>
          </a:bodyPr>
          <a:lstStyle/>
          <a:p>
            <a:r>
              <a:rPr lang="en-US" dirty="0"/>
              <a:t>Common Mistakes</a:t>
            </a:r>
            <a:endParaRPr lang="en-SG" dirty="0"/>
          </a:p>
        </p:txBody>
      </p:sp>
      <p:sp>
        <p:nvSpPr>
          <p:cNvPr id="3" name="Content Placeholder 2">
            <a:extLst>
              <a:ext uri="{FF2B5EF4-FFF2-40B4-BE49-F238E27FC236}">
                <a16:creationId xmlns:a16="http://schemas.microsoft.com/office/drawing/2014/main" id="{BE98B4DE-E6F2-3240-C004-04A8A8DD652E}"/>
              </a:ext>
            </a:extLst>
          </p:cNvPr>
          <p:cNvSpPr>
            <a:spLocks noGrp="1"/>
          </p:cNvSpPr>
          <p:nvPr>
            <p:ph idx="1"/>
          </p:nvPr>
        </p:nvSpPr>
        <p:spPr/>
        <p:txBody>
          <a:bodyPr/>
          <a:lstStyle/>
          <a:p>
            <a:r>
              <a:rPr lang="en-US" dirty="0"/>
              <a:t>Forgetting to cast input</a:t>
            </a:r>
          </a:p>
          <a:p>
            <a:r>
              <a:rPr lang="en-US" dirty="0"/>
              <a:t>Casting before validation</a:t>
            </a:r>
          </a:p>
          <a:p>
            <a:r>
              <a:rPr lang="en-US" dirty="0"/>
              <a:t>Assuming input is always valid</a:t>
            </a:r>
          </a:p>
          <a:p>
            <a:endParaRPr lang="en-SG" dirty="0"/>
          </a:p>
        </p:txBody>
      </p:sp>
    </p:spTree>
    <p:extLst>
      <p:ext uri="{BB962C8B-B14F-4D97-AF65-F5344CB8AC3E}">
        <p14:creationId xmlns:p14="http://schemas.microsoft.com/office/powerpoint/2010/main" val="364412367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47EF-0529-924F-F1B4-FE6A2F6D20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D888B-BC43-C5FB-14AC-669B7B675770}"/>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0FCFBC39-17FA-63C7-119A-497136D084CC}"/>
              </a:ext>
            </a:extLst>
          </p:cNvPr>
          <p:cNvSpPr>
            <a:spLocks noGrp="1"/>
          </p:cNvSpPr>
          <p:nvPr>
            <p:ph idx="1"/>
          </p:nvPr>
        </p:nvSpPr>
        <p:spPr/>
        <p:txBody>
          <a:bodyPr/>
          <a:lstStyle/>
          <a:p>
            <a:r>
              <a:rPr lang="en-US" dirty="0"/>
              <a:t>input() always returns a string</a:t>
            </a:r>
          </a:p>
          <a:p>
            <a:r>
              <a:rPr lang="en-US" dirty="0"/>
              <a:t>Type casting enables correct operations</a:t>
            </a:r>
          </a:p>
          <a:p>
            <a:r>
              <a:rPr lang="en-US" dirty="0"/>
              <a:t>Validate input to avoid runtime errors</a:t>
            </a:r>
          </a:p>
        </p:txBody>
      </p:sp>
    </p:spTree>
    <p:extLst>
      <p:ext uri="{BB962C8B-B14F-4D97-AF65-F5344CB8AC3E}">
        <p14:creationId xmlns:p14="http://schemas.microsoft.com/office/powerpoint/2010/main" val="28327751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D3F31-CCCF-3C03-F821-DD358B8B37DD}"/>
              </a:ext>
            </a:extLst>
          </p:cNvPr>
          <p:cNvSpPr>
            <a:spLocks noGrp="1"/>
          </p:cNvSpPr>
          <p:nvPr>
            <p:ph type="title"/>
          </p:nvPr>
        </p:nvSpPr>
        <p:spPr/>
        <p:txBody>
          <a:bodyPr>
            <a:normAutofit/>
          </a:bodyPr>
          <a:lstStyle/>
          <a:p>
            <a:r>
              <a:rPr lang="en-US" b="1" dirty="0"/>
              <a:t>Hands-On Exercise</a:t>
            </a:r>
            <a:endParaRPr lang="en-SG" dirty="0"/>
          </a:p>
        </p:txBody>
      </p:sp>
      <p:sp>
        <p:nvSpPr>
          <p:cNvPr id="3" name="Content Placeholder 2">
            <a:extLst>
              <a:ext uri="{FF2B5EF4-FFF2-40B4-BE49-F238E27FC236}">
                <a16:creationId xmlns:a16="http://schemas.microsoft.com/office/drawing/2014/main" id="{9FF537C0-241F-2DBB-7CD4-ADC0875EF0AB}"/>
              </a:ext>
            </a:extLst>
          </p:cNvPr>
          <p:cNvSpPr>
            <a:spLocks noGrp="1"/>
          </p:cNvSpPr>
          <p:nvPr>
            <p:ph idx="1"/>
          </p:nvPr>
        </p:nvSpPr>
        <p:spPr>
          <a:xfrm>
            <a:off x="457200" y="1435101"/>
            <a:ext cx="8229600" cy="1524000"/>
          </a:xfrm>
        </p:spPr>
        <p:style>
          <a:lnRef idx="2">
            <a:schemeClr val="dk1"/>
          </a:lnRef>
          <a:fillRef idx="1">
            <a:schemeClr val="lt1"/>
          </a:fillRef>
          <a:effectRef idx="0">
            <a:schemeClr val="dk1"/>
          </a:effectRef>
          <a:fontRef idx="minor">
            <a:schemeClr val="dk1"/>
          </a:fontRef>
        </p:style>
        <p:txBody>
          <a:bodyPr/>
          <a:lstStyle/>
          <a:p>
            <a:r>
              <a:rPr lang="en-US" dirty="0"/>
              <a:t>Ask the user for two numbers</a:t>
            </a:r>
          </a:p>
          <a:p>
            <a:r>
              <a:rPr lang="en-US" dirty="0"/>
              <a:t>Print their sum</a:t>
            </a:r>
          </a:p>
          <a:p>
            <a:endParaRPr lang="en-SG" dirty="0"/>
          </a:p>
        </p:txBody>
      </p:sp>
      <p:sp>
        <p:nvSpPr>
          <p:cNvPr id="4" name="Content Placeholder 2">
            <a:extLst>
              <a:ext uri="{FF2B5EF4-FFF2-40B4-BE49-F238E27FC236}">
                <a16:creationId xmlns:a16="http://schemas.microsoft.com/office/drawing/2014/main" id="{B56CD778-A185-780D-D461-1AABBEFD4115}"/>
              </a:ext>
            </a:extLst>
          </p:cNvPr>
          <p:cNvSpPr txBox="1">
            <a:spLocks/>
          </p:cNvSpPr>
          <p:nvPr/>
        </p:nvSpPr>
        <p:spPr>
          <a:xfrm>
            <a:off x="457200" y="3340100"/>
            <a:ext cx="8229600" cy="29972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num1 = int(input("Enter the first number: "))</a:t>
            </a:r>
          </a:p>
          <a:p>
            <a:pPr marL="0" indent="0">
              <a:buNone/>
            </a:pPr>
            <a:r>
              <a:rPr lang="en-US" dirty="0"/>
              <a:t>num2 = int(input("Enter the second number: "))</a:t>
            </a:r>
          </a:p>
          <a:p>
            <a:pPr marL="0" indent="0">
              <a:buNone/>
            </a:pPr>
            <a:endParaRPr lang="en-US" dirty="0"/>
          </a:p>
          <a:p>
            <a:pPr marL="0" indent="0">
              <a:buNone/>
            </a:pPr>
            <a:r>
              <a:rPr lang="en-US" dirty="0"/>
              <a:t>total = num1 + num2</a:t>
            </a:r>
          </a:p>
          <a:p>
            <a:pPr marL="0" indent="0">
              <a:buNone/>
            </a:pPr>
            <a:r>
              <a:rPr lang="en-US" dirty="0"/>
              <a:t>print("Sum:", total)</a:t>
            </a:r>
          </a:p>
          <a:p>
            <a:pPr marL="0" indent="0">
              <a:buNone/>
            </a:pPr>
            <a:endParaRPr lang="en-SG" dirty="0"/>
          </a:p>
        </p:txBody>
      </p:sp>
    </p:spTree>
    <p:extLst>
      <p:ext uri="{BB962C8B-B14F-4D97-AF65-F5344CB8AC3E}">
        <p14:creationId xmlns:p14="http://schemas.microsoft.com/office/powerpoint/2010/main" val="381491916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b="1"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b="1"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p:txBody>
          <a:bodyPr>
            <a:normAutofit fontScale="90000"/>
          </a:bodyPr>
          <a:lstStyle/>
          <a:p>
            <a:r>
              <a:rPr lang="en-SG" b="1"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else</a:t>
            </a:r>
          </a:p>
        </p:txBody>
      </p:sp>
      <p:sp>
        <p:nvSpPr>
          <p:cNvPr id="3" name="Content Placeholder 2"/>
          <p:cNvSpPr>
            <a:spLocks noGrp="1"/>
          </p:cNvSpPr>
          <p:nvPr>
            <p:ph idx="1"/>
          </p:nvPr>
        </p:nvSpPr>
        <p:spPr/>
        <p:txBody>
          <a:bodyPr/>
          <a:lstStyle/>
          <a:p>
            <a:r>
              <a:t>Programs make decisions using conditions</a:t>
            </a:r>
          </a:p>
          <a:p>
            <a:r>
              <a:t>if / elif / else chains</a:t>
            </a:r>
          </a:p>
          <a:p>
            <a:r>
              <a:t>Indentation defines logic blocks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BDC13-0912-830C-A8D8-E126E9B80640}"/>
              </a:ext>
            </a:extLst>
          </p:cNvPr>
          <p:cNvSpPr>
            <a:spLocks noGrp="1"/>
          </p:cNvSpPr>
          <p:nvPr>
            <p:ph type="title"/>
          </p:nvPr>
        </p:nvSpPr>
        <p:spPr/>
        <p:txBody>
          <a:bodyPr/>
          <a:lstStyle/>
          <a:p>
            <a:r>
              <a:rPr lang="en-US" dirty="0"/>
              <a:t>Unpacking Operators: Overview</a:t>
            </a:r>
            <a:endParaRPr lang="en-SG" dirty="0"/>
          </a:p>
        </p:txBody>
      </p:sp>
      <p:sp>
        <p:nvSpPr>
          <p:cNvPr id="3" name="Content Placeholder 2">
            <a:extLst>
              <a:ext uri="{FF2B5EF4-FFF2-40B4-BE49-F238E27FC236}">
                <a16:creationId xmlns:a16="http://schemas.microsoft.com/office/drawing/2014/main" id="{D0B31A77-C0FF-7C72-9E7E-3042496E3597}"/>
              </a:ext>
            </a:extLst>
          </p:cNvPr>
          <p:cNvSpPr>
            <a:spLocks noGrp="1"/>
          </p:cNvSpPr>
          <p:nvPr>
            <p:ph idx="1"/>
          </p:nvPr>
        </p:nvSpPr>
        <p:spPr/>
        <p:txBody>
          <a:bodyPr/>
          <a:lstStyle/>
          <a:p>
            <a:r>
              <a:rPr lang="en-US" dirty="0"/>
              <a:t>* and ** can be used to </a:t>
            </a:r>
            <a:r>
              <a:rPr lang="en-US" b="1" dirty="0"/>
              <a:t>unpack values</a:t>
            </a:r>
            <a:endParaRPr lang="en-US" dirty="0"/>
          </a:p>
          <a:p>
            <a:r>
              <a:rPr lang="en-US" dirty="0"/>
              <a:t>Context matters: meaning changes based on </a:t>
            </a:r>
            <a:r>
              <a:rPr lang="en-US" i="1" dirty="0"/>
              <a:t>where</a:t>
            </a:r>
            <a:r>
              <a:rPr lang="en-US" dirty="0"/>
              <a:t> they appear</a:t>
            </a:r>
          </a:p>
          <a:p>
            <a:r>
              <a:rPr lang="en-US" dirty="0"/>
              <a:t>Commonly used in function calls and assignments</a:t>
            </a:r>
          </a:p>
          <a:p>
            <a:endParaRPr lang="en-SG" dirty="0"/>
          </a:p>
        </p:txBody>
      </p:sp>
    </p:spTree>
    <p:extLst>
      <p:ext uri="{BB962C8B-B14F-4D97-AF65-F5344CB8AC3E}">
        <p14:creationId xmlns:p14="http://schemas.microsoft.com/office/powerpoint/2010/main" val="308568690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B675-6BF3-C1E3-9F17-28294E061D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1410B50-DA15-A502-D79B-24171E212027}"/>
              </a:ext>
            </a:extLst>
          </p:cNvPr>
          <p:cNvSpPr>
            <a:spLocks noGrp="1"/>
          </p:cNvSpPr>
          <p:nvPr>
            <p:ph type="title"/>
          </p:nvPr>
        </p:nvSpPr>
        <p:spPr/>
        <p:txBody>
          <a:bodyPr/>
          <a:lstStyle/>
          <a:p>
            <a:r>
              <a:rPr lang="en-US" dirty="0"/>
              <a:t>What Is Unpacking?</a:t>
            </a:r>
          </a:p>
        </p:txBody>
      </p:sp>
      <p:sp>
        <p:nvSpPr>
          <p:cNvPr id="8" name="Content Placeholder 7">
            <a:extLst>
              <a:ext uri="{FF2B5EF4-FFF2-40B4-BE49-F238E27FC236}">
                <a16:creationId xmlns:a16="http://schemas.microsoft.com/office/drawing/2014/main" id="{633FC12B-E966-9C6E-B280-7C05BF53CCAB}"/>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b = [1, 2]</a:t>
            </a:r>
          </a:p>
        </p:txBody>
      </p:sp>
      <p:sp>
        <p:nvSpPr>
          <p:cNvPr id="10" name="Content Placeholder 7">
            <a:extLst>
              <a:ext uri="{FF2B5EF4-FFF2-40B4-BE49-F238E27FC236}">
                <a16:creationId xmlns:a16="http://schemas.microsoft.com/office/drawing/2014/main" id="{7914A04A-161E-2355-B19F-B81DE4F3AA64}"/>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Unpacking extracts elements from a collection</a:t>
            </a:r>
          </a:p>
          <a:p>
            <a:r>
              <a:rPr lang="en-US" dirty="0"/>
              <a:t>Assigns them to variables or passes them as arguments</a:t>
            </a:r>
          </a:p>
        </p:txBody>
      </p:sp>
    </p:spTree>
    <p:extLst>
      <p:ext uri="{BB962C8B-B14F-4D97-AF65-F5344CB8AC3E}">
        <p14:creationId xmlns:p14="http://schemas.microsoft.com/office/powerpoint/2010/main" val="65938032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95C2F-4801-106A-C43B-9387C5D7BAA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DE6A5D3-1E42-9854-6DFE-221361A8450A}"/>
              </a:ext>
            </a:extLst>
          </p:cNvPr>
          <p:cNvSpPr>
            <a:spLocks noGrp="1"/>
          </p:cNvSpPr>
          <p:nvPr>
            <p:ph type="title"/>
          </p:nvPr>
        </p:nvSpPr>
        <p:spPr/>
        <p:txBody>
          <a:bodyPr/>
          <a:lstStyle/>
          <a:p>
            <a:r>
              <a:rPr lang="en-US" dirty="0"/>
              <a:t>* for </a:t>
            </a:r>
            <a:r>
              <a:rPr lang="en-US" dirty="0" err="1"/>
              <a:t>Iterable</a:t>
            </a:r>
            <a:r>
              <a:rPr lang="en-US" dirty="0"/>
              <a:t> Unpacking</a:t>
            </a:r>
          </a:p>
        </p:txBody>
      </p:sp>
      <p:sp>
        <p:nvSpPr>
          <p:cNvPr id="8" name="Content Placeholder 7">
            <a:extLst>
              <a:ext uri="{FF2B5EF4-FFF2-40B4-BE49-F238E27FC236}">
                <a16:creationId xmlns:a16="http://schemas.microsoft.com/office/drawing/2014/main" id="{01BAFFFA-3F39-146F-DD1C-611423FBD2E4}"/>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numbers = [1, 2, 3]</a:t>
            </a:r>
          </a:p>
          <a:p>
            <a:pPr marL="0" indent="0">
              <a:buNone/>
            </a:pPr>
            <a:r>
              <a:rPr lang="en-US" dirty="0"/>
              <a:t>a, b, c = numbers</a:t>
            </a:r>
          </a:p>
        </p:txBody>
      </p:sp>
      <p:sp>
        <p:nvSpPr>
          <p:cNvPr id="10" name="Content Placeholder 7">
            <a:extLst>
              <a:ext uri="{FF2B5EF4-FFF2-40B4-BE49-F238E27FC236}">
                <a16:creationId xmlns:a16="http://schemas.microsoft.com/office/drawing/2014/main" id="{882925AC-40FC-FBF9-4267-B2DDD7558B92}"/>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Purpose - </a:t>
            </a:r>
            <a:r>
              <a:rPr lang="en-US" dirty="0"/>
              <a:t>Unpack </a:t>
            </a:r>
            <a:r>
              <a:rPr lang="en-US" dirty="0" err="1"/>
              <a:t>iterables</a:t>
            </a:r>
            <a:r>
              <a:rPr lang="en-US" dirty="0"/>
              <a:t> (lists, tuples, strings)</a:t>
            </a:r>
          </a:p>
          <a:p>
            <a:endParaRPr lang="en-US" b="1" dirty="0"/>
          </a:p>
          <a:p>
            <a:r>
              <a:rPr lang="en-US" b="1" dirty="0"/>
              <a:t>Rule - </a:t>
            </a:r>
            <a:r>
              <a:rPr lang="en-US" dirty="0"/>
              <a:t>Number of variables must match values (unless using *)</a:t>
            </a:r>
          </a:p>
          <a:p>
            <a:endParaRPr lang="en-US" dirty="0"/>
          </a:p>
        </p:txBody>
      </p:sp>
    </p:spTree>
    <p:extLst>
      <p:ext uri="{BB962C8B-B14F-4D97-AF65-F5344CB8AC3E}">
        <p14:creationId xmlns:p14="http://schemas.microsoft.com/office/powerpoint/2010/main" val="327304289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7B090-F4DC-DBFE-C0A5-9ED3993F724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46114BB-31A7-EEAE-04A9-3851219F3E29}"/>
              </a:ext>
            </a:extLst>
          </p:cNvPr>
          <p:cNvSpPr>
            <a:spLocks noGrp="1"/>
          </p:cNvSpPr>
          <p:nvPr>
            <p:ph type="title"/>
          </p:nvPr>
        </p:nvSpPr>
        <p:spPr/>
        <p:txBody>
          <a:bodyPr/>
          <a:lstStyle/>
          <a:p>
            <a:r>
              <a:rPr lang="en-US" dirty="0"/>
              <a:t>Extended Unpacking with *</a:t>
            </a:r>
          </a:p>
        </p:txBody>
      </p:sp>
      <p:sp>
        <p:nvSpPr>
          <p:cNvPr id="8" name="Content Placeholder 7">
            <a:extLst>
              <a:ext uri="{FF2B5EF4-FFF2-40B4-BE49-F238E27FC236}">
                <a16:creationId xmlns:a16="http://schemas.microsoft.com/office/drawing/2014/main" id="{9104125E-2555-F32E-BBDE-315A7D58910A}"/>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*rest = [1, 2, 3, 4]</a:t>
            </a:r>
          </a:p>
          <a:p>
            <a:pPr marL="0" indent="0">
              <a:buNone/>
            </a:pPr>
            <a:endParaRPr lang="en-US" dirty="0"/>
          </a:p>
          <a:p>
            <a:pPr marL="0" indent="0">
              <a:buNone/>
            </a:pPr>
            <a:r>
              <a:rPr lang="en-US" dirty="0"/>
              <a:t># result:</a:t>
            </a:r>
          </a:p>
          <a:p>
            <a:pPr marL="0" indent="0">
              <a:buNone/>
            </a:pPr>
            <a:r>
              <a:rPr lang="en-US" dirty="0"/>
              <a:t>a = 1</a:t>
            </a:r>
          </a:p>
          <a:p>
            <a:pPr marL="0" indent="0">
              <a:buNone/>
            </a:pPr>
            <a:r>
              <a:rPr lang="en-US" dirty="0"/>
              <a:t>rest = [2, 3, 4]</a:t>
            </a:r>
          </a:p>
          <a:p>
            <a:pPr marL="0" indent="0">
              <a:buNone/>
            </a:pPr>
            <a:endParaRPr lang="en-US" dirty="0"/>
          </a:p>
        </p:txBody>
      </p:sp>
      <p:sp>
        <p:nvSpPr>
          <p:cNvPr id="10" name="Content Placeholder 7">
            <a:extLst>
              <a:ext uri="{FF2B5EF4-FFF2-40B4-BE49-F238E27FC236}">
                <a16:creationId xmlns:a16="http://schemas.microsoft.com/office/drawing/2014/main" id="{F20A74BD-5128-C247-88BA-C50B944A8A4B}"/>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Capture an unknown number of values</a:t>
            </a:r>
          </a:p>
        </p:txBody>
      </p:sp>
    </p:spTree>
    <p:extLst>
      <p:ext uri="{BB962C8B-B14F-4D97-AF65-F5344CB8AC3E}">
        <p14:creationId xmlns:p14="http://schemas.microsoft.com/office/powerpoint/2010/main" val="317161859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930FC-D574-1A5E-12BF-04537C7929D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51ECE90-12D9-D2CA-0310-F3E02BE585CA}"/>
              </a:ext>
            </a:extLst>
          </p:cNvPr>
          <p:cNvSpPr>
            <a:spLocks noGrp="1"/>
          </p:cNvSpPr>
          <p:nvPr>
            <p:ph type="title"/>
          </p:nvPr>
        </p:nvSpPr>
        <p:spPr/>
        <p:txBody>
          <a:bodyPr/>
          <a:lstStyle/>
          <a:p>
            <a:r>
              <a:rPr lang="en-US" dirty="0"/>
              <a:t>* Can Appear Anywhere</a:t>
            </a:r>
          </a:p>
        </p:txBody>
      </p:sp>
      <p:sp>
        <p:nvSpPr>
          <p:cNvPr id="8" name="Content Placeholder 7">
            <a:extLst>
              <a:ext uri="{FF2B5EF4-FFF2-40B4-BE49-F238E27FC236}">
                <a16:creationId xmlns:a16="http://schemas.microsoft.com/office/drawing/2014/main" id="{3477D232-5A41-C3BD-CED9-A94648A90F05}"/>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*start, last = [1, 2, 3]</a:t>
            </a:r>
          </a:p>
          <a:p>
            <a:pPr marL="0" indent="0">
              <a:buNone/>
            </a:pPr>
            <a:r>
              <a:rPr lang="en-US" dirty="0"/>
              <a:t>first, *middle, last = [1, 2, 3, 4, 5]</a:t>
            </a:r>
          </a:p>
          <a:p>
            <a:pPr marL="0" indent="0">
              <a:buNone/>
            </a:pPr>
            <a:endParaRPr lang="en-US" dirty="0"/>
          </a:p>
          <a:p>
            <a:pPr marL="0" indent="0">
              <a:buNone/>
            </a:pPr>
            <a:r>
              <a:rPr lang="en-US" dirty="0"/>
              <a:t>#result</a:t>
            </a:r>
          </a:p>
          <a:p>
            <a:pPr marL="0" indent="0">
              <a:buNone/>
            </a:pPr>
            <a:r>
              <a:rPr lang="en-US" dirty="0"/>
              <a:t>start = [1,2] </a:t>
            </a:r>
          </a:p>
          <a:p>
            <a:pPr marL="0" indent="0">
              <a:buNone/>
            </a:pPr>
            <a:r>
              <a:rPr lang="en-US" dirty="0"/>
              <a:t>first = 1</a:t>
            </a:r>
          </a:p>
          <a:p>
            <a:pPr marL="0" indent="0">
              <a:buNone/>
            </a:pPr>
            <a:r>
              <a:rPr lang="en-US" dirty="0"/>
              <a:t>middle = [2,3,4]</a:t>
            </a:r>
          </a:p>
          <a:p>
            <a:pPr marL="0" indent="0">
              <a:buNone/>
            </a:pPr>
            <a:r>
              <a:rPr lang="en-US" dirty="0"/>
              <a:t>last =5 </a:t>
            </a:r>
          </a:p>
        </p:txBody>
      </p:sp>
      <p:sp>
        <p:nvSpPr>
          <p:cNvPr id="10" name="Content Placeholder 7">
            <a:extLst>
              <a:ext uri="{FF2B5EF4-FFF2-40B4-BE49-F238E27FC236}">
                <a16:creationId xmlns:a16="http://schemas.microsoft.com/office/drawing/2014/main" id="{D2546206-6AC7-D083-1470-54B14F74A3D2}"/>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 - </a:t>
            </a:r>
            <a:r>
              <a:rPr lang="en-US" dirty="0"/>
              <a:t>Only </a:t>
            </a:r>
            <a:r>
              <a:rPr lang="en-US" b="1" dirty="0"/>
              <a:t>one</a:t>
            </a:r>
            <a:r>
              <a:rPr lang="en-US" dirty="0"/>
              <a:t> * allowed per assignment</a:t>
            </a:r>
          </a:p>
          <a:p>
            <a:endParaRPr lang="en-US" dirty="0"/>
          </a:p>
        </p:txBody>
      </p:sp>
    </p:spTree>
    <p:extLst>
      <p:ext uri="{BB962C8B-B14F-4D97-AF65-F5344CB8AC3E}">
        <p14:creationId xmlns:p14="http://schemas.microsoft.com/office/powerpoint/2010/main" val="190284969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6749-5ABE-FDA1-18AE-BA635C4A429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06FA89B-0686-D971-C4A2-01B7B116EDCF}"/>
              </a:ext>
            </a:extLst>
          </p:cNvPr>
          <p:cNvSpPr>
            <a:spLocks noGrp="1"/>
          </p:cNvSpPr>
          <p:nvPr>
            <p:ph type="title"/>
          </p:nvPr>
        </p:nvSpPr>
        <p:spPr/>
        <p:txBody>
          <a:bodyPr/>
          <a:lstStyle/>
          <a:p>
            <a:r>
              <a:rPr lang="en-US" dirty="0"/>
              <a:t>Unpacking in Function Calls (*</a:t>
            </a:r>
            <a:r>
              <a:rPr lang="en-US" dirty="0" err="1"/>
              <a:t>args</a:t>
            </a:r>
            <a:r>
              <a:rPr lang="en-US" dirty="0"/>
              <a:t>)</a:t>
            </a:r>
          </a:p>
        </p:txBody>
      </p:sp>
      <p:sp>
        <p:nvSpPr>
          <p:cNvPr id="8" name="Content Placeholder 7">
            <a:extLst>
              <a:ext uri="{FF2B5EF4-FFF2-40B4-BE49-F238E27FC236}">
                <a16:creationId xmlns:a16="http://schemas.microsoft.com/office/drawing/2014/main" id="{03E05472-CDAF-0AB2-29D6-E591585CA8AC}"/>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values = [3, 5]</a:t>
            </a:r>
          </a:p>
          <a:p>
            <a:pPr marL="0" indent="0">
              <a:buNone/>
            </a:pPr>
            <a:r>
              <a:rPr lang="fr-FR" dirty="0" err="1"/>
              <a:t>print</a:t>
            </a:r>
            <a:r>
              <a:rPr lang="fr-FR" dirty="0"/>
              <a:t>(max(*values))</a:t>
            </a:r>
          </a:p>
          <a:p>
            <a:pPr marL="0" indent="0">
              <a:buNone/>
            </a:pPr>
            <a:endParaRPr lang="fr-FR" dirty="0"/>
          </a:p>
          <a:p>
            <a:pPr marL="0" indent="0">
              <a:buNone/>
            </a:pPr>
            <a:r>
              <a:rPr lang="fr-FR" dirty="0"/>
              <a:t># </a:t>
            </a:r>
            <a:r>
              <a:rPr lang="fr-FR" dirty="0" err="1"/>
              <a:t>equivalent</a:t>
            </a:r>
            <a:r>
              <a:rPr lang="fr-FR" dirty="0"/>
              <a:t> to</a:t>
            </a:r>
          </a:p>
          <a:p>
            <a:pPr marL="0" indent="0">
              <a:buNone/>
            </a:pPr>
            <a:r>
              <a:rPr lang="fr-FR" dirty="0" err="1"/>
              <a:t>print</a:t>
            </a:r>
            <a:r>
              <a:rPr lang="fr-FR" dirty="0"/>
              <a:t>(max(3, 5))</a:t>
            </a:r>
          </a:p>
          <a:p>
            <a:pPr marL="0" indent="0">
              <a:buNone/>
            </a:pPr>
            <a:endParaRPr lang="fr-FR" dirty="0"/>
          </a:p>
        </p:txBody>
      </p:sp>
      <p:sp>
        <p:nvSpPr>
          <p:cNvPr id="10" name="Content Placeholder 7">
            <a:extLst>
              <a:ext uri="{FF2B5EF4-FFF2-40B4-BE49-F238E27FC236}">
                <a16:creationId xmlns:a16="http://schemas.microsoft.com/office/drawing/2014/main" id="{0D6522C0-41AB-9C01-A099-71ABB8A85B56}"/>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Expand a list/tuple into positional arguments</a:t>
            </a:r>
          </a:p>
        </p:txBody>
      </p:sp>
    </p:spTree>
    <p:extLst>
      <p:ext uri="{BB962C8B-B14F-4D97-AF65-F5344CB8AC3E}">
        <p14:creationId xmlns:p14="http://schemas.microsoft.com/office/powerpoint/2010/main" val="65914780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D3873-CDD7-4E75-2760-AE100E30978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81E7CFA-5D58-68CD-8092-915B03B1F1C4}"/>
              </a:ext>
            </a:extLst>
          </p:cNvPr>
          <p:cNvSpPr>
            <a:spLocks noGrp="1"/>
          </p:cNvSpPr>
          <p:nvPr>
            <p:ph type="title"/>
          </p:nvPr>
        </p:nvSpPr>
        <p:spPr/>
        <p:txBody>
          <a:bodyPr/>
          <a:lstStyle/>
          <a:p>
            <a:r>
              <a:rPr lang="en-US" dirty="0"/>
              <a:t>*</a:t>
            </a:r>
            <a:r>
              <a:rPr lang="en-US" dirty="0" err="1"/>
              <a:t>args</a:t>
            </a:r>
            <a:r>
              <a:rPr lang="en-US" dirty="0"/>
              <a:t> in Function Definitions</a:t>
            </a:r>
          </a:p>
        </p:txBody>
      </p:sp>
      <p:sp>
        <p:nvSpPr>
          <p:cNvPr id="8" name="Content Placeholder 7">
            <a:extLst>
              <a:ext uri="{FF2B5EF4-FFF2-40B4-BE49-F238E27FC236}">
                <a16:creationId xmlns:a16="http://schemas.microsoft.com/office/drawing/2014/main" id="{D31963D7-48FF-199C-E1BA-D6287095683A}"/>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total(*numbers):</a:t>
            </a:r>
          </a:p>
          <a:p>
            <a:pPr marL="0" indent="0">
              <a:buNone/>
            </a:pPr>
            <a:r>
              <a:rPr lang="en-US" dirty="0"/>
              <a:t>    return sum(numbers)</a:t>
            </a:r>
          </a:p>
        </p:txBody>
      </p:sp>
      <p:sp>
        <p:nvSpPr>
          <p:cNvPr id="10" name="Content Placeholder 7">
            <a:extLst>
              <a:ext uri="{FF2B5EF4-FFF2-40B4-BE49-F238E27FC236}">
                <a16:creationId xmlns:a16="http://schemas.microsoft.com/office/drawing/2014/main" id="{9F5A4BBC-A0E8-8600-CF6A-9CB80829C62F}"/>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positional arguments</a:t>
            </a:r>
          </a:p>
          <a:p>
            <a:r>
              <a:rPr lang="en-US" dirty="0"/>
              <a:t>Inside the function, numbers is a tuple</a:t>
            </a:r>
          </a:p>
          <a:p>
            <a:endParaRPr lang="en-US" dirty="0"/>
          </a:p>
        </p:txBody>
      </p:sp>
    </p:spTree>
    <p:extLst>
      <p:ext uri="{BB962C8B-B14F-4D97-AF65-F5344CB8AC3E}">
        <p14:creationId xmlns:p14="http://schemas.microsoft.com/office/powerpoint/2010/main" val="251391639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E2486-4D02-ED41-33C2-FC62E78AB0D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D0FA78-E596-21B5-8A49-20288B728104}"/>
              </a:ext>
            </a:extLst>
          </p:cNvPr>
          <p:cNvSpPr>
            <a:spLocks noGrp="1"/>
          </p:cNvSpPr>
          <p:nvPr>
            <p:ph type="title"/>
          </p:nvPr>
        </p:nvSpPr>
        <p:spPr/>
        <p:txBody>
          <a:bodyPr/>
          <a:lstStyle/>
          <a:p>
            <a:r>
              <a:rPr lang="en-US" dirty="0"/>
              <a:t>** for Dictionary Unpacking</a:t>
            </a:r>
          </a:p>
        </p:txBody>
      </p:sp>
      <p:sp>
        <p:nvSpPr>
          <p:cNvPr id="8" name="Content Placeholder 7">
            <a:extLst>
              <a:ext uri="{FF2B5EF4-FFF2-40B4-BE49-F238E27FC236}">
                <a16:creationId xmlns:a16="http://schemas.microsoft.com/office/drawing/2014/main" id="{4B23F5B8-E8A6-075A-EE49-C89B2529934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data = {"x": 1, "y": 2}</a:t>
            </a:r>
          </a:p>
          <a:p>
            <a:pPr marL="0" indent="0">
              <a:buNone/>
            </a:pPr>
            <a:r>
              <a:rPr lang="en-US" dirty="0"/>
              <a:t>print(**data)</a:t>
            </a:r>
          </a:p>
          <a:p>
            <a:pPr marL="0" indent="0">
              <a:buNone/>
            </a:pPr>
            <a:endParaRPr lang="en-US" dirty="0"/>
          </a:p>
          <a:p>
            <a:pPr marL="0" indent="0">
              <a:buNone/>
            </a:pPr>
            <a:r>
              <a:rPr lang="en-US" dirty="0"/>
              <a:t># equivalent to:</a:t>
            </a:r>
          </a:p>
          <a:p>
            <a:pPr marL="0" indent="0">
              <a:buNone/>
            </a:pPr>
            <a:r>
              <a:rPr lang="es-ES" dirty="0" err="1"/>
              <a:t>print</a:t>
            </a:r>
            <a:r>
              <a:rPr lang="es-ES" dirty="0"/>
              <a:t>(x=1, y=2)</a:t>
            </a:r>
          </a:p>
          <a:p>
            <a:pPr marL="0" indent="0">
              <a:buNone/>
            </a:pPr>
            <a:endParaRPr lang="en-US" dirty="0"/>
          </a:p>
        </p:txBody>
      </p:sp>
      <p:sp>
        <p:nvSpPr>
          <p:cNvPr id="10" name="Content Placeholder 7">
            <a:extLst>
              <a:ext uri="{FF2B5EF4-FFF2-40B4-BE49-F238E27FC236}">
                <a16:creationId xmlns:a16="http://schemas.microsoft.com/office/drawing/2014/main" id="{030FB942-3010-7941-8D7D-7CEA382F17C7}"/>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 key–value pairs</a:t>
            </a:r>
          </a:p>
        </p:txBody>
      </p:sp>
    </p:spTree>
    <p:extLst>
      <p:ext uri="{BB962C8B-B14F-4D97-AF65-F5344CB8AC3E}">
        <p14:creationId xmlns:p14="http://schemas.microsoft.com/office/powerpoint/2010/main" val="26429081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22365-93A1-3544-6D6E-CA5906E0207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18C2C0D-C033-E0BD-314D-FFBC5E393B08}"/>
              </a:ext>
            </a:extLst>
          </p:cNvPr>
          <p:cNvSpPr>
            <a:spLocks noGrp="1"/>
          </p:cNvSpPr>
          <p:nvPr>
            <p:ph type="title"/>
          </p:nvPr>
        </p:nvSpPr>
        <p:spPr/>
        <p:txBody>
          <a:bodyPr/>
          <a:lstStyle/>
          <a:p>
            <a:r>
              <a:rPr lang="en-SG" dirty="0"/>
              <a:t>**</a:t>
            </a:r>
            <a:r>
              <a:rPr lang="en-SG" dirty="0" err="1"/>
              <a:t>kwargs</a:t>
            </a:r>
            <a:r>
              <a:rPr lang="en-SG" dirty="0"/>
              <a:t> in Function Definitions</a:t>
            </a:r>
            <a:endParaRPr lang="en-US" dirty="0"/>
          </a:p>
        </p:txBody>
      </p:sp>
      <p:sp>
        <p:nvSpPr>
          <p:cNvPr id="8" name="Content Placeholder 7">
            <a:extLst>
              <a:ext uri="{FF2B5EF4-FFF2-40B4-BE49-F238E27FC236}">
                <a16:creationId xmlns:a16="http://schemas.microsoft.com/office/drawing/2014/main" id="{BF691EDC-9F7C-E69C-57F1-19D265939B89}"/>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show(**info):</a:t>
            </a:r>
          </a:p>
          <a:p>
            <a:pPr marL="0" indent="0">
              <a:buNone/>
            </a:pPr>
            <a:r>
              <a:rPr lang="en-US" dirty="0"/>
              <a:t>    for key, value in </a:t>
            </a:r>
            <a:r>
              <a:rPr lang="en-US" dirty="0" err="1"/>
              <a:t>info.items</a:t>
            </a:r>
            <a:r>
              <a:rPr lang="en-US" dirty="0"/>
              <a:t>():</a:t>
            </a:r>
          </a:p>
          <a:p>
            <a:pPr marL="0" indent="0">
              <a:buNone/>
            </a:pPr>
            <a:r>
              <a:rPr lang="en-US" dirty="0"/>
              <a:t>        print(key, value)</a:t>
            </a:r>
          </a:p>
        </p:txBody>
      </p:sp>
      <p:sp>
        <p:nvSpPr>
          <p:cNvPr id="10" name="Content Placeholder 7">
            <a:extLst>
              <a:ext uri="{FF2B5EF4-FFF2-40B4-BE49-F238E27FC236}">
                <a16:creationId xmlns:a16="http://schemas.microsoft.com/office/drawing/2014/main" id="{56BA7D3E-32E1-6D4C-A3C9-93F2B2E1ED15}"/>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keyword arguments</a:t>
            </a:r>
          </a:p>
          <a:p>
            <a:r>
              <a:rPr lang="en-US" dirty="0"/>
              <a:t>Inside the function, info is a dictionary</a:t>
            </a:r>
          </a:p>
          <a:p>
            <a:endParaRPr lang="en-US" dirty="0"/>
          </a:p>
        </p:txBody>
      </p:sp>
    </p:spTree>
    <p:extLst>
      <p:ext uri="{BB962C8B-B14F-4D97-AF65-F5344CB8AC3E}">
        <p14:creationId xmlns:p14="http://schemas.microsoft.com/office/powerpoint/2010/main" val="303664223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FA388-FC62-B4D1-C4B8-F5B8B84743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4B73DC0-58A3-C22B-9276-E0E4CB975916}"/>
              </a:ext>
            </a:extLst>
          </p:cNvPr>
          <p:cNvSpPr>
            <a:spLocks noGrp="1"/>
          </p:cNvSpPr>
          <p:nvPr>
            <p:ph type="title"/>
          </p:nvPr>
        </p:nvSpPr>
        <p:spPr/>
        <p:txBody>
          <a:bodyPr/>
          <a:lstStyle/>
          <a:p>
            <a:r>
              <a:rPr lang="en-SG" dirty="0"/>
              <a:t>Combining *</a:t>
            </a:r>
            <a:r>
              <a:rPr lang="en-SG" dirty="0" err="1"/>
              <a:t>args</a:t>
            </a:r>
            <a:r>
              <a:rPr lang="en-SG" dirty="0"/>
              <a:t> and **</a:t>
            </a:r>
            <a:r>
              <a:rPr lang="en-SG" dirty="0" err="1"/>
              <a:t>kwargs</a:t>
            </a:r>
            <a:endParaRPr lang="en-US" dirty="0"/>
          </a:p>
        </p:txBody>
      </p:sp>
      <p:sp>
        <p:nvSpPr>
          <p:cNvPr id="8" name="Content Placeholder 7">
            <a:extLst>
              <a:ext uri="{FF2B5EF4-FFF2-40B4-BE49-F238E27FC236}">
                <a16:creationId xmlns:a16="http://schemas.microsoft.com/office/drawing/2014/main" id="{283972F4-F908-5E0C-195C-D246D347D491}"/>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Function Definition</a:t>
            </a:r>
          </a:p>
          <a:p>
            <a:pPr marL="0" indent="0">
              <a:buNone/>
            </a:pPr>
            <a:endParaRPr lang="en-US" dirty="0"/>
          </a:p>
          <a:p>
            <a:pPr marL="0" indent="0">
              <a:buNone/>
            </a:pPr>
            <a:r>
              <a:rPr lang="en-US" dirty="0"/>
              <a:t>def log(*</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a:t>
            </a:r>
          </a:p>
          <a:p>
            <a:pPr marL="0" indent="0">
              <a:buNone/>
            </a:pPr>
            <a:r>
              <a:rPr lang="en-US" dirty="0"/>
              <a:t>    print(</a:t>
            </a:r>
            <a:r>
              <a:rPr lang="en-US" dirty="0" err="1"/>
              <a:t>kwargs</a:t>
            </a:r>
            <a:r>
              <a:rPr lang="en-US" dirty="0"/>
              <a:t>)</a:t>
            </a:r>
          </a:p>
        </p:txBody>
      </p:sp>
      <p:sp>
        <p:nvSpPr>
          <p:cNvPr id="10" name="Content Placeholder 7">
            <a:extLst>
              <a:ext uri="{FF2B5EF4-FFF2-40B4-BE49-F238E27FC236}">
                <a16:creationId xmlns:a16="http://schemas.microsoft.com/office/drawing/2014/main" id="{C67BAE2E-DB8B-66CC-DA0B-27AD932C8638}"/>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Function Call</a:t>
            </a:r>
          </a:p>
          <a:p>
            <a:pPr marL="0" indent="0">
              <a:buNone/>
            </a:pPr>
            <a:endParaRPr lang="en-US" dirty="0"/>
          </a:p>
          <a:p>
            <a:pPr marL="0" indent="0">
              <a:buNone/>
            </a:pPr>
            <a:r>
              <a:rPr lang="en-US" dirty="0"/>
              <a:t>log(1, 2, a=10, b=20)</a:t>
            </a:r>
          </a:p>
        </p:txBody>
      </p:sp>
    </p:spTree>
    <p:extLst>
      <p:ext uri="{BB962C8B-B14F-4D97-AF65-F5344CB8AC3E}">
        <p14:creationId xmlns:p14="http://schemas.microsoft.com/office/powerpoint/2010/main" val="118727996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58422-1DC1-33F3-9689-965C293AD004}"/>
              </a:ext>
            </a:extLst>
          </p:cNvPr>
          <p:cNvSpPr>
            <a:spLocks noGrp="1"/>
          </p:cNvSpPr>
          <p:nvPr>
            <p:ph type="title"/>
          </p:nvPr>
        </p:nvSpPr>
        <p:spPr/>
        <p:txBody>
          <a:bodyPr/>
          <a:lstStyle/>
          <a:p>
            <a:r>
              <a:rPr lang="en-SG" dirty="0"/>
              <a:t>Unpacking When Calling Functions</a:t>
            </a:r>
          </a:p>
        </p:txBody>
      </p:sp>
      <p:sp>
        <p:nvSpPr>
          <p:cNvPr id="3" name="Content Placeholder 2">
            <a:extLst>
              <a:ext uri="{FF2B5EF4-FFF2-40B4-BE49-F238E27FC236}">
                <a16:creationId xmlns:a16="http://schemas.microsoft.com/office/drawing/2014/main" id="{530928CE-F5E4-8E8F-A6A9-9218B392DBA8}"/>
              </a:ext>
            </a:extLst>
          </p:cNvPr>
          <p:cNvSpPr>
            <a:spLocks noGrp="1"/>
          </p:cNvSpPr>
          <p:nvPr>
            <p:ph idx="1"/>
          </p:nvPr>
        </p:nvSpPr>
        <p:spPr/>
        <p:txBody>
          <a:bodyPr>
            <a:normAutofit lnSpcReduction="10000"/>
          </a:bodyPr>
          <a:lstStyle/>
          <a:p>
            <a:pPr marL="0" indent="0">
              <a:buNone/>
            </a:pPr>
            <a:r>
              <a:rPr lang="en-SG" dirty="0"/>
              <a:t>def greet(name, age):</a:t>
            </a:r>
          </a:p>
          <a:p>
            <a:pPr marL="0" indent="0">
              <a:buNone/>
            </a:pPr>
            <a:r>
              <a:rPr lang="en-SG" dirty="0"/>
              <a:t>    print(f"{name} is {age}")</a:t>
            </a:r>
          </a:p>
          <a:p>
            <a:pPr marL="0" indent="0">
              <a:buNone/>
            </a:pPr>
            <a:endParaRPr lang="en-SG" dirty="0"/>
          </a:p>
          <a:p>
            <a:pPr marL="0" indent="0">
              <a:buNone/>
            </a:pPr>
            <a:r>
              <a:rPr lang="en-SG" dirty="0"/>
              <a:t>data = ("Ada", 36)</a:t>
            </a:r>
          </a:p>
          <a:p>
            <a:pPr marL="0" indent="0">
              <a:buNone/>
            </a:pPr>
            <a:r>
              <a:rPr lang="en-SG" dirty="0"/>
              <a:t>info = {"age": 36, "name": "Ada"}</a:t>
            </a:r>
          </a:p>
          <a:p>
            <a:pPr marL="0" indent="0">
              <a:buNone/>
            </a:pPr>
            <a:endParaRPr lang="en-SG" dirty="0"/>
          </a:p>
          <a:p>
            <a:pPr marL="0" indent="0">
              <a:buNone/>
            </a:pPr>
            <a:r>
              <a:rPr lang="en-SG" dirty="0"/>
              <a:t>greet(*data)</a:t>
            </a:r>
          </a:p>
          <a:p>
            <a:pPr marL="0" indent="0">
              <a:buNone/>
            </a:pPr>
            <a:r>
              <a:rPr lang="en-SG" dirty="0"/>
              <a:t>greet(**info)</a:t>
            </a:r>
          </a:p>
          <a:p>
            <a:pPr marL="0" indent="0">
              <a:buNone/>
            </a:pPr>
            <a:endParaRPr lang="en-SG" dirty="0"/>
          </a:p>
        </p:txBody>
      </p:sp>
    </p:spTree>
    <p:extLst>
      <p:ext uri="{BB962C8B-B14F-4D97-AF65-F5344CB8AC3E}">
        <p14:creationId xmlns:p14="http://schemas.microsoft.com/office/powerpoint/2010/main" val="365178363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4BDA4-04A6-EB82-B00E-FF029E5B739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AD1DC17-075C-6BE9-8452-7AB8BFE3CAB2}"/>
              </a:ext>
            </a:extLst>
          </p:cNvPr>
          <p:cNvSpPr>
            <a:spLocks noGrp="1"/>
          </p:cNvSpPr>
          <p:nvPr>
            <p:ph type="title"/>
          </p:nvPr>
        </p:nvSpPr>
        <p:spPr/>
        <p:txBody>
          <a:bodyPr>
            <a:normAutofit fontScale="90000"/>
          </a:bodyPr>
          <a:lstStyle/>
          <a:p>
            <a:r>
              <a:rPr lang="en-SG" dirty="0"/>
              <a:t>Merging Collections with Unpacking</a:t>
            </a:r>
            <a:endParaRPr lang="en-US" dirty="0"/>
          </a:p>
        </p:txBody>
      </p:sp>
      <p:sp>
        <p:nvSpPr>
          <p:cNvPr id="8" name="Content Placeholder 7">
            <a:extLst>
              <a:ext uri="{FF2B5EF4-FFF2-40B4-BE49-F238E27FC236}">
                <a16:creationId xmlns:a16="http://schemas.microsoft.com/office/drawing/2014/main" id="{6D19D6C1-D676-BB30-3845-CA3D2FB7ABE9}"/>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Lists</a:t>
            </a:r>
          </a:p>
          <a:p>
            <a:pPr marL="0" indent="0">
              <a:buNone/>
            </a:pPr>
            <a:endParaRPr lang="en-US" dirty="0"/>
          </a:p>
          <a:p>
            <a:pPr marL="0" indent="0">
              <a:buNone/>
            </a:pPr>
            <a:r>
              <a:rPr lang="en-US" dirty="0"/>
              <a:t>a = [1, 2]</a:t>
            </a:r>
          </a:p>
          <a:p>
            <a:pPr marL="0" indent="0">
              <a:buNone/>
            </a:pPr>
            <a:r>
              <a:rPr lang="en-US" dirty="0"/>
              <a:t>b = [3, 4]</a:t>
            </a:r>
          </a:p>
          <a:p>
            <a:pPr marL="0" indent="0">
              <a:buNone/>
            </a:pPr>
            <a:r>
              <a:rPr lang="en-US" dirty="0"/>
              <a:t>combined = [*a, *b]</a:t>
            </a:r>
          </a:p>
        </p:txBody>
      </p:sp>
      <p:sp>
        <p:nvSpPr>
          <p:cNvPr id="10" name="Content Placeholder 7">
            <a:extLst>
              <a:ext uri="{FF2B5EF4-FFF2-40B4-BE49-F238E27FC236}">
                <a16:creationId xmlns:a16="http://schemas.microsoft.com/office/drawing/2014/main" id="{F9628293-3063-8103-F592-2F66AB9E6A07}"/>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s-ES" dirty="0"/>
              <a:t># </a:t>
            </a:r>
            <a:r>
              <a:rPr lang="es-ES" dirty="0" err="1"/>
              <a:t>Dictionaries</a:t>
            </a:r>
            <a:endParaRPr lang="es-ES" dirty="0"/>
          </a:p>
          <a:p>
            <a:pPr marL="0" indent="0">
              <a:buNone/>
            </a:pPr>
            <a:endParaRPr lang="es-ES" dirty="0"/>
          </a:p>
          <a:p>
            <a:pPr marL="0" indent="0">
              <a:buNone/>
            </a:pPr>
            <a:r>
              <a:rPr lang="es-ES" dirty="0"/>
              <a:t>x = {"a": 1}</a:t>
            </a:r>
          </a:p>
          <a:p>
            <a:pPr marL="0" indent="0">
              <a:buNone/>
            </a:pPr>
            <a:r>
              <a:rPr lang="es-ES" dirty="0"/>
              <a:t>y = {"b": 2}</a:t>
            </a:r>
          </a:p>
          <a:p>
            <a:pPr marL="0" indent="0">
              <a:buNone/>
            </a:pPr>
            <a:r>
              <a:rPr lang="es-ES" dirty="0" err="1"/>
              <a:t>merged</a:t>
            </a:r>
            <a:r>
              <a:rPr lang="es-ES" dirty="0"/>
              <a:t> = {**x, **y}</a:t>
            </a:r>
          </a:p>
        </p:txBody>
      </p:sp>
    </p:spTree>
    <p:extLst>
      <p:ext uri="{BB962C8B-B14F-4D97-AF65-F5344CB8AC3E}">
        <p14:creationId xmlns:p14="http://schemas.microsoft.com/office/powerpoint/2010/main" val="229328348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DC94A-E76B-9724-754B-13BA545FF98A}"/>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DA39FA28-5195-EE45-AE25-6FA1AD441B0E}"/>
              </a:ext>
            </a:extLst>
          </p:cNvPr>
          <p:cNvSpPr>
            <a:spLocks noGrp="1"/>
          </p:cNvSpPr>
          <p:nvPr>
            <p:ph idx="1"/>
          </p:nvPr>
        </p:nvSpPr>
        <p:spPr/>
        <p:txBody>
          <a:bodyPr/>
          <a:lstStyle/>
          <a:p>
            <a:r>
              <a:rPr lang="en-US" dirty="0"/>
              <a:t>Forgetting order of positional vs keyword arguments</a:t>
            </a:r>
          </a:p>
          <a:p>
            <a:r>
              <a:rPr lang="en-US" dirty="0"/>
              <a:t>Using multiple * in assignment</a:t>
            </a:r>
          </a:p>
          <a:p>
            <a:r>
              <a:rPr lang="en-US" dirty="0"/>
              <a:t>Assuming *</a:t>
            </a:r>
            <a:r>
              <a:rPr lang="en-US" dirty="0" err="1"/>
              <a:t>args</a:t>
            </a:r>
            <a:r>
              <a:rPr lang="en-US" dirty="0"/>
              <a:t> is a list (it’s a tuple)</a:t>
            </a:r>
          </a:p>
          <a:p>
            <a:endParaRPr lang="en-SG" dirty="0"/>
          </a:p>
        </p:txBody>
      </p:sp>
    </p:spTree>
    <p:extLst>
      <p:ext uri="{BB962C8B-B14F-4D97-AF65-F5344CB8AC3E}">
        <p14:creationId xmlns:p14="http://schemas.microsoft.com/office/powerpoint/2010/main" val="118806875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4088-9421-E4BD-ADB6-A9BE4A446730}"/>
              </a:ext>
            </a:extLst>
          </p:cNvPr>
          <p:cNvSpPr>
            <a:spLocks noGrp="1"/>
          </p:cNvSpPr>
          <p:nvPr>
            <p:ph type="title"/>
          </p:nvPr>
        </p:nvSpPr>
        <p:spPr/>
        <p:txBody>
          <a:bodyPr/>
          <a:lstStyle/>
          <a:p>
            <a:r>
              <a:rPr lang="en-US" dirty="0"/>
              <a:t>When to Use Unpacking</a:t>
            </a:r>
            <a:endParaRPr lang="en-SG" dirty="0"/>
          </a:p>
        </p:txBody>
      </p:sp>
      <p:sp>
        <p:nvSpPr>
          <p:cNvPr id="3" name="Content Placeholder 2">
            <a:extLst>
              <a:ext uri="{FF2B5EF4-FFF2-40B4-BE49-F238E27FC236}">
                <a16:creationId xmlns:a16="http://schemas.microsoft.com/office/drawing/2014/main" id="{E7D6751C-4FD4-6DCF-60A7-8B0AD39ACD1A}"/>
              </a:ext>
            </a:extLst>
          </p:cNvPr>
          <p:cNvSpPr>
            <a:spLocks noGrp="1"/>
          </p:cNvSpPr>
          <p:nvPr>
            <p:ph idx="1"/>
          </p:nvPr>
        </p:nvSpPr>
        <p:spPr/>
        <p:txBody>
          <a:bodyPr/>
          <a:lstStyle/>
          <a:p>
            <a:r>
              <a:rPr lang="en-US" dirty="0"/>
              <a:t>Forwarding arguments</a:t>
            </a:r>
          </a:p>
          <a:p>
            <a:r>
              <a:rPr lang="en-US" dirty="0"/>
              <a:t>Writing flexible APIs</a:t>
            </a:r>
          </a:p>
          <a:p>
            <a:r>
              <a:rPr lang="en-US" dirty="0"/>
              <a:t>Cleaner function calls</a:t>
            </a:r>
          </a:p>
          <a:p>
            <a:r>
              <a:rPr lang="en-US" dirty="0"/>
              <a:t>Merging data structures</a:t>
            </a:r>
          </a:p>
          <a:p>
            <a:endParaRPr lang="en-SG" dirty="0"/>
          </a:p>
        </p:txBody>
      </p:sp>
    </p:spTree>
    <p:extLst>
      <p:ext uri="{BB962C8B-B14F-4D97-AF65-F5344CB8AC3E}">
        <p14:creationId xmlns:p14="http://schemas.microsoft.com/office/powerpoint/2010/main" val="324009195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83F-BF60-F46D-661D-33471F7F92F0}"/>
              </a:ext>
            </a:extLst>
          </p:cNvPr>
          <p:cNvSpPr>
            <a:spLocks noGrp="1"/>
          </p:cNvSpPr>
          <p:nvPr>
            <p:ph type="title"/>
          </p:nvPr>
        </p:nvSpPr>
        <p:spPr/>
        <p:txBody>
          <a:bodyPr/>
          <a:lstStyle/>
          <a:p>
            <a:r>
              <a:rPr lang="en-US" dirty="0"/>
              <a:t>Mental Model</a:t>
            </a:r>
            <a:endParaRPr lang="en-SG" dirty="0"/>
          </a:p>
        </p:txBody>
      </p:sp>
      <p:sp>
        <p:nvSpPr>
          <p:cNvPr id="3" name="Content Placeholder 2">
            <a:extLst>
              <a:ext uri="{FF2B5EF4-FFF2-40B4-BE49-F238E27FC236}">
                <a16:creationId xmlns:a16="http://schemas.microsoft.com/office/drawing/2014/main" id="{9856D0F4-F2BE-CF02-BF42-9AAC6BF5E6F2}"/>
              </a:ext>
            </a:extLst>
          </p:cNvPr>
          <p:cNvSpPr>
            <a:spLocks noGrp="1"/>
          </p:cNvSpPr>
          <p:nvPr>
            <p:ph idx="1"/>
          </p:nvPr>
        </p:nvSpPr>
        <p:spPr/>
        <p:txBody>
          <a:bodyPr/>
          <a:lstStyle/>
          <a:p>
            <a:r>
              <a:rPr lang="en-US" dirty="0"/>
              <a:t>* → positional values (sequence)</a:t>
            </a:r>
          </a:p>
          <a:p>
            <a:r>
              <a:rPr lang="en-US" dirty="0"/>
              <a:t>** → named values (mapping)</a:t>
            </a:r>
          </a:p>
          <a:p>
            <a:r>
              <a:rPr lang="en-US" dirty="0"/>
              <a:t>Context defines behavior</a:t>
            </a:r>
          </a:p>
          <a:p>
            <a:endParaRPr lang="en-SG" dirty="0"/>
          </a:p>
        </p:txBody>
      </p:sp>
    </p:spTree>
    <p:extLst>
      <p:ext uri="{BB962C8B-B14F-4D97-AF65-F5344CB8AC3E}">
        <p14:creationId xmlns:p14="http://schemas.microsoft.com/office/powerpoint/2010/main" val="329031105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E5E21-905F-3443-456C-1DC4574DD673}"/>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28B53EC1-82FE-771C-F25D-D616A6343750}"/>
              </a:ext>
            </a:extLst>
          </p:cNvPr>
          <p:cNvSpPr>
            <a:spLocks noGrp="1"/>
          </p:cNvSpPr>
          <p:nvPr>
            <p:ph idx="1"/>
          </p:nvPr>
        </p:nvSpPr>
        <p:spPr>
          <a:xfrm>
            <a:off x="457200" y="1600200"/>
            <a:ext cx="10591800" cy="4525963"/>
          </a:xfrm>
        </p:spPr>
        <p:txBody>
          <a:bodyPr/>
          <a:lstStyle/>
          <a:p>
            <a:r>
              <a:rPr lang="en-US" dirty="0"/>
              <a:t>Write a function </a:t>
            </a:r>
            <a:r>
              <a:rPr lang="en-US" dirty="0" err="1"/>
              <a:t>make_sentence</a:t>
            </a:r>
            <a:r>
              <a:rPr lang="en-US" dirty="0"/>
              <a:t>(*words, **punctuation)</a:t>
            </a:r>
          </a:p>
          <a:p>
            <a:r>
              <a:rPr lang="en-US" dirty="0"/>
              <a:t>Join words with spaces</a:t>
            </a:r>
          </a:p>
          <a:p>
            <a:r>
              <a:rPr lang="en-US" dirty="0"/>
              <a:t>Append punctuation if provided</a:t>
            </a:r>
          </a:p>
          <a:p>
            <a:endParaRPr lang="en-SG" dirty="0"/>
          </a:p>
        </p:txBody>
      </p:sp>
    </p:spTree>
    <p:extLst>
      <p:ext uri="{BB962C8B-B14F-4D97-AF65-F5344CB8AC3E}">
        <p14:creationId xmlns:p14="http://schemas.microsoft.com/office/powerpoint/2010/main" val="375004007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9E47B-83D4-ECC0-F4EF-6870D07A660D}"/>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2A8479DA-FA23-D562-F8C0-BC69B94DCC64}"/>
              </a:ext>
            </a:extLst>
          </p:cNvPr>
          <p:cNvSpPr>
            <a:spLocks noGrp="1"/>
          </p:cNvSpPr>
          <p:nvPr>
            <p:ph idx="1"/>
          </p:nvPr>
        </p:nvSpPr>
        <p:spPr/>
        <p:txBody>
          <a:bodyPr/>
          <a:lstStyle/>
          <a:p>
            <a:pPr marL="0" indent="0">
              <a:buNone/>
            </a:pPr>
            <a:r>
              <a:rPr lang="en-US" dirty="0"/>
              <a:t>def </a:t>
            </a:r>
            <a:r>
              <a:rPr lang="en-US" dirty="0" err="1"/>
              <a:t>make_sentence</a:t>
            </a:r>
            <a:r>
              <a:rPr lang="en-US" dirty="0"/>
              <a:t>(*words, **punctuation):</a:t>
            </a:r>
          </a:p>
          <a:p>
            <a:pPr marL="0" indent="0">
              <a:buNone/>
            </a:pPr>
            <a:r>
              <a:rPr lang="en-US" dirty="0"/>
              <a:t>    sentence = " ".join(words)</a:t>
            </a:r>
          </a:p>
          <a:p>
            <a:pPr marL="0" indent="0">
              <a:buNone/>
            </a:pPr>
            <a:r>
              <a:rPr lang="en-US" dirty="0"/>
              <a:t>    if "end" in punctuation:</a:t>
            </a:r>
          </a:p>
          <a:p>
            <a:pPr marL="0" indent="0">
              <a:buNone/>
            </a:pPr>
            <a:r>
              <a:rPr lang="en-US" dirty="0"/>
              <a:t>        sentence += punctuation["end"]</a:t>
            </a:r>
          </a:p>
          <a:p>
            <a:pPr marL="0" indent="0">
              <a:buNone/>
            </a:pPr>
            <a:r>
              <a:rPr lang="en-US" dirty="0"/>
              <a:t>    print(sentence)</a:t>
            </a:r>
          </a:p>
          <a:p>
            <a:pPr marL="0" indent="0">
              <a:buNone/>
            </a:pPr>
            <a:endParaRPr lang="en-SG" dirty="0"/>
          </a:p>
        </p:txBody>
      </p:sp>
    </p:spTree>
    <p:extLst>
      <p:ext uri="{BB962C8B-B14F-4D97-AF65-F5344CB8AC3E}">
        <p14:creationId xmlns:p14="http://schemas.microsoft.com/office/powerpoint/2010/main" val="37916125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63566-890D-3E14-C3D2-E98DA3220668}"/>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A05F0B9-61F9-AA0A-7935-BC6E04E9FF15}"/>
              </a:ext>
            </a:extLst>
          </p:cNvPr>
          <p:cNvSpPr>
            <a:spLocks noGrp="1"/>
          </p:cNvSpPr>
          <p:nvPr>
            <p:ph idx="1"/>
          </p:nvPr>
        </p:nvSpPr>
        <p:spPr/>
        <p:txBody>
          <a:bodyPr/>
          <a:lstStyle/>
          <a:p>
            <a:r>
              <a:rPr lang="en-US" dirty="0"/>
              <a:t>Unpacking improves readability</a:t>
            </a:r>
          </a:p>
          <a:p>
            <a:r>
              <a:rPr lang="en-US" dirty="0"/>
              <a:t>Enables flexible APIs</a:t>
            </a:r>
          </a:p>
          <a:p>
            <a:r>
              <a:rPr lang="en-US" dirty="0"/>
              <a:t>Core Python skill used everywhere</a:t>
            </a:r>
          </a:p>
          <a:p>
            <a:r>
              <a:rPr lang="en-US" dirty="0"/>
              <a:t>Context matters more than symbols</a:t>
            </a:r>
          </a:p>
          <a:p>
            <a:endParaRPr lang="en-SG" dirty="0"/>
          </a:p>
        </p:txBody>
      </p:sp>
    </p:spTree>
    <p:extLst>
      <p:ext uri="{BB962C8B-B14F-4D97-AF65-F5344CB8AC3E}">
        <p14:creationId xmlns:p14="http://schemas.microsoft.com/office/powerpoint/2010/main" val="248290327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Loops — for &amp; while</a:t>
            </a:r>
          </a:p>
        </p:txBody>
      </p:sp>
      <p:sp>
        <p:nvSpPr>
          <p:cNvPr id="3" name="Content Placeholder 2"/>
          <p:cNvSpPr>
            <a:spLocks noGrp="1"/>
          </p:cNvSpPr>
          <p:nvPr>
            <p:ph idx="1"/>
          </p:nvPr>
        </p:nvSpPr>
        <p:spPr/>
        <p:txBody>
          <a:bodyPr/>
          <a:lstStyle/>
          <a:p>
            <a:r>
              <a:rPr dirty="0"/>
              <a:t>for loops iterate over sequences</a:t>
            </a:r>
          </a:p>
          <a:p>
            <a:r>
              <a:rPr dirty="0"/>
              <a:t>while loops repeat while condition is True</a:t>
            </a:r>
          </a:p>
          <a:p>
            <a:r>
              <a:rPr dirty="0"/>
              <a:t>break and continue control loop flow</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
        <p:nvSpPr>
          <p:cNvPr id="5" name="TextBox 4">
            <a:extLst>
              <a:ext uri="{FF2B5EF4-FFF2-40B4-BE49-F238E27FC236}">
                <a16:creationId xmlns:a16="http://schemas.microsoft.com/office/drawing/2014/main" id="{7F546E25-5D7E-80F7-9034-21B79BFC62A6}"/>
              </a:ext>
            </a:extLst>
          </p:cNvPr>
          <p:cNvSpPr txBox="1"/>
          <p:nvPr/>
        </p:nvSpPr>
        <p:spPr>
          <a:xfrm>
            <a:off x="3048000" y="3105835"/>
            <a:ext cx="6096000" cy="646331"/>
          </a:xfrm>
          <a:prstGeom prst="rect">
            <a:avLst/>
          </a:prstGeom>
          <a:noFill/>
        </p:spPr>
        <p:txBody>
          <a:bodyPr wrap="square">
            <a:spAutoFit/>
          </a:bodyPr>
          <a:lstStyle/>
          <a:p>
            <a:r>
              <a:rPr lang="en-SG" dirty="0"/>
              <a:t>def </a:t>
            </a:r>
            <a:r>
              <a:rPr lang="en-SG" dirty="0" err="1"/>
              <a:t>calculate_total</a:t>
            </a:r>
            <a:r>
              <a:rPr lang="en-SG" dirty="0"/>
              <a:t>(price, quantity):</a:t>
            </a:r>
          </a:p>
          <a:p>
            <a:r>
              <a:rPr lang="en-SG" dirty="0"/>
              <a:t>    return price * quantity</a:t>
            </a:r>
          </a:p>
        </p:txBody>
      </p:sp>
    </p:spTree>
    <p:extLst>
      <p:ext uri="{BB962C8B-B14F-4D97-AF65-F5344CB8AC3E}">
        <p14:creationId xmlns:p14="http://schemas.microsoft.com/office/powerpoint/2010/main" val="6749720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def divide(a, b):</a:t>
            </a:r>
            <a:br>
              <a:rPr sz="2800" dirty="0"/>
            </a:br>
            <a:r>
              <a:rPr sz="2800" dirty="0"/>
              <a:t>    return a // b, a % b</a:t>
            </a:r>
            <a:br>
              <a:rPr sz="2800" dirty="0"/>
            </a:br>
            <a:br>
              <a:rPr sz="2800" dirty="0"/>
            </a:br>
            <a:r>
              <a:rPr sz="2800" dirty="0"/>
              <a:t>q, r = divide(20, 3)</a:t>
            </a:r>
            <a:br>
              <a:rPr sz="2800" dirty="0"/>
            </a:br>
            <a:r>
              <a:rPr sz="2800" dirty="0"/>
              <a:t>print(q, r)             # 6 2</a:t>
            </a: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log(message, *</a:t>
            </a:r>
            <a:r>
              <a:rPr sz="2000" dirty="0" err="1"/>
              <a:t>args</a:t>
            </a:r>
            <a:r>
              <a:rPr sz="2000" dirty="0"/>
              <a:t>, **</a:t>
            </a:r>
            <a:r>
              <a:rPr sz="2000" dirty="0" err="1"/>
              <a:t>kwargs</a:t>
            </a:r>
            <a:r>
              <a:rPr sz="2000" dirty="0"/>
              <a:t>):</a:t>
            </a:r>
            <a:br>
              <a:rPr sz="2000" dirty="0"/>
            </a:br>
            <a:r>
              <a:rPr sz="2000" dirty="0"/>
              <a:t>    print(f"[LOG] {message}")</a:t>
            </a:r>
            <a:br>
              <a:rPr sz="2000" dirty="0"/>
            </a:br>
            <a:r>
              <a:rPr sz="2000" dirty="0"/>
              <a:t>    if </a:t>
            </a:r>
            <a:r>
              <a:rPr sz="2000" dirty="0" err="1"/>
              <a:t>args</a:t>
            </a:r>
            <a:r>
              <a:rPr sz="2000" dirty="0"/>
              <a:t>: print("  Extra positional:", </a:t>
            </a:r>
            <a:r>
              <a:rPr sz="2000" dirty="0" err="1"/>
              <a:t>args</a:t>
            </a:r>
            <a:r>
              <a:rPr sz="2000" dirty="0"/>
              <a:t>)</a:t>
            </a:r>
            <a:br>
              <a:rPr sz="2000" dirty="0"/>
            </a:br>
            <a:r>
              <a:rPr sz="2000" dirty="0"/>
              <a:t>    if </a:t>
            </a:r>
            <a:r>
              <a:rPr sz="2000" dirty="0" err="1"/>
              <a:t>kwargs</a:t>
            </a:r>
            <a:r>
              <a:rPr sz="2000" dirty="0"/>
              <a:t>: print("  Extra keyword:", </a:t>
            </a:r>
            <a:r>
              <a:rPr sz="2000" dirty="0" err="1"/>
              <a:t>kwargs</a:t>
            </a:r>
            <a:r>
              <a:rPr sz="2000" dirty="0"/>
              <a:t>)</a:t>
            </a:r>
            <a:br>
              <a:rPr sz="2000" dirty="0"/>
            </a:br>
            <a:br>
              <a:rPr sz="2000" dirty="0"/>
            </a:br>
            <a:r>
              <a:rPr sz="2000" dirty="0"/>
              <a:t>log("Start", 1, 2, 3, user="Ada", code=42)</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pairs = [(1, "one"), (2, "two"), (3, "three")]</a:t>
            </a:r>
            <a:br>
              <a:rPr sz="2000" dirty="0"/>
            </a:br>
            <a:r>
              <a:rPr sz="2000" dirty="0" err="1"/>
              <a:t>pairs.sort</a:t>
            </a:r>
            <a:r>
              <a:rPr sz="2000" dirty="0"/>
              <a:t>(key=lambda x: x[1])</a:t>
            </a:r>
            <a:br>
              <a:rPr sz="2000" dirty="0"/>
            </a:br>
            <a:r>
              <a:rPr sz="2000" dirty="0"/>
              <a:t>print(pairs)</a:t>
            </a: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ops = {"+": lambda </a:t>
            </a:r>
            <a:r>
              <a:rPr sz="2800" dirty="0" err="1"/>
              <a:t>x,y</a:t>
            </a:r>
            <a:r>
              <a:rPr sz="2800" dirty="0"/>
              <a:t>: </a:t>
            </a:r>
            <a:r>
              <a:rPr sz="2800" dirty="0" err="1"/>
              <a:t>x+y</a:t>
            </a:r>
            <a:r>
              <a:rPr sz="2800" dirty="0"/>
              <a:t>,</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br>
              <a:rPr sz="2800" dirty="0"/>
            </a:br>
            <a:r>
              <a:rPr sz="2800" dirty="0"/>
              <a:t>_, a, op, b = </a:t>
            </a:r>
            <a:r>
              <a:rPr sz="2800" dirty="0" err="1"/>
              <a:t>sys.argv</a:t>
            </a:r>
            <a:br>
              <a:rPr sz="2800" dirty="0"/>
            </a:br>
            <a:r>
              <a:rPr sz="2800" dirty="0"/>
              <a:t>print(ops[op](float(a), float(b)))</a:t>
            </a: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2 — Intermediate</a:t>
            </a:r>
          </a:p>
        </p:txBody>
      </p:sp>
      <p:sp>
        <p:nvSpPr>
          <p:cNvPr id="3" name="Content Placeholder 2"/>
          <p:cNvSpPr>
            <a:spLocks noGrp="1"/>
          </p:cNvSpPr>
          <p:nvPr>
            <p:ph idx="1"/>
          </p:nvPr>
        </p:nvSpPr>
        <p:spPr/>
        <p:txBody>
          <a:bodyPr/>
          <a:lstStyle/>
          <a:p>
            <a:r>
              <a:t>Structure larger programs</a:t>
            </a:r>
          </a:p>
          <a:p>
            <a:r>
              <a:t>Learn Object-Oriented Programming</a:t>
            </a:r>
          </a:p>
          <a:p>
            <a:r>
              <a:t>Work with files and modules</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Object-Oriented Programming?</a:t>
            </a:r>
          </a:p>
        </p:txBody>
      </p:sp>
      <p:sp>
        <p:nvSpPr>
          <p:cNvPr id="3" name="Content Placeholder 2"/>
          <p:cNvSpPr>
            <a:spLocks noGrp="1"/>
          </p:cNvSpPr>
          <p:nvPr>
            <p:ph idx="1"/>
          </p:nvPr>
        </p:nvSpPr>
        <p:spPr/>
        <p:txBody>
          <a:bodyPr/>
          <a:lstStyle/>
          <a:p>
            <a:r>
              <a:t>Group data and behavior together</a:t>
            </a:r>
          </a:p>
          <a:p>
            <a:r>
              <a:t>Model real-world concepts</a:t>
            </a:r>
          </a:p>
          <a:p>
            <a:r>
              <a:t>Improve code organization</a:t>
            </a: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Class</a:t>
            </a:r>
          </a:p>
        </p:txBody>
      </p:sp>
      <p:sp>
        <p:nvSpPr>
          <p:cNvPr id="3" name="Content Placeholder 2"/>
          <p:cNvSpPr>
            <a:spLocks noGrp="1"/>
          </p:cNvSpPr>
          <p:nvPr>
            <p:ph idx="1"/>
          </p:nvPr>
        </p:nvSpPr>
        <p:spPr/>
        <p:txBody>
          <a:bodyPr/>
          <a:lstStyle/>
          <a:p>
            <a:r>
              <a:t>Classes define blueprints for objects</a:t>
            </a:r>
          </a:p>
          <a:p>
            <a:r>
              <a:t>__init__ initializes instance state</a:t>
            </a:r>
          </a:p>
          <a:p>
            <a:r>
              <a:t>self refers to the current object</a:t>
            </a: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Dog:</a:t>
            </a:r>
            <a:br>
              <a:rPr sz="2400" dirty="0"/>
            </a:br>
            <a:r>
              <a:rPr sz="2400" dirty="0"/>
              <a:t>    species = "Canis </a:t>
            </a:r>
            <a:r>
              <a:rPr sz="2400" dirty="0" err="1"/>
              <a:t>familiaris</a:t>
            </a:r>
            <a:r>
              <a:rPr sz="2400" dirty="0"/>
              <a:t>"</a:t>
            </a:r>
            <a:br>
              <a:rPr sz="2400" dirty="0"/>
            </a:br>
            <a:r>
              <a:rPr sz="2400" dirty="0"/>
              <a:t>    def __</a:t>
            </a:r>
            <a:r>
              <a:rPr sz="2400" dirty="0" err="1"/>
              <a:t>init</a:t>
            </a:r>
            <a:r>
              <a:rPr sz="2400" dirty="0"/>
              <a:t>__(self, name, age):</a:t>
            </a:r>
            <a:br>
              <a:rPr sz="2400" dirty="0"/>
            </a:br>
            <a:r>
              <a:rPr sz="2400" dirty="0"/>
              <a:t>        self.name, </a:t>
            </a:r>
            <a:r>
              <a:rPr sz="2400" dirty="0" err="1"/>
              <a:t>self.age</a:t>
            </a:r>
            <a:r>
              <a:rPr sz="2400" dirty="0"/>
              <a:t> = name, age</a:t>
            </a:r>
            <a:br>
              <a:rPr sz="2400" dirty="0"/>
            </a:br>
            <a:r>
              <a:rPr sz="2400" dirty="0"/>
              <a:t>    def __str__(self):</a:t>
            </a:r>
            <a:br>
              <a:rPr sz="2400" dirty="0"/>
            </a:br>
            <a:r>
              <a:rPr sz="2400" dirty="0"/>
              <a:t>        return f"{self.name} is {</a:t>
            </a:r>
            <a:r>
              <a:rPr sz="2400" dirty="0" err="1"/>
              <a:t>self.age</a:t>
            </a:r>
            <a:r>
              <a:rPr sz="2400" dirty="0"/>
              <a:t>}"</a:t>
            </a:r>
            <a:br>
              <a:rPr sz="2400" dirty="0"/>
            </a:br>
            <a:r>
              <a:rPr sz="2400" dirty="0"/>
              <a:t>    def speak(self, sound="Woof!"):</a:t>
            </a:r>
            <a:br>
              <a:rPr sz="2400" dirty="0"/>
            </a:br>
            <a:r>
              <a:rPr sz="2400" dirty="0"/>
              <a:t>        return f"{self.name} says {sound}"</a:t>
            </a:r>
            <a:br>
              <a:rPr sz="2400" dirty="0"/>
            </a:br>
            <a:br>
              <a:rPr sz="2400" dirty="0"/>
            </a:br>
            <a:r>
              <a:rPr sz="2400" dirty="0"/>
              <a:t>d = Dog("Buddy", 4)</a:t>
            </a:r>
            <a:br>
              <a:rPr sz="2400" dirty="0"/>
            </a:br>
            <a:r>
              <a:rPr sz="2400" dirty="0"/>
              <a:t>print(d)                    # Buddy is 4</a:t>
            </a:r>
            <a:br>
              <a:rPr sz="2400" dirty="0"/>
            </a:br>
            <a:r>
              <a:rPr sz="2400" dirty="0"/>
              <a:t>print(</a:t>
            </a:r>
            <a:r>
              <a:rPr sz="2400" dirty="0" err="1"/>
              <a:t>d.speak</a:t>
            </a:r>
            <a:r>
              <a:rPr sz="2400" dirty="0"/>
              <a:t>("Ruff"))</a:t>
            </a: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p:txBody>
          <a:bodyPr/>
          <a:lstStyle/>
          <a:p>
            <a:r>
              <a:t>Hide internal implementation details</a:t>
            </a:r>
          </a:p>
          <a:p>
            <a:r>
              <a:t>Use methods and properties</a:t>
            </a:r>
          </a:p>
          <a:p>
            <a:r>
              <a:t>Private attributes use name mangling</a:t>
            </a: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class </a:t>
            </a:r>
            <a:r>
              <a:rPr sz="2000" dirty="0" err="1"/>
              <a:t>BankAccount</a:t>
            </a:r>
            <a:r>
              <a:rPr sz="2000" dirty="0"/>
              <a:t>:</a:t>
            </a:r>
            <a:br>
              <a:rPr sz="2000" dirty="0"/>
            </a:br>
            <a:r>
              <a:rPr sz="2000" dirty="0"/>
              <a:t>    def __</a:t>
            </a:r>
            <a:r>
              <a:rPr sz="2000" dirty="0" err="1"/>
              <a:t>init</a:t>
            </a:r>
            <a:r>
              <a:rPr sz="2000" dirty="0"/>
              <a:t>__(self, owner, balance=0):</a:t>
            </a:r>
            <a:br>
              <a:rPr sz="2000" dirty="0"/>
            </a:br>
            <a:r>
              <a:rPr sz="2000" dirty="0"/>
              <a:t>        </a:t>
            </a:r>
            <a:r>
              <a:rPr sz="2000" dirty="0" err="1"/>
              <a:t>self.owner</a:t>
            </a:r>
            <a:r>
              <a:rPr sz="2000" dirty="0"/>
              <a:t> = owner</a:t>
            </a:r>
            <a:br>
              <a:rPr sz="2000" dirty="0"/>
            </a:br>
            <a:r>
              <a:rPr sz="2000" dirty="0"/>
              <a:t>        </a:t>
            </a:r>
            <a:r>
              <a:rPr sz="2000" dirty="0" err="1"/>
              <a:t>self.__balance</a:t>
            </a:r>
            <a:r>
              <a:rPr sz="2000" dirty="0"/>
              <a:t> = balance      # name mangled</a:t>
            </a:r>
            <a:br>
              <a:rPr sz="2000" dirty="0"/>
            </a:br>
            <a:r>
              <a:rPr sz="2000" dirty="0"/>
              <a:t>    def deposit(self, amount):</a:t>
            </a:r>
            <a:br>
              <a:rPr sz="2000" dirty="0"/>
            </a:br>
            <a:r>
              <a:rPr sz="2000" dirty="0"/>
              <a:t>        </a:t>
            </a:r>
            <a:r>
              <a:rPr sz="2000" dirty="0" err="1"/>
              <a:t>self.__balance</a:t>
            </a:r>
            <a:r>
              <a:rPr sz="2000" dirty="0"/>
              <a:t> += amount</a:t>
            </a:r>
            <a:br>
              <a:rPr sz="2000" dirty="0"/>
            </a:br>
            <a:r>
              <a:rPr sz="2000" dirty="0"/>
              <a:t>    @property</a:t>
            </a:r>
            <a:br>
              <a:rPr sz="2000" dirty="0"/>
            </a:br>
            <a:r>
              <a:rPr sz="2000" dirty="0"/>
              <a:t>    def balance(self):</a:t>
            </a:r>
            <a:br>
              <a:rPr sz="2000" dirty="0"/>
            </a:br>
            <a:r>
              <a:rPr sz="2000" dirty="0"/>
              <a:t>        return </a:t>
            </a:r>
            <a:r>
              <a:rPr sz="2000" dirty="0" err="1"/>
              <a:t>self.__balance</a:t>
            </a:r>
            <a:br>
              <a:rPr sz="2000" dirty="0"/>
            </a:br>
            <a:br>
              <a:rPr sz="2000" dirty="0"/>
            </a:br>
            <a:r>
              <a:rPr sz="2000" dirty="0"/>
              <a:t>acct = </a:t>
            </a:r>
            <a:r>
              <a:rPr sz="2000" dirty="0" err="1"/>
              <a:t>BankAccount</a:t>
            </a:r>
            <a:r>
              <a:rPr sz="2000" dirty="0"/>
              <a:t>("Ada")</a:t>
            </a:r>
            <a:br>
              <a:rPr sz="2000" dirty="0"/>
            </a:br>
            <a:r>
              <a:rPr sz="2000" dirty="0" err="1"/>
              <a:t>acct.deposit</a:t>
            </a:r>
            <a:r>
              <a:rPr sz="2000" dirty="0"/>
              <a:t>(100)</a:t>
            </a:r>
            <a:br>
              <a:rPr sz="2000" dirty="0"/>
            </a:br>
            <a:r>
              <a:rPr sz="2000" dirty="0"/>
              <a:t>print(</a:t>
            </a:r>
            <a:r>
              <a:rPr sz="2000" dirty="0" err="1"/>
              <a:t>acct.balance</a:t>
            </a:r>
            <a:r>
              <a:rPr sz="2000" dirty="0"/>
              <a:t>)         # 100</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r>
              <a:t>Child classes extend parent classes</a:t>
            </a:r>
          </a:p>
          <a:p>
            <a:r>
              <a:t>Shared interfaces, different behavior</a:t>
            </a:r>
          </a:p>
          <a:p>
            <a:r>
              <a:t>Write flexible, reusable code</a:t>
            </a: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Inheritance &amp; Polymorphism</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Animal:</a:t>
            </a:r>
            <a:br>
              <a:rPr sz="2400" dirty="0"/>
            </a:br>
            <a:r>
              <a:rPr sz="2400" dirty="0"/>
              <a:t>    def speak(self): raise </a:t>
            </a:r>
            <a:r>
              <a:rPr sz="2400" dirty="0" err="1"/>
              <a:t>NotImplementedError</a:t>
            </a:r>
            <a:br>
              <a:rPr sz="2400" dirty="0"/>
            </a:br>
            <a:r>
              <a:rPr sz="2400" dirty="0"/>
              <a:t>class Cat(Animal):</a:t>
            </a:r>
            <a:br>
              <a:rPr sz="2400" dirty="0"/>
            </a:br>
            <a:r>
              <a:rPr sz="2400" dirty="0"/>
              <a:t>    def speak(self): return "Meow"</a:t>
            </a:r>
            <a:br>
              <a:rPr sz="2400" dirty="0"/>
            </a:br>
            <a:r>
              <a:rPr sz="2400" dirty="0"/>
              <a:t>class Cow(Animal):</a:t>
            </a:r>
            <a:br>
              <a:rPr sz="2400" dirty="0"/>
            </a:br>
            <a:r>
              <a:rPr sz="2400" dirty="0"/>
              <a:t>    def speak(self): return "Moo"</a:t>
            </a:r>
            <a:br>
              <a:rPr sz="2400" dirty="0"/>
            </a:br>
            <a:br>
              <a:rPr sz="2400" dirty="0"/>
            </a:br>
            <a:r>
              <a:rPr sz="2400" dirty="0"/>
              <a:t>for creature in [Cat(), Cow()]:</a:t>
            </a:r>
            <a:br>
              <a:rPr sz="2400" dirty="0"/>
            </a:br>
            <a:r>
              <a:rPr sz="2400" dirty="0"/>
              <a:t>    print(</a:t>
            </a:r>
            <a:r>
              <a:rPr sz="2400" dirty="0" err="1"/>
              <a:t>creature.speak</a:t>
            </a:r>
            <a:r>
              <a:rPr sz="2400" dirty="0"/>
              <a:t>())</a:t>
            </a: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Person:</a:t>
            </a:r>
            <a:br>
              <a:rPr sz="1800" dirty="0"/>
            </a:br>
            <a:r>
              <a:rPr sz="1800" dirty="0"/>
              <a:t>    def __</a:t>
            </a:r>
            <a:r>
              <a:rPr sz="1800" dirty="0" err="1"/>
              <a:t>init</a:t>
            </a:r>
            <a:r>
              <a:rPr sz="1800" dirty="0"/>
              <a:t>__(self, name): self.name = name</a:t>
            </a:r>
            <a:br>
              <a:rPr sz="1800" dirty="0"/>
            </a:br>
            <a:r>
              <a:rPr sz="1800" dirty="0"/>
              <a:t>class Employee(Person):</a:t>
            </a:r>
            <a:br>
              <a:rPr sz="1800" dirty="0"/>
            </a:br>
            <a:r>
              <a:rPr sz="1800" dirty="0"/>
              <a:t>    def __</a:t>
            </a:r>
            <a:r>
              <a:rPr sz="1800" dirty="0" err="1"/>
              <a:t>init</a:t>
            </a:r>
            <a:r>
              <a:rPr sz="1800" dirty="0"/>
              <a:t>__(self, name, salary):</a:t>
            </a:r>
            <a:br>
              <a:rPr sz="1800" dirty="0"/>
            </a:br>
            <a:r>
              <a:rPr sz="1800" dirty="0"/>
              <a:t>        super().__</a:t>
            </a:r>
            <a:r>
              <a:rPr sz="1800" dirty="0" err="1"/>
              <a:t>init</a:t>
            </a:r>
            <a:r>
              <a:rPr sz="1800" dirty="0"/>
              <a:t>__(name); </a:t>
            </a:r>
            <a:r>
              <a:rPr sz="1800" dirty="0" err="1"/>
              <a:t>self.salary</a:t>
            </a:r>
            <a:r>
              <a:rPr sz="1800" dirty="0"/>
              <a:t> = salary</a:t>
            </a:r>
            <a:br>
              <a:rPr sz="1800" dirty="0"/>
            </a:br>
            <a:r>
              <a:rPr sz="1800" dirty="0"/>
              <a:t>class Manager(Employee):</a:t>
            </a:r>
            <a:br>
              <a:rPr sz="1800" dirty="0"/>
            </a:br>
            <a:r>
              <a:rPr sz="1800" dirty="0"/>
              <a:t>    def __</a:t>
            </a:r>
            <a:r>
              <a:rPr sz="1800" dirty="0" err="1"/>
              <a:t>init</a:t>
            </a:r>
            <a:r>
              <a:rPr sz="1800" dirty="0"/>
              <a:t>__(self, name, salary, level):</a:t>
            </a:r>
            <a:br>
              <a:rPr sz="1800" dirty="0"/>
            </a:br>
            <a:r>
              <a:rPr sz="1800" dirty="0"/>
              <a:t>        super().__</a:t>
            </a:r>
            <a:r>
              <a:rPr sz="1800" dirty="0" err="1"/>
              <a:t>init</a:t>
            </a:r>
            <a:r>
              <a:rPr sz="1800" dirty="0"/>
              <a:t>__(name, salary); </a:t>
            </a:r>
            <a:r>
              <a:rPr sz="1800" dirty="0" err="1"/>
              <a:t>self.level</a:t>
            </a:r>
            <a:r>
              <a:rPr sz="1800" dirty="0"/>
              <a:t> = level</a:t>
            </a:r>
            <a:br>
              <a:rPr sz="1800" dirty="0"/>
            </a:br>
            <a:br>
              <a:rPr sz="1800" dirty="0"/>
            </a:br>
            <a:r>
              <a:rPr sz="1800" dirty="0"/>
              <a:t>m = Manager("Grace", 120_000, "L3")</a:t>
            </a:r>
            <a:br>
              <a:rPr sz="1800" dirty="0"/>
            </a:br>
            <a:r>
              <a:rPr sz="1800" dirty="0"/>
              <a:t>print(m.name, </a:t>
            </a:r>
            <a:r>
              <a:rPr sz="1800" dirty="0" err="1"/>
              <a:t>m.salary</a:t>
            </a:r>
            <a:r>
              <a:rPr sz="1800" dirty="0"/>
              <a:t>, </a:t>
            </a:r>
            <a:r>
              <a:rPr sz="1800" dirty="0" err="1"/>
              <a:t>m.level</a:t>
            </a:r>
            <a:r>
              <a:rPr sz="1800" dirty="0"/>
              <a:t>)</a:t>
            </a: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lstStyle/>
          <a:p>
            <a:r>
              <a:t>__str__ and __repr__ for display</a:t>
            </a:r>
          </a:p>
          <a:p>
            <a:r>
              <a:t>__add__, __mul__ for operators</a:t>
            </a:r>
          </a:p>
          <a:p>
            <a:r>
              <a:t>Enable Pythonic behavior</a:t>
            </a: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Vector:</a:t>
            </a:r>
            <a:br>
              <a:rPr sz="1800" dirty="0"/>
            </a:br>
            <a:r>
              <a:rPr sz="1800" dirty="0"/>
              <a:t>    def __</a:t>
            </a:r>
            <a:r>
              <a:rPr sz="1800" dirty="0" err="1"/>
              <a:t>init</a:t>
            </a:r>
            <a:r>
              <a:rPr sz="1800" dirty="0"/>
              <a:t>__(self, x, y): </a:t>
            </a:r>
            <a:r>
              <a:rPr sz="1800" dirty="0" err="1"/>
              <a:t>self.x</a:t>
            </a:r>
            <a:r>
              <a:rPr sz="1800" dirty="0"/>
              <a:t>, </a:t>
            </a:r>
            <a:r>
              <a:rPr sz="1800" dirty="0" err="1"/>
              <a:t>self.y</a:t>
            </a:r>
            <a:r>
              <a:rPr sz="1800" dirty="0"/>
              <a:t> = x, y</a:t>
            </a:r>
            <a:br>
              <a:rPr sz="1800" dirty="0"/>
            </a:br>
            <a:r>
              <a:rPr sz="1800" dirty="0"/>
              <a:t>    def __add__(self, other):</a:t>
            </a:r>
            <a:br>
              <a:rPr sz="1800" dirty="0"/>
            </a:br>
            <a:r>
              <a:rPr sz="1800" dirty="0"/>
              <a:t>        return Vector(</a:t>
            </a:r>
            <a:r>
              <a:rPr sz="1800" dirty="0" err="1"/>
              <a:t>self.x</a:t>
            </a:r>
            <a:r>
              <a:rPr sz="1800" dirty="0"/>
              <a:t> + </a:t>
            </a:r>
            <a:r>
              <a:rPr sz="1800" dirty="0" err="1"/>
              <a:t>other.x</a:t>
            </a:r>
            <a:r>
              <a:rPr sz="1800" dirty="0"/>
              <a:t>, </a:t>
            </a:r>
            <a:r>
              <a:rPr sz="1800" dirty="0" err="1"/>
              <a:t>self.y</a:t>
            </a:r>
            <a:r>
              <a:rPr sz="1800" dirty="0"/>
              <a:t> + </a:t>
            </a:r>
            <a:r>
              <a:rPr sz="1800" dirty="0" err="1"/>
              <a:t>other.y</a:t>
            </a:r>
            <a:r>
              <a:rPr sz="1800" dirty="0"/>
              <a:t>)</a:t>
            </a:r>
            <a:br>
              <a:rPr sz="1800" dirty="0"/>
            </a:br>
            <a:r>
              <a:rPr sz="1800" dirty="0"/>
              <a:t>    def __</a:t>
            </a:r>
            <a:r>
              <a:rPr sz="1800" dirty="0" err="1"/>
              <a:t>mul</a:t>
            </a:r>
            <a:r>
              <a:rPr sz="1800" dirty="0"/>
              <a:t>__(self, scalar):</a:t>
            </a:r>
            <a:br>
              <a:rPr sz="1800" dirty="0"/>
            </a:br>
            <a:r>
              <a:rPr sz="1800" dirty="0"/>
              <a:t>        return Vector(</a:t>
            </a:r>
            <a:r>
              <a:rPr sz="1800" dirty="0" err="1"/>
              <a:t>self.x</a:t>
            </a:r>
            <a:r>
              <a:rPr sz="1800" dirty="0"/>
              <a:t> * scalar, </a:t>
            </a:r>
            <a:r>
              <a:rPr sz="1800" dirty="0" err="1"/>
              <a:t>self.y</a:t>
            </a:r>
            <a:r>
              <a:rPr sz="1800" dirty="0"/>
              <a:t> * scalar)</a:t>
            </a:r>
            <a:br>
              <a:rPr sz="1800" dirty="0"/>
            </a:br>
            <a:r>
              <a:rPr sz="1800" dirty="0"/>
              <a:t>    def __</a:t>
            </a:r>
            <a:r>
              <a:rPr sz="1800" dirty="0" err="1"/>
              <a:t>repr</a:t>
            </a:r>
            <a:r>
              <a:rPr sz="1800" dirty="0"/>
              <a:t>__(self): return </a:t>
            </a:r>
            <a:r>
              <a:rPr sz="1800" dirty="0" err="1"/>
              <a:t>f"Vector</a:t>
            </a:r>
            <a:r>
              <a:rPr sz="1800" dirty="0"/>
              <a:t>({</a:t>
            </a:r>
            <a:r>
              <a:rPr sz="1800" dirty="0" err="1"/>
              <a:t>self.x</a:t>
            </a:r>
            <a:r>
              <a:rPr sz="1800" dirty="0"/>
              <a:t>}, {</a:t>
            </a:r>
            <a:r>
              <a:rPr sz="1800" dirty="0" err="1"/>
              <a:t>self.y</a:t>
            </a:r>
            <a:r>
              <a:rPr sz="1800" dirty="0"/>
              <a:t>})"</a:t>
            </a:r>
            <a:br>
              <a:rPr sz="1800" dirty="0"/>
            </a:br>
            <a:br>
              <a:rPr sz="1800" dirty="0"/>
            </a:br>
            <a:r>
              <a:rPr sz="1800" dirty="0"/>
              <a:t>v1, v2 = Vector(2, 3), Vector(1, 4)</a:t>
            </a:r>
            <a:br>
              <a:rPr sz="1800" dirty="0"/>
            </a:br>
            <a:r>
              <a:rPr sz="1800" dirty="0"/>
              <a:t>print(v1 + v2)              # Vector(3, 7)</a:t>
            </a:r>
            <a:br>
              <a:rPr sz="1800" dirty="0"/>
            </a:br>
            <a:r>
              <a:rPr sz="1800" dirty="0"/>
              <a:t>print(v1 * 3)               # Vector(6, 9)</a:t>
            </a: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&amp; Imports</a:t>
            </a:r>
          </a:p>
        </p:txBody>
      </p:sp>
      <p:sp>
        <p:nvSpPr>
          <p:cNvPr id="3" name="Content Placeholder 2"/>
          <p:cNvSpPr>
            <a:spLocks noGrp="1"/>
          </p:cNvSpPr>
          <p:nvPr>
            <p:ph idx="1"/>
          </p:nvPr>
        </p:nvSpPr>
        <p:spPr/>
        <p:txBody>
          <a:bodyPr/>
          <a:lstStyle/>
          <a:p>
            <a:r>
              <a:t>Split code into reusable files</a:t>
            </a:r>
          </a:p>
          <a:p>
            <a:r>
              <a:t>Use import and from ... import</a:t>
            </a:r>
          </a:p>
          <a:p>
            <a:r>
              <a:t>__init__.py defines packages</a:t>
            </a:r>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 tree</a:t>
            </a:r>
            <a:br>
              <a:rPr sz="1600" dirty="0"/>
            </a:br>
            <a:r>
              <a:rPr sz="1600" dirty="0"/>
              <a:t>project/</a:t>
            </a:r>
            <a:br>
              <a:rPr sz="1600" dirty="0"/>
            </a:br>
            <a:r>
              <a:rPr sz="1600" dirty="0"/>
              <a:t>  ├── geometry/</a:t>
            </a:r>
            <a:br>
              <a:rPr sz="1600" dirty="0"/>
            </a:br>
            <a:r>
              <a:rPr sz="1600" dirty="0"/>
              <a:t>  │   ├── __init__.py</a:t>
            </a:r>
            <a:br>
              <a:rPr sz="1600" dirty="0"/>
            </a:br>
            <a:r>
              <a:rPr sz="1600" dirty="0"/>
              <a:t>  │   └── shapes.py</a:t>
            </a:r>
            <a:br>
              <a:rPr sz="1600" dirty="0"/>
            </a:br>
            <a:r>
              <a:rPr sz="1600" dirty="0"/>
              <a:t>  └── app.py</a:t>
            </a:r>
            <a:br>
              <a:rPr sz="1600" dirty="0"/>
            </a:br>
            <a:br>
              <a:rPr sz="1600" dirty="0"/>
            </a:br>
            <a:r>
              <a:rPr sz="1600" dirty="0"/>
              <a:t># shapes.py</a:t>
            </a:r>
            <a:br>
              <a:rPr sz="1600" dirty="0"/>
            </a:br>
            <a:r>
              <a:rPr sz="1600" dirty="0"/>
              <a:t>def </a:t>
            </a:r>
            <a:r>
              <a:rPr sz="1600" dirty="0" err="1"/>
              <a:t>area_circle</a:t>
            </a:r>
            <a:r>
              <a:rPr sz="1600" dirty="0"/>
              <a:t>(r): from math import pi; return pi * r ** 2</a:t>
            </a:r>
            <a:br>
              <a:rPr sz="1600" dirty="0"/>
            </a:br>
            <a:br>
              <a:rPr sz="1600" dirty="0"/>
            </a:br>
            <a:r>
              <a:rPr sz="1600" dirty="0"/>
              <a:t># __init__.py</a:t>
            </a:r>
            <a:br>
              <a:rPr sz="1600" dirty="0"/>
            </a:br>
            <a:r>
              <a:rPr sz="1600" dirty="0"/>
              <a:t>from .shapes import </a:t>
            </a:r>
            <a:r>
              <a:rPr sz="1600" dirty="0" err="1"/>
              <a:t>area_circle</a:t>
            </a:r>
            <a:br>
              <a:rPr sz="1600" dirty="0"/>
            </a:br>
            <a:r>
              <a:rPr sz="1600" dirty="0"/>
              <a:t>__all__ = ["</a:t>
            </a:r>
            <a:r>
              <a:rPr sz="1600" dirty="0" err="1"/>
              <a:t>area_circle</a:t>
            </a:r>
            <a:r>
              <a:rPr sz="1600" dirty="0"/>
              <a:t>"]</a:t>
            </a:r>
            <a:br>
              <a:rPr sz="1600" dirty="0"/>
            </a:br>
            <a:br>
              <a:rPr sz="1600" dirty="0"/>
            </a:br>
            <a:r>
              <a:rPr sz="1600" dirty="0"/>
              <a:t># app.py</a:t>
            </a:r>
            <a:br>
              <a:rPr sz="1600" dirty="0"/>
            </a:br>
            <a:r>
              <a:rPr sz="1600" dirty="0"/>
              <a:t>from geometry import </a:t>
            </a:r>
            <a:r>
              <a:rPr sz="1600" dirty="0" err="1"/>
              <a:t>area_circle</a:t>
            </a:r>
            <a:br>
              <a:rPr sz="1600" dirty="0"/>
            </a:br>
            <a:r>
              <a:rPr sz="1600" dirty="0"/>
              <a:t>print(</a:t>
            </a:r>
            <a:r>
              <a:rPr sz="1600" dirty="0" err="1"/>
              <a:t>area_circle</a:t>
            </a:r>
            <a:r>
              <a:rPr sz="1600" dirty="0"/>
              <a:t>(5))</a:t>
            </a: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import datetime as dt</a:t>
            </a:r>
            <a:br>
              <a:rPr sz="2400" dirty="0"/>
            </a:br>
            <a:r>
              <a:rPr sz="2400" dirty="0"/>
              <a:t>from </a:t>
            </a:r>
            <a:r>
              <a:rPr sz="2400" dirty="0" err="1"/>
              <a:t>pathlib</a:t>
            </a:r>
            <a:r>
              <a:rPr sz="2400" dirty="0"/>
              <a:t> import Path</a:t>
            </a:r>
            <a:br>
              <a:rPr sz="2400" dirty="0"/>
            </a:br>
            <a:r>
              <a:rPr sz="2400" dirty="0"/>
              <a:t>from collections import </a:t>
            </a:r>
            <a:r>
              <a:rPr sz="2400" dirty="0" err="1"/>
              <a:t>defaultdict</a:t>
            </a:r>
            <a:r>
              <a:rPr sz="2400" dirty="0"/>
              <a:t>, Counter</a:t>
            </a: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Basics</a:t>
            </a:r>
          </a:p>
        </p:txBody>
      </p:sp>
      <p:sp>
        <p:nvSpPr>
          <p:cNvPr id="3" name="Content Placeholder 2"/>
          <p:cNvSpPr>
            <a:spLocks noGrp="1"/>
          </p:cNvSpPr>
          <p:nvPr>
            <p:ph idx="1"/>
          </p:nvPr>
        </p:nvSpPr>
        <p:spPr/>
        <p:txBody>
          <a:bodyPr/>
          <a:lstStyle/>
          <a:p>
            <a:r>
              <a:t>Read and write text files</a:t>
            </a:r>
          </a:p>
          <a:p>
            <a:r>
              <a:t>Use with statement for safety</a:t>
            </a:r>
          </a:p>
          <a:p>
            <a:r>
              <a:t>Work with CSV and JSON data</a:t>
            </a: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 Text &amp; CSV</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with open("haiku.txt", "w") as f:</a:t>
            </a:r>
            <a:br>
              <a:rPr sz="1800" dirty="0"/>
            </a:br>
            <a:r>
              <a:rPr sz="1800" dirty="0"/>
              <a:t>    </a:t>
            </a:r>
            <a:r>
              <a:rPr sz="1800" dirty="0" err="1"/>
              <a:t>f.write</a:t>
            </a:r>
            <a:r>
              <a:rPr sz="1800" dirty="0"/>
              <a:t>("Ancient silent pond\n…")</a:t>
            </a:r>
            <a:br>
              <a:rPr sz="1800" dirty="0"/>
            </a:br>
            <a:br>
              <a:rPr sz="1800" dirty="0"/>
            </a:br>
            <a:r>
              <a:rPr sz="1800" dirty="0"/>
              <a:t>with open("haiku.txt") as f:</a:t>
            </a:r>
            <a:br>
              <a:rPr sz="1800" dirty="0"/>
            </a:br>
            <a:r>
              <a:rPr sz="1800" dirty="0"/>
              <a:t>    for </a:t>
            </a:r>
            <a:r>
              <a:rPr sz="1800" dirty="0" err="1"/>
              <a:t>i</a:t>
            </a:r>
            <a:r>
              <a:rPr sz="1800" dirty="0"/>
              <a:t>, line in enumerate(f, 1):</a:t>
            </a:r>
            <a:br>
              <a:rPr sz="1800" dirty="0"/>
            </a:br>
            <a:r>
              <a:rPr sz="1800" dirty="0"/>
              <a:t>        print(f"{</a:t>
            </a:r>
            <a:r>
              <a:rPr sz="1800" dirty="0" err="1"/>
              <a:t>i</a:t>
            </a:r>
            <a:r>
              <a:rPr sz="1800" dirty="0"/>
              <a:t>}: {</a:t>
            </a:r>
            <a:r>
              <a:rPr sz="1800" dirty="0" err="1"/>
              <a:t>line.rstrip</a:t>
            </a:r>
            <a:r>
              <a:rPr sz="1800" dirty="0"/>
              <a:t>()}")</a:t>
            </a:r>
            <a:br>
              <a:rPr sz="1800" dirty="0"/>
            </a:br>
            <a:br>
              <a:rPr sz="1800" dirty="0"/>
            </a:br>
            <a:r>
              <a:rPr sz="1800" dirty="0"/>
              <a:t>import csv</a:t>
            </a:r>
            <a:br>
              <a:rPr sz="1800" dirty="0"/>
            </a:br>
            <a:r>
              <a:rPr sz="1800" dirty="0"/>
              <a:t>rows = [{"name": "Ada", "age": 36}, {"name": "Linus", "age": 52}]</a:t>
            </a:r>
            <a:br>
              <a:rPr sz="1800" dirty="0"/>
            </a:br>
            <a:r>
              <a:rPr sz="1800" dirty="0"/>
              <a:t>with open("users.csv", "w", newline="") as f:</a:t>
            </a:r>
            <a:br>
              <a:rPr sz="1800" dirty="0"/>
            </a:br>
            <a:r>
              <a:rPr sz="1800" dirty="0"/>
              <a:t>    writer = </a:t>
            </a:r>
            <a:r>
              <a:rPr sz="1800" dirty="0" err="1"/>
              <a:t>csv.DictWriter</a:t>
            </a:r>
            <a:r>
              <a:rPr sz="1800" dirty="0"/>
              <a:t>(f, fieldnames=["name", "age"])</a:t>
            </a:r>
            <a:br>
              <a:rPr sz="1800" dirty="0"/>
            </a:br>
            <a:r>
              <a:rPr sz="1800" dirty="0"/>
              <a:t>    </a:t>
            </a:r>
            <a:r>
              <a:rPr sz="1800" dirty="0" err="1"/>
              <a:t>writer.writeheader</a:t>
            </a:r>
            <a:r>
              <a:rPr sz="1800" dirty="0"/>
              <a:t>(); </a:t>
            </a:r>
            <a:r>
              <a:rPr sz="1800" dirty="0" err="1"/>
              <a:t>writer.writerows</a:t>
            </a:r>
            <a:r>
              <a:rPr sz="1800" dirty="0"/>
              <a:t>(rows)</a:t>
            </a: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r>
              <a:t>pathlib provides object-oriented paths</a:t>
            </a:r>
          </a:p>
          <a:p>
            <a:r>
              <a:t>Cleaner, more readable code</a:t>
            </a:r>
          </a:p>
          <a:p>
            <a:r>
              <a:t>Recommended for modern Python</a:t>
            </a: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from </a:t>
            </a:r>
            <a:r>
              <a:rPr sz="2800" dirty="0" err="1"/>
              <a:t>pathlib</a:t>
            </a:r>
            <a:r>
              <a:rPr sz="2800" dirty="0"/>
              <a:t> import Path</a:t>
            </a:r>
            <a:br>
              <a:rPr sz="2800" dirty="0"/>
            </a:br>
            <a:r>
              <a:rPr sz="2800" dirty="0"/>
              <a:t>root = Path("docs") / "letters"</a:t>
            </a:r>
            <a:br>
              <a:rPr sz="2800" dirty="0"/>
            </a:br>
            <a:r>
              <a:rPr sz="2800" dirty="0"/>
              <a:t>for file in </a:t>
            </a:r>
            <a:r>
              <a:rPr sz="2800" dirty="0" err="1"/>
              <a:t>root.glob</a:t>
            </a:r>
            <a:r>
              <a:rPr sz="2800" dirty="0"/>
              <a:t>("*.txt"):</a:t>
            </a:r>
            <a:br>
              <a:rPr sz="2800" dirty="0"/>
            </a:br>
            <a:r>
              <a:rPr sz="2800" dirty="0"/>
              <a:t>    print(</a:t>
            </a:r>
            <a:r>
              <a:rPr sz="2800" dirty="0" err="1"/>
              <a:t>file.stem</a:t>
            </a:r>
            <a:r>
              <a:rPr sz="2800" dirty="0"/>
              <a:t>)</a:t>
            </a: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import </a:t>
            </a:r>
            <a:r>
              <a:rPr sz="1600" dirty="0" err="1"/>
              <a:t>json</a:t>
            </a:r>
            <a:r>
              <a:rPr sz="1600" dirty="0"/>
              <a:t>, </a:t>
            </a:r>
            <a:r>
              <a:rPr sz="1600" dirty="0" err="1"/>
              <a:t>pathlib</a:t>
            </a:r>
            <a:r>
              <a:rPr sz="1600" dirty="0"/>
              <a:t>, sys</a:t>
            </a:r>
            <a:br>
              <a:rPr sz="1600" dirty="0"/>
            </a:br>
            <a:r>
              <a:rPr sz="1600" dirty="0"/>
              <a:t>FILE = </a:t>
            </a:r>
            <a:r>
              <a:rPr sz="1600" dirty="0" err="1"/>
              <a:t>pathlib.Path</a:t>
            </a:r>
            <a:r>
              <a:rPr sz="1600" dirty="0"/>
              <a:t>("</a:t>
            </a:r>
            <a:r>
              <a:rPr sz="1600" dirty="0" err="1"/>
              <a:t>contacts.json</a:t>
            </a:r>
            <a:r>
              <a:rPr sz="1600" dirty="0"/>
              <a:t>")</a:t>
            </a:r>
            <a:br>
              <a:rPr sz="1600" dirty="0"/>
            </a:br>
            <a:r>
              <a:rPr sz="1600" dirty="0"/>
              <a:t>def load(): return </a:t>
            </a:r>
            <a:r>
              <a:rPr sz="1600" dirty="0" err="1"/>
              <a:t>json.loads</a:t>
            </a:r>
            <a:r>
              <a:rPr sz="1600" dirty="0"/>
              <a:t>(</a:t>
            </a:r>
            <a:r>
              <a:rPr sz="1600" dirty="0" err="1"/>
              <a:t>FILE.read_text</a:t>
            </a:r>
            <a:r>
              <a:rPr sz="1600" dirty="0"/>
              <a:t>()) if </a:t>
            </a:r>
            <a:r>
              <a:rPr sz="1600" dirty="0" err="1"/>
              <a:t>FILE.exists</a:t>
            </a:r>
            <a:r>
              <a:rPr sz="1600" dirty="0"/>
              <a:t>() else {}</a:t>
            </a:r>
            <a:br>
              <a:rPr sz="1600" dirty="0"/>
            </a:br>
            <a:r>
              <a:rPr sz="1600" dirty="0"/>
              <a:t>def save(data): </a:t>
            </a:r>
            <a:r>
              <a:rPr sz="1600" dirty="0" err="1"/>
              <a:t>FILE.write_text</a:t>
            </a:r>
            <a:r>
              <a:rPr sz="1600" dirty="0"/>
              <a:t>(</a:t>
            </a:r>
            <a:r>
              <a:rPr sz="1600" dirty="0" err="1"/>
              <a:t>json.dumps</a:t>
            </a:r>
            <a:r>
              <a:rPr sz="1600" dirty="0"/>
              <a:t>(data, indent=2))</a:t>
            </a:r>
            <a:br>
              <a:rPr sz="1600" dirty="0"/>
            </a:br>
            <a:r>
              <a:rPr sz="1600" dirty="0"/>
              <a:t>def add(name, phone):</a:t>
            </a:r>
            <a:br>
              <a:rPr sz="1600" dirty="0"/>
            </a:br>
            <a:r>
              <a:rPr sz="1600" dirty="0"/>
              <a:t>    book = load(); book[name] = phone; save(book); print(</a:t>
            </a:r>
            <a:r>
              <a:rPr sz="1600" dirty="0" err="1"/>
              <a:t>f"Added</a:t>
            </a:r>
            <a:r>
              <a:rPr sz="1600" dirty="0"/>
              <a:t> {name}")</a:t>
            </a:r>
            <a:br>
              <a:rPr sz="1600" dirty="0"/>
            </a:br>
            <a:r>
              <a:rPr sz="1600" dirty="0"/>
              <a:t>if </a:t>
            </a:r>
            <a:r>
              <a:rPr sz="1600" dirty="0" err="1"/>
              <a:t>sys.argv</a:t>
            </a:r>
            <a:r>
              <a:rPr sz="1600" dirty="0"/>
              <a:t>[1:2] == ["add"]: add(</a:t>
            </a:r>
            <a:r>
              <a:rPr sz="1600" dirty="0" err="1"/>
              <a:t>sys.argv</a:t>
            </a:r>
            <a:r>
              <a:rPr sz="1600" dirty="0"/>
              <a:t>[2], </a:t>
            </a:r>
            <a:r>
              <a:rPr sz="1600" dirty="0" err="1"/>
              <a:t>sys.argv</a:t>
            </a:r>
            <a:r>
              <a:rPr sz="1600" dirty="0"/>
              <a:t>[3])</a:t>
            </a: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3 — Advanced</a:t>
            </a:r>
          </a:p>
        </p:txBody>
      </p:sp>
      <p:sp>
        <p:nvSpPr>
          <p:cNvPr id="3" name="Content Placeholder 2"/>
          <p:cNvSpPr>
            <a:spLocks noGrp="1"/>
          </p:cNvSpPr>
          <p:nvPr>
            <p:ph idx="1"/>
          </p:nvPr>
        </p:nvSpPr>
        <p:spPr/>
        <p:txBody>
          <a:bodyPr/>
          <a:lstStyle/>
          <a:p>
            <a:r>
              <a:t>Write efficient, scalable Python</a:t>
            </a:r>
          </a:p>
          <a:p>
            <a:r>
              <a:t>Understand concurrency options</a:t>
            </a:r>
          </a:p>
          <a:p>
            <a:r>
              <a:t>Use modern tooling</a:t>
            </a: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a:t>
            </a:r>
          </a:p>
        </p:txBody>
      </p:sp>
      <p:sp>
        <p:nvSpPr>
          <p:cNvPr id="3" name="Content Placeholder 2"/>
          <p:cNvSpPr>
            <a:spLocks noGrp="1"/>
          </p:cNvSpPr>
          <p:nvPr>
            <p:ph idx="1"/>
          </p:nvPr>
        </p:nvSpPr>
        <p:spPr/>
        <p:txBody>
          <a:bodyPr/>
          <a:lstStyle/>
          <a:p>
            <a:r>
              <a:t>Functions that wrap other functions</a:t>
            </a:r>
          </a:p>
          <a:p>
            <a:r>
              <a:t>Add behavior without modifying code</a:t>
            </a:r>
          </a:p>
          <a:p>
            <a:r>
              <a:t>Common uses: logging, timing, caching</a:t>
            </a: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def debug(</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print(</a:t>
            </a:r>
            <a:r>
              <a:rPr sz="1800" dirty="0" err="1"/>
              <a:t>f"Calling</a:t>
            </a:r>
            <a:r>
              <a:rPr sz="1800" dirty="0"/>
              <a:t> {</a:t>
            </a:r>
            <a:r>
              <a:rPr sz="1800" dirty="0" err="1"/>
              <a:t>func</a:t>
            </a:r>
            <a:r>
              <a:rPr sz="1800" dirty="0"/>
              <a:t>.__name__}{</a:t>
            </a:r>
            <a:r>
              <a:rPr sz="1800" dirty="0" err="1"/>
              <a:t>args</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returned {value}")</a:t>
            </a:r>
            <a:br>
              <a:rPr sz="1800" dirty="0"/>
            </a:br>
            <a:r>
              <a:rPr sz="1800" dirty="0"/>
              <a:t>        return value</a:t>
            </a:r>
            <a:br>
              <a:rPr sz="1800" dirty="0"/>
            </a:br>
            <a:r>
              <a:rPr sz="1800" dirty="0"/>
              <a:t>    return wrapper</a:t>
            </a:r>
            <a:br>
              <a:rPr sz="1800" dirty="0"/>
            </a:br>
            <a:br>
              <a:rPr sz="1800" dirty="0"/>
            </a:br>
            <a:r>
              <a:rPr sz="1800" dirty="0"/>
              <a:t>@debug</a:t>
            </a:r>
            <a:br>
              <a:rPr sz="1800" dirty="0"/>
            </a:br>
            <a:r>
              <a:rPr sz="1800" dirty="0"/>
              <a:t>def </a:t>
            </a:r>
            <a:r>
              <a:rPr sz="1800" dirty="0" err="1"/>
              <a:t>gcd</a:t>
            </a:r>
            <a:r>
              <a:rPr sz="1800" dirty="0"/>
              <a:t>(a, b):</a:t>
            </a:r>
            <a:br>
              <a:rPr sz="1800" dirty="0"/>
            </a:br>
            <a:r>
              <a:rPr sz="1800" dirty="0"/>
              <a:t>    while b: a, b = b, a % b</a:t>
            </a:r>
            <a:br>
              <a:rPr sz="1800" dirty="0"/>
            </a:br>
            <a:r>
              <a:rPr sz="1800" dirty="0"/>
              <a:t>    return a</a:t>
            </a:r>
            <a:br>
              <a:rPr sz="1800" dirty="0"/>
            </a:br>
            <a:br>
              <a:rPr sz="1800" dirty="0"/>
            </a:br>
            <a:r>
              <a:rPr sz="1800" dirty="0" err="1"/>
              <a:t>gcd</a:t>
            </a:r>
            <a:r>
              <a:rPr sz="1800" dirty="0"/>
              <a:t>(42, 56)</a:t>
            </a: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a:xfrm>
            <a:off x="457200" y="1600200"/>
            <a:ext cx="9372600" cy="4525963"/>
          </a:xfrm>
        </p:spPr>
        <p:txBody>
          <a:bodyPr>
            <a:normAutofit/>
          </a:bodyPr>
          <a:lstStyle/>
          <a:p>
            <a:pPr marL="0" indent="0" algn="l">
              <a:buNone/>
              <a:defRPr sz="1500">
                <a:latin typeface="Courier New"/>
              </a:defRPr>
            </a:pPr>
            <a:r>
              <a:rPr sz="1800" dirty="0"/>
              <a:t>def repeat(times):</a:t>
            </a:r>
            <a:br>
              <a:rPr sz="1800" dirty="0"/>
            </a:br>
            <a:r>
              <a:rPr sz="1800" dirty="0"/>
              <a:t>    def decorator(</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for _ in range(times): value = </a:t>
            </a:r>
            <a:r>
              <a:rPr sz="1800" dirty="0" err="1"/>
              <a:t>func</a:t>
            </a:r>
            <a:r>
              <a:rPr sz="1800" dirty="0"/>
              <a:t>(*</a:t>
            </a:r>
            <a:r>
              <a:rPr sz="1800" dirty="0" err="1"/>
              <a:t>args</a:t>
            </a:r>
            <a:r>
              <a:rPr sz="1800" dirty="0"/>
              <a:t>, **</a:t>
            </a:r>
            <a:r>
              <a:rPr sz="1800" dirty="0" err="1"/>
              <a:t>kwargs</a:t>
            </a:r>
            <a:r>
              <a:rPr sz="1800" dirty="0"/>
              <a:t>)</a:t>
            </a:r>
            <a:br>
              <a:rPr sz="1800" dirty="0"/>
            </a:br>
            <a:r>
              <a:rPr sz="1800" dirty="0"/>
              <a:t>            return value</a:t>
            </a:r>
            <a:br>
              <a:rPr sz="1800" dirty="0"/>
            </a:br>
            <a:r>
              <a:rPr sz="1800" dirty="0"/>
              <a:t>        return wrapper</a:t>
            </a:r>
            <a:br>
              <a:rPr sz="1800" dirty="0"/>
            </a:br>
            <a:r>
              <a:rPr sz="1800" dirty="0"/>
              <a:t>    return decorator</a:t>
            </a:r>
            <a:br>
              <a:rPr sz="1800" dirty="0"/>
            </a:br>
            <a:br>
              <a:rPr sz="1800" dirty="0"/>
            </a:br>
            <a:r>
              <a:rPr sz="1800" dirty="0"/>
              <a:t>@repeat(3)</a:t>
            </a:r>
            <a:br>
              <a:rPr sz="1800" dirty="0"/>
            </a:br>
            <a:r>
              <a:rPr sz="1800" dirty="0"/>
              <a:t>def greet(): print("Hi!")</a:t>
            </a:r>
            <a:br>
              <a:rPr sz="1800" dirty="0"/>
            </a:br>
            <a:r>
              <a:rPr sz="1800" dirty="0"/>
              <a:t>greet()</a:t>
            </a: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a:xfrm>
            <a:off x="457200" y="1600200"/>
            <a:ext cx="9359900" cy="4525963"/>
          </a:xfrm>
        </p:spPr>
        <p:txBody>
          <a:bodyPr>
            <a:normAutofit/>
          </a:bodyPr>
          <a:lstStyle/>
          <a:p>
            <a:pPr marL="0" indent="0" algn="l">
              <a:buNone/>
              <a:defRPr sz="1500">
                <a:latin typeface="Courier New"/>
              </a:defRPr>
            </a:pPr>
            <a:r>
              <a:rPr sz="1800" dirty="0"/>
              <a:t>import time, </a:t>
            </a:r>
            <a:r>
              <a:rPr sz="1800" dirty="0" err="1"/>
              <a:t>functools</a:t>
            </a:r>
            <a:br>
              <a:rPr sz="1800" dirty="0"/>
            </a:br>
            <a:br>
              <a:rPr sz="1800" dirty="0"/>
            </a:br>
            <a:r>
              <a:rPr sz="1800" dirty="0"/>
              <a:t>def timed(</a:t>
            </a:r>
            <a:r>
              <a:rPr sz="1800" dirty="0" err="1"/>
              <a:t>func</a:t>
            </a:r>
            <a:r>
              <a:rPr sz="1800" dirty="0"/>
              <a:t>):</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t0 = </a:t>
            </a:r>
            <a:r>
              <a:rPr sz="1800" dirty="0" err="1"/>
              <a:t>time.perf_counter</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took {(</a:t>
            </a:r>
            <a:r>
              <a:rPr sz="1800" dirty="0" err="1"/>
              <a:t>time.perf_counter</a:t>
            </a:r>
            <a:r>
              <a:rPr sz="1800" dirty="0"/>
              <a:t>()-t0)*1000:.2f} </a:t>
            </a:r>
            <a:r>
              <a:rPr sz="1800" dirty="0" err="1"/>
              <a:t>ms</a:t>
            </a:r>
            <a:r>
              <a:rPr sz="1800" dirty="0"/>
              <a:t>")</a:t>
            </a:r>
            <a:br>
              <a:rPr sz="1800" dirty="0"/>
            </a:br>
            <a:r>
              <a:rPr sz="1800" dirty="0"/>
              <a:t>        return value</a:t>
            </a:r>
            <a:br>
              <a:rPr sz="1800" dirty="0"/>
            </a:br>
            <a:r>
              <a:rPr sz="1800" dirty="0"/>
              <a:t>    return wrapper</a:t>
            </a:r>
            <a:br>
              <a:rPr sz="1800" dirty="0"/>
            </a:br>
            <a:br>
              <a:rPr sz="1800" dirty="0"/>
            </a:br>
            <a:r>
              <a:rPr sz="1800" dirty="0"/>
              <a:t>@functools.lru_cache(maxsize=None)</a:t>
            </a:r>
            <a:br>
              <a:rPr sz="1800" dirty="0"/>
            </a:br>
            <a:r>
              <a:rPr sz="1800" dirty="0"/>
              <a:t>def fib(n): return n if n &lt; 2 else fib(n-1) + fib(n-2)</a:t>
            </a:r>
            <a:br>
              <a:rPr sz="1800" dirty="0"/>
            </a:br>
            <a:br>
              <a:rPr sz="1800" dirty="0"/>
            </a:br>
            <a:r>
              <a:rPr sz="1800" dirty="0"/>
              <a:t>timed(fib)(35)</a:t>
            </a: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a:t>
            </a:r>
          </a:p>
        </p:txBody>
      </p:sp>
      <p:sp>
        <p:nvSpPr>
          <p:cNvPr id="3" name="Content Placeholder 2"/>
          <p:cNvSpPr>
            <a:spLocks noGrp="1"/>
          </p:cNvSpPr>
          <p:nvPr>
            <p:ph idx="1"/>
          </p:nvPr>
        </p:nvSpPr>
        <p:spPr/>
        <p:txBody>
          <a:bodyPr/>
          <a:lstStyle/>
          <a:p>
            <a:r>
              <a:t>Produce values lazily using yield</a:t>
            </a:r>
          </a:p>
          <a:p>
            <a:r>
              <a:t>Memory efficient for large data</a:t>
            </a:r>
          </a:p>
          <a:p>
            <a:r>
              <a:t>Enable streaming-style processing</a:t>
            </a: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evens(limit):</a:t>
            </a:r>
            <a:br>
              <a:rPr sz="2000" dirty="0"/>
            </a:br>
            <a:r>
              <a:rPr sz="2000" dirty="0"/>
              <a:t>    value = 0</a:t>
            </a:r>
            <a:br>
              <a:rPr sz="2000" dirty="0"/>
            </a:br>
            <a:r>
              <a:rPr sz="2000" dirty="0"/>
              <a:t>    while value &lt;= limit:</a:t>
            </a:r>
            <a:br>
              <a:rPr sz="2000" dirty="0"/>
            </a:br>
            <a:r>
              <a:rPr sz="2000" dirty="0"/>
              <a:t>        yield value; value += 2</a:t>
            </a:r>
            <a:br>
              <a:rPr sz="2000" dirty="0"/>
            </a:br>
            <a:br>
              <a:rPr sz="2000" dirty="0"/>
            </a:br>
            <a:r>
              <a:rPr sz="2000" dirty="0"/>
              <a:t>for n in evens(10): print(n, end=" ")   # 0 2 4 6 8 10</a:t>
            </a:r>
            <a:br>
              <a:rPr sz="2000" dirty="0"/>
            </a:br>
            <a:br>
              <a:rPr sz="2000" dirty="0"/>
            </a:br>
            <a:r>
              <a:rPr sz="2000" dirty="0"/>
              <a:t>squares = (x*x for x in range(10**6))   # ~200 B</a:t>
            </a:r>
            <a:br>
              <a:rPr sz="2000" dirty="0"/>
            </a:br>
            <a:r>
              <a:rPr sz="2000" dirty="0"/>
              <a:t>import sys, </a:t>
            </a:r>
            <a:r>
              <a:rPr sz="2000" dirty="0" err="1"/>
              <a:t>os</a:t>
            </a:r>
            <a:br>
              <a:rPr sz="2000" dirty="0"/>
            </a:br>
            <a:r>
              <a:rPr sz="2000" dirty="0"/>
              <a:t>print(</a:t>
            </a:r>
            <a:r>
              <a:rPr sz="2000" dirty="0" err="1"/>
              <a:t>sys.getsizeof</a:t>
            </a:r>
            <a:r>
              <a:rPr sz="2000" dirty="0"/>
              <a:t>(squares), "bytes")</a:t>
            </a: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a:xfrm>
            <a:off x="457200" y="1600200"/>
            <a:ext cx="9055100" cy="4525963"/>
          </a:xfrm>
        </p:spPr>
        <p:txBody>
          <a:bodyPr>
            <a:normAutofit/>
          </a:bodyPr>
          <a:lstStyle/>
          <a:p>
            <a:pPr marL="0" indent="0" algn="l">
              <a:buNone/>
              <a:defRPr sz="1500">
                <a:latin typeface="Courier New"/>
              </a:defRPr>
            </a:pPr>
            <a:r>
              <a:rPr sz="2000" dirty="0"/>
              <a:t>def </a:t>
            </a:r>
            <a:r>
              <a:rPr sz="2000" dirty="0" err="1"/>
              <a:t>parse_access_log</a:t>
            </a:r>
            <a:r>
              <a:rPr sz="2000" dirty="0"/>
              <a:t>(path):</a:t>
            </a:r>
            <a:br>
              <a:rPr sz="2000" dirty="0"/>
            </a:br>
            <a:r>
              <a:rPr sz="2000" dirty="0"/>
              <a:t>    with open(path) as f:</a:t>
            </a:r>
            <a:br>
              <a:rPr sz="2000" dirty="0"/>
            </a:br>
            <a:r>
              <a:rPr sz="2000" dirty="0"/>
              <a:t>        for line in f:</a:t>
            </a:r>
            <a:br>
              <a:rPr sz="2000" dirty="0"/>
            </a:br>
            <a:r>
              <a:rPr sz="2000" dirty="0"/>
              <a:t>            </a:t>
            </a:r>
            <a:r>
              <a:rPr sz="2000" dirty="0" err="1"/>
              <a:t>ip</a:t>
            </a:r>
            <a:r>
              <a:rPr sz="2000" dirty="0"/>
              <a:t>, _, _, dt, meth, </a:t>
            </a:r>
            <a:r>
              <a:rPr sz="2000" dirty="0" err="1"/>
              <a:t>url</a:t>
            </a:r>
            <a:r>
              <a:rPr sz="2000" dirty="0"/>
              <a:t>, </a:t>
            </a:r>
            <a:r>
              <a:rPr sz="2000" dirty="0" err="1"/>
              <a:t>st</a:t>
            </a:r>
            <a:r>
              <a:rPr sz="2000" dirty="0"/>
              <a:t>, </a:t>
            </a:r>
            <a:r>
              <a:rPr sz="2000" dirty="0" err="1"/>
              <a:t>sz</a:t>
            </a:r>
            <a:r>
              <a:rPr sz="2000" dirty="0"/>
              <a:t> = </a:t>
            </a:r>
            <a:r>
              <a:rPr sz="2000" dirty="0" err="1"/>
              <a:t>line.split</a:t>
            </a:r>
            <a:r>
              <a:rPr sz="2000" dirty="0"/>
              <a:t>()[:8]</a:t>
            </a:r>
            <a:br>
              <a:rPr sz="2000" dirty="0"/>
            </a:br>
            <a:r>
              <a:rPr sz="2000" dirty="0"/>
              <a:t>            yield {"</a:t>
            </a:r>
            <a:r>
              <a:rPr sz="2000" dirty="0" err="1"/>
              <a:t>ip</a:t>
            </a:r>
            <a:r>
              <a:rPr sz="2000" dirty="0"/>
              <a:t>": </a:t>
            </a:r>
            <a:r>
              <a:rPr sz="2000" dirty="0" err="1"/>
              <a:t>ip</a:t>
            </a:r>
            <a:r>
              <a:rPr sz="2000" dirty="0"/>
              <a:t>, "datetime": dt[1:],</a:t>
            </a:r>
            <a:br>
              <a:rPr sz="2000" dirty="0"/>
            </a:br>
            <a:r>
              <a:rPr sz="2000" dirty="0"/>
              <a:t>                   "method": meth[1:-1], "</a:t>
            </a:r>
            <a:r>
              <a:rPr sz="2000" dirty="0" err="1"/>
              <a:t>url</a:t>
            </a:r>
            <a:r>
              <a:rPr sz="2000" dirty="0"/>
              <a:t>": </a:t>
            </a:r>
            <a:r>
              <a:rPr sz="2000" dirty="0" err="1"/>
              <a:t>url</a:t>
            </a:r>
            <a:r>
              <a:rPr sz="2000" dirty="0"/>
              <a:t>,</a:t>
            </a:r>
            <a:br>
              <a:rPr sz="2000" dirty="0"/>
            </a:br>
            <a:r>
              <a:rPr sz="2000" dirty="0"/>
              <a:t>                   "status": int(</a:t>
            </a:r>
            <a:r>
              <a:rPr sz="2000" dirty="0" err="1"/>
              <a:t>st</a:t>
            </a:r>
            <a:r>
              <a:rPr sz="2000" dirty="0"/>
              <a:t>), "size": int(</a:t>
            </a:r>
            <a:r>
              <a:rPr sz="2000" dirty="0" err="1"/>
              <a:t>sz</a:t>
            </a:r>
            <a:r>
              <a:rPr sz="2000" dirty="0"/>
              <a:t>)}</a:t>
            </a:r>
            <a:br>
              <a:rPr sz="2000" dirty="0"/>
            </a:br>
            <a:br>
              <a:rPr sz="2000" dirty="0"/>
            </a:br>
            <a:r>
              <a:rPr sz="2000" dirty="0"/>
              <a:t>for entry in </a:t>
            </a:r>
            <a:r>
              <a:rPr sz="2000" dirty="0" err="1"/>
              <a:t>parse_access_log</a:t>
            </a:r>
            <a:r>
              <a:rPr sz="2000" dirty="0"/>
              <a:t>("access.log"):</a:t>
            </a:r>
            <a:br>
              <a:rPr sz="2000" dirty="0"/>
            </a:br>
            <a:r>
              <a:rPr sz="2000" dirty="0"/>
              <a:t>    if entry["status"] == 404:</a:t>
            </a:r>
            <a:br>
              <a:rPr sz="2000" dirty="0"/>
            </a:br>
            <a:r>
              <a:rPr sz="2000" dirty="0"/>
              <a:t>        print(entry["</a:t>
            </a:r>
            <a:r>
              <a:rPr sz="2000" dirty="0" err="1"/>
              <a:t>url</a:t>
            </a:r>
            <a:r>
              <a:rPr sz="2000" dirty="0"/>
              <a:t>"])</a:t>
            </a: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Landscape</a:t>
            </a:r>
          </a:p>
        </p:txBody>
      </p:sp>
      <p:sp>
        <p:nvSpPr>
          <p:cNvPr id="3" name="Content Placeholder 2"/>
          <p:cNvSpPr>
            <a:spLocks noGrp="1"/>
          </p:cNvSpPr>
          <p:nvPr>
            <p:ph idx="1"/>
          </p:nvPr>
        </p:nvSpPr>
        <p:spPr/>
        <p:txBody>
          <a:bodyPr/>
          <a:lstStyle/>
          <a:p>
            <a:r>
              <a:t>threading: I/O-bound tasks</a:t>
            </a:r>
          </a:p>
          <a:p>
            <a:r>
              <a:t>multiprocessing: CPU-bound tasks</a:t>
            </a:r>
          </a:p>
          <a:p>
            <a:r>
              <a:t>asyncio: async I/O without threads</a:t>
            </a: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a:xfrm>
            <a:off x="457200" y="1600200"/>
            <a:ext cx="10337800" cy="4525963"/>
          </a:xfrm>
        </p:spPr>
        <p:txBody>
          <a:bodyPr>
            <a:normAutofit/>
          </a:bodyPr>
          <a:lstStyle/>
          <a:p>
            <a:pPr marL="0" indent="0" algn="l">
              <a:buNone/>
              <a:defRPr sz="1500">
                <a:latin typeface="Courier New"/>
              </a:defRPr>
            </a:pPr>
            <a:r>
              <a:rPr sz="2400" dirty="0"/>
              <a:t>import multiprocessing as </a:t>
            </a:r>
            <a:r>
              <a:rPr sz="2400" dirty="0" err="1"/>
              <a:t>mp</a:t>
            </a:r>
            <a:r>
              <a:rPr sz="2400" dirty="0"/>
              <a:t>, random</a:t>
            </a:r>
            <a:br>
              <a:rPr sz="2400" dirty="0"/>
            </a:br>
            <a:r>
              <a:rPr sz="2400" dirty="0"/>
              <a:t>def </a:t>
            </a:r>
            <a:r>
              <a:rPr sz="2400" dirty="0" err="1"/>
              <a:t>sample_pi</a:t>
            </a:r>
            <a:r>
              <a:rPr sz="2400" dirty="0"/>
              <a:t>(n):</a:t>
            </a:r>
            <a:br>
              <a:rPr sz="2400" dirty="0"/>
            </a:br>
            <a:r>
              <a:rPr sz="2400" dirty="0"/>
              <a:t>    inside = 0</a:t>
            </a:r>
            <a:br>
              <a:rPr sz="2400" dirty="0"/>
            </a:br>
            <a:r>
              <a:rPr sz="2400" dirty="0"/>
              <a:t>    for _ in range(n):</a:t>
            </a:r>
            <a:br>
              <a:rPr sz="2400" dirty="0"/>
            </a:br>
            <a:r>
              <a:rPr sz="2400" dirty="0"/>
              <a:t>        x, y = </a:t>
            </a:r>
            <a:r>
              <a:rPr sz="2400" dirty="0" err="1"/>
              <a:t>random.random</a:t>
            </a:r>
            <a:r>
              <a:rPr sz="2400" dirty="0"/>
              <a:t>(), </a:t>
            </a:r>
            <a:r>
              <a:rPr sz="2400" dirty="0" err="1"/>
              <a:t>random.random</a:t>
            </a:r>
            <a:r>
              <a:rPr sz="2400" dirty="0"/>
              <a:t>()</a:t>
            </a:r>
            <a:br>
              <a:rPr sz="2400" dirty="0"/>
            </a:br>
            <a:r>
              <a:rPr sz="2400" dirty="0"/>
              <a:t>        if x*x + y*y &lt;= 1: inside += 1</a:t>
            </a:r>
            <a:br>
              <a:rPr sz="2400" dirty="0"/>
            </a:br>
            <a:r>
              <a:rPr sz="2400" dirty="0"/>
              <a:t>    return inside</a:t>
            </a:r>
            <a:br>
              <a:rPr sz="2400" dirty="0"/>
            </a:br>
            <a:r>
              <a:rPr sz="2400" dirty="0"/>
              <a:t>cores = </a:t>
            </a:r>
            <a:r>
              <a:rPr sz="2400" dirty="0" err="1"/>
              <a:t>mp.cpu_count</a:t>
            </a:r>
            <a:r>
              <a:rPr sz="2400" dirty="0"/>
              <a:t>()</a:t>
            </a:r>
            <a:br>
              <a:rPr sz="2400" dirty="0"/>
            </a:br>
            <a:r>
              <a:rPr sz="2400" dirty="0"/>
              <a:t>total = 1_000_000</a:t>
            </a:r>
            <a:br>
              <a:rPr sz="2400" dirty="0"/>
            </a:br>
            <a:r>
              <a:rPr sz="2400" dirty="0"/>
              <a:t>counts = </a:t>
            </a:r>
            <a:r>
              <a:rPr sz="2400" dirty="0" err="1"/>
              <a:t>mp.Pool</a:t>
            </a:r>
            <a:r>
              <a:rPr sz="2400" dirty="0"/>
              <a:t>(cores).map(</a:t>
            </a:r>
            <a:r>
              <a:rPr sz="2400" dirty="0" err="1"/>
              <a:t>sample_pi</a:t>
            </a:r>
            <a:r>
              <a:rPr sz="2400" dirty="0"/>
              <a:t>, [total//cores]*cores)</a:t>
            </a:r>
            <a:br>
              <a:rPr sz="2400" dirty="0"/>
            </a:br>
            <a:r>
              <a:rPr sz="2400" dirty="0"/>
              <a:t>print("π ≈", 4 * sum(counts) / total)</a:t>
            </a:r>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asyncio Mental Model</a:t>
            </a:r>
          </a:p>
        </p:txBody>
      </p:sp>
      <p:sp>
        <p:nvSpPr>
          <p:cNvPr id="3" name="Content Placeholder 2"/>
          <p:cNvSpPr>
            <a:spLocks noGrp="1"/>
          </p:cNvSpPr>
          <p:nvPr>
            <p:ph idx="1"/>
          </p:nvPr>
        </p:nvSpPr>
        <p:spPr/>
        <p:txBody>
          <a:bodyPr/>
          <a:lstStyle/>
          <a:p>
            <a:r>
              <a:t>Single-threaded, cooperative multitasking</a:t>
            </a:r>
          </a:p>
          <a:p>
            <a:r>
              <a:t>await pauses execution</a:t>
            </a:r>
          </a:p>
          <a:p>
            <a:r>
              <a:t>Ideal for network-heavy workloads</a:t>
            </a: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a:xfrm>
            <a:off x="457200" y="1600200"/>
            <a:ext cx="11341100" cy="4525963"/>
          </a:xfrm>
        </p:spPr>
        <p:txBody>
          <a:bodyPr>
            <a:normAutofit/>
          </a:bodyPr>
          <a:lstStyle/>
          <a:p>
            <a:pPr marL="0" indent="0" algn="l">
              <a:buNone/>
              <a:defRPr sz="1500">
                <a:latin typeface="Courier New"/>
              </a:defRPr>
            </a:pPr>
            <a:r>
              <a:rPr sz="2400" dirty="0"/>
              <a:t>import </a:t>
            </a:r>
            <a:r>
              <a:rPr sz="2400" dirty="0" err="1"/>
              <a:t>aiohttp</a:t>
            </a:r>
            <a:r>
              <a:rPr sz="2400" dirty="0"/>
              <a:t>, </a:t>
            </a:r>
            <a:r>
              <a:rPr sz="2400" dirty="0" err="1"/>
              <a:t>asyncio</a:t>
            </a:r>
            <a:r>
              <a:rPr sz="2400" dirty="0"/>
              <a:t>, time</a:t>
            </a:r>
            <a:br>
              <a:rPr sz="2400" dirty="0"/>
            </a:br>
            <a:r>
              <a:rPr sz="2400" dirty="0"/>
              <a:t>async def fetch(s, </a:t>
            </a:r>
            <a:r>
              <a:rPr sz="2400" dirty="0" err="1"/>
              <a:t>url</a:t>
            </a:r>
            <a:r>
              <a:rPr sz="2400" dirty="0"/>
              <a:t>):</a:t>
            </a:r>
            <a:br>
              <a:rPr sz="2400" dirty="0"/>
            </a:br>
            <a:r>
              <a:rPr sz="2400" dirty="0"/>
              <a:t>    async with </a:t>
            </a:r>
            <a:r>
              <a:rPr sz="2400" dirty="0" err="1"/>
              <a:t>s.get</a:t>
            </a:r>
            <a:r>
              <a:rPr sz="2400" dirty="0"/>
              <a:t>(</a:t>
            </a:r>
            <a:r>
              <a:rPr sz="2400" dirty="0" err="1"/>
              <a:t>url</a:t>
            </a:r>
            <a:r>
              <a:rPr sz="2400" dirty="0"/>
              <a:t>) as r: return await </a:t>
            </a:r>
            <a:r>
              <a:rPr sz="2400" dirty="0" err="1"/>
              <a:t>r.text</a:t>
            </a:r>
            <a:r>
              <a:rPr sz="2400" dirty="0"/>
              <a:t>()</a:t>
            </a:r>
            <a:br>
              <a:rPr sz="2400" dirty="0"/>
            </a:br>
            <a:r>
              <a:rPr sz="2400" dirty="0"/>
              <a:t>async def </a:t>
            </a:r>
            <a:r>
              <a:rPr sz="2400" dirty="0" err="1"/>
              <a:t>fetch_all</a:t>
            </a:r>
            <a:r>
              <a:rPr sz="2400" dirty="0"/>
              <a:t>(</a:t>
            </a:r>
            <a:r>
              <a:rPr sz="2400" dirty="0" err="1"/>
              <a:t>urls</a:t>
            </a:r>
            <a:r>
              <a:rPr sz="2400" dirty="0"/>
              <a:t>):</a:t>
            </a:r>
            <a:br>
              <a:rPr sz="2400" dirty="0"/>
            </a:br>
            <a:r>
              <a:rPr sz="2400" dirty="0"/>
              <a:t>    async with </a:t>
            </a:r>
            <a:r>
              <a:rPr sz="2400" dirty="0" err="1"/>
              <a:t>aiohttp.ClientSession</a:t>
            </a:r>
            <a:r>
              <a:rPr sz="2400" dirty="0"/>
              <a:t>() as s:</a:t>
            </a:r>
            <a:br>
              <a:rPr sz="2400" dirty="0"/>
            </a:br>
            <a:r>
              <a:rPr sz="2400" dirty="0"/>
              <a:t>        return await </a:t>
            </a:r>
            <a:r>
              <a:rPr sz="2400" dirty="0" err="1"/>
              <a:t>asyncio.gather</a:t>
            </a:r>
            <a:r>
              <a:rPr sz="2400" dirty="0"/>
              <a:t>(*[fetch(s, u) for u in </a:t>
            </a:r>
            <a:r>
              <a:rPr sz="2400" dirty="0" err="1"/>
              <a:t>urls</a:t>
            </a:r>
            <a:r>
              <a:rPr sz="2400" dirty="0"/>
              <a:t>])</a:t>
            </a:r>
            <a:br>
              <a:rPr sz="2400" dirty="0"/>
            </a:br>
            <a:r>
              <a:rPr sz="2400" dirty="0" err="1"/>
              <a:t>urls</a:t>
            </a:r>
            <a:r>
              <a:rPr sz="2400" dirty="0"/>
              <a:t> = ["https://httpbin.org/delay/1"] * 50</a:t>
            </a:r>
            <a:br>
              <a:rPr sz="2400" dirty="0"/>
            </a:br>
            <a:r>
              <a:rPr sz="2400" dirty="0"/>
              <a:t>t0 = </a:t>
            </a:r>
            <a:r>
              <a:rPr sz="2400" dirty="0" err="1"/>
              <a:t>time.time</a:t>
            </a:r>
            <a:r>
              <a:rPr sz="2400" dirty="0"/>
              <a:t>()</a:t>
            </a:r>
            <a:br>
              <a:rPr sz="2400" dirty="0"/>
            </a:br>
            <a:r>
              <a:rPr sz="2400" dirty="0"/>
              <a:t>pages = </a:t>
            </a:r>
            <a:r>
              <a:rPr sz="2400" dirty="0" err="1"/>
              <a:t>asyncio.run</a:t>
            </a:r>
            <a:r>
              <a:rPr sz="2400" dirty="0"/>
              <a:t>(</a:t>
            </a:r>
            <a:r>
              <a:rPr sz="2400" dirty="0" err="1"/>
              <a:t>fetch_all</a:t>
            </a:r>
            <a:r>
              <a:rPr sz="2400" dirty="0"/>
              <a:t>(</a:t>
            </a:r>
            <a:r>
              <a:rPr sz="2400" dirty="0" err="1"/>
              <a:t>urls</a:t>
            </a:r>
            <a:r>
              <a:rPr sz="2400" dirty="0"/>
              <a:t>))</a:t>
            </a:r>
            <a:br>
              <a:rPr sz="2400" dirty="0"/>
            </a:br>
            <a:r>
              <a:rPr sz="2400" dirty="0"/>
              <a:t>print("Fetched", </a:t>
            </a:r>
            <a:r>
              <a:rPr sz="2400" dirty="0" err="1"/>
              <a:t>len</a:t>
            </a:r>
            <a:r>
              <a:rPr sz="2400" dirty="0"/>
              <a:t>(pages), "pages in", </a:t>
            </a:r>
            <a:r>
              <a:rPr sz="2400" dirty="0" err="1"/>
              <a:t>time.time</a:t>
            </a:r>
            <a:r>
              <a:rPr sz="2400" dirty="0"/>
              <a:t>()-t0, "s")</a:t>
            </a:r>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a:xfrm>
            <a:off x="457200" y="1600200"/>
            <a:ext cx="10845800" cy="4525963"/>
          </a:xfrm>
        </p:spPr>
        <p:txBody>
          <a:bodyPr>
            <a:normAutofit/>
          </a:bodyPr>
          <a:lstStyle/>
          <a:p>
            <a:pPr marL="0" indent="0" algn="l">
              <a:buNone/>
              <a:defRPr sz="1500">
                <a:latin typeface="Courier New"/>
              </a:defRPr>
            </a:pPr>
            <a:r>
              <a:rPr sz="2000" dirty="0"/>
              <a:t>def </a:t>
            </a:r>
            <a:r>
              <a:rPr sz="2000" dirty="0" err="1"/>
              <a:t>blocking_func</a:t>
            </a:r>
            <a:r>
              <a:rPr sz="2000" dirty="0"/>
              <a:t>():</a:t>
            </a:r>
            <a:br>
              <a:rPr sz="2000" dirty="0"/>
            </a:br>
            <a:r>
              <a:rPr sz="2000" dirty="0"/>
              <a:t>    </a:t>
            </a:r>
            <a:r>
              <a:rPr sz="2000" dirty="0" err="1"/>
              <a:t>time.sleep</a:t>
            </a:r>
            <a:r>
              <a:rPr sz="2000" dirty="0"/>
              <a:t>(1)</a:t>
            </a:r>
            <a:br>
              <a:rPr sz="2000" dirty="0"/>
            </a:br>
            <a:r>
              <a:rPr sz="2000" dirty="0"/>
              <a:t>    return 42</a:t>
            </a:r>
            <a:br>
              <a:rPr sz="2000" dirty="0"/>
            </a:br>
            <a:r>
              <a:rPr sz="2000" dirty="0"/>
              <a:t>async def main():</a:t>
            </a:r>
            <a:br>
              <a:rPr sz="2000" dirty="0"/>
            </a:br>
            <a:r>
              <a:rPr sz="2000" dirty="0"/>
              <a:t>    loop = </a:t>
            </a:r>
            <a:r>
              <a:rPr sz="2000" dirty="0" err="1"/>
              <a:t>asyncio.get_running_loop</a:t>
            </a:r>
            <a:r>
              <a:rPr sz="2000" dirty="0"/>
              <a:t>()</a:t>
            </a:r>
            <a:br>
              <a:rPr sz="2000" dirty="0"/>
            </a:br>
            <a:r>
              <a:rPr sz="2000" dirty="0"/>
              <a:t>    result = await </a:t>
            </a:r>
            <a:r>
              <a:rPr sz="2000" dirty="0" err="1"/>
              <a:t>loop.run_in_executor</a:t>
            </a:r>
            <a:r>
              <a:rPr sz="2000" dirty="0"/>
              <a:t>(None, </a:t>
            </a:r>
            <a:r>
              <a:rPr sz="2000" dirty="0" err="1"/>
              <a:t>blocking_func</a:t>
            </a:r>
            <a:r>
              <a:rPr sz="2000" dirty="0"/>
              <a:t>)</a:t>
            </a:r>
            <a:br>
              <a:rPr sz="2000" dirty="0"/>
            </a:br>
            <a:r>
              <a:rPr sz="2000" dirty="0"/>
              <a:t>    print(result)</a:t>
            </a:r>
            <a:br>
              <a:rPr sz="2000" dirty="0"/>
            </a:br>
            <a:r>
              <a:rPr sz="2000" dirty="0" err="1"/>
              <a:t>asyncio.run</a:t>
            </a:r>
            <a:r>
              <a:rPr sz="2000" dirty="0"/>
              <a:t>(main())</a:t>
            </a: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a:t>
            </a:r>
          </a:p>
        </p:txBody>
      </p:sp>
      <p:sp>
        <p:nvSpPr>
          <p:cNvPr id="3" name="Content Placeholder 2"/>
          <p:cNvSpPr>
            <a:spLocks noGrp="1"/>
          </p:cNvSpPr>
          <p:nvPr>
            <p:ph idx="1"/>
          </p:nvPr>
        </p:nvSpPr>
        <p:spPr/>
        <p:txBody>
          <a:bodyPr/>
          <a:lstStyle/>
          <a:p>
            <a:r>
              <a:t>Isolate project dependencies</a:t>
            </a:r>
          </a:p>
          <a:p>
            <a:r>
              <a:t>Avoid version conflicts</a:t>
            </a:r>
          </a:p>
          <a:p>
            <a:r>
              <a:t>Essential for professional work</a:t>
            </a: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a:xfrm>
            <a:off x="457200" y="1600200"/>
            <a:ext cx="10541000" cy="4525963"/>
          </a:xfrm>
        </p:spPr>
        <p:txBody>
          <a:bodyPr>
            <a:normAutofit/>
          </a:bodyPr>
          <a:lstStyle/>
          <a:p>
            <a:pPr marL="0" indent="0" algn="l">
              <a:buNone/>
              <a:defRPr sz="1500">
                <a:latin typeface="Courier New"/>
              </a:defRPr>
            </a:pPr>
            <a:r>
              <a:rPr sz="2000" dirty="0"/>
              <a:t>python -m </a:t>
            </a:r>
            <a:r>
              <a:rPr sz="2000" dirty="0" err="1"/>
              <a:t>venv</a:t>
            </a:r>
            <a:r>
              <a:rPr sz="2000" dirty="0"/>
              <a:t> .</a:t>
            </a:r>
            <a:r>
              <a:rPr sz="2000" dirty="0" err="1"/>
              <a:t>venv</a:t>
            </a:r>
            <a:br>
              <a:rPr sz="2000" dirty="0"/>
            </a:br>
            <a:r>
              <a:rPr sz="2000" dirty="0"/>
              <a:t>source .</a:t>
            </a:r>
            <a:r>
              <a:rPr sz="2000" dirty="0" err="1"/>
              <a:t>venv</a:t>
            </a:r>
            <a:r>
              <a:rPr sz="2000" dirty="0"/>
              <a:t>/bin/activate        # Windows: .</a:t>
            </a:r>
            <a:r>
              <a:rPr sz="2000" dirty="0" err="1"/>
              <a:t>venv</a:t>
            </a:r>
            <a:r>
              <a:rPr sz="2000" dirty="0"/>
              <a:t>\Scripts\activate</a:t>
            </a:r>
            <a:br>
              <a:rPr sz="2000" dirty="0"/>
            </a:br>
            <a:r>
              <a:rPr sz="2000" dirty="0"/>
              <a:t>python -m pip install -U pip </a:t>
            </a:r>
            <a:r>
              <a:rPr sz="2000" dirty="0" err="1"/>
              <a:t>setuptools</a:t>
            </a:r>
            <a:r>
              <a:rPr sz="2000" dirty="0"/>
              <a:t> wheel</a:t>
            </a:r>
            <a:br>
              <a:rPr sz="2000" dirty="0"/>
            </a:br>
            <a:r>
              <a:rPr sz="2000" dirty="0"/>
              <a:t>pip install -e .                 # looks for </a:t>
            </a:r>
            <a:r>
              <a:rPr sz="2000" dirty="0" err="1"/>
              <a:t>pyproject.toml</a:t>
            </a:r>
            <a:endParaRPr sz="20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[build-system]</a:t>
            </a:r>
            <a:br>
              <a:rPr sz="2400" dirty="0"/>
            </a:br>
            <a:r>
              <a:rPr sz="2400" dirty="0"/>
              <a:t>requires = ["</a:t>
            </a:r>
            <a:r>
              <a:rPr sz="2400" dirty="0" err="1"/>
              <a:t>setuptools</a:t>
            </a:r>
            <a:r>
              <a:rPr sz="2400" dirty="0"/>
              <a:t>&gt;=64", "wheel"]</a:t>
            </a:r>
            <a:br>
              <a:rPr sz="2400" dirty="0"/>
            </a:br>
            <a:r>
              <a:rPr sz="2400" dirty="0"/>
              <a:t>build-backend = "</a:t>
            </a:r>
            <a:r>
              <a:rPr sz="2400" dirty="0" err="1"/>
              <a:t>setuptools.build_meta</a:t>
            </a:r>
            <a:r>
              <a:rPr sz="2400" dirty="0"/>
              <a:t>"</a:t>
            </a:r>
            <a:br>
              <a:rPr sz="2400" dirty="0"/>
            </a:br>
            <a:br>
              <a:rPr sz="2400" dirty="0"/>
            </a:br>
            <a:r>
              <a:rPr sz="2400" dirty="0"/>
              <a:t>[project]</a:t>
            </a:r>
            <a:br>
              <a:rPr sz="2400" dirty="0"/>
            </a:br>
            <a:r>
              <a:rPr sz="2400" dirty="0"/>
              <a:t>name = "</a:t>
            </a:r>
            <a:r>
              <a:rPr sz="2400" dirty="0" err="1"/>
              <a:t>myutils</a:t>
            </a:r>
            <a:r>
              <a:rPr sz="2400" dirty="0"/>
              <a:t>"</a:t>
            </a:r>
            <a:br>
              <a:rPr sz="2400" dirty="0"/>
            </a:br>
            <a:r>
              <a:rPr sz="2400" dirty="0"/>
              <a:t>version = "0.1.0"</a:t>
            </a:r>
            <a:br>
              <a:rPr sz="2400" dirty="0"/>
            </a:br>
            <a:r>
              <a:rPr sz="2400" dirty="0"/>
              <a:t>dependencies = ["requests&gt;=2.28"]</a:t>
            </a:r>
            <a:br>
              <a:rPr sz="2400" dirty="0"/>
            </a:br>
            <a:br>
              <a:rPr sz="2400" dirty="0"/>
            </a:br>
            <a:r>
              <a:rPr sz="2400" dirty="0"/>
              <a:t>[</a:t>
            </a:r>
            <a:r>
              <a:rPr sz="2400" dirty="0" err="1"/>
              <a:t>project.optional</a:t>
            </a:r>
            <a:r>
              <a:rPr sz="2400" dirty="0"/>
              <a:t>-dependencies]</a:t>
            </a:r>
            <a:br>
              <a:rPr sz="2400" dirty="0"/>
            </a:br>
            <a:r>
              <a:rPr sz="2400" dirty="0"/>
              <a:t>dev = ["</a:t>
            </a:r>
            <a:r>
              <a:rPr sz="2400" dirty="0" err="1"/>
              <a:t>pytest</a:t>
            </a:r>
            <a:r>
              <a:rPr sz="2400" dirty="0"/>
              <a:t>", "black", "</a:t>
            </a:r>
            <a:r>
              <a:rPr sz="2400" dirty="0" err="1"/>
              <a:t>mypy</a:t>
            </a:r>
            <a:r>
              <a:rPr sz="2400" dirty="0"/>
              <a:t>"]</a:t>
            </a: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Formatting, Testing</a:t>
            </a:r>
          </a:p>
        </p:txBody>
      </p:sp>
      <p:sp>
        <p:nvSpPr>
          <p:cNvPr id="3" name="Content Placeholder 2"/>
          <p:cNvSpPr>
            <a:spLocks noGrp="1"/>
          </p:cNvSpPr>
          <p:nvPr>
            <p:ph idx="1"/>
          </p:nvPr>
        </p:nvSpPr>
        <p:spPr/>
        <p:txBody>
          <a:bodyPr/>
          <a:lstStyle/>
          <a:p>
            <a:r>
              <a:t>black for formatting</a:t>
            </a:r>
          </a:p>
          <a:p>
            <a:r>
              <a:t>flake8 / mypy for static checks</a:t>
            </a:r>
          </a:p>
          <a:p>
            <a:r>
              <a:t>pytest for automated testing</a:t>
            </a: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pip install black flake8 </a:t>
            </a:r>
            <a:r>
              <a:rPr sz="2400" dirty="0" err="1"/>
              <a:t>mypy</a:t>
            </a:r>
            <a:br>
              <a:rPr sz="2400" dirty="0"/>
            </a:br>
            <a:r>
              <a:rPr sz="2400" dirty="0"/>
              <a:t>black </a:t>
            </a:r>
            <a:r>
              <a:rPr sz="2400" dirty="0" err="1"/>
              <a:t>src</a:t>
            </a:r>
            <a:r>
              <a:rPr sz="2400" dirty="0"/>
              <a:t>/ tests/</a:t>
            </a:r>
            <a:br>
              <a:rPr sz="2400" dirty="0"/>
            </a:br>
            <a:r>
              <a:rPr sz="2400" dirty="0"/>
              <a:t>flake8 </a:t>
            </a:r>
            <a:r>
              <a:rPr sz="2400" dirty="0" err="1"/>
              <a:t>src</a:t>
            </a:r>
            <a:r>
              <a:rPr sz="2400" dirty="0"/>
              <a:t>/</a:t>
            </a:r>
            <a:br>
              <a:rPr sz="2400" dirty="0"/>
            </a:br>
            <a:r>
              <a:rPr sz="2400" dirty="0" err="1"/>
              <a:t>mypy</a:t>
            </a:r>
            <a:r>
              <a:rPr sz="2400" dirty="0"/>
              <a:t> </a:t>
            </a:r>
            <a:r>
              <a:rPr sz="2400" dirty="0" err="1"/>
              <a:t>src</a:t>
            </a:r>
            <a:r>
              <a:rPr sz="2400" dirty="0"/>
              <a:t>/</a:t>
            </a: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p:txBody>
          <a:bodyPr/>
          <a:lstStyle/>
          <a:p>
            <a:pPr algn="l">
              <a:defRPr sz="1500">
                <a:latin typeface="Courier New"/>
              </a:defRPr>
            </a:pPr>
            <a:r>
              <a:t># test_math_utils.py</a:t>
            </a:r>
            <a:br/>
            <a:r>
              <a:t>import pytest</a:t>
            </a:r>
            <a:br/>
            <a:r>
              <a:t>from myutils.math import clamp</a:t>
            </a:r>
            <a:br/>
            <a:r>
              <a:t>@pytest.mark.parametrize("x,lo,hi,e", [(5,0,10,5), (-5,0,10,0), (15,0,10,10)])</a:t>
            </a:r>
            <a:br/>
            <a:r>
              <a:t>def test_clamp(x, lo, hi, e): assert clamp(x, lo, hi) == e</a:t>
            </a:r>
            <a:br/>
            <a:r>
              <a:t># run</a:t>
            </a:r>
            <a:br/>
            <a:r>
              <a:t>pytest -q</a:t>
            </a: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p:txBody>
          <a:bodyPr/>
          <a:lstStyle/>
          <a:p>
            <a:pPr algn="l">
              <a:defRPr sz="1500">
                <a:latin typeface="Courier New"/>
              </a:defRPr>
            </a:pPr>
            <a:r>
              <a:t>from typing import List, Dict, Optional</a:t>
            </a:r>
            <a:br/>
            <a:r>
              <a:t>def freq(words: List[str]) -&gt; Dict[str, int]:</a:t>
            </a:r>
            <a:br/>
            <a:r>
              <a:t>    counts: Dict[str, int] = {}</a:t>
            </a:r>
            <a:br/>
            <a:r>
              <a:t>    for w in words: counts[w] = counts.get(w, 0) + 1</a:t>
            </a:r>
            <a:br/>
            <a:r>
              <a:t>    return counts</a:t>
            </a:r>
            <a:br/>
            <a:r>
              <a:t>def find(uid: int) -&gt; Optional[str]: ...</a:t>
            </a: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p:txBody>
          <a:bodyPr/>
          <a:lstStyle/>
          <a:p>
            <a:pPr algn="l">
              <a:defRPr sz="1500">
                <a:latin typeface="Courier New"/>
              </a:defRPr>
            </a:pPr>
            <a:r>
              <a:t>pip install ipython jupyterlab</a:t>
            </a:r>
            <a:br/>
            <a:r>
              <a:t>ipython                           # tab-completion, ? help, %magic</a:t>
            </a:r>
            <a:br/>
            <a:r>
              <a:t>jupyter lab                       # browser notebooks</a:t>
            </a:r>
            <a:br/>
            <a:r>
              <a:t># inside notebook</a:t>
            </a:r>
            <a:br/>
            <a:r>
              <a:t>%matplotlib inline</a:t>
            </a:r>
            <a:br/>
            <a:r>
              <a:t>import matplotlib.pyplot as plt</a:t>
            </a:r>
            <a:br/>
            <a:r>
              <a:t>plt.plot([1,2,3], [4,5,6])</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p:txBody>
          <a:bodyPr/>
          <a:lstStyle/>
          <a:p>
            <a:pPr algn="l">
              <a:defRPr sz="1500">
                <a:latin typeface="Courier New"/>
              </a:defRPr>
            </a:pPr>
            <a:r>
              <a:t>• Build a REST micro-service with FastAPI</a:t>
            </a:r>
            <a:br/>
            <a:r>
              <a:t>• Scrape + analyze live data with asyncio &amp; pandas</a:t>
            </a:r>
            <a:br/>
            <a:r>
              <a:t>• Automate your own boring tasks (rename photos, merge Excel)</a:t>
            </a:r>
            <a:br/>
            <a:r>
              <a:t>• Deploy a serverless function on AWS Lambda</a:t>
            </a:r>
            <a:br/>
            <a:r>
              <a:t>• Create a GUI desktop app with textual or PySide6</a:t>
            </a: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p:txBody>
          <a:bodyPr/>
          <a:lstStyle/>
          <a:p>
            <a:pPr algn="l">
              <a:defRPr sz="1500">
                <a:latin typeface="Courier New"/>
              </a:defRPr>
            </a:pPr>
            <a:r>
              <a:t>Resources</a:t>
            </a:r>
            <a:br/>
            <a:r>
              <a:t>• docs.python.org/3/tutorial/</a:t>
            </a:r>
            <a:br/>
            <a:r>
              <a:t>• realpython.com</a:t>
            </a:r>
            <a:br/>
            <a:r>
              <a:t>• pypi.org – 450 k+ packages</a:t>
            </a:r>
            <a:br/>
            <a:r>
              <a:t>• github.com/python/cpython – read the source!</a:t>
            </a:r>
            <a:br/>
            <a:r>
              <a:t>• mastodon, /r/python, discord.gg/python</a:t>
            </a:r>
            <a:br/>
            <a:br/>
            <a:r>
              <a:t>Remember:</a:t>
            </a:r>
            <a:br/>
            <a:r>
              <a:t>Read code → Run code → Break code → Fix code → Repeat.</a:t>
            </a:r>
            <a:br/>
            <a:r>
              <a:t>Happy Pythoning! 🐍</a:t>
            </a: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Python Ecosystem</a:t>
            </a:r>
          </a:p>
        </p:txBody>
      </p:sp>
      <p:sp>
        <p:nvSpPr>
          <p:cNvPr id="3" name="Content Placeholder 2"/>
          <p:cNvSpPr>
            <a:spLocks noGrp="1"/>
          </p:cNvSpPr>
          <p:nvPr>
            <p:ph idx="1"/>
          </p:nvPr>
        </p:nvSpPr>
        <p:spPr/>
        <p:txBody>
          <a:bodyPr/>
          <a:lstStyle/>
          <a:p>
            <a:r>
              <a:t>pip &amp; PyPI for packages</a:t>
            </a:r>
          </a:p>
          <a:p>
            <a:r>
              <a:t>IPython &amp; Jupyter for exploration</a:t>
            </a:r>
          </a:p>
          <a:p>
            <a:r>
              <a:t>Rich ecosystem for every domain</a:t>
            </a: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Learning Path Forward</a:t>
            </a:r>
          </a:p>
        </p:txBody>
      </p:sp>
      <p:sp>
        <p:nvSpPr>
          <p:cNvPr id="3" name="Content Placeholder 2"/>
          <p:cNvSpPr>
            <a:spLocks noGrp="1"/>
          </p:cNvSpPr>
          <p:nvPr>
            <p:ph idx="1"/>
          </p:nvPr>
        </p:nvSpPr>
        <p:spPr/>
        <p:txBody>
          <a:bodyPr/>
          <a:lstStyle/>
          <a:p>
            <a:r>
              <a:t>Build small projects</a:t>
            </a:r>
          </a:p>
          <a:p>
            <a:r>
              <a:t>Read other people’s code</a:t>
            </a:r>
          </a:p>
          <a:p>
            <a:r>
              <a:t>Practice debugging intentionally</a:t>
            </a:r>
          </a:p>
          <a:p>
            <a:r>
              <a:t>Learn one library deeply</a:t>
            </a: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Advice</a:t>
            </a:r>
          </a:p>
        </p:txBody>
      </p:sp>
      <p:sp>
        <p:nvSpPr>
          <p:cNvPr id="3" name="Content Placeholder 2"/>
          <p:cNvSpPr>
            <a:spLocks noGrp="1"/>
          </p:cNvSpPr>
          <p:nvPr>
            <p:ph idx="1"/>
          </p:nvPr>
        </p:nvSpPr>
        <p:spPr/>
        <p:txBody>
          <a:bodyPr/>
          <a:lstStyle/>
          <a:p>
            <a:r>
              <a:t>Read code → Run code → Break code → Fix code</a:t>
            </a:r>
          </a:p>
          <a:p>
            <a:r>
              <a:t>Mistakes are how you learn</a:t>
            </a:r>
          </a:p>
          <a:p>
            <a:r>
              <a:t>Consistency beats intensity</a:t>
            </a: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r>
              <a:t>Happy Pythoning 🐍</a:t>
            </a:r>
          </a:p>
          <a:p>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285</TotalTime>
  <Words>9619</Words>
  <Application>Microsoft Office PowerPoint</Application>
  <PresentationFormat>Custom</PresentationFormat>
  <Paragraphs>1454</Paragraphs>
  <Slides>231</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231</vt:i4>
      </vt:variant>
    </vt:vector>
  </HeadingPairs>
  <TitlesOfParts>
    <vt:vector size="237" baseType="lpstr">
      <vt:lpstr>Arial Unicode MS</vt:lpstr>
      <vt:lpstr>Arial</vt:lpstr>
      <vt:lpstr>Calibri</vt:lpstr>
      <vt:lpstr>Courier New</vt:lpstr>
      <vt:lpstr>Wingdings</vt:lpstr>
      <vt:lpstr>Office Theme</vt:lpstr>
      <vt:lpstr>Python Crash Course 2025</vt:lpstr>
      <vt:lpstr>Course Overview</vt:lpstr>
      <vt:lpstr>Module Roadmap</vt:lpstr>
      <vt:lpstr>Module 1  FOUNDATIONS</vt:lpstr>
      <vt:lpstr>Module 1 — Foundations</vt:lpstr>
      <vt:lpstr>What Is Python?</vt:lpstr>
      <vt:lpstr>Why Python?</vt:lpstr>
      <vt:lpstr>Running Python</vt:lpstr>
      <vt:lpstr>Your First Program</vt:lpstr>
      <vt:lpstr>Installing &amp; Running</vt:lpstr>
      <vt:lpstr>Progress</vt:lpstr>
      <vt:lpstr>Variables &amp; Dynamic Typing</vt:lpstr>
      <vt:lpstr>Variables Are References (Not Boxes)</vt:lpstr>
      <vt:lpstr>Mutation vs Reassignment</vt:lpstr>
      <vt:lpstr>Changing the Object</vt:lpstr>
      <vt:lpstr>Contrast with Reassignment</vt:lpstr>
      <vt:lpstr>Dynamic Typing Explained</vt:lpstr>
      <vt:lpstr>Mutable vs Immutable Types</vt:lpstr>
      <vt:lpstr>Type Checking at Runtime</vt:lpstr>
      <vt:lpstr>Core Built-in Types</vt:lpstr>
      <vt:lpstr>Reassignment and Object Identity</vt:lpstr>
      <vt:lpstr>Python Numbers: Overview</vt:lpstr>
      <vt:lpstr>Numeric Types in Python</vt:lpstr>
      <vt:lpstr>Integers (int)</vt:lpstr>
      <vt:lpstr>Floating-Point Numbers (float)</vt:lpstr>
      <vt:lpstr>Decimal for Precision</vt:lpstr>
      <vt:lpstr>Arithmetic Operators</vt:lpstr>
      <vt:lpstr>Division Operators</vt:lpstr>
      <vt:lpstr>Modulo Operator (%)</vt:lpstr>
      <vt:lpstr>Exponentiation</vt:lpstr>
      <vt:lpstr>Assignment Operators</vt:lpstr>
      <vt:lpstr>Operator Precedence</vt:lpstr>
      <vt:lpstr>Comparing Numbers</vt:lpstr>
      <vt:lpstr>Numbers &amp; Boolean Results</vt:lpstr>
      <vt:lpstr>Type Conversion with Numbers</vt:lpstr>
      <vt:lpstr>Common Numeric Pitfalls</vt:lpstr>
      <vt:lpstr>Best Practices</vt:lpstr>
      <vt:lpstr>Hands-On Exercise</vt:lpstr>
      <vt:lpstr>Solution</vt:lpstr>
      <vt:lpstr>Key Takeaways</vt:lpstr>
      <vt:lpstr>Numbers &amp; Operators</vt:lpstr>
      <vt:lpstr>Attributes and Methods</vt:lpstr>
      <vt:lpstr>Strings</vt:lpstr>
      <vt:lpstr>String Methods &amp; Formatting</vt:lpstr>
      <vt:lpstr>String Length &amp; Indexing</vt:lpstr>
      <vt:lpstr>String Slicing</vt:lpstr>
      <vt:lpstr>String Concatenation &amp; Repetition</vt:lpstr>
      <vt:lpstr>Common String Methods</vt:lpstr>
      <vt:lpstr>Searching &amp; Checking Strings</vt:lpstr>
      <vt:lpstr>Replacing &amp; Splitting Strings</vt:lpstr>
      <vt:lpstr>Joining Strings</vt:lpstr>
      <vt:lpstr>String Formatting (f-strings)</vt:lpstr>
      <vt:lpstr>Escape Characters</vt:lpstr>
      <vt:lpstr>Strings Are Immutable</vt:lpstr>
      <vt:lpstr>Common Mistakes</vt:lpstr>
      <vt:lpstr>Key Takeaways</vt:lpstr>
      <vt:lpstr>Hands-On Exercise</vt:lpstr>
      <vt:lpstr>Solution</vt:lpstr>
      <vt:lpstr>Strings – indexing, slicing, methods</vt:lpstr>
      <vt:lpstr>What Is a Boolean?</vt:lpstr>
      <vt:lpstr>Boolean Values in Python</vt:lpstr>
      <vt:lpstr>Comparisons Produce Booleans</vt:lpstr>
      <vt:lpstr>Logical Operators</vt:lpstr>
      <vt:lpstr>Booleans &amp; Truthiness</vt:lpstr>
      <vt:lpstr>Truthy and Falsy Values</vt:lpstr>
      <vt:lpstr>Falsy Values to Remember</vt:lpstr>
      <vt:lpstr>Common Truthy Values</vt:lpstr>
      <vt:lpstr>Truthiness in if Statements</vt:lpstr>
      <vt:lpstr>Slide 9 — Using bool()</vt:lpstr>
      <vt:lpstr>Short-Circuit Evaluation</vt:lpstr>
      <vt:lpstr>Common Mistakes</vt:lpstr>
      <vt:lpstr>Hands-On Exercise</vt:lpstr>
      <vt:lpstr>Solution 1</vt:lpstr>
      <vt:lpstr>Solution 2: Ternary</vt:lpstr>
      <vt:lpstr>Solution 3: len()</vt:lpstr>
      <vt:lpstr>Key Takeaways</vt:lpstr>
      <vt:lpstr>Booleans &amp; Truthiness</vt:lpstr>
      <vt:lpstr>Why Type Casting &amp; Input Matter</vt:lpstr>
      <vt:lpstr>Using input()</vt:lpstr>
      <vt:lpstr>Input Is Always a String</vt:lpstr>
      <vt:lpstr>What Is Type Casting?</vt:lpstr>
      <vt:lpstr>Type Casting &amp; Input</vt:lpstr>
      <vt:lpstr>Casting Input to Float</vt:lpstr>
      <vt:lpstr>Casting to String</vt:lpstr>
      <vt:lpstr>Casting to Boolean</vt:lpstr>
      <vt:lpstr>Safe Casting with try-except</vt:lpstr>
      <vt:lpstr>Input + Casting Common Pattern</vt:lpstr>
      <vt:lpstr>Mixing Input with f-Strings</vt:lpstr>
      <vt:lpstr>Common Mistakes</vt:lpstr>
      <vt:lpstr>Key Takeaways</vt:lpstr>
      <vt:lpstr>Hands-On Exercise</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Control Flow — if / else</vt:lpstr>
      <vt:lpstr>Conditional Statements (if)</vt:lpstr>
      <vt:lpstr>if–else Statements</vt:lpstr>
      <vt:lpstr>if–elif–else Chain</vt:lpstr>
      <vt:lpstr>Comparison Operators</vt:lpstr>
      <vt:lpstr>Logical Operators</vt:lpstr>
      <vt:lpstr>Truthy and Falsy Values</vt:lpstr>
      <vt:lpstr>Unpacking Operators: Overview</vt:lpstr>
      <vt:lpstr>What Is Unpacking?</vt:lpstr>
      <vt:lpstr>* for Iterable Unpacking</vt:lpstr>
      <vt:lpstr>Extended Unpacking with *</vt:lpstr>
      <vt:lpstr>* Can Appear Anywhere</vt:lpstr>
      <vt:lpstr>Unpacking in Function Calls (*args)</vt:lpstr>
      <vt:lpstr>*args in Function Definitions</vt:lpstr>
      <vt:lpstr>** for Dictionary Unpacking</vt:lpstr>
      <vt:lpstr>**kwargs in Function Definitions</vt:lpstr>
      <vt:lpstr>Combining *args and **kwargs</vt:lpstr>
      <vt:lpstr>Unpacking When Calling Functions</vt:lpstr>
      <vt:lpstr>Merging Collections with Unpacking</vt:lpstr>
      <vt:lpstr>Common Mistakes</vt:lpstr>
      <vt:lpstr>When to Use Unpacking</vt:lpstr>
      <vt:lpstr>Mental Model</vt:lpstr>
      <vt:lpstr>Hands-On Exercise</vt:lpstr>
      <vt:lpstr>Exercise Solution</vt:lpstr>
      <vt:lpstr>Key Takeaways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Loops — for &amp; while</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Defining Functions</vt:lpstr>
      <vt:lpstr>Calling a Function</vt:lpstr>
      <vt:lpstr>Functions with Parameters</vt:lpstr>
      <vt:lpstr>Return Values</vt:lpstr>
      <vt:lpstr>Multiple Parameters</vt:lpstr>
      <vt:lpstr>Default Values</vt:lpstr>
      <vt:lpstr>Keyword Arguments</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Mini-Project: CLI Calculator</vt:lpstr>
      <vt:lpstr>Module 2  INTERMEDIATE</vt:lpstr>
      <vt:lpstr>Module 2 — Intermediate</vt:lpstr>
      <vt:lpstr>Why Object-Oriented Programming?</vt:lpstr>
      <vt:lpstr>Defining a Class</vt:lpstr>
      <vt:lpstr>Object-Oriented Programming – Classes</vt:lpstr>
      <vt:lpstr>Encapsulation</vt:lpstr>
      <vt:lpstr>Encapsulation &amp; Private Attributes</vt:lpstr>
      <vt:lpstr>Inheritance &amp; Polymorphism</vt:lpstr>
      <vt:lpstr>Inheritance &amp; Polymorphism</vt:lpstr>
      <vt:lpstr>super() &amp; Cooperative Multiple Inheritance</vt:lpstr>
      <vt:lpstr>Dunder (Magic) Methods</vt:lpstr>
      <vt:lpstr>Dunder (Magic) Methods</vt:lpstr>
      <vt:lpstr>Modules &amp; Imports</vt:lpstr>
      <vt:lpstr>Modules – Creating &amp; Importing</vt:lpstr>
      <vt:lpstr>Import Patterns &amp; Aliases</vt:lpstr>
      <vt:lpstr>File I/O Basics</vt:lpstr>
      <vt:lpstr>File I/O – Text &amp; CSV</vt:lpstr>
      <vt:lpstr>pathlib vs os.path</vt:lpstr>
      <vt:lpstr>pathlib vs os.path</vt:lpstr>
      <vt:lpstr>JSON Serialization</vt:lpstr>
      <vt:lpstr>Mini-Project: Contact Manager</vt:lpstr>
      <vt:lpstr>Module 3  ADVANCED</vt:lpstr>
      <vt:lpstr>Module 3 — Advanced</vt:lpstr>
      <vt:lpstr>Decorators</vt:lpstr>
      <vt:lpstr>Decorators – Function Wrappers</vt:lpstr>
      <vt:lpstr>Decorators with Arguments</vt:lpstr>
      <vt:lpstr>Timing &amp; Caching Decorators</vt:lpstr>
      <vt:lpstr>Generators</vt:lpstr>
      <vt:lpstr>Generators – Lazy Iteration</vt:lpstr>
      <vt:lpstr>Reading Giant Files</vt:lpstr>
      <vt:lpstr>Concurrency Landscape</vt:lpstr>
      <vt:lpstr>threading – Download Many Images</vt:lpstr>
      <vt:lpstr>multiprocessing – CPU-bound Pi Monte-Carlo</vt:lpstr>
      <vt:lpstr>asyncio Mental Model</vt:lpstr>
      <vt:lpstr>asyncio – Concurrent HTTP with aiohttp</vt:lpstr>
      <vt:lpstr>Mixing sync ↔ async</vt:lpstr>
      <vt:lpstr>Virtual Environments</vt:lpstr>
      <vt:lpstr>Virtual Environments &amp; Packaging</vt:lpstr>
      <vt:lpstr>pyproject.toml</vt:lpstr>
      <vt:lpstr>Linting, Formatting, Testing</vt:lpstr>
      <vt:lpstr>Linting &amp; Formatting</vt:lpstr>
      <vt:lpstr>Testing with pytest</vt:lpstr>
      <vt:lpstr>Type Hints – Gradual Typing</vt:lpstr>
      <vt:lpstr>Rich REPL with ipython + jupyter</vt:lpstr>
      <vt:lpstr>Final Capstone Ideas</vt:lpstr>
      <vt:lpstr>Keep Climbing</vt:lpstr>
      <vt:lpstr>Appendix  Tooling &amp; Eco-system</vt:lpstr>
      <vt:lpstr>Appendix — Python Ecosystem</vt:lpstr>
      <vt:lpstr>Learning Path Forward</vt:lpstr>
      <vt:lpstr>Final Advice</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49</cp:revision>
  <dcterms:created xsi:type="dcterms:W3CDTF">2013-01-27T09:14:16Z</dcterms:created>
  <dcterms:modified xsi:type="dcterms:W3CDTF">2025-12-17T14:38:49Z</dcterms:modified>
  <cp:category/>
</cp:coreProperties>
</file>