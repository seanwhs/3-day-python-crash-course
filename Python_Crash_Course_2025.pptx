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3"/>
  </p:notesMasterIdLst>
  <p:sldIdLst>
    <p:sldId id="256" r:id="rId2"/>
    <p:sldId id="257" r:id="rId3"/>
    <p:sldId id="377" r:id="rId4"/>
    <p:sldId id="258" r:id="rId5"/>
    <p:sldId id="259" r:id="rId6"/>
    <p:sldId id="307" r:id="rId7"/>
    <p:sldId id="260" r:id="rId8"/>
    <p:sldId id="309" r:id="rId9"/>
    <p:sldId id="321" r:id="rId10"/>
    <p:sldId id="322" r:id="rId11"/>
    <p:sldId id="310" r:id="rId12"/>
    <p:sldId id="311" r:id="rId13"/>
    <p:sldId id="261" r:id="rId14"/>
    <p:sldId id="312" r:id="rId15"/>
    <p:sldId id="262" r:id="rId16"/>
    <p:sldId id="378" r:id="rId17"/>
    <p:sldId id="379" r:id="rId18"/>
    <p:sldId id="263" r:id="rId19"/>
    <p:sldId id="264" r:id="rId20"/>
    <p:sldId id="265" r:id="rId21"/>
    <p:sldId id="313" r:id="rId22"/>
    <p:sldId id="314" r:id="rId23"/>
    <p:sldId id="315" r:id="rId24"/>
    <p:sldId id="316" r:id="rId25"/>
    <p:sldId id="317" r:id="rId26"/>
    <p:sldId id="318" r:id="rId27"/>
    <p:sldId id="319" r:id="rId28"/>
    <p:sldId id="320" r:id="rId29"/>
    <p:sldId id="323" r:id="rId30"/>
    <p:sldId id="324" r:id="rId31"/>
    <p:sldId id="325" r:id="rId32"/>
    <p:sldId id="326" r:id="rId33"/>
    <p:sldId id="327" r:id="rId34"/>
    <p:sldId id="328" r:id="rId35"/>
    <p:sldId id="329" r:id="rId36"/>
    <p:sldId id="330" r:id="rId37"/>
    <p:sldId id="331" r:id="rId38"/>
    <p:sldId id="332" r:id="rId39"/>
    <p:sldId id="333" r:id="rId40"/>
    <p:sldId id="266" r:id="rId41"/>
    <p:sldId id="344" r:id="rId42"/>
    <p:sldId id="345" r:id="rId43"/>
    <p:sldId id="346" r:id="rId44"/>
    <p:sldId id="347" r:id="rId45"/>
    <p:sldId id="348" r:id="rId46"/>
    <p:sldId id="349" r:id="rId47"/>
    <p:sldId id="350" r:id="rId48"/>
    <p:sldId id="351" r:id="rId49"/>
    <p:sldId id="352" r:id="rId50"/>
    <p:sldId id="334" r:id="rId51"/>
    <p:sldId id="335" r:id="rId52"/>
    <p:sldId id="336" r:id="rId53"/>
    <p:sldId id="337" r:id="rId54"/>
    <p:sldId id="338" r:id="rId55"/>
    <p:sldId id="339" r:id="rId56"/>
    <p:sldId id="340" r:id="rId57"/>
    <p:sldId id="341" r:id="rId58"/>
    <p:sldId id="342" r:id="rId59"/>
    <p:sldId id="343" r:id="rId60"/>
    <p:sldId id="268" r:id="rId61"/>
    <p:sldId id="353" r:id="rId62"/>
    <p:sldId id="354" r:id="rId63"/>
    <p:sldId id="269" r:id="rId64"/>
    <p:sldId id="355" r:id="rId65"/>
    <p:sldId id="356" r:id="rId66"/>
    <p:sldId id="357" r:id="rId67"/>
    <p:sldId id="358" r:id="rId68"/>
    <p:sldId id="359" r:id="rId69"/>
    <p:sldId id="360" r:id="rId70"/>
    <p:sldId id="362" r:id="rId71"/>
    <p:sldId id="361" r:id="rId72"/>
    <p:sldId id="363" r:id="rId73"/>
    <p:sldId id="364" r:id="rId74"/>
    <p:sldId id="365" r:id="rId75"/>
    <p:sldId id="370" r:id="rId76"/>
    <p:sldId id="371" r:id="rId77"/>
    <p:sldId id="372" r:id="rId78"/>
    <p:sldId id="373" r:id="rId79"/>
    <p:sldId id="374" r:id="rId80"/>
    <p:sldId id="375" r:id="rId81"/>
    <p:sldId id="376" r:id="rId82"/>
    <p:sldId id="366" r:id="rId83"/>
    <p:sldId id="367" r:id="rId84"/>
    <p:sldId id="368" r:id="rId85"/>
    <p:sldId id="369" r:id="rId86"/>
    <p:sldId id="271" r:id="rId87"/>
    <p:sldId id="272" r:id="rId88"/>
    <p:sldId id="273" r:id="rId89"/>
    <p:sldId id="274" r:id="rId90"/>
    <p:sldId id="275" r:id="rId91"/>
    <p:sldId id="276" r:id="rId92"/>
    <p:sldId id="277" r:id="rId93"/>
    <p:sldId id="278" r:id="rId94"/>
    <p:sldId id="279" r:id="rId95"/>
    <p:sldId id="280" r:id="rId96"/>
    <p:sldId id="281" r:id="rId97"/>
    <p:sldId id="282" r:id="rId98"/>
    <p:sldId id="283" r:id="rId99"/>
    <p:sldId id="284" r:id="rId100"/>
    <p:sldId id="285" r:id="rId101"/>
    <p:sldId id="286" r:id="rId102"/>
    <p:sldId id="287" r:id="rId103"/>
    <p:sldId id="288" r:id="rId104"/>
    <p:sldId id="289" r:id="rId105"/>
    <p:sldId id="290" r:id="rId106"/>
    <p:sldId id="291" r:id="rId107"/>
    <p:sldId id="292" r:id="rId108"/>
    <p:sldId id="293" r:id="rId109"/>
    <p:sldId id="294" r:id="rId110"/>
    <p:sldId id="295" r:id="rId111"/>
    <p:sldId id="296" r:id="rId112"/>
    <p:sldId id="297" r:id="rId113"/>
    <p:sldId id="298" r:id="rId114"/>
    <p:sldId id="299" r:id="rId115"/>
    <p:sldId id="300" r:id="rId116"/>
    <p:sldId id="301" r:id="rId117"/>
    <p:sldId id="302" r:id="rId118"/>
    <p:sldId id="303" r:id="rId119"/>
    <p:sldId id="304" r:id="rId120"/>
    <p:sldId id="305" r:id="rId121"/>
    <p:sldId id="306" r:id="rId12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057" autoAdjust="0"/>
  </p:normalViewPr>
  <p:slideViewPr>
    <p:cSldViewPr snapToGrid="0" snapToObjects="1">
      <p:cViewPr varScale="1">
        <p:scale>
          <a:sx n="50" d="100"/>
          <a:sy n="50" d="100"/>
        </p:scale>
        <p:origin x="1260" y="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17/12/2025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5</a:t>
            </a:fld>
            <a:endParaRPr lang="en-SG"/>
          </a:p>
        </p:txBody>
      </p:sp>
    </p:spTree>
    <p:extLst>
      <p:ext uri="{BB962C8B-B14F-4D97-AF65-F5344CB8AC3E}">
        <p14:creationId xmlns:p14="http://schemas.microsoft.com/office/powerpoint/2010/main" val="1732500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33</a:t>
            </a:fld>
            <a:endParaRPr lang="en-SG"/>
          </a:p>
        </p:txBody>
      </p:sp>
    </p:spTree>
    <p:extLst>
      <p:ext uri="{BB962C8B-B14F-4D97-AF65-F5344CB8AC3E}">
        <p14:creationId xmlns:p14="http://schemas.microsoft.com/office/powerpoint/2010/main" val="607364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38</a:t>
            </a:fld>
            <a:endParaRPr lang="en-SG"/>
          </a:p>
        </p:txBody>
      </p:sp>
    </p:spTree>
    <p:extLst>
      <p:ext uri="{BB962C8B-B14F-4D97-AF65-F5344CB8AC3E}">
        <p14:creationId xmlns:p14="http://schemas.microsoft.com/office/powerpoint/2010/main" val="32219066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53B0-D229-1441-D3CB-89F197CDB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D59E0-E54D-2E4C-9B24-04C919908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8636-9AC4-3128-F747-BEE07DB461D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521A5A7-A5AB-1FAE-A33C-C11BA5A948A0}"/>
              </a:ext>
            </a:extLst>
          </p:cNvPr>
          <p:cNvSpPr>
            <a:spLocks noGrp="1"/>
          </p:cNvSpPr>
          <p:nvPr>
            <p:ph type="sldNum" sz="quarter" idx="5"/>
          </p:nvPr>
        </p:nvSpPr>
        <p:spPr/>
        <p:txBody>
          <a:bodyPr/>
          <a:lstStyle/>
          <a:p>
            <a:fld id="{4F57C094-21CE-47C2-B85E-15CC2B32E4F0}" type="slidenum">
              <a:rPr lang="en-SG" smtClean="0"/>
              <a:t>39</a:t>
            </a:fld>
            <a:endParaRPr lang="en-SG"/>
          </a:p>
        </p:txBody>
      </p:sp>
    </p:spTree>
    <p:extLst>
      <p:ext uri="{BB962C8B-B14F-4D97-AF65-F5344CB8AC3E}">
        <p14:creationId xmlns:p14="http://schemas.microsoft.com/office/powerpoint/2010/main" val="3004334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1725F-836A-060E-BFB6-1F4F04DDC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15E54-805D-9E60-9438-4E77E4A6C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E96F9F-700C-9156-04D4-68833EB8DD3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B7FB651-D9A8-0289-0A3E-2D82D9830132}"/>
              </a:ext>
            </a:extLst>
          </p:cNvPr>
          <p:cNvSpPr>
            <a:spLocks noGrp="1"/>
          </p:cNvSpPr>
          <p:nvPr>
            <p:ph type="sldNum" sz="quarter" idx="5"/>
          </p:nvPr>
        </p:nvSpPr>
        <p:spPr/>
        <p:txBody>
          <a:bodyPr/>
          <a:lstStyle/>
          <a:p>
            <a:fld id="{4F57C094-21CE-47C2-B85E-15CC2B32E4F0}" type="slidenum">
              <a:rPr lang="en-SG" smtClean="0"/>
              <a:t>42</a:t>
            </a:fld>
            <a:endParaRPr lang="en-SG"/>
          </a:p>
        </p:txBody>
      </p:sp>
    </p:spTree>
    <p:extLst>
      <p:ext uri="{BB962C8B-B14F-4D97-AF65-F5344CB8AC3E}">
        <p14:creationId xmlns:p14="http://schemas.microsoft.com/office/powerpoint/2010/main" val="4127783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BD563-23DC-D4FF-D080-93B15EE7A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F4651-359E-3981-0C4F-A5708A831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5B7E35-C0F4-9B7A-E72C-8021E97D6D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DF7F3BD-F8BF-9FD0-C605-18C940493D9A}"/>
              </a:ext>
            </a:extLst>
          </p:cNvPr>
          <p:cNvSpPr>
            <a:spLocks noGrp="1"/>
          </p:cNvSpPr>
          <p:nvPr>
            <p:ph type="sldNum" sz="quarter" idx="5"/>
          </p:nvPr>
        </p:nvSpPr>
        <p:spPr/>
        <p:txBody>
          <a:bodyPr/>
          <a:lstStyle/>
          <a:p>
            <a:fld id="{4F57C094-21CE-47C2-B85E-15CC2B32E4F0}" type="slidenum">
              <a:rPr lang="en-SG" smtClean="0"/>
              <a:t>43</a:t>
            </a:fld>
            <a:endParaRPr lang="en-SG"/>
          </a:p>
        </p:txBody>
      </p:sp>
    </p:spTree>
    <p:extLst>
      <p:ext uri="{BB962C8B-B14F-4D97-AF65-F5344CB8AC3E}">
        <p14:creationId xmlns:p14="http://schemas.microsoft.com/office/powerpoint/2010/main" val="267441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86C9-D0DE-C449-E394-FF86DB87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E7A182-AE34-5AAF-923C-AED111617D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41809-51C9-7634-2A25-4E0FE4366F0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3DDA498-440B-5478-8295-205B2BB12201}"/>
              </a:ext>
            </a:extLst>
          </p:cNvPr>
          <p:cNvSpPr>
            <a:spLocks noGrp="1"/>
          </p:cNvSpPr>
          <p:nvPr>
            <p:ph type="sldNum" sz="quarter" idx="5"/>
          </p:nvPr>
        </p:nvSpPr>
        <p:spPr/>
        <p:txBody>
          <a:bodyPr/>
          <a:lstStyle/>
          <a:p>
            <a:fld id="{4F57C094-21CE-47C2-B85E-15CC2B32E4F0}" type="slidenum">
              <a:rPr lang="en-SG" smtClean="0"/>
              <a:t>44</a:t>
            </a:fld>
            <a:endParaRPr lang="en-SG"/>
          </a:p>
        </p:txBody>
      </p:sp>
    </p:spTree>
    <p:extLst>
      <p:ext uri="{BB962C8B-B14F-4D97-AF65-F5344CB8AC3E}">
        <p14:creationId xmlns:p14="http://schemas.microsoft.com/office/powerpoint/2010/main" val="2448754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0C23B-CF57-F971-A3E2-FA91D9407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92111-C9CB-0330-C9C9-78498709A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5F4D-9C64-B3D6-450A-A113597D594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869E19A-B909-281D-CEF7-73182D4D195E}"/>
              </a:ext>
            </a:extLst>
          </p:cNvPr>
          <p:cNvSpPr>
            <a:spLocks noGrp="1"/>
          </p:cNvSpPr>
          <p:nvPr>
            <p:ph type="sldNum" sz="quarter" idx="5"/>
          </p:nvPr>
        </p:nvSpPr>
        <p:spPr/>
        <p:txBody>
          <a:bodyPr/>
          <a:lstStyle/>
          <a:p>
            <a:fld id="{4F57C094-21CE-47C2-B85E-15CC2B32E4F0}" type="slidenum">
              <a:rPr lang="en-SG" smtClean="0"/>
              <a:t>45</a:t>
            </a:fld>
            <a:endParaRPr lang="en-SG"/>
          </a:p>
        </p:txBody>
      </p:sp>
    </p:spTree>
    <p:extLst>
      <p:ext uri="{BB962C8B-B14F-4D97-AF65-F5344CB8AC3E}">
        <p14:creationId xmlns:p14="http://schemas.microsoft.com/office/powerpoint/2010/main" val="42159191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481F-DF8B-5F1D-618C-587B1D336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1F19B-D02F-6DE5-4CA1-FF2669D1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010F8-C3AB-6C31-56D0-B908BCA0369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4D708F7-5634-E3A4-E2A1-08658D746FA5}"/>
              </a:ext>
            </a:extLst>
          </p:cNvPr>
          <p:cNvSpPr>
            <a:spLocks noGrp="1"/>
          </p:cNvSpPr>
          <p:nvPr>
            <p:ph type="sldNum" sz="quarter" idx="5"/>
          </p:nvPr>
        </p:nvSpPr>
        <p:spPr/>
        <p:txBody>
          <a:bodyPr/>
          <a:lstStyle/>
          <a:p>
            <a:fld id="{4F57C094-21CE-47C2-B85E-15CC2B32E4F0}" type="slidenum">
              <a:rPr lang="en-SG" smtClean="0"/>
              <a:t>46</a:t>
            </a:fld>
            <a:endParaRPr lang="en-SG"/>
          </a:p>
        </p:txBody>
      </p:sp>
    </p:spTree>
    <p:extLst>
      <p:ext uri="{BB962C8B-B14F-4D97-AF65-F5344CB8AC3E}">
        <p14:creationId xmlns:p14="http://schemas.microsoft.com/office/powerpoint/2010/main" val="2373556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5068-DA73-AB27-8634-D333E6F58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6A6B5D-BE7B-240E-E882-9C2C00DCA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148ED-3F87-A508-269C-DE3AEE8CD86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E572950-7BF9-96C5-D0F1-0645EF7433D1}"/>
              </a:ext>
            </a:extLst>
          </p:cNvPr>
          <p:cNvSpPr>
            <a:spLocks noGrp="1"/>
          </p:cNvSpPr>
          <p:nvPr>
            <p:ph type="sldNum" sz="quarter" idx="5"/>
          </p:nvPr>
        </p:nvSpPr>
        <p:spPr/>
        <p:txBody>
          <a:bodyPr/>
          <a:lstStyle/>
          <a:p>
            <a:fld id="{4F57C094-21CE-47C2-B85E-15CC2B32E4F0}" type="slidenum">
              <a:rPr lang="en-SG" smtClean="0"/>
              <a:t>50</a:t>
            </a:fld>
            <a:endParaRPr lang="en-SG"/>
          </a:p>
        </p:txBody>
      </p:sp>
    </p:spTree>
    <p:extLst>
      <p:ext uri="{BB962C8B-B14F-4D97-AF65-F5344CB8AC3E}">
        <p14:creationId xmlns:p14="http://schemas.microsoft.com/office/powerpoint/2010/main" val="2634666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7FA06-8C96-6D2C-855C-DE73EF0CD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D1D36-CE97-3F63-A78F-2CB5F479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EA971-B4BD-6E28-239D-3C64ABEBDEA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900478B-9C97-98D3-EDF3-4DE080907EBB}"/>
              </a:ext>
            </a:extLst>
          </p:cNvPr>
          <p:cNvSpPr>
            <a:spLocks noGrp="1"/>
          </p:cNvSpPr>
          <p:nvPr>
            <p:ph type="sldNum" sz="quarter" idx="5"/>
          </p:nvPr>
        </p:nvSpPr>
        <p:spPr/>
        <p:txBody>
          <a:bodyPr/>
          <a:lstStyle/>
          <a:p>
            <a:fld id="{4F57C094-21CE-47C2-B85E-15CC2B32E4F0}" type="slidenum">
              <a:rPr lang="en-SG" smtClean="0"/>
              <a:t>52</a:t>
            </a:fld>
            <a:endParaRPr lang="en-SG"/>
          </a:p>
        </p:txBody>
      </p:sp>
    </p:spTree>
    <p:extLst>
      <p:ext uri="{BB962C8B-B14F-4D97-AF65-F5344CB8AC3E}">
        <p14:creationId xmlns:p14="http://schemas.microsoft.com/office/powerpoint/2010/main" val="31810867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66E5-08BB-AFAA-6D43-830DAC5C9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C90FC-9E8C-71DC-39B5-1AD97AC7E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4B824E-90A5-3E23-2DDD-CC31B82A491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DF8BFA4-761F-65B7-5034-F48FC020C51D}"/>
              </a:ext>
            </a:extLst>
          </p:cNvPr>
          <p:cNvSpPr>
            <a:spLocks noGrp="1"/>
          </p:cNvSpPr>
          <p:nvPr>
            <p:ph type="sldNum" sz="quarter" idx="5"/>
          </p:nvPr>
        </p:nvSpPr>
        <p:spPr/>
        <p:txBody>
          <a:bodyPr/>
          <a:lstStyle/>
          <a:p>
            <a:fld id="{4F57C094-21CE-47C2-B85E-15CC2B32E4F0}" type="slidenum">
              <a:rPr lang="en-SG" smtClean="0"/>
              <a:t>53</a:t>
            </a:fld>
            <a:endParaRPr lang="en-SG"/>
          </a:p>
        </p:txBody>
      </p:sp>
    </p:spTree>
    <p:extLst>
      <p:ext uri="{BB962C8B-B14F-4D97-AF65-F5344CB8AC3E}">
        <p14:creationId xmlns:p14="http://schemas.microsoft.com/office/powerpoint/2010/main" val="12296518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8A6E7-CF09-B97F-4F6D-4463E494F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51C9A-21ED-7BA2-870D-E1A6C743E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E6F92-151D-DC56-02C2-287C5DC35219}"/>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4461FFE-FB84-7607-982E-6FDC97982AD5}"/>
              </a:ext>
            </a:extLst>
          </p:cNvPr>
          <p:cNvSpPr>
            <a:spLocks noGrp="1"/>
          </p:cNvSpPr>
          <p:nvPr>
            <p:ph type="sldNum" sz="quarter" idx="5"/>
          </p:nvPr>
        </p:nvSpPr>
        <p:spPr/>
        <p:txBody>
          <a:bodyPr/>
          <a:lstStyle/>
          <a:p>
            <a:fld id="{4F57C094-21CE-47C2-B85E-15CC2B32E4F0}" type="slidenum">
              <a:rPr lang="en-SG" smtClean="0"/>
              <a:t>54</a:t>
            </a:fld>
            <a:endParaRPr lang="en-SG"/>
          </a:p>
        </p:txBody>
      </p:sp>
    </p:spTree>
    <p:extLst>
      <p:ext uri="{BB962C8B-B14F-4D97-AF65-F5344CB8AC3E}">
        <p14:creationId xmlns:p14="http://schemas.microsoft.com/office/powerpoint/2010/main" val="8893835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B4694-0409-B936-ECBA-DB77E6539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1B97-FD59-DE37-40FF-0969BAEA0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9D10F-A148-A94B-D527-3808A3075D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DA341BF-5D61-B7B9-3C59-1547CF59BCE2}"/>
              </a:ext>
            </a:extLst>
          </p:cNvPr>
          <p:cNvSpPr>
            <a:spLocks noGrp="1"/>
          </p:cNvSpPr>
          <p:nvPr>
            <p:ph type="sldNum" sz="quarter" idx="5"/>
          </p:nvPr>
        </p:nvSpPr>
        <p:spPr/>
        <p:txBody>
          <a:bodyPr/>
          <a:lstStyle/>
          <a:p>
            <a:fld id="{4F57C094-21CE-47C2-B85E-15CC2B32E4F0}" type="slidenum">
              <a:rPr lang="en-SG" smtClean="0"/>
              <a:t>66</a:t>
            </a:fld>
            <a:endParaRPr lang="en-SG"/>
          </a:p>
        </p:txBody>
      </p:sp>
    </p:spTree>
    <p:extLst>
      <p:ext uri="{BB962C8B-B14F-4D97-AF65-F5344CB8AC3E}">
        <p14:creationId xmlns:p14="http://schemas.microsoft.com/office/powerpoint/2010/main" val="12279692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70403-DEA8-A4EF-F14F-A35569434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8353D-9437-0172-75BF-4CD0FABDD2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7E79A-ABD5-0A4A-CBF4-493A0D26EE6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F0EE3DF-A15F-CE9E-D70C-55429DCD2F02}"/>
              </a:ext>
            </a:extLst>
          </p:cNvPr>
          <p:cNvSpPr>
            <a:spLocks noGrp="1"/>
          </p:cNvSpPr>
          <p:nvPr>
            <p:ph type="sldNum" sz="quarter" idx="5"/>
          </p:nvPr>
        </p:nvSpPr>
        <p:spPr/>
        <p:txBody>
          <a:bodyPr/>
          <a:lstStyle/>
          <a:p>
            <a:fld id="{4F57C094-21CE-47C2-B85E-15CC2B32E4F0}" type="slidenum">
              <a:rPr lang="en-SG" smtClean="0"/>
              <a:t>67</a:t>
            </a:fld>
            <a:endParaRPr lang="en-SG"/>
          </a:p>
        </p:txBody>
      </p:sp>
    </p:spTree>
    <p:extLst>
      <p:ext uri="{BB962C8B-B14F-4D97-AF65-F5344CB8AC3E}">
        <p14:creationId xmlns:p14="http://schemas.microsoft.com/office/powerpoint/2010/main" val="19680682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AFB-30FE-C368-29FE-D9358E299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75504-001B-857B-F1CF-5AAB441D92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BB1F7-4D01-451B-08FB-F996907035B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0F8D0E1-8D4D-300A-C1E1-51450EE925F8}"/>
              </a:ext>
            </a:extLst>
          </p:cNvPr>
          <p:cNvSpPr>
            <a:spLocks noGrp="1"/>
          </p:cNvSpPr>
          <p:nvPr>
            <p:ph type="sldNum" sz="quarter" idx="5"/>
          </p:nvPr>
        </p:nvSpPr>
        <p:spPr/>
        <p:txBody>
          <a:bodyPr/>
          <a:lstStyle/>
          <a:p>
            <a:fld id="{4F57C094-21CE-47C2-B85E-15CC2B32E4F0}" type="slidenum">
              <a:rPr lang="en-SG" smtClean="0"/>
              <a:t>68</a:t>
            </a:fld>
            <a:endParaRPr lang="en-SG"/>
          </a:p>
        </p:txBody>
      </p:sp>
    </p:spTree>
    <p:extLst>
      <p:ext uri="{BB962C8B-B14F-4D97-AF65-F5344CB8AC3E}">
        <p14:creationId xmlns:p14="http://schemas.microsoft.com/office/powerpoint/2010/main" val="2357945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AB75-50B5-2459-9B63-DFAF0A1FE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DFB8F6-8891-89E0-37D6-B1FCB86C6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FB3CE-DEE9-B900-6BB5-553C89969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C771511-4FE3-B5EB-5009-A142CC0EBBC7}"/>
              </a:ext>
            </a:extLst>
          </p:cNvPr>
          <p:cNvSpPr>
            <a:spLocks noGrp="1"/>
          </p:cNvSpPr>
          <p:nvPr>
            <p:ph type="sldNum" sz="quarter" idx="5"/>
          </p:nvPr>
        </p:nvSpPr>
        <p:spPr/>
        <p:txBody>
          <a:bodyPr/>
          <a:lstStyle/>
          <a:p>
            <a:fld id="{4F57C094-21CE-47C2-B85E-15CC2B32E4F0}" type="slidenum">
              <a:rPr lang="en-SG" smtClean="0"/>
              <a:t>69</a:t>
            </a:fld>
            <a:endParaRPr lang="en-SG"/>
          </a:p>
        </p:txBody>
      </p:sp>
    </p:spTree>
    <p:extLst>
      <p:ext uri="{BB962C8B-B14F-4D97-AF65-F5344CB8AC3E}">
        <p14:creationId xmlns:p14="http://schemas.microsoft.com/office/powerpoint/2010/main" val="25836034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F937B-CC13-3BEC-2CBF-50058D708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51EA1C-C900-3D69-42C9-DD4A28A7FC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4DB573-F15D-6146-12FF-23892E494DC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9A1539-90E3-8B1C-088A-7323A1B6B79F}"/>
              </a:ext>
            </a:extLst>
          </p:cNvPr>
          <p:cNvSpPr>
            <a:spLocks noGrp="1"/>
          </p:cNvSpPr>
          <p:nvPr>
            <p:ph type="sldNum" sz="quarter" idx="5"/>
          </p:nvPr>
        </p:nvSpPr>
        <p:spPr/>
        <p:txBody>
          <a:bodyPr/>
          <a:lstStyle/>
          <a:p>
            <a:fld id="{4F57C094-21CE-47C2-B85E-15CC2B32E4F0}" type="slidenum">
              <a:rPr lang="en-SG" smtClean="0"/>
              <a:t>71</a:t>
            </a:fld>
            <a:endParaRPr lang="en-SG"/>
          </a:p>
        </p:txBody>
      </p:sp>
    </p:spTree>
    <p:extLst>
      <p:ext uri="{BB962C8B-B14F-4D97-AF65-F5344CB8AC3E}">
        <p14:creationId xmlns:p14="http://schemas.microsoft.com/office/powerpoint/2010/main" val="37950584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7327-E9DD-38E8-5C38-8C50BBE3E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6CC2F5-8C16-6BB8-4D5E-6DBDC2CE3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B4E26-DD08-6B54-2530-7AEA184C6F7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C781286-22BC-B9DE-767A-E55798EDA9AB}"/>
              </a:ext>
            </a:extLst>
          </p:cNvPr>
          <p:cNvSpPr>
            <a:spLocks noGrp="1"/>
          </p:cNvSpPr>
          <p:nvPr>
            <p:ph type="sldNum" sz="quarter" idx="5"/>
          </p:nvPr>
        </p:nvSpPr>
        <p:spPr/>
        <p:txBody>
          <a:bodyPr/>
          <a:lstStyle/>
          <a:p>
            <a:fld id="{4F57C094-21CE-47C2-B85E-15CC2B32E4F0}" type="slidenum">
              <a:rPr lang="en-SG" smtClean="0"/>
              <a:t>72</a:t>
            </a:fld>
            <a:endParaRPr lang="en-SG"/>
          </a:p>
        </p:txBody>
      </p:sp>
    </p:spTree>
    <p:extLst>
      <p:ext uri="{BB962C8B-B14F-4D97-AF65-F5344CB8AC3E}">
        <p14:creationId xmlns:p14="http://schemas.microsoft.com/office/powerpoint/2010/main" val="6270092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19E66-71D7-1AEC-2AD0-99A2C0DEB3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99FC3-33A8-B568-78FC-EB84A3A79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B1A82-3BE2-074A-C42F-89BAC9DE79E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04ACED71-9206-7FCB-CAF8-92808C16FF22}"/>
              </a:ext>
            </a:extLst>
          </p:cNvPr>
          <p:cNvSpPr>
            <a:spLocks noGrp="1"/>
          </p:cNvSpPr>
          <p:nvPr>
            <p:ph type="sldNum" sz="quarter" idx="5"/>
          </p:nvPr>
        </p:nvSpPr>
        <p:spPr/>
        <p:txBody>
          <a:bodyPr/>
          <a:lstStyle/>
          <a:p>
            <a:fld id="{4F57C094-21CE-47C2-B85E-15CC2B32E4F0}" type="slidenum">
              <a:rPr lang="en-SG" smtClean="0"/>
              <a:t>73</a:t>
            </a:fld>
            <a:endParaRPr lang="en-SG"/>
          </a:p>
        </p:txBody>
      </p:sp>
    </p:spTree>
    <p:extLst>
      <p:ext uri="{BB962C8B-B14F-4D97-AF65-F5344CB8AC3E}">
        <p14:creationId xmlns:p14="http://schemas.microsoft.com/office/powerpoint/2010/main" val="29391619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E3C0B-37E3-8A85-024E-2252024100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EB4D7-7305-B403-6746-29D497AFA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9ED1B-2698-6F2D-9B1D-A07AB2C15B9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DFA0989-2172-8DB8-AE3D-7A383178BD12}"/>
              </a:ext>
            </a:extLst>
          </p:cNvPr>
          <p:cNvSpPr>
            <a:spLocks noGrp="1"/>
          </p:cNvSpPr>
          <p:nvPr>
            <p:ph type="sldNum" sz="quarter" idx="5"/>
          </p:nvPr>
        </p:nvSpPr>
        <p:spPr/>
        <p:txBody>
          <a:bodyPr/>
          <a:lstStyle/>
          <a:p>
            <a:fld id="{4F57C094-21CE-47C2-B85E-15CC2B32E4F0}" type="slidenum">
              <a:rPr lang="en-SG" smtClean="0"/>
              <a:t>74</a:t>
            </a:fld>
            <a:endParaRPr lang="en-SG"/>
          </a:p>
        </p:txBody>
      </p:sp>
    </p:spTree>
    <p:extLst>
      <p:ext uri="{BB962C8B-B14F-4D97-AF65-F5344CB8AC3E}">
        <p14:creationId xmlns:p14="http://schemas.microsoft.com/office/powerpoint/2010/main" val="16127284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3E77C-0231-B711-2B55-28E5685CE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2D90A-2638-73F8-202C-E2491BB9E3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D2BD7B-3DA2-A820-2905-5243BCF5146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DAFB366E-7084-981E-358E-4DF5EFB35B35}"/>
              </a:ext>
            </a:extLst>
          </p:cNvPr>
          <p:cNvSpPr>
            <a:spLocks noGrp="1"/>
          </p:cNvSpPr>
          <p:nvPr>
            <p:ph type="sldNum" sz="quarter" idx="5"/>
          </p:nvPr>
        </p:nvSpPr>
        <p:spPr/>
        <p:txBody>
          <a:bodyPr/>
          <a:lstStyle/>
          <a:p>
            <a:fld id="{4F57C094-21CE-47C2-B85E-15CC2B32E4F0}" type="slidenum">
              <a:rPr lang="en-SG" smtClean="0"/>
              <a:t>76</a:t>
            </a:fld>
            <a:endParaRPr lang="en-SG"/>
          </a:p>
        </p:txBody>
      </p:sp>
    </p:spTree>
    <p:extLst>
      <p:ext uri="{BB962C8B-B14F-4D97-AF65-F5344CB8AC3E}">
        <p14:creationId xmlns:p14="http://schemas.microsoft.com/office/powerpoint/2010/main" val="39250898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43F7-0DBA-9C31-0B9D-132E59236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458D4F-B14E-8F7D-78CF-2A6EFF834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C51EE-2BFD-6FE3-A4BD-9C2901650E8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B1DB36D-F112-9DEA-F1A4-73ED73F41A10}"/>
              </a:ext>
            </a:extLst>
          </p:cNvPr>
          <p:cNvSpPr>
            <a:spLocks noGrp="1"/>
          </p:cNvSpPr>
          <p:nvPr>
            <p:ph type="sldNum" sz="quarter" idx="5"/>
          </p:nvPr>
        </p:nvSpPr>
        <p:spPr/>
        <p:txBody>
          <a:bodyPr/>
          <a:lstStyle/>
          <a:p>
            <a:fld id="{4F57C094-21CE-47C2-B85E-15CC2B32E4F0}" type="slidenum">
              <a:rPr lang="en-SG" smtClean="0"/>
              <a:t>77</a:t>
            </a:fld>
            <a:endParaRPr lang="en-SG"/>
          </a:p>
        </p:txBody>
      </p:sp>
    </p:spTree>
    <p:extLst>
      <p:ext uri="{BB962C8B-B14F-4D97-AF65-F5344CB8AC3E}">
        <p14:creationId xmlns:p14="http://schemas.microsoft.com/office/powerpoint/2010/main" val="6474347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4E4BF-FCD2-A670-2F11-05B4E6535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F1735-3805-E213-F358-EEAAFA9EE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45D16-E0F4-A6C0-F7B2-743236DA62E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D576525-0CA9-94FD-8EC7-4E3BECAC5296}"/>
              </a:ext>
            </a:extLst>
          </p:cNvPr>
          <p:cNvSpPr>
            <a:spLocks noGrp="1"/>
          </p:cNvSpPr>
          <p:nvPr>
            <p:ph type="sldNum" sz="quarter" idx="5"/>
          </p:nvPr>
        </p:nvSpPr>
        <p:spPr/>
        <p:txBody>
          <a:bodyPr/>
          <a:lstStyle/>
          <a:p>
            <a:fld id="{4F57C094-21CE-47C2-B85E-15CC2B32E4F0}" type="slidenum">
              <a:rPr lang="en-SG" smtClean="0"/>
              <a:t>78</a:t>
            </a:fld>
            <a:endParaRPr lang="en-SG"/>
          </a:p>
        </p:txBody>
      </p:sp>
    </p:spTree>
    <p:extLst>
      <p:ext uri="{BB962C8B-B14F-4D97-AF65-F5344CB8AC3E}">
        <p14:creationId xmlns:p14="http://schemas.microsoft.com/office/powerpoint/2010/main" val="30395599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PYTHON CRASH COURSE</a:t>
            </a:r>
          </a:p>
        </p:txBody>
      </p:sp>
      <p:sp>
        <p:nvSpPr>
          <p:cNvPr id="3" name="Subtitle 2"/>
          <p:cNvSpPr>
            <a:spLocks noGrp="1"/>
          </p:cNvSpPr>
          <p:nvPr>
            <p:ph type="subTitle" idx="1"/>
          </p:nvPr>
        </p:nvSpPr>
        <p:spPr/>
        <p:txBody>
          <a:bodyPr>
            <a:normAutofit fontScale="85000" lnSpcReduction="20000"/>
          </a:bodyPr>
          <a:lstStyle/>
          <a:p>
            <a:r>
              <a:t>Module 1  Foundation</a:t>
            </a:r>
          </a:p>
          <a:p>
            <a:r>
              <a:t>Module 2  Intermediate</a:t>
            </a:r>
          </a:p>
          <a:p>
            <a:r>
              <a:t>Module 3  Advanced</a:t>
            </a:r>
          </a:p>
          <a:p>
            <a:r>
              <a:t>Appendix  Tooling &amp; Eco-system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1  FOUNDATION</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53D61-0672-3959-267B-5734100BE979}"/>
              </a:ext>
            </a:extLst>
          </p:cNvPr>
          <p:cNvSpPr>
            <a:spLocks noGrp="1"/>
          </p:cNvSpPr>
          <p:nvPr>
            <p:ph type="title"/>
          </p:nvPr>
        </p:nvSpPr>
        <p:spPr/>
        <p:txBody>
          <a:bodyPr/>
          <a:lstStyle/>
          <a:p>
            <a:r>
              <a:rPr lang="en-SG" dirty="0"/>
              <a:t>About Python</a:t>
            </a:r>
          </a:p>
        </p:txBody>
      </p:sp>
      <p:sp>
        <p:nvSpPr>
          <p:cNvPr id="3" name="Content Placeholder 2">
            <a:extLst>
              <a:ext uri="{FF2B5EF4-FFF2-40B4-BE49-F238E27FC236}">
                <a16:creationId xmlns:a16="http://schemas.microsoft.com/office/drawing/2014/main" id="{9C41764B-8569-9F6E-772E-EC1147C75CE7}"/>
              </a:ext>
            </a:extLst>
          </p:cNvPr>
          <p:cNvSpPr>
            <a:spLocks noGrp="1"/>
          </p:cNvSpPr>
          <p:nvPr>
            <p:ph idx="1"/>
          </p:nvPr>
        </p:nvSpPr>
        <p:spPr/>
        <p:txBody>
          <a:bodyPr>
            <a:normAutofit fontScale="85000" lnSpcReduction="10000"/>
          </a:bodyPr>
          <a:lstStyle/>
          <a:p>
            <a:r>
              <a:rPr lang="en-US" dirty="0"/>
              <a:t>Python is Interpreted: </a:t>
            </a:r>
          </a:p>
          <a:p>
            <a:pPr lvl="1"/>
            <a:r>
              <a:rPr lang="en-US" dirty="0"/>
              <a:t>Processed at runtime by the interpreter. </a:t>
            </a:r>
          </a:p>
          <a:p>
            <a:pPr lvl="1"/>
            <a:r>
              <a:rPr lang="en-US" dirty="0"/>
              <a:t>Do not need to compile program before executing it. </a:t>
            </a:r>
          </a:p>
          <a:p>
            <a:r>
              <a:rPr lang="en-US" dirty="0"/>
              <a:t>Python is Interactive: </a:t>
            </a:r>
          </a:p>
          <a:p>
            <a:pPr lvl="1"/>
            <a:r>
              <a:rPr lang="en-US" dirty="0"/>
              <a:t>Can interact with the interpreter directly to write code. </a:t>
            </a:r>
          </a:p>
          <a:p>
            <a:r>
              <a:rPr lang="en-US" dirty="0"/>
              <a:t>Python is Object-Oriented: </a:t>
            </a:r>
          </a:p>
          <a:p>
            <a:pPr lvl="1"/>
            <a:r>
              <a:rPr lang="en-US" dirty="0"/>
              <a:t>Supports OOP. Encapsulates code within objects. </a:t>
            </a:r>
          </a:p>
          <a:p>
            <a:r>
              <a:rPr lang="en-US" dirty="0"/>
              <a:t>Python is a Beginner's Language: </a:t>
            </a:r>
          </a:p>
          <a:p>
            <a:pPr lvl="1"/>
            <a:r>
              <a:rPr lang="en-US" dirty="0"/>
              <a:t>Great for beginners</a:t>
            </a:r>
          </a:p>
          <a:p>
            <a:pPr lvl="1"/>
            <a:r>
              <a:rPr lang="en-US" dirty="0"/>
              <a:t>Supports development of a wide range of applications</a:t>
            </a:r>
            <a:endParaRPr lang="en-SG" dirty="0"/>
          </a:p>
        </p:txBody>
      </p:sp>
    </p:spTree>
    <p:extLst>
      <p:ext uri="{BB962C8B-B14F-4D97-AF65-F5344CB8AC3E}">
        <p14:creationId xmlns:p14="http://schemas.microsoft.com/office/powerpoint/2010/main" val="13330082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defRPr sz="2000"/>
            </a:pPr>
            <a:r>
              <a:rPr sz="2400" dirty="0"/>
              <a:t>Readable, indentation-driven syntax</a:t>
            </a:r>
            <a:endParaRPr lang="en-SG" sz="2400" dirty="0"/>
          </a:p>
          <a:p>
            <a:pPr marL="0" indent="0">
              <a:buNone/>
              <a:defRPr sz="2000"/>
            </a:pPr>
            <a:endParaRPr sz="2400" dirty="0"/>
          </a:p>
          <a:p>
            <a:pPr marL="0" indent="0">
              <a:buNone/>
              <a:defRPr sz="2000"/>
            </a:pPr>
            <a:r>
              <a:rPr sz="2400" dirty="0"/>
              <a:t>Huge standard library (“batteries included”)</a:t>
            </a:r>
          </a:p>
          <a:p>
            <a:pPr marL="0" indent="0">
              <a:buNone/>
              <a:defRPr sz="2000"/>
            </a:pPr>
            <a:endParaRPr lang="en-SG" sz="2400" dirty="0"/>
          </a:p>
          <a:p>
            <a:pPr marL="0" indent="0">
              <a:buNone/>
              <a:defRPr sz="2000"/>
            </a:pPr>
            <a:r>
              <a:rPr sz="2400" dirty="0"/>
              <a:t>Cross-platform, open-source, massive community</a:t>
            </a:r>
          </a:p>
          <a:p>
            <a:pPr marL="0" indent="0">
              <a:buNone/>
              <a:defRPr sz="2000"/>
            </a:pPr>
            <a:endParaRPr lang="en-SG" sz="2400" dirty="0"/>
          </a:p>
          <a:p>
            <a:pPr marL="0" indent="0">
              <a:buNone/>
              <a:defRPr sz="2000"/>
            </a:pPr>
            <a:r>
              <a:rPr sz="2400" dirty="0"/>
              <a:t>Runs servers, scripts, science, games, IoT, Excel…</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1556734"/>
            <a:ext cx="4965700" cy="3539430"/>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defTabSz="914400" eaLnBrk="0" fontAlgn="base" hangingPunct="0">
              <a:spcBef>
                <a:spcPct val="0"/>
              </a:spcBef>
              <a:spcAft>
                <a:spcPct val="0"/>
              </a:spcAft>
            </a:pPr>
            <a:r>
              <a:rPr lang="en-US" altLang="en-US" sz="2800" dirty="0">
                <a:latin typeface="Arial" panose="020B0604020202020204" pitchFamily="34" charset="0"/>
              </a:rPr>
              <a:t> A variable is a </a:t>
            </a:r>
            <a:r>
              <a:rPr lang="en-US" altLang="en-US" sz="2800" b="1" dirty="0">
                <a:latin typeface="Arial" panose="020B0604020202020204" pitchFamily="34" charset="0"/>
              </a:rPr>
              <a:t>name bound to an object</a:t>
            </a:r>
            <a:endParaRPr lang="en-US" altLang="en-US" sz="2800" dirty="0">
              <a:latin typeface="Arial" panose="020B0604020202020204" pitchFamily="34" charset="0"/>
            </a:endParaRPr>
          </a:p>
          <a:p>
            <a:pPr marL="0" indent="0" defTabSz="914400" eaLnBrk="0" fontAlgn="base" hangingPunct="0">
              <a:spcBef>
                <a:spcPct val="0"/>
              </a:spcBef>
              <a:spcAft>
                <a:spcPct val="0"/>
              </a:spcAft>
              <a:buNone/>
            </a:pPr>
            <a:r>
              <a:rPr lang="en-US" altLang="en-US" sz="2800" dirty="0">
                <a:latin typeface="Arial" panose="020B0604020202020204" pitchFamily="34" charset="0"/>
              </a:rPr>
              <a:t> </a:t>
            </a:r>
          </a:p>
          <a:p>
            <a:pPr defTabSz="914400" eaLnBrk="0" fontAlgn="base" hangingPunct="0">
              <a:spcBef>
                <a:spcPct val="0"/>
              </a:spcBef>
              <a:spcAft>
                <a:spcPct val="0"/>
              </a:spcAft>
            </a:pPr>
            <a:r>
              <a:rPr lang="en-US" altLang="en-US" sz="2800" dirty="0">
                <a:latin typeface="Arial" panose="020B0604020202020204" pitchFamily="34" charset="0"/>
              </a:rPr>
              <a:t>Created by </a:t>
            </a:r>
            <a:r>
              <a:rPr lang="en-US" altLang="en-US" sz="2800" b="1" dirty="0">
                <a:latin typeface="Arial" panose="020B0604020202020204" pitchFamily="34" charset="0"/>
              </a:rPr>
              <a:t>assignment</a:t>
            </a:r>
            <a:r>
              <a:rPr lang="en-US" altLang="en-US" sz="2800" dirty="0">
                <a:latin typeface="Arial" panose="020B0604020202020204" pitchFamily="34" charset="0"/>
              </a:rPr>
              <a:t>, not declaration</a:t>
            </a:r>
          </a:p>
          <a:p>
            <a:pPr defTabSz="914400" eaLnBrk="0" fontAlgn="base" hangingPunct="0">
              <a:spcBef>
                <a:spcPct val="0"/>
              </a:spcBef>
              <a:spcAft>
                <a:spcPct val="0"/>
              </a:spcAft>
            </a:pPr>
            <a:endParaRPr lang="en-US" altLang="en-US" sz="2800" dirty="0">
              <a:latin typeface="Arial" panose="020B0604020202020204" pitchFamily="34" charset="0"/>
            </a:endParaRPr>
          </a:p>
          <a:p>
            <a:pPr defTabSz="914400" eaLnBrk="0" fontAlgn="base" hangingPunct="0">
              <a:spcBef>
                <a:spcPct val="0"/>
              </a:spcBef>
              <a:spcAft>
                <a:spcPct val="0"/>
              </a:spcAft>
            </a:pPr>
            <a:r>
              <a:rPr lang="en-US" altLang="en-US" sz="2800" dirty="0">
                <a:latin typeface="Arial" panose="020B0604020202020204" pitchFamily="34" charset="0"/>
              </a:rPr>
              <a:t> No need to specify data types explicitly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89390"/>
            <a:ext cx="5524500" cy="1717393"/>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In Python, variables don’t hold objects — </a:t>
            </a:r>
            <a:r>
              <a:rPr lang="en-US" sz="2400" b="1" dirty="0"/>
              <a:t>they point to them</a:t>
            </a:r>
            <a:r>
              <a:rPr lang="en-US" sz="2400" dirty="0"/>
              <a:t>.</a:t>
            </a:r>
          </a:p>
          <a:p>
            <a:r>
              <a:rPr lang="en-US" sz="2400" dirty="0"/>
              <a:t>Variables are </a:t>
            </a:r>
            <a:r>
              <a:rPr lang="en-US" sz="2400" b="1" dirty="0"/>
              <a:t>name tags</a:t>
            </a:r>
            <a:r>
              <a:rPr lang="en-US" sz="2400" dirty="0"/>
              <a:t>, not containers</a:t>
            </a:r>
          </a:p>
          <a:p>
            <a:r>
              <a:rPr lang="en-US" sz="2400" dirty="0"/>
              <a:t>Objects live independently in memory</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207126"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308100" y="4040016"/>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Tree>
    <p:extLst>
      <p:ext uri="{BB962C8B-B14F-4D97-AF65-F5344CB8AC3E}">
        <p14:creationId xmlns:p14="http://schemas.microsoft.com/office/powerpoint/2010/main" val="12834070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dirty="0"/>
              <a:t>Contrast with Reassignment</a:t>
            </a:r>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3225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1" y="2739798"/>
            <a:ext cx="8458199"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Python is </a:t>
            </a:r>
            <a:r>
              <a:rPr kumimoji="0" lang="en-US" altLang="en-US" sz="2800" b="1" i="0" u="none" strike="noStrike" cap="none" normalizeH="0" baseline="0" dirty="0">
                <a:ln>
                  <a:noFill/>
                </a:ln>
                <a:solidFill>
                  <a:schemeClr val="tx1"/>
                </a:solidFill>
                <a:effectLst/>
                <a:latin typeface="Arial" panose="020B0604020202020204" pitchFamily="34" charset="0"/>
              </a:rPr>
              <a:t>dynamically typed</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The </a:t>
            </a:r>
            <a:r>
              <a:rPr kumimoji="0" lang="en-US" altLang="en-US" sz="2800" b="1" i="0" u="none" strike="noStrike" cap="none" normalizeH="0" baseline="0" dirty="0">
                <a:ln>
                  <a:noFill/>
                </a:ln>
                <a:solidFill>
                  <a:schemeClr val="tx1"/>
                </a:solidFill>
                <a:effectLst/>
                <a:latin typeface="Arial" panose="020B0604020202020204" pitchFamily="34" charset="0"/>
              </a:rPr>
              <a:t>type belongs to the object</a:t>
            </a:r>
            <a:r>
              <a:rPr kumimoji="0" lang="en-US" altLang="en-US" sz="2800" b="0" i="0" u="none" strike="noStrike" cap="none" normalizeH="0" baseline="0" dirty="0">
                <a:ln>
                  <a:noFill/>
                </a:ln>
                <a:solidFill>
                  <a:schemeClr val="tx1"/>
                </a:solidFill>
                <a:effectLst/>
                <a:latin typeface="Arial" panose="020B0604020202020204" pitchFamily="34" charset="0"/>
              </a:rPr>
              <a:t>, not the variable</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 variable can reference different types over time</a:t>
            </a:r>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779000" y="2955241"/>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Tree>
    <p:extLst>
      <p:ext uri="{BB962C8B-B14F-4D97-AF65-F5344CB8AC3E}">
        <p14:creationId xmlns:p14="http://schemas.microsoft.com/office/powerpoint/2010/main" val="601899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int        0  -42  1_000_000</a:t>
            </a:r>
            <a:br>
              <a:rPr sz="2400" dirty="0"/>
            </a:br>
            <a:r>
              <a:rPr sz="2400" dirty="0"/>
              <a:t>float      0.0  3.14159  6.02e23</a:t>
            </a:r>
            <a:br>
              <a:rPr sz="2400" dirty="0"/>
            </a:br>
            <a:r>
              <a:rPr sz="2400" dirty="0"/>
              <a:t>complex    3+4j</a:t>
            </a:r>
            <a:br>
              <a:rPr sz="2400" dirty="0"/>
            </a:br>
            <a:r>
              <a:rPr sz="2400" dirty="0"/>
              <a:t>str        'spam'  "spam"  """multi-line"""</a:t>
            </a:r>
            <a:br>
              <a:rPr sz="2400" dirty="0"/>
            </a:br>
            <a:r>
              <a:rPr sz="2400" dirty="0"/>
              <a:t>bool       True  False</a:t>
            </a:r>
            <a:br>
              <a:rPr sz="2400" dirty="0"/>
            </a:br>
            <a:r>
              <a:rPr sz="2400" dirty="0" err="1"/>
              <a:t>NoneType</a:t>
            </a:r>
            <a:r>
              <a:rPr sz="2400" dirty="0"/>
              <a:t>   None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7 / 3            # 2.333…  (float)</a:t>
            </a:r>
            <a:br>
              <a:rPr sz="2400" dirty="0"/>
            </a:br>
            <a:r>
              <a:rPr sz="2400" dirty="0"/>
              <a:t>7 // 3           # 2       (floor int)</a:t>
            </a:r>
            <a:br>
              <a:rPr sz="2400" dirty="0"/>
            </a:br>
            <a:r>
              <a:rPr sz="2400" dirty="0"/>
              <a:t>7 % 3            # 1       (modulo)</a:t>
            </a:r>
            <a:br>
              <a:rPr sz="2400" dirty="0"/>
            </a:br>
            <a:r>
              <a:rPr sz="2400" dirty="0" err="1"/>
              <a:t>divmod</a:t>
            </a:r>
            <a:r>
              <a:rPr sz="2400" dirty="0"/>
              <a:t>(7, 3)     # (2, 1)</a:t>
            </a:r>
            <a:br>
              <a:rPr sz="2400" dirty="0"/>
            </a:br>
            <a:br>
              <a:rPr sz="2400" dirty="0"/>
            </a:br>
            <a:r>
              <a:rPr sz="2400" dirty="0"/>
              <a:t>2 ** 10          # 1024</a:t>
            </a:r>
            <a:br>
              <a:rPr sz="2400" dirty="0"/>
            </a:br>
            <a:r>
              <a:rPr sz="2400" dirty="0"/>
              <a:t>pow(2, 10, 100)  # 24  (modular exponentiation)</a:t>
            </a:r>
            <a:br>
              <a:rPr sz="2400" dirty="0"/>
            </a:br>
            <a:br>
              <a:rPr sz="2400" dirty="0"/>
            </a:br>
            <a:r>
              <a:rPr sz="2400" dirty="0"/>
              <a:t>from decimal import Decimal</a:t>
            </a:r>
            <a:br>
              <a:rPr sz="2400" dirty="0"/>
            </a:br>
            <a:r>
              <a:rPr sz="2400" dirty="0"/>
              <a:t>price = Decimal('19.99')</a:t>
            </a:r>
            <a:br>
              <a:rPr sz="2400" dirty="0"/>
            </a:br>
            <a:r>
              <a:rPr sz="2400" dirty="0"/>
              <a:t>tax   = price * Decimal('0.07')</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EDBEF-D376-5E7E-2F51-E597F0E9A040}"/>
              </a:ext>
            </a:extLst>
          </p:cNvPr>
          <p:cNvSpPr>
            <a:spLocks noGrp="1"/>
          </p:cNvSpPr>
          <p:nvPr>
            <p:ph type="title"/>
          </p:nvPr>
        </p:nvSpPr>
        <p:spPr/>
        <p:txBody>
          <a:bodyPr/>
          <a:lstStyle/>
          <a:p>
            <a:r>
              <a:rPr lang="en-SG" dirty="0"/>
              <a:t>Attributes and Methods</a:t>
            </a:r>
          </a:p>
        </p:txBody>
      </p:sp>
      <p:sp>
        <p:nvSpPr>
          <p:cNvPr id="3" name="Content Placeholder 2">
            <a:extLst>
              <a:ext uri="{FF2B5EF4-FFF2-40B4-BE49-F238E27FC236}">
                <a16:creationId xmlns:a16="http://schemas.microsoft.com/office/drawing/2014/main" id="{D400DD97-CB3B-C333-B251-F749C8C26444}"/>
              </a:ext>
            </a:extLst>
          </p:cNvPr>
          <p:cNvSpPr>
            <a:spLocks noGrp="1"/>
          </p:cNvSpPr>
          <p:nvPr>
            <p:ph idx="1"/>
          </p:nvPr>
        </p:nvSpPr>
        <p:spPr/>
        <p:txBody>
          <a:bodyPr/>
          <a:lstStyle/>
          <a:p>
            <a:r>
              <a:rPr lang="en-US" dirty="0"/>
              <a:t>Different data types will have various attributes/methods that are associated with them.</a:t>
            </a:r>
          </a:p>
          <a:p>
            <a:r>
              <a:rPr lang="en-US" dirty="0"/>
              <a:t>We can access these attributes by using a period: [</a:t>
            </a:r>
            <a:r>
              <a:rPr lang="en-US" dirty="0" err="1"/>
              <a:t>var_name</a:t>
            </a:r>
            <a:r>
              <a:rPr lang="en-US" dirty="0"/>
              <a:t>].[attribute]</a:t>
            </a:r>
            <a:endParaRPr lang="en-SG" dirty="0"/>
          </a:p>
        </p:txBody>
      </p:sp>
    </p:spTree>
    <p:extLst>
      <p:ext uri="{BB962C8B-B14F-4D97-AF65-F5344CB8AC3E}">
        <p14:creationId xmlns:p14="http://schemas.microsoft.com/office/powerpoint/2010/main" val="14119773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36BCB-A5CF-82F4-5B90-6E0B4CF53EFE}"/>
              </a:ext>
            </a:extLst>
          </p:cNvPr>
          <p:cNvSpPr>
            <a:spLocks noGrp="1"/>
          </p:cNvSpPr>
          <p:nvPr>
            <p:ph type="title"/>
          </p:nvPr>
        </p:nvSpPr>
        <p:spPr/>
        <p:txBody>
          <a:bodyPr/>
          <a:lstStyle/>
          <a:p>
            <a:r>
              <a:rPr lang="en-SG" dirty="0"/>
              <a:t>Strings</a:t>
            </a:r>
          </a:p>
        </p:txBody>
      </p:sp>
      <p:sp>
        <p:nvSpPr>
          <p:cNvPr id="3" name="Content Placeholder 2">
            <a:extLst>
              <a:ext uri="{FF2B5EF4-FFF2-40B4-BE49-F238E27FC236}">
                <a16:creationId xmlns:a16="http://schemas.microsoft.com/office/drawing/2014/main" id="{1F2E1D83-BFB6-344E-AF06-1EFAA12E572B}"/>
              </a:ext>
            </a:extLst>
          </p:cNvPr>
          <p:cNvSpPr>
            <a:spLocks noGrp="1"/>
          </p:cNvSpPr>
          <p:nvPr>
            <p:ph idx="1"/>
          </p:nvPr>
        </p:nvSpPr>
        <p:spPr>
          <a:xfrm>
            <a:off x="571500" y="1600198"/>
            <a:ext cx="7023100" cy="4525963"/>
          </a:xfrm>
        </p:spPr>
        <p:style>
          <a:lnRef idx="2">
            <a:schemeClr val="dk1"/>
          </a:lnRef>
          <a:fillRef idx="1">
            <a:schemeClr val="lt1"/>
          </a:fillRef>
          <a:effectRef idx="0">
            <a:schemeClr val="dk1"/>
          </a:effectRef>
          <a:fontRef idx="minor">
            <a:schemeClr val="dk1"/>
          </a:fontRef>
        </p:style>
        <p:txBody>
          <a:bodyPr/>
          <a:lstStyle/>
          <a:p>
            <a:r>
              <a:rPr lang="en-US" dirty="0"/>
              <a:t>Strings contain characters</a:t>
            </a:r>
          </a:p>
          <a:p>
            <a:r>
              <a:rPr lang="en-US" dirty="0"/>
              <a:t>Example of some useful string attributes: </a:t>
            </a:r>
          </a:p>
          <a:p>
            <a:pPr lvl="1"/>
            <a:r>
              <a:rPr lang="en-US" dirty="0"/>
              <a:t>Split: splits a string on particular characters </a:t>
            </a:r>
          </a:p>
          <a:p>
            <a:pPr lvl="1"/>
            <a:r>
              <a:rPr lang="en-US" dirty="0"/>
              <a:t>Upper: converts everything to uppercase </a:t>
            </a:r>
          </a:p>
          <a:p>
            <a:pPr lvl="1"/>
            <a:r>
              <a:rPr lang="en-US" dirty="0"/>
              <a:t>Find: identifies specific elements in the string</a:t>
            </a:r>
            <a:endParaRPr lang="en-SG" dirty="0"/>
          </a:p>
        </p:txBody>
      </p:sp>
      <p:sp>
        <p:nvSpPr>
          <p:cNvPr id="7" name="Content Placeholder 2">
            <a:extLst>
              <a:ext uri="{FF2B5EF4-FFF2-40B4-BE49-F238E27FC236}">
                <a16:creationId xmlns:a16="http://schemas.microsoft.com/office/drawing/2014/main" id="{B9882589-B8AD-D557-ACA0-1FC895A4A797}"/>
              </a:ext>
            </a:extLst>
          </p:cNvPr>
          <p:cNvSpPr txBox="1">
            <a:spLocks/>
          </p:cNvSpPr>
          <p:nvPr/>
        </p:nvSpPr>
        <p:spPr>
          <a:xfrm>
            <a:off x="8553449" y="1600199"/>
            <a:ext cx="3178176"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800" dirty="0"/>
              <a:t>#Small example </a:t>
            </a:r>
          </a:p>
          <a:p>
            <a:pPr marL="0" indent="0">
              <a:buNone/>
            </a:pPr>
            <a:r>
              <a:rPr lang="en-US" sz="2800" dirty="0"/>
              <a:t>x = "Hello World!" </a:t>
            </a:r>
          </a:p>
          <a:p>
            <a:pPr marL="0" indent="0">
              <a:buNone/>
            </a:pPr>
            <a:r>
              <a:rPr lang="en-US" sz="2800" dirty="0" err="1"/>
              <a:t>x.split</a:t>
            </a:r>
            <a:r>
              <a:rPr lang="en-US" sz="2800" dirty="0"/>
              <a:t>(" ") </a:t>
            </a:r>
          </a:p>
          <a:p>
            <a:pPr marL="0" indent="0">
              <a:buNone/>
            </a:pPr>
            <a:endParaRPr lang="en-US" sz="2800" dirty="0"/>
          </a:p>
          <a:p>
            <a:pPr marL="0" indent="0">
              <a:buNone/>
            </a:pPr>
            <a:r>
              <a:rPr lang="en-US" sz="2800" dirty="0"/>
              <a:t># Output</a:t>
            </a:r>
          </a:p>
          <a:p>
            <a:pPr marL="0" indent="0">
              <a:buNone/>
            </a:pPr>
            <a:r>
              <a:rPr lang="en-US" sz="2800" dirty="0"/>
              <a:t>"Hello" "World!"</a:t>
            </a:r>
            <a:endParaRPr lang="en-SG" sz="2800" dirty="0"/>
          </a:p>
        </p:txBody>
      </p:sp>
    </p:spTree>
    <p:extLst>
      <p:ext uri="{BB962C8B-B14F-4D97-AF65-F5344CB8AC3E}">
        <p14:creationId xmlns:p14="http://schemas.microsoft.com/office/powerpoint/2010/main" val="1910798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b="1"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b="1"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p:txBody>
          <a:bodyPr>
            <a:normAutofit fontScale="90000"/>
          </a:bodyPr>
          <a:lstStyle/>
          <a:p>
            <a:r>
              <a:rPr lang="en-SG" b="1"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EE9BD-D28C-3AD0-D6C9-A41E4638EA33}"/>
              </a:ext>
            </a:extLst>
          </p:cNvPr>
          <p:cNvSpPr>
            <a:spLocks noGrp="1"/>
          </p:cNvSpPr>
          <p:nvPr>
            <p:ph type="title"/>
          </p:nvPr>
        </p:nvSpPr>
        <p:spPr/>
        <p:txBody>
          <a:bodyPr/>
          <a:lstStyle/>
          <a:p>
            <a:r>
              <a:rPr lang="en-SG" dirty="0"/>
              <a:t>What Is Control Flow?</a:t>
            </a:r>
          </a:p>
        </p:txBody>
      </p:sp>
      <p:sp>
        <p:nvSpPr>
          <p:cNvPr id="6" name="Text Placeholder 5">
            <a:extLst>
              <a:ext uri="{FF2B5EF4-FFF2-40B4-BE49-F238E27FC236}">
                <a16:creationId xmlns:a16="http://schemas.microsoft.com/office/drawing/2014/main" id="{67122D64-82A1-32AB-AE5C-CF8C122AA6AF}"/>
              </a:ext>
            </a:extLst>
          </p:cNvPr>
          <p:cNvSpPr>
            <a:spLocks noGrp="1"/>
          </p:cNvSpPr>
          <p:nvPr>
            <p:ph type="body" idx="1"/>
          </p:nvPr>
        </p:nvSpPr>
        <p:spPr/>
        <p:txBody>
          <a:bodyPr/>
          <a:lstStyle/>
          <a:p>
            <a:r>
              <a:rPr lang="en-SG" dirty="0"/>
              <a:t>Key Ideas</a:t>
            </a:r>
          </a:p>
        </p:txBody>
      </p:sp>
      <p:sp>
        <p:nvSpPr>
          <p:cNvPr id="7" name="Content Placeholder 6">
            <a:extLst>
              <a:ext uri="{FF2B5EF4-FFF2-40B4-BE49-F238E27FC236}">
                <a16:creationId xmlns:a16="http://schemas.microsoft.com/office/drawing/2014/main" id="{7A939862-F84E-4C68-0708-804A1E28BE35}"/>
              </a:ext>
            </a:extLst>
          </p:cNvPr>
          <p:cNvSpPr>
            <a:spLocks noGrp="1"/>
          </p:cNvSpPr>
          <p:nvPr>
            <p:ph sz="half" idx="2"/>
          </p:nvPr>
        </p:nvSpPr>
        <p:spPr/>
        <p:txBody>
          <a:bodyPr/>
          <a:lstStyle/>
          <a:p>
            <a:r>
              <a:rPr lang="en-US" dirty="0"/>
              <a:t>Control flow determines the order in which code executes</a:t>
            </a:r>
          </a:p>
          <a:p>
            <a:endParaRPr lang="en-US" dirty="0"/>
          </a:p>
          <a:p>
            <a:r>
              <a:rPr lang="en-US" dirty="0"/>
              <a:t>Allows programs to make decisions and repeat actions</a:t>
            </a:r>
            <a:endParaRPr lang="en-SG" dirty="0"/>
          </a:p>
        </p:txBody>
      </p:sp>
      <p:sp>
        <p:nvSpPr>
          <p:cNvPr id="8" name="Text Placeholder 7">
            <a:extLst>
              <a:ext uri="{FF2B5EF4-FFF2-40B4-BE49-F238E27FC236}">
                <a16:creationId xmlns:a16="http://schemas.microsoft.com/office/drawing/2014/main" id="{4F563BE6-C236-7FB4-2B29-0D4B45E9E9D3}"/>
              </a:ext>
            </a:extLst>
          </p:cNvPr>
          <p:cNvSpPr>
            <a:spLocks noGrp="1"/>
          </p:cNvSpPr>
          <p:nvPr>
            <p:ph type="body" sz="quarter" idx="3"/>
          </p:nvPr>
        </p:nvSpPr>
        <p:spPr>
          <a:xfrm>
            <a:off x="5546725" y="1535113"/>
            <a:ext cx="4041775" cy="639762"/>
          </a:xfrm>
        </p:spPr>
        <p:txBody>
          <a:bodyPr/>
          <a:lstStyle/>
          <a:p>
            <a:r>
              <a:rPr lang="en-SG" dirty="0"/>
              <a:t>Examples</a:t>
            </a:r>
          </a:p>
        </p:txBody>
      </p:sp>
      <p:sp>
        <p:nvSpPr>
          <p:cNvPr id="9" name="Content Placeholder 8">
            <a:extLst>
              <a:ext uri="{FF2B5EF4-FFF2-40B4-BE49-F238E27FC236}">
                <a16:creationId xmlns:a16="http://schemas.microsoft.com/office/drawing/2014/main" id="{90294DEA-EA5F-948F-B16A-BC409FFE2B78}"/>
              </a:ext>
            </a:extLst>
          </p:cNvPr>
          <p:cNvSpPr>
            <a:spLocks noGrp="1"/>
          </p:cNvSpPr>
          <p:nvPr>
            <p:ph sz="quarter" idx="4"/>
          </p:nvPr>
        </p:nvSpPr>
        <p:spPr>
          <a:xfrm>
            <a:off x="5546725" y="2174875"/>
            <a:ext cx="4041775" cy="3951288"/>
          </a:xfrm>
        </p:spPr>
        <p:txBody>
          <a:bodyPr/>
          <a:lstStyle/>
          <a:p>
            <a:r>
              <a:rPr lang="en-US" dirty="0"/>
              <a:t>Making choices (if this happens </a:t>
            </a:r>
            <a:r>
              <a:rPr lang="en-US" dirty="0">
                <a:sym typeface="Wingdings" panose="05000000000000000000" pitchFamily="2" charset="2"/>
              </a:rPr>
              <a:t></a:t>
            </a:r>
            <a:r>
              <a:rPr lang="en-US" dirty="0"/>
              <a:t> do that)</a:t>
            </a:r>
          </a:p>
          <a:p>
            <a:endParaRPr lang="en-US" dirty="0"/>
          </a:p>
          <a:p>
            <a:r>
              <a:rPr lang="en-US" dirty="0"/>
              <a:t>Repeating tasks (loop until done)</a:t>
            </a:r>
            <a:endParaRPr lang="en-SG" dirty="0"/>
          </a:p>
        </p:txBody>
      </p:sp>
    </p:spTree>
    <p:extLst>
      <p:ext uri="{BB962C8B-B14F-4D97-AF65-F5344CB8AC3E}">
        <p14:creationId xmlns:p14="http://schemas.microsoft.com/office/powerpoint/2010/main" val="39783579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55F4CC3-D0A8-F0FD-7D4D-364F7B85732D}"/>
              </a:ext>
            </a:extLst>
          </p:cNvPr>
          <p:cNvSpPr>
            <a:spLocks noGrp="1"/>
          </p:cNvSpPr>
          <p:nvPr>
            <p:ph type="title"/>
          </p:nvPr>
        </p:nvSpPr>
        <p:spPr/>
        <p:txBody>
          <a:bodyPr/>
          <a:lstStyle/>
          <a:p>
            <a:r>
              <a:rPr lang="en-SG" dirty="0"/>
              <a:t>Conditional Statements (if)</a:t>
            </a:r>
          </a:p>
        </p:txBody>
      </p:sp>
      <p:sp>
        <p:nvSpPr>
          <p:cNvPr id="8" name="Content Placeholder 7">
            <a:extLst>
              <a:ext uri="{FF2B5EF4-FFF2-40B4-BE49-F238E27FC236}">
                <a16:creationId xmlns:a16="http://schemas.microsoft.com/office/drawing/2014/main" id="{30BCBE06-C4BB-842D-E65B-ED154030397E}"/>
              </a:ext>
            </a:extLst>
          </p:cNvPr>
          <p:cNvSpPr>
            <a:spLocks noGrp="1"/>
          </p:cNvSpPr>
          <p:nvPr>
            <p:ph idx="1"/>
          </p:nvPr>
        </p:nvSpPr>
        <p:spPr>
          <a:xfrm>
            <a:off x="457200" y="1600200"/>
            <a:ext cx="45593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18</a:t>
            </a:r>
          </a:p>
          <a:p>
            <a:pPr marL="0" indent="0">
              <a:buNone/>
            </a:pPr>
            <a:endParaRPr lang="en-US" dirty="0"/>
          </a:p>
          <a:p>
            <a:pPr marL="0" indent="0">
              <a:buNone/>
            </a:pPr>
            <a:r>
              <a:rPr lang="en-US" dirty="0"/>
              <a:t>if age &gt;= 18:</a:t>
            </a:r>
          </a:p>
          <a:p>
            <a:pPr marL="0" indent="0">
              <a:buNone/>
            </a:pPr>
            <a:r>
              <a:rPr lang="en-US" dirty="0"/>
              <a:t>    print("Adult")</a:t>
            </a:r>
          </a:p>
          <a:p>
            <a:pPr marL="0" indent="0">
              <a:buNone/>
            </a:pPr>
            <a:endParaRPr lang="en-SG" dirty="0"/>
          </a:p>
        </p:txBody>
      </p:sp>
      <p:sp>
        <p:nvSpPr>
          <p:cNvPr id="10" name="Content Placeholder 7">
            <a:extLst>
              <a:ext uri="{FF2B5EF4-FFF2-40B4-BE49-F238E27FC236}">
                <a16:creationId xmlns:a16="http://schemas.microsoft.com/office/drawing/2014/main" id="{F3580025-9EC0-BC64-3B98-AA68CBD34AB0}"/>
              </a:ext>
            </a:extLst>
          </p:cNvPr>
          <p:cNvSpPr txBox="1">
            <a:spLocks/>
          </p:cNvSpPr>
          <p:nvPr/>
        </p:nvSpPr>
        <p:spPr>
          <a:xfrm>
            <a:off x="5991225" y="1600200"/>
            <a:ext cx="5740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make decisions</a:t>
            </a:r>
          </a:p>
          <a:p>
            <a:endParaRPr lang="en-US" dirty="0"/>
          </a:p>
          <a:p>
            <a:r>
              <a:rPr lang="en-US" dirty="0"/>
              <a:t>Condition must evaluate to True or False</a:t>
            </a:r>
            <a:endParaRPr lang="en-SG" dirty="0"/>
          </a:p>
        </p:txBody>
      </p:sp>
    </p:spTree>
    <p:extLst>
      <p:ext uri="{BB962C8B-B14F-4D97-AF65-F5344CB8AC3E}">
        <p14:creationId xmlns:p14="http://schemas.microsoft.com/office/powerpoint/2010/main" val="227996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E177C-B0BC-7326-B845-D5DF32D9CCE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6A51632-BC44-84A5-2E53-E213A6688780}"/>
              </a:ext>
            </a:extLst>
          </p:cNvPr>
          <p:cNvSpPr>
            <a:spLocks noGrp="1"/>
          </p:cNvSpPr>
          <p:nvPr>
            <p:ph type="title"/>
          </p:nvPr>
        </p:nvSpPr>
        <p:spPr/>
        <p:txBody>
          <a:bodyPr/>
          <a:lstStyle/>
          <a:p>
            <a:r>
              <a:rPr lang="en-SG" dirty="0"/>
              <a:t>if–else Statements</a:t>
            </a:r>
          </a:p>
        </p:txBody>
      </p:sp>
      <p:sp>
        <p:nvSpPr>
          <p:cNvPr id="8" name="Content Placeholder 7">
            <a:extLst>
              <a:ext uri="{FF2B5EF4-FFF2-40B4-BE49-F238E27FC236}">
                <a16:creationId xmlns:a16="http://schemas.microsoft.com/office/drawing/2014/main" id="{1267D225-2AA0-D830-88DE-CADAE95DF074}"/>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16</a:t>
            </a:r>
          </a:p>
          <a:p>
            <a:pPr marL="0" indent="0">
              <a:buNone/>
            </a:pPr>
            <a:endParaRPr lang="en-US" dirty="0"/>
          </a:p>
          <a:p>
            <a:pPr marL="0" indent="0">
              <a:buNone/>
            </a:pPr>
            <a:r>
              <a:rPr lang="en-US" dirty="0"/>
              <a:t>if age &gt;= 18:</a:t>
            </a:r>
          </a:p>
          <a:p>
            <a:pPr marL="0" indent="0">
              <a:buNone/>
            </a:pPr>
            <a:r>
              <a:rPr lang="en-US" dirty="0"/>
              <a:t>    print("Adult")</a:t>
            </a:r>
          </a:p>
          <a:p>
            <a:pPr marL="0" indent="0">
              <a:buNone/>
            </a:pPr>
            <a:r>
              <a:rPr lang="en-US" dirty="0"/>
              <a:t>else:</a:t>
            </a:r>
          </a:p>
          <a:p>
            <a:pPr marL="0" indent="0">
              <a:buNone/>
            </a:pPr>
            <a:r>
              <a:rPr lang="en-US" dirty="0"/>
              <a:t>    print(“Child")</a:t>
            </a:r>
          </a:p>
        </p:txBody>
      </p:sp>
      <p:sp>
        <p:nvSpPr>
          <p:cNvPr id="10" name="Content Placeholder 7">
            <a:extLst>
              <a:ext uri="{FF2B5EF4-FFF2-40B4-BE49-F238E27FC236}">
                <a16:creationId xmlns:a16="http://schemas.microsoft.com/office/drawing/2014/main" id="{013FA370-58B6-C01C-92B9-70221D1720DD}"/>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else runs when condition is False</a:t>
            </a:r>
            <a:endParaRPr lang="en-SG" dirty="0"/>
          </a:p>
        </p:txBody>
      </p:sp>
    </p:spTree>
    <p:extLst>
      <p:ext uri="{BB962C8B-B14F-4D97-AF65-F5344CB8AC3E}">
        <p14:creationId xmlns:p14="http://schemas.microsoft.com/office/powerpoint/2010/main" val="31716083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998AB-CEBE-DF4F-362F-3B0FB04D1AF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9E71A83-DC54-9097-4D86-302EF360997F}"/>
              </a:ext>
            </a:extLst>
          </p:cNvPr>
          <p:cNvSpPr>
            <a:spLocks noGrp="1"/>
          </p:cNvSpPr>
          <p:nvPr>
            <p:ph type="title"/>
          </p:nvPr>
        </p:nvSpPr>
        <p:spPr/>
        <p:txBody>
          <a:bodyPr/>
          <a:lstStyle/>
          <a:p>
            <a:r>
              <a:rPr lang="en-SG" dirty="0"/>
              <a:t>if–</a:t>
            </a:r>
            <a:r>
              <a:rPr lang="en-SG" dirty="0" err="1"/>
              <a:t>elif</a:t>
            </a:r>
            <a:r>
              <a:rPr lang="en-SG" dirty="0"/>
              <a:t>–else Chain</a:t>
            </a:r>
          </a:p>
        </p:txBody>
      </p:sp>
      <p:sp>
        <p:nvSpPr>
          <p:cNvPr id="8" name="Content Placeholder 7">
            <a:extLst>
              <a:ext uri="{FF2B5EF4-FFF2-40B4-BE49-F238E27FC236}">
                <a16:creationId xmlns:a16="http://schemas.microsoft.com/office/drawing/2014/main" id="{97570279-B9C2-666D-D2E0-78680EF38AE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score = 75</a:t>
            </a:r>
          </a:p>
          <a:p>
            <a:pPr marL="0" indent="0">
              <a:buNone/>
            </a:pPr>
            <a:endParaRPr lang="en-US" dirty="0"/>
          </a:p>
          <a:p>
            <a:pPr marL="0" indent="0">
              <a:buNone/>
            </a:pPr>
            <a:r>
              <a:rPr lang="en-US" dirty="0"/>
              <a:t>if score &gt;= 85:</a:t>
            </a:r>
          </a:p>
          <a:p>
            <a:pPr marL="0" indent="0">
              <a:buNone/>
            </a:pPr>
            <a:r>
              <a:rPr lang="en-US" dirty="0"/>
              <a:t>    print("Distinction")</a:t>
            </a:r>
          </a:p>
          <a:p>
            <a:pPr marL="0" indent="0">
              <a:buNone/>
            </a:pPr>
            <a:r>
              <a:rPr lang="en-US" dirty="0" err="1"/>
              <a:t>elif</a:t>
            </a:r>
            <a:r>
              <a:rPr lang="en-US" dirty="0"/>
              <a:t> score &gt;= 60:</a:t>
            </a:r>
          </a:p>
          <a:p>
            <a:pPr marL="0" indent="0">
              <a:buNone/>
            </a:pPr>
            <a:r>
              <a:rPr lang="en-US" dirty="0"/>
              <a:t>    print("Pass")</a:t>
            </a:r>
          </a:p>
          <a:p>
            <a:pPr marL="0" indent="0">
              <a:buNone/>
            </a:pPr>
            <a:r>
              <a:rPr lang="en-US" dirty="0"/>
              <a:t>else:</a:t>
            </a:r>
          </a:p>
          <a:p>
            <a:pPr marL="0" indent="0">
              <a:buNone/>
            </a:pPr>
            <a:r>
              <a:rPr lang="en-US" dirty="0"/>
              <a:t>    print("Fail")</a:t>
            </a:r>
          </a:p>
        </p:txBody>
      </p:sp>
      <p:sp>
        <p:nvSpPr>
          <p:cNvPr id="10" name="Content Placeholder 7">
            <a:extLst>
              <a:ext uri="{FF2B5EF4-FFF2-40B4-BE49-F238E27FC236}">
                <a16:creationId xmlns:a16="http://schemas.microsoft.com/office/drawing/2014/main" id="{F10CA6F0-3599-642C-16B7-93D93342C71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for multiple conditions</a:t>
            </a:r>
          </a:p>
          <a:p>
            <a:endParaRPr lang="en-US" dirty="0"/>
          </a:p>
          <a:p>
            <a:r>
              <a:rPr lang="en-US" dirty="0"/>
              <a:t>Checked from top to bottom</a:t>
            </a:r>
            <a:endParaRPr lang="en-SG" dirty="0"/>
          </a:p>
        </p:txBody>
      </p:sp>
    </p:spTree>
    <p:extLst>
      <p:ext uri="{BB962C8B-B14F-4D97-AF65-F5344CB8AC3E}">
        <p14:creationId xmlns:p14="http://schemas.microsoft.com/office/powerpoint/2010/main" val="37577998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9556-9D07-E3F2-ED33-64D161A673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A709AF-7451-0268-925A-D6F7D55AF3F3}"/>
              </a:ext>
            </a:extLst>
          </p:cNvPr>
          <p:cNvSpPr>
            <a:spLocks noGrp="1"/>
          </p:cNvSpPr>
          <p:nvPr>
            <p:ph type="title"/>
          </p:nvPr>
        </p:nvSpPr>
        <p:spPr/>
        <p:txBody>
          <a:bodyPr/>
          <a:lstStyle/>
          <a:p>
            <a:r>
              <a:rPr lang="en-SG" dirty="0"/>
              <a:t>Comparison Operators</a:t>
            </a:r>
          </a:p>
        </p:txBody>
      </p:sp>
      <p:sp>
        <p:nvSpPr>
          <p:cNvPr id="8" name="Content Placeholder 7">
            <a:extLst>
              <a:ext uri="{FF2B5EF4-FFF2-40B4-BE49-F238E27FC236}">
                <a16:creationId xmlns:a16="http://schemas.microsoft.com/office/drawing/2014/main" id="{A3570B61-FADA-546B-7D21-C78C3283CB30}"/>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r>
              <a:rPr lang="en-US" dirty="0"/>
              <a:t>print(x &gt; 5)</a:t>
            </a:r>
          </a:p>
        </p:txBody>
      </p:sp>
      <p:sp>
        <p:nvSpPr>
          <p:cNvPr id="10" name="Content Placeholder 7">
            <a:extLst>
              <a:ext uri="{FF2B5EF4-FFF2-40B4-BE49-F238E27FC236}">
                <a16:creationId xmlns:a16="http://schemas.microsoft.com/office/drawing/2014/main" id="{69392F13-2BAB-24EF-4F94-9ADF87AC72A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 equal to</a:t>
            </a:r>
          </a:p>
          <a:p>
            <a:endParaRPr lang="en-US" dirty="0"/>
          </a:p>
          <a:p>
            <a:r>
              <a:rPr lang="en-US" dirty="0"/>
              <a:t>!= not equal to</a:t>
            </a:r>
          </a:p>
          <a:p>
            <a:endParaRPr lang="en-US" dirty="0"/>
          </a:p>
          <a:p>
            <a:r>
              <a:rPr lang="en-US" dirty="0"/>
              <a:t>&gt; &lt; &gt;= &lt;=</a:t>
            </a:r>
            <a:endParaRPr lang="en-SG" dirty="0"/>
          </a:p>
        </p:txBody>
      </p:sp>
    </p:spTree>
    <p:extLst>
      <p:ext uri="{BB962C8B-B14F-4D97-AF65-F5344CB8AC3E}">
        <p14:creationId xmlns:p14="http://schemas.microsoft.com/office/powerpoint/2010/main" val="29036747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F7A0E-7D65-D3DF-C8BD-D8609D72A19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249C108-F1F7-550E-46F6-F0CD0EE42A6E}"/>
              </a:ext>
            </a:extLst>
          </p:cNvPr>
          <p:cNvSpPr>
            <a:spLocks noGrp="1"/>
          </p:cNvSpPr>
          <p:nvPr>
            <p:ph type="title"/>
          </p:nvPr>
        </p:nvSpPr>
        <p:spPr/>
        <p:txBody>
          <a:bodyPr/>
          <a:lstStyle/>
          <a:p>
            <a:r>
              <a:rPr lang="en-SG" dirty="0"/>
              <a:t>Logical Operators</a:t>
            </a:r>
          </a:p>
        </p:txBody>
      </p:sp>
      <p:sp>
        <p:nvSpPr>
          <p:cNvPr id="8" name="Content Placeholder 7">
            <a:extLst>
              <a:ext uri="{FF2B5EF4-FFF2-40B4-BE49-F238E27FC236}">
                <a16:creationId xmlns:a16="http://schemas.microsoft.com/office/drawing/2014/main" id="{5CA63C63-C860-391C-E77B-89E66D8AF696}"/>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err="1"/>
              <a:t>is_student</a:t>
            </a:r>
            <a:r>
              <a:rPr lang="en-US" dirty="0"/>
              <a:t> = True</a:t>
            </a:r>
          </a:p>
          <a:p>
            <a:pPr marL="0" indent="0">
              <a:buNone/>
            </a:pPr>
            <a:endParaRPr lang="en-US" dirty="0"/>
          </a:p>
          <a:p>
            <a:pPr marL="0" indent="0">
              <a:buNone/>
            </a:pPr>
            <a:r>
              <a:rPr lang="en-US" dirty="0"/>
              <a:t>if age &gt;= 18 and </a:t>
            </a:r>
            <a:r>
              <a:rPr lang="en-US" dirty="0" err="1"/>
              <a:t>is_student</a:t>
            </a:r>
            <a:r>
              <a:rPr lang="en-US" dirty="0"/>
              <a:t>:</a:t>
            </a:r>
          </a:p>
          <a:p>
            <a:pPr marL="0" indent="0">
              <a:buNone/>
            </a:pPr>
            <a:r>
              <a:rPr lang="en-US" dirty="0"/>
              <a:t>    print("Eligible")</a:t>
            </a:r>
          </a:p>
        </p:txBody>
      </p:sp>
      <p:sp>
        <p:nvSpPr>
          <p:cNvPr id="10" name="Content Placeholder 7">
            <a:extLst>
              <a:ext uri="{FF2B5EF4-FFF2-40B4-BE49-F238E27FC236}">
                <a16:creationId xmlns:a16="http://schemas.microsoft.com/office/drawing/2014/main" id="{518380F3-96C4-384E-CF6B-4D37A0F584CE}"/>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endParaRPr lang="en-US" dirty="0"/>
          </a:p>
          <a:p>
            <a:r>
              <a:rPr lang="en-US" dirty="0"/>
              <a:t>or – at least one condition is true</a:t>
            </a:r>
          </a:p>
          <a:p>
            <a:endParaRPr lang="en-US" dirty="0"/>
          </a:p>
          <a:p>
            <a:r>
              <a:rPr lang="en-US" dirty="0"/>
              <a:t>not – reverses the condition</a:t>
            </a:r>
            <a:endParaRPr lang="en-SG" dirty="0"/>
          </a:p>
        </p:txBody>
      </p:sp>
    </p:spTree>
    <p:extLst>
      <p:ext uri="{BB962C8B-B14F-4D97-AF65-F5344CB8AC3E}">
        <p14:creationId xmlns:p14="http://schemas.microsoft.com/office/powerpoint/2010/main" val="31775619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54302-D4A6-4FC0-749A-C36A7895B89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8E68127-F042-7108-C8D9-F97F0FF6573C}"/>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8" name="Content Placeholder 7">
            <a:extLst>
              <a:ext uri="{FF2B5EF4-FFF2-40B4-BE49-F238E27FC236}">
                <a16:creationId xmlns:a16="http://schemas.microsoft.com/office/drawing/2014/main" id="{C300EEA4-54BC-EB1A-AB99-ED9E5DF8A2EC}"/>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items = []</a:t>
            </a:r>
          </a:p>
          <a:p>
            <a:pPr marL="0" indent="0">
              <a:buNone/>
            </a:pPr>
            <a:endParaRPr lang="en-US" dirty="0"/>
          </a:p>
          <a:p>
            <a:pPr marL="0" indent="0">
              <a:buNone/>
            </a:pPr>
            <a:r>
              <a:rPr lang="en-US" dirty="0"/>
              <a:t>if items:</a:t>
            </a:r>
          </a:p>
          <a:p>
            <a:pPr marL="0" indent="0">
              <a:buNone/>
            </a:pPr>
            <a:r>
              <a:rPr lang="en-US" dirty="0"/>
              <a:t>    print("Has items")</a:t>
            </a:r>
          </a:p>
          <a:p>
            <a:pPr marL="0" indent="0">
              <a:buNone/>
            </a:pPr>
            <a:r>
              <a:rPr lang="en-US" dirty="0"/>
              <a:t>else:</a:t>
            </a:r>
          </a:p>
          <a:p>
            <a:pPr marL="0" indent="0">
              <a:buNone/>
            </a:pPr>
            <a:r>
              <a:rPr lang="en-US" dirty="0"/>
              <a:t>    print("Empty list")</a:t>
            </a:r>
          </a:p>
        </p:txBody>
      </p:sp>
      <p:sp>
        <p:nvSpPr>
          <p:cNvPr id="10" name="Content Placeholder 7">
            <a:extLst>
              <a:ext uri="{FF2B5EF4-FFF2-40B4-BE49-F238E27FC236}">
                <a16:creationId xmlns:a16="http://schemas.microsoft.com/office/drawing/2014/main" id="{87462A54-A580-ABD1-2697-157496A4EE19}"/>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Key Ideas</a:t>
            </a:r>
          </a:p>
          <a:p>
            <a:pPr lvl="1"/>
            <a:r>
              <a:rPr lang="en-US" dirty="0"/>
              <a:t>Not all conditions are explicitly True or False</a:t>
            </a:r>
          </a:p>
          <a:p>
            <a:pPr lvl="1"/>
            <a:endParaRPr lang="en-US" dirty="0"/>
          </a:p>
          <a:p>
            <a:r>
              <a:rPr lang="en-US" b="1" dirty="0"/>
              <a:t>Common </a:t>
            </a:r>
            <a:r>
              <a:rPr lang="en-US" b="1" dirty="0" err="1"/>
              <a:t>Falsy</a:t>
            </a:r>
            <a:r>
              <a:rPr lang="en-US" b="1" dirty="0"/>
              <a:t> Values</a:t>
            </a:r>
          </a:p>
          <a:p>
            <a:pPr lvl="1"/>
            <a:r>
              <a:rPr lang="en-US" dirty="0"/>
              <a:t>False, None</a:t>
            </a:r>
          </a:p>
          <a:p>
            <a:pPr lvl="1"/>
            <a:r>
              <a:rPr lang="en-US" dirty="0"/>
              <a:t>0, 0.0</a:t>
            </a:r>
          </a:p>
          <a:p>
            <a:pPr lvl="1"/>
            <a:r>
              <a:rPr lang="en-US" dirty="0"/>
              <a:t>"", [], {}</a:t>
            </a:r>
          </a:p>
        </p:txBody>
      </p:sp>
    </p:spTree>
    <p:extLst>
      <p:ext uri="{BB962C8B-B14F-4D97-AF65-F5344CB8AC3E}">
        <p14:creationId xmlns:p14="http://schemas.microsoft.com/office/powerpoint/2010/main" val="17202298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12FB-0B7E-2549-3A54-50AC1C73F70C}"/>
              </a:ext>
            </a:extLst>
          </p:cNvPr>
          <p:cNvSpPr>
            <a:spLocks noGrp="1"/>
          </p:cNvSpPr>
          <p:nvPr>
            <p:ph type="title"/>
          </p:nvPr>
        </p:nvSpPr>
        <p:spPr/>
        <p:txBody>
          <a:bodyPr/>
          <a:lstStyle/>
          <a:p>
            <a:r>
              <a:rPr lang="en-US" dirty="0"/>
              <a:t>What Is a Ternary Expression?</a:t>
            </a:r>
            <a:endParaRPr lang="en-SG" dirty="0"/>
          </a:p>
        </p:txBody>
      </p:sp>
      <p:sp>
        <p:nvSpPr>
          <p:cNvPr id="3" name="Content Placeholder 2">
            <a:extLst>
              <a:ext uri="{FF2B5EF4-FFF2-40B4-BE49-F238E27FC236}">
                <a16:creationId xmlns:a16="http://schemas.microsoft.com/office/drawing/2014/main" id="{F9D8C249-F1CC-39B3-82AB-D5DBEBD57A85}"/>
              </a:ext>
            </a:extLst>
          </p:cNvPr>
          <p:cNvSpPr>
            <a:spLocks noGrp="1"/>
          </p:cNvSpPr>
          <p:nvPr>
            <p:ph idx="1"/>
          </p:nvPr>
        </p:nvSpPr>
        <p:spPr/>
        <p:txBody>
          <a:bodyPr/>
          <a:lstStyle/>
          <a:p>
            <a:r>
              <a:rPr lang="en-US" b="1" dirty="0"/>
              <a:t>Key Ideas</a:t>
            </a:r>
          </a:p>
          <a:p>
            <a:pPr lvl="1"/>
            <a:r>
              <a:rPr lang="en-US" dirty="0"/>
              <a:t>A </a:t>
            </a:r>
            <a:r>
              <a:rPr lang="en-US" b="1" dirty="0"/>
              <a:t>one-line conditional expression</a:t>
            </a:r>
            <a:endParaRPr lang="en-US" dirty="0"/>
          </a:p>
          <a:p>
            <a:pPr lvl="1"/>
            <a:r>
              <a:rPr lang="en-US" dirty="0"/>
              <a:t>Returns a value based on a condition</a:t>
            </a:r>
          </a:p>
          <a:p>
            <a:pPr lvl="1"/>
            <a:r>
              <a:rPr lang="en-US" dirty="0"/>
              <a:t>Used for </a:t>
            </a:r>
            <a:r>
              <a:rPr lang="en-US" b="1" dirty="0"/>
              <a:t>simple if–else logic</a:t>
            </a:r>
          </a:p>
          <a:p>
            <a:pPr marL="457200" lvl="1" indent="0">
              <a:buNone/>
            </a:pPr>
            <a:endParaRPr lang="en-US" dirty="0"/>
          </a:p>
          <a:p>
            <a:r>
              <a:rPr lang="en-US" b="1" dirty="0"/>
              <a:t>Syntax Pattern</a:t>
            </a:r>
          </a:p>
          <a:p>
            <a:pPr marL="0" indent="0">
              <a:buNone/>
            </a:pPr>
            <a:r>
              <a:rPr lang="en-US" b="1" dirty="0" err="1">
                <a:solidFill>
                  <a:schemeClr val="tx2"/>
                </a:solidFill>
              </a:rPr>
              <a:t>value_if_true</a:t>
            </a:r>
            <a:r>
              <a:rPr lang="en-US" b="1" dirty="0">
                <a:solidFill>
                  <a:schemeClr val="tx2"/>
                </a:solidFill>
              </a:rPr>
              <a:t> if condition else </a:t>
            </a:r>
            <a:r>
              <a:rPr lang="en-US" b="1" dirty="0" err="1">
                <a:solidFill>
                  <a:schemeClr val="tx2"/>
                </a:solidFill>
              </a:rPr>
              <a:t>value_if_false</a:t>
            </a:r>
            <a:endParaRPr lang="en-US" b="1" dirty="0">
              <a:solidFill>
                <a:schemeClr val="tx2"/>
              </a:solidFill>
            </a:endParaRPr>
          </a:p>
          <a:p>
            <a:endParaRPr lang="en-US" b="1" dirty="0"/>
          </a:p>
          <a:p>
            <a:endParaRPr lang="en-SG" dirty="0"/>
          </a:p>
        </p:txBody>
      </p:sp>
    </p:spTree>
    <p:extLst>
      <p:ext uri="{BB962C8B-B14F-4D97-AF65-F5344CB8AC3E}">
        <p14:creationId xmlns:p14="http://schemas.microsoft.com/office/powerpoint/2010/main" val="14524071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5216-2F14-CEAD-248B-685C747F666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2F654BA-8639-A2F3-7526-E2784CF9273F}"/>
              </a:ext>
            </a:extLst>
          </p:cNvPr>
          <p:cNvSpPr>
            <a:spLocks noGrp="1"/>
          </p:cNvSpPr>
          <p:nvPr>
            <p:ph type="title"/>
          </p:nvPr>
        </p:nvSpPr>
        <p:spPr/>
        <p:txBody>
          <a:bodyPr/>
          <a:lstStyle/>
          <a:p>
            <a:r>
              <a:rPr lang="en-SG" dirty="0"/>
              <a:t>Simple Example</a:t>
            </a:r>
          </a:p>
        </p:txBody>
      </p:sp>
      <p:sp>
        <p:nvSpPr>
          <p:cNvPr id="8" name="Content Placeholder 7">
            <a:extLst>
              <a:ext uri="{FF2B5EF4-FFF2-40B4-BE49-F238E27FC236}">
                <a16:creationId xmlns:a16="http://schemas.microsoft.com/office/drawing/2014/main" id="{67C8E744-43DC-DF93-F66B-41892C7B6A93}"/>
              </a:ext>
            </a:extLst>
          </p:cNvPr>
          <p:cNvSpPr>
            <a:spLocks noGrp="1"/>
          </p:cNvSpPr>
          <p:nvPr>
            <p:ph idx="1"/>
          </p:nvPr>
        </p:nvSpPr>
        <p:spPr>
          <a:xfrm>
            <a:off x="457200" y="1600200"/>
            <a:ext cx="4203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Traditional if-else</a:t>
            </a:r>
          </a:p>
          <a:p>
            <a:pPr marL="0" indent="0">
              <a:buNone/>
            </a:pPr>
            <a:endParaRPr lang="en-US" dirty="0"/>
          </a:p>
          <a:p>
            <a:pPr marL="0" indent="0">
              <a:buNone/>
            </a:pPr>
            <a:r>
              <a:rPr lang="en-US" dirty="0"/>
              <a:t>if age &gt;= 18:</a:t>
            </a:r>
          </a:p>
          <a:p>
            <a:pPr marL="0" indent="0">
              <a:buNone/>
            </a:pPr>
            <a:r>
              <a:rPr lang="en-US" dirty="0"/>
              <a:t>    status = "Adult"</a:t>
            </a:r>
          </a:p>
          <a:p>
            <a:pPr marL="0" indent="0">
              <a:buNone/>
            </a:pPr>
            <a:r>
              <a:rPr lang="en-US" dirty="0"/>
              <a:t>else:</a:t>
            </a:r>
          </a:p>
          <a:p>
            <a:pPr marL="0" indent="0">
              <a:buNone/>
            </a:pPr>
            <a:r>
              <a:rPr lang="en-US" dirty="0"/>
              <a:t>    status = "Minor"</a:t>
            </a:r>
          </a:p>
        </p:txBody>
      </p:sp>
      <p:sp>
        <p:nvSpPr>
          <p:cNvPr id="10" name="Content Placeholder 7">
            <a:extLst>
              <a:ext uri="{FF2B5EF4-FFF2-40B4-BE49-F238E27FC236}">
                <a16:creationId xmlns:a16="http://schemas.microsoft.com/office/drawing/2014/main" id="{E2798688-D51B-937D-A789-5D1B1830A1B1}"/>
              </a:ext>
            </a:extLst>
          </p:cNvPr>
          <p:cNvSpPr txBox="1">
            <a:spLocks/>
          </p:cNvSpPr>
          <p:nvPr/>
        </p:nvSpPr>
        <p:spPr>
          <a:xfrm>
            <a:off x="4953000" y="1600199"/>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ternary version</a:t>
            </a:r>
          </a:p>
          <a:p>
            <a:pPr marL="0" indent="0">
              <a:buNone/>
            </a:pPr>
            <a:endParaRPr lang="en-US" dirty="0"/>
          </a:p>
          <a:p>
            <a:pPr marL="0" indent="0">
              <a:buNone/>
            </a:pPr>
            <a:r>
              <a:rPr lang="en-US" dirty="0"/>
              <a:t>status = "Adult" if age &gt;= 18 else "Minor"</a:t>
            </a:r>
          </a:p>
        </p:txBody>
      </p:sp>
    </p:spTree>
    <p:extLst>
      <p:ext uri="{BB962C8B-B14F-4D97-AF65-F5344CB8AC3E}">
        <p14:creationId xmlns:p14="http://schemas.microsoft.com/office/powerpoint/2010/main" val="42304115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1C231-D19E-E3FD-1EAB-91B66BA9F70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98FB0DA-86AA-786A-A2D8-E75017D19CB4}"/>
              </a:ext>
            </a:extLst>
          </p:cNvPr>
          <p:cNvSpPr>
            <a:spLocks noGrp="1"/>
          </p:cNvSpPr>
          <p:nvPr>
            <p:ph type="title"/>
          </p:nvPr>
        </p:nvSpPr>
        <p:spPr/>
        <p:txBody>
          <a:bodyPr/>
          <a:lstStyle/>
          <a:p>
            <a:r>
              <a:rPr lang="en-SG" dirty="0"/>
              <a:t>Ternary with Expressions</a:t>
            </a:r>
          </a:p>
        </p:txBody>
      </p:sp>
      <p:sp>
        <p:nvSpPr>
          <p:cNvPr id="10" name="Content Placeholder 7">
            <a:extLst>
              <a:ext uri="{FF2B5EF4-FFF2-40B4-BE49-F238E27FC236}">
                <a16:creationId xmlns:a16="http://schemas.microsoft.com/office/drawing/2014/main" id="{610AFE27-C404-5590-122D-E164CDD881DF}"/>
              </a:ext>
            </a:extLst>
          </p:cNvPr>
          <p:cNvSpPr txBox="1">
            <a:spLocks/>
          </p:cNvSpPr>
          <p:nvPr/>
        </p:nvSpPr>
        <p:spPr>
          <a:xfrm>
            <a:off x="1730375" y="1638298"/>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b="1" dirty="0"/>
              <a:t>Values Can Be Expressions</a:t>
            </a:r>
          </a:p>
          <a:p>
            <a:pPr marL="0" indent="0">
              <a:buNone/>
            </a:pPr>
            <a:endParaRPr lang="en-US" dirty="0"/>
          </a:p>
          <a:p>
            <a:pPr marL="0" indent="0">
              <a:buNone/>
            </a:pPr>
            <a:r>
              <a:rPr lang="en-US" dirty="0"/>
              <a:t>x = 10</a:t>
            </a:r>
          </a:p>
          <a:p>
            <a:pPr marL="0" indent="0">
              <a:buNone/>
            </a:pPr>
            <a:r>
              <a:rPr lang="en-US" dirty="0"/>
              <a:t>y = 20</a:t>
            </a:r>
          </a:p>
          <a:p>
            <a:pPr marL="0" indent="0">
              <a:buNone/>
            </a:pPr>
            <a:endParaRPr lang="en-US" dirty="0"/>
          </a:p>
          <a:p>
            <a:pPr marL="0" indent="0">
              <a:buNone/>
            </a:pPr>
            <a:r>
              <a:rPr lang="en-US" dirty="0" err="1">
                <a:solidFill>
                  <a:schemeClr val="tx2"/>
                </a:solidFill>
              </a:rPr>
              <a:t>max_value</a:t>
            </a:r>
            <a:r>
              <a:rPr lang="en-US" dirty="0">
                <a:solidFill>
                  <a:schemeClr val="tx2"/>
                </a:solidFill>
              </a:rPr>
              <a:t> = x if x &gt; y else y</a:t>
            </a:r>
          </a:p>
        </p:txBody>
      </p:sp>
    </p:spTree>
    <p:extLst>
      <p:ext uri="{BB962C8B-B14F-4D97-AF65-F5344CB8AC3E}">
        <p14:creationId xmlns:p14="http://schemas.microsoft.com/office/powerpoint/2010/main" val="38869066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0380A-9E84-9DBB-DED9-AA5023423EC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28CB90E-11D0-2212-C986-E2BA2786D93F}"/>
              </a:ext>
            </a:extLst>
          </p:cNvPr>
          <p:cNvSpPr>
            <a:spLocks noGrp="1"/>
          </p:cNvSpPr>
          <p:nvPr>
            <p:ph type="title"/>
          </p:nvPr>
        </p:nvSpPr>
        <p:spPr/>
        <p:txBody>
          <a:bodyPr/>
          <a:lstStyle/>
          <a:p>
            <a:r>
              <a:rPr lang="en-SG" dirty="0"/>
              <a:t>Ternary with Function Calls</a:t>
            </a:r>
          </a:p>
        </p:txBody>
      </p:sp>
      <p:sp>
        <p:nvSpPr>
          <p:cNvPr id="10" name="Content Placeholder 7">
            <a:extLst>
              <a:ext uri="{FF2B5EF4-FFF2-40B4-BE49-F238E27FC236}">
                <a16:creationId xmlns:a16="http://schemas.microsoft.com/office/drawing/2014/main" id="{15C1FE96-2FD1-E3F8-F8DE-B34FC81DBAE2}"/>
              </a:ext>
            </a:extLst>
          </p:cNvPr>
          <p:cNvSpPr txBox="1">
            <a:spLocks/>
          </p:cNvSpPr>
          <p:nvPr/>
        </p:nvSpPr>
        <p:spPr>
          <a:xfrm>
            <a:off x="1730375" y="1638298"/>
            <a:ext cx="9204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price = int(input(‘Enter positive integer for price: ‘)) </a:t>
            </a:r>
          </a:p>
          <a:p>
            <a:pPr marL="0" indent="0">
              <a:buNone/>
            </a:pPr>
            <a:endParaRPr lang="en-US" dirty="0"/>
          </a:p>
          <a:p>
            <a:pPr marL="0" indent="0">
              <a:buNone/>
            </a:pPr>
            <a:r>
              <a:rPr lang="en-US" dirty="0"/>
              <a:t>def discount(price):</a:t>
            </a:r>
          </a:p>
          <a:p>
            <a:pPr marL="0" indent="0">
              <a:buNone/>
            </a:pPr>
            <a:r>
              <a:rPr lang="en-US" dirty="0"/>
              <a:t>    return price * 0.9</a:t>
            </a:r>
          </a:p>
          <a:p>
            <a:pPr marL="0" indent="0">
              <a:buNone/>
            </a:pPr>
            <a:endParaRPr lang="en-US" dirty="0"/>
          </a:p>
          <a:p>
            <a:pPr marL="0" indent="0">
              <a:buNone/>
            </a:pPr>
            <a:r>
              <a:rPr lang="en-US" dirty="0" err="1"/>
              <a:t>final_price</a:t>
            </a:r>
            <a:r>
              <a:rPr lang="en-US" dirty="0"/>
              <a:t> = discount(price) if price &gt; 100 else price</a:t>
            </a:r>
          </a:p>
          <a:p>
            <a:pPr marL="0" indent="0">
              <a:buNone/>
            </a:pPr>
            <a:endParaRPr lang="en-US" dirty="0"/>
          </a:p>
          <a:p>
            <a:pPr marL="0" indent="0">
              <a:buNone/>
            </a:pPr>
            <a:r>
              <a:rPr lang="en-US" dirty="0"/>
              <a:t>print(</a:t>
            </a:r>
            <a:r>
              <a:rPr lang="en-US" dirty="0" err="1"/>
              <a:t>f’Final</a:t>
            </a:r>
            <a:r>
              <a:rPr lang="en-US" dirty="0"/>
              <a:t> Price: {</a:t>
            </a:r>
            <a:r>
              <a:rPr lang="en-US" dirty="0" err="1"/>
              <a:t>final_price</a:t>
            </a:r>
            <a:r>
              <a:rPr lang="en-US" dirty="0"/>
              <a:t>}’)</a:t>
            </a:r>
          </a:p>
        </p:txBody>
      </p:sp>
    </p:spTree>
    <p:extLst>
      <p:ext uri="{BB962C8B-B14F-4D97-AF65-F5344CB8AC3E}">
        <p14:creationId xmlns:p14="http://schemas.microsoft.com/office/powerpoint/2010/main" val="24646057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AAA0E-F969-2F07-67A9-8203C83413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033F98-068F-D6BA-A6B6-262CA4E32EDD}"/>
              </a:ext>
            </a:extLst>
          </p:cNvPr>
          <p:cNvSpPr>
            <a:spLocks noGrp="1"/>
          </p:cNvSpPr>
          <p:nvPr>
            <p:ph type="title"/>
          </p:nvPr>
        </p:nvSpPr>
        <p:spPr/>
        <p:txBody>
          <a:bodyPr>
            <a:normAutofit fontScale="90000"/>
          </a:bodyPr>
          <a:lstStyle/>
          <a:p>
            <a:r>
              <a:rPr lang="en-SG" dirty="0"/>
              <a:t>Nested Ternary Expressions (Warning)</a:t>
            </a:r>
          </a:p>
        </p:txBody>
      </p:sp>
      <p:sp>
        <p:nvSpPr>
          <p:cNvPr id="8" name="Content Placeholder 7">
            <a:extLst>
              <a:ext uri="{FF2B5EF4-FFF2-40B4-BE49-F238E27FC236}">
                <a16:creationId xmlns:a16="http://schemas.microsoft.com/office/drawing/2014/main" id="{8692D6D8-AE0D-FA30-F749-3B6141DD3684}"/>
              </a:ext>
            </a:extLst>
          </p:cNvPr>
          <p:cNvSpPr>
            <a:spLocks noGrp="1"/>
          </p:cNvSpPr>
          <p:nvPr>
            <p:ph idx="1"/>
          </p:nvPr>
        </p:nvSpPr>
        <p:spPr>
          <a:xfrm>
            <a:off x="457200" y="1600200"/>
            <a:ext cx="4584700" cy="4525963"/>
          </a:xfrm>
        </p:spPr>
        <p:style>
          <a:lnRef idx="2">
            <a:schemeClr val="dk1"/>
          </a:lnRef>
          <a:fillRef idx="1">
            <a:schemeClr val="lt1"/>
          </a:fillRef>
          <a:effectRef idx="0">
            <a:schemeClr val="dk1"/>
          </a:effectRef>
          <a:fontRef idx="minor">
            <a:schemeClr val="dk1"/>
          </a:fontRef>
        </p:style>
        <p:txBody>
          <a:bodyPr>
            <a:normAutofit/>
          </a:bodyPr>
          <a:lstStyle/>
          <a:p>
            <a:r>
              <a:rPr lang="en-US" dirty="0"/>
              <a:t>Works, but harder to read</a:t>
            </a:r>
          </a:p>
          <a:p>
            <a:endParaRPr lang="en-US" dirty="0"/>
          </a:p>
          <a:p>
            <a:r>
              <a:rPr lang="en-US" dirty="0"/>
              <a:t>Prefer if–</a:t>
            </a:r>
            <a:r>
              <a:rPr lang="en-US" dirty="0" err="1"/>
              <a:t>elif</a:t>
            </a:r>
            <a:r>
              <a:rPr lang="en-US" dirty="0"/>
              <a:t>–else for clarity</a:t>
            </a:r>
          </a:p>
        </p:txBody>
      </p:sp>
      <p:sp>
        <p:nvSpPr>
          <p:cNvPr id="10" name="Content Placeholder 7">
            <a:extLst>
              <a:ext uri="{FF2B5EF4-FFF2-40B4-BE49-F238E27FC236}">
                <a16:creationId xmlns:a16="http://schemas.microsoft.com/office/drawing/2014/main" id="{0547DA62-5A0C-808F-732F-FD4D0E92C4ED}"/>
              </a:ext>
            </a:extLst>
          </p:cNvPr>
          <p:cNvSpPr txBox="1">
            <a:spLocks/>
          </p:cNvSpPr>
          <p:nvPr/>
        </p:nvSpPr>
        <p:spPr>
          <a:xfrm>
            <a:off x="5270500" y="1600199"/>
            <a:ext cx="663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result = "Positive" if x &gt; 0 else "Zero" if x == 0 else "Negative"</a:t>
            </a:r>
          </a:p>
        </p:txBody>
      </p:sp>
    </p:spTree>
    <p:extLst>
      <p:ext uri="{BB962C8B-B14F-4D97-AF65-F5344CB8AC3E}">
        <p14:creationId xmlns:p14="http://schemas.microsoft.com/office/powerpoint/2010/main" val="31282280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C88C3-F349-54EA-910B-7DAE3215EEE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73911D-06AA-5E3F-A10E-3F70857A6467}"/>
              </a:ext>
            </a:extLst>
          </p:cNvPr>
          <p:cNvSpPr>
            <a:spLocks noGrp="1"/>
          </p:cNvSpPr>
          <p:nvPr>
            <p:ph type="title"/>
          </p:nvPr>
        </p:nvSpPr>
        <p:spPr/>
        <p:txBody>
          <a:bodyPr>
            <a:normAutofit/>
          </a:bodyPr>
          <a:lstStyle/>
          <a:p>
            <a:r>
              <a:rPr lang="en-SG" dirty="0"/>
              <a:t>Common Pitfall: Forgetting Else</a:t>
            </a:r>
          </a:p>
        </p:txBody>
      </p:sp>
      <p:sp>
        <p:nvSpPr>
          <p:cNvPr id="8" name="Content Placeholder 7">
            <a:extLst>
              <a:ext uri="{FF2B5EF4-FFF2-40B4-BE49-F238E27FC236}">
                <a16:creationId xmlns:a16="http://schemas.microsoft.com/office/drawing/2014/main" id="{FEF12DDA-6D0D-B944-B17A-D7DD6128BA68}"/>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Good</a:t>
            </a:r>
          </a:p>
          <a:p>
            <a:pPr marL="0" indent="0">
              <a:buNone/>
            </a:pPr>
            <a:endParaRPr lang="en-US" dirty="0"/>
          </a:p>
          <a:p>
            <a:pPr marL="0" indent="0">
              <a:buNone/>
            </a:pPr>
            <a:r>
              <a:rPr lang="en-US" dirty="0"/>
              <a:t>a = x if x &gt; 0 else 0</a:t>
            </a:r>
          </a:p>
        </p:txBody>
      </p:sp>
      <p:sp>
        <p:nvSpPr>
          <p:cNvPr id="10" name="Content Placeholder 7">
            <a:extLst>
              <a:ext uri="{FF2B5EF4-FFF2-40B4-BE49-F238E27FC236}">
                <a16:creationId xmlns:a16="http://schemas.microsoft.com/office/drawing/2014/main" id="{592B8421-A625-0A76-BF1F-2B1C3586DEF2}"/>
              </a:ext>
            </a:extLst>
          </p:cNvPr>
          <p:cNvSpPr txBox="1">
            <a:spLocks/>
          </p:cNvSpPr>
          <p:nvPr/>
        </p:nvSpPr>
        <p:spPr>
          <a:xfrm>
            <a:off x="6094412" y="1600199"/>
            <a:ext cx="58150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Bad. Results in Error</a:t>
            </a:r>
          </a:p>
          <a:p>
            <a:pPr marL="0" indent="0">
              <a:buNone/>
            </a:pPr>
            <a:endParaRPr lang="en-US" sz="3600" dirty="0"/>
          </a:p>
          <a:p>
            <a:pPr marL="0" indent="0">
              <a:buNone/>
            </a:pPr>
            <a:r>
              <a:rPr lang="en-US" sz="3600" dirty="0"/>
              <a:t>a = x if x &gt; 0</a:t>
            </a:r>
          </a:p>
        </p:txBody>
      </p:sp>
    </p:spTree>
    <p:extLst>
      <p:ext uri="{BB962C8B-B14F-4D97-AF65-F5344CB8AC3E}">
        <p14:creationId xmlns:p14="http://schemas.microsoft.com/office/powerpoint/2010/main" val="21198839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EE686-CD59-80C0-F329-620558CDA7DF}"/>
              </a:ext>
            </a:extLst>
          </p:cNvPr>
          <p:cNvSpPr>
            <a:spLocks noGrp="1"/>
          </p:cNvSpPr>
          <p:nvPr>
            <p:ph type="title"/>
          </p:nvPr>
        </p:nvSpPr>
        <p:spPr/>
        <p:txBody>
          <a:bodyPr/>
          <a:lstStyle/>
          <a:p>
            <a:r>
              <a:rPr lang="en-SG" dirty="0"/>
              <a:t>Ternary vs if–else</a:t>
            </a:r>
          </a:p>
        </p:txBody>
      </p:sp>
      <p:graphicFrame>
        <p:nvGraphicFramePr>
          <p:cNvPr id="4" name="Table 3">
            <a:extLst>
              <a:ext uri="{FF2B5EF4-FFF2-40B4-BE49-F238E27FC236}">
                <a16:creationId xmlns:a16="http://schemas.microsoft.com/office/drawing/2014/main" id="{CD29CD55-6978-7E85-E61D-1ABCE245BB2A}"/>
              </a:ext>
            </a:extLst>
          </p:cNvPr>
          <p:cNvGraphicFramePr>
            <a:graphicFrameLocks noGrp="1"/>
          </p:cNvGraphicFramePr>
          <p:nvPr>
            <p:extLst>
              <p:ext uri="{D42A27DB-BD31-4B8C-83A1-F6EECF244321}">
                <p14:modId xmlns:p14="http://schemas.microsoft.com/office/powerpoint/2010/main" val="1128563592"/>
              </p:ext>
            </p:extLst>
          </p:nvPr>
        </p:nvGraphicFramePr>
        <p:xfrm>
          <a:off x="457200" y="1536700"/>
          <a:ext cx="8229600" cy="4368800"/>
        </p:xfrm>
        <a:graphic>
          <a:graphicData uri="http://schemas.openxmlformats.org/drawingml/2006/table">
            <a:tbl>
              <a:tblPr/>
              <a:tblGrid>
                <a:gridCol w="2743200">
                  <a:extLst>
                    <a:ext uri="{9D8B030D-6E8A-4147-A177-3AD203B41FA5}">
                      <a16:colId xmlns:a16="http://schemas.microsoft.com/office/drawing/2014/main" val="2345902759"/>
                    </a:ext>
                  </a:extLst>
                </a:gridCol>
                <a:gridCol w="2743200">
                  <a:extLst>
                    <a:ext uri="{9D8B030D-6E8A-4147-A177-3AD203B41FA5}">
                      <a16:colId xmlns:a16="http://schemas.microsoft.com/office/drawing/2014/main" val="1600972764"/>
                    </a:ext>
                  </a:extLst>
                </a:gridCol>
                <a:gridCol w="2743200">
                  <a:extLst>
                    <a:ext uri="{9D8B030D-6E8A-4147-A177-3AD203B41FA5}">
                      <a16:colId xmlns:a16="http://schemas.microsoft.com/office/drawing/2014/main" val="2749064028"/>
                    </a:ext>
                  </a:extLst>
                </a:gridCol>
              </a:tblGrid>
              <a:tr h="1092200">
                <a:tc>
                  <a:txBody>
                    <a:bodyPr/>
                    <a:lstStyle/>
                    <a:p>
                      <a:pPr>
                        <a:buNone/>
                      </a:pPr>
                      <a:r>
                        <a:rPr lang="en-SG"/>
                        <a:t>Feature</a:t>
                      </a:r>
                    </a:p>
                  </a:txBody>
                  <a:tcPr anchor="ctr">
                    <a:lnL>
                      <a:noFill/>
                    </a:lnL>
                    <a:lnR>
                      <a:noFill/>
                    </a:lnR>
                    <a:lnT>
                      <a:noFill/>
                    </a:lnT>
                    <a:lnB>
                      <a:noFill/>
                    </a:lnB>
                    <a:noFill/>
                  </a:tcPr>
                </a:tc>
                <a:tc>
                  <a:txBody>
                    <a:bodyPr/>
                    <a:lstStyle/>
                    <a:p>
                      <a:pPr>
                        <a:buNone/>
                      </a:pPr>
                      <a:r>
                        <a:rPr lang="en-SG"/>
                        <a:t>if–else</a:t>
                      </a:r>
                    </a:p>
                  </a:txBody>
                  <a:tcPr anchor="ctr">
                    <a:lnL>
                      <a:noFill/>
                    </a:lnL>
                    <a:lnR>
                      <a:noFill/>
                    </a:lnR>
                    <a:lnT>
                      <a:noFill/>
                    </a:lnT>
                    <a:lnB>
                      <a:noFill/>
                    </a:lnB>
                    <a:noFill/>
                  </a:tcPr>
                </a:tc>
                <a:tc>
                  <a:txBody>
                    <a:bodyPr/>
                    <a:lstStyle/>
                    <a:p>
                      <a:pPr>
                        <a:buNone/>
                      </a:pPr>
                      <a:r>
                        <a:rPr lang="en-SG"/>
                        <a:t>Ternary</a:t>
                      </a:r>
                    </a:p>
                  </a:txBody>
                  <a:tcPr anchor="ctr">
                    <a:lnL>
                      <a:noFill/>
                    </a:lnL>
                    <a:lnR>
                      <a:noFill/>
                    </a:lnR>
                    <a:lnT>
                      <a:noFill/>
                    </a:lnT>
                    <a:lnB>
                      <a:noFill/>
                    </a:lnB>
                    <a:noFill/>
                  </a:tcPr>
                </a:tc>
                <a:extLst>
                  <a:ext uri="{0D108BD9-81ED-4DB2-BD59-A6C34878D82A}">
                    <a16:rowId xmlns:a16="http://schemas.microsoft.com/office/drawing/2014/main" val="3058437716"/>
                  </a:ext>
                </a:extLst>
              </a:tr>
              <a:tr h="1092200">
                <a:tc>
                  <a:txBody>
                    <a:bodyPr/>
                    <a:lstStyle/>
                    <a:p>
                      <a:pPr>
                        <a:buNone/>
                      </a:pPr>
                      <a:r>
                        <a:rPr lang="en-SG"/>
                        <a:t>Multiple statements</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774426750"/>
                  </a:ext>
                </a:extLst>
              </a:tr>
              <a:tr h="1092200">
                <a:tc>
                  <a:txBody>
                    <a:bodyPr/>
                    <a:lstStyle/>
                    <a:p>
                      <a:pPr>
                        <a:buNone/>
                      </a:pPr>
                      <a:r>
                        <a:rPr lang="en-SG"/>
                        <a:t>One-line assignment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575761028"/>
                  </a:ext>
                </a:extLst>
              </a:tr>
              <a:tr h="1092200">
                <a:tc>
                  <a:txBody>
                    <a:bodyPr/>
                    <a:lstStyle/>
                    <a:p>
                      <a:pPr>
                        <a:buNone/>
                      </a:pPr>
                      <a:r>
                        <a:rPr lang="en-SG"/>
                        <a:t>Readability (simple)</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dirty="0"/>
                        <a:t>✅</a:t>
                      </a:r>
                    </a:p>
                  </a:txBody>
                  <a:tcPr anchor="ctr">
                    <a:lnL>
                      <a:noFill/>
                    </a:lnL>
                    <a:lnR>
                      <a:noFill/>
                    </a:lnR>
                    <a:lnT>
                      <a:noFill/>
                    </a:lnT>
                    <a:lnB>
                      <a:noFill/>
                    </a:lnB>
                    <a:noFill/>
                  </a:tcPr>
                </a:tc>
                <a:extLst>
                  <a:ext uri="{0D108BD9-81ED-4DB2-BD59-A6C34878D82A}">
                    <a16:rowId xmlns:a16="http://schemas.microsoft.com/office/drawing/2014/main" val="1540924542"/>
                  </a:ext>
                </a:extLst>
              </a:tr>
            </a:tbl>
          </a:graphicData>
        </a:graphic>
      </p:graphicFrame>
    </p:spTree>
    <p:extLst>
      <p:ext uri="{BB962C8B-B14F-4D97-AF65-F5344CB8AC3E}">
        <p14:creationId xmlns:p14="http://schemas.microsoft.com/office/powerpoint/2010/main" val="14520066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4603-AAEA-BD62-9242-0457BCF916C3}"/>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D506E1B-BD3B-B759-56B7-32D6C0146C16}"/>
              </a:ext>
            </a:extLst>
          </p:cNvPr>
          <p:cNvSpPr>
            <a:spLocks noGrp="1"/>
          </p:cNvSpPr>
          <p:nvPr>
            <p:ph idx="1"/>
          </p:nvPr>
        </p:nvSpPr>
        <p:spPr/>
        <p:txBody>
          <a:bodyPr/>
          <a:lstStyle/>
          <a:p>
            <a:r>
              <a:rPr lang="en-US" dirty="0"/>
              <a:t>Ask the user for a number</a:t>
            </a:r>
          </a:p>
          <a:p>
            <a:endParaRPr lang="en-US" dirty="0"/>
          </a:p>
          <a:p>
            <a:r>
              <a:rPr lang="en-US" dirty="0"/>
              <a:t>Assign:</a:t>
            </a:r>
          </a:p>
          <a:p>
            <a:endParaRPr lang="en-US" dirty="0"/>
          </a:p>
          <a:p>
            <a:pPr lvl="1"/>
            <a:r>
              <a:rPr lang="en-US" dirty="0"/>
              <a:t>"Even" or "Odd" using a ternary expression</a:t>
            </a:r>
          </a:p>
          <a:p>
            <a:endParaRPr lang="en-US" dirty="0"/>
          </a:p>
          <a:p>
            <a:r>
              <a:rPr lang="en-US" dirty="0"/>
              <a:t>Print the result</a:t>
            </a:r>
            <a:endParaRPr lang="en-SG" dirty="0"/>
          </a:p>
        </p:txBody>
      </p:sp>
    </p:spTree>
    <p:extLst>
      <p:ext uri="{BB962C8B-B14F-4D97-AF65-F5344CB8AC3E}">
        <p14:creationId xmlns:p14="http://schemas.microsoft.com/office/powerpoint/2010/main" val="41206757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260BA-8B6F-D1FE-5F7F-EB41D3860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5331E-7B03-034B-C2BF-68A3F57882A6}"/>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F71F8D30-ACD3-4DAE-B6CF-5353A611B053}"/>
              </a:ext>
            </a:extLst>
          </p:cNvPr>
          <p:cNvSpPr>
            <a:spLocks noGrp="1"/>
          </p:cNvSpPr>
          <p:nvPr>
            <p:ph idx="1"/>
          </p:nvPr>
        </p:nvSpPr>
        <p:spPr>
          <a:xfrm>
            <a:off x="457200" y="1600200"/>
            <a:ext cx="7912100" cy="4525963"/>
          </a:xfrm>
        </p:spPr>
        <p:txBody>
          <a:bodyPr/>
          <a:lstStyle/>
          <a:p>
            <a:pPr marL="0" indent="0">
              <a:buNone/>
            </a:pPr>
            <a:r>
              <a:rPr lang="en-US" dirty="0"/>
              <a:t>num = int(input("Enter a number: "))</a:t>
            </a:r>
          </a:p>
          <a:p>
            <a:pPr marL="0" indent="0">
              <a:buNone/>
            </a:pPr>
            <a:endParaRPr lang="en-US" dirty="0"/>
          </a:p>
          <a:p>
            <a:pPr marL="0" indent="0">
              <a:buNone/>
            </a:pPr>
            <a:r>
              <a:rPr lang="en-US" dirty="0"/>
              <a:t>result = "Even" if num % 2 == 0 else "Odd“</a:t>
            </a:r>
          </a:p>
          <a:p>
            <a:pPr marL="0" indent="0">
              <a:buNone/>
            </a:pPr>
            <a:endParaRPr lang="en-US" dirty="0"/>
          </a:p>
          <a:p>
            <a:pPr marL="0" indent="0">
              <a:buNone/>
            </a:pPr>
            <a:r>
              <a:rPr lang="en-US" dirty="0"/>
              <a:t>print(result)</a:t>
            </a:r>
          </a:p>
        </p:txBody>
      </p:sp>
    </p:spTree>
    <p:extLst>
      <p:ext uri="{BB962C8B-B14F-4D97-AF65-F5344CB8AC3E}">
        <p14:creationId xmlns:p14="http://schemas.microsoft.com/office/powerpoint/2010/main" val="31232255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3B95-3D3B-AEBD-5F6B-FAFA834B7F5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A4686BA-2308-6AD9-9989-18A6CF2B7C76}"/>
              </a:ext>
            </a:extLst>
          </p:cNvPr>
          <p:cNvSpPr>
            <a:spLocks noGrp="1"/>
          </p:cNvSpPr>
          <p:nvPr>
            <p:ph type="title"/>
          </p:nvPr>
        </p:nvSpPr>
        <p:spPr/>
        <p:txBody>
          <a:bodyPr/>
          <a:lstStyle/>
          <a:p>
            <a:r>
              <a:rPr lang="en-SG" dirty="0"/>
              <a:t>for Loops</a:t>
            </a:r>
          </a:p>
        </p:txBody>
      </p:sp>
      <p:sp>
        <p:nvSpPr>
          <p:cNvPr id="8" name="Content Placeholder 7">
            <a:extLst>
              <a:ext uri="{FF2B5EF4-FFF2-40B4-BE49-F238E27FC236}">
                <a16:creationId xmlns:a16="http://schemas.microsoft.com/office/drawing/2014/main" id="{ABCB246E-05CD-E38E-E710-76898A4EA061}"/>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6205D715-5295-1630-D89C-15A8328BA5C6}"/>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iterate over a sequence</a:t>
            </a:r>
          </a:p>
          <a:p>
            <a:endParaRPr lang="en-US" dirty="0"/>
          </a:p>
          <a:p>
            <a:r>
              <a:rPr lang="en-US" dirty="0"/>
              <a:t>Commonly used with lists, strings, ranges</a:t>
            </a:r>
          </a:p>
        </p:txBody>
      </p:sp>
    </p:spTree>
    <p:extLst>
      <p:ext uri="{BB962C8B-B14F-4D97-AF65-F5344CB8AC3E}">
        <p14:creationId xmlns:p14="http://schemas.microsoft.com/office/powerpoint/2010/main" val="12366616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1AB5-F18E-F27F-03B5-3CCB278D5520}"/>
              </a:ext>
            </a:extLst>
          </p:cNvPr>
          <p:cNvSpPr>
            <a:spLocks noGrp="1"/>
          </p:cNvSpPr>
          <p:nvPr>
            <p:ph type="title"/>
          </p:nvPr>
        </p:nvSpPr>
        <p:spPr/>
        <p:txBody>
          <a:bodyPr/>
          <a:lstStyle/>
          <a:p>
            <a:r>
              <a:rPr lang="en-SG" dirty="0"/>
              <a:t>Looping Through Collections</a:t>
            </a:r>
          </a:p>
        </p:txBody>
      </p:sp>
      <p:sp>
        <p:nvSpPr>
          <p:cNvPr id="3" name="Content Placeholder 2">
            <a:extLst>
              <a:ext uri="{FF2B5EF4-FFF2-40B4-BE49-F238E27FC236}">
                <a16:creationId xmlns:a16="http://schemas.microsoft.com/office/drawing/2014/main" id="{87681482-5E64-509D-644D-DE4A9FBE67AD}"/>
              </a:ext>
            </a:extLst>
          </p:cNvPr>
          <p:cNvSpPr>
            <a:spLocks noGrp="1"/>
          </p:cNvSpPr>
          <p:nvPr>
            <p:ph idx="1"/>
          </p:nvPr>
        </p:nvSpPr>
        <p:spPr/>
        <p:txBody>
          <a:bodyPr/>
          <a:lstStyle/>
          <a:p>
            <a:pPr marL="0" indent="0">
              <a:buNone/>
            </a:pPr>
            <a:r>
              <a:rPr lang="en-SG" dirty="0"/>
              <a:t>fruits = ["apple", "banana", "orange"]</a:t>
            </a:r>
          </a:p>
          <a:p>
            <a:pPr marL="0" indent="0">
              <a:buNone/>
            </a:pPr>
            <a:endParaRPr lang="en-SG" dirty="0"/>
          </a:p>
          <a:p>
            <a:pPr marL="0" indent="0">
              <a:buNone/>
            </a:pPr>
            <a:r>
              <a:rPr lang="en-SG" dirty="0"/>
              <a:t>for fruit in fruits:</a:t>
            </a:r>
          </a:p>
          <a:p>
            <a:pPr marL="0" indent="0">
              <a:buNone/>
            </a:pPr>
            <a:r>
              <a:rPr lang="en-SG" dirty="0"/>
              <a:t>    print(fruit)</a:t>
            </a:r>
          </a:p>
          <a:p>
            <a:pPr marL="0" indent="0">
              <a:buNone/>
            </a:pPr>
            <a:endParaRPr lang="en-SG" dirty="0"/>
          </a:p>
        </p:txBody>
      </p:sp>
    </p:spTree>
    <p:extLst>
      <p:ext uri="{BB962C8B-B14F-4D97-AF65-F5344CB8AC3E}">
        <p14:creationId xmlns:p14="http://schemas.microsoft.com/office/powerpoint/2010/main" val="38429279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43280-42DA-6A97-5E76-78C2C79330D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C44CD44-9FD5-DD79-59FF-3A49DEB7079A}"/>
              </a:ext>
            </a:extLst>
          </p:cNvPr>
          <p:cNvSpPr>
            <a:spLocks noGrp="1"/>
          </p:cNvSpPr>
          <p:nvPr>
            <p:ph type="title"/>
          </p:nvPr>
        </p:nvSpPr>
        <p:spPr/>
        <p:txBody>
          <a:bodyPr/>
          <a:lstStyle/>
          <a:p>
            <a:r>
              <a:rPr lang="en-SG" dirty="0"/>
              <a:t>while Loops</a:t>
            </a:r>
          </a:p>
        </p:txBody>
      </p:sp>
      <p:sp>
        <p:nvSpPr>
          <p:cNvPr id="8" name="Content Placeholder 7">
            <a:extLst>
              <a:ext uri="{FF2B5EF4-FFF2-40B4-BE49-F238E27FC236}">
                <a16:creationId xmlns:a16="http://schemas.microsoft.com/office/drawing/2014/main" id="{8C1D49EF-7BEA-C434-111A-DE65F2EBCBDD}"/>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count = 1</a:t>
            </a:r>
          </a:p>
          <a:p>
            <a:pPr marL="0" indent="0">
              <a:buNone/>
            </a:pPr>
            <a:endParaRPr lang="en-US" dirty="0"/>
          </a:p>
          <a:p>
            <a:pPr marL="0" indent="0">
              <a:buNone/>
            </a:pPr>
            <a:r>
              <a:rPr lang="en-US" dirty="0"/>
              <a:t>while count &lt;= 3:</a:t>
            </a:r>
          </a:p>
          <a:p>
            <a:pPr marL="0" indent="0">
              <a:buNone/>
            </a:pPr>
            <a:r>
              <a:rPr lang="en-US" dirty="0"/>
              <a:t>    print(count)</a:t>
            </a:r>
          </a:p>
          <a:p>
            <a:pPr marL="0" indent="0">
              <a:buNone/>
            </a:pPr>
            <a:r>
              <a:rPr lang="en-US" dirty="0"/>
              <a:t>    count += 1</a:t>
            </a:r>
          </a:p>
        </p:txBody>
      </p:sp>
      <p:sp>
        <p:nvSpPr>
          <p:cNvPr id="10" name="Content Placeholder 7">
            <a:extLst>
              <a:ext uri="{FF2B5EF4-FFF2-40B4-BE49-F238E27FC236}">
                <a16:creationId xmlns:a16="http://schemas.microsoft.com/office/drawing/2014/main" id="{74EB3B58-F560-F508-65B8-0499EA9640D8}"/>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Repeats while a condition is True</a:t>
            </a:r>
          </a:p>
          <a:p>
            <a:endParaRPr lang="en-US" dirty="0"/>
          </a:p>
          <a:p>
            <a:r>
              <a:rPr lang="en-US" dirty="0"/>
              <a:t>Must ensure condition eventually becomes False</a:t>
            </a:r>
          </a:p>
        </p:txBody>
      </p:sp>
    </p:spTree>
    <p:extLst>
      <p:ext uri="{BB962C8B-B14F-4D97-AF65-F5344CB8AC3E}">
        <p14:creationId xmlns:p14="http://schemas.microsoft.com/office/powerpoint/2010/main" val="28204437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9AF1-CA6C-8256-CAE1-F706419AF33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55C2D27-9D41-248A-53EC-58239238CC15}"/>
              </a:ext>
            </a:extLst>
          </p:cNvPr>
          <p:cNvSpPr>
            <a:spLocks noGrp="1"/>
          </p:cNvSpPr>
          <p:nvPr>
            <p:ph type="title"/>
          </p:nvPr>
        </p:nvSpPr>
        <p:spPr/>
        <p:txBody>
          <a:bodyPr/>
          <a:lstStyle/>
          <a:p>
            <a:r>
              <a:rPr lang="en-SG" dirty="0"/>
              <a:t>break and continue</a:t>
            </a:r>
          </a:p>
        </p:txBody>
      </p:sp>
      <p:sp>
        <p:nvSpPr>
          <p:cNvPr id="8" name="Content Placeholder 7">
            <a:extLst>
              <a:ext uri="{FF2B5EF4-FFF2-40B4-BE49-F238E27FC236}">
                <a16:creationId xmlns:a16="http://schemas.microsoft.com/office/drawing/2014/main" id="{B52CC788-C611-65EC-DF02-8F0B8D867A6B}"/>
              </a:ext>
            </a:extLst>
          </p:cNvPr>
          <p:cNvSpPr>
            <a:spLocks noGrp="1"/>
          </p:cNvSpPr>
          <p:nvPr>
            <p:ph idx="1"/>
          </p:nvPr>
        </p:nvSpPr>
        <p:spPr>
          <a:xfrm>
            <a:off x="457199" y="1600200"/>
            <a:ext cx="5092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Exits the loop immediately</a:t>
            </a:r>
          </a:p>
          <a:p>
            <a:pPr marL="0" indent="0">
              <a:buNone/>
            </a:pPr>
            <a:endParaRPr lang="en-US" dirty="0"/>
          </a:p>
          <a:p>
            <a:pPr marL="0" indent="0">
              <a:buNone/>
            </a:pPr>
            <a:r>
              <a:rPr lang="en-US" dirty="0"/>
              <a:t>for </a:t>
            </a:r>
            <a:r>
              <a:rPr lang="en-US" dirty="0" err="1"/>
              <a:t>i</a:t>
            </a:r>
            <a:r>
              <a:rPr lang="en-US" dirty="0"/>
              <a:t> in range(5):</a:t>
            </a:r>
          </a:p>
          <a:p>
            <a:pPr marL="0" indent="0">
              <a:buNone/>
            </a:pPr>
            <a:r>
              <a:rPr lang="en-US" dirty="0"/>
              <a:t>    if </a:t>
            </a:r>
            <a:r>
              <a:rPr lang="en-US" dirty="0" err="1"/>
              <a:t>i</a:t>
            </a:r>
            <a:r>
              <a:rPr lang="en-US" dirty="0"/>
              <a:t> == 3:</a:t>
            </a:r>
          </a:p>
          <a:p>
            <a:pPr marL="0" indent="0">
              <a:buNone/>
            </a:pPr>
            <a:r>
              <a:rPr lang="en-US" dirty="0"/>
              <a:t>        break</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1DF43494-D451-81BB-07A6-BF7C23065EFA}"/>
              </a:ext>
            </a:extLst>
          </p:cNvPr>
          <p:cNvSpPr txBox="1">
            <a:spLocks/>
          </p:cNvSpPr>
          <p:nvPr/>
        </p:nvSpPr>
        <p:spPr>
          <a:xfrm>
            <a:off x="5943600" y="1600200"/>
            <a:ext cx="57880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457200" lvl="1" indent="0">
              <a:buNone/>
            </a:pPr>
            <a:r>
              <a:rPr lang="en-US" dirty="0"/>
              <a:t># Skips to the next iteration</a:t>
            </a:r>
          </a:p>
          <a:p>
            <a:pPr marL="457200" lvl="1" indent="0">
              <a:buNone/>
            </a:pPr>
            <a:endParaRPr lang="en-US" dirty="0"/>
          </a:p>
          <a:p>
            <a:pPr marL="457200" lvl="1" indent="0">
              <a:buNone/>
            </a:pPr>
            <a:r>
              <a:rPr lang="en-US" dirty="0"/>
              <a:t>for </a:t>
            </a:r>
            <a:r>
              <a:rPr lang="en-US" dirty="0" err="1"/>
              <a:t>i</a:t>
            </a:r>
            <a:r>
              <a:rPr lang="en-US" dirty="0"/>
              <a:t> in range(5):</a:t>
            </a:r>
          </a:p>
          <a:p>
            <a:pPr marL="457200" lvl="1" indent="0">
              <a:buNone/>
            </a:pPr>
            <a:r>
              <a:rPr lang="en-US" dirty="0"/>
              <a:t>    if </a:t>
            </a:r>
            <a:r>
              <a:rPr lang="en-US" dirty="0" err="1"/>
              <a:t>i</a:t>
            </a:r>
            <a:r>
              <a:rPr lang="en-US" dirty="0"/>
              <a:t> == 2:</a:t>
            </a:r>
          </a:p>
          <a:p>
            <a:pPr marL="457200" lvl="1" indent="0">
              <a:buNone/>
            </a:pPr>
            <a:r>
              <a:rPr lang="en-US" dirty="0"/>
              <a:t>        continue</a:t>
            </a:r>
          </a:p>
          <a:p>
            <a:pPr marL="457200" lvl="1" indent="0">
              <a:buNone/>
            </a:pPr>
            <a:r>
              <a:rPr lang="en-US" dirty="0"/>
              <a:t>    print(</a:t>
            </a:r>
            <a:r>
              <a:rPr lang="en-US" dirty="0" err="1"/>
              <a:t>i</a:t>
            </a:r>
            <a:r>
              <a:rPr lang="en-US" dirty="0"/>
              <a:t>)</a:t>
            </a:r>
          </a:p>
          <a:p>
            <a:pPr marL="457200" lvl="1" indent="0">
              <a:buNone/>
            </a:pPr>
            <a:endParaRPr lang="en-US" dirty="0"/>
          </a:p>
        </p:txBody>
      </p:sp>
    </p:spTree>
    <p:extLst>
      <p:ext uri="{BB962C8B-B14F-4D97-AF65-F5344CB8AC3E}">
        <p14:creationId xmlns:p14="http://schemas.microsoft.com/office/powerpoint/2010/main" val="34837983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5DA6-C9C0-61A5-1F3A-AD37D797BF6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8173BDA-4A95-95DE-7A4B-BE969FDE54FD}"/>
              </a:ext>
            </a:extLst>
          </p:cNvPr>
          <p:cNvSpPr>
            <a:spLocks noGrp="1"/>
          </p:cNvSpPr>
          <p:nvPr>
            <p:ph type="title"/>
          </p:nvPr>
        </p:nvSpPr>
        <p:spPr/>
        <p:txBody>
          <a:bodyPr/>
          <a:lstStyle/>
          <a:p>
            <a:r>
              <a:rPr lang="en-SG" dirty="0"/>
              <a:t>Nested Control Flow</a:t>
            </a:r>
          </a:p>
        </p:txBody>
      </p:sp>
      <p:sp>
        <p:nvSpPr>
          <p:cNvPr id="8" name="Content Placeholder 7">
            <a:extLst>
              <a:ext uri="{FF2B5EF4-FFF2-40B4-BE49-F238E27FC236}">
                <a16:creationId xmlns:a16="http://schemas.microsoft.com/office/drawing/2014/main" id="{D507A18C-C57C-495A-94AF-E11401750EBA}"/>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if </a:t>
            </a:r>
            <a:r>
              <a:rPr lang="en-US" dirty="0" err="1"/>
              <a:t>i</a:t>
            </a:r>
            <a:r>
              <a:rPr lang="en-US" dirty="0"/>
              <a:t> % 2 == 0:</a:t>
            </a:r>
          </a:p>
          <a:p>
            <a:pPr marL="0" indent="0">
              <a:buNone/>
            </a:pPr>
            <a:r>
              <a:rPr lang="en-US" dirty="0"/>
              <a:t>        print(</a:t>
            </a:r>
            <a:r>
              <a:rPr lang="en-US" dirty="0" err="1"/>
              <a:t>i</a:t>
            </a:r>
            <a:r>
              <a:rPr lang="en-US" dirty="0"/>
              <a:t>, "is even")</a:t>
            </a:r>
          </a:p>
        </p:txBody>
      </p:sp>
      <p:sp>
        <p:nvSpPr>
          <p:cNvPr id="10" name="Content Placeholder 7">
            <a:extLst>
              <a:ext uri="{FF2B5EF4-FFF2-40B4-BE49-F238E27FC236}">
                <a16:creationId xmlns:a16="http://schemas.microsoft.com/office/drawing/2014/main" id="{DBFAF15F-D2EE-0D2D-B6C1-80D6EFC6E836}"/>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Control structures can be nested</a:t>
            </a:r>
          </a:p>
          <a:p>
            <a:endParaRPr lang="en-US" dirty="0"/>
          </a:p>
          <a:p>
            <a:r>
              <a:rPr lang="en-US" dirty="0"/>
              <a:t>Indentation is critical in Python</a:t>
            </a:r>
          </a:p>
        </p:txBody>
      </p:sp>
    </p:spTree>
    <p:extLst>
      <p:ext uri="{BB962C8B-B14F-4D97-AF65-F5344CB8AC3E}">
        <p14:creationId xmlns:p14="http://schemas.microsoft.com/office/powerpoint/2010/main" val="21296309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FEE7-A98D-E344-97CF-0688120181E1}"/>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F59BD070-6517-F7E3-64AF-1F6CCD1C0134}"/>
              </a:ext>
            </a:extLst>
          </p:cNvPr>
          <p:cNvSpPr>
            <a:spLocks noGrp="1"/>
          </p:cNvSpPr>
          <p:nvPr>
            <p:ph idx="1"/>
          </p:nvPr>
        </p:nvSpPr>
        <p:spPr/>
        <p:txBody>
          <a:bodyPr/>
          <a:lstStyle/>
          <a:p>
            <a:r>
              <a:rPr lang="en-US" dirty="0"/>
              <a:t>Missing or incorrect indentation</a:t>
            </a:r>
          </a:p>
          <a:p>
            <a:endParaRPr lang="en-US" dirty="0"/>
          </a:p>
          <a:p>
            <a:r>
              <a:rPr lang="en-US" dirty="0"/>
              <a:t>Infinite while loops</a:t>
            </a:r>
          </a:p>
          <a:p>
            <a:endParaRPr lang="en-US" dirty="0"/>
          </a:p>
          <a:p>
            <a:r>
              <a:rPr lang="en-US" dirty="0"/>
              <a:t>Using = instead of ==</a:t>
            </a:r>
          </a:p>
          <a:p>
            <a:endParaRPr lang="en-US" dirty="0"/>
          </a:p>
          <a:p>
            <a:r>
              <a:rPr lang="en-US" dirty="0"/>
              <a:t>Overly complex nested logic</a:t>
            </a:r>
            <a:endParaRPr lang="en-SG" dirty="0"/>
          </a:p>
        </p:txBody>
      </p:sp>
    </p:spTree>
    <p:extLst>
      <p:ext uri="{BB962C8B-B14F-4D97-AF65-F5344CB8AC3E}">
        <p14:creationId xmlns:p14="http://schemas.microsoft.com/office/powerpoint/2010/main" val="37948792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0580-8CA9-C0D1-AC08-7614AD2FE849}"/>
              </a:ext>
            </a:extLst>
          </p:cNvPr>
          <p:cNvSpPr>
            <a:spLocks noGrp="1"/>
          </p:cNvSpPr>
          <p:nvPr>
            <p:ph type="title"/>
          </p:nvPr>
        </p:nvSpPr>
        <p:spPr/>
        <p:txBody>
          <a:bodyPr/>
          <a:lstStyle/>
          <a:p>
            <a:r>
              <a:rPr lang="en-SG" dirty="0"/>
              <a:t>When to Use What</a:t>
            </a:r>
          </a:p>
        </p:txBody>
      </p:sp>
      <p:graphicFrame>
        <p:nvGraphicFramePr>
          <p:cNvPr id="4" name="Table 3">
            <a:extLst>
              <a:ext uri="{FF2B5EF4-FFF2-40B4-BE49-F238E27FC236}">
                <a16:creationId xmlns:a16="http://schemas.microsoft.com/office/drawing/2014/main" id="{80D140C0-C5D9-5D70-3F0C-2B153AB003DE}"/>
              </a:ext>
            </a:extLst>
          </p:cNvPr>
          <p:cNvGraphicFramePr>
            <a:graphicFrameLocks noGrp="1"/>
          </p:cNvGraphicFramePr>
          <p:nvPr>
            <p:extLst>
              <p:ext uri="{D42A27DB-BD31-4B8C-83A1-F6EECF244321}">
                <p14:modId xmlns:p14="http://schemas.microsoft.com/office/powerpoint/2010/main" val="1534488153"/>
              </p:ext>
            </p:extLst>
          </p:nvPr>
        </p:nvGraphicFramePr>
        <p:xfrm>
          <a:off x="939800" y="1925161"/>
          <a:ext cx="8229600" cy="3291840"/>
        </p:xfrm>
        <a:graphic>
          <a:graphicData uri="http://schemas.openxmlformats.org/drawingml/2006/table">
            <a:tbl>
              <a:tblPr/>
              <a:tblGrid>
                <a:gridCol w="4114800">
                  <a:extLst>
                    <a:ext uri="{9D8B030D-6E8A-4147-A177-3AD203B41FA5}">
                      <a16:colId xmlns:a16="http://schemas.microsoft.com/office/drawing/2014/main" val="3782213857"/>
                    </a:ext>
                  </a:extLst>
                </a:gridCol>
                <a:gridCol w="4114800">
                  <a:extLst>
                    <a:ext uri="{9D8B030D-6E8A-4147-A177-3AD203B41FA5}">
                      <a16:colId xmlns:a16="http://schemas.microsoft.com/office/drawing/2014/main" val="3006299161"/>
                    </a:ext>
                  </a:extLst>
                </a:gridCol>
              </a:tblGrid>
              <a:tr h="0">
                <a:tc>
                  <a:txBody>
                    <a:bodyPr/>
                    <a:lstStyle/>
                    <a:p>
                      <a:pPr>
                        <a:buNone/>
                      </a:pPr>
                      <a:r>
                        <a:rPr lang="en-SG" sz="3200" b="1" dirty="0">
                          <a:solidFill>
                            <a:schemeClr val="tx2"/>
                          </a:solidFill>
                        </a:rPr>
                        <a:t>Situation</a:t>
                      </a:r>
                    </a:p>
                  </a:txBody>
                  <a:tcPr anchor="ctr">
                    <a:lnL>
                      <a:noFill/>
                    </a:lnL>
                    <a:lnR>
                      <a:noFill/>
                    </a:lnR>
                    <a:lnT>
                      <a:noFill/>
                    </a:lnT>
                    <a:lnB>
                      <a:noFill/>
                    </a:lnB>
                    <a:noFill/>
                  </a:tcPr>
                </a:tc>
                <a:tc>
                  <a:txBody>
                    <a:bodyPr/>
                    <a:lstStyle/>
                    <a:p>
                      <a:pPr>
                        <a:buNone/>
                      </a:pPr>
                      <a:r>
                        <a:rPr lang="en-SG" sz="3200" b="1" dirty="0">
                          <a:solidFill>
                            <a:schemeClr val="tx2"/>
                          </a:solidFill>
                        </a:rPr>
                        <a:t>Use</a:t>
                      </a:r>
                    </a:p>
                  </a:txBody>
                  <a:tcPr anchor="ctr">
                    <a:lnL>
                      <a:noFill/>
                    </a:lnL>
                    <a:lnR>
                      <a:noFill/>
                    </a:lnR>
                    <a:lnT>
                      <a:noFill/>
                    </a:lnT>
                    <a:lnB>
                      <a:noFill/>
                    </a:lnB>
                    <a:noFill/>
                  </a:tcPr>
                </a:tc>
                <a:extLst>
                  <a:ext uri="{0D108BD9-81ED-4DB2-BD59-A6C34878D82A}">
                    <a16:rowId xmlns:a16="http://schemas.microsoft.com/office/drawing/2014/main" val="3516361683"/>
                  </a:ext>
                </a:extLst>
              </a:tr>
              <a:tr h="0">
                <a:tc>
                  <a:txBody>
                    <a:bodyPr/>
                    <a:lstStyle/>
                    <a:p>
                      <a:pPr>
                        <a:buNone/>
                      </a:pPr>
                      <a:r>
                        <a:rPr lang="en-SG" sz="3200" dirty="0"/>
                        <a:t>Decision making</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if / </a:t>
                      </a:r>
                      <a:r>
                        <a:rPr lang="en-SG" sz="3200" dirty="0" err="1">
                          <a:latin typeface="Courier New" panose="02070309020205020404" pitchFamily="49" charset="0"/>
                        </a:rPr>
                        <a:t>elif</a:t>
                      </a:r>
                      <a:r>
                        <a:rPr lang="en-SG" sz="3200" dirty="0">
                          <a:latin typeface="Courier New" panose="02070309020205020404" pitchFamily="49" charset="0"/>
                        </a:rPr>
                        <a:t> / else</a:t>
                      </a:r>
                      <a:endParaRPr lang="en-SG" sz="3200" dirty="0"/>
                    </a:p>
                  </a:txBody>
                  <a:tcPr anchor="ctr">
                    <a:lnL>
                      <a:noFill/>
                    </a:lnL>
                    <a:lnR>
                      <a:noFill/>
                    </a:lnR>
                    <a:lnT>
                      <a:noFill/>
                    </a:lnT>
                    <a:lnB>
                      <a:noFill/>
                    </a:lnB>
                    <a:noFill/>
                  </a:tcPr>
                </a:tc>
                <a:extLst>
                  <a:ext uri="{0D108BD9-81ED-4DB2-BD59-A6C34878D82A}">
                    <a16:rowId xmlns:a16="http://schemas.microsoft.com/office/drawing/2014/main" val="691739763"/>
                  </a:ext>
                </a:extLst>
              </a:tr>
              <a:tr h="0">
                <a:tc>
                  <a:txBody>
                    <a:bodyPr/>
                    <a:lstStyle/>
                    <a:p>
                      <a:pPr>
                        <a:buNone/>
                      </a:pPr>
                      <a:r>
                        <a:rPr lang="en-SG" sz="3200"/>
                        <a:t>Known number of iterations</a:t>
                      </a:r>
                    </a:p>
                  </a:txBody>
                  <a:tcPr anchor="ctr">
                    <a:lnL>
                      <a:noFill/>
                    </a:lnL>
                    <a:lnR>
                      <a:noFill/>
                    </a:lnR>
                    <a:lnT>
                      <a:noFill/>
                    </a:lnT>
                    <a:lnB>
                      <a:noFill/>
                    </a:lnB>
                    <a:noFill/>
                  </a:tcPr>
                </a:tc>
                <a:tc>
                  <a:txBody>
                    <a:bodyPr/>
                    <a:lstStyle/>
                    <a:p>
                      <a:pPr>
                        <a:buNone/>
                      </a:pPr>
                      <a:r>
                        <a:rPr lang="en-SG" sz="3200">
                          <a:latin typeface="Courier New" panose="02070309020205020404" pitchFamily="49" charset="0"/>
                        </a:rPr>
                        <a:t>for</a:t>
                      </a:r>
                      <a:r>
                        <a:rPr lang="en-SG" sz="3200"/>
                        <a:t> loop</a:t>
                      </a:r>
                    </a:p>
                  </a:txBody>
                  <a:tcPr anchor="ctr">
                    <a:lnL>
                      <a:noFill/>
                    </a:lnL>
                    <a:lnR>
                      <a:noFill/>
                    </a:lnR>
                    <a:lnT>
                      <a:noFill/>
                    </a:lnT>
                    <a:lnB>
                      <a:noFill/>
                    </a:lnB>
                    <a:noFill/>
                  </a:tcPr>
                </a:tc>
                <a:extLst>
                  <a:ext uri="{0D108BD9-81ED-4DB2-BD59-A6C34878D82A}">
                    <a16:rowId xmlns:a16="http://schemas.microsoft.com/office/drawing/2014/main" val="2397128675"/>
                  </a:ext>
                </a:extLst>
              </a:tr>
              <a:tr h="0">
                <a:tc>
                  <a:txBody>
                    <a:bodyPr/>
                    <a:lstStyle/>
                    <a:p>
                      <a:pPr>
                        <a:buNone/>
                      </a:pPr>
                      <a:r>
                        <a:rPr lang="en-SG" sz="3200"/>
                        <a:t>Unknown number of iterations</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while</a:t>
                      </a:r>
                      <a:r>
                        <a:rPr lang="en-SG" sz="3200" dirty="0"/>
                        <a:t> loop</a:t>
                      </a:r>
                    </a:p>
                  </a:txBody>
                  <a:tcPr anchor="ctr">
                    <a:lnL>
                      <a:noFill/>
                    </a:lnL>
                    <a:lnR>
                      <a:noFill/>
                    </a:lnR>
                    <a:lnT>
                      <a:noFill/>
                    </a:lnT>
                    <a:lnB>
                      <a:noFill/>
                    </a:lnB>
                    <a:noFill/>
                  </a:tcPr>
                </a:tc>
                <a:extLst>
                  <a:ext uri="{0D108BD9-81ED-4DB2-BD59-A6C34878D82A}">
                    <a16:rowId xmlns:a16="http://schemas.microsoft.com/office/drawing/2014/main" val="1994354377"/>
                  </a:ext>
                </a:extLst>
              </a:tr>
            </a:tbl>
          </a:graphicData>
        </a:graphic>
      </p:graphicFrame>
    </p:spTree>
    <p:extLst>
      <p:ext uri="{BB962C8B-B14F-4D97-AF65-F5344CB8AC3E}">
        <p14:creationId xmlns:p14="http://schemas.microsoft.com/office/powerpoint/2010/main" val="1179125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CEB0-9FFA-CB48-A11F-0D02671FC284}"/>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7E24476F-3CA3-D413-CFBC-7F476CA504A1}"/>
              </a:ext>
            </a:extLst>
          </p:cNvPr>
          <p:cNvSpPr>
            <a:spLocks noGrp="1"/>
          </p:cNvSpPr>
          <p:nvPr>
            <p:ph idx="1"/>
          </p:nvPr>
        </p:nvSpPr>
        <p:spPr/>
        <p:txBody>
          <a:bodyPr/>
          <a:lstStyle/>
          <a:p>
            <a:r>
              <a:rPr lang="en-US" dirty="0"/>
              <a:t>Ask the user for a number</a:t>
            </a:r>
          </a:p>
          <a:p>
            <a:endParaRPr lang="en-US" dirty="0"/>
          </a:p>
          <a:p>
            <a:r>
              <a:rPr lang="en-US" dirty="0"/>
              <a:t>Print whether it is:</a:t>
            </a:r>
          </a:p>
          <a:p>
            <a:endParaRPr lang="en-US" dirty="0"/>
          </a:p>
          <a:p>
            <a:pPr lvl="1"/>
            <a:r>
              <a:rPr lang="en-US" dirty="0"/>
              <a:t>Positive, negative, or zero</a:t>
            </a:r>
          </a:p>
          <a:p>
            <a:endParaRPr lang="en-US" dirty="0"/>
          </a:p>
          <a:p>
            <a:pPr lvl="1"/>
            <a:r>
              <a:rPr lang="en-US" dirty="0"/>
              <a:t>Even or odd</a:t>
            </a:r>
            <a:endParaRPr lang="en-SG" dirty="0"/>
          </a:p>
        </p:txBody>
      </p:sp>
    </p:spTree>
    <p:extLst>
      <p:ext uri="{BB962C8B-B14F-4D97-AF65-F5344CB8AC3E}">
        <p14:creationId xmlns:p14="http://schemas.microsoft.com/office/powerpoint/2010/main" val="353688252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EFAA0-A6D2-2BCC-DD3D-E4B40974678B}"/>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3A230ED2-C228-CD81-C2D9-F6408FD0A7CE}"/>
              </a:ext>
            </a:extLst>
          </p:cNvPr>
          <p:cNvSpPr>
            <a:spLocks noGrp="1"/>
          </p:cNvSpPr>
          <p:nvPr>
            <p:ph idx="1"/>
          </p:nvPr>
        </p:nvSpPr>
        <p:spPr/>
        <p:txBody>
          <a:bodyPr>
            <a:normAutofit lnSpcReduction="10000"/>
          </a:bodyPr>
          <a:lstStyle/>
          <a:p>
            <a:r>
              <a:rPr lang="en-US" dirty="0"/>
              <a:t>Control flow directs program execution</a:t>
            </a:r>
          </a:p>
          <a:p>
            <a:endParaRPr lang="en-US" dirty="0"/>
          </a:p>
          <a:p>
            <a:r>
              <a:rPr lang="en-US" dirty="0"/>
              <a:t>Conditions rely on Boolean expressions</a:t>
            </a:r>
          </a:p>
          <a:p>
            <a:endParaRPr lang="en-US" dirty="0"/>
          </a:p>
          <a:p>
            <a:r>
              <a:rPr lang="en-US" dirty="0"/>
              <a:t>Loops automate repetition</a:t>
            </a:r>
          </a:p>
          <a:p>
            <a:endParaRPr lang="en-US" dirty="0"/>
          </a:p>
          <a:p>
            <a:r>
              <a:rPr lang="en-US" dirty="0"/>
              <a:t>Clean logic improves readability and correctness</a:t>
            </a:r>
            <a:endParaRPr lang="en-SG" dirty="0"/>
          </a:p>
        </p:txBody>
      </p:sp>
    </p:spTree>
    <p:extLst>
      <p:ext uri="{BB962C8B-B14F-4D97-AF65-F5344CB8AC3E}">
        <p14:creationId xmlns:p14="http://schemas.microsoft.com/office/powerpoint/2010/main" val="867122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8D10-5EA7-3113-6BBD-C1367A04C167}"/>
              </a:ext>
            </a:extLst>
          </p:cNvPr>
          <p:cNvSpPr>
            <a:spLocks noGrp="1"/>
          </p:cNvSpPr>
          <p:nvPr>
            <p:ph type="title"/>
          </p:nvPr>
        </p:nvSpPr>
        <p:spPr>
          <a:xfrm>
            <a:off x="457200" y="-1905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48A84EA-9D26-CDF2-F7A0-1F978F447D95}"/>
              </a:ext>
            </a:extLst>
          </p:cNvPr>
          <p:cNvSpPr>
            <a:spLocks noGrp="1"/>
          </p:cNvSpPr>
          <p:nvPr>
            <p:ph idx="1"/>
          </p:nvPr>
        </p:nvSpPr>
        <p:spPr>
          <a:xfrm>
            <a:off x="457200" y="800100"/>
            <a:ext cx="8229600" cy="5842000"/>
          </a:xfrm>
        </p:spPr>
        <p:txBody>
          <a:bodyPr>
            <a:normAutofit fontScale="77500" lnSpcReduction="20000"/>
          </a:bodyPr>
          <a:lstStyle/>
          <a:p>
            <a:pPr marL="0" indent="0">
              <a:buNone/>
            </a:pPr>
            <a:r>
              <a:rPr lang="en-US" dirty="0"/>
              <a:t>number = int(input("Enter a number: "))</a:t>
            </a:r>
          </a:p>
          <a:p>
            <a:pPr marL="0" indent="0">
              <a:buNone/>
            </a:pPr>
            <a:endParaRPr lang="en-US" dirty="0"/>
          </a:p>
          <a:p>
            <a:pPr marL="0" indent="0">
              <a:buNone/>
            </a:pPr>
            <a:r>
              <a:rPr lang="en-US" dirty="0"/>
              <a:t># Check if positive, negative, or zero</a:t>
            </a:r>
          </a:p>
          <a:p>
            <a:pPr marL="0" indent="0">
              <a:buNone/>
            </a:pPr>
            <a:r>
              <a:rPr lang="en-US" dirty="0"/>
              <a:t>if number &gt; 0:</a:t>
            </a:r>
          </a:p>
          <a:p>
            <a:pPr marL="0" indent="0">
              <a:buNone/>
            </a:pPr>
            <a:r>
              <a:rPr lang="en-US" dirty="0"/>
              <a:t>    print("The number is positive.")</a:t>
            </a:r>
          </a:p>
          <a:p>
            <a:pPr marL="0" indent="0">
              <a:buNone/>
            </a:pPr>
            <a:r>
              <a:rPr lang="en-US" dirty="0" err="1"/>
              <a:t>elif</a:t>
            </a:r>
            <a:r>
              <a:rPr lang="en-US" dirty="0"/>
              <a:t> number &lt; 0:</a:t>
            </a:r>
          </a:p>
          <a:p>
            <a:pPr marL="0" indent="0">
              <a:buNone/>
            </a:pPr>
            <a:r>
              <a:rPr lang="en-US" dirty="0"/>
              <a:t>    print("The number is negative.")</a:t>
            </a:r>
          </a:p>
          <a:p>
            <a:pPr marL="0" indent="0">
              <a:buNone/>
            </a:pPr>
            <a:r>
              <a:rPr lang="en-US" dirty="0"/>
              <a:t>else:</a:t>
            </a:r>
          </a:p>
          <a:p>
            <a:pPr marL="0" indent="0">
              <a:buNone/>
            </a:pPr>
            <a:r>
              <a:rPr lang="en-US" dirty="0"/>
              <a:t>    print("The number is zero.")</a:t>
            </a:r>
          </a:p>
          <a:p>
            <a:pPr marL="0" indent="0">
              <a:buNone/>
            </a:pPr>
            <a:endParaRPr lang="en-US" dirty="0"/>
          </a:p>
          <a:p>
            <a:pPr marL="0" indent="0">
              <a:buNone/>
            </a:pPr>
            <a:r>
              <a:rPr lang="en-US" dirty="0"/>
              <a:t># Check if even or odd</a:t>
            </a:r>
          </a:p>
          <a:p>
            <a:pPr marL="0" indent="0">
              <a:buNone/>
            </a:pPr>
            <a:r>
              <a:rPr lang="en-US" dirty="0"/>
              <a:t>if number % 2 == 0:</a:t>
            </a:r>
          </a:p>
          <a:p>
            <a:pPr marL="0" indent="0">
              <a:buNone/>
            </a:pPr>
            <a:r>
              <a:rPr lang="en-US" dirty="0"/>
              <a:t>    print("The number is even.")</a:t>
            </a:r>
          </a:p>
          <a:p>
            <a:pPr marL="0" indent="0">
              <a:buNone/>
            </a:pPr>
            <a:r>
              <a:rPr lang="en-US" dirty="0"/>
              <a:t>else:</a:t>
            </a:r>
          </a:p>
          <a:p>
            <a:pPr marL="0" indent="0">
              <a:buNone/>
            </a:pPr>
            <a:r>
              <a:rPr lang="en-US" dirty="0"/>
              <a:t>    print("The number is odd.")</a:t>
            </a:r>
          </a:p>
          <a:p>
            <a:pPr marL="0" indent="0">
              <a:buNone/>
            </a:pPr>
            <a:endParaRPr lang="en-SG" dirty="0"/>
          </a:p>
        </p:txBody>
      </p:sp>
    </p:spTree>
    <p:extLst>
      <p:ext uri="{BB962C8B-B14F-4D97-AF65-F5344CB8AC3E}">
        <p14:creationId xmlns:p14="http://schemas.microsoft.com/office/powerpoint/2010/main" val="287692747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a:t>for </a:t>
            </a:r>
            <a:r>
              <a:rPr sz="2400" dirty="0" err="1"/>
              <a:t>i</a:t>
            </a:r>
            <a:r>
              <a:rPr sz="2400" dirty="0"/>
              <a:t> in range(5):          # 0 1 2 3 4</a:t>
            </a:r>
            <a:br>
              <a:rPr sz="2400" dirty="0"/>
            </a:br>
            <a:r>
              <a:rPr sz="2400" dirty="0"/>
              <a:t>    print(</a:t>
            </a:r>
            <a:r>
              <a:rPr sz="2400" dirty="0" err="1"/>
              <a:t>i</a:t>
            </a:r>
            <a:r>
              <a:rPr sz="2400" dirty="0"/>
              <a:t>, end=" ")</a:t>
            </a:r>
            <a:br>
              <a:rPr sz="2400" dirty="0"/>
            </a:br>
            <a:br>
              <a:rPr sz="2400" dirty="0"/>
            </a:br>
            <a:r>
              <a:rPr sz="2400" dirty="0"/>
              <a:t>colors = ["red", "green", "blue"]</a:t>
            </a:r>
            <a:br>
              <a:rPr sz="2400" dirty="0"/>
            </a:br>
            <a:r>
              <a:rPr sz="2400" dirty="0"/>
              <a:t>for </a:t>
            </a:r>
            <a:r>
              <a:rPr sz="2400" dirty="0" err="1"/>
              <a:t>idx</a:t>
            </a:r>
            <a:r>
              <a:rPr sz="2400" dirty="0"/>
              <a:t>, color in enumerate(colors, start=1):</a:t>
            </a:r>
            <a:br>
              <a:rPr sz="2400" dirty="0"/>
            </a:br>
            <a:r>
              <a:rPr sz="2400" dirty="0"/>
              <a:t>    print(f"{</a:t>
            </a:r>
            <a:r>
              <a:rPr sz="2400" dirty="0" err="1"/>
              <a:t>idx</a:t>
            </a:r>
            <a:r>
              <a:rPr sz="2400" dirty="0"/>
              <a:t>}. {color}")</a:t>
            </a:r>
            <a:br>
              <a:rPr sz="2400" dirty="0"/>
            </a:br>
            <a:br>
              <a:rPr sz="2400" dirty="0"/>
            </a:br>
            <a:r>
              <a:rPr sz="2400" dirty="0"/>
              <a:t>n = 5</a:t>
            </a:r>
            <a:br>
              <a:rPr sz="2400" dirty="0"/>
            </a:br>
            <a:r>
              <a:rPr sz="2400" dirty="0"/>
              <a:t>while n &gt; 0:</a:t>
            </a:r>
            <a:br>
              <a:rPr sz="2400" dirty="0"/>
            </a:br>
            <a:r>
              <a:rPr sz="2400" dirty="0"/>
              <a:t>    print(n); n -= 1</a:t>
            </a:r>
            <a:br>
              <a:rPr sz="2400" dirty="0"/>
            </a:br>
            <a:r>
              <a:rPr sz="2400" dirty="0"/>
              <a:t>else:</a:t>
            </a:r>
            <a:br>
              <a:rPr sz="2400" dirty="0"/>
            </a:br>
            <a:r>
              <a:rPr sz="2400" dirty="0"/>
              <a:t>    print("Blast off!")</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45A1-4AF4-A0EE-E764-6A19A9164675}"/>
              </a:ext>
            </a:extLst>
          </p:cNvPr>
          <p:cNvSpPr>
            <a:spLocks noGrp="1"/>
          </p:cNvSpPr>
          <p:nvPr>
            <p:ph type="title"/>
          </p:nvPr>
        </p:nvSpPr>
        <p:spPr/>
        <p:txBody>
          <a:bodyPr/>
          <a:lstStyle/>
          <a:p>
            <a:r>
              <a:rPr lang="en-SG" dirty="0"/>
              <a:t>Discussion</a:t>
            </a:r>
          </a:p>
        </p:txBody>
      </p:sp>
      <p:sp>
        <p:nvSpPr>
          <p:cNvPr id="3" name="Content Placeholder 2">
            <a:extLst>
              <a:ext uri="{FF2B5EF4-FFF2-40B4-BE49-F238E27FC236}">
                <a16:creationId xmlns:a16="http://schemas.microsoft.com/office/drawing/2014/main" id="{3C9EEFA9-EE92-A1B7-AD1A-03D2BE4BDB4B}"/>
              </a:ext>
            </a:extLst>
          </p:cNvPr>
          <p:cNvSpPr>
            <a:spLocks noGrp="1"/>
          </p:cNvSpPr>
          <p:nvPr>
            <p:ph idx="1"/>
          </p:nvPr>
        </p:nvSpPr>
        <p:spPr/>
        <p:txBody>
          <a:bodyPr>
            <a:normAutofit fontScale="77500" lnSpcReduction="20000"/>
          </a:bodyPr>
          <a:lstStyle/>
          <a:p>
            <a:r>
              <a:rPr lang="en-US" dirty="0"/>
              <a:t>What values does range(5) produce?</a:t>
            </a:r>
          </a:p>
          <a:p>
            <a:endParaRPr lang="en-US" dirty="0"/>
          </a:p>
          <a:p>
            <a:r>
              <a:rPr lang="en-US" dirty="0"/>
              <a:t>Why does print(..., end=" ") change the output format?</a:t>
            </a:r>
          </a:p>
          <a:p>
            <a:endParaRPr lang="en-US" dirty="0"/>
          </a:p>
          <a:p>
            <a:r>
              <a:rPr lang="en-US" dirty="0"/>
              <a:t>What does enumerate() return in each iteration?</a:t>
            </a:r>
          </a:p>
          <a:p>
            <a:endParaRPr lang="en-US" dirty="0"/>
          </a:p>
          <a:p>
            <a:r>
              <a:rPr lang="en-US" dirty="0"/>
              <a:t>Why does enumerate() start at 1 instead of 0 here?</a:t>
            </a:r>
          </a:p>
          <a:p>
            <a:endParaRPr lang="en-US" dirty="0"/>
          </a:p>
          <a:p>
            <a:r>
              <a:rPr lang="en-US" dirty="0"/>
              <a:t>When does the while loop stop?</a:t>
            </a:r>
          </a:p>
          <a:p>
            <a:endParaRPr lang="en-US" dirty="0"/>
          </a:p>
          <a:p>
            <a:r>
              <a:rPr lang="en-US" dirty="0"/>
              <a:t>Under what condition does the else block execute?</a:t>
            </a:r>
            <a:endParaRPr lang="en-SG" dirty="0"/>
          </a:p>
        </p:txBody>
      </p:sp>
    </p:spTree>
    <p:extLst>
      <p:ext uri="{BB962C8B-B14F-4D97-AF65-F5344CB8AC3E}">
        <p14:creationId xmlns:p14="http://schemas.microsoft.com/office/powerpoint/2010/main" val="61959784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A1315-33B4-B527-A270-BBD2293CEDF6}"/>
              </a:ext>
            </a:extLst>
          </p:cNvPr>
          <p:cNvSpPr>
            <a:spLocks noGrp="1"/>
          </p:cNvSpPr>
          <p:nvPr>
            <p:ph type="title"/>
          </p:nvPr>
        </p:nvSpPr>
        <p:spPr>
          <a:xfrm>
            <a:off x="457200" y="0"/>
            <a:ext cx="8229600" cy="1143000"/>
          </a:xfrm>
        </p:spPr>
        <p:txBody>
          <a:bodyPr/>
          <a:lstStyle/>
          <a:p>
            <a:r>
              <a:rPr lang="en-SG" dirty="0"/>
              <a:t>Answers</a:t>
            </a:r>
          </a:p>
        </p:txBody>
      </p:sp>
      <p:sp>
        <p:nvSpPr>
          <p:cNvPr id="3" name="Content Placeholder 2">
            <a:extLst>
              <a:ext uri="{FF2B5EF4-FFF2-40B4-BE49-F238E27FC236}">
                <a16:creationId xmlns:a16="http://schemas.microsoft.com/office/drawing/2014/main" id="{29AC2B30-61CF-83A5-3AF8-3EECC8B08027}"/>
              </a:ext>
            </a:extLst>
          </p:cNvPr>
          <p:cNvSpPr>
            <a:spLocks noGrp="1"/>
          </p:cNvSpPr>
          <p:nvPr>
            <p:ph idx="1"/>
          </p:nvPr>
        </p:nvSpPr>
        <p:spPr>
          <a:xfrm>
            <a:off x="457200" y="1417638"/>
            <a:ext cx="9779000" cy="5186362"/>
          </a:xfrm>
        </p:spPr>
        <p:txBody>
          <a:bodyPr>
            <a:normAutofit fontScale="92500" lnSpcReduction="10000"/>
          </a:bodyPr>
          <a:lstStyle/>
          <a:p>
            <a:r>
              <a:rPr lang="en-US" sz="2400" dirty="0"/>
              <a:t>range(5) </a:t>
            </a:r>
            <a:r>
              <a:rPr lang="en-US" sz="2400" dirty="0">
                <a:sym typeface="Wingdings" panose="05000000000000000000" pitchFamily="2" charset="2"/>
              </a:rPr>
              <a:t></a:t>
            </a:r>
            <a:r>
              <a:rPr lang="en-US" sz="2400" dirty="0"/>
              <a:t> 0, 1, 2, 3, 4</a:t>
            </a:r>
          </a:p>
          <a:p>
            <a:endParaRPr lang="en-US" sz="2400" dirty="0"/>
          </a:p>
          <a:p>
            <a:r>
              <a:rPr lang="en-US" sz="2400" dirty="0"/>
              <a:t>end=" " </a:t>
            </a:r>
            <a:r>
              <a:rPr lang="en-US" sz="2400" dirty="0">
                <a:sym typeface="Wingdings" panose="05000000000000000000" pitchFamily="2" charset="2"/>
              </a:rPr>
              <a:t></a:t>
            </a:r>
            <a:r>
              <a:rPr lang="en-US" sz="2400" dirty="0"/>
              <a:t> prints on same line</a:t>
            </a:r>
          </a:p>
          <a:p>
            <a:endParaRPr lang="en-US" sz="2400" dirty="0"/>
          </a:p>
          <a:p>
            <a:r>
              <a:rPr lang="en-US" sz="2400" dirty="0"/>
              <a:t>enumerate() </a:t>
            </a:r>
            <a:r>
              <a:rPr lang="en-US" sz="2400" dirty="0">
                <a:sym typeface="Wingdings" panose="05000000000000000000" pitchFamily="2" charset="2"/>
              </a:rPr>
              <a:t></a:t>
            </a:r>
            <a:r>
              <a:rPr lang="en-US" sz="2400" dirty="0"/>
              <a:t> returns (index, value)</a:t>
            </a:r>
          </a:p>
          <a:p>
            <a:endParaRPr lang="en-US" sz="2400" dirty="0"/>
          </a:p>
          <a:p>
            <a:r>
              <a:rPr lang="en-US" sz="2400" dirty="0"/>
              <a:t>start=1 </a:t>
            </a:r>
            <a:r>
              <a:rPr lang="en-US" sz="2400" dirty="0">
                <a:sym typeface="Wingdings" panose="05000000000000000000" pitchFamily="2" charset="2"/>
              </a:rPr>
              <a:t></a:t>
            </a:r>
            <a:r>
              <a:rPr lang="en-US" sz="2400" dirty="0"/>
              <a:t> human-friendly numbering</a:t>
            </a:r>
          </a:p>
          <a:p>
            <a:endParaRPr lang="en-US" sz="2400" dirty="0"/>
          </a:p>
          <a:p>
            <a:r>
              <a:rPr lang="en-US" sz="2400" dirty="0"/>
              <a:t>while stops </a:t>
            </a:r>
            <a:r>
              <a:rPr lang="en-US" sz="2400" dirty="0">
                <a:sym typeface="Wingdings" panose="05000000000000000000" pitchFamily="2" charset="2"/>
              </a:rPr>
              <a:t></a:t>
            </a:r>
            <a:r>
              <a:rPr lang="en-US" sz="2400" dirty="0"/>
              <a:t> when condition becomes False</a:t>
            </a:r>
          </a:p>
          <a:p>
            <a:endParaRPr lang="en-US" sz="2400" dirty="0"/>
          </a:p>
          <a:p>
            <a:r>
              <a:rPr lang="en-US" sz="2400" dirty="0"/>
              <a:t>else runs </a:t>
            </a:r>
            <a:r>
              <a:rPr lang="en-US" sz="2400" dirty="0">
                <a:sym typeface="Wingdings" panose="05000000000000000000" pitchFamily="2" charset="2"/>
              </a:rPr>
              <a:t></a:t>
            </a:r>
            <a:r>
              <a:rPr lang="en-US" sz="2400" dirty="0"/>
              <a:t> only if no break</a:t>
            </a:r>
          </a:p>
          <a:p>
            <a:endParaRPr lang="en-US" sz="2400" dirty="0"/>
          </a:p>
          <a:p>
            <a:pPr marL="0" indent="0">
              <a:buNone/>
            </a:pPr>
            <a:r>
              <a:rPr lang="en-US" sz="2400" b="1" dirty="0">
                <a:solidFill>
                  <a:schemeClr val="tx2"/>
                </a:solidFill>
              </a:rPr>
              <a:t>Bottom line: loops control repetition; small options change behavior.</a:t>
            </a:r>
          </a:p>
          <a:p>
            <a:pPr marL="0" indent="0">
              <a:buNone/>
            </a:pPr>
            <a:endParaRPr lang="en-SG" sz="2400" dirty="0"/>
          </a:p>
        </p:txBody>
      </p:sp>
    </p:spTree>
    <p:extLst>
      <p:ext uri="{BB962C8B-B14F-4D97-AF65-F5344CB8AC3E}">
        <p14:creationId xmlns:p14="http://schemas.microsoft.com/office/powerpoint/2010/main" val="28396771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err="1"/>
              <a:t>nums</a:t>
            </a:r>
            <a:r>
              <a:rPr sz="2400" dirty="0"/>
              <a:t> = [10, 15, 18, 19, 20]</a:t>
            </a:r>
            <a:br>
              <a:rPr sz="2400" dirty="0"/>
            </a:br>
            <a:r>
              <a:rPr sz="2400" dirty="0"/>
              <a:t>for n in </a:t>
            </a:r>
            <a:r>
              <a:rPr sz="2400" dirty="0" err="1"/>
              <a:t>nums</a:t>
            </a:r>
            <a:r>
              <a:rPr sz="2400" dirty="0"/>
              <a:t>:</a:t>
            </a:r>
            <a:br>
              <a:rPr sz="2400" dirty="0"/>
            </a:br>
            <a:r>
              <a:rPr sz="2400" dirty="0"/>
              <a:t>    if n % 2 == 0:</a:t>
            </a:r>
            <a:br>
              <a:rPr sz="2400" dirty="0"/>
            </a:br>
            <a:r>
              <a:rPr sz="2400" dirty="0"/>
              <a:t>        continue</a:t>
            </a:r>
            <a:br>
              <a:rPr sz="2400" dirty="0"/>
            </a:br>
            <a:r>
              <a:rPr sz="2400" dirty="0"/>
              <a:t>    for </a:t>
            </a:r>
            <a:r>
              <a:rPr sz="2400" dirty="0" err="1"/>
              <a:t>i</a:t>
            </a:r>
            <a:r>
              <a:rPr sz="2400" dirty="0"/>
              <a:t> in range(3, int(n**0.5)+1, 2):</a:t>
            </a:r>
            <a:br>
              <a:rPr sz="2400" dirty="0"/>
            </a:br>
            <a:r>
              <a:rPr sz="2400" dirty="0"/>
              <a:t>        if n % </a:t>
            </a:r>
            <a:r>
              <a:rPr sz="2400" dirty="0" err="1"/>
              <a:t>i</a:t>
            </a:r>
            <a:r>
              <a:rPr sz="2400" dirty="0"/>
              <a:t> == 0:</a:t>
            </a:r>
            <a:br>
              <a:rPr sz="2400" dirty="0"/>
            </a:br>
            <a:r>
              <a:rPr sz="2400" dirty="0"/>
              <a:t>            break</a:t>
            </a:r>
            <a:br>
              <a:rPr sz="2400" dirty="0"/>
            </a:br>
            <a:r>
              <a:rPr sz="2400" dirty="0"/>
              <a:t>    else:                       # no break → prime</a:t>
            </a:r>
            <a:br>
              <a:rPr sz="2400" dirty="0"/>
            </a:br>
            <a:r>
              <a:rPr sz="2400" dirty="0"/>
              <a:t>        print("Prime:", n)</a:t>
            </a:r>
            <a:br>
              <a:rPr sz="2400" dirty="0"/>
            </a:br>
            <a:r>
              <a:rPr sz="2400" dirty="0"/>
              <a:t>        break</a:t>
            </a:r>
            <a:br>
              <a:rPr sz="2400" dirty="0"/>
            </a:br>
            <a:r>
              <a:rPr sz="2400" dirty="0"/>
              <a:t>else:</a:t>
            </a:r>
            <a:br>
              <a:rPr sz="2400" dirty="0"/>
            </a:br>
            <a:r>
              <a:rPr sz="2400" dirty="0"/>
              <a:t>    print("No prime found")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8E68C-B606-FECC-9C5C-928C89BB5832}"/>
              </a:ext>
            </a:extLst>
          </p:cNvPr>
          <p:cNvSpPr>
            <a:spLocks noGrp="1"/>
          </p:cNvSpPr>
          <p:nvPr>
            <p:ph type="title"/>
          </p:nvPr>
        </p:nvSpPr>
        <p:spPr/>
        <p:txBody>
          <a:bodyPr/>
          <a:lstStyle/>
          <a:p>
            <a:r>
              <a:rPr lang="en-SG" dirty="0"/>
              <a:t>What Is a Function?</a:t>
            </a:r>
          </a:p>
        </p:txBody>
      </p:sp>
      <p:sp>
        <p:nvSpPr>
          <p:cNvPr id="3" name="Content Placeholder 2">
            <a:extLst>
              <a:ext uri="{FF2B5EF4-FFF2-40B4-BE49-F238E27FC236}">
                <a16:creationId xmlns:a16="http://schemas.microsoft.com/office/drawing/2014/main" id="{156452B5-E8EC-75F2-7FEA-517639E77DA9}"/>
              </a:ext>
            </a:extLst>
          </p:cNvPr>
          <p:cNvSpPr>
            <a:spLocks noGrp="1"/>
          </p:cNvSpPr>
          <p:nvPr>
            <p:ph idx="1"/>
          </p:nvPr>
        </p:nvSpPr>
        <p:spPr/>
        <p:txBody>
          <a:bodyPr/>
          <a:lstStyle/>
          <a:p>
            <a:r>
              <a:rPr lang="en-US" dirty="0"/>
              <a:t>A function is a reusable block of code</a:t>
            </a:r>
          </a:p>
          <a:p>
            <a:endParaRPr lang="en-US" dirty="0"/>
          </a:p>
          <a:p>
            <a:r>
              <a:rPr lang="en-US" dirty="0"/>
              <a:t>Performs a specific task</a:t>
            </a:r>
          </a:p>
          <a:p>
            <a:endParaRPr lang="en-US" dirty="0"/>
          </a:p>
          <a:p>
            <a:r>
              <a:rPr lang="en-US" dirty="0"/>
              <a:t>Helps reduce repetition and improve readability</a:t>
            </a:r>
            <a:endParaRPr lang="en-SG" dirty="0"/>
          </a:p>
        </p:txBody>
      </p:sp>
    </p:spTree>
    <p:extLst>
      <p:ext uri="{BB962C8B-B14F-4D97-AF65-F5344CB8AC3E}">
        <p14:creationId xmlns:p14="http://schemas.microsoft.com/office/powerpoint/2010/main" val="1050366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FF704-E010-FFC2-C099-B3809C2781C7}"/>
              </a:ext>
            </a:extLst>
          </p:cNvPr>
          <p:cNvSpPr>
            <a:spLocks noGrp="1"/>
          </p:cNvSpPr>
          <p:nvPr>
            <p:ph type="title"/>
          </p:nvPr>
        </p:nvSpPr>
        <p:spPr/>
        <p:txBody>
          <a:bodyPr/>
          <a:lstStyle/>
          <a:p>
            <a:r>
              <a:rPr lang="en-SG" dirty="0"/>
              <a:t>Why Use Functions?</a:t>
            </a:r>
          </a:p>
        </p:txBody>
      </p:sp>
      <p:sp>
        <p:nvSpPr>
          <p:cNvPr id="3" name="Content Placeholder 2">
            <a:extLst>
              <a:ext uri="{FF2B5EF4-FFF2-40B4-BE49-F238E27FC236}">
                <a16:creationId xmlns:a16="http://schemas.microsoft.com/office/drawing/2014/main" id="{EC940959-46A7-5224-7F19-0112167139DE}"/>
              </a:ext>
            </a:extLst>
          </p:cNvPr>
          <p:cNvSpPr>
            <a:spLocks noGrp="1"/>
          </p:cNvSpPr>
          <p:nvPr>
            <p:ph idx="1"/>
          </p:nvPr>
        </p:nvSpPr>
        <p:spPr/>
        <p:txBody>
          <a:bodyPr/>
          <a:lstStyle/>
          <a:p>
            <a:r>
              <a:rPr lang="en-US" dirty="0"/>
              <a:t>Code reuse</a:t>
            </a:r>
          </a:p>
          <a:p>
            <a:endParaRPr lang="en-US" dirty="0"/>
          </a:p>
          <a:p>
            <a:r>
              <a:rPr lang="en-US" dirty="0"/>
              <a:t>Better organization</a:t>
            </a:r>
          </a:p>
          <a:p>
            <a:endParaRPr lang="en-US" dirty="0"/>
          </a:p>
          <a:p>
            <a:r>
              <a:rPr lang="en-US" dirty="0"/>
              <a:t>Easier testing and debugging</a:t>
            </a:r>
          </a:p>
          <a:p>
            <a:endParaRPr lang="en-US" dirty="0"/>
          </a:p>
          <a:p>
            <a:r>
              <a:rPr lang="en-US" dirty="0"/>
              <a:t>Clear separation of logic</a:t>
            </a:r>
            <a:endParaRPr lang="en-SG" dirty="0"/>
          </a:p>
        </p:txBody>
      </p:sp>
    </p:spTree>
    <p:extLst>
      <p:ext uri="{BB962C8B-B14F-4D97-AF65-F5344CB8AC3E}">
        <p14:creationId xmlns:p14="http://schemas.microsoft.com/office/powerpoint/2010/main" val="6605674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236-14F0-4E60-74C7-1683FA1D04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FF23275-79A6-93CA-880C-15E390F8A11E}"/>
              </a:ext>
            </a:extLst>
          </p:cNvPr>
          <p:cNvSpPr>
            <a:spLocks noGrp="1"/>
          </p:cNvSpPr>
          <p:nvPr>
            <p:ph type="title"/>
          </p:nvPr>
        </p:nvSpPr>
        <p:spPr/>
        <p:txBody>
          <a:bodyPr/>
          <a:lstStyle/>
          <a:p>
            <a:r>
              <a:rPr lang="en-SG" dirty="0"/>
              <a:t>Defining Functions</a:t>
            </a:r>
          </a:p>
        </p:txBody>
      </p:sp>
      <p:sp>
        <p:nvSpPr>
          <p:cNvPr id="8" name="Content Placeholder 7">
            <a:extLst>
              <a:ext uri="{FF2B5EF4-FFF2-40B4-BE49-F238E27FC236}">
                <a16:creationId xmlns:a16="http://schemas.microsoft.com/office/drawing/2014/main" id="{F135E01C-6B76-622C-CA15-3F952F14A05D}"/>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a:t>
            </a:r>
          </a:p>
          <a:p>
            <a:pPr marL="0" indent="0">
              <a:buNone/>
            </a:pPr>
            <a:r>
              <a:rPr lang="en-US" dirty="0"/>
              <a:t>    print("Hello!")</a:t>
            </a:r>
          </a:p>
        </p:txBody>
      </p:sp>
      <p:sp>
        <p:nvSpPr>
          <p:cNvPr id="10" name="Content Placeholder 7">
            <a:extLst>
              <a:ext uri="{FF2B5EF4-FFF2-40B4-BE49-F238E27FC236}">
                <a16:creationId xmlns:a16="http://schemas.microsoft.com/office/drawing/2014/main" id="{F5759424-08AD-34DB-C337-D64063EBBB3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 keyword defines a function</a:t>
            </a:r>
          </a:p>
          <a:p>
            <a:endParaRPr lang="en-US" dirty="0"/>
          </a:p>
          <a:p>
            <a:r>
              <a:rPr lang="en-US" dirty="0"/>
              <a:t>Function name follows variable naming rules</a:t>
            </a:r>
          </a:p>
          <a:p>
            <a:endParaRPr lang="en-US" dirty="0"/>
          </a:p>
          <a:p>
            <a:r>
              <a:rPr lang="en-US" dirty="0"/>
              <a:t>Code block is indented</a:t>
            </a:r>
          </a:p>
        </p:txBody>
      </p:sp>
    </p:spTree>
    <p:extLst>
      <p:ext uri="{BB962C8B-B14F-4D97-AF65-F5344CB8AC3E}">
        <p14:creationId xmlns:p14="http://schemas.microsoft.com/office/powerpoint/2010/main" val="311543128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6625A-A99E-EFCB-ADE1-B40B0867E7A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E325EEB-E278-60A4-436E-DFB39CDECD94}"/>
              </a:ext>
            </a:extLst>
          </p:cNvPr>
          <p:cNvSpPr>
            <a:spLocks noGrp="1"/>
          </p:cNvSpPr>
          <p:nvPr>
            <p:ph type="title"/>
          </p:nvPr>
        </p:nvSpPr>
        <p:spPr/>
        <p:txBody>
          <a:bodyPr/>
          <a:lstStyle/>
          <a:p>
            <a:r>
              <a:rPr lang="en-SG" dirty="0"/>
              <a:t>Calling a Function</a:t>
            </a:r>
          </a:p>
        </p:txBody>
      </p:sp>
      <p:sp>
        <p:nvSpPr>
          <p:cNvPr id="8" name="Content Placeholder 7">
            <a:extLst>
              <a:ext uri="{FF2B5EF4-FFF2-40B4-BE49-F238E27FC236}">
                <a16:creationId xmlns:a16="http://schemas.microsoft.com/office/drawing/2014/main" id="{18BF1656-AD52-4ACB-450E-CBBEC000B229}"/>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greet()</a:t>
            </a:r>
          </a:p>
        </p:txBody>
      </p:sp>
      <p:sp>
        <p:nvSpPr>
          <p:cNvPr id="10" name="Content Placeholder 7">
            <a:extLst>
              <a:ext uri="{FF2B5EF4-FFF2-40B4-BE49-F238E27FC236}">
                <a16:creationId xmlns:a16="http://schemas.microsoft.com/office/drawing/2014/main" id="{C07DA0E2-0756-6DBB-4D61-36B8A2E52B2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Function code runs only when called</a:t>
            </a:r>
          </a:p>
          <a:p>
            <a:endParaRPr lang="en-US" dirty="0"/>
          </a:p>
          <a:p>
            <a:r>
              <a:rPr lang="en-US" dirty="0"/>
              <a:t>Multiple calls reuse the same logic</a:t>
            </a:r>
          </a:p>
        </p:txBody>
      </p:sp>
    </p:spTree>
    <p:extLst>
      <p:ext uri="{BB962C8B-B14F-4D97-AF65-F5344CB8AC3E}">
        <p14:creationId xmlns:p14="http://schemas.microsoft.com/office/powerpoint/2010/main" val="183712180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9DF-1961-48D3-C7E1-540E1F87643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C8E80D3-CE27-8B6D-C232-65706A77F1E9}"/>
              </a:ext>
            </a:extLst>
          </p:cNvPr>
          <p:cNvSpPr>
            <a:spLocks noGrp="1"/>
          </p:cNvSpPr>
          <p:nvPr>
            <p:ph type="title"/>
          </p:nvPr>
        </p:nvSpPr>
        <p:spPr/>
        <p:txBody>
          <a:bodyPr/>
          <a:lstStyle/>
          <a:p>
            <a:r>
              <a:rPr lang="en-SG" dirty="0"/>
              <a:t>Functions with Parameters</a:t>
            </a:r>
          </a:p>
        </p:txBody>
      </p:sp>
      <p:sp>
        <p:nvSpPr>
          <p:cNvPr id="8" name="Content Placeholder 7">
            <a:extLst>
              <a:ext uri="{FF2B5EF4-FFF2-40B4-BE49-F238E27FC236}">
                <a16:creationId xmlns:a16="http://schemas.microsoft.com/office/drawing/2014/main" id="{8C45D0A7-6B89-FFC0-DA81-171A900093DB}"/>
              </a:ext>
            </a:extLst>
          </p:cNvPr>
          <p:cNvSpPr>
            <a:spLocks noGrp="1"/>
          </p:cNvSpPr>
          <p:nvPr>
            <p:ph idx="1"/>
          </p:nvPr>
        </p:nvSpPr>
        <p:spPr>
          <a:xfrm>
            <a:off x="457199" y="1600200"/>
            <a:ext cx="5219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a:t>
            </a:r>
          </a:p>
          <a:p>
            <a:pPr marL="0" indent="0">
              <a:buNone/>
            </a:pPr>
            <a:r>
              <a:rPr lang="en-US" dirty="0"/>
              <a:t>greet("Bob")</a:t>
            </a:r>
          </a:p>
          <a:p>
            <a:pPr marL="0" indent="0">
              <a:buNone/>
            </a:pPr>
            <a:endParaRPr lang="en-US" dirty="0"/>
          </a:p>
        </p:txBody>
      </p:sp>
      <p:sp>
        <p:nvSpPr>
          <p:cNvPr id="10" name="Content Placeholder 7">
            <a:extLst>
              <a:ext uri="{FF2B5EF4-FFF2-40B4-BE49-F238E27FC236}">
                <a16:creationId xmlns:a16="http://schemas.microsoft.com/office/drawing/2014/main" id="{3311014E-1871-0651-8A7F-C3B1849E2558}"/>
              </a:ext>
            </a:extLst>
          </p:cNvPr>
          <p:cNvSpPr txBox="1">
            <a:spLocks/>
          </p:cNvSpPr>
          <p:nvPr/>
        </p:nvSpPr>
        <p:spPr>
          <a:xfrm>
            <a:off x="5956300" y="1600200"/>
            <a:ext cx="5775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Parameters act like local variables</a:t>
            </a:r>
          </a:p>
          <a:p>
            <a:endParaRPr lang="en-US" dirty="0"/>
          </a:p>
          <a:p>
            <a:r>
              <a:rPr lang="en-US" dirty="0"/>
              <a:t>Values passed are called arguments</a:t>
            </a:r>
          </a:p>
        </p:txBody>
      </p:sp>
    </p:spTree>
    <p:extLst>
      <p:ext uri="{BB962C8B-B14F-4D97-AF65-F5344CB8AC3E}">
        <p14:creationId xmlns:p14="http://schemas.microsoft.com/office/powerpoint/2010/main" val="160243605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9E6CD-EAFE-F487-62A3-FAB4122AB08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412EDB4-1E10-4698-0999-B4D20FC04913}"/>
              </a:ext>
            </a:extLst>
          </p:cNvPr>
          <p:cNvSpPr>
            <a:spLocks noGrp="1"/>
          </p:cNvSpPr>
          <p:nvPr>
            <p:ph type="title"/>
          </p:nvPr>
        </p:nvSpPr>
        <p:spPr/>
        <p:txBody>
          <a:bodyPr/>
          <a:lstStyle/>
          <a:p>
            <a:r>
              <a:rPr lang="en-SG" dirty="0"/>
              <a:t>Return Values</a:t>
            </a:r>
          </a:p>
        </p:txBody>
      </p:sp>
      <p:sp>
        <p:nvSpPr>
          <p:cNvPr id="8" name="Content Placeholder 7">
            <a:extLst>
              <a:ext uri="{FF2B5EF4-FFF2-40B4-BE49-F238E27FC236}">
                <a16:creationId xmlns:a16="http://schemas.microsoft.com/office/drawing/2014/main" id="{968E03AD-08CD-FE97-5288-22036AC0D552}"/>
              </a:ext>
            </a:extLst>
          </p:cNvPr>
          <p:cNvSpPr>
            <a:spLocks noGrp="1"/>
          </p:cNvSpPr>
          <p:nvPr>
            <p:ph idx="1"/>
          </p:nvPr>
        </p:nvSpPr>
        <p:spPr>
          <a:xfrm>
            <a:off x="457199" y="1600200"/>
            <a:ext cx="42926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 a + b</a:t>
            </a:r>
          </a:p>
          <a:p>
            <a:pPr marL="0" indent="0">
              <a:buNone/>
            </a:pPr>
            <a:endParaRPr lang="en-US" dirty="0"/>
          </a:p>
          <a:p>
            <a:pPr marL="0" indent="0">
              <a:buNone/>
            </a:pPr>
            <a:r>
              <a:rPr lang="en-US" dirty="0"/>
              <a:t>result = add(3, 5)</a:t>
            </a:r>
          </a:p>
          <a:p>
            <a:pPr marL="0" indent="0">
              <a:buNone/>
            </a:pPr>
            <a:r>
              <a:rPr lang="en-US" dirty="0"/>
              <a:t>print(result)</a:t>
            </a:r>
          </a:p>
        </p:txBody>
      </p:sp>
      <p:sp>
        <p:nvSpPr>
          <p:cNvPr id="10" name="Content Placeholder 7">
            <a:extLst>
              <a:ext uri="{FF2B5EF4-FFF2-40B4-BE49-F238E27FC236}">
                <a16:creationId xmlns:a16="http://schemas.microsoft.com/office/drawing/2014/main" id="{197F00CA-1915-4DFD-DBD4-CDBEC8139B3B}"/>
              </a:ext>
            </a:extLst>
          </p:cNvPr>
          <p:cNvSpPr txBox="1">
            <a:spLocks/>
          </p:cNvSpPr>
          <p:nvPr/>
        </p:nvSpPr>
        <p:spPr>
          <a:xfrm>
            <a:off x="5143500" y="1600200"/>
            <a:ext cx="658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 sends a value back to the caller</a:t>
            </a:r>
          </a:p>
          <a:p>
            <a:endParaRPr lang="en-US" dirty="0"/>
          </a:p>
          <a:p>
            <a:r>
              <a:rPr lang="en-US" dirty="0"/>
              <a:t>Function stops executing at return</a:t>
            </a:r>
          </a:p>
        </p:txBody>
      </p:sp>
    </p:spTree>
    <p:extLst>
      <p:ext uri="{BB962C8B-B14F-4D97-AF65-F5344CB8AC3E}">
        <p14:creationId xmlns:p14="http://schemas.microsoft.com/office/powerpoint/2010/main" val="377771420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C97A5-891F-B318-5666-C6B68DC1FB96}"/>
              </a:ext>
            </a:extLst>
          </p:cNvPr>
          <p:cNvSpPr>
            <a:spLocks noGrp="1"/>
          </p:cNvSpPr>
          <p:nvPr>
            <p:ph type="title"/>
          </p:nvPr>
        </p:nvSpPr>
        <p:spPr/>
        <p:txBody>
          <a:bodyPr/>
          <a:lstStyle/>
          <a:p>
            <a:r>
              <a:rPr lang="en-SG" dirty="0"/>
              <a:t>Multiple Parameters</a:t>
            </a:r>
          </a:p>
        </p:txBody>
      </p:sp>
      <p:sp>
        <p:nvSpPr>
          <p:cNvPr id="3" name="Content Placeholder 2">
            <a:extLst>
              <a:ext uri="{FF2B5EF4-FFF2-40B4-BE49-F238E27FC236}">
                <a16:creationId xmlns:a16="http://schemas.microsoft.com/office/drawing/2014/main" id="{0DEA9336-1C58-AB0E-4879-DD52A6FCA31B}"/>
              </a:ext>
            </a:extLst>
          </p:cNvPr>
          <p:cNvSpPr>
            <a:spLocks noGrp="1"/>
          </p:cNvSpPr>
          <p:nvPr>
            <p:ph idx="1"/>
          </p:nvPr>
        </p:nvSpPr>
        <p:spPr/>
        <p:txBody>
          <a:bodyPr/>
          <a:lstStyle/>
          <a:p>
            <a:pPr marL="0" indent="0">
              <a:buNone/>
            </a:pPr>
            <a:r>
              <a:rPr lang="en-US" dirty="0"/>
              <a:t>def </a:t>
            </a:r>
            <a:r>
              <a:rPr lang="en-US" dirty="0" err="1"/>
              <a:t>calculate_total</a:t>
            </a:r>
            <a:r>
              <a:rPr lang="en-US" dirty="0"/>
              <a:t>(price, quantity):</a:t>
            </a:r>
          </a:p>
          <a:p>
            <a:pPr marL="0" indent="0">
              <a:buNone/>
            </a:pPr>
            <a:r>
              <a:rPr lang="en-US" dirty="0"/>
              <a:t>    return price * quantity</a:t>
            </a:r>
          </a:p>
          <a:p>
            <a:pPr marL="0" indent="0">
              <a:buNone/>
            </a:pPr>
            <a:endParaRPr lang="en-SG" dirty="0"/>
          </a:p>
        </p:txBody>
      </p:sp>
      <p:sp>
        <p:nvSpPr>
          <p:cNvPr id="5" name="TextBox 4">
            <a:extLst>
              <a:ext uri="{FF2B5EF4-FFF2-40B4-BE49-F238E27FC236}">
                <a16:creationId xmlns:a16="http://schemas.microsoft.com/office/drawing/2014/main" id="{7F546E25-5D7E-80F7-9034-21B79BFC62A6}"/>
              </a:ext>
            </a:extLst>
          </p:cNvPr>
          <p:cNvSpPr txBox="1"/>
          <p:nvPr/>
        </p:nvSpPr>
        <p:spPr>
          <a:xfrm>
            <a:off x="3048000" y="3105835"/>
            <a:ext cx="6096000" cy="646331"/>
          </a:xfrm>
          <a:prstGeom prst="rect">
            <a:avLst/>
          </a:prstGeom>
          <a:noFill/>
        </p:spPr>
        <p:txBody>
          <a:bodyPr wrap="square">
            <a:spAutoFit/>
          </a:bodyPr>
          <a:lstStyle/>
          <a:p>
            <a:r>
              <a:rPr lang="en-SG" dirty="0"/>
              <a:t>def </a:t>
            </a:r>
            <a:r>
              <a:rPr lang="en-SG" dirty="0" err="1"/>
              <a:t>calculate_total</a:t>
            </a:r>
            <a:r>
              <a:rPr lang="en-SG" dirty="0"/>
              <a:t>(price, quantity):</a:t>
            </a:r>
          </a:p>
          <a:p>
            <a:r>
              <a:rPr lang="en-SG" dirty="0"/>
              <a:t>    return price * quantity</a:t>
            </a:r>
          </a:p>
        </p:txBody>
      </p:sp>
    </p:spTree>
    <p:extLst>
      <p:ext uri="{BB962C8B-B14F-4D97-AF65-F5344CB8AC3E}">
        <p14:creationId xmlns:p14="http://schemas.microsoft.com/office/powerpoint/2010/main" val="6749720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8BED4-227C-FB91-C4A4-79AC93E4D96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E0AFBEA-2F99-B45D-8CAB-AF03AEA66069}"/>
              </a:ext>
            </a:extLst>
          </p:cNvPr>
          <p:cNvSpPr>
            <a:spLocks noGrp="1"/>
          </p:cNvSpPr>
          <p:nvPr>
            <p:ph type="title"/>
          </p:nvPr>
        </p:nvSpPr>
        <p:spPr/>
        <p:txBody>
          <a:bodyPr/>
          <a:lstStyle/>
          <a:p>
            <a:r>
              <a:rPr lang="en-SG" dirty="0"/>
              <a:t>Default Values</a:t>
            </a:r>
          </a:p>
        </p:txBody>
      </p:sp>
      <p:sp>
        <p:nvSpPr>
          <p:cNvPr id="8" name="Content Placeholder 7">
            <a:extLst>
              <a:ext uri="{FF2B5EF4-FFF2-40B4-BE49-F238E27FC236}">
                <a16:creationId xmlns:a16="http://schemas.microsoft.com/office/drawing/2014/main" id="{27E263A0-DA16-BABE-17FA-D005F545941B}"/>
              </a:ext>
            </a:extLst>
          </p:cNvPr>
          <p:cNvSpPr>
            <a:spLocks noGrp="1"/>
          </p:cNvSpPr>
          <p:nvPr>
            <p:ph idx="1"/>
          </p:nvPr>
        </p:nvSpPr>
        <p:spPr>
          <a:xfrm>
            <a:off x="457199" y="1600200"/>
            <a:ext cx="5740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greet(name="Guest"):</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t>
            </a:r>
          </a:p>
          <a:p>
            <a:pPr marL="0" indent="0">
              <a:buNone/>
            </a:pPr>
            <a:r>
              <a:rPr lang="en-US" dirty="0"/>
              <a:t>greet("Sean")</a:t>
            </a:r>
          </a:p>
          <a:p>
            <a:pPr marL="0" indent="0">
              <a:buNone/>
            </a:pPr>
            <a:endParaRPr lang="en-US" dirty="0"/>
          </a:p>
        </p:txBody>
      </p:sp>
      <p:sp>
        <p:nvSpPr>
          <p:cNvPr id="10" name="Content Placeholder 7">
            <a:extLst>
              <a:ext uri="{FF2B5EF4-FFF2-40B4-BE49-F238E27FC236}">
                <a16:creationId xmlns:a16="http://schemas.microsoft.com/office/drawing/2014/main" id="{49BD6641-6353-3C6E-208A-1E977EFDD079}"/>
              </a:ext>
            </a:extLst>
          </p:cNvPr>
          <p:cNvSpPr txBox="1">
            <a:spLocks/>
          </p:cNvSpPr>
          <p:nvPr/>
        </p:nvSpPr>
        <p:spPr>
          <a:xfrm>
            <a:off x="6362700" y="1600200"/>
            <a:ext cx="536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Defaults used when argument is missing</a:t>
            </a:r>
          </a:p>
          <a:p>
            <a:endParaRPr lang="en-US" dirty="0"/>
          </a:p>
          <a:p>
            <a:r>
              <a:rPr lang="en-US" dirty="0"/>
              <a:t>Must appear after non-default parameters</a:t>
            </a:r>
          </a:p>
        </p:txBody>
      </p:sp>
    </p:spTree>
    <p:extLst>
      <p:ext uri="{BB962C8B-B14F-4D97-AF65-F5344CB8AC3E}">
        <p14:creationId xmlns:p14="http://schemas.microsoft.com/office/powerpoint/2010/main" val="29502294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B68D9-AEAB-D506-F932-F1366932C1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41BB8AC-9264-C3D0-12E2-6CFFCA5391AD}"/>
              </a:ext>
            </a:extLst>
          </p:cNvPr>
          <p:cNvSpPr>
            <a:spLocks noGrp="1"/>
          </p:cNvSpPr>
          <p:nvPr>
            <p:ph type="title"/>
          </p:nvPr>
        </p:nvSpPr>
        <p:spPr/>
        <p:txBody>
          <a:bodyPr/>
          <a:lstStyle/>
          <a:p>
            <a:r>
              <a:rPr lang="en-SG" dirty="0"/>
              <a:t>Keyword Arguments</a:t>
            </a:r>
          </a:p>
        </p:txBody>
      </p:sp>
      <p:sp>
        <p:nvSpPr>
          <p:cNvPr id="8" name="Content Placeholder 7">
            <a:extLst>
              <a:ext uri="{FF2B5EF4-FFF2-40B4-BE49-F238E27FC236}">
                <a16:creationId xmlns:a16="http://schemas.microsoft.com/office/drawing/2014/main" id="{F77FE8EE-5826-CFEA-199E-625C84AE70E1}"/>
              </a:ext>
            </a:extLst>
          </p:cNvPr>
          <p:cNvSpPr>
            <a:spLocks noGrp="1"/>
          </p:cNvSpPr>
          <p:nvPr>
            <p:ph idx="1"/>
          </p:nvPr>
        </p:nvSpPr>
        <p:spPr>
          <a:xfrm>
            <a:off x="457199" y="1600200"/>
            <a:ext cx="6235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introduce(name, age):</a:t>
            </a:r>
          </a:p>
          <a:p>
            <a:pPr marL="0" indent="0">
              <a:buNone/>
            </a:pPr>
            <a:r>
              <a:rPr lang="en-US" dirty="0"/>
              <a:t>    print(f"{name} is {age} years old")</a:t>
            </a:r>
          </a:p>
          <a:p>
            <a:pPr marL="0" indent="0">
              <a:buNone/>
            </a:pPr>
            <a:endParaRPr lang="en-US" dirty="0"/>
          </a:p>
          <a:p>
            <a:pPr marL="0" indent="0">
              <a:buNone/>
            </a:pPr>
            <a:r>
              <a:rPr lang="en-US" dirty="0"/>
              <a:t>introduce(age=30, name="Alex")</a:t>
            </a:r>
          </a:p>
          <a:p>
            <a:pPr marL="0" indent="0">
              <a:buNone/>
            </a:pPr>
            <a:endParaRPr lang="en-US" dirty="0"/>
          </a:p>
          <a:p>
            <a:pPr marL="0" indent="0">
              <a:buNone/>
            </a:pPr>
            <a:endParaRPr lang="en-US" dirty="0"/>
          </a:p>
          <a:p>
            <a:pPr marL="0" indent="0">
              <a:buNone/>
            </a:pPr>
            <a:endParaRPr lang="en-US" dirty="0"/>
          </a:p>
        </p:txBody>
      </p:sp>
      <p:sp>
        <p:nvSpPr>
          <p:cNvPr id="10" name="Content Placeholder 7">
            <a:extLst>
              <a:ext uri="{FF2B5EF4-FFF2-40B4-BE49-F238E27FC236}">
                <a16:creationId xmlns:a16="http://schemas.microsoft.com/office/drawing/2014/main" id="{5B1CED82-90CB-1105-FD9F-5DA3BF68A814}"/>
              </a:ext>
            </a:extLst>
          </p:cNvPr>
          <p:cNvSpPr txBox="1">
            <a:spLocks/>
          </p:cNvSpPr>
          <p:nvPr/>
        </p:nvSpPr>
        <p:spPr>
          <a:xfrm>
            <a:off x="7035800" y="1600200"/>
            <a:ext cx="4695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Improves readability</a:t>
            </a:r>
          </a:p>
          <a:p>
            <a:endParaRPr lang="en-US" dirty="0"/>
          </a:p>
          <a:p>
            <a:r>
              <a:rPr lang="en-US" dirty="0"/>
              <a:t>Order does not matter</a:t>
            </a:r>
          </a:p>
        </p:txBody>
      </p:sp>
    </p:spTree>
    <p:extLst>
      <p:ext uri="{BB962C8B-B14F-4D97-AF65-F5344CB8AC3E}">
        <p14:creationId xmlns:p14="http://schemas.microsoft.com/office/powerpoint/2010/main" val="26709813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FFBC-C8DE-37E0-FBE3-45762A762EF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CBCB209-79BC-2D94-8CE4-72A30E376F86}"/>
              </a:ext>
            </a:extLst>
          </p:cNvPr>
          <p:cNvSpPr>
            <a:spLocks noGrp="1"/>
          </p:cNvSpPr>
          <p:nvPr>
            <p:ph type="title"/>
          </p:nvPr>
        </p:nvSpPr>
        <p:spPr/>
        <p:txBody>
          <a:bodyPr/>
          <a:lstStyle/>
          <a:p>
            <a:r>
              <a:rPr lang="en-SG" dirty="0"/>
              <a:t>Scope: Local vs Global</a:t>
            </a:r>
          </a:p>
        </p:txBody>
      </p:sp>
      <p:sp>
        <p:nvSpPr>
          <p:cNvPr id="8" name="Content Placeholder 7">
            <a:extLst>
              <a:ext uri="{FF2B5EF4-FFF2-40B4-BE49-F238E27FC236}">
                <a16:creationId xmlns:a16="http://schemas.microsoft.com/office/drawing/2014/main" id="{45AE9AAE-8B27-8B27-29F3-F7964322FBA6}"/>
              </a:ext>
            </a:extLst>
          </p:cNvPr>
          <p:cNvSpPr>
            <a:spLocks noGrp="1"/>
          </p:cNvSpPr>
          <p:nvPr>
            <p:ph idx="1"/>
          </p:nvPr>
        </p:nvSpPr>
        <p:spPr>
          <a:xfrm>
            <a:off x="457199" y="1600200"/>
            <a:ext cx="3467101"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x = 10</a:t>
            </a:r>
          </a:p>
          <a:p>
            <a:pPr marL="0" indent="0">
              <a:buNone/>
            </a:pPr>
            <a:endParaRPr lang="en-US" dirty="0"/>
          </a:p>
          <a:p>
            <a:pPr marL="0" indent="0">
              <a:buNone/>
            </a:pPr>
            <a:r>
              <a:rPr lang="en-US" dirty="0"/>
              <a:t>def show():</a:t>
            </a:r>
          </a:p>
          <a:p>
            <a:pPr marL="0" indent="0">
              <a:buNone/>
            </a:pPr>
            <a:r>
              <a:rPr lang="en-US" dirty="0"/>
              <a:t>    x = 5</a:t>
            </a:r>
          </a:p>
          <a:p>
            <a:pPr marL="0" indent="0">
              <a:buNone/>
            </a:pPr>
            <a:r>
              <a:rPr lang="en-US" dirty="0"/>
              <a:t>    print(x)</a:t>
            </a:r>
          </a:p>
          <a:p>
            <a:pPr marL="0" indent="0">
              <a:buNone/>
            </a:pPr>
            <a:endParaRPr lang="en-US" dirty="0"/>
          </a:p>
          <a:p>
            <a:pPr marL="0" indent="0">
              <a:buNone/>
            </a:pPr>
            <a:r>
              <a:rPr lang="en-US" dirty="0"/>
              <a:t>show()</a:t>
            </a:r>
          </a:p>
          <a:p>
            <a:pPr marL="0" indent="0">
              <a:buNone/>
            </a:pPr>
            <a:r>
              <a:rPr lang="en-US" dirty="0"/>
              <a:t>print(x)</a:t>
            </a:r>
          </a:p>
        </p:txBody>
      </p:sp>
      <p:sp>
        <p:nvSpPr>
          <p:cNvPr id="10" name="Content Placeholder 7">
            <a:extLst>
              <a:ext uri="{FF2B5EF4-FFF2-40B4-BE49-F238E27FC236}">
                <a16:creationId xmlns:a16="http://schemas.microsoft.com/office/drawing/2014/main" id="{524DCF0E-0A38-25FA-EF71-673864D5F49A}"/>
              </a:ext>
            </a:extLst>
          </p:cNvPr>
          <p:cNvSpPr txBox="1">
            <a:spLocks/>
          </p:cNvSpPr>
          <p:nvPr/>
        </p:nvSpPr>
        <p:spPr>
          <a:xfrm>
            <a:off x="4610100" y="1600200"/>
            <a:ext cx="7121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Variables inside functions are local</a:t>
            </a:r>
          </a:p>
          <a:p>
            <a:endParaRPr lang="en-US" dirty="0"/>
          </a:p>
          <a:p>
            <a:r>
              <a:rPr lang="en-US" dirty="0"/>
              <a:t>Global variables are not changed unless explicitly declared</a:t>
            </a:r>
          </a:p>
        </p:txBody>
      </p:sp>
    </p:spTree>
    <p:extLst>
      <p:ext uri="{BB962C8B-B14F-4D97-AF65-F5344CB8AC3E}">
        <p14:creationId xmlns:p14="http://schemas.microsoft.com/office/powerpoint/2010/main" val="23902242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8FE99-0E73-8DD0-5FCB-A00ADC683CE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353DA79-8635-A996-2C8E-06DF4C79BC4A}"/>
              </a:ext>
            </a:extLst>
          </p:cNvPr>
          <p:cNvSpPr>
            <a:spLocks noGrp="1"/>
          </p:cNvSpPr>
          <p:nvPr>
            <p:ph type="title"/>
          </p:nvPr>
        </p:nvSpPr>
        <p:spPr/>
        <p:txBody>
          <a:bodyPr/>
          <a:lstStyle/>
          <a:p>
            <a:r>
              <a:rPr lang="en-SG" dirty="0"/>
              <a:t>Docstrings</a:t>
            </a:r>
          </a:p>
        </p:txBody>
      </p:sp>
      <p:sp>
        <p:nvSpPr>
          <p:cNvPr id="8" name="Content Placeholder 7">
            <a:extLst>
              <a:ext uri="{FF2B5EF4-FFF2-40B4-BE49-F238E27FC236}">
                <a16:creationId xmlns:a16="http://schemas.microsoft.com/office/drawing/2014/main" id="{FDE12A5F-A54F-F827-9408-460C7E8884AB}"/>
              </a:ext>
            </a:extLst>
          </p:cNvPr>
          <p:cNvSpPr>
            <a:spLocks noGrp="1"/>
          </p:cNvSpPr>
          <p:nvPr>
            <p:ph idx="1"/>
          </p:nvPr>
        </p:nvSpPr>
        <p:spPr>
          <a:xfrm>
            <a:off x="457199" y="1600200"/>
            <a:ext cx="7518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"""Returns the sum of two numbers."""</a:t>
            </a:r>
          </a:p>
          <a:p>
            <a:pPr marL="0" indent="0">
              <a:buNone/>
            </a:pPr>
            <a:r>
              <a:rPr lang="en-US" dirty="0"/>
              <a:t>    return a + b</a:t>
            </a:r>
          </a:p>
        </p:txBody>
      </p:sp>
      <p:sp>
        <p:nvSpPr>
          <p:cNvPr id="10" name="Content Placeholder 7">
            <a:extLst>
              <a:ext uri="{FF2B5EF4-FFF2-40B4-BE49-F238E27FC236}">
                <a16:creationId xmlns:a16="http://schemas.microsoft.com/office/drawing/2014/main" id="{3B3D2B4F-94CD-F7EF-B72E-939484EACA30}"/>
              </a:ext>
            </a:extLst>
          </p:cNvPr>
          <p:cNvSpPr txBox="1">
            <a:spLocks/>
          </p:cNvSpPr>
          <p:nvPr/>
        </p:nvSpPr>
        <p:spPr>
          <a:xfrm>
            <a:off x="8166100" y="1600200"/>
            <a:ext cx="3565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document what a function does</a:t>
            </a:r>
          </a:p>
          <a:p>
            <a:endParaRPr lang="en-US" dirty="0"/>
          </a:p>
          <a:p>
            <a:r>
              <a:rPr lang="en-US" dirty="0"/>
              <a:t>Accessible via help(add)</a:t>
            </a:r>
          </a:p>
        </p:txBody>
      </p:sp>
    </p:spTree>
    <p:extLst>
      <p:ext uri="{BB962C8B-B14F-4D97-AF65-F5344CB8AC3E}">
        <p14:creationId xmlns:p14="http://schemas.microsoft.com/office/powerpoint/2010/main" val="35963402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ECD27-DA8F-5962-4E3A-C3A7CF3AD9F3}"/>
              </a:ext>
            </a:extLst>
          </p:cNvPr>
          <p:cNvSpPr>
            <a:spLocks noGrp="1"/>
          </p:cNvSpPr>
          <p:nvPr>
            <p:ph type="title"/>
          </p:nvPr>
        </p:nvSpPr>
        <p:spPr/>
        <p:txBody>
          <a:bodyPr/>
          <a:lstStyle/>
          <a:p>
            <a:r>
              <a:rPr lang="en-US" dirty="0"/>
              <a:t>What Are *</a:t>
            </a:r>
            <a:r>
              <a:rPr lang="en-US" dirty="0" err="1"/>
              <a:t>args</a:t>
            </a:r>
            <a:r>
              <a:rPr lang="en-US" dirty="0"/>
              <a:t> and **</a:t>
            </a:r>
            <a:r>
              <a:rPr lang="en-US" dirty="0" err="1"/>
              <a:t>kwargs</a:t>
            </a:r>
            <a:r>
              <a:rPr lang="en-US" dirty="0"/>
              <a:t>?</a:t>
            </a:r>
            <a:endParaRPr lang="en-SG" dirty="0"/>
          </a:p>
        </p:txBody>
      </p:sp>
      <p:sp>
        <p:nvSpPr>
          <p:cNvPr id="3" name="Content Placeholder 2">
            <a:extLst>
              <a:ext uri="{FF2B5EF4-FFF2-40B4-BE49-F238E27FC236}">
                <a16:creationId xmlns:a16="http://schemas.microsoft.com/office/drawing/2014/main" id="{8C114999-09D4-474C-9B81-BCAA0CC5F3AB}"/>
              </a:ext>
            </a:extLst>
          </p:cNvPr>
          <p:cNvSpPr>
            <a:spLocks noGrp="1"/>
          </p:cNvSpPr>
          <p:nvPr>
            <p:ph idx="1"/>
          </p:nvPr>
        </p:nvSpPr>
        <p:spPr/>
        <p:txBody>
          <a:bodyPr/>
          <a:lstStyle/>
          <a:p>
            <a:r>
              <a:rPr lang="en-US" dirty="0"/>
              <a:t>Allow functions to accept variable numbers of arguments</a:t>
            </a:r>
          </a:p>
          <a:p>
            <a:endParaRPr lang="en-US" dirty="0"/>
          </a:p>
          <a:p>
            <a:r>
              <a:rPr lang="en-US" dirty="0"/>
              <a:t>*</a:t>
            </a:r>
            <a:r>
              <a:rPr lang="en-US" dirty="0" err="1"/>
              <a:t>args</a:t>
            </a:r>
            <a:r>
              <a:rPr lang="en-US" dirty="0"/>
              <a:t> </a:t>
            </a:r>
            <a:r>
              <a:rPr lang="en-US" dirty="0">
                <a:sym typeface="Wingdings" panose="05000000000000000000" pitchFamily="2" charset="2"/>
              </a:rPr>
              <a:t> </a:t>
            </a:r>
            <a:r>
              <a:rPr lang="en-US" dirty="0"/>
              <a:t>positional arguments (tuple)</a:t>
            </a:r>
          </a:p>
          <a:p>
            <a:endParaRPr lang="en-US" dirty="0"/>
          </a:p>
          <a:p>
            <a:r>
              <a:rPr lang="en-US" dirty="0"/>
              <a:t>**</a:t>
            </a:r>
            <a:r>
              <a:rPr lang="en-US" dirty="0" err="1"/>
              <a:t>kwargs</a:t>
            </a:r>
            <a:r>
              <a:rPr lang="en-US" dirty="0"/>
              <a:t> </a:t>
            </a:r>
            <a:r>
              <a:rPr lang="en-US" dirty="0">
                <a:sym typeface="Wingdings" panose="05000000000000000000" pitchFamily="2" charset="2"/>
              </a:rPr>
              <a:t></a:t>
            </a:r>
            <a:r>
              <a:rPr lang="en-US" dirty="0"/>
              <a:t> keyword arguments (</a:t>
            </a:r>
            <a:r>
              <a:rPr lang="en-US" dirty="0" err="1"/>
              <a:t>dict</a:t>
            </a:r>
            <a:r>
              <a:rPr lang="en-US" dirty="0"/>
              <a:t>)</a:t>
            </a:r>
            <a:endParaRPr lang="en-SG" dirty="0"/>
          </a:p>
        </p:txBody>
      </p:sp>
    </p:spTree>
    <p:extLst>
      <p:ext uri="{BB962C8B-B14F-4D97-AF65-F5344CB8AC3E}">
        <p14:creationId xmlns:p14="http://schemas.microsoft.com/office/powerpoint/2010/main" val="241989914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1E44-1F3B-609B-4B8C-69D6C278D02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E94D59-BC29-7B0F-A0F0-F5F78B36E6C3}"/>
              </a:ext>
            </a:extLst>
          </p:cNvPr>
          <p:cNvSpPr>
            <a:spLocks noGrp="1"/>
          </p:cNvSpPr>
          <p:nvPr>
            <p:ph type="title"/>
          </p:nvPr>
        </p:nvSpPr>
        <p:spPr>
          <a:xfrm>
            <a:off x="457199" y="160337"/>
            <a:ext cx="8229600" cy="1143000"/>
          </a:xfrm>
        </p:spPr>
        <p:txBody>
          <a:bodyPr/>
          <a:lstStyle/>
          <a:p>
            <a:r>
              <a:rPr lang="en-SG" dirty="0"/>
              <a:t>Using *</a:t>
            </a:r>
            <a:r>
              <a:rPr lang="en-SG" dirty="0" err="1"/>
              <a:t>args</a:t>
            </a:r>
            <a:endParaRPr lang="en-SG" dirty="0"/>
          </a:p>
        </p:txBody>
      </p:sp>
      <p:sp>
        <p:nvSpPr>
          <p:cNvPr id="8" name="Content Placeholder 7">
            <a:extLst>
              <a:ext uri="{FF2B5EF4-FFF2-40B4-BE49-F238E27FC236}">
                <a16:creationId xmlns:a16="http://schemas.microsoft.com/office/drawing/2014/main" id="{7F6EF985-266E-1290-79F7-623171E4AB0A}"/>
              </a:ext>
            </a:extLst>
          </p:cNvPr>
          <p:cNvSpPr>
            <a:spLocks noGrp="1"/>
          </p:cNvSpPr>
          <p:nvPr>
            <p:ph idx="1"/>
          </p:nvPr>
        </p:nvSpPr>
        <p:spPr>
          <a:xfrm>
            <a:off x="457199" y="1600200"/>
            <a:ext cx="5473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greet(*names):</a:t>
            </a:r>
          </a:p>
          <a:p>
            <a:pPr marL="0" indent="0">
              <a:buNone/>
            </a:pPr>
            <a:r>
              <a:rPr lang="en-US" dirty="0"/>
              <a:t>    for name in names:</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 "Bob", "Charlie")</a:t>
            </a:r>
          </a:p>
        </p:txBody>
      </p:sp>
      <p:sp>
        <p:nvSpPr>
          <p:cNvPr id="10" name="Content Placeholder 7">
            <a:extLst>
              <a:ext uri="{FF2B5EF4-FFF2-40B4-BE49-F238E27FC236}">
                <a16:creationId xmlns:a16="http://schemas.microsoft.com/office/drawing/2014/main" id="{36279E60-42DC-62C4-59FC-DA3B414DE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positional arguments</a:t>
            </a:r>
          </a:p>
          <a:p>
            <a:endParaRPr lang="en-US" dirty="0"/>
          </a:p>
          <a:p>
            <a:r>
              <a:rPr lang="en-US" dirty="0"/>
              <a:t>Inside the function, names is a tuple</a:t>
            </a:r>
          </a:p>
          <a:p>
            <a:endParaRPr lang="en-US" dirty="0"/>
          </a:p>
          <a:p>
            <a:r>
              <a:rPr lang="en-US" dirty="0"/>
              <a:t>Useful for functions where the number of inputs is unknown</a:t>
            </a:r>
          </a:p>
        </p:txBody>
      </p:sp>
    </p:spTree>
    <p:extLst>
      <p:ext uri="{BB962C8B-B14F-4D97-AF65-F5344CB8AC3E}">
        <p14:creationId xmlns:p14="http://schemas.microsoft.com/office/powerpoint/2010/main" val="59941834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D368D-1A95-E83E-F29E-06CDE34A83E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10D503A-4239-0FE0-8446-362F39918B91}"/>
              </a:ext>
            </a:extLst>
          </p:cNvPr>
          <p:cNvSpPr>
            <a:spLocks noGrp="1"/>
          </p:cNvSpPr>
          <p:nvPr>
            <p:ph type="title"/>
          </p:nvPr>
        </p:nvSpPr>
        <p:spPr>
          <a:xfrm>
            <a:off x="457199" y="160337"/>
            <a:ext cx="8229600" cy="1143000"/>
          </a:xfrm>
        </p:spPr>
        <p:txBody>
          <a:bodyPr/>
          <a:lstStyle/>
          <a:p>
            <a:r>
              <a:rPr lang="en-SG" dirty="0"/>
              <a:t>Using **</a:t>
            </a:r>
            <a:r>
              <a:rPr lang="en-SG" dirty="0" err="1"/>
              <a:t>kwargs</a:t>
            </a:r>
            <a:endParaRPr lang="en-SG" dirty="0"/>
          </a:p>
        </p:txBody>
      </p:sp>
      <p:sp>
        <p:nvSpPr>
          <p:cNvPr id="8" name="Content Placeholder 7">
            <a:extLst>
              <a:ext uri="{FF2B5EF4-FFF2-40B4-BE49-F238E27FC236}">
                <a16:creationId xmlns:a16="http://schemas.microsoft.com/office/drawing/2014/main" id="{5AE6231F-A604-9223-8FCA-9057748B3926}"/>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introduce(**info):</a:t>
            </a:r>
          </a:p>
          <a:p>
            <a:pPr marL="0" indent="0">
              <a:buNone/>
            </a:pPr>
            <a:r>
              <a:rPr lang="en-US" dirty="0"/>
              <a:t>    for key, value in </a:t>
            </a:r>
            <a:r>
              <a:rPr lang="en-US" dirty="0" err="1"/>
              <a:t>info.items</a:t>
            </a:r>
            <a:r>
              <a:rPr lang="en-US" dirty="0"/>
              <a:t>():</a:t>
            </a:r>
          </a:p>
          <a:p>
            <a:pPr marL="0" indent="0">
              <a:buNone/>
            </a:pPr>
            <a:r>
              <a:rPr lang="en-US" dirty="0"/>
              <a:t>        print(f"{key}: {value}")</a:t>
            </a:r>
          </a:p>
          <a:p>
            <a:pPr marL="0" indent="0">
              <a:buNone/>
            </a:pPr>
            <a:endParaRPr lang="en-US" dirty="0"/>
          </a:p>
          <a:p>
            <a:pPr marL="0" indent="0">
              <a:buNone/>
            </a:pPr>
            <a:r>
              <a:rPr lang="en-US" dirty="0"/>
              <a:t>introduce(name="Alice", age=25, city="Paris")</a:t>
            </a:r>
          </a:p>
        </p:txBody>
      </p:sp>
      <p:sp>
        <p:nvSpPr>
          <p:cNvPr id="10" name="Content Placeholder 7">
            <a:extLst>
              <a:ext uri="{FF2B5EF4-FFF2-40B4-BE49-F238E27FC236}">
                <a16:creationId xmlns:a16="http://schemas.microsoft.com/office/drawing/2014/main" id="{BBD9DF22-C333-27CC-52B4-E8EF48BE8E2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Tree>
    <p:extLst>
      <p:ext uri="{BB962C8B-B14F-4D97-AF65-F5344CB8AC3E}">
        <p14:creationId xmlns:p14="http://schemas.microsoft.com/office/powerpoint/2010/main" val="2933341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34C54-5EBF-E007-06B5-270C87A870C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106BE1-FBBE-BA13-7BCF-0CD026B86B66}"/>
              </a:ext>
            </a:extLst>
          </p:cNvPr>
          <p:cNvSpPr>
            <a:spLocks noGrp="1"/>
          </p:cNvSpPr>
          <p:nvPr>
            <p:ph type="title"/>
          </p:nvPr>
        </p:nvSpPr>
        <p:spPr>
          <a:xfrm>
            <a:off x="457199" y="160337"/>
            <a:ext cx="8229600" cy="1143000"/>
          </a:xfrm>
        </p:spPr>
        <p:txBody>
          <a:bodyPr/>
          <a:lstStyle/>
          <a:p>
            <a:r>
              <a:rPr lang="en-SG" dirty="0"/>
              <a:t>Combining *</a:t>
            </a:r>
            <a:r>
              <a:rPr lang="en-SG" dirty="0" err="1"/>
              <a:t>args</a:t>
            </a:r>
            <a:r>
              <a:rPr lang="en-SG" dirty="0"/>
              <a:t> and **</a:t>
            </a:r>
            <a:r>
              <a:rPr lang="en-SG" dirty="0" err="1"/>
              <a:t>kwargs</a:t>
            </a:r>
            <a:endParaRPr lang="en-SG" dirty="0"/>
          </a:p>
        </p:txBody>
      </p:sp>
      <p:sp>
        <p:nvSpPr>
          <p:cNvPr id="8" name="Content Placeholder 7">
            <a:extLst>
              <a:ext uri="{FF2B5EF4-FFF2-40B4-BE49-F238E27FC236}">
                <a16:creationId xmlns:a16="http://schemas.microsoft.com/office/drawing/2014/main" id="{2593BF68-DBAD-A3D8-30F8-D0A122A3B89A}"/>
              </a:ext>
            </a:extLst>
          </p:cNvPr>
          <p:cNvSpPr>
            <a:spLocks noGrp="1"/>
          </p:cNvSpPr>
          <p:nvPr>
            <p:ph idx="1"/>
          </p:nvPr>
        </p:nvSpPr>
        <p:spPr>
          <a:xfrm>
            <a:off x="457199" y="1600201"/>
            <a:ext cx="5257801" cy="29972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 </a:t>
            </a:r>
            <a:r>
              <a:rPr lang="en-US" dirty="0" err="1"/>
              <a:t>args</a:t>
            </a:r>
            <a:r>
              <a:rPr lang="en-US" dirty="0"/>
              <a:t>)</a:t>
            </a:r>
          </a:p>
          <a:p>
            <a:pPr marL="0" indent="0">
              <a:buNone/>
            </a:pPr>
            <a:r>
              <a:rPr lang="en-US" dirty="0"/>
              <a:t>    print("</a:t>
            </a:r>
            <a:r>
              <a:rPr lang="en-US" dirty="0" err="1"/>
              <a:t>Kwargs</a:t>
            </a:r>
            <a:r>
              <a:rPr lang="en-US" dirty="0"/>
              <a:t>:", </a:t>
            </a:r>
            <a:r>
              <a:rPr lang="en-US" dirty="0" err="1"/>
              <a:t>kwargs</a:t>
            </a:r>
            <a:r>
              <a:rPr lang="en-US" dirty="0"/>
              <a:t>)</a:t>
            </a:r>
          </a:p>
          <a:p>
            <a:pPr marL="0" indent="0">
              <a:buNone/>
            </a:pPr>
            <a:endParaRPr lang="en-US" dirty="0"/>
          </a:p>
          <a:p>
            <a:pPr marL="0" indent="0">
              <a:buNone/>
            </a:pPr>
            <a:r>
              <a:rPr lang="en-US" dirty="0"/>
              <a:t>show(1, 2, 3, a=10, b=20)</a:t>
            </a:r>
          </a:p>
        </p:txBody>
      </p:sp>
      <p:sp>
        <p:nvSpPr>
          <p:cNvPr id="10" name="Content Placeholder 7">
            <a:extLst>
              <a:ext uri="{FF2B5EF4-FFF2-40B4-BE49-F238E27FC236}">
                <a16:creationId xmlns:a16="http://schemas.microsoft.com/office/drawing/2014/main" id="{41115D71-0AA3-BEF0-C310-CCF2A954CBDC}"/>
              </a:ext>
            </a:extLst>
          </p:cNvPr>
          <p:cNvSpPr txBox="1">
            <a:spLocks/>
          </p:cNvSpPr>
          <p:nvPr/>
        </p:nvSpPr>
        <p:spPr>
          <a:xfrm>
            <a:off x="6094412" y="1600200"/>
            <a:ext cx="5637213" cy="465472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
        <p:nvSpPr>
          <p:cNvPr id="2" name="TextBox 1">
            <a:extLst>
              <a:ext uri="{FF2B5EF4-FFF2-40B4-BE49-F238E27FC236}">
                <a16:creationId xmlns:a16="http://schemas.microsoft.com/office/drawing/2014/main" id="{A8500E7F-149A-B181-77A4-A164FD346D33}"/>
              </a:ext>
            </a:extLst>
          </p:cNvPr>
          <p:cNvSpPr txBox="1"/>
          <p:nvPr/>
        </p:nvSpPr>
        <p:spPr>
          <a:xfrm>
            <a:off x="457198" y="4762500"/>
            <a:ext cx="5257801" cy="181588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sz="2800" dirty="0"/>
              <a:t>Output: </a:t>
            </a:r>
          </a:p>
          <a:p>
            <a:r>
              <a:rPr lang="en-SG" sz="2800" dirty="0" err="1"/>
              <a:t>Args</a:t>
            </a:r>
            <a:r>
              <a:rPr lang="en-SG" sz="2800" dirty="0"/>
              <a:t>: (1, 2, 3)</a:t>
            </a:r>
          </a:p>
          <a:p>
            <a:r>
              <a:rPr lang="en-SG" sz="2800" dirty="0" err="1"/>
              <a:t>Kwargs</a:t>
            </a:r>
            <a:r>
              <a:rPr lang="en-SG" sz="2800" dirty="0"/>
              <a:t>: {'a': 10, 'b': 20}</a:t>
            </a:r>
          </a:p>
          <a:p>
            <a:endParaRPr lang="en-SG" sz="2800" dirty="0"/>
          </a:p>
        </p:txBody>
      </p:sp>
    </p:spTree>
    <p:extLst>
      <p:ext uri="{BB962C8B-B14F-4D97-AF65-F5344CB8AC3E}">
        <p14:creationId xmlns:p14="http://schemas.microsoft.com/office/powerpoint/2010/main" val="21606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591EF-11FC-BF73-2E94-5A91CFEAB992}"/>
              </a:ext>
            </a:extLst>
          </p:cNvPr>
          <p:cNvSpPr>
            <a:spLocks noGrp="1"/>
          </p:cNvSpPr>
          <p:nvPr>
            <p:ph type="title"/>
          </p:nvPr>
        </p:nvSpPr>
        <p:spPr/>
        <p:txBody>
          <a:bodyPr/>
          <a:lstStyle/>
          <a:p>
            <a:r>
              <a:rPr lang="en-SG" dirty="0"/>
              <a:t>When to Use Them</a:t>
            </a:r>
          </a:p>
        </p:txBody>
      </p:sp>
      <p:sp>
        <p:nvSpPr>
          <p:cNvPr id="3" name="Content Placeholder 2">
            <a:extLst>
              <a:ext uri="{FF2B5EF4-FFF2-40B4-BE49-F238E27FC236}">
                <a16:creationId xmlns:a16="http://schemas.microsoft.com/office/drawing/2014/main" id="{5711410A-9BFF-D286-6EE0-CA59EAD4A18C}"/>
              </a:ext>
            </a:extLst>
          </p:cNvPr>
          <p:cNvSpPr>
            <a:spLocks noGrp="1"/>
          </p:cNvSpPr>
          <p:nvPr>
            <p:ph idx="1"/>
          </p:nvPr>
        </p:nvSpPr>
        <p:spPr>
          <a:xfrm>
            <a:off x="457200" y="1600200"/>
            <a:ext cx="9740900" cy="4525963"/>
          </a:xfrm>
        </p:spPr>
        <p:txBody>
          <a:bodyPr>
            <a:normAutofit lnSpcReduction="10000"/>
          </a:bodyPr>
          <a:lstStyle/>
          <a:p>
            <a:r>
              <a:rPr lang="en-US" dirty="0"/>
              <a:t>*</a:t>
            </a:r>
            <a:r>
              <a:rPr lang="en-US" dirty="0" err="1"/>
              <a:t>args</a:t>
            </a:r>
            <a:r>
              <a:rPr lang="en-US" dirty="0"/>
              <a:t>: When you want any number of positional inputs</a:t>
            </a:r>
          </a:p>
          <a:p>
            <a:endParaRPr lang="en-US" dirty="0"/>
          </a:p>
          <a:p>
            <a:r>
              <a:rPr lang="en-US" dirty="0"/>
              <a:t>**</a:t>
            </a:r>
            <a:r>
              <a:rPr lang="en-US" dirty="0" err="1"/>
              <a:t>kwargs</a:t>
            </a:r>
            <a:r>
              <a:rPr lang="en-US" dirty="0"/>
              <a:t>: When you want any number of named inputs</a:t>
            </a:r>
          </a:p>
          <a:p>
            <a:endParaRPr lang="en-US" dirty="0"/>
          </a:p>
          <a:p>
            <a:r>
              <a:rPr lang="en-US" dirty="0"/>
              <a:t>Makes functions generic and reusable</a:t>
            </a:r>
          </a:p>
          <a:p>
            <a:endParaRPr lang="en-US" dirty="0"/>
          </a:p>
          <a:p>
            <a:r>
              <a:rPr lang="en-US" dirty="0"/>
              <a:t>Often used in wrapper functions or APIs</a:t>
            </a:r>
            <a:endParaRPr lang="en-SG" dirty="0"/>
          </a:p>
        </p:txBody>
      </p:sp>
    </p:spTree>
    <p:extLst>
      <p:ext uri="{BB962C8B-B14F-4D97-AF65-F5344CB8AC3E}">
        <p14:creationId xmlns:p14="http://schemas.microsoft.com/office/powerpoint/2010/main" val="61607872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739F5-AA1B-AA13-C6A6-E430711121F7}"/>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51E8C03-F660-EBE9-2F43-0E627AE82EB3}"/>
              </a:ext>
            </a:extLst>
          </p:cNvPr>
          <p:cNvSpPr>
            <a:spLocks noGrp="1"/>
          </p:cNvSpPr>
          <p:nvPr>
            <p:ph idx="1"/>
          </p:nvPr>
        </p:nvSpPr>
        <p:spPr>
          <a:xfrm>
            <a:off x="457200" y="1600200"/>
            <a:ext cx="10718800" cy="4525963"/>
          </a:xfrm>
        </p:spPr>
        <p:txBody>
          <a:bodyPr/>
          <a:lstStyle/>
          <a:p>
            <a:r>
              <a:rPr lang="en-US" dirty="0"/>
              <a:t>Write a function </a:t>
            </a:r>
            <a:r>
              <a:rPr lang="en-US" dirty="0" err="1"/>
              <a:t>make_sentence</a:t>
            </a:r>
            <a:r>
              <a:rPr lang="en-US" dirty="0"/>
              <a:t>(*words, **punctuation)</a:t>
            </a:r>
          </a:p>
          <a:p>
            <a:endParaRPr lang="en-US" dirty="0"/>
          </a:p>
          <a:p>
            <a:r>
              <a:rPr lang="en-US" dirty="0"/>
              <a:t>Joins all words with spaces and appends punctuation if provided</a:t>
            </a:r>
          </a:p>
          <a:p>
            <a:endParaRPr lang="en-US" dirty="0"/>
          </a:p>
          <a:p>
            <a:r>
              <a:rPr lang="en-US" dirty="0"/>
              <a:t>Test with different numbers of words and punctuation marks</a:t>
            </a:r>
            <a:endParaRPr lang="en-SG" dirty="0"/>
          </a:p>
        </p:txBody>
      </p:sp>
    </p:spTree>
    <p:extLst>
      <p:ext uri="{BB962C8B-B14F-4D97-AF65-F5344CB8AC3E}">
        <p14:creationId xmlns:p14="http://schemas.microsoft.com/office/powerpoint/2010/main" val="42437327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4AC2-600F-9E49-97FF-77D91E4C8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5B802-F556-99CE-057D-73A5CC01BD91}"/>
              </a:ext>
            </a:extLst>
          </p:cNvPr>
          <p:cNvSpPr>
            <a:spLocks noGrp="1"/>
          </p:cNvSpPr>
          <p:nvPr>
            <p:ph type="title"/>
          </p:nvPr>
        </p:nvSpPr>
        <p:spPr>
          <a:xfrm>
            <a:off x="457200" y="-207962"/>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5EC78600-3F26-4634-B3B3-644EB8572D04}"/>
              </a:ext>
            </a:extLst>
          </p:cNvPr>
          <p:cNvSpPr>
            <a:spLocks noGrp="1"/>
          </p:cNvSpPr>
          <p:nvPr>
            <p:ph idx="1"/>
          </p:nvPr>
        </p:nvSpPr>
        <p:spPr>
          <a:xfrm>
            <a:off x="330200" y="935038"/>
            <a:ext cx="6146800" cy="5554662"/>
          </a:xfrm>
        </p:spPr>
        <p:txBody>
          <a:bodyPr>
            <a:normAutofit fontScale="92500"/>
          </a:bodyPr>
          <a:lstStyle/>
          <a:p>
            <a:pPr marL="0" indent="0">
              <a:buNone/>
            </a:pPr>
            <a:r>
              <a:rPr lang="en-US" dirty="0"/>
              <a:t>def </a:t>
            </a:r>
            <a:r>
              <a:rPr lang="en-US" dirty="0" err="1"/>
              <a:t>make_sentence</a:t>
            </a:r>
            <a:r>
              <a:rPr lang="en-US" dirty="0"/>
              <a:t>(*words, **punctuation):</a:t>
            </a:r>
          </a:p>
          <a:p>
            <a:pPr marL="0" indent="0">
              <a:buNone/>
            </a:pPr>
            <a:r>
              <a:rPr lang="en-US" dirty="0"/>
              <a:t>    # Join words with spaces</a:t>
            </a:r>
          </a:p>
          <a:p>
            <a:pPr marL="0" indent="0">
              <a:buNone/>
            </a:pPr>
            <a:r>
              <a:rPr lang="en-US" dirty="0"/>
              <a:t>    sentence = " ".join(words)</a:t>
            </a:r>
          </a:p>
          <a:p>
            <a:pPr marL="0" indent="0">
              <a:buNone/>
            </a:pPr>
            <a:r>
              <a:rPr lang="en-US" dirty="0"/>
              <a:t>    </a:t>
            </a:r>
          </a:p>
          <a:p>
            <a:pPr marL="0" indent="0">
              <a:buNone/>
            </a:pPr>
            <a:r>
              <a:rPr lang="en-US" dirty="0"/>
              <a:t>    # Append punctuation if provided</a:t>
            </a:r>
          </a:p>
          <a:p>
            <a:pPr marL="0" indent="0">
              <a:buNone/>
            </a:pPr>
            <a:r>
              <a:rPr lang="en-US" dirty="0"/>
              <a:t>    if "end" in punctuation:</a:t>
            </a:r>
          </a:p>
          <a:p>
            <a:pPr marL="0" indent="0">
              <a:buNone/>
            </a:pPr>
            <a:r>
              <a:rPr lang="en-US" dirty="0"/>
              <a:t>        sentence += punctuation["end"]</a:t>
            </a:r>
          </a:p>
          <a:p>
            <a:pPr marL="0" indent="0">
              <a:buNone/>
            </a:pPr>
            <a:r>
              <a:rPr lang="en-US" dirty="0"/>
              <a:t>    </a:t>
            </a:r>
          </a:p>
          <a:p>
            <a:pPr marL="0" indent="0">
              <a:buNone/>
            </a:pPr>
            <a:r>
              <a:rPr lang="en-US" dirty="0"/>
              <a:t>    print(sentence)</a:t>
            </a:r>
          </a:p>
          <a:p>
            <a:pPr marL="0" indent="0">
              <a:buNone/>
            </a:pPr>
            <a:endParaRPr lang="en-US" dirty="0"/>
          </a:p>
        </p:txBody>
      </p:sp>
      <p:sp>
        <p:nvSpPr>
          <p:cNvPr id="4" name="TextBox 3">
            <a:extLst>
              <a:ext uri="{FF2B5EF4-FFF2-40B4-BE49-F238E27FC236}">
                <a16:creationId xmlns:a16="http://schemas.microsoft.com/office/drawing/2014/main" id="{295CD07A-0BE4-FE95-5B43-0C8D771E6C47}"/>
              </a:ext>
            </a:extLst>
          </p:cNvPr>
          <p:cNvSpPr txBox="1"/>
          <p:nvPr/>
        </p:nvSpPr>
        <p:spPr>
          <a:xfrm>
            <a:off x="6854825" y="467887"/>
            <a:ext cx="4876800" cy="6555641"/>
          </a:xfrm>
          <a:prstGeom prst="rect">
            <a:avLst/>
          </a:prstGeom>
          <a:noFill/>
        </p:spPr>
        <p:txBody>
          <a:bodyPr wrap="square" rtlCol="0">
            <a:spAutoFit/>
          </a:bodyPr>
          <a:lstStyle/>
          <a:p>
            <a:r>
              <a:rPr lang="en-US" sz="2800" dirty="0"/>
              <a:t># --- Test Cases ---</a:t>
            </a:r>
          </a:p>
          <a:p>
            <a:endParaRPr lang="en-US" sz="2800" dirty="0"/>
          </a:p>
          <a:p>
            <a:r>
              <a:rPr lang="en-US" sz="2800" dirty="0"/>
              <a:t># No punctuation</a:t>
            </a:r>
          </a:p>
          <a:p>
            <a:r>
              <a:rPr lang="en-US" sz="2800" dirty="0" err="1"/>
              <a:t>make_sentence</a:t>
            </a:r>
            <a:r>
              <a:rPr lang="en-US" sz="2800" dirty="0"/>
              <a:t>("Python", "is", "fun")</a:t>
            </a:r>
          </a:p>
          <a:p>
            <a:endParaRPr lang="en-US" sz="2800" dirty="0"/>
          </a:p>
          <a:p>
            <a:r>
              <a:rPr lang="en-US" sz="2800" dirty="0"/>
              <a:t># With punctuation</a:t>
            </a:r>
          </a:p>
          <a:p>
            <a:r>
              <a:rPr lang="en-US" sz="2800" dirty="0" err="1"/>
              <a:t>make_sentence</a:t>
            </a:r>
            <a:r>
              <a:rPr lang="en-US" sz="2800" dirty="0"/>
              <a:t>("Hello", "world", end="!")</a:t>
            </a:r>
          </a:p>
          <a:p>
            <a:endParaRPr lang="en-US" sz="2800" dirty="0"/>
          </a:p>
          <a:p>
            <a:r>
              <a:rPr lang="en-US" sz="2800" dirty="0"/>
              <a:t># Longer sentence with punctuation</a:t>
            </a:r>
          </a:p>
          <a:p>
            <a:r>
              <a:rPr lang="en-US" sz="2800" dirty="0" err="1"/>
              <a:t>make_sentence</a:t>
            </a:r>
            <a:r>
              <a:rPr lang="en-US" sz="2800" dirty="0"/>
              <a:t>("I", "love", "learning", "Python", end=".")</a:t>
            </a:r>
          </a:p>
          <a:p>
            <a:endParaRPr lang="en-SG" sz="2800" dirty="0"/>
          </a:p>
        </p:txBody>
      </p:sp>
    </p:spTree>
    <p:extLst>
      <p:ext uri="{BB962C8B-B14F-4D97-AF65-F5344CB8AC3E}">
        <p14:creationId xmlns:p14="http://schemas.microsoft.com/office/powerpoint/2010/main" val="7754210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0F197-5B94-7F51-FD9B-C367CABE5421}"/>
              </a:ext>
            </a:extLst>
          </p:cNvPr>
          <p:cNvSpPr>
            <a:spLocks noGrp="1"/>
          </p:cNvSpPr>
          <p:nvPr>
            <p:ph type="title"/>
          </p:nvPr>
        </p:nvSpPr>
        <p:spPr/>
        <p:txBody>
          <a:bodyPr/>
          <a:lstStyle/>
          <a:p>
            <a:r>
              <a:rPr lang="en-US" dirty="0"/>
              <a:t>When to Create a Function</a:t>
            </a:r>
            <a:endParaRPr lang="en-SG" dirty="0"/>
          </a:p>
        </p:txBody>
      </p:sp>
      <p:sp>
        <p:nvSpPr>
          <p:cNvPr id="3" name="Content Placeholder 2">
            <a:extLst>
              <a:ext uri="{FF2B5EF4-FFF2-40B4-BE49-F238E27FC236}">
                <a16:creationId xmlns:a16="http://schemas.microsoft.com/office/drawing/2014/main" id="{7A9F5FB3-6CD2-5063-8AC1-018DCB9B3F7C}"/>
              </a:ext>
            </a:extLst>
          </p:cNvPr>
          <p:cNvSpPr>
            <a:spLocks noGrp="1"/>
          </p:cNvSpPr>
          <p:nvPr>
            <p:ph idx="1"/>
          </p:nvPr>
        </p:nvSpPr>
        <p:spPr/>
        <p:txBody>
          <a:bodyPr/>
          <a:lstStyle/>
          <a:p>
            <a:r>
              <a:rPr lang="en-US" dirty="0"/>
              <a:t>Code is repeated</a:t>
            </a:r>
          </a:p>
          <a:p>
            <a:endParaRPr lang="en-US" dirty="0"/>
          </a:p>
          <a:p>
            <a:r>
              <a:rPr lang="en-US" dirty="0"/>
              <a:t>Logic has a clear purpose</a:t>
            </a:r>
          </a:p>
          <a:p>
            <a:endParaRPr lang="en-US" dirty="0"/>
          </a:p>
          <a:p>
            <a:r>
              <a:rPr lang="en-US" dirty="0"/>
              <a:t>A task can be named clearly</a:t>
            </a:r>
            <a:endParaRPr lang="en-SG" dirty="0"/>
          </a:p>
        </p:txBody>
      </p:sp>
    </p:spTree>
    <p:extLst>
      <p:ext uri="{BB962C8B-B14F-4D97-AF65-F5344CB8AC3E}">
        <p14:creationId xmlns:p14="http://schemas.microsoft.com/office/powerpoint/2010/main" val="237044384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2148-E456-FEDA-EEDD-8468CFA6DF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D7968-A50B-F716-9B3F-4394DF049C09}"/>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D162C824-7F44-DAE4-BC4F-D70DC43EDE5D}"/>
              </a:ext>
            </a:extLst>
          </p:cNvPr>
          <p:cNvSpPr>
            <a:spLocks noGrp="1"/>
          </p:cNvSpPr>
          <p:nvPr>
            <p:ph idx="1"/>
          </p:nvPr>
        </p:nvSpPr>
        <p:spPr/>
        <p:txBody>
          <a:bodyPr/>
          <a:lstStyle/>
          <a:p>
            <a:r>
              <a:rPr lang="en-US" dirty="0"/>
              <a:t>Write a function that:</a:t>
            </a:r>
          </a:p>
          <a:p>
            <a:endParaRPr lang="en-US" dirty="0"/>
          </a:p>
          <a:p>
            <a:pPr lvl="1"/>
            <a:r>
              <a:rPr lang="en-US" dirty="0"/>
              <a:t>Takes two numbers</a:t>
            </a:r>
          </a:p>
          <a:p>
            <a:endParaRPr lang="en-US" dirty="0"/>
          </a:p>
          <a:p>
            <a:pPr lvl="1"/>
            <a:r>
              <a:rPr lang="en-US" dirty="0"/>
              <a:t>Returns the larger number</a:t>
            </a:r>
            <a:endParaRPr lang="en-SG" dirty="0"/>
          </a:p>
        </p:txBody>
      </p:sp>
    </p:spTree>
    <p:extLst>
      <p:ext uri="{BB962C8B-B14F-4D97-AF65-F5344CB8AC3E}">
        <p14:creationId xmlns:p14="http://schemas.microsoft.com/office/powerpoint/2010/main" val="201314828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0AD5-B8AC-EFFD-B17C-52D44A90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CE50-3F90-8338-C411-AAB1582D1894}"/>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3EF27E80-8EDD-99C2-42C4-70E47A71D4AD}"/>
              </a:ext>
            </a:extLst>
          </p:cNvPr>
          <p:cNvSpPr>
            <a:spLocks noGrp="1"/>
          </p:cNvSpPr>
          <p:nvPr>
            <p:ph idx="1"/>
          </p:nvPr>
        </p:nvSpPr>
        <p:spPr>
          <a:xfrm>
            <a:off x="457200" y="2057399"/>
            <a:ext cx="8229600" cy="4525963"/>
          </a:xfrm>
        </p:spPr>
        <p:txBody>
          <a:bodyPr/>
          <a:lstStyle/>
          <a:p>
            <a:pPr marL="0" indent="0">
              <a:buNone/>
            </a:pPr>
            <a:r>
              <a:rPr lang="en-US" dirty="0"/>
              <a:t>def </a:t>
            </a:r>
            <a:r>
              <a:rPr lang="en-US" dirty="0" err="1"/>
              <a:t>max_number</a:t>
            </a:r>
            <a:r>
              <a:rPr lang="en-US" dirty="0"/>
              <a:t>(a, b):</a:t>
            </a:r>
          </a:p>
          <a:p>
            <a:pPr marL="0" indent="0">
              <a:buNone/>
            </a:pPr>
            <a:r>
              <a:rPr lang="en-US" dirty="0"/>
              <a:t>    return a if a &gt; b else b</a:t>
            </a:r>
          </a:p>
        </p:txBody>
      </p:sp>
    </p:spTree>
    <p:extLst>
      <p:ext uri="{BB962C8B-B14F-4D97-AF65-F5344CB8AC3E}">
        <p14:creationId xmlns:p14="http://schemas.microsoft.com/office/powerpoint/2010/main" val="61944120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4355-B467-8188-3E54-164C77259021}"/>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FDEDE05D-C16C-2BB9-542A-2BEEE2392915}"/>
              </a:ext>
            </a:extLst>
          </p:cNvPr>
          <p:cNvSpPr>
            <a:spLocks noGrp="1"/>
          </p:cNvSpPr>
          <p:nvPr>
            <p:ph idx="1"/>
          </p:nvPr>
        </p:nvSpPr>
        <p:spPr/>
        <p:txBody>
          <a:bodyPr/>
          <a:lstStyle/>
          <a:p>
            <a:r>
              <a:rPr lang="en-US" dirty="0"/>
              <a:t>Functions encapsulate logic</a:t>
            </a:r>
          </a:p>
          <a:p>
            <a:endParaRPr lang="en-US" dirty="0"/>
          </a:p>
          <a:p>
            <a:r>
              <a:rPr lang="en-US" dirty="0"/>
              <a:t>Parameters and return values enable reuse</a:t>
            </a:r>
          </a:p>
          <a:p>
            <a:endParaRPr lang="en-US" dirty="0"/>
          </a:p>
          <a:p>
            <a:r>
              <a:rPr lang="en-US" dirty="0"/>
              <a:t>Good functions are small and focused</a:t>
            </a:r>
            <a:endParaRPr lang="en-SG" dirty="0"/>
          </a:p>
        </p:txBody>
      </p:sp>
    </p:spTree>
    <p:extLst>
      <p:ext uri="{BB962C8B-B14F-4D97-AF65-F5344CB8AC3E}">
        <p14:creationId xmlns:p14="http://schemas.microsoft.com/office/powerpoint/2010/main" val="151828312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lstStyle/>
          <a:p>
            <a:pPr algn="l">
              <a:defRPr sz="1500">
                <a:latin typeface="Courier New"/>
              </a:defRPr>
            </a:pPr>
            <a:r>
              <a:t>def divide(a, b):</a:t>
            </a:r>
            <a:br/>
            <a:r>
              <a:t>    return a // b, a % b</a:t>
            </a:r>
            <a:br/>
            <a:br/>
            <a:r>
              <a:t>q, r = divide(20, 3)</a:t>
            </a:r>
            <a:br/>
            <a:r>
              <a:t>print(q, r)             # 6 2</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lstStyle/>
          <a:p>
            <a:pPr algn="l">
              <a:defRPr sz="1500">
                <a:latin typeface="Courier New"/>
              </a:defRPr>
            </a:pPr>
            <a:r>
              <a:t>def log(message, *args, **kwargs):</a:t>
            </a:r>
            <a:br/>
            <a:r>
              <a:t>    print(f"[LOG] {message}")</a:t>
            </a:r>
            <a:br/>
            <a:r>
              <a:t>    if args: print("  Extra positional:", args)</a:t>
            </a:r>
            <a:br/>
            <a:r>
              <a:t>    if kwargs: print("  Extra keyword:", kwargs)</a:t>
            </a:r>
            <a:br/>
            <a:br/>
            <a:r>
              <a:t>log("Start", 1, 2, 3, user="Ada", code=42)</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lstStyle/>
          <a:p>
            <a:pPr algn="l">
              <a:defRPr sz="1500">
                <a:latin typeface="Courier New"/>
              </a:defRPr>
            </a:pPr>
            <a:r>
              <a:t>pairs = [(1, "one"), (2, "two"), (3, "three")]</a:t>
            </a:r>
            <a:br/>
            <a:r>
              <a:t>pairs.sort(key=lambda x: x[1])</a:t>
            </a:r>
            <a:br/>
            <a:r>
              <a:t>print(pairs)</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lstStyle/>
          <a:p>
            <a:pPr algn="l">
              <a:defRPr sz="1500">
                <a:latin typeface="Courier New"/>
              </a:defRPr>
            </a:pPr>
            <a:r>
              <a:t>ops = {"+": lambda x,y: x+y,</a:t>
            </a:r>
            <a:br/>
            <a:r>
              <a:t>      "-": lambda x,y: x-y,</a:t>
            </a:r>
            <a:br/>
            <a:r>
              <a:t>      "*": lambda x,y: x*y,</a:t>
            </a:r>
            <a:br/>
            <a:r>
              <a:t>      "/": lambda x,y: x/y}</a:t>
            </a:r>
            <a:br/>
            <a:br/>
            <a:r>
              <a:t>_, a, op, b = sys.argv</a:t>
            </a:r>
            <a:br/>
            <a:r>
              <a:t>print(ops[op](float(a), float(b)))</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lstStyle/>
          <a:p>
            <a:pPr algn="l">
              <a:defRPr sz="1500">
                <a:latin typeface="Courier New"/>
              </a:defRPr>
            </a:pPr>
            <a:r>
              <a:t>class Dog:</a:t>
            </a:r>
            <a:br/>
            <a:r>
              <a:t>    species = "Canis familiaris"</a:t>
            </a:r>
            <a:br/>
            <a:r>
              <a:t>    def __init__(self, name, age):</a:t>
            </a:r>
            <a:br/>
            <a:r>
              <a:t>        self.name, self.age = name, age</a:t>
            </a:r>
            <a:br/>
            <a:r>
              <a:t>    def __str__(self):</a:t>
            </a:r>
            <a:br/>
            <a:r>
              <a:t>        return f"{self.name} is {self.age}"</a:t>
            </a:r>
            <a:br/>
            <a:r>
              <a:t>    def speak(self, sound="Woof!"):</a:t>
            </a:r>
            <a:br/>
            <a:r>
              <a:t>        return f"{self.name} says {sound}"</a:t>
            </a:r>
            <a:br/>
            <a:br/>
            <a:r>
              <a:t>d = Dog("Buddy", 4)</a:t>
            </a:r>
            <a:br/>
            <a:r>
              <a:t>print(d)                    # Buddy is 4</a:t>
            </a:r>
            <a:br/>
            <a:r>
              <a:t>print(d.speak("Ruff"))</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lstStyle/>
          <a:p>
            <a:pPr algn="l">
              <a:defRPr sz="1500">
                <a:latin typeface="Courier New"/>
              </a:defRPr>
            </a:pPr>
            <a:r>
              <a:t>class BankAccount:</a:t>
            </a:r>
            <a:br/>
            <a:r>
              <a:t>    def __init__(self, owner, balance=0):</a:t>
            </a:r>
            <a:br/>
            <a:r>
              <a:t>        self.owner = owner</a:t>
            </a:r>
            <a:br/>
            <a:r>
              <a:t>        self.__balance = balance      # name mangled</a:t>
            </a:r>
            <a:br/>
            <a:r>
              <a:t>    def deposit(self, amount):</a:t>
            </a:r>
            <a:br/>
            <a:r>
              <a:t>        self.__balance += amount</a:t>
            </a:r>
            <a:br/>
            <a:r>
              <a:t>    @property</a:t>
            </a:r>
            <a:br/>
            <a:r>
              <a:t>    def balance(self):</a:t>
            </a:r>
            <a:br/>
            <a:r>
              <a:t>        return self.__balance</a:t>
            </a:r>
            <a:br/>
            <a:br/>
            <a:r>
              <a:t>acct = BankAccount("Ada")</a:t>
            </a:r>
            <a:br/>
            <a:r>
              <a:t>acct.deposit(100)</a:t>
            </a:r>
            <a:br/>
            <a:r>
              <a:t>print(acct.balance)         # 100</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pPr algn="l">
              <a:defRPr sz="1500">
                <a:latin typeface="Courier New"/>
              </a:defRPr>
            </a:pPr>
            <a:r>
              <a:t>class Animal:</a:t>
            </a:r>
            <a:br/>
            <a:r>
              <a:t>    def speak(self): raise NotImplementedError</a:t>
            </a:r>
            <a:br/>
            <a:r>
              <a:t>class Cat(Animal):</a:t>
            </a:r>
            <a:br/>
            <a:r>
              <a:t>    def speak(self): return "Meow"</a:t>
            </a:r>
            <a:br/>
            <a:r>
              <a:t>class Cow(Animal):</a:t>
            </a:r>
            <a:br/>
            <a:r>
              <a:t>    def speak(self): return "Moo"</a:t>
            </a:r>
            <a:br/>
            <a:br/>
            <a:r>
              <a:t>for creature in [Cat(), Cow()]:</a:t>
            </a:r>
            <a:br/>
            <a:r>
              <a:t>    print(creature.speak())</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lstStyle/>
          <a:p>
            <a:pPr algn="l">
              <a:defRPr sz="1500">
                <a:latin typeface="Courier New"/>
              </a:defRPr>
            </a:pPr>
            <a:r>
              <a:t>class Person:</a:t>
            </a:r>
            <a:br/>
            <a:r>
              <a:t>    def __init__(self, name): self.name = name</a:t>
            </a:r>
            <a:br/>
            <a:r>
              <a:t>class Employee(Person):</a:t>
            </a:r>
            <a:br/>
            <a:r>
              <a:t>    def __init__(self, name, salary):</a:t>
            </a:r>
            <a:br/>
            <a:r>
              <a:t>        super().__init__(name); self.salary = salary</a:t>
            </a:r>
            <a:br/>
            <a:r>
              <a:t>class Manager(Employee):</a:t>
            </a:r>
            <a:br/>
            <a:r>
              <a:t>    def __init__(self, name, salary, level):</a:t>
            </a:r>
            <a:br/>
            <a:r>
              <a:t>        super().__init__(name, salary); self.level = level</a:t>
            </a:r>
            <a:br/>
            <a:br/>
            <a:r>
              <a:t>m = Manager("Grace", 120_000, "L3")</a:t>
            </a:r>
            <a:br/>
            <a:r>
              <a:t>print(m.name, m.salary, m.level)</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lstStyle/>
          <a:p>
            <a:pPr algn="l">
              <a:defRPr sz="1500">
                <a:latin typeface="Courier New"/>
              </a:defRPr>
            </a:pPr>
            <a:r>
              <a:t>class Vector:</a:t>
            </a:r>
            <a:br/>
            <a:r>
              <a:t>    def __init__(self, x, y): self.x, self.y = x, y</a:t>
            </a:r>
            <a:br/>
            <a:r>
              <a:t>    def __add__(self, other):</a:t>
            </a:r>
            <a:br/>
            <a:r>
              <a:t>        return Vector(self.x + other.x, self.y + other.y)</a:t>
            </a:r>
            <a:br/>
            <a:r>
              <a:t>    def __mul__(self, scalar):</a:t>
            </a:r>
            <a:br/>
            <a:r>
              <a:t>        return Vector(self.x * scalar, self.y * scalar)</a:t>
            </a:r>
            <a:br/>
            <a:r>
              <a:t>    def __repr__(self): return f"Vector({self.x}, {self.y})"</a:t>
            </a:r>
            <a:br/>
            <a:br/>
            <a:r>
              <a:t>v1, v2 = Vector(2, 3), Vector(1, 4)</a:t>
            </a:r>
            <a:br/>
            <a:r>
              <a:t>print(v1 + v2)              # Vector(3, 7)</a:t>
            </a:r>
            <a:br/>
            <a:r>
              <a:t>print(v1 * 3)               # Vector(6, 9)</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lstStyle/>
          <a:p>
            <a:pPr algn="l">
              <a:defRPr sz="1500">
                <a:latin typeface="Courier New"/>
              </a:defRPr>
            </a:pPr>
            <a:r>
              <a:t># tree</a:t>
            </a:r>
            <a:br/>
            <a:r>
              <a:t>project/</a:t>
            </a:r>
            <a:br/>
            <a:r>
              <a:t>  ├── geometry/</a:t>
            </a:r>
            <a:br/>
            <a:r>
              <a:t>  │   ├── __init__.py</a:t>
            </a:r>
            <a:br/>
            <a:r>
              <a:t>  │   └── shapes.py</a:t>
            </a:r>
            <a:br/>
            <a:r>
              <a:t>  └── app.py</a:t>
            </a:r>
            <a:br/>
            <a:br/>
            <a:r>
              <a:t># shapes.py</a:t>
            </a:r>
            <a:br/>
            <a:r>
              <a:t>def area_circle(r): from math import pi; return pi * r ** 2</a:t>
            </a:r>
            <a:br/>
            <a:br/>
            <a:r>
              <a:t># __init__.py</a:t>
            </a:r>
            <a:br/>
            <a:r>
              <a:t>from .shapes import area_circle</a:t>
            </a:r>
            <a:br/>
            <a:r>
              <a:t>__all__ = ["area_circle"]</a:t>
            </a:r>
            <a:br/>
            <a:br/>
            <a:r>
              <a:t># app.py</a:t>
            </a:r>
            <a:br/>
            <a:r>
              <a:t>from geometry import area_circle</a:t>
            </a:r>
            <a:br/>
            <a:r>
              <a:t>print(area_circle(5))</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lstStyle/>
          <a:p>
            <a:pPr algn="l">
              <a:defRPr sz="1500">
                <a:latin typeface="Courier New"/>
              </a:defRPr>
            </a:pPr>
            <a:r>
              <a:t>import datetime as dt</a:t>
            </a:r>
            <a:br/>
            <a:r>
              <a:t>from pathlib import Path</a:t>
            </a:r>
            <a:br/>
            <a:r>
              <a:t>from collections import defaultdict, Counter</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 Text &amp; CSV</a:t>
            </a:r>
          </a:p>
        </p:txBody>
      </p:sp>
      <p:sp>
        <p:nvSpPr>
          <p:cNvPr id="3" name="Content Placeholder 2"/>
          <p:cNvSpPr>
            <a:spLocks noGrp="1"/>
          </p:cNvSpPr>
          <p:nvPr>
            <p:ph idx="1"/>
          </p:nvPr>
        </p:nvSpPr>
        <p:spPr/>
        <p:txBody>
          <a:bodyPr/>
          <a:lstStyle/>
          <a:p>
            <a:pPr algn="l">
              <a:defRPr sz="1500">
                <a:latin typeface="Courier New"/>
              </a:defRPr>
            </a:pPr>
            <a:r>
              <a:t>with open("haiku.txt", "w") as f:</a:t>
            </a:r>
            <a:br/>
            <a:r>
              <a:t>    f.write("Ancient silent pond\n…")</a:t>
            </a:r>
            <a:br/>
            <a:br/>
            <a:r>
              <a:t>with open("haiku.txt") as f:</a:t>
            </a:r>
            <a:br/>
            <a:r>
              <a:t>    for i, line in enumerate(f, 1):</a:t>
            </a:r>
            <a:br/>
            <a:r>
              <a:t>        print(f"{i}: {line.rstrip()}")</a:t>
            </a:r>
            <a:br/>
            <a:br/>
            <a:r>
              <a:t>import csv</a:t>
            </a:r>
            <a:br/>
            <a:r>
              <a:t>rows = [{"name": "Ada", "age": 36}, {"name": "Linus", "age": 52}]</a:t>
            </a:r>
            <a:br/>
            <a:r>
              <a:t>with open("users.csv", "w", newline="") as f:</a:t>
            </a:r>
            <a:br/>
            <a:r>
              <a:t>    writer = csv.DictWriter(f, fieldnames=["name", "age"])</a:t>
            </a:r>
            <a:br/>
            <a:r>
              <a:t>    writer.writeheader(); writer.writerows(rows)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pPr algn="l">
              <a:defRPr sz="1500">
                <a:latin typeface="Courier New"/>
              </a:defRPr>
            </a:pPr>
            <a:r>
              <a:t>from pathlib import Path</a:t>
            </a:r>
            <a:br/>
            <a:r>
              <a:t>root = Path("docs") / "letters"</a:t>
            </a:r>
            <a:br/>
            <a:r>
              <a:t>for file in root.glob("*.txt"):</a:t>
            </a:r>
            <a:br/>
            <a:r>
              <a:t>    print(file.stem)</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lstStyle/>
          <a:p>
            <a:pPr algn="l">
              <a:defRPr sz="1500">
                <a:latin typeface="Courier New"/>
              </a:defRPr>
            </a:pPr>
            <a:r>
              <a:t>import json, pathlib, sys</a:t>
            </a:r>
            <a:br/>
            <a:r>
              <a:t>FILE = pathlib.Path("contacts.json")</a:t>
            </a:r>
            <a:br/>
            <a:r>
              <a:t>def load(): return json.loads(FILE.read_text()) if FILE.exists() else {}</a:t>
            </a:r>
            <a:br/>
            <a:r>
              <a:t>def save(data): FILE.write_text(json.dumps(data, indent=2))</a:t>
            </a:r>
            <a:br/>
            <a:r>
              <a:t>def add(name, phone):</a:t>
            </a:r>
            <a:br/>
            <a:r>
              <a:t>    book = load(); book[name] = phone; save(book); print(f"Added {name}")</a:t>
            </a:r>
            <a:br/>
            <a:r>
              <a:t>if sys.argv[1:2] == ["add"]: add(sys.argv[2], sys.argv[3])</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lstStyle/>
          <a:p>
            <a:pPr algn="l">
              <a:defRPr sz="1500">
                <a:latin typeface="Courier New"/>
              </a:defRPr>
            </a:pPr>
            <a:r>
              <a:t>def debug(func):</a:t>
            </a:r>
            <a:br/>
            <a:r>
              <a:t>    import functools</a:t>
            </a:r>
            <a:br/>
            <a:r>
              <a:t>    @functools.wraps(func)</a:t>
            </a:r>
            <a:br/>
            <a:r>
              <a:t>    def wrapper(*args, **kwargs):</a:t>
            </a:r>
            <a:br/>
            <a:r>
              <a:t>        print(f"Calling {func.__name__}{args}")</a:t>
            </a:r>
            <a:br/>
            <a:r>
              <a:t>        value = func(*args, **kwargs)</a:t>
            </a:r>
            <a:br/>
            <a:r>
              <a:t>        print(f"{func.__name__} returned {value}")</a:t>
            </a:r>
            <a:br/>
            <a:r>
              <a:t>        return value</a:t>
            </a:r>
            <a:br/>
            <a:r>
              <a:t>    return wrapper</a:t>
            </a:r>
            <a:br/>
            <a:br/>
            <a:r>
              <a:t>@debug</a:t>
            </a:r>
            <a:br/>
            <a:r>
              <a:t>def gcd(a, b):</a:t>
            </a:r>
            <a:br/>
            <a:r>
              <a:t>    while b: a, b = b, a % b</a:t>
            </a:r>
            <a:br/>
            <a:r>
              <a:t>    return a</a:t>
            </a:r>
            <a:br/>
            <a:br/>
            <a:r>
              <a:t>gcd(42, 56)</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p:txBody>
          <a:bodyPr/>
          <a:lstStyle/>
          <a:p>
            <a:pPr algn="l">
              <a:defRPr sz="1500">
                <a:latin typeface="Courier New"/>
              </a:defRPr>
            </a:pPr>
            <a:r>
              <a:t>def repeat(times):</a:t>
            </a:r>
            <a:br/>
            <a:r>
              <a:t>    def decorator(func):</a:t>
            </a:r>
            <a:br/>
            <a:r>
              <a:t>        import functools</a:t>
            </a:r>
            <a:br/>
            <a:r>
              <a:t>        @functools.wraps(func)</a:t>
            </a:r>
            <a:br/>
            <a:r>
              <a:t>        def wrapper(*args, **kwargs):</a:t>
            </a:r>
            <a:br/>
            <a:r>
              <a:t>            for _ in range(times): value = func(*args, **kwargs)</a:t>
            </a:r>
            <a:br/>
            <a:r>
              <a:t>            return value</a:t>
            </a:r>
            <a:br/>
            <a:r>
              <a:t>        return wrapper</a:t>
            </a:r>
            <a:br/>
            <a:r>
              <a:t>    return decorator</a:t>
            </a:r>
            <a:br/>
            <a:br/>
            <a:r>
              <a:t>@repeat(3)</a:t>
            </a:r>
            <a:br/>
            <a:r>
              <a:t>def greet(): print("Hi!")</a:t>
            </a:r>
            <a:br/>
            <a:r>
              <a:t>greet()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p:txBody>
          <a:bodyPr/>
          <a:lstStyle/>
          <a:p>
            <a:pPr algn="l">
              <a:defRPr sz="1500">
                <a:latin typeface="Courier New"/>
              </a:defRPr>
            </a:pPr>
            <a:r>
              <a:t>import time, functools</a:t>
            </a:r>
            <a:br/>
            <a:br/>
            <a:r>
              <a:t>def timed(func):</a:t>
            </a:r>
            <a:br/>
            <a:r>
              <a:t>    @functools.wraps(func)</a:t>
            </a:r>
            <a:br/>
            <a:r>
              <a:t>    def wrapper(*args, **kwargs):</a:t>
            </a:r>
            <a:br/>
            <a:r>
              <a:t>        t0 = time.perf_counter()</a:t>
            </a:r>
            <a:br/>
            <a:r>
              <a:t>        value = func(*args, **kwargs)</a:t>
            </a:r>
            <a:br/>
            <a:r>
              <a:t>        print(f"{func.__name__} took {(time.perf_counter()-t0)*1000:.2f} ms")</a:t>
            </a:r>
            <a:br/>
            <a:r>
              <a:t>        return value</a:t>
            </a:r>
            <a:br/>
            <a:r>
              <a:t>    return wrapper</a:t>
            </a:r>
            <a:br/>
            <a:br/>
            <a:r>
              <a:t>@functools.lru_cache(maxsize=None)</a:t>
            </a:r>
            <a:br/>
            <a:r>
              <a:t>def fib(n): return n if n &lt; 2 else fib(n-1) + fib(n-2)</a:t>
            </a:r>
            <a:br/>
            <a:br/>
            <a:r>
              <a:t>timed(fib)(35)</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lstStyle/>
          <a:p>
            <a:pPr algn="l">
              <a:defRPr sz="1500">
                <a:latin typeface="Courier New"/>
              </a:defRPr>
            </a:pPr>
            <a:r>
              <a:t>def evens(limit):</a:t>
            </a:r>
            <a:br/>
            <a:r>
              <a:t>    value = 0</a:t>
            </a:r>
            <a:br/>
            <a:r>
              <a:t>    while value &lt;= limit:</a:t>
            </a:r>
            <a:br/>
            <a:r>
              <a:t>        yield value; value += 2</a:t>
            </a:r>
            <a:br/>
            <a:br/>
            <a:r>
              <a:t>for n in evens(10): print(n, end=" ")   # 0 2 4 6 8 10</a:t>
            </a:r>
            <a:br/>
            <a:br/>
            <a:r>
              <a:t>squares = (x*x for x in range(10**6))   # ~200 B</a:t>
            </a:r>
            <a:br/>
            <a:r>
              <a:t>import sys, os</a:t>
            </a:r>
            <a:br/>
            <a:r>
              <a:t>print(sys.getsizeof(squares), "bytes")</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p:txBody>
          <a:bodyPr/>
          <a:lstStyle/>
          <a:p>
            <a:pPr algn="l">
              <a:defRPr sz="1500">
                <a:latin typeface="Courier New"/>
              </a:defRPr>
            </a:pPr>
            <a:r>
              <a:t>def parse_access_log(path):</a:t>
            </a:r>
            <a:br/>
            <a:r>
              <a:t>    with open(path) as f:</a:t>
            </a:r>
            <a:br/>
            <a:r>
              <a:t>        for line in f:</a:t>
            </a:r>
            <a:br/>
            <a:r>
              <a:t>            ip, _, _, dt, meth, url, st, sz = line.split()[:8]</a:t>
            </a:r>
            <a:br/>
            <a:r>
              <a:t>            yield {"ip": ip, "datetime": dt[1:],</a:t>
            </a:r>
            <a:br/>
            <a:r>
              <a:t>                   "method": meth[1:-1], "url": url,</a:t>
            </a:r>
            <a:br/>
            <a:r>
              <a:t>                   "status": int(st), "size": int(sz)}</a:t>
            </a:r>
            <a:br/>
            <a:br/>
            <a:r>
              <a:t>for entry in parse_access_log("access.log"):</a:t>
            </a:r>
            <a:br/>
            <a:r>
              <a:t>    if entry["status"] == 404:</a:t>
            </a:r>
            <a:br/>
            <a:r>
              <a:t>        print(entry["url"])</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Landscape</a:t>
            </a:r>
          </a:p>
        </p:txBody>
      </p:sp>
      <p:sp>
        <p:nvSpPr>
          <p:cNvPr id="3" name="Content Placeholder 2"/>
          <p:cNvSpPr>
            <a:spLocks noGrp="1"/>
          </p:cNvSpPr>
          <p:nvPr>
            <p:ph idx="1"/>
          </p:nvPr>
        </p:nvSpPr>
        <p:spPr/>
        <p:txBody>
          <a:bodyPr/>
          <a:lstStyle/>
          <a:p>
            <a:pPr algn="l">
              <a:defRPr sz="1500">
                <a:latin typeface="Courier New"/>
              </a:defRPr>
            </a:pPr>
            <a:r>
              <a:t>• threading        – concurrent, shared memory, I/O bound</a:t>
            </a:r>
            <a:br/>
            <a:r>
              <a:t>• multiprocessing – parallel, separate memory, CPU bound</a:t>
            </a:r>
            <a:br/>
            <a:r>
              <a:t>• asyncio         – single-threaded cooperative, I/O bound, no GIL issues</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p:txBody>
          <a:bodyPr/>
          <a:lstStyle/>
          <a:p>
            <a:pPr algn="l">
              <a:defRPr sz="1500">
                <a:latin typeface="Courier New"/>
              </a:defRPr>
            </a:pPr>
            <a:r>
              <a:t>import multiprocessing as mp, random</a:t>
            </a:r>
            <a:br/>
            <a:r>
              <a:t>def sample_pi(n):</a:t>
            </a:r>
            <a:br/>
            <a:r>
              <a:t>    inside = 0</a:t>
            </a:r>
            <a:br/>
            <a:r>
              <a:t>    for _ in range(n):</a:t>
            </a:r>
            <a:br/>
            <a:r>
              <a:t>        x, y = random.random(), random.random()</a:t>
            </a:r>
            <a:br/>
            <a:r>
              <a:t>        if x*x + y*y &lt;= 1: inside += 1</a:t>
            </a:r>
            <a:br/>
            <a:r>
              <a:t>    return inside</a:t>
            </a:r>
            <a:br/>
            <a:r>
              <a:t>cores = mp.cpu_count()</a:t>
            </a:r>
            <a:br/>
            <a:r>
              <a:t>total = 1_000_000</a:t>
            </a:r>
            <a:br/>
            <a:r>
              <a:t>counts = mp.Pool(cores).map(sample_pi, [total//cores]*cores)</a:t>
            </a:r>
            <a:br/>
            <a:r>
              <a:t>print("π ≈", 4 * sum(counts) / total)</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p:txBody>
          <a:bodyPr/>
          <a:lstStyle/>
          <a:p>
            <a:pPr algn="l">
              <a:defRPr sz="1500">
                <a:latin typeface="Courier New"/>
              </a:defRPr>
            </a:pPr>
            <a:r>
              <a:t>import aiohttp, asyncio, time</a:t>
            </a:r>
            <a:br/>
            <a:r>
              <a:t>async def fetch(s, url):</a:t>
            </a:r>
            <a:br/>
            <a:r>
              <a:t>    async with s.get(url) as r: return await r.text()</a:t>
            </a:r>
            <a:br/>
            <a:r>
              <a:t>async def fetch_all(urls):</a:t>
            </a:r>
            <a:br/>
            <a:r>
              <a:t>    async with aiohttp.ClientSession() as s:</a:t>
            </a:r>
            <a:br/>
            <a:r>
              <a:t>        return await asyncio.gather(*[fetch(s, u) for u in urls])</a:t>
            </a:r>
            <a:br/>
            <a:r>
              <a:t>urls = ["https://httpbin.org/delay/1"] * 50</a:t>
            </a:r>
            <a:br/>
            <a:r>
              <a:t>t0 = time.time()</a:t>
            </a:r>
            <a:br/>
            <a:r>
              <a:t>pages = asyncio.run(fetch_all(urls))</a:t>
            </a:r>
            <a:br/>
            <a:r>
              <a:t>print("Fetched", len(pages), "pages in", time.time()-t0, "s")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p:txBody>
          <a:bodyPr/>
          <a:lstStyle/>
          <a:p>
            <a:pPr algn="l">
              <a:defRPr sz="1500">
                <a:latin typeface="Courier New"/>
              </a:defRPr>
            </a:pPr>
            <a:r>
              <a:t>def blocking_func():</a:t>
            </a:r>
            <a:br/>
            <a:r>
              <a:t>    time.sleep(1)</a:t>
            </a:r>
            <a:br/>
            <a:r>
              <a:t>    return 42</a:t>
            </a:r>
            <a:br/>
            <a:r>
              <a:t>async def main():</a:t>
            </a:r>
            <a:br/>
            <a:r>
              <a:t>    loop = asyncio.get_running_loop()</a:t>
            </a:r>
            <a:br/>
            <a:r>
              <a:t>    result = await loop.run_in_executor(None, blocking_func)</a:t>
            </a:r>
            <a:br/>
            <a:r>
              <a:t>    print(result)</a:t>
            </a:r>
            <a:br/>
            <a:r>
              <a:t>asyncio.run(main())</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p:txBody>
          <a:bodyPr/>
          <a:lstStyle/>
          <a:p>
            <a:pPr algn="l">
              <a:defRPr sz="1500">
                <a:latin typeface="Courier New"/>
              </a:defRPr>
            </a:pPr>
            <a:r>
              <a:t>python -m venv .venv</a:t>
            </a:r>
            <a:br/>
            <a:r>
              <a:t>source .venv/bin/activate        # Windows: .venv\Scripts\activate</a:t>
            </a:r>
            <a:br/>
            <a:r>
              <a:t>python -m pip install -U pip setuptools wheel</a:t>
            </a:r>
            <a:br/>
            <a:r>
              <a:t>pip install -e .                 # looks for pyproject.toml</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lstStyle/>
          <a:p>
            <a:pPr algn="l">
              <a:defRPr sz="1500">
                <a:latin typeface="Courier New"/>
              </a:defRPr>
            </a:pPr>
            <a:r>
              <a:t>[build-system]</a:t>
            </a:r>
            <a:br/>
            <a:r>
              <a:t>requires = ["setuptools&gt;=64", "wheel"]</a:t>
            </a:r>
            <a:br/>
            <a:r>
              <a:t>build-backend = "setuptools.build_meta"</a:t>
            </a:r>
            <a:br/>
            <a:br/>
            <a:r>
              <a:t>[project]</a:t>
            </a:r>
            <a:br/>
            <a:r>
              <a:t>name = "myutils"</a:t>
            </a:r>
            <a:br/>
            <a:r>
              <a:t>version = "0.1.0"</a:t>
            </a:r>
            <a:br/>
            <a:r>
              <a:t>dependencies = ["requests&gt;=2.28"]</a:t>
            </a:r>
            <a:br/>
            <a:br/>
            <a:r>
              <a:t>[project.optional-dependencies]</a:t>
            </a:r>
            <a:br/>
            <a:r>
              <a:t>dev = ["pytest", "black", "mypy"]</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lstStyle/>
          <a:p>
            <a:pPr algn="l">
              <a:defRPr sz="1500">
                <a:latin typeface="Courier New"/>
              </a:defRPr>
            </a:pPr>
            <a:r>
              <a:t>pip install black flake8 mypy</a:t>
            </a:r>
            <a:br/>
            <a:r>
              <a:t>black src/ tests/</a:t>
            </a:r>
            <a:br/>
            <a:r>
              <a:t>flake8 src/</a:t>
            </a:r>
            <a:br/>
            <a:r>
              <a:t>mypy src/</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p:txBody>
          <a:bodyPr/>
          <a:lstStyle/>
          <a:p>
            <a:pPr algn="l">
              <a:defRPr sz="1500">
                <a:latin typeface="Courier New"/>
              </a:defRPr>
            </a:pPr>
            <a:r>
              <a:t># test_math_utils.py</a:t>
            </a:r>
            <a:br/>
            <a:r>
              <a:t>import pytest</a:t>
            </a:r>
            <a:br/>
            <a:r>
              <a:t>from myutils.math import clamp</a:t>
            </a:r>
            <a:br/>
            <a:r>
              <a:t>@pytest.mark.parametrize("x,lo,hi,e", [(5,0,10,5), (-5,0,10,0), (15,0,10,10)])</a:t>
            </a:r>
            <a:br/>
            <a:r>
              <a:t>def test_clamp(x, lo, hi, e): assert clamp(x, lo, hi) == e</a:t>
            </a:r>
            <a:br/>
            <a:r>
              <a:t># run</a:t>
            </a:r>
            <a:br/>
            <a:r>
              <a:t>pytest -q</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p:txBody>
          <a:bodyPr/>
          <a:lstStyle/>
          <a:p>
            <a:pPr algn="l">
              <a:defRPr sz="1500">
                <a:latin typeface="Courier New"/>
              </a:defRPr>
            </a:pPr>
            <a:r>
              <a:t>from typing import List, Dict, Optional</a:t>
            </a:r>
            <a:br/>
            <a:r>
              <a:t>def freq(words: List[str]) -&gt; Dict[str, int]:</a:t>
            </a:r>
            <a:br/>
            <a:r>
              <a:t>    counts: Dict[str, int] = {}</a:t>
            </a:r>
            <a:br/>
            <a:r>
              <a:t>    for w in words: counts[w] = counts.get(w, 0) + 1</a:t>
            </a:r>
            <a:br/>
            <a:r>
              <a:t>    return counts</a:t>
            </a:r>
            <a:br/>
            <a:r>
              <a:t>def find(uid: int) -&gt; Optional[str]: ...</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p:txBody>
          <a:bodyPr/>
          <a:lstStyle/>
          <a:p>
            <a:pPr algn="l">
              <a:defRPr sz="1500">
                <a:latin typeface="Courier New"/>
              </a:defRPr>
            </a:pPr>
            <a:r>
              <a:t>pip install ipython jupyterlab</a:t>
            </a:r>
            <a:br/>
            <a:r>
              <a:t>ipython                           # tab-completion, ? help, %magic</a:t>
            </a:r>
            <a:br/>
            <a:r>
              <a:t>jupyter lab                       # browser notebooks</a:t>
            </a:r>
            <a:br/>
            <a:r>
              <a:t># inside notebook</a:t>
            </a:r>
            <a:br/>
            <a:r>
              <a:t>%matplotlib inline</a:t>
            </a:r>
            <a:br/>
            <a:r>
              <a:t>import matplotlib.pyplot as plt</a:t>
            </a:r>
            <a:br/>
            <a:r>
              <a:t>plt.plot([1,2,3], [4,5,6])</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p:txBody>
          <a:bodyPr/>
          <a:lstStyle/>
          <a:p>
            <a:pPr algn="l">
              <a:defRPr sz="1500">
                <a:latin typeface="Courier New"/>
              </a:defRPr>
            </a:pPr>
            <a:r>
              <a:t>• Build a REST micro-service with FastAPI</a:t>
            </a:r>
            <a:br/>
            <a:r>
              <a:t>• Scrape + analyze live data with asyncio &amp; pandas</a:t>
            </a:r>
            <a:br/>
            <a:r>
              <a:t>• Automate your own boring tasks (rename photos, merge Excel)</a:t>
            </a:r>
            <a:br/>
            <a:r>
              <a:t>• Deploy a serverless function on AWS Lambda</a:t>
            </a:r>
            <a:br/>
            <a:r>
              <a:t>• Create a GUI desktop app with textual or PySide6</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p:txBody>
          <a:bodyPr/>
          <a:lstStyle/>
          <a:p>
            <a:pPr algn="l">
              <a:defRPr sz="1500">
                <a:latin typeface="Courier New"/>
              </a:defRPr>
            </a:pPr>
            <a:r>
              <a:t>Resources</a:t>
            </a:r>
            <a:br/>
            <a:r>
              <a:t>• docs.python.org/3/tutorial/</a:t>
            </a:r>
            <a:br/>
            <a:r>
              <a:t>• realpython.com</a:t>
            </a:r>
            <a:br/>
            <a:r>
              <a:t>• pypi.org – 450 k+ packages</a:t>
            </a:r>
            <a:br/>
            <a:r>
              <a:t>• github.com/python/cpython – read the source!</a:t>
            </a:r>
            <a:br/>
            <a:r>
              <a:t>• mastodon, /r/python, discord.gg/python</a:t>
            </a:r>
            <a:br/>
            <a:br/>
            <a:r>
              <a:t>Remember:</a:t>
            </a:r>
            <a:br/>
            <a:r>
              <a:t>Read code → Run code → Break code → Fix code → Repeat.</a:t>
            </a:r>
            <a:br/>
            <a:r>
              <a:t>Happy Pythoning! 🐍</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172</TotalTime>
  <Words>6758</Words>
  <Application>Microsoft Office PowerPoint</Application>
  <PresentationFormat>Custom</PresentationFormat>
  <Paragraphs>823</Paragraphs>
  <Slides>121</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121</vt:i4>
      </vt:variant>
    </vt:vector>
  </HeadingPairs>
  <TitlesOfParts>
    <vt:vector size="127" baseType="lpstr">
      <vt:lpstr>Arial Unicode MS</vt:lpstr>
      <vt:lpstr>Arial</vt:lpstr>
      <vt:lpstr>Calibri</vt:lpstr>
      <vt:lpstr>Courier New</vt:lpstr>
      <vt:lpstr>Wingdings</vt:lpstr>
      <vt:lpstr>Office Theme</vt:lpstr>
      <vt:lpstr>PYTHON CRASH COURSE</vt:lpstr>
      <vt:lpstr>Module 1  FOUNDATION</vt:lpstr>
      <vt:lpstr>About Python</vt:lpstr>
      <vt:lpstr>Why Python?</vt:lpstr>
      <vt:lpstr>Installing &amp; Running</vt:lpstr>
      <vt:lpstr>Progress</vt:lpstr>
      <vt:lpstr>Variables &amp; Dynamic Typing</vt:lpstr>
      <vt:lpstr>Variables Are References (Not Boxes)</vt:lpstr>
      <vt:lpstr>Changing the Object</vt:lpstr>
      <vt:lpstr>Contrast with Reassignment</vt:lpstr>
      <vt:lpstr>Dynamic Typing Explained</vt:lpstr>
      <vt:lpstr>Type Checking at Runtime</vt:lpstr>
      <vt:lpstr>Core Built-in Types</vt:lpstr>
      <vt:lpstr>Reassignment and Object Identity</vt:lpstr>
      <vt:lpstr>Numbers &amp; Operators</vt:lpstr>
      <vt:lpstr>Attributes and Methods</vt:lpstr>
      <vt:lpstr>Strings</vt:lpstr>
      <vt:lpstr>Strings – indexing, slicing, methods</vt:lpstr>
      <vt:lpstr>Booleans &amp; Truthiness</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What Is Control Flow?</vt:lpstr>
      <vt:lpstr>Conditional Statements (if)</vt:lpstr>
      <vt:lpstr>if–else Statements</vt:lpstr>
      <vt:lpstr>if–elif–else Chain</vt:lpstr>
      <vt:lpstr>Comparison Operators</vt:lpstr>
      <vt:lpstr>Logical Operators</vt:lpstr>
      <vt:lpstr>Truthy and Falsy Values</vt:lpstr>
      <vt:lpstr>Control Flow – if / elif / else</vt:lpstr>
      <vt:lpstr>What Is a Ternary Expression?</vt:lpstr>
      <vt:lpstr>Simple Example</vt:lpstr>
      <vt:lpstr>Ternary with Expressions</vt:lpstr>
      <vt:lpstr>Ternary with Function Calls</vt:lpstr>
      <vt:lpstr>Nested Ternary Expressions (Warning)</vt:lpstr>
      <vt:lpstr>Common Pitfall: Forgetting Else</vt:lpstr>
      <vt:lpstr>Ternary vs if–else</vt:lpstr>
      <vt:lpstr>Hands-On Exercise</vt:lpstr>
      <vt:lpstr>Solution</vt:lpstr>
      <vt:lpstr>for Loops</vt:lpstr>
      <vt:lpstr>Looping Through Collections</vt:lpstr>
      <vt:lpstr>while Loops</vt:lpstr>
      <vt:lpstr>break and continue</vt:lpstr>
      <vt:lpstr>Nested Control Flow</vt:lpstr>
      <vt:lpstr>Common Mistakes</vt:lpstr>
      <vt:lpstr>When to Use What</vt:lpstr>
      <vt:lpstr>Hands-On Exercise</vt:lpstr>
      <vt:lpstr>Key Takeaways</vt:lpstr>
      <vt:lpstr>Solution</vt:lpstr>
      <vt:lpstr>Loops – for &amp; while</vt:lpstr>
      <vt:lpstr>Discussion</vt:lpstr>
      <vt:lpstr>Answers</vt:lpstr>
      <vt:lpstr>Break, Continue, Else</vt:lpstr>
      <vt:lpstr>What Is a Function?</vt:lpstr>
      <vt:lpstr>Why Use Functions?</vt:lpstr>
      <vt:lpstr>Defining Functions</vt:lpstr>
      <vt:lpstr>Calling a Function</vt:lpstr>
      <vt:lpstr>Functions with Parameters</vt:lpstr>
      <vt:lpstr>Return Values</vt:lpstr>
      <vt:lpstr>Multiple Parameters</vt:lpstr>
      <vt:lpstr>Default Values</vt:lpstr>
      <vt:lpstr>Keyword Arguments</vt:lpstr>
      <vt:lpstr>Scope: Local vs Global</vt:lpstr>
      <vt:lpstr>Docstrings</vt:lpstr>
      <vt:lpstr>What Are *args and **kwargs?</vt:lpstr>
      <vt:lpstr>Using *args</vt:lpstr>
      <vt:lpstr>Using **kwargs</vt:lpstr>
      <vt:lpstr>Combining *args and **kwargs</vt:lpstr>
      <vt:lpstr>When to Use Them</vt:lpstr>
      <vt:lpstr>Hands-On Exercise</vt:lpstr>
      <vt:lpstr>Solution</vt:lpstr>
      <vt:lpstr>When to Create a Function</vt:lpstr>
      <vt:lpstr>Hands-On Exercise</vt:lpstr>
      <vt:lpstr>Exercise Solution</vt:lpstr>
      <vt:lpstr>Key Takeaways</vt:lpstr>
      <vt:lpstr>Multiple Returns</vt:lpstr>
      <vt:lpstr>*args  **kwargs</vt:lpstr>
      <vt:lpstr>Lambda &amp; Sorted</vt:lpstr>
      <vt:lpstr>Mini-Project: CLI Calculator</vt:lpstr>
      <vt:lpstr>Module 2  INTERMEDIATE</vt:lpstr>
      <vt:lpstr>Object-Oriented Programming – Classes</vt:lpstr>
      <vt:lpstr>Encapsulation &amp; Private Attributes</vt:lpstr>
      <vt:lpstr>Inheritance &amp; Polymorphism</vt:lpstr>
      <vt:lpstr>super() &amp; Cooperative Multiple Inheritance</vt:lpstr>
      <vt:lpstr>Dunder (Magic) Methods</vt:lpstr>
      <vt:lpstr>Modules – Creating &amp; Importing</vt:lpstr>
      <vt:lpstr>Import Patterns &amp; Aliases</vt:lpstr>
      <vt:lpstr>File I/O – Text &amp; CSV</vt:lpstr>
      <vt:lpstr>pathlib vs os.path</vt:lpstr>
      <vt:lpstr>JSON Serialization</vt:lpstr>
      <vt:lpstr>Mini-Project: Contact Manager</vt:lpstr>
      <vt:lpstr>Module 3  ADVANCED</vt:lpstr>
      <vt:lpstr>Decorators – Function Wrappers</vt:lpstr>
      <vt:lpstr>Decorators with Arguments</vt:lpstr>
      <vt:lpstr>Timing &amp; Caching Decorators</vt:lpstr>
      <vt:lpstr>Generators – Lazy Iteration</vt:lpstr>
      <vt:lpstr>Reading Giant Files</vt:lpstr>
      <vt:lpstr>Concurrency Landscape</vt:lpstr>
      <vt:lpstr>threading – Download Many Images</vt:lpstr>
      <vt:lpstr>multiprocessing – CPU-bound Pi Monte-Carlo</vt:lpstr>
      <vt:lpstr>asyncio – Concurrent HTTP with aiohttp</vt:lpstr>
      <vt:lpstr>Mixing sync ↔ async</vt:lpstr>
      <vt:lpstr>Virtual Environments &amp; Packaging</vt:lpstr>
      <vt:lpstr>pyproject.toml</vt:lpstr>
      <vt:lpstr>Linting &amp; Formatting</vt:lpstr>
      <vt:lpstr>Testing with pytest</vt:lpstr>
      <vt:lpstr>Type Hints – Gradual Typing</vt:lpstr>
      <vt:lpstr>Rich REPL with ipython + jupyter</vt:lpstr>
      <vt:lpstr>Final Capstone Ideas</vt:lpstr>
      <vt:lpstr>Keep Climbing</vt:lpstr>
      <vt:lpstr>Appendix  Tooling &amp; Eco-system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28</cp:revision>
  <dcterms:created xsi:type="dcterms:W3CDTF">2013-01-27T09:14:16Z</dcterms:created>
  <dcterms:modified xsi:type="dcterms:W3CDTF">2025-12-17T05:00:06Z</dcterms:modified>
  <cp:category/>
</cp:coreProperties>
</file>