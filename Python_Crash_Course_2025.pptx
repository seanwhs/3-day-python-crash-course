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99"/>
  </p:notesMasterIdLst>
  <p:sldIdLst>
    <p:sldId id="256" r:id="rId2"/>
    <p:sldId id="257" r:id="rId3"/>
    <p:sldId id="258" r:id="rId4"/>
    <p:sldId id="259" r:id="rId5"/>
    <p:sldId id="307" r:id="rId6"/>
    <p:sldId id="260" r:id="rId7"/>
    <p:sldId id="309" r:id="rId8"/>
    <p:sldId id="321" r:id="rId9"/>
    <p:sldId id="322" r:id="rId10"/>
    <p:sldId id="310" r:id="rId11"/>
    <p:sldId id="311" r:id="rId12"/>
    <p:sldId id="261" r:id="rId13"/>
    <p:sldId id="312" r:id="rId14"/>
    <p:sldId id="262" r:id="rId15"/>
    <p:sldId id="263" r:id="rId16"/>
    <p:sldId id="264" r:id="rId17"/>
    <p:sldId id="265" r:id="rId18"/>
    <p:sldId id="313" r:id="rId19"/>
    <p:sldId id="314" r:id="rId20"/>
    <p:sldId id="315" r:id="rId21"/>
    <p:sldId id="316" r:id="rId22"/>
    <p:sldId id="317" r:id="rId23"/>
    <p:sldId id="318" r:id="rId24"/>
    <p:sldId id="319" r:id="rId25"/>
    <p:sldId id="320" r:id="rId26"/>
    <p:sldId id="323" r:id="rId27"/>
    <p:sldId id="324" r:id="rId28"/>
    <p:sldId id="325" r:id="rId29"/>
    <p:sldId id="326" r:id="rId30"/>
    <p:sldId id="327" r:id="rId31"/>
    <p:sldId id="328" r:id="rId32"/>
    <p:sldId id="329" r:id="rId33"/>
    <p:sldId id="330" r:id="rId34"/>
    <p:sldId id="331" r:id="rId35"/>
    <p:sldId id="332" r:id="rId36"/>
    <p:sldId id="333" r:id="rId37"/>
    <p:sldId id="266" r:id="rId38"/>
    <p:sldId id="344" r:id="rId39"/>
    <p:sldId id="345" r:id="rId40"/>
    <p:sldId id="346" r:id="rId41"/>
    <p:sldId id="347" r:id="rId42"/>
    <p:sldId id="348" r:id="rId43"/>
    <p:sldId id="349" r:id="rId44"/>
    <p:sldId id="350" r:id="rId45"/>
    <p:sldId id="351" r:id="rId46"/>
    <p:sldId id="352" r:id="rId47"/>
    <p:sldId id="334" r:id="rId48"/>
    <p:sldId id="335" r:id="rId49"/>
    <p:sldId id="336" r:id="rId50"/>
    <p:sldId id="337" r:id="rId51"/>
    <p:sldId id="338" r:id="rId52"/>
    <p:sldId id="339" r:id="rId53"/>
    <p:sldId id="340" r:id="rId54"/>
    <p:sldId id="341" r:id="rId55"/>
    <p:sldId id="342" r:id="rId56"/>
    <p:sldId id="343" r:id="rId57"/>
    <p:sldId id="268" r:id="rId58"/>
    <p:sldId id="353" r:id="rId59"/>
    <p:sldId id="354" r:id="rId60"/>
    <p:sldId id="269" r:id="rId61"/>
    <p:sldId id="270" r:id="rId62"/>
    <p:sldId id="271" r:id="rId63"/>
    <p:sldId id="272" r:id="rId64"/>
    <p:sldId id="273" r:id="rId65"/>
    <p:sldId id="274" r:id="rId66"/>
    <p:sldId id="275" r:id="rId67"/>
    <p:sldId id="276" r:id="rId68"/>
    <p:sldId id="277" r:id="rId69"/>
    <p:sldId id="278" r:id="rId70"/>
    <p:sldId id="279" r:id="rId71"/>
    <p:sldId id="280" r:id="rId72"/>
    <p:sldId id="281" r:id="rId73"/>
    <p:sldId id="282" r:id="rId74"/>
    <p:sldId id="283" r:id="rId75"/>
    <p:sldId id="284" r:id="rId76"/>
    <p:sldId id="285" r:id="rId77"/>
    <p:sldId id="286" r:id="rId78"/>
    <p:sldId id="287" r:id="rId79"/>
    <p:sldId id="288" r:id="rId80"/>
    <p:sldId id="289" r:id="rId81"/>
    <p:sldId id="290" r:id="rId82"/>
    <p:sldId id="291" r:id="rId83"/>
    <p:sldId id="292" r:id="rId84"/>
    <p:sldId id="293" r:id="rId85"/>
    <p:sldId id="294" r:id="rId86"/>
    <p:sldId id="295" r:id="rId87"/>
    <p:sldId id="296" r:id="rId88"/>
    <p:sldId id="297" r:id="rId89"/>
    <p:sldId id="298" r:id="rId90"/>
    <p:sldId id="299" r:id="rId91"/>
    <p:sldId id="300" r:id="rId92"/>
    <p:sldId id="301" r:id="rId93"/>
    <p:sldId id="302" r:id="rId94"/>
    <p:sldId id="303" r:id="rId95"/>
    <p:sldId id="304" r:id="rId96"/>
    <p:sldId id="305" r:id="rId97"/>
    <p:sldId id="306" r:id="rId98"/>
  </p:sldIdLst>
  <p:sldSz cx="12188825"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80057" autoAdjust="0"/>
  </p:normalViewPr>
  <p:slideViewPr>
    <p:cSldViewPr snapToGrid="0" snapToObjects="1">
      <p:cViewPr varScale="1">
        <p:scale>
          <a:sx n="50" d="100"/>
          <a:sy n="50" d="100"/>
        </p:scale>
        <p:origin x="1260" y="44"/>
      </p:cViewPr>
      <p:guideLst>
        <p:guide orient="horz" pos="2160"/>
        <p:guide pos="2880"/>
      </p:guideLst>
    </p:cSldViewPr>
  </p:slideViewPr>
  <p:notesTextViewPr>
    <p:cViewPr>
      <p:scale>
        <a:sx n="100" d="100"/>
        <a:sy n="100" d="100"/>
      </p:scale>
      <p:origin x="0" y="0"/>
    </p:cViewPr>
  </p:notesTextViewPr>
  <p:sorterViewPr>
    <p:cViewPr>
      <p:scale>
        <a:sx n="100" d="100"/>
        <a:sy n="100" d="100"/>
      </p:scale>
      <p:origin x="0" y="-1324"/>
    </p:cViewPr>
  </p:sorter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theme" Target="theme/theme1.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80" Type="http://schemas.openxmlformats.org/officeDocument/2006/relationships/slide" Target="slides/slide79.xml"/><Relationship Id="rId85" Type="http://schemas.openxmlformats.org/officeDocument/2006/relationships/slide" Target="slides/slide84.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103" Type="http://schemas.openxmlformats.org/officeDocument/2006/relationships/tableStyles" Target="tableStyles.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slide" Target="slides/slide87.xml"/><Relationship Id="rId91" Type="http://schemas.openxmlformats.org/officeDocument/2006/relationships/slide" Target="slides/slide90.xml"/><Relationship Id="rId96" Type="http://schemas.openxmlformats.org/officeDocument/2006/relationships/slide" Target="slides/slide95.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94" Type="http://schemas.openxmlformats.org/officeDocument/2006/relationships/slide" Target="slides/slide93.xml"/><Relationship Id="rId99" Type="http://schemas.openxmlformats.org/officeDocument/2006/relationships/notesMaster" Target="notesMasters/notesMaster1.xml"/><Relationship Id="rId101"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presProps" Target="presProps.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3"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SG"/>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847F055-BE3B-4DDE-B584-F65E45379EC7}" type="datetimeFigureOut">
              <a:rPr lang="en-SG" smtClean="0"/>
              <a:t>17/12/2025</a:t>
            </a:fld>
            <a:endParaRPr lang="en-SG"/>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SG"/>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SG"/>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SG"/>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F57C094-21CE-47C2-B85E-15CC2B32E4F0}" type="slidenum">
              <a:rPr lang="en-SG" smtClean="0"/>
              <a:t>‹#›</a:t>
            </a:fld>
            <a:endParaRPr lang="en-SG"/>
          </a:p>
        </p:txBody>
      </p:sp>
    </p:spTree>
    <p:extLst>
      <p:ext uri="{BB962C8B-B14F-4D97-AF65-F5344CB8AC3E}">
        <p14:creationId xmlns:p14="http://schemas.microsoft.com/office/powerpoint/2010/main" val="137209893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we understand the “hello, world” command and how to run it from an interactive Python. But serious Python programs can’t be typed in live; they need to be kept in a file and Python needs to be directed to run the commands from that file. These files are called “scripts” and we are now going to look at the Python script version of “hello, world”. </a:t>
            </a:r>
            <a:endParaRPr lang="en-SG" dirty="0"/>
          </a:p>
        </p:txBody>
      </p:sp>
      <p:sp>
        <p:nvSpPr>
          <p:cNvPr id="4" name="Slide Number Placeholder 3"/>
          <p:cNvSpPr>
            <a:spLocks noGrp="1"/>
          </p:cNvSpPr>
          <p:nvPr>
            <p:ph type="sldNum" sz="quarter" idx="5"/>
          </p:nvPr>
        </p:nvSpPr>
        <p:spPr/>
        <p:txBody>
          <a:bodyPr/>
          <a:lstStyle/>
          <a:p>
            <a:fld id="{4F57C094-21CE-47C2-B85E-15CC2B32E4F0}" type="slidenum">
              <a:rPr lang="en-SG" smtClean="0"/>
              <a:t>4</a:t>
            </a:fld>
            <a:endParaRPr lang="en-SG"/>
          </a:p>
        </p:txBody>
      </p:sp>
    </p:spTree>
    <p:extLst>
      <p:ext uri="{BB962C8B-B14F-4D97-AF65-F5344CB8AC3E}">
        <p14:creationId xmlns:p14="http://schemas.microsoft.com/office/powerpoint/2010/main" val="173250051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SG" dirty="0"/>
          </a:p>
        </p:txBody>
      </p:sp>
      <p:sp>
        <p:nvSpPr>
          <p:cNvPr id="4" name="Slide Number Placeholder 3"/>
          <p:cNvSpPr>
            <a:spLocks noGrp="1"/>
          </p:cNvSpPr>
          <p:nvPr>
            <p:ph type="sldNum" sz="quarter" idx="5"/>
          </p:nvPr>
        </p:nvSpPr>
        <p:spPr/>
        <p:txBody>
          <a:bodyPr/>
          <a:lstStyle/>
          <a:p>
            <a:fld id="{4F57C094-21CE-47C2-B85E-15CC2B32E4F0}" type="slidenum">
              <a:rPr lang="en-SG" smtClean="0"/>
              <a:t>30</a:t>
            </a:fld>
            <a:endParaRPr lang="en-SG"/>
          </a:p>
        </p:txBody>
      </p:sp>
    </p:spTree>
    <p:extLst>
      <p:ext uri="{BB962C8B-B14F-4D97-AF65-F5344CB8AC3E}">
        <p14:creationId xmlns:p14="http://schemas.microsoft.com/office/powerpoint/2010/main" val="60736400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SG" dirty="0"/>
          </a:p>
        </p:txBody>
      </p:sp>
      <p:sp>
        <p:nvSpPr>
          <p:cNvPr id="4" name="Slide Number Placeholder 3"/>
          <p:cNvSpPr>
            <a:spLocks noGrp="1"/>
          </p:cNvSpPr>
          <p:nvPr>
            <p:ph type="sldNum" sz="quarter" idx="5"/>
          </p:nvPr>
        </p:nvSpPr>
        <p:spPr/>
        <p:txBody>
          <a:bodyPr/>
          <a:lstStyle/>
          <a:p>
            <a:fld id="{4F57C094-21CE-47C2-B85E-15CC2B32E4F0}" type="slidenum">
              <a:rPr lang="en-SG" smtClean="0"/>
              <a:t>35</a:t>
            </a:fld>
            <a:endParaRPr lang="en-SG"/>
          </a:p>
        </p:txBody>
      </p:sp>
    </p:spTree>
    <p:extLst>
      <p:ext uri="{BB962C8B-B14F-4D97-AF65-F5344CB8AC3E}">
        <p14:creationId xmlns:p14="http://schemas.microsoft.com/office/powerpoint/2010/main" val="322190666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8A53B0-D229-1441-D3CB-89F197CDB5A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3DD59E0-E54D-2E4C-9B24-04C919908DD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A968636-9AC4-3128-F747-BEE07DB461DB}"/>
              </a:ext>
            </a:extLst>
          </p:cNvPr>
          <p:cNvSpPr>
            <a:spLocks noGrp="1"/>
          </p:cNvSpPr>
          <p:nvPr>
            <p:ph type="body" idx="1"/>
          </p:nvPr>
        </p:nvSpPr>
        <p:spPr/>
        <p:txBody>
          <a:bodyPr/>
          <a:lstStyle/>
          <a:p>
            <a:endParaRPr lang="en-SG" dirty="0"/>
          </a:p>
        </p:txBody>
      </p:sp>
      <p:sp>
        <p:nvSpPr>
          <p:cNvPr id="4" name="Slide Number Placeholder 3">
            <a:extLst>
              <a:ext uri="{FF2B5EF4-FFF2-40B4-BE49-F238E27FC236}">
                <a16:creationId xmlns:a16="http://schemas.microsoft.com/office/drawing/2014/main" id="{9521A5A7-A5AB-1FAE-A33C-C11BA5A948A0}"/>
              </a:ext>
            </a:extLst>
          </p:cNvPr>
          <p:cNvSpPr>
            <a:spLocks noGrp="1"/>
          </p:cNvSpPr>
          <p:nvPr>
            <p:ph type="sldNum" sz="quarter" idx="5"/>
          </p:nvPr>
        </p:nvSpPr>
        <p:spPr/>
        <p:txBody>
          <a:bodyPr/>
          <a:lstStyle/>
          <a:p>
            <a:fld id="{4F57C094-21CE-47C2-B85E-15CC2B32E4F0}" type="slidenum">
              <a:rPr lang="en-SG" smtClean="0"/>
              <a:t>36</a:t>
            </a:fld>
            <a:endParaRPr lang="en-SG"/>
          </a:p>
        </p:txBody>
      </p:sp>
    </p:spTree>
    <p:extLst>
      <p:ext uri="{BB962C8B-B14F-4D97-AF65-F5344CB8AC3E}">
        <p14:creationId xmlns:p14="http://schemas.microsoft.com/office/powerpoint/2010/main" val="300433459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C1725F-836A-060E-BFB6-1F4F04DDCFF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6915E54-805D-9E60-9438-4E77E4A6CBA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FE96F9F-700C-9156-04D4-68833EB8DD3E}"/>
              </a:ext>
            </a:extLst>
          </p:cNvPr>
          <p:cNvSpPr>
            <a:spLocks noGrp="1"/>
          </p:cNvSpPr>
          <p:nvPr>
            <p:ph type="body" idx="1"/>
          </p:nvPr>
        </p:nvSpPr>
        <p:spPr/>
        <p:txBody>
          <a:bodyPr/>
          <a:lstStyle/>
          <a:p>
            <a:endParaRPr lang="en-SG" dirty="0"/>
          </a:p>
        </p:txBody>
      </p:sp>
      <p:sp>
        <p:nvSpPr>
          <p:cNvPr id="4" name="Slide Number Placeholder 3">
            <a:extLst>
              <a:ext uri="{FF2B5EF4-FFF2-40B4-BE49-F238E27FC236}">
                <a16:creationId xmlns:a16="http://schemas.microsoft.com/office/drawing/2014/main" id="{3B7FB651-D9A8-0289-0A3E-2D82D9830132}"/>
              </a:ext>
            </a:extLst>
          </p:cNvPr>
          <p:cNvSpPr>
            <a:spLocks noGrp="1"/>
          </p:cNvSpPr>
          <p:nvPr>
            <p:ph type="sldNum" sz="quarter" idx="5"/>
          </p:nvPr>
        </p:nvSpPr>
        <p:spPr/>
        <p:txBody>
          <a:bodyPr/>
          <a:lstStyle/>
          <a:p>
            <a:fld id="{4F57C094-21CE-47C2-B85E-15CC2B32E4F0}" type="slidenum">
              <a:rPr lang="en-SG" smtClean="0"/>
              <a:t>39</a:t>
            </a:fld>
            <a:endParaRPr lang="en-SG"/>
          </a:p>
        </p:txBody>
      </p:sp>
    </p:spTree>
    <p:extLst>
      <p:ext uri="{BB962C8B-B14F-4D97-AF65-F5344CB8AC3E}">
        <p14:creationId xmlns:p14="http://schemas.microsoft.com/office/powerpoint/2010/main" val="412778319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8BD563-23DC-D4FF-D080-93B15EE7A65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D2F4651-359E-3981-0C4F-A5708A83180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45B7E35-C0F4-9B7A-E72C-8021E97D6D10}"/>
              </a:ext>
            </a:extLst>
          </p:cNvPr>
          <p:cNvSpPr>
            <a:spLocks noGrp="1"/>
          </p:cNvSpPr>
          <p:nvPr>
            <p:ph type="body" idx="1"/>
          </p:nvPr>
        </p:nvSpPr>
        <p:spPr/>
        <p:txBody>
          <a:bodyPr/>
          <a:lstStyle/>
          <a:p>
            <a:endParaRPr lang="en-SG" dirty="0"/>
          </a:p>
        </p:txBody>
      </p:sp>
      <p:sp>
        <p:nvSpPr>
          <p:cNvPr id="4" name="Slide Number Placeholder 3">
            <a:extLst>
              <a:ext uri="{FF2B5EF4-FFF2-40B4-BE49-F238E27FC236}">
                <a16:creationId xmlns:a16="http://schemas.microsoft.com/office/drawing/2014/main" id="{9DF7F3BD-F8BF-9FD0-C605-18C940493D9A}"/>
              </a:ext>
            </a:extLst>
          </p:cNvPr>
          <p:cNvSpPr>
            <a:spLocks noGrp="1"/>
          </p:cNvSpPr>
          <p:nvPr>
            <p:ph type="sldNum" sz="quarter" idx="5"/>
          </p:nvPr>
        </p:nvSpPr>
        <p:spPr/>
        <p:txBody>
          <a:bodyPr/>
          <a:lstStyle/>
          <a:p>
            <a:fld id="{4F57C094-21CE-47C2-B85E-15CC2B32E4F0}" type="slidenum">
              <a:rPr lang="en-SG" smtClean="0"/>
              <a:t>40</a:t>
            </a:fld>
            <a:endParaRPr lang="en-SG"/>
          </a:p>
        </p:txBody>
      </p:sp>
    </p:spTree>
    <p:extLst>
      <p:ext uri="{BB962C8B-B14F-4D97-AF65-F5344CB8AC3E}">
        <p14:creationId xmlns:p14="http://schemas.microsoft.com/office/powerpoint/2010/main" val="26744156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9A86C9-D0DE-C449-E394-FF86DB87076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6E7A182-AE34-5AAF-923C-AED111617D8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CB41809-51C9-7634-2A25-4E0FE4366F08}"/>
              </a:ext>
            </a:extLst>
          </p:cNvPr>
          <p:cNvSpPr>
            <a:spLocks noGrp="1"/>
          </p:cNvSpPr>
          <p:nvPr>
            <p:ph type="body" idx="1"/>
          </p:nvPr>
        </p:nvSpPr>
        <p:spPr/>
        <p:txBody>
          <a:bodyPr/>
          <a:lstStyle/>
          <a:p>
            <a:endParaRPr lang="en-SG" dirty="0"/>
          </a:p>
        </p:txBody>
      </p:sp>
      <p:sp>
        <p:nvSpPr>
          <p:cNvPr id="4" name="Slide Number Placeholder 3">
            <a:extLst>
              <a:ext uri="{FF2B5EF4-FFF2-40B4-BE49-F238E27FC236}">
                <a16:creationId xmlns:a16="http://schemas.microsoft.com/office/drawing/2014/main" id="{63DDA498-440B-5478-8295-205B2BB12201}"/>
              </a:ext>
            </a:extLst>
          </p:cNvPr>
          <p:cNvSpPr>
            <a:spLocks noGrp="1"/>
          </p:cNvSpPr>
          <p:nvPr>
            <p:ph type="sldNum" sz="quarter" idx="5"/>
          </p:nvPr>
        </p:nvSpPr>
        <p:spPr/>
        <p:txBody>
          <a:bodyPr/>
          <a:lstStyle/>
          <a:p>
            <a:fld id="{4F57C094-21CE-47C2-B85E-15CC2B32E4F0}" type="slidenum">
              <a:rPr lang="en-SG" smtClean="0"/>
              <a:t>41</a:t>
            </a:fld>
            <a:endParaRPr lang="en-SG"/>
          </a:p>
        </p:txBody>
      </p:sp>
    </p:spTree>
    <p:extLst>
      <p:ext uri="{BB962C8B-B14F-4D97-AF65-F5344CB8AC3E}">
        <p14:creationId xmlns:p14="http://schemas.microsoft.com/office/powerpoint/2010/main" val="24487546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E0C23B-CF57-F971-A3E2-FA91D940705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3F92111-C9CB-0330-C9C9-78498709A9E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5B55F4D-9C64-B3D6-450A-A113597D5946}"/>
              </a:ext>
            </a:extLst>
          </p:cNvPr>
          <p:cNvSpPr>
            <a:spLocks noGrp="1"/>
          </p:cNvSpPr>
          <p:nvPr>
            <p:ph type="body" idx="1"/>
          </p:nvPr>
        </p:nvSpPr>
        <p:spPr/>
        <p:txBody>
          <a:bodyPr/>
          <a:lstStyle/>
          <a:p>
            <a:endParaRPr lang="en-SG" dirty="0"/>
          </a:p>
        </p:txBody>
      </p:sp>
      <p:sp>
        <p:nvSpPr>
          <p:cNvPr id="4" name="Slide Number Placeholder 3">
            <a:extLst>
              <a:ext uri="{FF2B5EF4-FFF2-40B4-BE49-F238E27FC236}">
                <a16:creationId xmlns:a16="http://schemas.microsoft.com/office/drawing/2014/main" id="{8869E19A-B909-281D-CEF7-73182D4D195E}"/>
              </a:ext>
            </a:extLst>
          </p:cNvPr>
          <p:cNvSpPr>
            <a:spLocks noGrp="1"/>
          </p:cNvSpPr>
          <p:nvPr>
            <p:ph type="sldNum" sz="quarter" idx="5"/>
          </p:nvPr>
        </p:nvSpPr>
        <p:spPr/>
        <p:txBody>
          <a:bodyPr/>
          <a:lstStyle/>
          <a:p>
            <a:fld id="{4F57C094-21CE-47C2-B85E-15CC2B32E4F0}" type="slidenum">
              <a:rPr lang="en-SG" smtClean="0"/>
              <a:t>42</a:t>
            </a:fld>
            <a:endParaRPr lang="en-SG"/>
          </a:p>
        </p:txBody>
      </p:sp>
    </p:spTree>
    <p:extLst>
      <p:ext uri="{BB962C8B-B14F-4D97-AF65-F5344CB8AC3E}">
        <p14:creationId xmlns:p14="http://schemas.microsoft.com/office/powerpoint/2010/main" val="421591918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3E481F-DF8B-5F1D-618C-587B1D3361E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4E1F19B-D02F-6DE5-4CA1-FF2669D1655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8D010F8-C3AB-6C31-56D0-B908BCA0369C}"/>
              </a:ext>
            </a:extLst>
          </p:cNvPr>
          <p:cNvSpPr>
            <a:spLocks noGrp="1"/>
          </p:cNvSpPr>
          <p:nvPr>
            <p:ph type="body" idx="1"/>
          </p:nvPr>
        </p:nvSpPr>
        <p:spPr/>
        <p:txBody>
          <a:bodyPr/>
          <a:lstStyle/>
          <a:p>
            <a:endParaRPr lang="en-SG" dirty="0"/>
          </a:p>
        </p:txBody>
      </p:sp>
      <p:sp>
        <p:nvSpPr>
          <p:cNvPr id="4" name="Slide Number Placeholder 3">
            <a:extLst>
              <a:ext uri="{FF2B5EF4-FFF2-40B4-BE49-F238E27FC236}">
                <a16:creationId xmlns:a16="http://schemas.microsoft.com/office/drawing/2014/main" id="{24D708F7-5634-E3A4-E2A1-08658D746FA5}"/>
              </a:ext>
            </a:extLst>
          </p:cNvPr>
          <p:cNvSpPr>
            <a:spLocks noGrp="1"/>
          </p:cNvSpPr>
          <p:nvPr>
            <p:ph type="sldNum" sz="quarter" idx="5"/>
          </p:nvPr>
        </p:nvSpPr>
        <p:spPr/>
        <p:txBody>
          <a:bodyPr/>
          <a:lstStyle/>
          <a:p>
            <a:fld id="{4F57C094-21CE-47C2-B85E-15CC2B32E4F0}" type="slidenum">
              <a:rPr lang="en-SG" smtClean="0"/>
              <a:t>43</a:t>
            </a:fld>
            <a:endParaRPr lang="en-SG"/>
          </a:p>
        </p:txBody>
      </p:sp>
    </p:spTree>
    <p:extLst>
      <p:ext uri="{BB962C8B-B14F-4D97-AF65-F5344CB8AC3E}">
        <p14:creationId xmlns:p14="http://schemas.microsoft.com/office/powerpoint/2010/main" val="23735560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D15068-DA73-AB27-8634-D333E6F5855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E6A6B5D-BE7B-240E-E882-9C2C00DCAF9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5F148ED-3F87-A508-269C-DE3AEE8CD863}"/>
              </a:ext>
            </a:extLst>
          </p:cNvPr>
          <p:cNvSpPr>
            <a:spLocks noGrp="1"/>
          </p:cNvSpPr>
          <p:nvPr>
            <p:ph type="body" idx="1"/>
          </p:nvPr>
        </p:nvSpPr>
        <p:spPr/>
        <p:txBody>
          <a:bodyPr/>
          <a:lstStyle/>
          <a:p>
            <a:endParaRPr lang="en-SG" dirty="0"/>
          </a:p>
        </p:txBody>
      </p:sp>
      <p:sp>
        <p:nvSpPr>
          <p:cNvPr id="4" name="Slide Number Placeholder 3">
            <a:extLst>
              <a:ext uri="{FF2B5EF4-FFF2-40B4-BE49-F238E27FC236}">
                <a16:creationId xmlns:a16="http://schemas.microsoft.com/office/drawing/2014/main" id="{1E572950-7BF9-96C5-D0F1-0645EF7433D1}"/>
              </a:ext>
            </a:extLst>
          </p:cNvPr>
          <p:cNvSpPr>
            <a:spLocks noGrp="1"/>
          </p:cNvSpPr>
          <p:nvPr>
            <p:ph type="sldNum" sz="quarter" idx="5"/>
          </p:nvPr>
        </p:nvSpPr>
        <p:spPr/>
        <p:txBody>
          <a:bodyPr/>
          <a:lstStyle/>
          <a:p>
            <a:fld id="{4F57C094-21CE-47C2-B85E-15CC2B32E4F0}" type="slidenum">
              <a:rPr lang="en-SG" smtClean="0"/>
              <a:t>47</a:t>
            </a:fld>
            <a:endParaRPr lang="en-SG"/>
          </a:p>
        </p:txBody>
      </p:sp>
    </p:spTree>
    <p:extLst>
      <p:ext uri="{BB962C8B-B14F-4D97-AF65-F5344CB8AC3E}">
        <p14:creationId xmlns:p14="http://schemas.microsoft.com/office/powerpoint/2010/main" val="263466660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C7FA06-8C96-6D2C-855C-DE73EF0CDD4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9CD1D36-CE97-3F63-A78F-2CB5F4796BE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D0EA971-B4BD-6E28-239D-3C64ABEBDEA0}"/>
              </a:ext>
            </a:extLst>
          </p:cNvPr>
          <p:cNvSpPr>
            <a:spLocks noGrp="1"/>
          </p:cNvSpPr>
          <p:nvPr>
            <p:ph type="body" idx="1"/>
          </p:nvPr>
        </p:nvSpPr>
        <p:spPr/>
        <p:txBody>
          <a:bodyPr/>
          <a:lstStyle/>
          <a:p>
            <a:endParaRPr lang="en-SG" dirty="0"/>
          </a:p>
        </p:txBody>
      </p:sp>
      <p:sp>
        <p:nvSpPr>
          <p:cNvPr id="4" name="Slide Number Placeholder 3">
            <a:extLst>
              <a:ext uri="{FF2B5EF4-FFF2-40B4-BE49-F238E27FC236}">
                <a16:creationId xmlns:a16="http://schemas.microsoft.com/office/drawing/2014/main" id="{1900478B-9C97-98D3-EDF3-4DE080907EBB}"/>
              </a:ext>
            </a:extLst>
          </p:cNvPr>
          <p:cNvSpPr>
            <a:spLocks noGrp="1"/>
          </p:cNvSpPr>
          <p:nvPr>
            <p:ph type="sldNum" sz="quarter" idx="5"/>
          </p:nvPr>
        </p:nvSpPr>
        <p:spPr/>
        <p:txBody>
          <a:bodyPr/>
          <a:lstStyle/>
          <a:p>
            <a:fld id="{4F57C094-21CE-47C2-B85E-15CC2B32E4F0}" type="slidenum">
              <a:rPr lang="en-SG" smtClean="0"/>
              <a:t>49</a:t>
            </a:fld>
            <a:endParaRPr lang="en-SG"/>
          </a:p>
        </p:txBody>
      </p:sp>
    </p:spTree>
    <p:extLst>
      <p:ext uri="{BB962C8B-B14F-4D97-AF65-F5344CB8AC3E}">
        <p14:creationId xmlns:p14="http://schemas.microsoft.com/office/powerpoint/2010/main" val="318108670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7B66E5-08BB-AFAA-6D43-830DAC5C983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71C90FC-9E8C-71DC-39B5-1AD97AC7E8F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F4B824E-90A5-3E23-2DDD-CC31B82A491F}"/>
              </a:ext>
            </a:extLst>
          </p:cNvPr>
          <p:cNvSpPr>
            <a:spLocks noGrp="1"/>
          </p:cNvSpPr>
          <p:nvPr>
            <p:ph type="body" idx="1"/>
          </p:nvPr>
        </p:nvSpPr>
        <p:spPr/>
        <p:txBody>
          <a:bodyPr/>
          <a:lstStyle/>
          <a:p>
            <a:endParaRPr lang="en-SG" dirty="0"/>
          </a:p>
        </p:txBody>
      </p:sp>
      <p:sp>
        <p:nvSpPr>
          <p:cNvPr id="4" name="Slide Number Placeholder 3">
            <a:extLst>
              <a:ext uri="{FF2B5EF4-FFF2-40B4-BE49-F238E27FC236}">
                <a16:creationId xmlns:a16="http://schemas.microsoft.com/office/drawing/2014/main" id="{FDF8BFA4-761F-65B7-5034-F48FC020C51D}"/>
              </a:ext>
            </a:extLst>
          </p:cNvPr>
          <p:cNvSpPr>
            <a:spLocks noGrp="1"/>
          </p:cNvSpPr>
          <p:nvPr>
            <p:ph type="sldNum" sz="quarter" idx="5"/>
          </p:nvPr>
        </p:nvSpPr>
        <p:spPr/>
        <p:txBody>
          <a:bodyPr/>
          <a:lstStyle/>
          <a:p>
            <a:fld id="{4F57C094-21CE-47C2-B85E-15CC2B32E4F0}" type="slidenum">
              <a:rPr lang="en-SG" smtClean="0"/>
              <a:t>50</a:t>
            </a:fld>
            <a:endParaRPr lang="en-SG"/>
          </a:p>
        </p:txBody>
      </p:sp>
    </p:spTree>
    <p:extLst>
      <p:ext uri="{BB962C8B-B14F-4D97-AF65-F5344CB8AC3E}">
        <p14:creationId xmlns:p14="http://schemas.microsoft.com/office/powerpoint/2010/main" val="122965186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88A6E7-CF09-B97F-4F6D-4463E494FFE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2951C9A-21ED-7BA2-870D-E1A6C743EE8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FAE6F92-151D-DC56-02C2-287C5DC35219}"/>
              </a:ext>
            </a:extLst>
          </p:cNvPr>
          <p:cNvSpPr>
            <a:spLocks noGrp="1"/>
          </p:cNvSpPr>
          <p:nvPr>
            <p:ph type="body" idx="1"/>
          </p:nvPr>
        </p:nvSpPr>
        <p:spPr/>
        <p:txBody>
          <a:bodyPr/>
          <a:lstStyle/>
          <a:p>
            <a:endParaRPr lang="en-SG" dirty="0"/>
          </a:p>
        </p:txBody>
      </p:sp>
      <p:sp>
        <p:nvSpPr>
          <p:cNvPr id="4" name="Slide Number Placeholder 3">
            <a:extLst>
              <a:ext uri="{FF2B5EF4-FFF2-40B4-BE49-F238E27FC236}">
                <a16:creationId xmlns:a16="http://schemas.microsoft.com/office/drawing/2014/main" id="{54461FFE-FB84-7607-982E-6FDC97982AD5}"/>
              </a:ext>
            </a:extLst>
          </p:cNvPr>
          <p:cNvSpPr>
            <a:spLocks noGrp="1"/>
          </p:cNvSpPr>
          <p:nvPr>
            <p:ph type="sldNum" sz="quarter" idx="5"/>
          </p:nvPr>
        </p:nvSpPr>
        <p:spPr/>
        <p:txBody>
          <a:bodyPr/>
          <a:lstStyle/>
          <a:p>
            <a:fld id="{4F57C094-21CE-47C2-B85E-15CC2B32E4F0}" type="slidenum">
              <a:rPr lang="en-SG" smtClean="0"/>
              <a:t>51</a:t>
            </a:fld>
            <a:endParaRPr lang="en-SG"/>
          </a:p>
        </p:txBody>
      </p:sp>
    </p:spTree>
    <p:extLst>
      <p:ext uri="{BB962C8B-B14F-4D97-AF65-F5344CB8AC3E}">
        <p14:creationId xmlns:p14="http://schemas.microsoft.com/office/powerpoint/2010/main" val="88938350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12/17/2025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12/17/2025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12/17/2025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12/17/2025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12/17/2025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12/17/2025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12/17/2025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12/17/2025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12/17/2025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12/17/2025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12/17/2025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12/17/2025</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7" Type="http://schemas.openxmlformats.org/officeDocument/2006/relationships/image" Target="../media/image6.png"/><Relationship Id="rId2" Type="http://schemas.openxmlformats.org/officeDocument/2006/relationships/image" Target="../media/image1.png"/><Relationship Id="rId1" Type="http://schemas.openxmlformats.org/officeDocument/2006/relationships/slideLayout" Target="../slideLayouts/slideLayout2.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5.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rPr dirty="0"/>
              <a:t>PYTHON CRASH COURSE</a:t>
            </a:r>
          </a:p>
        </p:txBody>
      </p:sp>
      <p:sp>
        <p:nvSpPr>
          <p:cNvPr id="3" name="Subtitle 2"/>
          <p:cNvSpPr>
            <a:spLocks noGrp="1"/>
          </p:cNvSpPr>
          <p:nvPr>
            <p:ph type="subTitle" idx="1"/>
          </p:nvPr>
        </p:nvSpPr>
        <p:spPr/>
        <p:txBody>
          <a:bodyPr>
            <a:normAutofit fontScale="85000" lnSpcReduction="20000"/>
          </a:bodyPr>
          <a:lstStyle/>
          <a:p>
            <a:r>
              <a:t>Module 1  Foundation</a:t>
            </a:r>
          </a:p>
          <a:p>
            <a:r>
              <a:t>Module 2  Intermediate</a:t>
            </a:r>
          </a:p>
          <a:p>
            <a:r>
              <a:t>Module 3  Advanced</a:t>
            </a:r>
          </a:p>
          <a:p>
            <a:r>
              <a:t>Appendix  Tooling &amp; Eco-system</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t>Module 1  FOUNDATION</a:t>
            </a:r>
          </a:p>
        </p:txBody>
      </p:sp>
      <p:sp>
        <p:nvSpPr>
          <p:cNvPr id="3" name="Subtitle 2"/>
          <p:cNvSpPr>
            <a:spLocks noGrp="1"/>
          </p:cNvSpPr>
          <p:nvPr>
            <p:ph type="subTitle" idx="1"/>
          </p:nvPr>
        </p:nvSpPr>
        <p:spPr/>
        <p:txBody>
          <a:bodyPr/>
          <a:lstStyle/>
          <a:p>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Why Python?</a:t>
            </a:r>
          </a:p>
        </p:txBody>
      </p:sp>
      <p:sp>
        <p:nvSpPr>
          <p:cNvPr id="3" name="Content Placeholder 2"/>
          <p:cNvSpPr>
            <a:spLocks noGrp="1"/>
          </p:cNvSpPr>
          <p:nvPr>
            <p:ph idx="1"/>
          </p:nvPr>
        </p:nvSpPr>
        <p:spPr>
          <a:xfrm>
            <a:off x="457200" y="1600200"/>
            <a:ext cx="6261100" cy="4525963"/>
          </a:xfrm>
        </p:spPr>
        <p:style>
          <a:lnRef idx="2">
            <a:schemeClr val="dk1"/>
          </a:lnRef>
          <a:fillRef idx="1">
            <a:schemeClr val="lt1"/>
          </a:fillRef>
          <a:effectRef idx="0">
            <a:schemeClr val="dk1"/>
          </a:effectRef>
          <a:fontRef idx="minor">
            <a:schemeClr val="dk1"/>
          </a:fontRef>
        </p:style>
        <p:txBody>
          <a:bodyPr>
            <a:normAutofit/>
          </a:bodyPr>
          <a:lstStyle/>
          <a:p>
            <a:pPr marL="0" indent="0">
              <a:buNone/>
              <a:defRPr sz="2000"/>
            </a:pPr>
            <a:r>
              <a:rPr sz="2400" dirty="0"/>
              <a:t>Readable, indentation-driven syntax</a:t>
            </a:r>
            <a:endParaRPr lang="en-SG" sz="2400" dirty="0"/>
          </a:p>
          <a:p>
            <a:pPr marL="0" indent="0">
              <a:buNone/>
              <a:defRPr sz="2000"/>
            </a:pPr>
            <a:endParaRPr sz="2400" dirty="0"/>
          </a:p>
          <a:p>
            <a:pPr marL="0" indent="0">
              <a:buNone/>
              <a:defRPr sz="2000"/>
            </a:pPr>
            <a:r>
              <a:rPr sz="2400" dirty="0"/>
              <a:t>Huge standard library (“batteries included”)</a:t>
            </a:r>
          </a:p>
          <a:p>
            <a:pPr marL="0" indent="0">
              <a:buNone/>
              <a:defRPr sz="2000"/>
            </a:pPr>
            <a:endParaRPr lang="en-SG" sz="2400" dirty="0"/>
          </a:p>
          <a:p>
            <a:pPr marL="0" indent="0">
              <a:buNone/>
              <a:defRPr sz="2000"/>
            </a:pPr>
            <a:r>
              <a:rPr sz="2400" dirty="0"/>
              <a:t>Cross-platform, open-source, massive community</a:t>
            </a:r>
          </a:p>
          <a:p>
            <a:pPr marL="0" indent="0">
              <a:buNone/>
              <a:defRPr sz="2000"/>
            </a:pPr>
            <a:endParaRPr lang="en-SG" sz="2400" dirty="0"/>
          </a:p>
          <a:p>
            <a:pPr marL="0" indent="0">
              <a:buNone/>
              <a:defRPr sz="2000"/>
            </a:pPr>
            <a:r>
              <a:rPr sz="2400" dirty="0"/>
              <a:t>Runs servers, scripts, science, games, IoT, Excel…</a:t>
            </a:r>
          </a:p>
        </p:txBody>
      </p:sp>
      <p:sp>
        <p:nvSpPr>
          <p:cNvPr id="4" name="Content Placeholder 2">
            <a:extLst>
              <a:ext uri="{FF2B5EF4-FFF2-40B4-BE49-F238E27FC236}">
                <a16:creationId xmlns:a16="http://schemas.microsoft.com/office/drawing/2014/main" id="{F06A1E81-676D-0A19-3E5A-A87994107402}"/>
              </a:ext>
            </a:extLst>
          </p:cNvPr>
          <p:cNvSpPr txBox="1">
            <a:spLocks/>
          </p:cNvSpPr>
          <p:nvPr/>
        </p:nvSpPr>
        <p:spPr>
          <a:xfrm>
            <a:off x="7213600" y="1587499"/>
            <a:ext cx="4406900"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a:buNone/>
              <a:defRPr sz="2000"/>
            </a:pPr>
            <a:r>
              <a:rPr lang="en-SG" sz="2400" b="1" dirty="0"/>
              <a:t>Who uses Python?</a:t>
            </a:r>
          </a:p>
          <a:p>
            <a:pPr marL="0" indent="0">
              <a:buNone/>
              <a:defRPr sz="2000"/>
            </a:pPr>
            <a:r>
              <a:rPr lang="en-SG" sz="2400" b="1" dirty="0"/>
              <a:t> </a:t>
            </a:r>
          </a:p>
          <a:p>
            <a:pPr>
              <a:defRPr sz="2000"/>
            </a:pPr>
            <a:r>
              <a:rPr lang="en-SG" sz="2400" dirty="0"/>
              <a:t>On-line games </a:t>
            </a:r>
          </a:p>
          <a:p>
            <a:pPr>
              <a:defRPr sz="2000"/>
            </a:pPr>
            <a:r>
              <a:rPr lang="en-SG" sz="2400" dirty="0"/>
              <a:t>Web services </a:t>
            </a:r>
          </a:p>
          <a:p>
            <a:pPr>
              <a:defRPr sz="2000"/>
            </a:pPr>
            <a:r>
              <a:rPr lang="en-SG" sz="2400" dirty="0"/>
              <a:t>Applications </a:t>
            </a:r>
          </a:p>
          <a:p>
            <a:pPr>
              <a:defRPr sz="2000"/>
            </a:pPr>
            <a:r>
              <a:rPr lang="en-SG" sz="2400" dirty="0"/>
              <a:t>Science </a:t>
            </a:r>
          </a:p>
          <a:p>
            <a:pPr>
              <a:defRPr sz="2000"/>
            </a:pPr>
            <a:endParaRPr lang="en-SG" sz="2400" dirty="0"/>
          </a:p>
          <a:p>
            <a:pPr>
              <a:defRPr sz="2000"/>
            </a:pPr>
            <a:r>
              <a:rPr lang="en-SG" sz="2400" dirty="0"/>
              <a:t>Instrument control </a:t>
            </a:r>
          </a:p>
          <a:p>
            <a:pPr>
              <a:defRPr sz="2000"/>
            </a:pPr>
            <a:r>
              <a:rPr lang="en-SG" sz="2400" dirty="0"/>
              <a:t>Embedded systems</a:t>
            </a:r>
          </a:p>
          <a:p>
            <a:pPr marL="0" indent="0">
              <a:buNone/>
              <a:defRPr sz="2000"/>
            </a:pPr>
            <a:endParaRPr lang="en-SG" sz="2400" dirty="0"/>
          </a:p>
          <a:p>
            <a:pPr marL="0" indent="0">
              <a:buNone/>
              <a:defRPr sz="2000"/>
            </a:pPr>
            <a:endParaRPr lang="en-SG" sz="2400" dirty="0"/>
          </a:p>
          <a:p>
            <a:pPr marL="0" indent="0">
              <a:buNone/>
              <a:defRPr sz="2000"/>
            </a:pPr>
            <a:endParaRPr lang="en-SG" sz="2400" dirty="0"/>
          </a:p>
          <a:p>
            <a:pPr marL="0" indent="0">
              <a:buNone/>
              <a:defRPr sz="2000"/>
            </a:pPr>
            <a:endParaRPr lang="en-SG" sz="2400" dirty="0"/>
          </a:p>
          <a:p>
            <a:pPr marL="0" indent="0">
              <a:buNone/>
              <a:defRPr sz="2000"/>
            </a:pPr>
            <a:endParaRPr lang="en-SG" sz="2400" dirty="0"/>
          </a:p>
          <a:p>
            <a:pPr marL="0" indent="0">
              <a:buNone/>
              <a:defRPr sz="2000"/>
            </a:pPr>
            <a:endParaRPr lang="en-SG" sz="2400" dirty="0"/>
          </a:p>
        </p:txBody>
      </p:sp>
      <p:sp>
        <p:nvSpPr>
          <p:cNvPr id="6" name="TextBox 5">
            <a:extLst>
              <a:ext uri="{FF2B5EF4-FFF2-40B4-BE49-F238E27FC236}">
                <a16:creationId xmlns:a16="http://schemas.microsoft.com/office/drawing/2014/main" id="{83DA36F2-B14E-9918-8762-4349117CA0EA}"/>
              </a:ext>
            </a:extLst>
          </p:cNvPr>
          <p:cNvSpPr txBox="1"/>
          <p:nvPr/>
        </p:nvSpPr>
        <p:spPr>
          <a:xfrm>
            <a:off x="723900" y="6248400"/>
            <a:ext cx="11163300" cy="830997"/>
          </a:xfrm>
          <a:prstGeom prst="rect">
            <a:avLst/>
          </a:prstGeom>
          <a:noFill/>
        </p:spPr>
        <p:txBody>
          <a:bodyPr wrap="square" rtlCol="0">
            <a:spAutoFit/>
          </a:bodyPr>
          <a:lstStyle/>
          <a:p>
            <a:r>
              <a:rPr lang="en-SG" sz="2400" dirty="0"/>
              <a:t> en.wikipedia.org/wiki/</a:t>
            </a:r>
            <a:r>
              <a:rPr lang="en-SG" sz="2400" dirty="0" err="1"/>
              <a:t>List_of_Python_software</a:t>
            </a:r>
            <a:endParaRPr lang="en-US" sz="2400" dirty="0"/>
          </a:p>
          <a:p>
            <a:endParaRPr lang="en-SG" sz="2400" dirty="0"/>
          </a:p>
        </p:txBody>
      </p:sp>
      <p:pic>
        <p:nvPicPr>
          <p:cNvPr id="8" name="Picture 7" descr="A black and white logo&#10;&#10;AI-generated content may be incorrect.">
            <a:extLst>
              <a:ext uri="{FF2B5EF4-FFF2-40B4-BE49-F238E27FC236}">
                <a16:creationId xmlns:a16="http://schemas.microsoft.com/office/drawing/2014/main" id="{837459A1-82BB-A216-7B06-F1AE9C44991B}"/>
              </a:ext>
            </a:extLst>
          </p:cNvPr>
          <p:cNvPicPr>
            <a:picLocks noChangeAspect="1"/>
          </p:cNvPicPr>
          <p:nvPr/>
        </p:nvPicPr>
        <p:blipFill>
          <a:blip r:embed="rId2"/>
          <a:stretch>
            <a:fillRect/>
          </a:stretch>
        </p:blipFill>
        <p:spPr>
          <a:xfrm>
            <a:off x="10463193" y="2584441"/>
            <a:ext cx="762039" cy="342918"/>
          </a:xfrm>
          <a:prstGeom prst="rect">
            <a:avLst/>
          </a:prstGeom>
        </p:spPr>
      </p:pic>
      <p:pic>
        <p:nvPicPr>
          <p:cNvPr id="10" name="Picture 9">
            <a:extLst>
              <a:ext uri="{FF2B5EF4-FFF2-40B4-BE49-F238E27FC236}">
                <a16:creationId xmlns:a16="http://schemas.microsoft.com/office/drawing/2014/main" id="{2BDC575C-E7A0-2458-C252-7FA6E8BA42AE}"/>
              </a:ext>
            </a:extLst>
          </p:cNvPr>
          <p:cNvPicPr>
            <a:picLocks noChangeAspect="1"/>
          </p:cNvPicPr>
          <p:nvPr/>
        </p:nvPicPr>
        <p:blipFill>
          <a:blip r:embed="rId3"/>
          <a:stretch>
            <a:fillRect/>
          </a:stretch>
        </p:blipFill>
        <p:spPr>
          <a:xfrm>
            <a:off x="10513995" y="3049596"/>
            <a:ext cx="711237" cy="273064"/>
          </a:xfrm>
          <a:prstGeom prst="rect">
            <a:avLst/>
          </a:prstGeom>
        </p:spPr>
      </p:pic>
      <p:pic>
        <p:nvPicPr>
          <p:cNvPr id="12" name="Picture 11">
            <a:extLst>
              <a:ext uri="{FF2B5EF4-FFF2-40B4-BE49-F238E27FC236}">
                <a16:creationId xmlns:a16="http://schemas.microsoft.com/office/drawing/2014/main" id="{5D628D12-BEDA-BE64-A4AC-2FB5110F03A9}"/>
              </a:ext>
            </a:extLst>
          </p:cNvPr>
          <p:cNvPicPr>
            <a:picLocks noChangeAspect="1"/>
          </p:cNvPicPr>
          <p:nvPr/>
        </p:nvPicPr>
        <p:blipFill>
          <a:blip r:embed="rId4"/>
          <a:stretch>
            <a:fillRect/>
          </a:stretch>
        </p:blipFill>
        <p:spPr>
          <a:xfrm>
            <a:off x="10463193" y="3527404"/>
            <a:ext cx="990651" cy="273064"/>
          </a:xfrm>
          <a:prstGeom prst="rect">
            <a:avLst/>
          </a:prstGeom>
        </p:spPr>
      </p:pic>
      <p:pic>
        <p:nvPicPr>
          <p:cNvPr id="14" name="Picture 13" descr="A blue circle with a white letter s in it&#10;&#10;AI-generated content may be incorrect.">
            <a:extLst>
              <a:ext uri="{FF2B5EF4-FFF2-40B4-BE49-F238E27FC236}">
                <a16:creationId xmlns:a16="http://schemas.microsoft.com/office/drawing/2014/main" id="{31902172-3116-2DE0-E24E-533778859C60}"/>
              </a:ext>
            </a:extLst>
          </p:cNvPr>
          <p:cNvPicPr>
            <a:picLocks noChangeAspect="1"/>
          </p:cNvPicPr>
          <p:nvPr/>
        </p:nvPicPr>
        <p:blipFill>
          <a:blip r:embed="rId5"/>
          <a:stretch>
            <a:fillRect/>
          </a:stretch>
        </p:blipFill>
        <p:spPr>
          <a:xfrm>
            <a:off x="10463193" y="3912384"/>
            <a:ext cx="520727" cy="425472"/>
          </a:xfrm>
          <a:prstGeom prst="rect">
            <a:avLst/>
          </a:prstGeom>
        </p:spPr>
      </p:pic>
      <p:pic>
        <p:nvPicPr>
          <p:cNvPr id="16" name="Picture 15" descr="A small robot with wheels&#10;&#10;AI-generated content may be incorrect.">
            <a:extLst>
              <a:ext uri="{FF2B5EF4-FFF2-40B4-BE49-F238E27FC236}">
                <a16:creationId xmlns:a16="http://schemas.microsoft.com/office/drawing/2014/main" id="{37099B68-BA9A-97BC-B5C9-4519EB01DEE2}"/>
              </a:ext>
            </a:extLst>
          </p:cNvPr>
          <p:cNvPicPr>
            <a:picLocks noChangeAspect="1"/>
          </p:cNvPicPr>
          <p:nvPr/>
        </p:nvPicPr>
        <p:blipFill>
          <a:blip r:embed="rId6"/>
          <a:stretch>
            <a:fillRect/>
          </a:stretch>
        </p:blipFill>
        <p:spPr>
          <a:xfrm>
            <a:off x="10602899" y="4621321"/>
            <a:ext cx="711237" cy="615982"/>
          </a:xfrm>
          <a:prstGeom prst="rect">
            <a:avLst/>
          </a:prstGeom>
        </p:spPr>
      </p:pic>
      <p:pic>
        <p:nvPicPr>
          <p:cNvPr id="18" name="Picture 17" descr="A green circuit board with a white square&#10;&#10;AI-generated content may be incorrect.">
            <a:extLst>
              <a:ext uri="{FF2B5EF4-FFF2-40B4-BE49-F238E27FC236}">
                <a16:creationId xmlns:a16="http://schemas.microsoft.com/office/drawing/2014/main" id="{6007EBCD-3742-EFFC-76C8-B5A1CB604776}"/>
              </a:ext>
            </a:extLst>
          </p:cNvPr>
          <p:cNvPicPr>
            <a:picLocks noChangeAspect="1"/>
          </p:cNvPicPr>
          <p:nvPr/>
        </p:nvPicPr>
        <p:blipFill>
          <a:blip r:embed="rId7"/>
          <a:stretch>
            <a:fillRect/>
          </a:stretch>
        </p:blipFill>
        <p:spPr>
          <a:xfrm>
            <a:off x="10628301" y="5156301"/>
            <a:ext cx="711237" cy="596931"/>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Installing &amp; Running</a:t>
            </a:r>
          </a:p>
        </p:txBody>
      </p:sp>
      <p:sp>
        <p:nvSpPr>
          <p:cNvPr id="3" name="Content Placeholder 2"/>
          <p:cNvSpPr>
            <a:spLocks noGrp="1"/>
          </p:cNvSpPr>
          <p:nvPr>
            <p:ph idx="1"/>
          </p:nvPr>
        </p:nvSpPr>
        <p:spPr>
          <a:xfrm>
            <a:off x="206828" y="1600200"/>
            <a:ext cx="6770915" cy="4525963"/>
          </a:xfrm>
        </p:spPr>
        <p:style>
          <a:lnRef idx="2">
            <a:schemeClr val="dk1"/>
          </a:lnRef>
          <a:fillRef idx="1">
            <a:schemeClr val="lt1"/>
          </a:fillRef>
          <a:effectRef idx="0">
            <a:schemeClr val="dk1"/>
          </a:effectRef>
          <a:fontRef idx="minor">
            <a:schemeClr val="dk1"/>
          </a:fontRef>
        </p:style>
        <p:txBody>
          <a:bodyPr/>
          <a:lstStyle/>
          <a:p>
            <a:pPr marL="0" indent="0" algn="l">
              <a:buNone/>
              <a:defRPr sz="1500">
                <a:latin typeface="Courier New"/>
              </a:defRPr>
            </a:pPr>
            <a:r>
              <a:rPr dirty="0"/>
              <a:t># Official installer (Windows/macOS)</a:t>
            </a:r>
            <a:br>
              <a:rPr dirty="0"/>
            </a:br>
            <a:r>
              <a:rPr dirty="0"/>
              <a:t>https://www.python.org/downloads/</a:t>
            </a:r>
            <a:br>
              <a:rPr dirty="0"/>
            </a:br>
            <a:br>
              <a:rPr dirty="0"/>
            </a:br>
            <a:r>
              <a:rPr dirty="0"/>
              <a:t># Linux</a:t>
            </a:r>
            <a:br>
              <a:rPr dirty="0"/>
            </a:br>
            <a:r>
              <a:rPr dirty="0" err="1"/>
              <a:t>sudo</a:t>
            </a:r>
            <a:r>
              <a:rPr dirty="0"/>
              <a:t> apt update &amp;&amp; </a:t>
            </a:r>
            <a:r>
              <a:rPr dirty="0" err="1"/>
              <a:t>sudo</a:t>
            </a:r>
            <a:r>
              <a:rPr dirty="0"/>
              <a:t> apt install python3 python3-venv</a:t>
            </a:r>
            <a:br>
              <a:rPr dirty="0"/>
            </a:br>
            <a:br>
              <a:rPr dirty="0"/>
            </a:br>
            <a:r>
              <a:rPr dirty="0"/>
              <a:t># Verify</a:t>
            </a:r>
            <a:br>
              <a:rPr dirty="0"/>
            </a:br>
            <a:r>
              <a:rPr dirty="0"/>
              <a:t>python3 -V              # ≥ 3.9 recommended</a:t>
            </a:r>
            <a:br>
              <a:rPr dirty="0"/>
            </a:br>
            <a:r>
              <a:rPr dirty="0"/>
              <a:t>python3 -m pip --version</a:t>
            </a:r>
            <a:br>
              <a:rPr dirty="0"/>
            </a:br>
            <a:br>
              <a:rPr dirty="0"/>
            </a:br>
            <a:r>
              <a:rPr dirty="0"/>
              <a:t># </a:t>
            </a:r>
            <a:r>
              <a:rPr lang="en-SG" dirty="0"/>
              <a:t>Staring Python</a:t>
            </a:r>
            <a:br>
              <a:rPr dirty="0"/>
            </a:br>
            <a:r>
              <a:rPr lang="en-SG" dirty="0"/>
              <a:t>python</a:t>
            </a:r>
          </a:p>
          <a:p>
            <a:pPr marL="0" indent="0" algn="l">
              <a:buNone/>
              <a:defRPr sz="1500">
                <a:latin typeface="Courier New"/>
              </a:defRPr>
            </a:pPr>
            <a:endParaRPr lang="en-SG" dirty="0"/>
          </a:p>
          <a:p>
            <a:pPr marL="0" indent="0">
              <a:buNone/>
              <a:defRPr sz="1500">
                <a:latin typeface="Courier New"/>
              </a:defRPr>
            </a:pPr>
            <a:r>
              <a:rPr lang="en-SG" sz="1500" dirty="0">
                <a:latin typeface="Courier New"/>
              </a:rPr>
              <a:t># Quitting Python</a:t>
            </a:r>
          </a:p>
          <a:p>
            <a:pPr marL="0" indent="0">
              <a:buNone/>
              <a:defRPr sz="1500">
                <a:latin typeface="Courier New"/>
              </a:defRPr>
            </a:pPr>
            <a:r>
              <a:rPr lang="en-SG" sz="1500" dirty="0"/>
              <a:t>&gt;&gt;&gt; exit() </a:t>
            </a:r>
          </a:p>
          <a:p>
            <a:pPr marL="0" indent="0">
              <a:buNone/>
              <a:defRPr sz="1500">
                <a:latin typeface="Courier New"/>
              </a:defRPr>
            </a:pPr>
            <a:r>
              <a:rPr lang="en-SG" sz="1500" dirty="0"/>
              <a:t>&gt;&gt;&gt; quit() </a:t>
            </a:r>
          </a:p>
          <a:p>
            <a:pPr marL="0" indent="0" algn="l">
              <a:buNone/>
              <a:defRPr sz="1500">
                <a:latin typeface="Courier New"/>
              </a:defRPr>
            </a:pPr>
            <a:endParaRPr dirty="0"/>
          </a:p>
        </p:txBody>
      </p:sp>
      <p:sp>
        <p:nvSpPr>
          <p:cNvPr id="4" name="Content Placeholder 2">
            <a:extLst>
              <a:ext uri="{FF2B5EF4-FFF2-40B4-BE49-F238E27FC236}">
                <a16:creationId xmlns:a16="http://schemas.microsoft.com/office/drawing/2014/main" id="{79C03360-D471-7C57-8975-2FF90494E5DA}"/>
              </a:ext>
            </a:extLst>
          </p:cNvPr>
          <p:cNvSpPr txBox="1">
            <a:spLocks/>
          </p:cNvSpPr>
          <p:nvPr/>
        </p:nvSpPr>
        <p:spPr>
          <a:xfrm>
            <a:off x="7097486" y="1600199"/>
            <a:ext cx="4884511"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a:buNone/>
              <a:defRPr sz="1500">
                <a:latin typeface="Courier New"/>
              </a:defRPr>
            </a:pPr>
            <a:r>
              <a:rPr lang="en-US" dirty="0"/>
              <a:t># REPL quick start</a:t>
            </a:r>
            <a:br>
              <a:rPr lang="en-US" dirty="0"/>
            </a:br>
            <a:r>
              <a:rPr lang="en-US" dirty="0"/>
              <a:t>&gt;&gt;&gt; 2 + 2</a:t>
            </a:r>
            <a:br>
              <a:rPr lang="en-US" dirty="0"/>
            </a:br>
            <a:r>
              <a:rPr lang="en-US" dirty="0"/>
              <a:t>4</a:t>
            </a:r>
            <a:br>
              <a:rPr lang="en-US" dirty="0"/>
            </a:br>
            <a:r>
              <a:rPr lang="en-US" dirty="0"/>
              <a:t>&gt;&gt;&gt; print("Hello", "world", </a:t>
            </a:r>
            <a:r>
              <a:rPr lang="en-US" dirty="0" err="1"/>
              <a:t>sep</a:t>
            </a:r>
            <a:r>
              <a:rPr lang="en-US" dirty="0"/>
              <a:t>=" 🐍 ")</a:t>
            </a:r>
            <a:br>
              <a:rPr lang="en-US" dirty="0"/>
            </a:br>
            <a:r>
              <a:rPr lang="en-US" dirty="0"/>
              <a:t>Hello 🐍 world</a:t>
            </a:r>
          </a:p>
          <a:p>
            <a:pPr marL="0" indent="0">
              <a:buNone/>
              <a:defRPr sz="1500">
                <a:latin typeface="Courier New"/>
              </a:defRPr>
            </a:pPr>
            <a:endParaRPr lang="en-US" sz="1500" dirty="0"/>
          </a:p>
          <a:p>
            <a:pPr marL="0" indent="0">
              <a:buNone/>
              <a:defRPr sz="1500">
                <a:latin typeface="Courier New"/>
              </a:defRPr>
            </a:pPr>
            <a:endParaRPr lang="en-US" sz="1500" dirty="0"/>
          </a:p>
          <a:p>
            <a:pPr marL="0" indent="0">
              <a:buNone/>
              <a:defRPr sz="1500">
                <a:latin typeface="Courier New"/>
              </a:defRPr>
            </a:pPr>
            <a:r>
              <a:rPr lang="en-US" sz="1500" dirty="0"/>
              <a:t># </a:t>
            </a:r>
            <a:r>
              <a:rPr lang="en-SG" sz="1500" dirty="0"/>
              <a:t>print ≠ PRINT “Case sensitive” </a:t>
            </a:r>
          </a:p>
          <a:p>
            <a:pPr marL="0" indent="0">
              <a:buNone/>
              <a:defRPr sz="1500">
                <a:latin typeface="Courier New"/>
              </a:defRPr>
            </a:pPr>
            <a:endParaRPr lang="en-SG" sz="1500" dirty="0"/>
          </a:p>
          <a:p>
            <a:pPr marL="0" indent="0">
              <a:buNone/>
              <a:defRPr sz="1500">
                <a:latin typeface="Courier New"/>
              </a:defRPr>
            </a:pPr>
            <a:r>
              <a:rPr lang="en-SG" sz="1500" dirty="0"/>
              <a:t># print </a:t>
            </a:r>
            <a:r>
              <a:rPr lang="en-SG" sz="1500" dirty="0">
                <a:sym typeface="Wingdings" panose="05000000000000000000" pitchFamily="2" charset="2"/>
              </a:rPr>
              <a:t> command</a:t>
            </a:r>
          </a:p>
          <a:p>
            <a:pPr marL="0" indent="0">
              <a:buNone/>
              <a:defRPr sz="1500">
                <a:latin typeface="Courier New"/>
              </a:defRPr>
            </a:pPr>
            <a:r>
              <a:rPr lang="en-SG" sz="1500" dirty="0">
                <a:sym typeface="Wingdings" panose="05000000000000000000" pitchFamily="2" charset="2"/>
              </a:rPr>
              <a:t>#’print’  text</a:t>
            </a:r>
          </a:p>
          <a:p>
            <a:pPr marL="0" indent="0">
              <a:buNone/>
              <a:defRPr sz="1500">
                <a:latin typeface="Courier New"/>
              </a:defRPr>
            </a:pPr>
            <a:endParaRPr lang="en-SG" sz="1500" dirty="0">
              <a:sym typeface="Wingdings" panose="05000000000000000000" pitchFamily="2" charset="2"/>
            </a:endParaRPr>
          </a:p>
          <a:p>
            <a:pPr marL="0" indent="0">
              <a:buNone/>
              <a:defRPr sz="1500">
                <a:latin typeface="Courier New"/>
              </a:defRPr>
            </a:pPr>
            <a:r>
              <a:rPr lang="en-SG" sz="1500" dirty="0">
                <a:sym typeface="Wingdings" panose="05000000000000000000" pitchFamily="2" charset="2"/>
              </a:rPr>
              <a:t># python script</a:t>
            </a:r>
          </a:p>
          <a:p>
            <a:pPr marL="0" indent="0">
              <a:buNone/>
              <a:defRPr sz="1500">
                <a:latin typeface="Courier New"/>
              </a:defRPr>
            </a:pPr>
            <a:r>
              <a:rPr lang="en-SG" sz="1500" dirty="0" err="1">
                <a:sym typeface="Wingdings" panose="05000000000000000000" pitchFamily="2" charset="2"/>
              </a:rPr>
              <a:t>py</a:t>
            </a:r>
            <a:r>
              <a:rPr lang="en-SG" sz="1500" dirty="0">
                <a:sym typeface="Wingdings" panose="05000000000000000000" pitchFamily="2" charset="2"/>
              </a:rPr>
              <a:t> hello.py</a:t>
            </a:r>
            <a:endParaRPr lang="en-SG" sz="1500" dirty="0"/>
          </a:p>
          <a:p>
            <a:pPr marL="0" indent="0">
              <a:buNone/>
              <a:defRPr sz="1500">
                <a:latin typeface="Courier New"/>
              </a:defRPr>
            </a:pPr>
            <a:endParaRPr lang="en-SG" sz="1500" dirty="0">
              <a:latin typeface="Courier New"/>
            </a:endParaRPr>
          </a:p>
          <a:p>
            <a:pPr marL="0" indent="0">
              <a:buNone/>
              <a:defRPr sz="1500">
                <a:latin typeface="Courier New"/>
              </a:defRPr>
            </a:pPr>
            <a:endParaRPr lang="en-SG" sz="1500" dirty="0">
              <a:latin typeface="Courier New"/>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45D699E-A351-ABCC-15E0-61648D7F7630}"/>
              </a:ext>
            </a:extLst>
          </p:cNvPr>
          <p:cNvSpPr>
            <a:spLocks noGrp="1"/>
          </p:cNvSpPr>
          <p:nvPr>
            <p:ph type="title"/>
          </p:nvPr>
        </p:nvSpPr>
        <p:spPr/>
        <p:txBody>
          <a:bodyPr/>
          <a:lstStyle/>
          <a:p>
            <a:r>
              <a:rPr lang="en-SG" dirty="0"/>
              <a:t>Progress</a:t>
            </a:r>
          </a:p>
        </p:txBody>
      </p:sp>
      <p:sp>
        <p:nvSpPr>
          <p:cNvPr id="3" name="Content Placeholder 2">
            <a:extLst>
              <a:ext uri="{FF2B5EF4-FFF2-40B4-BE49-F238E27FC236}">
                <a16:creationId xmlns:a16="http://schemas.microsoft.com/office/drawing/2014/main" id="{D720DEEC-5D17-9318-B11B-503F613BC605}"/>
              </a:ext>
            </a:extLst>
          </p:cNvPr>
          <p:cNvSpPr>
            <a:spLocks noGrp="1"/>
          </p:cNvSpPr>
          <p:nvPr>
            <p:ph idx="1"/>
          </p:nvPr>
        </p:nvSpPr>
        <p:spPr>
          <a:xfrm>
            <a:off x="457200" y="1600200"/>
            <a:ext cx="3937000" cy="4525963"/>
          </a:xfrm>
        </p:spPr>
        <p:style>
          <a:lnRef idx="2">
            <a:schemeClr val="dk1"/>
          </a:lnRef>
          <a:fillRef idx="1">
            <a:schemeClr val="lt1"/>
          </a:fillRef>
          <a:effectRef idx="0">
            <a:schemeClr val="dk1"/>
          </a:effectRef>
          <a:fontRef idx="minor">
            <a:schemeClr val="dk1"/>
          </a:fontRef>
        </p:style>
        <p:txBody>
          <a:bodyPr/>
          <a:lstStyle/>
          <a:p>
            <a:r>
              <a:rPr lang="en-SG" dirty="0"/>
              <a:t>Interactive Python </a:t>
            </a:r>
          </a:p>
          <a:p>
            <a:r>
              <a:rPr lang="en-SG" dirty="0"/>
              <a:t>Python scripts </a:t>
            </a:r>
          </a:p>
          <a:p>
            <a:r>
              <a:rPr lang="en-SG" dirty="0"/>
              <a:t>print() command </a:t>
            </a:r>
          </a:p>
          <a:p>
            <a:r>
              <a:rPr lang="en-SG" dirty="0"/>
              <a:t>Simple Python text</a:t>
            </a:r>
          </a:p>
        </p:txBody>
      </p:sp>
      <p:sp>
        <p:nvSpPr>
          <p:cNvPr id="4" name="Content Placeholder 2">
            <a:extLst>
              <a:ext uri="{FF2B5EF4-FFF2-40B4-BE49-F238E27FC236}">
                <a16:creationId xmlns:a16="http://schemas.microsoft.com/office/drawing/2014/main" id="{3662257F-6D7D-6F6C-2E0F-924249AD7D90}"/>
              </a:ext>
            </a:extLst>
          </p:cNvPr>
          <p:cNvSpPr txBox="1">
            <a:spLocks/>
          </p:cNvSpPr>
          <p:nvPr/>
        </p:nvSpPr>
        <p:spPr>
          <a:xfrm>
            <a:off x="4584700" y="1600200"/>
            <a:ext cx="7427912"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dk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dk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dk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dk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dk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dk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dk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dk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dk1"/>
                </a:solidFill>
                <a:latin typeface="+mn-lt"/>
                <a:ea typeface="+mn-ea"/>
                <a:cs typeface="+mn-cs"/>
              </a:defRPr>
            </a:lvl9pPr>
          </a:lstStyle>
          <a:p>
            <a:pPr marL="0" indent="0">
              <a:buNone/>
            </a:pPr>
            <a:r>
              <a:rPr lang="en-US" b="1" dirty="0"/>
              <a:t>Exercise </a:t>
            </a:r>
          </a:p>
          <a:p>
            <a:r>
              <a:rPr lang="en-US" dirty="0"/>
              <a:t>Print “Goodbye, cruel world!” from interactive Python. </a:t>
            </a:r>
          </a:p>
          <a:p>
            <a:r>
              <a:rPr lang="en-US" dirty="0"/>
              <a:t>Edit exercise1.py to print the same text. </a:t>
            </a:r>
          </a:p>
          <a:p>
            <a:r>
              <a:rPr lang="en-US" dirty="0"/>
              <a:t>Run the modified exercise1.py script. </a:t>
            </a:r>
            <a:endParaRPr lang="en-SG" dirty="0"/>
          </a:p>
        </p:txBody>
      </p:sp>
    </p:spTree>
    <p:extLst>
      <p:ext uri="{BB962C8B-B14F-4D97-AF65-F5344CB8AC3E}">
        <p14:creationId xmlns:p14="http://schemas.microsoft.com/office/powerpoint/2010/main" val="265303900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Variables &amp; Dynamic Typing</a:t>
            </a:r>
          </a:p>
        </p:txBody>
      </p:sp>
      <p:sp>
        <p:nvSpPr>
          <p:cNvPr id="3" name="Content Placeholder 2"/>
          <p:cNvSpPr>
            <a:spLocks noGrp="1"/>
          </p:cNvSpPr>
          <p:nvPr>
            <p:ph idx="1"/>
          </p:nvPr>
        </p:nvSpPr>
        <p:spPr>
          <a:xfrm>
            <a:off x="5778500" y="1574802"/>
            <a:ext cx="6038850" cy="3539430"/>
          </a:xfrm>
        </p:spPr>
        <p:style>
          <a:lnRef idx="2">
            <a:schemeClr val="dk1"/>
          </a:lnRef>
          <a:fillRef idx="1">
            <a:schemeClr val="lt1"/>
          </a:fillRef>
          <a:effectRef idx="0">
            <a:schemeClr val="dk1"/>
          </a:effectRef>
          <a:fontRef idx="minor">
            <a:schemeClr val="dk1"/>
          </a:fontRef>
        </p:style>
        <p:txBody>
          <a:bodyPr/>
          <a:lstStyle/>
          <a:p>
            <a:pPr marL="0" indent="0" algn="l">
              <a:buNone/>
              <a:defRPr sz="1500">
                <a:latin typeface="Courier New"/>
              </a:defRPr>
            </a:pPr>
            <a:r>
              <a:rPr dirty="0"/>
              <a:t># No declarations</a:t>
            </a:r>
            <a:br>
              <a:rPr dirty="0"/>
            </a:br>
            <a:r>
              <a:rPr dirty="0"/>
              <a:t>age = 25                # int</a:t>
            </a:r>
            <a:br>
              <a:rPr dirty="0"/>
            </a:br>
            <a:r>
              <a:rPr dirty="0"/>
              <a:t>price = 19.99           # float</a:t>
            </a:r>
            <a:br>
              <a:rPr dirty="0"/>
            </a:br>
            <a:r>
              <a:rPr dirty="0"/>
              <a:t>name = "Monty"          # str</a:t>
            </a:r>
            <a:br>
              <a:rPr dirty="0"/>
            </a:br>
            <a:r>
              <a:rPr dirty="0"/>
              <a:t>found = True            # bool</a:t>
            </a:r>
            <a:br>
              <a:rPr dirty="0"/>
            </a:br>
            <a:br>
              <a:rPr dirty="0"/>
            </a:br>
            <a:r>
              <a:rPr dirty="0"/>
              <a:t># Re-assign freely</a:t>
            </a:r>
            <a:br>
              <a:rPr dirty="0"/>
            </a:br>
            <a:r>
              <a:rPr dirty="0"/>
              <a:t>age = "twenty-five"     # now str</a:t>
            </a:r>
            <a:br>
              <a:rPr dirty="0"/>
            </a:br>
            <a:br>
              <a:rPr dirty="0"/>
            </a:br>
            <a:r>
              <a:rPr dirty="0"/>
              <a:t># id() shows memory address</a:t>
            </a:r>
            <a:br>
              <a:rPr dirty="0"/>
            </a:br>
            <a:r>
              <a:rPr dirty="0"/>
              <a:t>x = 10</a:t>
            </a:r>
            <a:br>
              <a:rPr dirty="0"/>
            </a:br>
            <a:r>
              <a:rPr dirty="0"/>
              <a:t>print(id(x))            # 140735…</a:t>
            </a:r>
            <a:br>
              <a:rPr dirty="0"/>
            </a:br>
            <a:r>
              <a:rPr dirty="0"/>
              <a:t>x = x + 1               # new int object, id changes!</a:t>
            </a:r>
          </a:p>
        </p:txBody>
      </p:sp>
      <p:sp>
        <p:nvSpPr>
          <p:cNvPr id="4" name="Rectangle 1">
            <a:extLst>
              <a:ext uri="{FF2B5EF4-FFF2-40B4-BE49-F238E27FC236}">
                <a16:creationId xmlns:a16="http://schemas.microsoft.com/office/drawing/2014/main" id="{6600F3B0-8641-5D16-3E50-D4C070EEBA87}"/>
              </a:ext>
            </a:extLst>
          </p:cNvPr>
          <p:cNvSpPr txBox="1">
            <a:spLocks noChangeArrowheads="1"/>
          </p:cNvSpPr>
          <p:nvPr/>
        </p:nvSpPr>
        <p:spPr bwMode="auto">
          <a:xfrm>
            <a:off x="371475" y="1556734"/>
            <a:ext cx="4965700" cy="3539430"/>
          </a:xfrm>
          <a:prstGeom prst="rect">
            <a:avLst/>
          </a:prstGeom>
          <a:ln/>
        </p:spPr>
        <p:style>
          <a:lnRef idx="2">
            <a:schemeClr val="dk1"/>
          </a:lnRef>
          <a:fillRef idx="1">
            <a:schemeClr val="lt1"/>
          </a:fillRef>
          <a:effectRef idx="0">
            <a:schemeClr val="dk1"/>
          </a:effectRef>
          <a:fontRef idx="minor">
            <a:schemeClr val="dk1"/>
          </a:fontRef>
        </p:style>
        <p:txBody>
          <a:bodyPr vert="horz" wrap="square" lIns="91440" tIns="45720" rIns="91440" bIns="45720" numCol="1" rtlCol="0" anchor="ctr" anchorCtr="0" compatLnSpc="1">
            <a:prstTxWarp prst="textNoShape">
              <a:avLst/>
            </a:prstTxWarp>
            <a:sp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defTabSz="914400" eaLnBrk="0" fontAlgn="base" hangingPunct="0">
              <a:spcBef>
                <a:spcPct val="0"/>
              </a:spcBef>
              <a:spcAft>
                <a:spcPct val="0"/>
              </a:spcAft>
            </a:pPr>
            <a:r>
              <a:rPr lang="en-US" altLang="en-US" sz="2800" dirty="0">
                <a:latin typeface="Arial" panose="020B0604020202020204" pitchFamily="34" charset="0"/>
              </a:rPr>
              <a:t> A variable is a </a:t>
            </a:r>
            <a:r>
              <a:rPr lang="en-US" altLang="en-US" sz="2800" b="1" dirty="0">
                <a:latin typeface="Arial" panose="020B0604020202020204" pitchFamily="34" charset="0"/>
              </a:rPr>
              <a:t>name bound to an object</a:t>
            </a:r>
            <a:endParaRPr lang="en-US" altLang="en-US" sz="2800" dirty="0">
              <a:latin typeface="Arial" panose="020B0604020202020204" pitchFamily="34" charset="0"/>
            </a:endParaRPr>
          </a:p>
          <a:p>
            <a:pPr marL="0" indent="0" defTabSz="914400" eaLnBrk="0" fontAlgn="base" hangingPunct="0">
              <a:spcBef>
                <a:spcPct val="0"/>
              </a:spcBef>
              <a:spcAft>
                <a:spcPct val="0"/>
              </a:spcAft>
              <a:buNone/>
            </a:pPr>
            <a:r>
              <a:rPr lang="en-US" altLang="en-US" sz="2800" dirty="0">
                <a:latin typeface="Arial" panose="020B0604020202020204" pitchFamily="34" charset="0"/>
              </a:rPr>
              <a:t> </a:t>
            </a:r>
          </a:p>
          <a:p>
            <a:pPr defTabSz="914400" eaLnBrk="0" fontAlgn="base" hangingPunct="0">
              <a:spcBef>
                <a:spcPct val="0"/>
              </a:spcBef>
              <a:spcAft>
                <a:spcPct val="0"/>
              </a:spcAft>
            </a:pPr>
            <a:r>
              <a:rPr lang="en-US" altLang="en-US" sz="2800" dirty="0">
                <a:latin typeface="Arial" panose="020B0604020202020204" pitchFamily="34" charset="0"/>
              </a:rPr>
              <a:t>Created by </a:t>
            </a:r>
            <a:r>
              <a:rPr lang="en-US" altLang="en-US" sz="2800" b="1" dirty="0">
                <a:latin typeface="Arial" panose="020B0604020202020204" pitchFamily="34" charset="0"/>
              </a:rPr>
              <a:t>assignment</a:t>
            </a:r>
            <a:r>
              <a:rPr lang="en-US" altLang="en-US" sz="2800" dirty="0">
                <a:latin typeface="Arial" panose="020B0604020202020204" pitchFamily="34" charset="0"/>
              </a:rPr>
              <a:t>, not declaration</a:t>
            </a:r>
          </a:p>
          <a:p>
            <a:pPr defTabSz="914400" eaLnBrk="0" fontAlgn="base" hangingPunct="0">
              <a:spcBef>
                <a:spcPct val="0"/>
              </a:spcBef>
              <a:spcAft>
                <a:spcPct val="0"/>
              </a:spcAft>
            </a:pPr>
            <a:endParaRPr lang="en-US" altLang="en-US" sz="2800" dirty="0">
              <a:latin typeface="Arial" panose="020B0604020202020204" pitchFamily="34" charset="0"/>
            </a:endParaRPr>
          </a:p>
          <a:p>
            <a:pPr defTabSz="914400" eaLnBrk="0" fontAlgn="base" hangingPunct="0">
              <a:spcBef>
                <a:spcPct val="0"/>
              </a:spcBef>
              <a:spcAft>
                <a:spcPct val="0"/>
              </a:spcAft>
            </a:pPr>
            <a:r>
              <a:rPr lang="en-US" altLang="en-US" sz="2800" dirty="0">
                <a:latin typeface="Arial" panose="020B0604020202020204" pitchFamily="34" charset="0"/>
              </a:rPr>
              <a:t> No need to specify data types explicitly</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35F8130-74B1-BC65-1076-A3480E73E291}"/>
              </a:ext>
            </a:extLst>
          </p:cNvPr>
          <p:cNvSpPr>
            <a:spLocks noGrp="1"/>
          </p:cNvSpPr>
          <p:nvPr>
            <p:ph type="title"/>
          </p:nvPr>
        </p:nvSpPr>
        <p:spPr/>
        <p:txBody>
          <a:bodyPr>
            <a:normAutofit fontScale="90000"/>
          </a:bodyPr>
          <a:lstStyle/>
          <a:p>
            <a:r>
              <a:rPr lang="en-US" dirty="0"/>
              <a:t>Variables Are References (Not Boxes)</a:t>
            </a:r>
            <a:endParaRPr lang="en-SG" dirty="0"/>
          </a:p>
        </p:txBody>
      </p:sp>
      <p:sp>
        <p:nvSpPr>
          <p:cNvPr id="4" name="Rectangle 1">
            <a:extLst>
              <a:ext uri="{FF2B5EF4-FFF2-40B4-BE49-F238E27FC236}">
                <a16:creationId xmlns:a16="http://schemas.microsoft.com/office/drawing/2014/main" id="{8E1D9732-0116-36FE-5F1F-2F3388272396}"/>
              </a:ext>
            </a:extLst>
          </p:cNvPr>
          <p:cNvSpPr>
            <a:spLocks noGrp="1" noChangeArrowheads="1"/>
          </p:cNvSpPr>
          <p:nvPr>
            <p:ph idx="1"/>
          </p:nvPr>
        </p:nvSpPr>
        <p:spPr bwMode="auto">
          <a:xfrm>
            <a:off x="368299" y="1689390"/>
            <a:ext cx="5524500" cy="1717393"/>
          </a:xfrm>
          <a:prstGeom prst="rect">
            <a:avLst/>
          </a:prstGeom>
          <a:ln/>
        </p:spPr>
        <p:style>
          <a:lnRef idx="2">
            <a:schemeClr val="dk1"/>
          </a:lnRef>
          <a:fillRef idx="1">
            <a:schemeClr val="lt1"/>
          </a:fillRef>
          <a:effectRef idx="0">
            <a:schemeClr val="dk1"/>
          </a:effectRef>
          <a:fontRef idx="minor">
            <a:schemeClr val="dk1"/>
          </a:fontRef>
        </p:style>
        <p:txBody>
          <a:bodyPr vert="horz" wrap="square" lIns="91440" tIns="45720" rIns="91440" bIns="45720" numCol="1" anchor="ctr" anchorCtr="0" compatLnSpc="1">
            <a:prstTxWarp prst="textNoShape">
              <a:avLst/>
            </a:prstTxWarp>
            <a:spAutoFit/>
          </a:bodyPr>
          <a:lstStyle/>
          <a:p>
            <a:r>
              <a:rPr lang="en-US" sz="2400" dirty="0"/>
              <a:t>In Python, variables don’t hold objects — </a:t>
            </a:r>
            <a:r>
              <a:rPr lang="en-US" sz="2400" b="1" dirty="0"/>
              <a:t>they point to them</a:t>
            </a:r>
            <a:r>
              <a:rPr lang="en-US" sz="2400" dirty="0"/>
              <a:t>.</a:t>
            </a:r>
          </a:p>
          <a:p>
            <a:r>
              <a:rPr lang="en-US" sz="2400" dirty="0"/>
              <a:t>Variables are </a:t>
            </a:r>
            <a:r>
              <a:rPr lang="en-US" sz="2400" b="1" dirty="0"/>
              <a:t>name tags</a:t>
            </a:r>
            <a:r>
              <a:rPr lang="en-US" sz="2400" dirty="0"/>
              <a:t>, not containers</a:t>
            </a:r>
          </a:p>
          <a:p>
            <a:r>
              <a:rPr lang="en-US" sz="2400" dirty="0"/>
              <a:t>Objects live independently in memory</a:t>
            </a:r>
          </a:p>
        </p:txBody>
      </p:sp>
      <p:sp>
        <p:nvSpPr>
          <p:cNvPr id="5" name="Rectangle 1">
            <a:extLst>
              <a:ext uri="{FF2B5EF4-FFF2-40B4-BE49-F238E27FC236}">
                <a16:creationId xmlns:a16="http://schemas.microsoft.com/office/drawing/2014/main" id="{EB4B23CD-404D-787D-55CB-91BF2F24E5A5}"/>
              </a:ext>
            </a:extLst>
          </p:cNvPr>
          <p:cNvSpPr txBox="1">
            <a:spLocks noChangeArrowheads="1"/>
          </p:cNvSpPr>
          <p:nvPr/>
        </p:nvSpPr>
        <p:spPr bwMode="auto">
          <a:xfrm>
            <a:off x="6207126" y="1624041"/>
            <a:ext cx="5905499" cy="4524315"/>
          </a:xfrm>
          <a:prstGeom prst="rect">
            <a:avLst/>
          </a:prstGeom>
        </p:spPr>
        <p:style>
          <a:lnRef idx="2">
            <a:schemeClr val="dk1"/>
          </a:lnRef>
          <a:fillRef idx="1">
            <a:schemeClr val="lt1"/>
          </a:fillRef>
          <a:effectRef idx="0">
            <a:schemeClr val="dk1"/>
          </a:effectRef>
          <a:fontRef idx="minor">
            <a:schemeClr val="dk1"/>
          </a:fontRef>
        </p:style>
        <p:txBody>
          <a:bodyPr vert="horz" wrap="square" lIns="91440" tIns="45720" rIns="91440" bIns="45720" numCol="1" rtlCol="0" anchor="ctr" anchorCtr="0" compatLnSpc="1">
            <a:prstTxWarp prst="textNoShape">
              <a:avLst/>
            </a:prstTxWarp>
            <a:spAutoFit/>
          </a:bodyPr>
          <a:lstStyle>
            <a:lvl1pPr marL="342900" indent="-342900" algn="l" defTabSz="457200" rtl="0" eaLnBrk="1" latinLnBrk="0" hangingPunct="1">
              <a:spcBef>
                <a:spcPct val="20000"/>
              </a:spcBef>
              <a:buFont typeface="Arial"/>
              <a:buChar char="•"/>
              <a:defRPr sz="3200" kern="1200">
                <a:solidFill>
                  <a:schemeClr val="dk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dk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dk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dk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dk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dk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dk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dk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dk1"/>
                </a:solidFill>
                <a:latin typeface="+mn-lt"/>
                <a:ea typeface="+mn-ea"/>
                <a:cs typeface="+mn-cs"/>
              </a:defRPr>
            </a:lvl9pPr>
          </a:lstStyle>
          <a:p>
            <a:pPr marL="0" indent="0" defTabSz="914400" eaLnBrk="0" fontAlgn="base" hangingPunct="0">
              <a:spcBef>
                <a:spcPct val="0"/>
              </a:spcBef>
              <a:spcAft>
                <a:spcPct val="0"/>
              </a:spcAft>
              <a:buNone/>
            </a:pPr>
            <a:r>
              <a:rPr lang="pt-BR" altLang="en-US" sz="2400" dirty="0">
                <a:solidFill>
                  <a:schemeClr val="tx1"/>
                </a:solidFill>
                <a:latin typeface="Arial" panose="020B0604020202020204" pitchFamily="34" charset="0"/>
              </a:rPr>
              <a:t>a = [1, 2, 3]</a:t>
            </a:r>
          </a:p>
          <a:p>
            <a:pPr marL="0" indent="0" defTabSz="914400" eaLnBrk="0" fontAlgn="base" hangingPunct="0">
              <a:spcBef>
                <a:spcPct val="0"/>
              </a:spcBef>
              <a:spcAft>
                <a:spcPct val="0"/>
              </a:spcAft>
              <a:buNone/>
            </a:pPr>
            <a:r>
              <a:rPr lang="pt-BR" altLang="en-US" sz="2400" dirty="0">
                <a:solidFill>
                  <a:schemeClr val="tx1"/>
                </a:solidFill>
                <a:latin typeface="Arial" panose="020B0604020202020204" pitchFamily="34" charset="0"/>
              </a:rPr>
              <a:t>b = a</a:t>
            </a:r>
          </a:p>
          <a:p>
            <a:pPr marL="0" indent="0" defTabSz="914400" eaLnBrk="0" fontAlgn="base" hangingPunct="0">
              <a:spcBef>
                <a:spcPct val="0"/>
              </a:spcBef>
              <a:spcAft>
                <a:spcPct val="0"/>
              </a:spcAft>
              <a:buNone/>
            </a:pPr>
            <a:endParaRPr lang="pt-BR" altLang="en-US" sz="2400" dirty="0">
              <a:solidFill>
                <a:schemeClr val="tx1"/>
              </a:solidFill>
              <a:latin typeface="Arial" panose="020B0604020202020204" pitchFamily="34" charset="0"/>
            </a:endParaRPr>
          </a:p>
          <a:p>
            <a:pPr marL="0" indent="0">
              <a:buNone/>
            </a:pPr>
            <a:r>
              <a:rPr lang="pt-BR" altLang="en-US" sz="2400" dirty="0">
                <a:solidFill>
                  <a:schemeClr val="tx1"/>
                </a:solidFill>
                <a:latin typeface="Arial" panose="020B0604020202020204" pitchFamily="34" charset="0"/>
              </a:rPr>
              <a:t># </a:t>
            </a:r>
            <a:r>
              <a:rPr lang="en-US" sz="2400" dirty="0"/>
              <a:t>Python creates </a:t>
            </a:r>
            <a:r>
              <a:rPr lang="en-US" sz="2400" b="1" dirty="0"/>
              <a:t>one list object</a:t>
            </a:r>
            <a:r>
              <a:rPr lang="en-US" sz="2400" dirty="0"/>
              <a:t>: [1, 2, 3]</a:t>
            </a:r>
          </a:p>
          <a:p>
            <a:pPr marL="0" indent="0">
              <a:buNone/>
            </a:pPr>
            <a:r>
              <a:rPr lang="en-US" sz="2400" dirty="0"/>
              <a:t># The name a refers to that list</a:t>
            </a:r>
          </a:p>
          <a:p>
            <a:pPr marL="0" indent="0">
              <a:buNone/>
            </a:pPr>
            <a:r>
              <a:rPr lang="en-US" sz="2400" dirty="0"/>
              <a:t># The name b is assigned to </a:t>
            </a:r>
            <a:r>
              <a:rPr lang="en-US" sz="2400" b="1" dirty="0"/>
              <a:t>the same list object</a:t>
            </a:r>
            <a:endParaRPr lang="en-US" sz="2400" dirty="0"/>
          </a:p>
          <a:p>
            <a:pPr marL="0" indent="0">
              <a:buNone/>
            </a:pPr>
            <a:r>
              <a:rPr lang="en-US" sz="2400" dirty="0"/>
              <a:t># a and b </a:t>
            </a:r>
            <a:r>
              <a:rPr lang="en-US" sz="2400" b="1" dirty="0"/>
              <a:t>point to the same object</a:t>
            </a:r>
            <a:endParaRPr lang="en-US" sz="2400" dirty="0"/>
          </a:p>
          <a:p>
            <a:pPr marL="0" indent="0">
              <a:buNone/>
            </a:pPr>
            <a:r>
              <a:rPr lang="en-US" sz="2400" dirty="0"/>
              <a:t># No copy is made</a:t>
            </a:r>
          </a:p>
          <a:p>
            <a:pPr marL="0" indent="0" defTabSz="914400" eaLnBrk="0" fontAlgn="base" hangingPunct="0">
              <a:spcBef>
                <a:spcPct val="0"/>
              </a:spcBef>
              <a:spcAft>
                <a:spcPct val="0"/>
              </a:spcAft>
              <a:buNone/>
            </a:pPr>
            <a:endParaRPr lang="pt-BR" altLang="en-US" sz="2400" dirty="0">
              <a:solidFill>
                <a:schemeClr val="tx1"/>
              </a:solidFill>
              <a:latin typeface="Arial" panose="020B0604020202020204" pitchFamily="34" charset="0"/>
            </a:endParaRPr>
          </a:p>
          <a:p>
            <a:pPr marL="0" indent="0" defTabSz="914400" eaLnBrk="0" fontAlgn="base" hangingPunct="0">
              <a:spcBef>
                <a:spcPct val="0"/>
              </a:spcBef>
              <a:spcAft>
                <a:spcPct val="0"/>
              </a:spcAft>
              <a:buNone/>
            </a:pPr>
            <a:endParaRPr lang="en-US" altLang="en-US" sz="2400" dirty="0">
              <a:solidFill>
                <a:schemeClr val="tx1"/>
              </a:solidFill>
              <a:latin typeface="Arial" panose="020B0604020202020204" pitchFamily="34" charset="0"/>
            </a:endParaRPr>
          </a:p>
        </p:txBody>
      </p:sp>
      <p:sp>
        <p:nvSpPr>
          <p:cNvPr id="8" name="TextBox 7">
            <a:extLst>
              <a:ext uri="{FF2B5EF4-FFF2-40B4-BE49-F238E27FC236}">
                <a16:creationId xmlns:a16="http://schemas.microsoft.com/office/drawing/2014/main" id="{15FBA06E-D3B5-1976-3492-1C67E3817518}"/>
              </a:ext>
            </a:extLst>
          </p:cNvPr>
          <p:cNvSpPr txBox="1"/>
          <p:nvPr/>
        </p:nvSpPr>
        <p:spPr>
          <a:xfrm>
            <a:off x="1308100" y="4040016"/>
            <a:ext cx="2641600" cy="1200329"/>
          </a:xfrm>
          <a:prstGeom prst="rect">
            <a:avLst/>
          </a:prstGeom>
          <a:noFill/>
        </p:spPr>
        <p:txBody>
          <a:bodyPr wrap="square">
            <a:spAutoFit/>
          </a:bodyPr>
          <a:lstStyle/>
          <a:p>
            <a:r>
              <a:rPr lang="en-SG" sz="2400" dirty="0"/>
              <a:t>a ──┐</a:t>
            </a:r>
          </a:p>
          <a:p>
            <a:r>
              <a:rPr lang="en-SG" sz="2400" dirty="0"/>
              <a:t>       ├──&gt; [1, 2, 3]</a:t>
            </a:r>
          </a:p>
          <a:p>
            <a:r>
              <a:rPr lang="en-SG" sz="2400" dirty="0"/>
              <a:t>b ──┘</a:t>
            </a:r>
          </a:p>
        </p:txBody>
      </p:sp>
    </p:spTree>
    <p:extLst>
      <p:ext uri="{BB962C8B-B14F-4D97-AF65-F5344CB8AC3E}">
        <p14:creationId xmlns:p14="http://schemas.microsoft.com/office/powerpoint/2010/main" val="128340702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28C755-D846-762F-818D-63E73764775D}"/>
              </a:ext>
            </a:extLst>
          </p:cNvPr>
          <p:cNvSpPr>
            <a:spLocks noGrp="1"/>
          </p:cNvSpPr>
          <p:nvPr>
            <p:ph type="title"/>
          </p:nvPr>
        </p:nvSpPr>
        <p:spPr/>
        <p:txBody>
          <a:bodyPr/>
          <a:lstStyle/>
          <a:p>
            <a:r>
              <a:rPr lang="en-SG" dirty="0"/>
              <a:t>Changing the Object</a:t>
            </a:r>
          </a:p>
        </p:txBody>
      </p:sp>
      <p:sp>
        <p:nvSpPr>
          <p:cNvPr id="3" name="Content Placeholder 2">
            <a:extLst>
              <a:ext uri="{FF2B5EF4-FFF2-40B4-BE49-F238E27FC236}">
                <a16:creationId xmlns:a16="http://schemas.microsoft.com/office/drawing/2014/main" id="{C9681B9C-3017-6624-922D-5ECB0AB29B0F}"/>
              </a:ext>
            </a:extLst>
          </p:cNvPr>
          <p:cNvSpPr>
            <a:spLocks noGrp="1"/>
          </p:cNvSpPr>
          <p:nvPr>
            <p:ph idx="1"/>
          </p:nvPr>
        </p:nvSpPr>
        <p:spPr>
          <a:xfrm>
            <a:off x="457200" y="1600200"/>
            <a:ext cx="4622800" cy="4525963"/>
          </a:xfrm>
        </p:spPr>
        <p:style>
          <a:lnRef idx="2">
            <a:schemeClr val="dk1"/>
          </a:lnRef>
          <a:fillRef idx="1">
            <a:schemeClr val="lt1"/>
          </a:fillRef>
          <a:effectRef idx="0">
            <a:schemeClr val="dk1"/>
          </a:effectRef>
          <a:fontRef idx="minor">
            <a:schemeClr val="dk1"/>
          </a:fontRef>
        </p:style>
        <p:txBody>
          <a:bodyPr/>
          <a:lstStyle/>
          <a:p>
            <a:pPr marL="0" indent="0">
              <a:buNone/>
            </a:pPr>
            <a:r>
              <a:rPr lang="pt-BR" dirty="0"/>
              <a:t>a = [1, 2, 3]</a:t>
            </a:r>
          </a:p>
          <a:p>
            <a:pPr marL="0" indent="0">
              <a:buNone/>
            </a:pPr>
            <a:r>
              <a:rPr lang="pt-BR" dirty="0"/>
              <a:t>b = a</a:t>
            </a:r>
          </a:p>
          <a:p>
            <a:pPr marL="0" indent="0">
              <a:buNone/>
            </a:pPr>
            <a:endParaRPr lang="en-SG" dirty="0"/>
          </a:p>
          <a:p>
            <a:pPr marL="0" indent="0">
              <a:buNone/>
            </a:pPr>
            <a:r>
              <a:rPr lang="en-SG" dirty="0" err="1"/>
              <a:t>a.append</a:t>
            </a:r>
            <a:r>
              <a:rPr lang="en-SG" dirty="0"/>
              <a:t>(4)</a:t>
            </a:r>
          </a:p>
          <a:p>
            <a:pPr marL="0" indent="0">
              <a:buNone/>
            </a:pPr>
            <a:endParaRPr lang="en-SG" dirty="0"/>
          </a:p>
          <a:p>
            <a:pPr marL="0" indent="0">
              <a:buNone/>
            </a:pPr>
            <a:r>
              <a:rPr lang="en-SG" dirty="0"/>
              <a:t>print(a)  # [1, 2, 3, 4]</a:t>
            </a:r>
          </a:p>
          <a:p>
            <a:pPr marL="0" indent="0">
              <a:buNone/>
            </a:pPr>
            <a:r>
              <a:rPr lang="en-SG" dirty="0"/>
              <a:t>print(b)  # [1, 2, 3, 4]</a:t>
            </a:r>
          </a:p>
          <a:p>
            <a:pPr marL="0" indent="0">
              <a:buNone/>
            </a:pPr>
            <a:endParaRPr lang="en-SG" dirty="0"/>
          </a:p>
        </p:txBody>
      </p:sp>
      <p:sp>
        <p:nvSpPr>
          <p:cNvPr id="4" name="Content Placeholder 2">
            <a:extLst>
              <a:ext uri="{FF2B5EF4-FFF2-40B4-BE49-F238E27FC236}">
                <a16:creationId xmlns:a16="http://schemas.microsoft.com/office/drawing/2014/main" id="{024524E2-F85B-AEDE-4A13-6F7C949429EB}"/>
              </a:ext>
            </a:extLst>
          </p:cNvPr>
          <p:cNvSpPr txBox="1">
            <a:spLocks/>
          </p:cNvSpPr>
          <p:nvPr/>
        </p:nvSpPr>
        <p:spPr>
          <a:xfrm>
            <a:off x="5499100" y="1587500"/>
            <a:ext cx="6375400"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dk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dk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dk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dk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dk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dk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dk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dk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dk1"/>
                </a:solidFill>
                <a:latin typeface="+mn-lt"/>
                <a:ea typeface="+mn-ea"/>
                <a:cs typeface="+mn-cs"/>
              </a:defRPr>
            </a:lvl9pPr>
          </a:lstStyle>
          <a:p>
            <a:r>
              <a:rPr lang="en-US" dirty="0"/>
              <a:t>Why does b change?</a:t>
            </a:r>
          </a:p>
          <a:p>
            <a:pPr lvl="1"/>
            <a:r>
              <a:rPr lang="en-US" dirty="0"/>
              <a:t>Because </a:t>
            </a:r>
            <a:r>
              <a:rPr lang="en-US" b="1" dirty="0"/>
              <a:t>both names refer to the same list object</a:t>
            </a:r>
            <a:r>
              <a:rPr lang="en-US" dirty="0"/>
              <a:t>, and the list is </a:t>
            </a:r>
            <a:r>
              <a:rPr lang="en-US" b="1" dirty="0"/>
              <a:t>mutable</a:t>
            </a:r>
            <a:r>
              <a:rPr lang="en-US" dirty="0"/>
              <a:t>.</a:t>
            </a:r>
          </a:p>
          <a:p>
            <a:pPr lvl="1"/>
            <a:endParaRPr lang="en-US" dirty="0"/>
          </a:p>
          <a:p>
            <a:r>
              <a:rPr lang="en-US" b="1" dirty="0"/>
              <a:t>Important Distinction</a:t>
            </a:r>
          </a:p>
          <a:p>
            <a:pPr lvl="1"/>
            <a:r>
              <a:rPr lang="en-US" dirty="0"/>
              <a:t>You did </a:t>
            </a:r>
            <a:r>
              <a:rPr lang="en-US" b="1" dirty="0"/>
              <a:t>not</a:t>
            </a:r>
            <a:r>
              <a:rPr lang="en-US" dirty="0"/>
              <a:t> change a</a:t>
            </a:r>
          </a:p>
          <a:p>
            <a:pPr lvl="1"/>
            <a:r>
              <a:rPr lang="en-US" dirty="0"/>
              <a:t>You changed </a:t>
            </a:r>
            <a:r>
              <a:rPr lang="en-US" b="1" dirty="0"/>
              <a:t>the object</a:t>
            </a:r>
            <a:r>
              <a:rPr lang="en-US" dirty="0"/>
              <a:t> that both a and b refer to</a:t>
            </a:r>
          </a:p>
          <a:p>
            <a:endParaRPr lang="en-US" dirty="0"/>
          </a:p>
          <a:p>
            <a:pPr lvl="1"/>
            <a:endParaRPr lang="en-US" dirty="0"/>
          </a:p>
          <a:p>
            <a:pPr marL="457200" lvl="1" indent="0">
              <a:buNone/>
            </a:pPr>
            <a:endParaRPr lang="en-US" dirty="0"/>
          </a:p>
          <a:p>
            <a:pPr marL="0" indent="0">
              <a:buFont typeface="Arial"/>
              <a:buNone/>
            </a:pPr>
            <a:endParaRPr lang="en-SG" dirty="0"/>
          </a:p>
        </p:txBody>
      </p:sp>
    </p:spTree>
    <p:extLst>
      <p:ext uri="{BB962C8B-B14F-4D97-AF65-F5344CB8AC3E}">
        <p14:creationId xmlns:p14="http://schemas.microsoft.com/office/powerpoint/2010/main" val="380869934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2D4A71B-CEED-5A43-1A81-48AFCBB33A76}"/>
              </a:ext>
            </a:extLst>
          </p:cNvPr>
          <p:cNvSpPr>
            <a:spLocks noGrp="1"/>
          </p:cNvSpPr>
          <p:nvPr>
            <p:ph type="title"/>
          </p:nvPr>
        </p:nvSpPr>
        <p:spPr/>
        <p:txBody>
          <a:bodyPr>
            <a:normAutofit/>
          </a:bodyPr>
          <a:lstStyle/>
          <a:p>
            <a:r>
              <a:rPr lang="en-SG" b="1" dirty="0"/>
              <a:t>Contrast with Reassignment</a:t>
            </a:r>
            <a:endParaRPr lang="en-SG" dirty="0"/>
          </a:p>
        </p:txBody>
      </p:sp>
      <p:sp>
        <p:nvSpPr>
          <p:cNvPr id="3" name="Content Placeholder 2">
            <a:extLst>
              <a:ext uri="{FF2B5EF4-FFF2-40B4-BE49-F238E27FC236}">
                <a16:creationId xmlns:a16="http://schemas.microsoft.com/office/drawing/2014/main" id="{160B4F3B-CF9A-C79B-3A9C-460539FFBC6B}"/>
              </a:ext>
            </a:extLst>
          </p:cNvPr>
          <p:cNvSpPr>
            <a:spLocks noGrp="1"/>
          </p:cNvSpPr>
          <p:nvPr>
            <p:ph idx="1"/>
          </p:nvPr>
        </p:nvSpPr>
        <p:spPr>
          <a:xfrm>
            <a:off x="457200" y="1600200"/>
            <a:ext cx="3225800" cy="4525963"/>
          </a:xfrm>
        </p:spPr>
        <p:style>
          <a:lnRef idx="2">
            <a:schemeClr val="dk1"/>
          </a:lnRef>
          <a:fillRef idx="1">
            <a:schemeClr val="lt1"/>
          </a:fillRef>
          <a:effectRef idx="0">
            <a:schemeClr val="dk1"/>
          </a:effectRef>
          <a:fontRef idx="minor">
            <a:schemeClr val="dk1"/>
          </a:fontRef>
        </p:style>
        <p:txBody>
          <a:bodyPr/>
          <a:lstStyle/>
          <a:p>
            <a:pPr marL="0" indent="0">
              <a:buNone/>
            </a:pPr>
            <a:r>
              <a:rPr lang="pt-BR" dirty="0"/>
              <a:t>a = [1, 2, 3]</a:t>
            </a:r>
          </a:p>
          <a:p>
            <a:pPr marL="0" indent="0">
              <a:buNone/>
            </a:pPr>
            <a:r>
              <a:rPr lang="pt-BR" dirty="0"/>
              <a:t>b = a</a:t>
            </a:r>
          </a:p>
          <a:p>
            <a:pPr marL="0" indent="0">
              <a:buNone/>
            </a:pPr>
            <a:endParaRPr lang="pt-BR" dirty="0"/>
          </a:p>
          <a:p>
            <a:pPr marL="0" indent="0">
              <a:buNone/>
            </a:pPr>
            <a:r>
              <a:rPr lang="pt-BR" dirty="0"/>
              <a:t>a = [9, 9, 9]</a:t>
            </a:r>
          </a:p>
          <a:p>
            <a:pPr marL="0" indent="0">
              <a:buNone/>
            </a:pPr>
            <a:endParaRPr lang="en-SG" dirty="0"/>
          </a:p>
        </p:txBody>
      </p:sp>
      <p:sp>
        <p:nvSpPr>
          <p:cNvPr id="4" name="Content Placeholder 2">
            <a:extLst>
              <a:ext uri="{FF2B5EF4-FFF2-40B4-BE49-F238E27FC236}">
                <a16:creationId xmlns:a16="http://schemas.microsoft.com/office/drawing/2014/main" id="{E719216D-1FAE-13DB-B019-D31860643FED}"/>
              </a:ext>
            </a:extLst>
          </p:cNvPr>
          <p:cNvSpPr txBox="1">
            <a:spLocks/>
          </p:cNvSpPr>
          <p:nvPr/>
        </p:nvSpPr>
        <p:spPr>
          <a:xfrm>
            <a:off x="5499100" y="1587500"/>
            <a:ext cx="6375400"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dk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dk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dk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dk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dk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dk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dk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dk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dk1"/>
                </a:solidFill>
                <a:latin typeface="+mn-lt"/>
                <a:ea typeface="+mn-ea"/>
                <a:cs typeface="+mn-cs"/>
              </a:defRPr>
            </a:lvl9pPr>
          </a:lstStyle>
          <a:p>
            <a:r>
              <a:rPr lang="en-US" sz="2800" dirty="0"/>
              <a:t>Now:</a:t>
            </a:r>
          </a:p>
          <a:p>
            <a:pPr lvl="1"/>
            <a:r>
              <a:rPr lang="en-US" dirty="0"/>
              <a:t>a refers to a </a:t>
            </a:r>
            <a:r>
              <a:rPr lang="en-US" b="1" dirty="0"/>
              <a:t>new list</a:t>
            </a:r>
            <a:endParaRPr lang="en-US" dirty="0"/>
          </a:p>
          <a:p>
            <a:pPr lvl="1"/>
            <a:r>
              <a:rPr lang="en-US" dirty="0"/>
              <a:t>b still refers to the old list</a:t>
            </a:r>
          </a:p>
          <a:p>
            <a:pPr marL="457200" lvl="1" indent="0">
              <a:buNone/>
            </a:pPr>
            <a:endParaRPr lang="en-US" dirty="0"/>
          </a:p>
          <a:p>
            <a:pPr marL="57150" indent="0">
              <a:buNone/>
            </a:pPr>
            <a:r>
              <a:rPr lang="pt-BR" sz="2800" dirty="0"/>
              <a:t>a ──&gt; [9, 9, 9]</a:t>
            </a:r>
          </a:p>
          <a:p>
            <a:pPr marL="57150" indent="0">
              <a:buNone/>
            </a:pPr>
            <a:r>
              <a:rPr lang="pt-BR" sz="2800" dirty="0"/>
              <a:t>b ──&gt; [1, 2, 3]</a:t>
            </a:r>
          </a:p>
          <a:p>
            <a:pPr marL="457200" lvl="1" indent="0">
              <a:buNone/>
            </a:pPr>
            <a:endParaRPr lang="en-US" dirty="0"/>
          </a:p>
          <a:p>
            <a:pPr marL="457200" lvl="1" indent="0">
              <a:buNone/>
            </a:pPr>
            <a:endParaRPr lang="en-US" dirty="0"/>
          </a:p>
          <a:p>
            <a:pPr marL="0" indent="0">
              <a:buFont typeface="Arial"/>
              <a:buNone/>
            </a:pPr>
            <a:endParaRPr lang="en-SG" sz="2800" dirty="0"/>
          </a:p>
        </p:txBody>
      </p:sp>
    </p:spTree>
    <p:extLst>
      <p:ext uri="{BB962C8B-B14F-4D97-AF65-F5344CB8AC3E}">
        <p14:creationId xmlns:p14="http://schemas.microsoft.com/office/powerpoint/2010/main" val="280245727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3B21E3-9A1E-C572-E764-A1351E7FA206}"/>
              </a:ext>
            </a:extLst>
          </p:cNvPr>
          <p:cNvSpPr>
            <a:spLocks noGrp="1"/>
          </p:cNvSpPr>
          <p:nvPr>
            <p:ph type="title"/>
          </p:nvPr>
        </p:nvSpPr>
        <p:spPr/>
        <p:txBody>
          <a:bodyPr/>
          <a:lstStyle/>
          <a:p>
            <a:r>
              <a:rPr lang="en-SG" dirty="0"/>
              <a:t>Dynamic Typing Explained</a:t>
            </a:r>
          </a:p>
        </p:txBody>
      </p:sp>
      <p:sp>
        <p:nvSpPr>
          <p:cNvPr id="4" name="Rectangle 1">
            <a:extLst>
              <a:ext uri="{FF2B5EF4-FFF2-40B4-BE49-F238E27FC236}">
                <a16:creationId xmlns:a16="http://schemas.microsoft.com/office/drawing/2014/main" id="{B3AE3B94-CB4F-A01F-3C1E-7B5D657FBA39}"/>
              </a:ext>
            </a:extLst>
          </p:cNvPr>
          <p:cNvSpPr>
            <a:spLocks noGrp="1" noChangeArrowheads="1"/>
          </p:cNvSpPr>
          <p:nvPr>
            <p:ph idx="1"/>
          </p:nvPr>
        </p:nvSpPr>
        <p:spPr bwMode="auto">
          <a:xfrm>
            <a:off x="457201" y="2739798"/>
            <a:ext cx="8458199" cy="2246769"/>
          </a:xfrm>
          <a:prstGeom prst="rect">
            <a:avLst/>
          </a:prstGeom>
          <a:ln/>
        </p:spPr>
        <p:style>
          <a:lnRef idx="2">
            <a:schemeClr val="dk1"/>
          </a:lnRef>
          <a:fillRef idx="1">
            <a:schemeClr val="lt1"/>
          </a:fillRef>
          <a:effectRef idx="0">
            <a:schemeClr val="dk1"/>
          </a:effectRef>
          <a:fontRef idx="minor">
            <a:schemeClr val="dk1"/>
          </a:fontRef>
        </p:style>
        <p:txBody>
          <a:bodyPr vert="horz" wrap="square" lIns="91440" tIns="45720" rIns="91440" bIns="45720" numCol="1" anchor="ctr" anchorCtr="0" compatLnSpc="1">
            <a:prstTxWarp prst="textNoShape">
              <a:avLst/>
            </a:prstTxWarp>
            <a:spAutoFit/>
          </a:bodyPr>
          <a:lstStyle/>
          <a:p>
            <a:pPr defTabSz="914400" eaLnBrk="0" fontAlgn="base" hangingPunct="0">
              <a:spcBef>
                <a:spcPct val="0"/>
              </a:spcBef>
              <a:spcAft>
                <a:spcPct val="0"/>
              </a:spcAft>
            </a:pPr>
            <a:r>
              <a:rPr kumimoji="0" lang="en-US" altLang="en-US" sz="2800" b="0" i="0" u="none" strike="noStrike" cap="none" normalizeH="0" baseline="0" dirty="0">
                <a:ln>
                  <a:noFill/>
                </a:ln>
                <a:solidFill>
                  <a:schemeClr val="tx1"/>
                </a:solidFill>
                <a:effectLst/>
                <a:latin typeface="Arial" panose="020B0604020202020204" pitchFamily="34" charset="0"/>
              </a:rPr>
              <a:t>Python is </a:t>
            </a:r>
            <a:r>
              <a:rPr kumimoji="0" lang="en-US" altLang="en-US" sz="2800" b="1" i="0" u="none" strike="noStrike" cap="none" normalizeH="0" baseline="0" dirty="0">
                <a:ln>
                  <a:noFill/>
                </a:ln>
                <a:solidFill>
                  <a:schemeClr val="tx1"/>
                </a:solidFill>
                <a:effectLst/>
                <a:latin typeface="Arial" panose="020B0604020202020204" pitchFamily="34" charset="0"/>
              </a:rPr>
              <a:t>dynamically typed</a:t>
            </a:r>
          </a:p>
          <a:p>
            <a:pPr defTabSz="914400" eaLnBrk="0" fontAlgn="base" hangingPunct="0">
              <a:spcBef>
                <a:spcPct val="0"/>
              </a:spcBef>
              <a:spcAft>
                <a:spcPct val="0"/>
              </a:spcAft>
            </a:pPr>
            <a:endParaRPr kumimoji="0" lang="en-US" altLang="en-US" sz="2800" b="0" i="0" u="none" strike="noStrike" cap="none" normalizeH="0" baseline="0" dirty="0">
              <a:ln>
                <a:noFill/>
              </a:ln>
              <a:solidFill>
                <a:schemeClr val="tx1"/>
              </a:solidFill>
              <a:effectLst/>
              <a:latin typeface="Arial" panose="020B0604020202020204" pitchFamily="34" charset="0"/>
            </a:endParaRPr>
          </a:p>
          <a:p>
            <a:pPr defTabSz="914400" eaLnBrk="0" fontAlgn="base" hangingPunct="0">
              <a:spcBef>
                <a:spcPct val="0"/>
              </a:spcBef>
              <a:spcAft>
                <a:spcPct val="0"/>
              </a:spcAft>
            </a:pPr>
            <a:r>
              <a:rPr kumimoji="0" lang="en-US" altLang="en-US" sz="2800" b="0" i="0" u="none" strike="noStrike" cap="none" normalizeH="0" baseline="0" dirty="0">
                <a:ln>
                  <a:noFill/>
                </a:ln>
                <a:solidFill>
                  <a:schemeClr val="tx1"/>
                </a:solidFill>
                <a:effectLst/>
                <a:latin typeface="Arial" panose="020B0604020202020204" pitchFamily="34" charset="0"/>
              </a:rPr>
              <a:t>The </a:t>
            </a:r>
            <a:r>
              <a:rPr kumimoji="0" lang="en-US" altLang="en-US" sz="2800" b="1" i="0" u="none" strike="noStrike" cap="none" normalizeH="0" baseline="0" dirty="0">
                <a:ln>
                  <a:noFill/>
                </a:ln>
                <a:solidFill>
                  <a:schemeClr val="tx1"/>
                </a:solidFill>
                <a:effectLst/>
                <a:latin typeface="Arial" panose="020B0604020202020204" pitchFamily="34" charset="0"/>
              </a:rPr>
              <a:t>type belongs to the object</a:t>
            </a:r>
            <a:r>
              <a:rPr kumimoji="0" lang="en-US" altLang="en-US" sz="2800" b="0" i="0" u="none" strike="noStrike" cap="none" normalizeH="0" baseline="0" dirty="0">
                <a:ln>
                  <a:noFill/>
                </a:ln>
                <a:solidFill>
                  <a:schemeClr val="tx1"/>
                </a:solidFill>
                <a:effectLst/>
                <a:latin typeface="Arial" panose="020B0604020202020204" pitchFamily="34" charset="0"/>
              </a:rPr>
              <a:t>, not the variable</a:t>
            </a:r>
          </a:p>
          <a:p>
            <a:pPr defTabSz="914400" eaLnBrk="0" fontAlgn="base" hangingPunct="0">
              <a:spcBef>
                <a:spcPct val="0"/>
              </a:spcBef>
              <a:spcAft>
                <a:spcPct val="0"/>
              </a:spcAft>
            </a:pPr>
            <a:endParaRPr kumimoji="0" lang="en-US" altLang="en-US" sz="2800" b="0" i="0" u="none" strike="noStrike" cap="none" normalizeH="0" baseline="0" dirty="0">
              <a:ln>
                <a:noFill/>
              </a:ln>
              <a:solidFill>
                <a:schemeClr val="tx1"/>
              </a:solidFill>
              <a:effectLst/>
              <a:latin typeface="Arial" panose="020B0604020202020204" pitchFamily="34" charset="0"/>
            </a:endParaRPr>
          </a:p>
          <a:p>
            <a:pPr defTabSz="914400" eaLnBrk="0" fontAlgn="base" hangingPunct="0">
              <a:spcBef>
                <a:spcPct val="0"/>
              </a:spcBef>
              <a:spcAft>
                <a:spcPct val="0"/>
              </a:spcAft>
            </a:pPr>
            <a:r>
              <a:rPr kumimoji="0" lang="en-US" altLang="en-US" sz="2800" b="0" i="0" u="none" strike="noStrike" cap="none" normalizeH="0" baseline="0" dirty="0">
                <a:ln>
                  <a:noFill/>
                </a:ln>
                <a:solidFill>
                  <a:schemeClr val="tx1"/>
                </a:solidFill>
                <a:effectLst/>
                <a:latin typeface="Arial" panose="020B0604020202020204" pitchFamily="34" charset="0"/>
              </a:rPr>
              <a:t>A variable can reference different types over time</a:t>
            </a:r>
          </a:p>
        </p:txBody>
      </p:sp>
      <p:sp>
        <p:nvSpPr>
          <p:cNvPr id="5" name="Rectangle 1">
            <a:extLst>
              <a:ext uri="{FF2B5EF4-FFF2-40B4-BE49-F238E27FC236}">
                <a16:creationId xmlns:a16="http://schemas.microsoft.com/office/drawing/2014/main" id="{931B9AEA-65C8-984D-0F30-1C72FFE8E74F}"/>
              </a:ext>
            </a:extLst>
          </p:cNvPr>
          <p:cNvSpPr txBox="1">
            <a:spLocks noChangeArrowheads="1"/>
          </p:cNvSpPr>
          <p:nvPr/>
        </p:nvSpPr>
        <p:spPr bwMode="auto">
          <a:xfrm>
            <a:off x="9779000" y="2955241"/>
            <a:ext cx="2247900" cy="1815882"/>
          </a:xfrm>
          <a:prstGeom prst="rect">
            <a:avLst/>
          </a:prstGeom>
          <a:ln/>
        </p:spPr>
        <p:style>
          <a:lnRef idx="2">
            <a:schemeClr val="dk1"/>
          </a:lnRef>
          <a:fillRef idx="1">
            <a:schemeClr val="lt1"/>
          </a:fillRef>
          <a:effectRef idx="0">
            <a:schemeClr val="dk1"/>
          </a:effectRef>
          <a:fontRef idx="minor">
            <a:schemeClr val="dk1"/>
          </a:fontRef>
        </p:style>
        <p:txBody>
          <a:bodyPr vert="horz" wrap="square" lIns="91440" tIns="45720" rIns="91440" bIns="45720" numCol="1" rtlCol="0" anchor="ctr" anchorCtr="0" compatLnSpc="1">
            <a:prstTxWarp prst="textNoShape">
              <a:avLst/>
            </a:prstTxWarp>
            <a:sp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defTabSz="914400" eaLnBrk="0" fontAlgn="base" hangingPunct="0">
              <a:spcBef>
                <a:spcPct val="0"/>
              </a:spcBef>
              <a:spcAft>
                <a:spcPct val="0"/>
              </a:spcAft>
              <a:buNone/>
            </a:pPr>
            <a:r>
              <a:rPr lang="pl-PL" altLang="en-US" sz="2800" dirty="0">
                <a:latin typeface="Arial" panose="020B0604020202020204" pitchFamily="34" charset="0"/>
              </a:rPr>
              <a:t>x = 10</a:t>
            </a:r>
          </a:p>
          <a:p>
            <a:pPr marL="0" indent="0" defTabSz="914400" eaLnBrk="0" fontAlgn="base" hangingPunct="0">
              <a:spcBef>
                <a:spcPct val="0"/>
              </a:spcBef>
              <a:spcAft>
                <a:spcPct val="0"/>
              </a:spcAft>
              <a:buNone/>
            </a:pPr>
            <a:r>
              <a:rPr lang="pl-PL" altLang="en-US" sz="2800" dirty="0">
                <a:latin typeface="Arial" panose="020B0604020202020204" pitchFamily="34" charset="0"/>
              </a:rPr>
              <a:t>x = "ten"</a:t>
            </a:r>
          </a:p>
          <a:p>
            <a:pPr marL="0" indent="0" defTabSz="914400" eaLnBrk="0" fontAlgn="base" hangingPunct="0">
              <a:spcBef>
                <a:spcPct val="0"/>
              </a:spcBef>
              <a:spcAft>
                <a:spcPct val="0"/>
              </a:spcAft>
              <a:buNone/>
            </a:pPr>
            <a:r>
              <a:rPr lang="pl-PL" altLang="en-US" sz="2800" dirty="0">
                <a:latin typeface="Arial" panose="020B0604020202020204" pitchFamily="34" charset="0"/>
              </a:rPr>
              <a:t>x = [10]</a:t>
            </a:r>
          </a:p>
          <a:p>
            <a:pPr marL="0" indent="0" defTabSz="914400" eaLnBrk="0" fontAlgn="base" hangingPunct="0">
              <a:spcBef>
                <a:spcPct val="0"/>
              </a:spcBef>
              <a:spcAft>
                <a:spcPct val="0"/>
              </a:spcAft>
              <a:buNone/>
            </a:pPr>
            <a:endParaRPr lang="en-US" altLang="en-US" sz="2800" dirty="0">
              <a:latin typeface="Arial" panose="020B0604020202020204" pitchFamily="34" charset="0"/>
            </a:endParaRPr>
          </a:p>
        </p:txBody>
      </p:sp>
    </p:spTree>
    <p:extLst>
      <p:ext uri="{BB962C8B-B14F-4D97-AF65-F5344CB8AC3E}">
        <p14:creationId xmlns:p14="http://schemas.microsoft.com/office/powerpoint/2010/main" val="60189906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2BF447-5621-1924-76A5-1BF244455A6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7D29EE4-EEF4-23A7-2767-D287ACC41DA2}"/>
              </a:ext>
            </a:extLst>
          </p:cNvPr>
          <p:cNvSpPr>
            <a:spLocks noGrp="1"/>
          </p:cNvSpPr>
          <p:nvPr>
            <p:ph type="title"/>
          </p:nvPr>
        </p:nvSpPr>
        <p:spPr/>
        <p:txBody>
          <a:bodyPr/>
          <a:lstStyle/>
          <a:p>
            <a:r>
              <a:rPr lang="en-SG" dirty="0"/>
              <a:t>Type Checking at Runtime</a:t>
            </a:r>
          </a:p>
        </p:txBody>
      </p:sp>
      <p:sp>
        <p:nvSpPr>
          <p:cNvPr id="5" name="Rectangle 1">
            <a:extLst>
              <a:ext uri="{FF2B5EF4-FFF2-40B4-BE49-F238E27FC236}">
                <a16:creationId xmlns:a16="http://schemas.microsoft.com/office/drawing/2014/main" id="{89C48289-BF63-6779-7B35-23C6DA6B46AA}"/>
              </a:ext>
            </a:extLst>
          </p:cNvPr>
          <p:cNvSpPr txBox="1">
            <a:spLocks noChangeArrowheads="1"/>
          </p:cNvSpPr>
          <p:nvPr/>
        </p:nvSpPr>
        <p:spPr bwMode="auto">
          <a:xfrm>
            <a:off x="8953500" y="3170685"/>
            <a:ext cx="3073400" cy="1384995"/>
          </a:xfrm>
          <a:prstGeom prst="rect">
            <a:avLst/>
          </a:prstGeom>
          <a:ln/>
        </p:spPr>
        <p:style>
          <a:lnRef idx="2">
            <a:schemeClr val="dk1"/>
          </a:lnRef>
          <a:fillRef idx="1">
            <a:schemeClr val="lt1"/>
          </a:fillRef>
          <a:effectRef idx="0">
            <a:schemeClr val="dk1"/>
          </a:effectRef>
          <a:fontRef idx="minor">
            <a:schemeClr val="dk1"/>
          </a:fontRef>
        </p:style>
        <p:txBody>
          <a:bodyPr vert="horz" wrap="square" lIns="91440" tIns="45720" rIns="91440" bIns="45720" numCol="1" rtlCol="0" anchor="ctr" anchorCtr="0" compatLnSpc="1">
            <a:prstTxWarp prst="textNoShape">
              <a:avLst/>
            </a:prstTxWarp>
            <a:sp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defTabSz="914400" eaLnBrk="0" fontAlgn="base" hangingPunct="0">
              <a:spcBef>
                <a:spcPct val="0"/>
              </a:spcBef>
              <a:spcAft>
                <a:spcPct val="0"/>
              </a:spcAft>
              <a:buNone/>
            </a:pPr>
            <a:r>
              <a:rPr lang="en-US" altLang="en-US" sz="2800" dirty="0">
                <a:latin typeface="Arial" panose="020B0604020202020204" pitchFamily="34" charset="0"/>
              </a:rPr>
              <a:t>type(x)</a:t>
            </a:r>
          </a:p>
          <a:p>
            <a:pPr marL="0" indent="0" defTabSz="914400" eaLnBrk="0" fontAlgn="base" hangingPunct="0">
              <a:spcBef>
                <a:spcPct val="0"/>
              </a:spcBef>
              <a:spcAft>
                <a:spcPct val="0"/>
              </a:spcAft>
              <a:buNone/>
            </a:pPr>
            <a:r>
              <a:rPr lang="en-US" altLang="en-US" sz="2800" dirty="0" err="1">
                <a:latin typeface="Arial" panose="020B0604020202020204" pitchFamily="34" charset="0"/>
              </a:rPr>
              <a:t>isinstance</a:t>
            </a:r>
            <a:r>
              <a:rPr lang="en-US" altLang="en-US" sz="2800" dirty="0">
                <a:latin typeface="Arial" panose="020B0604020202020204" pitchFamily="34" charset="0"/>
              </a:rPr>
              <a:t>(x, int)</a:t>
            </a:r>
          </a:p>
          <a:p>
            <a:pPr marL="0" indent="0" defTabSz="914400" eaLnBrk="0" fontAlgn="base" hangingPunct="0">
              <a:spcBef>
                <a:spcPct val="0"/>
              </a:spcBef>
              <a:spcAft>
                <a:spcPct val="0"/>
              </a:spcAft>
              <a:buNone/>
            </a:pPr>
            <a:endParaRPr lang="en-US" altLang="en-US" sz="2800" dirty="0">
              <a:latin typeface="Arial" panose="020B0604020202020204" pitchFamily="34" charset="0"/>
            </a:endParaRPr>
          </a:p>
        </p:txBody>
      </p:sp>
      <p:sp>
        <p:nvSpPr>
          <p:cNvPr id="6" name="Rectangle 2">
            <a:extLst>
              <a:ext uri="{FF2B5EF4-FFF2-40B4-BE49-F238E27FC236}">
                <a16:creationId xmlns:a16="http://schemas.microsoft.com/office/drawing/2014/main" id="{948BB2EA-BDF3-D5B5-CBAF-DE98C4843344}"/>
              </a:ext>
            </a:extLst>
          </p:cNvPr>
          <p:cNvSpPr>
            <a:spLocks noGrp="1" noChangeArrowheads="1"/>
          </p:cNvSpPr>
          <p:nvPr>
            <p:ph idx="1"/>
          </p:nvPr>
        </p:nvSpPr>
        <p:spPr bwMode="auto">
          <a:xfrm>
            <a:off x="457200" y="3201462"/>
            <a:ext cx="8104526" cy="1323439"/>
          </a:xfrm>
          <a:prstGeom prst="rect">
            <a:avLst/>
          </a:prstGeom>
          <a:ln/>
        </p:spPr>
        <p:style>
          <a:lnRef idx="2">
            <a:schemeClr val="dk1"/>
          </a:lnRef>
          <a:fillRef idx="1">
            <a:schemeClr val="lt1"/>
          </a:fillRef>
          <a:effectRef idx="0">
            <a:schemeClr val="dk1"/>
          </a:effectRef>
          <a:fontRef idx="minor">
            <a:schemeClr val="dk1"/>
          </a:fontRef>
        </p:style>
        <p:txBody>
          <a:bodyPr vert="horz" wrap="none" lIns="91440" tIns="45720" rIns="91440" bIns="45720" numCol="1" anchor="ctr" anchorCtr="0" compatLnSpc="1">
            <a:prstTxWarp prst="textNoShape">
              <a:avLst/>
            </a:prstTxWarp>
            <a:spAutoFit/>
          </a:bodyPr>
          <a:lstStyle/>
          <a:p>
            <a:pPr defTabSz="914400" eaLnBrk="0" fontAlgn="base" hangingPunct="0">
              <a:spcBef>
                <a:spcPct val="0"/>
              </a:spcBef>
              <a:spcAft>
                <a:spcPct val="0"/>
              </a:spcAft>
            </a:pPr>
            <a:r>
              <a:rPr kumimoji="0" lang="en-US" altLang="en-US" sz="2800" b="0" i="0" u="none" strike="noStrike" cap="none" normalizeH="0" baseline="0" dirty="0">
                <a:ln>
                  <a:noFill/>
                </a:ln>
                <a:solidFill>
                  <a:schemeClr val="tx1"/>
                </a:solidFill>
                <a:effectLst/>
                <a:latin typeface="Arial" panose="020B0604020202020204" pitchFamily="34" charset="0"/>
              </a:rPr>
              <a:t>Types are determined </a:t>
            </a:r>
            <a:r>
              <a:rPr kumimoji="0" lang="en-US" altLang="en-US" sz="2800" b="1" i="0" u="none" strike="noStrike" cap="none" normalizeH="0" baseline="0" dirty="0">
                <a:ln>
                  <a:noFill/>
                </a:ln>
                <a:solidFill>
                  <a:schemeClr val="tx1"/>
                </a:solidFill>
                <a:effectLst/>
                <a:latin typeface="Arial" panose="020B0604020202020204" pitchFamily="34" charset="0"/>
              </a:rPr>
              <a:t>when the program runs</a:t>
            </a:r>
          </a:p>
          <a:p>
            <a:pPr marL="0" indent="0" defTabSz="914400" eaLnBrk="0" fontAlgn="base" hangingPunct="0">
              <a:spcBef>
                <a:spcPct val="0"/>
              </a:spcBef>
              <a:spcAft>
                <a:spcPct val="0"/>
              </a:spcAft>
              <a:buNone/>
            </a:pPr>
            <a:endParaRPr kumimoji="0" lang="en-US" altLang="en-US" sz="2400" b="0" i="0" u="none" strike="noStrike" cap="none" normalizeH="0" baseline="0" dirty="0">
              <a:ln>
                <a:noFill/>
              </a:ln>
              <a:solidFill>
                <a:schemeClr val="tx1"/>
              </a:solidFill>
              <a:effectLst/>
              <a:latin typeface="Arial" panose="020B0604020202020204" pitchFamily="34" charset="0"/>
            </a:endParaRPr>
          </a:p>
          <a:p>
            <a:pPr defTabSz="914400" eaLnBrk="0" fontAlgn="base" hangingPunct="0">
              <a:spcBef>
                <a:spcPct val="0"/>
              </a:spcBef>
              <a:spcAft>
                <a:spcPct val="0"/>
              </a:spcAft>
            </a:pPr>
            <a:r>
              <a:rPr kumimoji="0" lang="en-US" altLang="en-US" sz="2800" b="0" i="0" u="none" strike="noStrike" cap="none" normalizeH="0" baseline="0" dirty="0">
                <a:ln>
                  <a:noFill/>
                </a:ln>
                <a:solidFill>
                  <a:schemeClr val="tx1"/>
                </a:solidFill>
                <a:effectLst/>
                <a:latin typeface="Arial" panose="020B0604020202020204" pitchFamily="34" charset="0"/>
              </a:rPr>
              <a:t>Use </a:t>
            </a:r>
            <a:r>
              <a:rPr kumimoji="0" lang="en-US" altLang="en-US" sz="2800" b="0" i="0" u="none" strike="noStrike" cap="none" normalizeH="0" baseline="0" dirty="0">
                <a:ln>
                  <a:noFill/>
                </a:ln>
                <a:solidFill>
                  <a:schemeClr val="tx1"/>
                </a:solidFill>
                <a:effectLst/>
                <a:latin typeface="Arial Unicode MS"/>
              </a:rPr>
              <a:t>type()</a:t>
            </a:r>
            <a:r>
              <a:rPr kumimoji="0" lang="en-US" altLang="en-US" sz="1800" b="0" i="0" u="none" strike="noStrike" cap="none" normalizeH="0" baseline="0" dirty="0">
                <a:ln>
                  <a:noFill/>
                </a:ln>
                <a:solidFill>
                  <a:schemeClr val="tx1"/>
                </a:solidFill>
                <a:effectLst/>
              </a:rPr>
              <a:t> </a:t>
            </a:r>
            <a:r>
              <a:rPr kumimoji="0" lang="en-US" altLang="en-US" sz="2800" b="0" i="0" u="none" strike="noStrike" cap="none" normalizeH="0" baseline="0" dirty="0">
                <a:ln>
                  <a:noFill/>
                </a:ln>
                <a:solidFill>
                  <a:schemeClr val="tx1"/>
                </a:solidFill>
                <a:effectLst/>
              </a:rPr>
              <a:t>and</a:t>
            </a:r>
            <a:r>
              <a:rPr kumimoji="0" lang="en-US" altLang="en-US" sz="1800" b="0" i="0" u="none" strike="noStrike" cap="none" normalizeH="0" baseline="0" dirty="0">
                <a:ln>
                  <a:noFill/>
                </a:ln>
                <a:solidFill>
                  <a:schemeClr val="tx1"/>
                </a:solidFill>
                <a:effectLst/>
              </a:rPr>
              <a:t> </a:t>
            </a:r>
            <a:r>
              <a:rPr kumimoji="0" lang="en-US" altLang="en-US" sz="2800" b="0" i="0" u="none" strike="noStrike" cap="none" normalizeH="0" baseline="0" dirty="0" err="1">
                <a:ln>
                  <a:noFill/>
                </a:ln>
                <a:solidFill>
                  <a:schemeClr val="tx1"/>
                </a:solidFill>
                <a:effectLst/>
                <a:latin typeface="Arial Unicode MS"/>
              </a:rPr>
              <a:t>isinstance</a:t>
            </a:r>
            <a:r>
              <a:rPr kumimoji="0" lang="en-US" altLang="en-US" sz="2800" b="0" i="0" u="none" strike="noStrike" cap="none" normalizeH="0" baseline="0" dirty="0">
                <a:ln>
                  <a:noFill/>
                </a:ln>
                <a:solidFill>
                  <a:schemeClr val="tx1"/>
                </a:solidFill>
                <a:effectLst/>
                <a:latin typeface="Arial Unicode MS"/>
              </a:rPr>
              <a:t>()</a:t>
            </a:r>
            <a:endParaRPr kumimoji="0" lang="en-US" altLang="en-US" sz="2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395944657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Core Built-in Types</a:t>
            </a:r>
          </a:p>
        </p:txBody>
      </p:sp>
      <p:sp>
        <p:nvSpPr>
          <p:cNvPr id="3" name="Content Placeholder 2"/>
          <p:cNvSpPr>
            <a:spLocks noGrp="1"/>
          </p:cNvSpPr>
          <p:nvPr>
            <p:ph idx="1"/>
          </p:nvPr>
        </p:nvSpPr>
        <p:spPr/>
        <p:txBody>
          <a:bodyPr>
            <a:normAutofit/>
          </a:bodyPr>
          <a:lstStyle/>
          <a:p>
            <a:pPr marL="0" indent="0" algn="l">
              <a:buNone/>
              <a:defRPr sz="1500">
                <a:latin typeface="Courier New"/>
              </a:defRPr>
            </a:pPr>
            <a:r>
              <a:rPr sz="2400" dirty="0"/>
              <a:t>int        0  -42  1_000_000</a:t>
            </a:r>
            <a:br>
              <a:rPr sz="2400" dirty="0"/>
            </a:br>
            <a:r>
              <a:rPr sz="2400" dirty="0"/>
              <a:t>float      0.0  3.14159  6.02e23</a:t>
            </a:r>
            <a:br>
              <a:rPr sz="2400" dirty="0"/>
            </a:br>
            <a:r>
              <a:rPr sz="2400" dirty="0"/>
              <a:t>complex    3+4j</a:t>
            </a:r>
            <a:br>
              <a:rPr sz="2400" dirty="0"/>
            </a:br>
            <a:r>
              <a:rPr sz="2400" dirty="0"/>
              <a:t>str        'spam'  "spam"  """multi-line"""</a:t>
            </a:r>
            <a:br>
              <a:rPr sz="2400" dirty="0"/>
            </a:br>
            <a:r>
              <a:rPr sz="2400" dirty="0"/>
              <a:t>bool       True  False</a:t>
            </a:r>
            <a:br>
              <a:rPr sz="2400" dirty="0"/>
            </a:br>
            <a:r>
              <a:rPr sz="2400" dirty="0" err="1"/>
              <a:t>NoneType</a:t>
            </a:r>
            <a:r>
              <a:rPr sz="2400" dirty="0"/>
              <a:t>   None</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379561-E6F8-C063-8FF0-92A65C8E8A2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0C58441-08A2-3F32-68B9-7299751E0669}"/>
              </a:ext>
            </a:extLst>
          </p:cNvPr>
          <p:cNvSpPr>
            <a:spLocks noGrp="1"/>
          </p:cNvSpPr>
          <p:nvPr>
            <p:ph type="title"/>
          </p:nvPr>
        </p:nvSpPr>
        <p:spPr/>
        <p:txBody>
          <a:bodyPr>
            <a:normAutofit/>
          </a:bodyPr>
          <a:lstStyle/>
          <a:p>
            <a:r>
              <a:rPr lang="en-SG" dirty="0"/>
              <a:t>Reassignment and Object Identity</a:t>
            </a:r>
          </a:p>
        </p:txBody>
      </p:sp>
      <p:sp>
        <p:nvSpPr>
          <p:cNvPr id="5" name="Rectangle 1">
            <a:extLst>
              <a:ext uri="{FF2B5EF4-FFF2-40B4-BE49-F238E27FC236}">
                <a16:creationId xmlns:a16="http://schemas.microsoft.com/office/drawing/2014/main" id="{EA21959D-7CAE-C3DA-B60C-3C0CE852627D}"/>
              </a:ext>
            </a:extLst>
          </p:cNvPr>
          <p:cNvSpPr txBox="1">
            <a:spLocks noChangeArrowheads="1"/>
          </p:cNvSpPr>
          <p:nvPr/>
        </p:nvSpPr>
        <p:spPr bwMode="auto">
          <a:xfrm>
            <a:off x="6388100" y="1859153"/>
            <a:ext cx="5524500" cy="1569660"/>
          </a:xfrm>
          <a:prstGeom prst="rect">
            <a:avLst/>
          </a:prstGeom>
        </p:spPr>
        <p:style>
          <a:lnRef idx="2">
            <a:schemeClr val="dk1"/>
          </a:lnRef>
          <a:fillRef idx="1">
            <a:schemeClr val="lt1"/>
          </a:fillRef>
          <a:effectRef idx="0">
            <a:schemeClr val="dk1"/>
          </a:effectRef>
          <a:fontRef idx="minor">
            <a:schemeClr val="dk1"/>
          </a:fontRef>
        </p:style>
        <p:txBody>
          <a:bodyPr vert="horz" wrap="square" lIns="91440" tIns="45720" rIns="91440" bIns="45720" numCol="1" rtlCol="0" anchor="ctr" anchorCtr="0" compatLnSpc="1">
            <a:prstTxWarp prst="textNoShape">
              <a:avLst/>
            </a:prstTxWarp>
            <a:spAutoFit/>
          </a:bodyPr>
          <a:lstStyle>
            <a:lvl1pPr marL="342900" indent="-342900" algn="l" defTabSz="457200" rtl="0" eaLnBrk="1" latinLnBrk="0" hangingPunct="1">
              <a:spcBef>
                <a:spcPct val="20000"/>
              </a:spcBef>
              <a:buFont typeface="Arial"/>
              <a:buChar char="•"/>
              <a:defRPr sz="3200" kern="1200">
                <a:solidFill>
                  <a:schemeClr val="dk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dk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dk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dk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dk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dk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dk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dk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dk1"/>
                </a:solidFill>
                <a:latin typeface="+mn-lt"/>
                <a:ea typeface="+mn-ea"/>
                <a:cs typeface="+mn-cs"/>
              </a:defRPr>
            </a:lvl9pPr>
          </a:lstStyle>
          <a:p>
            <a:pPr marL="0" indent="0" defTabSz="914400" eaLnBrk="0" fontAlgn="base" hangingPunct="0">
              <a:spcBef>
                <a:spcPct val="0"/>
              </a:spcBef>
              <a:spcAft>
                <a:spcPct val="0"/>
              </a:spcAft>
              <a:buNone/>
            </a:pPr>
            <a:r>
              <a:rPr lang="en-US" altLang="en-US" sz="2400" dirty="0">
                <a:solidFill>
                  <a:schemeClr val="tx1"/>
                </a:solidFill>
                <a:latin typeface="Arial" panose="020B0604020202020204" pitchFamily="34" charset="0"/>
              </a:rPr>
              <a:t>x = 5</a:t>
            </a:r>
          </a:p>
          <a:p>
            <a:pPr marL="0" indent="0" defTabSz="914400" eaLnBrk="0" fontAlgn="base" hangingPunct="0">
              <a:spcBef>
                <a:spcPct val="0"/>
              </a:spcBef>
              <a:spcAft>
                <a:spcPct val="0"/>
              </a:spcAft>
              <a:buNone/>
            </a:pPr>
            <a:r>
              <a:rPr lang="en-US" altLang="en-US" sz="2400" dirty="0">
                <a:solidFill>
                  <a:schemeClr val="tx1"/>
                </a:solidFill>
                <a:latin typeface="Arial" panose="020B0604020202020204" pitchFamily="34" charset="0"/>
              </a:rPr>
              <a:t>x = x + 1</a:t>
            </a:r>
          </a:p>
          <a:p>
            <a:pPr marL="0" indent="0" defTabSz="914400" eaLnBrk="0" fontAlgn="base" hangingPunct="0">
              <a:spcBef>
                <a:spcPct val="0"/>
              </a:spcBef>
              <a:spcAft>
                <a:spcPct val="0"/>
              </a:spcAft>
              <a:buNone/>
            </a:pPr>
            <a:endParaRPr lang="en-US" altLang="en-US" sz="2400" dirty="0">
              <a:solidFill>
                <a:schemeClr val="tx1"/>
              </a:solidFill>
              <a:latin typeface="Arial" panose="020B0604020202020204" pitchFamily="34" charset="0"/>
            </a:endParaRPr>
          </a:p>
          <a:p>
            <a:pPr marL="0" indent="0" defTabSz="914400" eaLnBrk="0" fontAlgn="base" hangingPunct="0">
              <a:spcBef>
                <a:spcPct val="0"/>
              </a:spcBef>
              <a:spcAft>
                <a:spcPct val="0"/>
              </a:spcAft>
              <a:buNone/>
            </a:pPr>
            <a:r>
              <a:rPr lang="en-US" altLang="en-US" sz="2400" dirty="0">
                <a:solidFill>
                  <a:schemeClr val="tx1"/>
                </a:solidFill>
                <a:latin typeface="Arial" panose="020B0604020202020204" pitchFamily="34" charset="0"/>
              </a:rPr>
              <a:t># new object, new reference</a:t>
            </a:r>
          </a:p>
        </p:txBody>
      </p:sp>
      <p:sp>
        <p:nvSpPr>
          <p:cNvPr id="3" name="Rectangle 1">
            <a:extLst>
              <a:ext uri="{FF2B5EF4-FFF2-40B4-BE49-F238E27FC236}">
                <a16:creationId xmlns:a16="http://schemas.microsoft.com/office/drawing/2014/main" id="{DAF6679A-CA38-33ED-5535-1F3F2B3459C5}"/>
              </a:ext>
            </a:extLst>
          </p:cNvPr>
          <p:cNvSpPr>
            <a:spLocks noGrp="1" noChangeArrowheads="1"/>
          </p:cNvSpPr>
          <p:nvPr>
            <p:ph idx="1"/>
          </p:nvPr>
        </p:nvSpPr>
        <p:spPr bwMode="auto">
          <a:xfrm>
            <a:off x="457200" y="1674487"/>
            <a:ext cx="5637212" cy="2246769"/>
          </a:xfrm>
          <a:prstGeom prst="rect">
            <a:avLst/>
          </a:prstGeom>
          <a:ln/>
        </p:spPr>
        <p:style>
          <a:lnRef idx="2">
            <a:schemeClr val="dk1"/>
          </a:lnRef>
          <a:fillRef idx="1">
            <a:schemeClr val="lt1"/>
          </a:fillRef>
          <a:effectRef idx="0">
            <a:schemeClr val="dk1"/>
          </a:effectRef>
          <a:fontRef idx="minor">
            <a:schemeClr val="dk1"/>
          </a:fontRef>
        </p:style>
        <p:txBody>
          <a:bodyPr vert="horz" wrap="square" lIns="91440" tIns="45720" rIns="91440" bIns="45720" numCol="1" anchor="ctr" anchorCtr="0" compatLnSpc="1">
            <a:prstTxWarp prst="textNoShape">
              <a:avLst/>
            </a:prstTxWarp>
            <a:spAutoFit/>
          </a:bodyPr>
          <a:lstStyle/>
          <a:p>
            <a:pPr defTabSz="914400" eaLnBrk="0" fontAlgn="base" hangingPunct="0">
              <a:spcBef>
                <a:spcPct val="0"/>
              </a:spcBef>
              <a:spcAft>
                <a:spcPct val="0"/>
              </a:spcAft>
            </a:pPr>
            <a:r>
              <a:rPr kumimoji="0" lang="en-US" altLang="en-US" sz="2800" b="0" i="0" u="none" strike="noStrike" cap="none" normalizeH="0" baseline="0" dirty="0">
                <a:ln>
                  <a:noFill/>
                </a:ln>
                <a:solidFill>
                  <a:schemeClr val="tx1"/>
                </a:solidFill>
                <a:effectLst/>
                <a:latin typeface="Arial" panose="020B0604020202020204" pitchFamily="34" charset="0"/>
              </a:rPr>
              <a:t>Reassigning does </a:t>
            </a:r>
            <a:r>
              <a:rPr kumimoji="0" lang="en-US" altLang="en-US" sz="2800" b="1" i="0" u="none" strike="noStrike" cap="none" normalizeH="0" baseline="0" dirty="0">
                <a:ln>
                  <a:noFill/>
                </a:ln>
                <a:solidFill>
                  <a:schemeClr val="tx1"/>
                </a:solidFill>
                <a:effectLst/>
                <a:latin typeface="Arial" panose="020B0604020202020204" pitchFamily="34" charset="0"/>
              </a:rPr>
              <a:t>not modify the object</a:t>
            </a:r>
          </a:p>
          <a:p>
            <a:pPr defTabSz="914400" eaLnBrk="0" fontAlgn="base" hangingPunct="0">
              <a:spcBef>
                <a:spcPct val="0"/>
              </a:spcBef>
              <a:spcAft>
                <a:spcPct val="0"/>
              </a:spcAft>
            </a:pPr>
            <a:endParaRPr kumimoji="0" lang="en-US" altLang="en-US" sz="2800" b="0" i="0" u="none" strike="noStrike" cap="none" normalizeH="0" baseline="0" dirty="0">
              <a:ln>
                <a:noFill/>
              </a:ln>
              <a:solidFill>
                <a:schemeClr val="tx1"/>
              </a:solidFill>
              <a:effectLst/>
              <a:latin typeface="Arial" panose="020B0604020202020204" pitchFamily="34" charset="0"/>
            </a:endParaRPr>
          </a:p>
          <a:p>
            <a:pPr defTabSz="914400" eaLnBrk="0" fontAlgn="base" hangingPunct="0">
              <a:spcBef>
                <a:spcPct val="0"/>
              </a:spcBef>
              <a:spcAft>
                <a:spcPct val="0"/>
              </a:spcAft>
            </a:pPr>
            <a:r>
              <a:rPr kumimoji="0" lang="en-US" altLang="en-US" sz="2800" b="0" i="0" u="none" strike="noStrike" cap="none" normalizeH="0" baseline="0" dirty="0">
                <a:ln>
                  <a:noFill/>
                </a:ln>
                <a:solidFill>
                  <a:schemeClr val="tx1"/>
                </a:solidFill>
                <a:effectLst/>
                <a:latin typeface="Arial" panose="020B0604020202020204" pitchFamily="34" charset="0"/>
              </a:rPr>
              <a:t>It changes what the variable refers to</a:t>
            </a:r>
          </a:p>
        </p:txBody>
      </p:sp>
    </p:spTree>
    <p:extLst>
      <p:ext uri="{BB962C8B-B14F-4D97-AF65-F5344CB8AC3E}">
        <p14:creationId xmlns:p14="http://schemas.microsoft.com/office/powerpoint/2010/main" val="243779028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Numbers &amp; Operators</a:t>
            </a:r>
          </a:p>
        </p:txBody>
      </p:sp>
      <p:sp>
        <p:nvSpPr>
          <p:cNvPr id="3" name="Content Placeholder 2"/>
          <p:cNvSpPr>
            <a:spLocks noGrp="1"/>
          </p:cNvSpPr>
          <p:nvPr>
            <p:ph idx="1"/>
          </p:nvPr>
        </p:nvSpPr>
        <p:spPr/>
        <p:txBody>
          <a:bodyPr/>
          <a:lstStyle/>
          <a:p>
            <a:pPr algn="l">
              <a:defRPr sz="1500">
                <a:latin typeface="Courier New"/>
              </a:defRPr>
            </a:pPr>
            <a:r>
              <a:t>7 / 3            # 2.333…  (float)</a:t>
            </a:r>
            <a:br/>
            <a:r>
              <a:t>7 // 3           # 2       (floor int)</a:t>
            </a:r>
            <a:br/>
            <a:r>
              <a:t>7 % 3            # 1       (modulo)</a:t>
            </a:r>
            <a:br/>
            <a:r>
              <a:t>divmod(7, 3)     # (2, 1)</a:t>
            </a:r>
            <a:br/>
            <a:br/>
            <a:r>
              <a:t>2 ** 10          # 1024</a:t>
            </a:r>
            <a:br/>
            <a:r>
              <a:t>pow(2, 10, 100)  # 24  (modular exponentiation)</a:t>
            </a:r>
            <a:br/>
            <a:br/>
            <a:r>
              <a:t>from decimal import Decimal</a:t>
            </a:r>
            <a:br/>
            <a:r>
              <a:t>price = Decimal('19.99')</a:t>
            </a:r>
            <a:br/>
            <a:r>
              <a:t>tax   = price * Decimal('0.07')</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Strings – indexing, slicing, methods</a:t>
            </a:r>
          </a:p>
        </p:txBody>
      </p:sp>
      <p:sp>
        <p:nvSpPr>
          <p:cNvPr id="3" name="Content Placeholder 2"/>
          <p:cNvSpPr>
            <a:spLocks noGrp="1"/>
          </p:cNvSpPr>
          <p:nvPr>
            <p:ph idx="1"/>
          </p:nvPr>
        </p:nvSpPr>
        <p:spPr>
          <a:xfrm>
            <a:off x="457200" y="1600200"/>
            <a:ext cx="9550400" cy="4525963"/>
          </a:xfrm>
        </p:spPr>
        <p:txBody>
          <a:bodyPr>
            <a:normAutofit fontScale="92500" lnSpcReduction="20000"/>
          </a:bodyPr>
          <a:lstStyle/>
          <a:p>
            <a:pPr algn="l">
              <a:defRPr sz="1500">
                <a:latin typeface="Courier New"/>
              </a:defRPr>
            </a:pPr>
            <a:r>
              <a:rPr sz="2400" dirty="0"/>
              <a:t>s = "Python"</a:t>
            </a:r>
            <a:br>
              <a:rPr sz="2400" dirty="0"/>
            </a:br>
            <a:r>
              <a:rPr sz="2400" dirty="0"/>
              <a:t>s[0]            # 'P'</a:t>
            </a:r>
            <a:br>
              <a:rPr sz="2400" dirty="0"/>
            </a:br>
            <a:r>
              <a:rPr sz="2400" dirty="0"/>
              <a:t>s[-1]           # 'n'</a:t>
            </a:r>
            <a:br>
              <a:rPr sz="2400" dirty="0"/>
            </a:br>
            <a:r>
              <a:rPr sz="2400" dirty="0"/>
              <a:t>s[1:4]          # '</a:t>
            </a:r>
            <a:r>
              <a:rPr sz="2400" dirty="0" err="1"/>
              <a:t>yth</a:t>
            </a:r>
            <a:r>
              <a:rPr sz="2400" dirty="0"/>
              <a:t>'</a:t>
            </a:r>
            <a:br>
              <a:rPr sz="2400" dirty="0"/>
            </a:br>
            <a:r>
              <a:rPr sz="2400" dirty="0"/>
              <a:t>s[::-1]         # '</a:t>
            </a:r>
            <a:r>
              <a:rPr sz="2400" dirty="0" err="1"/>
              <a:t>nohtyP</a:t>
            </a:r>
            <a:r>
              <a:rPr sz="2400" dirty="0"/>
              <a:t>'</a:t>
            </a:r>
            <a:br>
              <a:rPr sz="2400" dirty="0"/>
            </a:br>
            <a:br>
              <a:rPr sz="2400" dirty="0"/>
            </a:br>
            <a:r>
              <a:rPr sz="2400" dirty="0"/>
              <a:t>"</a:t>
            </a:r>
            <a:r>
              <a:rPr sz="2400" dirty="0" err="1"/>
              <a:t>hello".upper</a:t>
            </a:r>
            <a:r>
              <a:rPr sz="2400" dirty="0"/>
              <a:t>()                 # 'HELLO'</a:t>
            </a:r>
            <a:br>
              <a:rPr sz="2400" dirty="0"/>
            </a:br>
            <a:r>
              <a:rPr sz="2400" dirty="0"/>
              <a:t>"  spaced  ".strip()            # 'spaced'</a:t>
            </a:r>
            <a:br>
              <a:rPr sz="2400" dirty="0"/>
            </a:br>
            <a:r>
              <a:rPr sz="2400" dirty="0"/>
              <a:t>"</a:t>
            </a:r>
            <a:r>
              <a:rPr sz="2400" dirty="0" err="1"/>
              <a:t>cat,dog,bird".split</a:t>
            </a:r>
            <a:r>
              <a:rPr sz="2400" dirty="0"/>
              <a:t>(",")       # ['cat', 'dog', 'bird']</a:t>
            </a:r>
            <a:br>
              <a:rPr sz="2400" dirty="0"/>
            </a:br>
            <a:r>
              <a:rPr sz="2400" dirty="0"/>
              <a:t>"-".join(["A", "B", "C"])       # 'A-B-C'</a:t>
            </a:r>
            <a:br>
              <a:rPr sz="2400" dirty="0"/>
            </a:br>
            <a:br>
              <a:rPr sz="2400" dirty="0"/>
            </a:br>
            <a:r>
              <a:rPr sz="2400" dirty="0"/>
              <a:t>name, age = "Ada", 36</a:t>
            </a:r>
            <a:br>
              <a:rPr sz="2400" dirty="0"/>
            </a:br>
            <a:r>
              <a:rPr sz="2400" dirty="0"/>
              <a:t>f"{name=} is {age=}"            # name='Ada' is age=36</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Booleans &amp; Truthiness</a:t>
            </a:r>
          </a:p>
        </p:txBody>
      </p:sp>
      <p:sp>
        <p:nvSpPr>
          <p:cNvPr id="3" name="Content Placeholder 2"/>
          <p:cNvSpPr>
            <a:spLocks noGrp="1"/>
          </p:cNvSpPr>
          <p:nvPr>
            <p:ph idx="1"/>
          </p:nvPr>
        </p:nvSpPr>
        <p:spPr/>
        <p:txBody>
          <a:bodyPr>
            <a:normAutofit/>
          </a:bodyPr>
          <a:lstStyle/>
          <a:p>
            <a:pPr algn="l">
              <a:defRPr sz="1500">
                <a:latin typeface="Courier New"/>
              </a:defRPr>
            </a:pPr>
            <a:r>
              <a:rPr sz="2800" dirty="0"/>
              <a:t># Explicit</a:t>
            </a:r>
            <a:br>
              <a:rPr sz="2800" dirty="0"/>
            </a:br>
            <a:r>
              <a:rPr sz="2800" dirty="0" err="1"/>
              <a:t>is_valid</a:t>
            </a:r>
            <a:r>
              <a:rPr sz="2800" dirty="0"/>
              <a:t> = True</a:t>
            </a:r>
            <a:br>
              <a:rPr sz="2800" dirty="0"/>
            </a:br>
            <a:br>
              <a:rPr sz="2800" dirty="0"/>
            </a:br>
            <a:r>
              <a:rPr sz="2800" dirty="0"/>
              <a:t># Implicit (</a:t>
            </a:r>
            <a:r>
              <a:rPr sz="2800" dirty="0" err="1"/>
              <a:t>falsy</a:t>
            </a:r>
            <a:r>
              <a:rPr sz="2800" dirty="0"/>
              <a:t> values)</a:t>
            </a:r>
            <a:br>
              <a:rPr sz="2800" dirty="0"/>
            </a:br>
            <a:r>
              <a:rPr sz="2800" dirty="0"/>
              <a:t>0  0.0  ""  []  {}  None  set()</a:t>
            </a:r>
            <a:br>
              <a:rPr sz="2800" dirty="0"/>
            </a:br>
            <a:br>
              <a:rPr sz="2800" dirty="0"/>
            </a:br>
            <a:r>
              <a:rPr sz="2800" dirty="0"/>
              <a:t># Quick filter</a:t>
            </a:r>
            <a:br>
              <a:rPr sz="2800" dirty="0"/>
            </a:br>
            <a:r>
              <a:rPr sz="2800" dirty="0"/>
              <a:t>users = ["", "Ada", "", "Linus"]</a:t>
            </a:r>
            <a:br>
              <a:rPr sz="2800" dirty="0"/>
            </a:br>
            <a:r>
              <a:rPr sz="2800" dirty="0" err="1"/>
              <a:t>real_users</a:t>
            </a:r>
            <a:r>
              <a:rPr sz="2800" dirty="0"/>
              <a:t> = [u for u in users if u]   # ['Ada', 'Linus']</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Type Casting &amp; Input</a:t>
            </a:r>
          </a:p>
        </p:txBody>
      </p:sp>
      <p:sp>
        <p:nvSpPr>
          <p:cNvPr id="3" name="Content Placeholder 2"/>
          <p:cNvSpPr>
            <a:spLocks noGrp="1"/>
          </p:cNvSpPr>
          <p:nvPr>
            <p:ph idx="1"/>
          </p:nvPr>
        </p:nvSpPr>
        <p:spPr/>
        <p:txBody>
          <a:bodyPr>
            <a:normAutofit/>
          </a:bodyPr>
          <a:lstStyle/>
          <a:p>
            <a:pPr algn="l">
              <a:defRPr sz="1500">
                <a:latin typeface="Courier New"/>
              </a:defRPr>
            </a:pPr>
            <a:r>
              <a:rPr sz="2800" dirty="0"/>
              <a:t>def </a:t>
            </a:r>
            <a:r>
              <a:rPr sz="2800" dirty="0" err="1"/>
              <a:t>to_int</a:t>
            </a:r>
            <a:r>
              <a:rPr sz="2800" dirty="0"/>
              <a:t>(text, default=None):</a:t>
            </a:r>
            <a:br>
              <a:rPr sz="2800" dirty="0"/>
            </a:br>
            <a:r>
              <a:rPr sz="2800" dirty="0"/>
              <a:t>    try:</a:t>
            </a:r>
            <a:br>
              <a:rPr sz="2800" dirty="0"/>
            </a:br>
            <a:r>
              <a:rPr sz="2800" dirty="0"/>
              <a:t>        return int(text)</a:t>
            </a:r>
            <a:br>
              <a:rPr sz="2800" dirty="0"/>
            </a:br>
            <a:r>
              <a:rPr sz="2800" dirty="0"/>
              <a:t>    except </a:t>
            </a:r>
            <a:r>
              <a:rPr sz="2800" dirty="0" err="1"/>
              <a:t>ValueError</a:t>
            </a:r>
            <a:r>
              <a:rPr sz="2800" dirty="0"/>
              <a:t>:</a:t>
            </a:r>
            <a:br>
              <a:rPr sz="2800" dirty="0"/>
            </a:br>
            <a:r>
              <a:rPr sz="2800" dirty="0"/>
              <a:t>        return default</a:t>
            </a:r>
            <a:br>
              <a:rPr sz="2800" dirty="0"/>
            </a:br>
            <a:br>
              <a:rPr sz="2800" dirty="0"/>
            </a:br>
            <a:r>
              <a:rPr sz="2800" dirty="0"/>
              <a:t>birth = input("Birth year: ")</a:t>
            </a:r>
            <a:br>
              <a:rPr sz="2800" dirty="0"/>
            </a:br>
            <a:r>
              <a:rPr sz="2800" dirty="0"/>
              <a:t>age = 2025 - int(birth)</a:t>
            </a:r>
            <a:br>
              <a:rPr sz="2800" dirty="0"/>
            </a:br>
            <a:r>
              <a:rPr sz="2800" dirty="0"/>
              <a:t>print(</a:t>
            </a:r>
            <a:r>
              <a:rPr sz="2800" dirty="0" err="1"/>
              <a:t>f"You</a:t>
            </a:r>
            <a:r>
              <a:rPr sz="2800" dirty="0"/>
              <a:t> turn {age} this year")</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CC2859-9DF8-9D6D-34D4-B07150B1BFF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4E721DA-2C9E-5EF4-C56E-0F053E71B061}"/>
              </a:ext>
            </a:extLst>
          </p:cNvPr>
          <p:cNvSpPr>
            <a:spLocks noGrp="1"/>
          </p:cNvSpPr>
          <p:nvPr>
            <p:ph type="title"/>
          </p:nvPr>
        </p:nvSpPr>
        <p:spPr/>
        <p:txBody>
          <a:bodyPr>
            <a:normAutofit/>
          </a:bodyPr>
          <a:lstStyle/>
          <a:p>
            <a:r>
              <a:rPr lang="en-SG" dirty="0"/>
              <a:t>Mutable vs Immutable Objects</a:t>
            </a:r>
          </a:p>
        </p:txBody>
      </p:sp>
      <p:sp>
        <p:nvSpPr>
          <p:cNvPr id="5" name="Rectangle 1">
            <a:extLst>
              <a:ext uri="{FF2B5EF4-FFF2-40B4-BE49-F238E27FC236}">
                <a16:creationId xmlns:a16="http://schemas.microsoft.com/office/drawing/2014/main" id="{1F58EA1E-317D-4729-A230-C80DB7A86520}"/>
              </a:ext>
            </a:extLst>
          </p:cNvPr>
          <p:cNvSpPr txBox="1">
            <a:spLocks noChangeArrowheads="1"/>
          </p:cNvSpPr>
          <p:nvPr/>
        </p:nvSpPr>
        <p:spPr bwMode="auto">
          <a:xfrm>
            <a:off x="6388100" y="2090172"/>
            <a:ext cx="5524500" cy="2677656"/>
          </a:xfrm>
          <a:prstGeom prst="rect">
            <a:avLst/>
          </a:prstGeom>
        </p:spPr>
        <p:style>
          <a:lnRef idx="2">
            <a:schemeClr val="dk1"/>
          </a:lnRef>
          <a:fillRef idx="1">
            <a:schemeClr val="lt1"/>
          </a:fillRef>
          <a:effectRef idx="0">
            <a:schemeClr val="dk1"/>
          </a:effectRef>
          <a:fontRef idx="minor">
            <a:schemeClr val="dk1"/>
          </a:fontRef>
        </p:style>
        <p:txBody>
          <a:bodyPr vert="horz" wrap="square" lIns="91440" tIns="45720" rIns="91440" bIns="45720" numCol="1" rtlCol="0" anchor="ctr" anchorCtr="0" compatLnSpc="1">
            <a:prstTxWarp prst="textNoShape">
              <a:avLst/>
            </a:prstTxWarp>
            <a:spAutoFit/>
          </a:bodyPr>
          <a:lstStyle>
            <a:lvl1pPr marL="342900" indent="-342900" algn="l" defTabSz="457200" rtl="0" eaLnBrk="1" latinLnBrk="0" hangingPunct="1">
              <a:spcBef>
                <a:spcPct val="20000"/>
              </a:spcBef>
              <a:buFont typeface="Arial"/>
              <a:buChar char="•"/>
              <a:defRPr sz="3200" kern="1200">
                <a:solidFill>
                  <a:schemeClr val="dk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dk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dk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dk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dk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dk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dk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dk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dk1"/>
                </a:solidFill>
                <a:latin typeface="+mn-lt"/>
                <a:ea typeface="+mn-ea"/>
                <a:cs typeface="+mn-cs"/>
              </a:defRPr>
            </a:lvl9pPr>
          </a:lstStyle>
          <a:p>
            <a:pPr marL="0" indent="0" defTabSz="914400" eaLnBrk="0" fontAlgn="base" hangingPunct="0">
              <a:spcBef>
                <a:spcPct val="0"/>
              </a:spcBef>
              <a:spcAft>
                <a:spcPct val="0"/>
              </a:spcAft>
              <a:buNone/>
            </a:pPr>
            <a:r>
              <a:rPr lang="en-US" altLang="en-US" sz="2400" dirty="0">
                <a:solidFill>
                  <a:schemeClr val="tx1"/>
                </a:solidFill>
                <a:latin typeface="Arial" panose="020B0604020202020204" pitchFamily="34" charset="0"/>
              </a:rPr>
              <a:t># Immutable</a:t>
            </a:r>
          </a:p>
          <a:p>
            <a:pPr marL="0" indent="0" defTabSz="914400" eaLnBrk="0" fontAlgn="base" hangingPunct="0">
              <a:spcBef>
                <a:spcPct val="0"/>
              </a:spcBef>
              <a:spcAft>
                <a:spcPct val="0"/>
              </a:spcAft>
              <a:buNone/>
            </a:pPr>
            <a:r>
              <a:rPr lang="en-US" altLang="en-US" sz="2400" dirty="0">
                <a:solidFill>
                  <a:schemeClr val="tx1"/>
                </a:solidFill>
                <a:latin typeface="Arial" panose="020B0604020202020204" pitchFamily="34" charset="0"/>
              </a:rPr>
              <a:t>a = 10</a:t>
            </a:r>
          </a:p>
          <a:p>
            <a:pPr marL="0" indent="0" defTabSz="914400" eaLnBrk="0" fontAlgn="base" hangingPunct="0">
              <a:spcBef>
                <a:spcPct val="0"/>
              </a:spcBef>
              <a:spcAft>
                <a:spcPct val="0"/>
              </a:spcAft>
              <a:buNone/>
            </a:pPr>
            <a:r>
              <a:rPr lang="en-US" altLang="en-US" sz="2400" dirty="0">
                <a:solidFill>
                  <a:schemeClr val="tx1"/>
                </a:solidFill>
                <a:latin typeface="Arial" panose="020B0604020202020204" pitchFamily="34" charset="0"/>
              </a:rPr>
              <a:t>a += 1</a:t>
            </a:r>
          </a:p>
          <a:p>
            <a:pPr marL="0" indent="0" defTabSz="914400" eaLnBrk="0" fontAlgn="base" hangingPunct="0">
              <a:spcBef>
                <a:spcPct val="0"/>
              </a:spcBef>
              <a:spcAft>
                <a:spcPct val="0"/>
              </a:spcAft>
              <a:buNone/>
            </a:pPr>
            <a:endParaRPr lang="en-US" altLang="en-US" sz="2400" dirty="0">
              <a:solidFill>
                <a:schemeClr val="tx1"/>
              </a:solidFill>
              <a:latin typeface="Arial" panose="020B0604020202020204" pitchFamily="34" charset="0"/>
            </a:endParaRPr>
          </a:p>
          <a:p>
            <a:pPr marL="0" indent="0" defTabSz="914400" eaLnBrk="0" fontAlgn="base" hangingPunct="0">
              <a:spcBef>
                <a:spcPct val="0"/>
              </a:spcBef>
              <a:spcAft>
                <a:spcPct val="0"/>
              </a:spcAft>
              <a:buNone/>
            </a:pPr>
            <a:r>
              <a:rPr lang="en-US" altLang="en-US" sz="2400" dirty="0">
                <a:solidFill>
                  <a:schemeClr val="tx1"/>
                </a:solidFill>
                <a:latin typeface="Arial" panose="020B0604020202020204" pitchFamily="34" charset="0"/>
              </a:rPr>
              <a:t># Mutable</a:t>
            </a:r>
          </a:p>
          <a:p>
            <a:pPr marL="0" indent="0" defTabSz="914400" eaLnBrk="0" fontAlgn="base" hangingPunct="0">
              <a:spcBef>
                <a:spcPct val="0"/>
              </a:spcBef>
              <a:spcAft>
                <a:spcPct val="0"/>
              </a:spcAft>
              <a:buNone/>
            </a:pPr>
            <a:r>
              <a:rPr lang="en-US" altLang="en-US" sz="2400" dirty="0" err="1">
                <a:solidFill>
                  <a:schemeClr val="tx1"/>
                </a:solidFill>
                <a:latin typeface="Arial" panose="020B0604020202020204" pitchFamily="34" charset="0"/>
              </a:rPr>
              <a:t>lst</a:t>
            </a:r>
            <a:r>
              <a:rPr lang="en-US" altLang="en-US" sz="2400" dirty="0">
                <a:solidFill>
                  <a:schemeClr val="tx1"/>
                </a:solidFill>
                <a:latin typeface="Arial" panose="020B0604020202020204" pitchFamily="34" charset="0"/>
              </a:rPr>
              <a:t> = [1, 2]</a:t>
            </a:r>
          </a:p>
          <a:p>
            <a:pPr marL="0" indent="0" defTabSz="914400" eaLnBrk="0" fontAlgn="base" hangingPunct="0">
              <a:spcBef>
                <a:spcPct val="0"/>
              </a:spcBef>
              <a:spcAft>
                <a:spcPct val="0"/>
              </a:spcAft>
              <a:buNone/>
            </a:pPr>
            <a:r>
              <a:rPr lang="en-US" altLang="en-US" sz="2400" dirty="0" err="1">
                <a:solidFill>
                  <a:schemeClr val="tx1"/>
                </a:solidFill>
                <a:latin typeface="Arial" panose="020B0604020202020204" pitchFamily="34" charset="0"/>
              </a:rPr>
              <a:t>lst.append</a:t>
            </a:r>
            <a:r>
              <a:rPr lang="en-US" altLang="en-US" sz="2400" dirty="0">
                <a:solidFill>
                  <a:schemeClr val="tx1"/>
                </a:solidFill>
                <a:latin typeface="Arial" panose="020B0604020202020204" pitchFamily="34" charset="0"/>
              </a:rPr>
              <a:t>(3)</a:t>
            </a:r>
          </a:p>
        </p:txBody>
      </p:sp>
      <p:sp>
        <p:nvSpPr>
          <p:cNvPr id="4" name="Rectangle 1">
            <a:extLst>
              <a:ext uri="{FF2B5EF4-FFF2-40B4-BE49-F238E27FC236}">
                <a16:creationId xmlns:a16="http://schemas.microsoft.com/office/drawing/2014/main" id="{8201B2A5-46C5-605A-E338-9FBAFDE2380A}"/>
              </a:ext>
            </a:extLst>
          </p:cNvPr>
          <p:cNvSpPr>
            <a:spLocks noGrp="1" noChangeArrowheads="1"/>
          </p:cNvSpPr>
          <p:nvPr>
            <p:ph idx="1"/>
          </p:nvPr>
        </p:nvSpPr>
        <p:spPr bwMode="auto">
          <a:xfrm>
            <a:off x="457201" y="2105479"/>
            <a:ext cx="5637212" cy="1384995"/>
          </a:xfrm>
          <a:prstGeom prst="rect">
            <a:avLst/>
          </a:prstGeom>
          <a:ln/>
        </p:spPr>
        <p:style>
          <a:lnRef idx="2">
            <a:schemeClr val="dk1"/>
          </a:lnRef>
          <a:fillRef idx="1">
            <a:schemeClr val="lt1"/>
          </a:fillRef>
          <a:effectRef idx="0">
            <a:schemeClr val="dk1"/>
          </a:effectRef>
          <a:fontRef idx="minor">
            <a:schemeClr val="dk1"/>
          </a:fontRef>
        </p:style>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2800" b="1" i="0" u="none" strike="noStrike" cap="none" normalizeH="0" baseline="0" dirty="0">
                <a:ln>
                  <a:noFill/>
                </a:ln>
                <a:solidFill>
                  <a:schemeClr val="tx1"/>
                </a:solidFill>
                <a:effectLst/>
                <a:latin typeface="Arial" panose="020B0604020202020204" pitchFamily="34" charset="0"/>
              </a:rPr>
              <a:t>Immutable</a:t>
            </a:r>
            <a:r>
              <a:rPr kumimoji="0" lang="en-US" altLang="en-US" sz="2800" b="0" i="0" u="none" strike="noStrike" cap="none" normalizeH="0" baseline="0" dirty="0">
                <a:ln>
                  <a:noFill/>
                </a:ln>
                <a:solidFill>
                  <a:schemeClr val="tx1"/>
                </a:solidFill>
                <a:effectLst/>
                <a:latin typeface="Arial" panose="020B0604020202020204" pitchFamily="34" charset="0"/>
              </a:rPr>
              <a:t>: </a:t>
            </a:r>
            <a:r>
              <a:rPr kumimoji="0" lang="en-US" altLang="en-US" sz="2800" b="0" i="0" u="none" strike="noStrike" cap="none" normalizeH="0" baseline="0" dirty="0">
                <a:ln>
                  <a:noFill/>
                </a:ln>
                <a:solidFill>
                  <a:schemeClr val="tx1"/>
                </a:solidFill>
                <a:effectLst/>
                <a:latin typeface="Arial Unicode MS"/>
              </a:rPr>
              <a:t>int</a:t>
            </a:r>
            <a:r>
              <a:rPr kumimoji="0" lang="en-US" altLang="en-US" sz="2800" b="0" i="0" u="none" strike="noStrike" cap="none" normalizeH="0" baseline="0" dirty="0">
                <a:ln>
                  <a:noFill/>
                </a:ln>
                <a:solidFill>
                  <a:schemeClr val="tx1"/>
                </a:solidFill>
                <a:effectLst/>
              </a:rPr>
              <a:t>, </a:t>
            </a:r>
            <a:r>
              <a:rPr kumimoji="0" lang="en-US" altLang="en-US" sz="2800" b="0" i="0" u="none" strike="noStrike" cap="none" normalizeH="0" baseline="0" dirty="0">
                <a:ln>
                  <a:noFill/>
                </a:ln>
                <a:solidFill>
                  <a:schemeClr val="tx1"/>
                </a:solidFill>
                <a:effectLst/>
                <a:latin typeface="Arial Unicode MS"/>
              </a:rPr>
              <a:t>float</a:t>
            </a:r>
            <a:r>
              <a:rPr kumimoji="0" lang="en-US" altLang="en-US" sz="2800" b="0" i="0" u="none" strike="noStrike" cap="none" normalizeH="0" baseline="0" dirty="0">
                <a:ln>
                  <a:noFill/>
                </a:ln>
                <a:solidFill>
                  <a:schemeClr val="tx1"/>
                </a:solidFill>
                <a:effectLst/>
              </a:rPr>
              <a:t>, </a:t>
            </a:r>
            <a:r>
              <a:rPr kumimoji="0" lang="en-US" altLang="en-US" sz="2800" b="0" i="0" u="none" strike="noStrike" cap="none" normalizeH="0" baseline="0" dirty="0">
                <a:ln>
                  <a:noFill/>
                </a:ln>
                <a:solidFill>
                  <a:schemeClr val="tx1"/>
                </a:solidFill>
                <a:effectLst/>
                <a:latin typeface="Arial Unicode MS"/>
              </a:rPr>
              <a:t>str</a:t>
            </a:r>
            <a:r>
              <a:rPr kumimoji="0" lang="en-US" altLang="en-US" sz="2800" b="0" i="0" u="none" strike="noStrike" cap="none" normalizeH="0" baseline="0" dirty="0">
                <a:ln>
                  <a:noFill/>
                </a:ln>
                <a:solidFill>
                  <a:schemeClr val="tx1"/>
                </a:solidFill>
                <a:effectLst/>
              </a:rPr>
              <a:t>, </a:t>
            </a:r>
            <a:r>
              <a:rPr kumimoji="0" lang="en-US" altLang="en-US" sz="2800" b="0" i="0" u="none" strike="noStrike" cap="none" normalizeH="0" baseline="0" dirty="0">
                <a:ln>
                  <a:noFill/>
                </a:ln>
                <a:solidFill>
                  <a:schemeClr val="tx1"/>
                </a:solidFill>
                <a:effectLst/>
                <a:latin typeface="Arial Unicode MS"/>
              </a:rPr>
              <a:t>tuple</a:t>
            </a:r>
          </a:p>
          <a:p>
            <a:pPr marL="0" marR="0" lvl="0" indent="0" algn="l" defTabSz="914400" rtl="0" eaLnBrk="0" fontAlgn="base" latinLnBrk="0" hangingPunct="0">
              <a:lnSpc>
                <a:spcPct val="100000"/>
              </a:lnSpc>
              <a:spcBef>
                <a:spcPct val="0"/>
              </a:spcBef>
              <a:spcAft>
                <a:spcPct val="0"/>
              </a:spcAft>
              <a:buClrTx/>
              <a:buSzTx/>
              <a:buFontTx/>
              <a:buChar char="•"/>
              <a:tabLst/>
            </a:pPr>
            <a:endParaRPr kumimoji="0" lang="en-US" altLang="en-US" sz="2800" b="0" i="0" u="none" strike="noStrike" cap="none" normalizeH="0" baseline="0" dirty="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2800" b="1" i="0" u="none" strike="noStrike" cap="none" normalizeH="0" baseline="0" dirty="0">
                <a:ln>
                  <a:noFill/>
                </a:ln>
                <a:solidFill>
                  <a:schemeClr val="tx1"/>
                </a:solidFill>
                <a:effectLst/>
                <a:latin typeface="Arial" panose="020B0604020202020204" pitchFamily="34" charset="0"/>
              </a:rPr>
              <a:t>Mutable</a:t>
            </a:r>
            <a:r>
              <a:rPr kumimoji="0" lang="en-US" altLang="en-US" sz="2800" b="0" i="0" u="none" strike="noStrike" cap="none" normalizeH="0" baseline="0" dirty="0">
                <a:ln>
                  <a:noFill/>
                </a:ln>
                <a:solidFill>
                  <a:schemeClr val="tx1"/>
                </a:solidFill>
                <a:effectLst/>
                <a:latin typeface="Arial" panose="020B0604020202020204" pitchFamily="34" charset="0"/>
              </a:rPr>
              <a:t>: </a:t>
            </a:r>
            <a:r>
              <a:rPr kumimoji="0" lang="en-US" altLang="en-US" sz="2800" b="0" i="0" u="none" strike="noStrike" cap="none" normalizeH="0" baseline="0" dirty="0">
                <a:ln>
                  <a:noFill/>
                </a:ln>
                <a:solidFill>
                  <a:schemeClr val="tx1"/>
                </a:solidFill>
                <a:effectLst/>
                <a:latin typeface="Arial Unicode MS"/>
              </a:rPr>
              <a:t>list</a:t>
            </a:r>
            <a:r>
              <a:rPr kumimoji="0" lang="en-US" altLang="en-US" sz="2800" b="0" i="0" u="none" strike="noStrike" cap="none" normalizeH="0" baseline="0" dirty="0">
                <a:ln>
                  <a:noFill/>
                </a:ln>
                <a:solidFill>
                  <a:schemeClr val="tx1"/>
                </a:solidFill>
                <a:effectLst/>
              </a:rPr>
              <a:t>, </a:t>
            </a:r>
            <a:r>
              <a:rPr kumimoji="0" lang="en-US" altLang="en-US" sz="2800" b="0" i="0" u="none" strike="noStrike" cap="none" normalizeH="0" baseline="0" dirty="0" err="1">
                <a:ln>
                  <a:noFill/>
                </a:ln>
                <a:solidFill>
                  <a:schemeClr val="tx1"/>
                </a:solidFill>
                <a:effectLst/>
                <a:latin typeface="Arial Unicode MS"/>
              </a:rPr>
              <a:t>dict</a:t>
            </a:r>
            <a:r>
              <a:rPr kumimoji="0" lang="en-US" altLang="en-US" sz="2800" b="0" i="0" u="none" strike="noStrike" cap="none" normalizeH="0" baseline="0" dirty="0">
                <a:ln>
                  <a:noFill/>
                </a:ln>
                <a:solidFill>
                  <a:schemeClr val="tx1"/>
                </a:solidFill>
                <a:effectLst/>
              </a:rPr>
              <a:t>, </a:t>
            </a:r>
            <a:r>
              <a:rPr kumimoji="0" lang="en-US" altLang="en-US" sz="2800" b="0" i="0" u="none" strike="noStrike" cap="none" normalizeH="0" baseline="0" dirty="0">
                <a:ln>
                  <a:noFill/>
                </a:ln>
                <a:solidFill>
                  <a:schemeClr val="tx1"/>
                </a:solidFill>
                <a:effectLst/>
                <a:latin typeface="Arial Unicode MS"/>
              </a:rPr>
              <a:t>set</a:t>
            </a:r>
            <a:endParaRPr kumimoji="0" lang="en-US" altLang="en-US" sz="2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229640934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96E78B-1337-F795-D099-ACD01C2A3231}"/>
              </a:ext>
            </a:extLst>
          </p:cNvPr>
          <p:cNvSpPr>
            <a:spLocks noGrp="1"/>
          </p:cNvSpPr>
          <p:nvPr>
            <p:ph type="title"/>
          </p:nvPr>
        </p:nvSpPr>
        <p:spPr/>
        <p:txBody>
          <a:bodyPr/>
          <a:lstStyle/>
          <a:p>
            <a:r>
              <a:rPr lang="en-US" dirty="0"/>
              <a:t>Why Dynamic Typing Is Powerful</a:t>
            </a:r>
            <a:endParaRPr lang="en-SG" dirty="0"/>
          </a:p>
        </p:txBody>
      </p:sp>
      <p:sp>
        <p:nvSpPr>
          <p:cNvPr id="4" name="Rectangle 1">
            <a:extLst>
              <a:ext uri="{FF2B5EF4-FFF2-40B4-BE49-F238E27FC236}">
                <a16:creationId xmlns:a16="http://schemas.microsoft.com/office/drawing/2014/main" id="{2C79C809-E069-3BC3-AE7E-0C42DFC2B821}"/>
              </a:ext>
            </a:extLst>
          </p:cNvPr>
          <p:cNvSpPr>
            <a:spLocks noGrp="1" noChangeArrowheads="1"/>
          </p:cNvSpPr>
          <p:nvPr>
            <p:ph idx="1"/>
          </p:nvPr>
        </p:nvSpPr>
        <p:spPr bwMode="auto">
          <a:xfrm>
            <a:off x="457200" y="2432022"/>
            <a:ext cx="10020885" cy="28623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defTabSz="914400" eaLnBrk="0" fontAlgn="base" hangingPunct="0">
              <a:spcBef>
                <a:spcPct val="0"/>
              </a:spcBef>
              <a:spcAft>
                <a:spcPct val="0"/>
              </a:spcAft>
            </a:pPr>
            <a:r>
              <a:rPr kumimoji="0" lang="en-US" altLang="en-US" sz="3600" b="0" i="0" u="none" strike="noStrike" cap="none" normalizeH="0" baseline="0" dirty="0">
                <a:ln>
                  <a:noFill/>
                </a:ln>
                <a:solidFill>
                  <a:schemeClr val="tx1"/>
                </a:solidFill>
                <a:effectLst/>
                <a:latin typeface="Arial" panose="020B0604020202020204" pitchFamily="34" charset="0"/>
              </a:rPr>
              <a:t>Faster development</a:t>
            </a:r>
          </a:p>
          <a:p>
            <a:pPr defTabSz="914400" eaLnBrk="0" fontAlgn="base" hangingPunct="0">
              <a:spcBef>
                <a:spcPct val="0"/>
              </a:spcBef>
              <a:spcAft>
                <a:spcPct val="0"/>
              </a:spcAft>
            </a:pPr>
            <a:endParaRPr kumimoji="0" lang="en-US" altLang="en-US" sz="3600" b="0" i="0" u="none" strike="noStrike" cap="none" normalizeH="0" baseline="0" dirty="0">
              <a:ln>
                <a:noFill/>
              </a:ln>
              <a:solidFill>
                <a:schemeClr val="tx1"/>
              </a:solidFill>
              <a:effectLst/>
              <a:latin typeface="Arial" panose="020B0604020202020204" pitchFamily="34" charset="0"/>
            </a:endParaRPr>
          </a:p>
          <a:p>
            <a:pPr defTabSz="914400" eaLnBrk="0" fontAlgn="base" hangingPunct="0">
              <a:spcBef>
                <a:spcPct val="0"/>
              </a:spcBef>
              <a:spcAft>
                <a:spcPct val="0"/>
              </a:spcAft>
            </a:pPr>
            <a:r>
              <a:rPr kumimoji="0" lang="en-US" altLang="en-US" sz="3600" b="0" i="0" u="none" strike="noStrike" cap="none" normalizeH="0" baseline="0" dirty="0">
                <a:ln>
                  <a:noFill/>
                </a:ln>
                <a:solidFill>
                  <a:schemeClr val="tx1"/>
                </a:solidFill>
                <a:effectLst/>
                <a:latin typeface="Arial" panose="020B0604020202020204" pitchFamily="34" charset="0"/>
              </a:rPr>
              <a:t>Less boilerplate code</a:t>
            </a:r>
          </a:p>
          <a:p>
            <a:pPr defTabSz="914400" eaLnBrk="0" fontAlgn="base" hangingPunct="0">
              <a:spcBef>
                <a:spcPct val="0"/>
              </a:spcBef>
              <a:spcAft>
                <a:spcPct val="0"/>
              </a:spcAft>
            </a:pPr>
            <a:endParaRPr kumimoji="0" lang="en-US" altLang="en-US" sz="3600" b="0" i="0" u="none" strike="noStrike" cap="none" normalizeH="0" baseline="0" dirty="0">
              <a:ln>
                <a:noFill/>
              </a:ln>
              <a:solidFill>
                <a:schemeClr val="tx1"/>
              </a:solidFill>
              <a:effectLst/>
              <a:latin typeface="Arial" panose="020B0604020202020204" pitchFamily="34" charset="0"/>
            </a:endParaRPr>
          </a:p>
          <a:p>
            <a:pPr defTabSz="914400" eaLnBrk="0" fontAlgn="base" hangingPunct="0">
              <a:spcBef>
                <a:spcPct val="0"/>
              </a:spcBef>
              <a:spcAft>
                <a:spcPct val="0"/>
              </a:spcAft>
            </a:pPr>
            <a:r>
              <a:rPr kumimoji="0" lang="en-US" altLang="en-US" sz="3600" b="0" i="0" u="none" strike="noStrike" cap="none" normalizeH="0" baseline="0" dirty="0">
                <a:ln>
                  <a:noFill/>
                </a:ln>
                <a:solidFill>
                  <a:schemeClr val="tx1"/>
                </a:solidFill>
                <a:effectLst/>
                <a:latin typeface="Arial" panose="020B0604020202020204" pitchFamily="34" charset="0"/>
              </a:rPr>
              <a:t>Natural for scripting, data science, AI, web dev</a:t>
            </a:r>
          </a:p>
        </p:txBody>
      </p:sp>
    </p:spTree>
    <p:extLst>
      <p:ext uri="{BB962C8B-B14F-4D97-AF65-F5344CB8AC3E}">
        <p14:creationId xmlns:p14="http://schemas.microsoft.com/office/powerpoint/2010/main" val="189561837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20C6BD-E9DD-57C6-F4B3-C3300C6BB6A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20386B7-E1CA-E987-1A49-51E953D40AF8}"/>
              </a:ext>
            </a:extLst>
          </p:cNvPr>
          <p:cNvSpPr>
            <a:spLocks noGrp="1"/>
          </p:cNvSpPr>
          <p:nvPr>
            <p:ph type="title"/>
          </p:nvPr>
        </p:nvSpPr>
        <p:spPr/>
        <p:txBody>
          <a:bodyPr>
            <a:normAutofit/>
          </a:bodyPr>
          <a:lstStyle/>
          <a:p>
            <a:r>
              <a:rPr lang="en-SG" dirty="0"/>
              <a:t>Risks of Dynamic Typing</a:t>
            </a:r>
          </a:p>
        </p:txBody>
      </p:sp>
      <p:sp>
        <p:nvSpPr>
          <p:cNvPr id="5" name="Rectangle 1">
            <a:extLst>
              <a:ext uri="{FF2B5EF4-FFF2-40B4-BE49-F238E27FC236}">
                <a16:creationId xmlns:a16="http://schemas.microsoft.com/office/drawing/2014/main" id="{FB0F4174-64A3-ECE8-3B17-D0AE0C748DDE}"/>
              </a:ext>
            </a:extLst>
          </p:cNvPr>
          <p:cNvSpPr txBox="1">
            <a:spLocks noChangeArrowheads="1"/>
          </p:cNvSpPr>
          <p:nvPr/>
        </p:nvSpPr>
        <p:spPr bwMode="auto">
          <a:xfrm>
            <a:off x="7645400" y="2639704"/>
            <a:ext cx="4267200" cy="830997"/>
          </a:xfrm>
          <a:prstGeom prst="rect">
            <a:avLst/>
          </a:prstGeom>
        </p:spPr>
        <p:style>
          <a:lnRef idx="2">
            <a:schemeClr val="dk1"/>
          </a:lnRef>
          <a:fillRef idx="1">
            <a:schemeClr val="lt1"/>
          </a:fillRef>
          <a:effectRef idx="0">
            <a:schemeClr val="dk1"/>
          </a:effectRef>
          <a:fontRef idx="minor">
            <a:schemeClr val="dk1"/>
          </a:fontRef>
        </p:style>
        <p:txBody>
          <a:bodyPr vert="horz" wrap="square" lIns="91440" tIns="45720" rIns="91440" bIns="45720" numCol="1" rtlCol="0" anchor="ctr" anchorCtr="0" compatLnSpc="1">
            <a:prstTxWarp prst="textNoShape">
              <a:avLst/>
            </a:prstTxWarp>
            <a:spAutoFit/>
          </a:bodyPr>
          <a:lstStyle>
            <a:lvl1pPr marL="342900" indent="-342900" algn="l" defTabSz="457200" rtl="0" eaLnBrk="1" latinLnBrk="0" hangingPunct="1">
              <a:spcBef>
                <a:spcPct val="20000"/>
              </a:spcBef>
              <a:buFont typeface="Arial"/>
              <a:buChar char="•"/>
              <a:defRPr sz="3200" kern="1200">
                <a:solidFill>
                  <a:schemeClr val="dk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dk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dk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dk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dk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dk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dk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dk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dk1"/>
                </a:solidFill>
                <a:latin typeface="+mn-lt"/>
                <a:ea typeface="+mn-ea"/>
                <a:cs typeface="+mn-cs"/>
              </a:defRPr>
            </a:lvl9pPr>
          </a:lstStyle>
          <a:p>
            <a:pPr marL="0" indent="0" defTabSz="914400" eaLnBrk="0" fontAlgn="base" hangingPunct="0">
              <a:spcBef>
                <a:spcPct val="0"/>
              </a:spcBef>
              <a:spcAft>
                <a:spcPct val="0"/>
              </a:spcAft>
              <a:buNone/>
            </a:pPr>
            <a:r>
              <a:rPr lang="en-US" altLang="en-US" sz="2400" dirty="0">
                <a:solidFill>
                  <a:schemeClr val="tx1"/>
                </a:solidFill>
                <a:latin typeface="Arial" panose="020B0604020202020204" pitchFamily="34" charset="0"/>
              </a:rPr>
              <a:t>x = 10</a:t>
            </a:r>
          </a:p>
          <a:p>
            <a:pPr marL="0" indent="0" defTabSz="914400" eaLnBrk="0" fontAlgn="base" hangingPunct="0">
              <a:spcBef>
                <a:spcPct val="0"/>
              </a:spcBef>
              <a:spcAft>
                <a:spcPct val="0"/>
              </a:spcAft>
              <a:buNone/>
            </a:pPr>
            <a:r>
              <a:rPr lang="en-US" altLang="en-US" sz="2400" dirty="0">
                <a:solidFill>
                  <a:schemeClr val="tx1"/>
                </a:solidFill>
                <a:latin typeface="Arial" panose="020B0604020202020204" pitchFamily="34" charset="0"/>
              </a:rPr>
              <a:t>x + "5"   # </a:t>
            </a:r>
            <a:r>
              <a:rPr lang="en-US" altLang="en-US" sz="2400" dirty="0" err="1">
                <a:solidFill>
                  <a:schemeClr val="tx1"/>
                </a:solidFill>
                <a:latin typeface="Arial" panose="020B0604020202020204" pitchFamily="34" charset="0"/>
              </a:rPr>
              <a:t>TypeError</a:t>
            </a:r>
            <a:endParaRPr lang="en-US" altLang="en-US" sz="2400" dirty="0">
              <a:solidFill>
                <a:schemeClr val="tx1"/>
              </a:solidFill>
              <a:latin typeface="Arial" panose="020B0604020202020204" pitchFamily="34" charset="0"/>
            </a:endParaRPr>
          </a:p>
        </p:txBody>
      </p:sp>
      <p:sp>
        <p:nvSpPr>
          <p:cNvPr id="3" name="Rectangle 1">
            <a:extLst>
              <a:ext uri="{FF2B5EF4-FFF2-40B4-BE49-F238E27FC236}">
                <a16:creationId xmlns:a16="http://schemas.microsoft.com/office/drawing/2014/main" id="{6B409602-FABF-7BA2-3F6D-6767214251A9}"/>
              </a:ext>
            </a:extLst>
          </p:cNvPr>
          <p:cNvSpPr>
            <a:spLocks noGrp="1" noChangeArrowheads="1"/>
          </p:cNvSpPr>
          <p:nvPr>
            <p:ph idx="1"/>
          </p:nvPr>
        </p:nvSpPr>
        <p:spPr bwMode="auto">
          <a:xfrm>
            <a:off x="457200" y="2644170"/>
            <a:ext cx="6085127" cy="1569660"/>
          </a:xfrm>
          <a:prstGeom prst="rect">
            <a:avLst/>
          </a:prstGeom>
          <a:ln/>
        </p:spPr>
        <p:style>
          <a:lnRef idx="2">
            <a:schemeClr val="dk1"/>
          </a:lnRef>
          <a:fillRef idx="1">
            <a:schemeClr val="lt1"/>
          </a:fillRef>
          <a:effectRef idx="0">
            <a:schemeClr val="dk1"/>
          </a:effectRef>
          <a:fontRef idx="minor">
            <a:schemeClr val="dk1"/>
          </a:fontRef>
        </p:style>
        <p:txBody>
          <a:bodyPr vert="horz" wrap="none" lIns="91440" tIns="45720" rIns="91440" bIns="45720" numCol="1" anchor="ctr" anchorCtr="0" compatLnSpc="1">
            <a:prstTxWarp prst="textNoShape">
              <a:avLst/>
            </a:prstTxWarp>
            <a:spAutoFit/>
          </a:bodyPr>
          <a:lstStyle/>
          <a:p>
            <a:pPr defTabSz="914400" eaLnBrk="0" fontAlgn="base" hangingPunct="0">
              <a:spcBef>
                <a:spcPct val="0"/>
              </a:spcBef>
              <a:spcAft>
                <a:spcPct val="0"/>
              </a:spcAft>
            </a:pPr>
            <a:r>
              <a:rPr kumimoji="0" lang="en-US" altLang="en-US" b="0" i="0" u="none" strike="noStrike" cap="none" normalizeH="0" baseline="0" dirty="0">
                <a:ln>
                  <a:noFill/>
                </a:ln>
                <a:solidFill>
                  <a:schemeClr val="tx1"/>
                </a:solidFill>
                <a:effectLst/>
                <a:latin typeface="Arial" panose="020B0604020202020204" pitchFamily="34" charset="0"/>
              </a:rPr>
              <a:t>Type errors appear </a:t>
            </a:r>
            <a:r>
              <a:rPr kumimoji="0" lang="en-US" altLang="en-US" b="1" i="0" u="none" strike="noStrike" cap="none" normalizeH="0" baseline="0" dirty="0">
                <a:ln>
                  <a:noFill/>
                </a:ln>
                <a:solidFill>
                  <a:schemeClr val="tx1"/>
                </a:solidFill>
                <a:effectLst/>
                <a:latin typeface="Arial" panose="020B0604020202020204" pitchFamily="34" charset="0"/>
              </a:rPr>
              <a:t>at runtime</a:t>
            </a:r>
          </a:p>
          <a:p>
            <a:pPr marL="0" indent="0" defTabSz="914400" eaLnBrk="0" fontAlgn="base" hangingPunct="0">
              <a:spcBef>
                <a:spcPct val="0"/>
              </a:spcBef>
              <a:spcAft>
                <a:spcPct val="0"/>
              </a:spcAft>
              <a:buNone/>
            </a:pPr>
            <a:endParaRPr kumimoji="0" lang="en-US" altLang="en-US" b="0" i="0" u="none" strike="noStrike" cap="none" normalizeH="0" baseline="0" dirty="0">
              <a:ln>
                <a:noFill/>
              </a:ln>
              <a:solidFill>
                <a:schemeClr val="tx1"/>
              </a:solidFill>
              <a:effectLst/>
              <a:latin typeface="Arial" panose="020B0604020202020204" pitchFamily="34" charset="0"/>
            </a:endParaRPr>
          </a:p>
          <a:p>
            <a:pPr defTabSz="914400" eaLnBrk="0" fontAlgn="base" hangingPunct="0">
              <a:spcBef>
                <a:spcPct val="0"/>
              </a:spcBef>
              <a:spcAft>
                <a:spcPct val="0"/>
              </a:spcAft>
            </a:pPr>
            <a:r>
              <a:rPr kumimoji="0" lang="en-US" altLang="en-US" b="0" i="0" u="none" strike="noStrike" cap="none" normalizeH="0" baseline="0" dirty="0">
                <a:ln>
                  <a:noFill/>
                </a:ln>
                <a:solidFill>
                  <a:schemeClr val="tx1"/>
                </a:solidFill>
                <a:effectLst/>
                <a:latin typeface="Arial" panose="020B0604020202020204" pitchFamily="34" charset="0"/>
              </a:rPr>
              <a:t>Harder to detect bugs early</a:t>
            </a:r>
          </a:p>
        </p:txBody>
      </p:sp>
    </p:spTree>
    <p:extLst>
      <p:ext uri="{BB962C8B-B14F-4D97-AF65-F5344CB8AC3E}">
        <p14:creationId xmlns:p14="http://schemas.microsoft.com/office/powerpoint/2010/main" val="54889326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7C6B17-1467-C226-9C5A-BF76288E815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42C61BB-033B-5098-7A61-4636CE4F922B}"/>
              </a:ext>
            </a:extLst>
          </p:cNvPr>
          <p:cNvSpPr>
            <a:spLocks noGrp="1"/>
          </p:cNvSpPr>
          <p:nvPr>
            <p:ph type="title"/>
          </p:nvPr>
        </p:nvSpPr>
        <p:spPr/>
        <p:txBody>
          <a:bodyPr>
            <a:normAutofit/>
          </a:bodyPr>
          <a:lstStyle/>
          <a:p>
            <a:r>
              <a:rPr lang="en-SG" dirty="0"/>
              <a:t>Type Hints</a:t>
            </a:r>
          </a:p>
        </p:txBody>
      </p:sp>
      <p:sp>
        <p:nvSpPr>
          <p:cNvPr id="5" name="Rectangle 1">
            <a:extLst>
              <a:ext uri="{FF2B5EF4-FFF2-40B4-BE49-F238E27FC236}">
                <a16:creationId xmlns:a16="http://schemas.microsoft.com/office/drawing/2014/main" id="{A58892B6-8D64-228E-9154-2E703CECAF90}"/>
              </a:ext>
            </a:extLst>
          </p:cNvPr>
          <p:cNvSpPr txBox="1">
            <a:spLocks noChangeArrowheads="1"/>
          </p:cNvSpPr>
          <p:nvPr/>
        </p:nvSpPr>
        <p:spPr bwMode="auto">
          <a:xfrm>
            <a:off x="6578601" y="1494551"/>
            <a:ext cx="5276766" cy="830997"/>
          </a:xfrm>
          <a:prstGeom prst="rect">
            <a:avLst/>
          </a:prstGeom>
        </p:spPr>
        <p:style>
          <a:lnRef idx="2">
            <a:schemeClr val="dk1"/>
          </a:lnRef>
          <a:fillRef idx="1">
            <a:schemeClr val="lt1"/>
          </a:fillRef>
          <a:effectRef idx="0">
            <a:schemeClr val="dk1"/>
          </a:effectRef>
          <a:fontRef idx="minor">
            <a:schemeClr val="dk1"/>
          </a:fontRef>
        </p:style>
        <p:txBody>
          <a:bodyPr vert="horz" wrap="square" lIns="91440" tIns="45720" rIns="91440" bIns="45720" numCol="1" rtlCol="0" anchor="ctr" anchorCtr="0" compatLnSpc="1">
            <a:prstTxWarp prst="textNoShape">
              <a:avLst/>
            </a:prstTxWarp>
            <a:spAutoFit/>
          </a:bodyPr>
          <a:lstStyle>
            <a:lvl1pPr marL="342900" indent="-342900" algn="l" defTabSz="457200" rtl="0" eaLnBrk="1" latinLnBrk="0" hangingPunct="1">
              <a:spcBef>
                <a:spcPct val="20000"/>
              </a:spcBef>
              <a:buFont typeface="Arial"/>
              <a:buChar char="•"/>
              <a:defRPr sz="3200" kern="1200">
                <a:solidFill>
                  <a:schemeClr val="dk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dk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dk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dk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dk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dk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dk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dk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dk1"/>
                </a:solidFill>
                <a:latin typeface="+mn-lt"/>
                <a:ea typeface="+mn-ea"/>
                <a:cs typeface="+mn-cs"/>
              </a:defRPr>
            </a:lvl9pPr>
          </a:lstStyle>
          <a:p>
            <a:pPr marL="0" indent="0" defTabSz="914400" eaLnBrk="0" fontAlgn="base" hangingPunct="0">
              <a:spcBef>
                <a:spcPct val="0"/>
              </a:spcBef>
              <a:spcAft>
                <a:spcPct val="0"/>
              </a:spcAft>
              <a:buNone/>
            </a:pPr>
            <a:r>
              <a:rPr lang="en-US" altLang="en-US" sz="2400" dirty="0">
                <a:solidFill>
                  <a:schemeClr val="tx1"/>
                </a:solidFill>
                <a:latin typeface="Arial" panose="020B0604020202020204" pitchFamily="34" charset="0"/>
              </a:rPr>
              <a:t>def add(a: int, b: int) -&gt; int:</a:t>
            </a:r>
          </a:p>
          <a:p>
            <a:pPr marL="0" indent="0" defTabSz="914400" eaLnBrk="0" fontAlgn="base" hangingPunct="0">
              <a:spcBef>
                <a:spcPct val="0"/>
              </a:spcBef>
              <a:spcAft>
                <a:spcPct val="0"/>
              </a:spcAft>
              <a:buNone/>
            </a:pPr>
            <a:r>
              <a:rPr lang="en-US" altLang="en-US" sz="2400" dirty="0">
                <a:solidFill>
                  <a:schemeClr val="tx1"/>
                </a:solidFill>
                <a:latin typeface="Arial" panose="020B0604020202020204" pitchFamily="34" charset="0"/>
              </a:rPr>
              <a:t>    return a + b</a:t>
            </a:r>
          </a:p>
        </p:txBody>
      </p:sp>
      <p:sp>
        <p:nvSpPr>
          <p:cNvPr id="3" name="Rectangle 1">
            <a:extLst>
              <a:ext uri="{FF2B5EF4-FFF2-40B4-BE49-F238E27FC236}">
                <a16:creationId xmlns:a16="http://schemas.microsoft.com/office/drawing/2014/main" id="{D2A1D269-CB1A-0161-ABD1-69DE510619C1}"/>
              </a:ext>
            </a:extLst>
          </p:cNvPr>
          <p:cNvSpPr>
            <a:spLocks noGrp="1" noChangeArrowheads="1"/>
          </p:cNvSpPr>
          <p:nvPr>
            <p:ph idx="1"/>
          </p:nvPr>
        </p:nvSpPr>
        <p:spPr bwMode="auto">
          <a:xfrm>
            <a:off x="457200" y="1494551"/>
            <a:ext cx="5623014" cy="4832092"/>
          </a:xfrm>
          <a:prstGeom prst="rect">
            <a:avLst/>
          </a:prstGeom>
          <a:ln/>
        </p:spPr>
        <p:style>
          <a:lnRef idx="2">
            <a:schemeClr val="dk1"/>
          </a:lnRef>
          <a:fillRef idx="1">
            <a:schemeClr val="lt1"/>
          </a:fillRef>
          <a:effectRef idx="0">
            <a:schemeClr val="dk1"/>
          </a:effectRef>
          <a:fontRef idx="minor">
            <a:schemeClr val="dk1"/>
          </a:fontRef>
        </p:style>
        <p:txBody>
          <a:bodyPr vert="horz" wrap="none" lIns="91440" tIns="45720" rIns="91440" bIns="45720" numCol="1" anchor="ctr" anchorCtr="0" compatLnSpc="1">
            <a:prstTxWarp prst="textNoShape">
              <a:avLst/>
            </a:prstTxWarp>
            <a:spAutoFit/>
          </a:bodyPr>
          <a:lstStyle/>
          <a:p>
            <a:pPr defTabSz="914400" eaLnBrk="0" fontAlgn="base" hangingPunct="0">
              <a:spcBef>
                <a:spcPct val="0"/>
              </a:spcBef>
              <a:spcAft>
                <a:spcPct val="0"/>
              </a:spcAft>
            </a:pPr>
            <a:r>
              <a:rPr kumimoji="0" lang="en-US" altLang="en-US" sz="2800" b="0" i="0" u="none" strike="noStrike" cap="none" normalizeH="0" baseline="0" dirty="0">
                <a:ln>
                  <a:noFill/>
                </a:ln>
                <a:solidFill>
                  <a:schemeClr val="tx1"/>
                </a:solidFill>
                <a:effectLst/>
                <a:latin typeface="Arial" panose="020B0604020202020204" pitchFamily="34" charset="0"/>
              </a:rPr>
              <a:t>Use Type hints when code grow</a:t>
            </a:r>
          </a:p>
          <a:p>
            <a:pPr defTabSz="914400" eaLnBrk="0" fontAlgn="base" hangingPunct="0">
              <a:spcBef>
                <a:spcPct val="0"/>
              </a:spcBef>
              <a:spcAft>
                <a:spcPct val="0"/>
              </a:spcAft>
            </a:pPr>
            <a:endParaRPr kumimoji="0" lang="en-US" altLang="en-US" sz="2800" b="0" i="0" u="none" strike="noStrike" cap="none" normalizeH="0" baseline="0" dirty="0">
              <a:ln>
                <a:noFill/>
              </a:ln>
              <a:solidFill>
                <a:schemeClr val="tx1"/>
              </a:solidFill>
              <a:effectLst/>
              <a:latin typeface="Arial" panose="020B0604020202020204" pitchFamily="34" charset="0"/>
            </a:endParaRPr>
          </a:p>
          <a:p>
            <a:pPr defTabSz="914400" eaLnBrk="0" fontAlgn="base" hangingPunct="0">
              <a:spcBef>
                <a:spcPct val="0"/>
              </a:spcBef>
              <a:spcAft>
                <a:spcPct val="0"/>
              </a:spcAft>
            </a:pPr>
            <a:r>
              <a:rPr lang="en-US" altLang="en-US" sz="2800" dirty="0">
                <a:solidFill>
                  <a:schemeClr val="tx1"/>
                </a:solidFill>
                <a:latin typeface="Arial" panose="020B0604020202020204" pitchFamily="34" charset="0"/>
              </a:rPr>
              <a:t>Type hints are optional</a:t>
            </a:r>
          </a:p>
          <a:p>
            <a:pPr defTabSz="914400" eaLnBrk="0" fontAlgn="base" hangingPunct="0">
              <a:spcBef>
                <a:spcPct val="0"/>
              </a:spcBef>
              <a:spcAft>
                <a:spcPct val="0"/>
              </a:spcAft>
            </a:pPr>
            <a:endParaRPr lang="en-US" altLang="en-US" sz="2800" dirty="0">
              <a:solidFill>
                <a:schemeClr val="tx1"/>
              </a:solidFill>
              <a:latin typeface="Arial" panose="020B0604020202020204" pitchFamily="34" charset="0"/>
            </a:endParaRPr>
          </a:p>
          <a:p>
            <a:pPr defTabSz="914400" eaLnBrk="0" fontAlgn="base" hangingPunct="0">
              <a:spcBef>
                <a:spcPct val="0"/>
              </a:spcBef>
              <a:spcAft>
                <a:spcPct val="0"/>
              </a:spcAft>
            </a:pPr>
            <a:r>
              <a:rPr lang="en-US" altLang="en-US" sz="2800" dirty="0">
                <a:solidFill>
                  <a:schemeClr val="tx1"/>
                </a:solidFill>
                <a:latin typeface="Arial" panose="020B0604020202020204" pitchFamily="34" charset="0"/>
              </a:rPr>
              <a:t>Used by:</a:t>
            </a:r>
          </a:p>
          <a:p>
            <a:pPr lvl="1" defTabSz="914400" eaLnBrk="0" fontAlgn="base" hangingPunct="0">
              <a:spcBef>
                <a:spcPct val="0"/>
              </a:spcBef>
              <a:spcAft>
                <a:spcPct val="0"/>
              </a:spcAft>
            </a:pPr>
            <a:r>
              <a:rPr lang="en-US" altLang="en-US" sz="2400" dirty="0">
                <a:solidFill>
                  <a:schemeClr val="tx1"/>
                </a:solidFill>
                <a:latin typeface="Arial" panose="020B0604020202020204" pitchFamily="34" charset="0"/>
              </a:rPr>
              <a:t>IDEs</a:t>
            </a:r>
          </a:p>
          <a:p>
            <a:pPr lvl="1" defTabSz="914400" eaLnBrk="0" fontAlgn="base" hangingPunct="0">
              <a:spcBef>
                <a:spcPct val="0"/>
              </a:spcBef>
              <a:spcAft>
                <a:spcPct val="0"/>
              </a:spcAft>
            </a:pPr>
            <a:r>
              <a:rPr lang="en-US" altLang="en-US" sz="2800" dirty="0">
                <a:solidFill>
                  <a:schemeClr val="tx1"/>
                </a:solidFill>
                <a:latin typeface="Arial" panose="020B0604020202020204" pitchFamily="34" charset="0"/>
              </a:rPr>
              <a:t>Linters</a:t>
            </a:r>
            <a:endParaRPr lang="en-US" altLang="en-US" dirty="0">
              <a:solidFill>
                <a:schemeClr val="tx1"/>
              </a:solidFill>
              <a:latin typeface="Arial" panose="020B0604020202020204" pitchFamily="34" charset="0"/>
            </a:endParaRPr>
          </a:p>
          <a:p>
            <a:pPr lvl="1" defTabSz="914400" eaLnBrk="0" fontAlgn="base" hangingPunct="0">
              <a:spcBef>
                <a:spcPct val="0"/>
              </a:spcBef>
              <a:spcAft>
                <a:spcPct val="0"/>
              </a:spcAft>
            </a:pPr>
            <a:r>
              <a:rPr lang="en-US" altLang="en-US" sz="2800" dirty="0">
                <a:solidFill>
                  <a:schemeClr val="tx1"/>
                </a:solidFill>
                <a:latin typeface="Arial" panose="020B0604020202020204" pitchFamily="34" charset="0"/>
              </a:rPr>
              <a:t>Static analyzers (</a:t>
            </a:r>
            <a:r>
              <a:rPr lang="en-US" altLang="en-US" sz="2800" dirty="0" err="1">
                <a:solidFill>
                  <a:schemeClr val="tx1"/>
                </a:solidFill>
                <a:latin typeface="Arial" panose="020B0604020202020204" pitchFamily="34" charset="0"/>
              </a:rPr>
              <a:t>mypy</a:t>
            </a:r>
            <a:r>
              <a:rPr lang="en-US" altLang="en-US" sz="2800" dirty="0">
                <a:solidFill>
                  <a:schemeClr val="tx1"/>
                </a:solidFill>
                <a:latin typeface="Arial" panose="020B0604020202020204" pitchFamily="34" charset="0"/>
              </a:rPr>
              <a:t>)</a:t>
            </a:r>
          </a:p>
          <a:p>
            <a:pPr lvl="1" defTabSz="914400" eaLnBrk="0" fontAlgn="base" hangingPunct="0">
              <a:spcBef>
                <a:spcPct val="0"/>
              </a:spcBef>
              <a:spcAft>
                <a:spcPct val="0"/>
              </a:spcAft>
            </a:pPr>
            <a:endParaRPr lang="en-US" altLang="en-US" dirty="0">
              <a:solidFill>
                <a:schemeClr val="tx1"/>
              </a:solidFill>
              <a:latin typeface="Arial" panose="020B0604020202020204" pitchFamily="34" charset="0"/>
            </a:endParaRPr>
          </a:p>
          <a:p>
            <a:pPr defTabSz="914400" eaLnBrk="0" fontAlgn="base" hangingPunct="0">
              <a:spcBef>
                <a:spcPct val="0"/>
              </a:spcBef>
              <a:spcAft>
                <a:spcPct val="0"/>
              </a:spcAft>
            </a:pPr>
            <a:r>
              <a:rPr lang="en-SG" dirty="0"/>
              <a:t>Python still runs dynamically.</a:t>
            </a:r>
            <a:endParaRPr lang="en-US" altLang="en-US" dirty="0">
              <a:solidFill>
                <a:schemeClr val="tx1"/>
              </a:solidFill>
              <a:latin typeface="Arial" panose="020B0604020202020204" pitchFamily="34" charset="0"/>
            </a:endParaRPr>
          </a:p>
          <a:p>
            <a:pPr defTabSz="914400" eaLnBrk="0" fontAlgn="base" hangingPunct="0">
              <a:spcBef>
                <a:spcPct val="0"/>
              </a:spcBef>
              <a:spcAft>
                <a:spcPct val="0"/>
              </a:spcAft>
            </a:pPr>
            <a:endParaRPr kumimoji="0" lang="en-US" altLang="en-US" sz="2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376103449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873D6A-DC6E-0F83-BC68-B80BA8244554}"/>
              </a:ext>
            </a:extLst>
          </p:cNvPr>
          <p:cNvSpPr>
            <a:spLocks noGrp="1"/>
          </p:cNvSpPr>
          <p:nvPr>
            <p:ph type="title"/>
          </p:nvPr>
        </p:nvSpPr>
        <p:spPr/>
        <p:txBody>
          <a:bodyPr/>
          <a:lstStyle/>
          <a:p>
            <a:r>
              <a:rPr lang="en-SG" dirty="0"/>
              <a:t>Comparison with Static Typing</a:t>
            </a:r>
          </a:p>
        </p:txBody>
      </p:sp>
      <p:graphicFrame>
        <p:nvGraphicFramePr>
          <p:cNvPr id="4" name="Table 3">
            <a:extLst>
              <a:ext uri="{FF2B5EF4-FFF2-40B4-BE49-F238E27FC236}">
                <a16:creationId xmlns:a16="http://schemas.microsoft.com/office/drawing/2014/main" id="{11637F1B-76F9-64ED-5439-AB0CF0627629}"/>
              </a:ext>
            </a:extLst>
          </p:cNvPr>
          <p:cNvGraphicFramePr>
            <a:graphicFrameLocks noGrp="1"/>
          </p:cNvGraphicFramePr>
          <p:nvPr>
            <p:extLst>
              <p:ext uri="{D42A27DB-BD31-4B8C-83A1-F6EECF244321}">
                <p14:modId xmlns:p14="http://schemas.microsoft.com/office/powerpoint/2010/main" val="401191911"/>
              </p:ext>
            </p:extLst>
          </p:nvPr>
        </p:nvGraphicFramePr>
        <p:xfrm>
          <a:off x="457200" y="2153761"/>
          <a:ext cx="8229600" cy="3413760"/>
        </p:xfrm>
        <a:graphic>
          <a:graphicData uri="http://schemas.openxmlformats.org/drawingml/2006/table">
            <a:tbl>
              <a:tblPr/>
              <a:tblGrid>
                <a:gridCol w="4114800">
                  <a:extLst>
                    <a:ext uri="{9D8B030D-6E8A-4147-A177-3AD203B41FA5}">
                      <a16:colId xmlns:a16="http://schemas.microsoft.com/office/drawing/2014/main" val="3760077077"/>
                    </a:ext>
                  </a:extLst>
                </a:gridCol>
                <a:gridCol w="4114800">
                  <a:extLst>
                    <a:ext uri="{9D8B030D-6E8A-4147-A177-3AD203B41FA5}">
                      <a16:colId xmlns:a16="http://schemas.microsoft.com/office/drawing/2014/main" val="1780269911"/>
                    </a:ext>
                  </a:extLst>
                </a:gridCol>
              </a:tblGrid>
              <a:tr h="0">
                <a:tc>
                  <a:txBody>
                    <a:bodyPr/>
                    <a:lstStyle/>
                    <a:p>
                      <a:pPr>
                        <a:buNone/>
                      </a:pPr>
                      <a:r>
                        <a:rPr lang="en-SG" sz="4000" b="1" dirty="0"/>
                        <a:t>Python</a:t>
                      </a:r>
                    </a:p>
                  </a:txBody>
                  <a:tcPr anchor="ctr">
                    <a:lnL>
                      <a:noFill/>
                    </a:lnL>
                    <a:lnR>
                      <a:noFill/>
                    </a:lnR>
                    <a:lnT>
                      <a:noFill/>
                    </a:lnT>
                    <a:lnB>
                      <a:noFill/>
                    </a:lnB>
                    <a:noFill/>
                  </a:tcPr>
                </a:tc>
                <a:tc>
                  <a:txBody>
                    <a:bodyPr/>
                    <a:lstStyle/>
                    <a:p>
                      <a:pPr>
                        <a:buNone/>
                      </a:pPr>
                      <a:r>
                        <a:rPr lang="en-SG" sz="4000" b="1" dirty="0"/>
                        <a:t>Java / C</a:t>
                      </a:r>
                    </a:p>
                  </a:txBody>
                  <a:tcPr anchor="ctr">
                    <a:lnL>
                      <a:noFill/>
                    </a:lnL>
                    <a:lnR>
                      <a:noFill/>
                    </a:lnR>
                    <a:lnT>
                      <a:noFill/>
                    </a:lnT>
                    <a:lnB>
                      <a:noFill/>
                    </a:lnB>
                    <a:noFill/>
                  </a:tcPr>
                </a:tc>
                <a:extLst>
                  <a:ext uri="{0D108BD9-81ED-4DB2-BD59-A6C34878D82A}">
                    <a16:rowId xmlns:a16="http://schemas.microsoft.com/office/drawing/2014/main" val="2511939339"/>
                  </a:ext>
                </a:extLst>
              </a:tr>
              <a:tr h="0">
                <a:tc>
                  <a:txBody>
                    <a:bodyPr/>
                    <a:lstStyle/>
                    <a:p>
                      <a:pPr>
                        <a:buNone/>
                      </a:pPr>
                      <a:r>
                        <a:rPr lang="en-SG" sz="4000" dirty="0"/>
                        <a:t>Dynamic typing</a:t>
                      </a:r>
                    </a:p>
                  </a:txBody>
                  <a:tcPr anchor="ctr">
                    <a:lnL>
                      <a:noFill/>
                    </a:lnL>
                    <a:lnR>
                      <a:noFill/>
                    </a:lnR>
                    <a:lnT>
                      <a:noFill/>
                    </a:lnT>
                    <a:lnB>
                      <a:noFill/>
                    </a:lnB>
                    <a:noFill/>
                  </a:tcPr>
                </a:tc>
                <a:tc>
                  <a:txBody>
                    <a:bodyPr/>
                    <a:lstStyle/>
                    <a:p>
                      <a:pPr>
                        <a:buNone/>
                      </a:pPr>
                      <a:r>
                        <a:rPr lang="en-SG" sz="4000"/>
                        <a:t>Static typing</a:t>
                      </a:r>
                    </a:p>
                  </a:txBody>
                  <a:tcPr anchor="ctr">
                    <a:lnL>
                      <a:noFill/>
                    </a:lnL>
                    <a:lnR>
                      <a:noFill/>
                    </a:lnR>
                    <a:lnT>
                      <a:noFill/>
                    </a:lnT>
                    <a:lnB>
                      <a:noFill/>
                    </a:lnB>
                    <a:noFill/>
                  </a:tcPr>
                </a:tc>
                <a:extLst>
                  <a:ext uri="{0D108BD9-81ED-4DB2-BD59-A6C34878D82A}">
                    <a16:rowId xmlns:a16="http://schemas.microsoft.com/office/drawing/2014/main" val="1402665816"/>
                  </a:ext>
                </a:extLst>
              </a:tr>
              <a:tr h="0">
                <a:tc>
                  <a:txBody>
                    <a:bodyPr/>
                    <a:lstStyle/>
                    <a:p>
                      <a:pPr>
                        <a:buNone/>
                      </a:pPr>
                      <a:r>
                        <a:rPr lang="en-SG" sz="4000"/>
                        <a:t>Flexible</a:t>
                      </a:r>
                    </a:p>
                  </a:txBody>
                  <a:tcPr anchor="ctr">
                    <a:lnL>
                      <a:noFill/>
                    </a:lnL>
                    <a:lnR>
                      <a:noFill/>
                    </a:lnR>
                    <a:lnT>
                      <a:noFill/>
                    </a:lnT>
                    <a:lnB>
                      <a:noFill/>
                    </a:lnB>
                    <a:noFill/>
                  </a:tcPr>
                </a:tc>
                <a:tc>
                  <a:txBody>
                    <a:bodyPr/>
                    <a:lstStyle/>
                    <a:p>
                      <a:pPr>
                        <a:buNone/>
                      </a:pPr>
                      <a:r>
                        <a:rPr lang="en-SG" sz="4000"/>
                        <a:t>Strict</a:t>
                      </a:r>
                    </a:p>
                  </a:txBody>
                  <a:tcPr anchor="ctr">
                    <a:lnL>
                      <a:noFill/>
                    </a:lnL>
                    <a:lnR>
                      <a:noFill/>
                    </a:lnR>
                    <a:lnT>
                      <a:noFill/>
                    </a:lnT>
                    <a:lnB>
                      <a:noFill/>
                    </a:lnB>
                    <a:noFill/>
                  </a:tcPr>
                </a:tc>
                <a:extLst>
                  <a:ext uri="{0D108BD9-81ED-4DB2-BD59-A6C34878D82A}">
                    <a16:rowId xmlns:a16="http://schemas.microsoft.com/office/drawing/2014/main" val="1060654472"/>
                  </a:ext>
                </a:extLst>
              </a:tr>
              <a:tr h="0">
                <a:tc>
                  <a:txBody>
                    <a:bodyPr/>
                    <a:lstStyle/>
                    <a:p>
                      <a:pPr>
                        <a:buNone/>
                      </a:pPr>
                      <a:r>
                        <a:rPr lang="en-SG" sz="4000"/>
                        <a:t>Faster to write</a:t>
                      </a:r>
                    </a:p>
                  </a:txBody>
                  <a:tcPr anchor="ctr">
                    <a:lnL>
                      <a:noFill/>
                    </a:lnL>
                    <a:lnR>
                      <a:noFill/>
                    </a:lnR>
                    <a:lnT>
                      <a:noFill/>
                    </a:lnT>
                    <a:lnB>
                      <a:noFill/>
                    </a:lnB>
                    <a:noFill/>
                  </a:tcPr>
                </a:tc>
                <a:tc>
                  <a:txBody>
                    <a:bodyPr/>
                    <a:lstStyle/>
                    <a:p>
                      <a:pPr>
                        <a:buNone/>
                      </a:pPr>
                      <a:r>
                        <a:rPr lang="en-SG" sz="4000" dirty="0"/>
                        <a:t>Safer at compile time</a:t>
                      </a:r>
                    </a:p>
                  </a:txBody>
                  <a:tcPr anchor="ctr">
                    <a:lnL>
                      <a:noFill/>
                    </a:lnL>
                    <a:lnR>
                      <a:noFill/>
                    </a:lnR>
                    <a:lnT>
                      <a:noFill/>
                    </a:lnT>
                    <a:lnB>
                      <a:noFill/>
                    </a:lnB>
                    <a:noFill/>
                  </a:tcPr>
                </a:tc>
                <a:extLst>
                  <a:ext uri="{0D108BD9-81ED-4DB2-BD59-A6C34878D82A}">
                    <a16:rowId xmlns:a16="http://schemas.microsoft.com/office/drawing/2014/main" val="1067344882"/>
                  </a:ext>
                </a:extLst>
              </a:tr>
            </a:tbl>
          </a:graphicData>
        </a:graphic>
      </p:graphicFrame>
    </p:spTree>
    <p:extLst>
      <p:ext uri="{BB962C8B-B14F-4D97-AF65-F5344CB8AC3E}">
        <p14:creationId xmlns:p14="http://schemas.microsoft.com/office/powerpoint/2010/main" val="429338707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19D62C3-4EC0-8648-5621-9B11447A4125}"/>
              </a:ext>
            </a:extLst>
          </p:cNvPr>
          <p:cNvSpPr>
            <a:spLocks noGrp="1"/>
          </p:cNvSpPr>
          <p:nvPr>
            <p:ph type="title"/>
          </p:nvPr>
        </p:nvSpPr>
        <p:spPr/>
        <p:txBody>
          <a:bodyPr/>
          <a:lstStyle/>
          <a:p>
            <a:r>
              <a:rPr lang="en-SG" dirty="0"/>
              <a:t>Common Beginner Mistakes</a:t>
            </a:r>
          </a:p>
        </p:txBody>
      </p:sp>
      <p:sp>
        <p:nvSpPr>
          <p:cNvPr id="4" name="Rectangle 1">
            <a:extLst>
              <a:ext uri="{FF2B5EF4-FFF2-40B4-BE49-F238E27FC236}">
                <a16:creationId xmlns:a16="http://schemas.microsoft.com/office/drawing/2014/main" id="{C78EA60E-7E0F-3BA1-5377-1B0B09F66037}"/>
              </a:ext>
            </a:extLst>
          </p:cNvPr>
          <p:cNvSpPr>
            <a:spLocks noGrp="1" noChangeArrowheads="1"/>
          </p:cNvSpPr>
          <p:nvPr>
            <p:ph idx="1"/>
          </p:nvPr>
        </p:nvSpPr>
        <p:spPr bwMode="auto">
          <a:xfrm>
            <a:off x="457200" y="2585910"/>
            <a:ext cx="10346102" cy="25545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defTabSz="914400" eaLnBrk="0" fontAlgn="base" hangingPunct="0">
              <a:spcBef>
                <a:spcPct val="0"/>
              </a:spcBef>
              <a:spcAft>
                <a:spcPct val="0"/>
              </a:spcAft>
            </a:pPr>
            <a:r>
              <a:rPr kumimoji="0" lang="en-US" altLang="en-US" b="0" i="0" u="none" strike="noStrike" cap="none" normalizeH="0" baseline="0" dirty="0">
                <a:ln>
                  <a:noFill/>
                </a:ln>
                <a:solidFill>
                  <a:schemeClr val="tx1"/>
                </a:solidFill>
                <a:effectLst/>
                <a:latin typeface="Arial" panose="020B0604020202020204" pitchFamily="34" charset="0"/>
              </a:rPr>
              <a:t>Reusing variable names for different purposes</a:t>
            </a:r>
          </a:p>
          <a:p>
            <a:pPr defTabSz="914400" eaLnBrk="0" fontAlgn="base" hangingPunct="0">
              <a:spcBef>
                <a:spcPct val="0"/>
              </a:spcBef>
              <a:spcAft>
                <a:spcPct val="0"/>
              </a:spcAft>
            </a:pPr>
            <a:endParaRPr kumimoji="0" lang="en-US" altLang="en-US" b="0" i="0" u="none" strike="noStrike" cap="none" normalizeH="0" baseline="0" dirty="0">
              <a:ln>
                <a:noFill/>
              </a:ln>
              <a:solidFill>
                <a:schemeClr val="tx1"/>
              </a:solidFill>
              <a:effectLst/>
              <a:latin typeface="Arial" panose="020B0604020202020204" pitchFamily="34" charset="0"/>
            </a:endParaRPr>
          </a:p>
          <a:p>
            <a:pPr defTabSz="914400" eaLnBrk="0" fontAlgn="base" hangingPunct="0">
              <a:spcBef>
                <a:spcPct val="0"/>
              </a:spcBef>
              <a:spcAft>
                <a:spcPct val="0"/>
              </a:spcAft>
            </a:pPr>
            <a:r>
              <a:rPr kumimoji="0" lang="en-US" altLang="en-US" b="0" i="0" u="none" strike="noStrike" cap="none" normalizeH="0" baseline="0" dirty="0">
                <a:ln>
                  <a:noFill/>
                </a:ln>
                <a:solidFill>
                  <a:schemeClr val="tx1"/>
                </a:solidFill>
                <a:effectLst/>
                <a:latin typeface="Arial" panose="020B0604020202020204" pitchFamily="34" charset="0"/>
              </a:rPr>
              <a:t>Assuming variables store values instead of references</a:t>
            </a:r>
          </a:p>
          <a:p>
            <a:pPr defTabSz="914400" eaLnBrk="0" fontAlgn="base" hangingPunct="0">
              <a:spcBef>
                <a:spcPct val="0"/>
              </a:spcBef>
              <a:spcAft>
                <a:spcPct val="0"/>
              </a:spcAft>
            </a:pPr>
            <a:endParaRPr kumimoji="0" lang="en-US" altLang="en-US" b="0" i="0" u="none" strike="noStrike" cap="none" normalizeH="0" baseline="0" dirty="0">
              <a:ln>
                <a:noFill/>
              </a:ln>
              <a:solidFill>
                <a:schemeClr val="tx1"/>
              </a:solidFill>
              <a:effectLst/>
              <a:latin typeface="Arial" panose="020B0604020202020204" pitchFamily="34" charset="0"/>
            </a:endParaRPr>
          </a:p>
          <a:p>
            <a:pPr defTabSz="914400" eaLnBrk="0" fontAlgn="base" hangingPunct="0">
              <a:spcBef>
                <a:spcPct val="0"/>
              </a:spcBef>
              <a:spcAft>
                <a:spcPct val="0"/>
              </a:spcAft>
            </a:pPr>
            <a:r>
              <a:rPr kumimoji="0" lang="en-US" altLang="en-US" b="0" i="0" u="none" strike="noStrike" cap="none" normalizeH="0" baseline="0" dirty="0">
                <a:ln>
                  <a:noFill/>
                </a:ln>
                <a:solidFill>
                  <a:schemeClr val="tx1"/>
                </a:solidFill>
                <a:effectLst/>
                <a:latin typeface="Arial" panose="020B0604020202020204" pitchFamily="34" charset="0"/>
              </a:rPr>
              <a:t>Confusing mutability behavior</a:t>
            </a:r>
          </a:p>
        </p:txBody>
      </p:sp>
    </p:spTree>
    <p:extLst>
      <p:ext uri="{BB962C8B-B14F-4D97-AF65-F5344CB8AC3E}">
        <p14:creationId xmlns:p14="http://schemas.microsoft.com/office/powerpoint/2010/main" val="197040944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FF4AB2-1B35-4291-92A5-15B752EB69CA}"/>
              </a:ext>
            </a:extLst>
          </p:cNvPr>
          <p:cNvSpPr>
            <a:spLocks noGrp="1"/>
          </p:cNvSpPr>
          <p:nvPr>
            <p:ph type="title"/>
          </p:nvPr>
        </p:nvSpPr>
        <p:spPr/>
        <p:txBody>
          <a:bodyPr/>
          <a:lstStyle/>
          <a:p>
            <a:r>
              <a:rPr lang="en-SG" dirty="0"/>
              <a:t>Key Takeaways</a:t>
            </a:r>
          </a:p>
        </p:txBody>
      </p:sp>
      <p:sp>
        <p:nvSpPr>
          <p:cNvPr id="4" name="Rectangle 1">
            <a:extLst>
              <a:ext uri="{FF2B5EF4-FFF2-40B4-BE49-F238E27FC236}">
                <a16:creationId xmlns:a16="http://schemas.microsoft.com/office/drawing/2014/main" id="{E61BBC93-FD8D-6A17-F917-DB8EB5B9DB66}"/>
              </a:ext>
            </a:extLst>
          </p:cNvPr>
          <p:cNvSpPr>
            <a:spLocks noGrp="1" noChangeArrowheads="1"/>
          </p:cNvSpPr>
          <p:nvPr>
            <p:ph idx="1"/>
          </p:nvPr>
        </p:nvSpPr>
        <p:spPr bwMode="auto">
          <a:xfrm>
            <a:off x="702992" y="1715326"/>
            <a:ext cx="9290300" cy="452431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defTabSz="914400" eaLnBrk="0" fontAlgn="base" hangingPunct="0">
              <a:spcBef>
                <a:spcPct val="0"/>
              </a:spcBef>
              <a:spcAft>
                <a:spcPct val="0"/>
              </a:spcAft>
            </a:pPr>
            <a:r>
              <a:rPr kumimoji="0" lang="en-US" altLang="en-US" b="0" i="0" u="none" strike="noStrike" cap="none" normalizeH="0" baseline="0" dirty="0">
                <a:ln>
                  <a:noFill/>
                </a:ln>
                <a:solidFill>
                  <a:schemeClr val="tx1"/>
                </a:solidFill>
                <a:effectLst/>
                <a:latin typeface="Arial" panose="020B0604020202020204" pitchFamily="34" charset="0"/>
              </a:rPr>
              <a:t>Variables are </a:t>
            </a:r>
            <a:r>
              <a:rPr kumimoji="0" lang="en-US" altLang="en-US" b="1" i="0" u="none" strike="noStrike" cap="none" normalizeH="0" baseline="0" dirty="0">
                <a:ln>
                  <a:noFill/>
                </a:ln>
                <a:solidFill>
                  <a:schemeClr val="tx1"/>
                </a:solidFill>
                <a:effectLst/>
                <a:latin typeface="Arial" panose="020B0604020202020204" pitchFamily="34" charset="0"/>
              </a:rPr>
              <a:t>names bound to objects</a:t>
            </a:r>
          </a:p>
          <a:p>
            <a:pPr defTabSz="914400" eaLnBrk="0" fontAlgn="base" hangingPunct="0">
              <a:spcBef>
                <a:spcPct val="0"/>
              </a:spcBef>
              <a:spcAft>
                <a:spcPct val="0"/>
              </a:spcAft>
            </a:pPr>
            <a:endParaRPr kumimoji="0" lang="en-US" altLang="en-US" b="0" i="0" u="none" strike="noStrike" cap="none" normalizeH="0" baseline="0" dirty="0">
              <a:ln>
                <a:noFill/>
              </a:ln>
              <a:solidFill>
                <a:schemeClr val="tx1"/>
              </a:solidFill>
              <a:effectLst/>
              <a:latin typeface="Arial" panose="020B0604020202020204" pitchFamily="34" charset="0"/>
            </a:endParaRPr>
          </a:p>
          <a:p>
            <a:pPr defTabSz="914400" eaLnBrk="0" fontAlgn="base" hangingPunct="0">
              <a:spcBef>
                <a:spcPct val="0"/>
              </a:spcBef>
              <a:spcAft>
                <a:spcPct val="0"/>
              </a:spcAft>
            </a:pPr>
            <a:r>
              <a:rPr kumimoji="0" lang="en-US" altLang="en-US" b="0" i="0" u="none" strike="noStrike" cap="none" normalizeH="0" baseline="0" dirty="0">
                <a:ln>
                  <a:noFill/>
                </a:ln>
                <a:solidFill>
                  <a:schemeClr val="tx1"/>
                </a:solidFill>
                <a:effectLst/>
                <a:latin typeface="Arial" panose="020B0604020202020204" pitchFamily="34" charset="0"/>
              </a:rPr>
              <a:t>Python uses </a:t>
            </a:r>
            <a:r>
              <a:rPr kumimoji="0" lang="en-US" altLang="en-US" b="1" i="0" u="none" strike="noStrike" cap="none" normalizeH="0" baseline="0" dirty="0">
                <a:ln>
                  <a:noFill/>
                </a:ln>
                <a:solidFill>
                  <a:schemeClr val="tx1"/>
                </a:solidFill>
                <a:effectLst/>
                <a:latin typeface="Arial" panose="020B0604020202020204" pitchFamily="34" charset="0"/>
              </a:rPr>
              <a:t>dynamic typing</a:t>
            </a:r>
            <a:endParaRPr kumimoji="0" lang="en-US" altLang="en-US" b="0" i="0" u="none" strike="noStrike" cap="none" normalizeH="0" baseline="0" dirty="0">
              <a:ln>
                <a:noFill/>
              </a:ln>
              <a:solidFill>
                <a:schemeClr val="tx1"/>
              </a:solidFill>
              <a:effectLst/>
              <a:latin typeface="Arial" panose="020B0604020202020204" pitchFamily="34" charset="0"/>
            </a:endParaRPr>
          </a:p>
          <a:p>
            <a:pPr defTabSz="914400" eaLnBrk="0" fontAlgn="base" hangingPunct="0">
              <a:spcBef>
                <a:spcPct val="0"/>
              </a:spcBef>
              <a:spcAft>
                <a:spcPct val="0"/>
              </a:spcAft>
            </a:pPr>
            <a:endParaRPr kumimoji="0" lang="en-US" altLang="en-US" b="0" i="0" u="none" strike="noStrike" cap="none" normalizeH="0" baseline="0" dirty="0">
              <a:ln>
                <a:noFill/>
              </a:ln>
              <a:solidFill>
                <a:schemeClr val="tx1"/>
              </a:solidFill>
              <a:effectLst/>
              <a:latin typeface="Arial" panose="020B0604020202020204" pitchFamily="34" charset="0"/>
            </a:endParaRPr>
          </a:p>
          <a:p>
            <a:pPr defTabSz="914400" eaLnBrk="0" fontAlgn="base" hangingPunct="0">
              <a:spcBef>
                <a:spcPct val="0"/>
              </a:spcBef>
              <a:spcAft>
                <a:spcPct val="0"/>
              </a:spcAft>
            </a:pPr>
            <a:r>
              <a:rPr lang="en-US" altLang="en-US" dirty="0">
                <a:latin typeface="Arial" panose="020B0604020202020204" pitchFamily="34" charset="0"/>
              </a:rPr>
              <a:t>Changes to mutable objects affect all references</a:t>
            </a:r>
          </a:p>
          <a:p>
            <a:pPr marL="0" indent="0" defTabSz="914400" eaLnBrk="0" fontAlgn="base" hangingPunct="0">
              <a:spcBef>
                <a:spcPct val="0"/>
              </a:spcBef>
              <a:spcAft>
                <a:spcPct val="0"/>
              </a:spcAft>
              <a:buNone/>
            </a:pPr>
            <a:endParaRPr kumimoji="0" lang="en-US" altLang="en-US" b="0" i="0" u="none" strike="noStrike" cap="none" normalizeH="0" baseline="0" dirty="0">
              <a:ln>
                <a:noFill/>
              </a:ln>
              <a:solidFill>
                <a:schemeClr val="tx1"/>
              </a:solidFill>
              <a:effectLst/>
              <a:latin typeface="Arial" panose="020B0604020202020204" pitchFamily="34" charset="0"/>
            </a:endParaRPr>
          </a:p>
          <a:p>
            <a:pPr defTabSz="914400" eaLnBrk="0" fontAlgn="base" hangingPunct="0">
              <a:spcBef>
                <a:spcPct val="0"/>
              </a:spcBef>
              <a:spcAft>
                <a:spcPct val="0"/>
              </a:spcAft>
            </a:pPr>
            <a:r>
              <a:rPr kumimoji="0" lang="en-US" altLang="en-US" b="0" i="0" u="none" strike="noStrike" cap="none" normalizeH="0" baseline="0" dirty="0">
                <a:ln>
                  <a:noFill/>
                </a:ln>
                <a:solidFill>
                  <a:schemeClr val="tx1"/>
                </a:solidFill>
                <a:effectLst/>
                <a:latin typeface="Arial" panose="020B0604020202020204" pitchFamily="34" charset="0"/>
              </a:rPr>
              <a:t>Type hints help readability and safety</a:t>
            </a:r>
          </a:p>
          <a:p>
            <a:pPr defTabSz="914400" eaLnBrk="0" fontAlgn="base" hangingPunct="0">
              <a:spcBef>
                <a:spcPct val="0"/>
              </a:spcBef>
              <a:spcAft>
                <a:spcPct val="0"/>
              </a:spcAft>
            </a:pPr>
            <a:endParaRPr lang="en-US" altLang="en-US" dirty="0">
              <a:latin typeface="Arial" panose="020B0604020202020204" pitchFamily="34" charset="0"/>
            </a:endParaRPr>
          </a:p>
          <a:p>
            <a:pPr defTabSz="914400" eaLnBrk="0" fontAlgn="base" hangingPunct="0">
              <a:spcBef>
                <a:spcPct val="0"/>
              </a:spcBef>
              <a:spcAft>
                <a:spcPct val="0"/>
              </a:spcAft>
            </a:pPr>
            <a:endParaRPr kumimoji="0" lang="en-US" altLang="en-US"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170972732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626105-1F3B-B20D-9699-4F9A039ABA15}"/>
              </a:ext>
            </a:extLst>
          </p:cNvPr>
          <p:cNvSpPr>
            <a:spLocks noGrp="1"/>
          </p:cNvSpPr>
          <p:nvPr>
            <p:ph type="title"/>
          </p:nvPr>
        </p:nvSpPr>
        <p:spPr/>
        <p:txBody>
          <a:bodyPr/>
          <a:lstStyle/>
          <a:p>
            <a:r>
              <a:rPr lang="en-SG" dirty="0"/>
              <a:t>Practice Exercise</a:t>
            </a:r>
          </a:p>
        </p:txBody>
      </p:sp>
      <p:sp>
        <p:nvSpPr>
          <p:cNvPr id="4" name="Rectangle 1">
            <a:extLst>
              <a:ext uri="{FF2B5EF4-FFF2-40B4-BE49-F238E27FC236}">
                <a16:creationId xmlns:a16="http://schemas.microsoft.com/office/drawing/2014/main" id="{9BE66867-26C2-5979-2D77-230C316AC9B5}"/>
              </a:ext>
            </a:extLst>
          </p:cNvPr>
          <p:cNvSpPr>
            <a:spLocks noGrp="1" noChangeArrowheads="1"/>
          </p:cNvSpPr>
          <p:nvPr>
            <p:ph idx="1"/>
          </p:nvPr>
        </p:nvSpPr>
        <p:spPr bwMode="auto">
          <a:xfrm>
            <a:off x="457200" y="2739803"/>
            <a:ext cx="7927170" cy="224676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defTabSz="914400" eaLnBrk="0" fontAlgn="base" hangingPunct="0">
              <a:spcBef>
                <a:spcPct val="0"/>
              </a:spcBef>
              <a:spcAft>
                <a:spcPct val="0"/>
              </a:spcAft>
            </a:pPr>
            <a:r>
              <a:rPr kumimoji="0" lang="en-US" altLang="en-US" sz="2800" b="0" i="0" u="none" strike="noStrike" cap="none" normalizeH="0" baseline="0" dirty="0">
                <a:ln>
                  <a:noFill/>
                </a:ln>
                <a:solidFill>
                  <a:schemeClr val="tx1"/>
                </a:solidFill>
                <a:effectLst/>
                <a:latin typeface="Arial" panose="020B0604020202020204" pitchFamily="34" charset="0"/>
              </a:rPr>
              <a:t>Assign a variable different types</a:t>
            </a:r>
          </a:p>
          <a:p>
            <a:pPr defTabSz="914400" eaLnBrk="0" fontAlgn="base" hangingPunct="0">
              <a:spcBef>
                <a:spcPct val="0"/>
              </a:spcBef>
              <a:spcAft>
                <a:spcPct val="0"/>
              </a:spcAft>
            </a:pPr>
            <a:endParaRPr kumimoji="0" lang="en-US" altLang="en-US" sz="2800" b="0" i="0" u="none" strike="noStrike" cap="none" normalizeH="0" baseline="0" dirty="0">
              <a:ln>
                <a:noFill/>
              </a:ln>
              <a:solidFill>
                <a:schemeClr val="tx1"/>
              </a:solidFill>
              <a:effectLst/>
              <a:latin typeface="Arial" panose="020B0604020202020204" pitchFamily="34" charset="0"/>
            </a:endParaRPr>
          </a:p>
          <a:p>
            <a:pPr defTabSz="914400" eaLnBrk="0" fontAlgn="base" hangingPunct="0">
              <a:spcBef>
                <a:spcPct val="0"/>
              </a:spcBef>
              <a:spcAft>
                <a:spcPct val="0"/>
              </a:spcAft>
            </a:pPr>
            <a:r>
              <a:rPr kumimoji="0" lang="en-US" altLang="en-US" sz="2800" b="0" i="0" u="none" strike="noStrike" cap="none" normalizeH="0" baseline="0" dirty="0">
                <a:ln>
                  <a:noFill/>
                </a:ln>
                <a:solidFill>
                  <a:schemeClr val="tx1"/>
                </a:solidFill>
                <a:effectLst/>
                <a:latin typeface="Arial" panose="020B0604020202020204" pitchFamily="34" charset="0"/>
              </a:rPr>
              <a:t>Check types using </a:t>
            </a:r>
            <a:r>
              <a:rPr kumimoji="0" lang="en-US" altLang="en-US" sz="2800" b="0" i="0" u="none" strike="noStrike" cap="none" normalizeH="0" baseline="0" dirty="0">
                <a:ln>
                  <a:noFill/>
                </a:ln>
                <a:solidFill>
                  <a:schemeClr val="tx1"/>
                </a:solidFill>
                <a:effectLst/>
                <a:latin typeface="Arial Unicode MS"/>
              </a:rPr>
              <a:t>type()</a:t>
            </a:r>
            <a:endParaRPr kumimoji="0" lang="en-US" altLang="en-US" sz="2800" b="0" i="0" u="none" strike="noStrike" cap="none" normalizeH="0" baseline="0" dirty="0">
              <a:ln>
                <a:noFill/>
              </a:ln>
              <a:solidFill>
                <a:schemeClr val="tx1"/>
              </a:solidFill>
              <a:effectLst/>
            </a:endParaRPr>
          </a:p>
          <a:p>
            <a:pPr defTabSz="914400" eaLnBrk="0" fontAlgn="base" hangingPunct="0">
              <a:spcBef>
                <a:spcPct val="0"/>
              </a:spcBef>
              <a:spcAft>
                <a:spcPct val="0"/>
              </a:spcAft>
            </a:pPr>
            <a:endParaRPr kumimoji="0" lang="en-US" altLang="en-US" sz="2800" b="0" i="0" u="none" strike="noStrike" cap="none" normalizeH="0" baseline="0" dirty="0">
              <a:ln>
                <a:noFill/>
              </a:ln>
              <a:solidFill>
                <a:schemeClr val="tx1"/>
              </a:solidFill>
              <a:effectLst/>
              <a:latin typeface="Arial" panose="020B0604020202020204" pitchFamily="34" charset="0"/>
            </a:endParaRPr>
          </a:p>
          <a:p>
            <a:pPr defTabSz="914400" eaLnBrk="0" fontAlgn="base" hangingPunct="0">
              <a:spcBef>
                <a:spcPct val="0"/>
              </a:spcBef>
              <a:spcAft>
                <a:spcPct val="0"/>
              </a:spcAft>
            </a:pPr>
            <a:r>
              <a:rPr kumimoji="0" lang="en-US" altLang="en-US" sz="2800" b="0" i="0" u="none" strike="noStrike" cap="none" normalizeH="0" baseline="0" dirty="0">
                <a:ln>
                  <a:noFill/>
                </a:ln>
                <a:solidFill>
                  <a:schemeClr val="tx1"/>
                </a:solidFill>
                <a:effectLst/>
                <a:latin typeface="Arial" panose="020B0604020202020204" pitchFamily="34" charset="0"/>
              </a:rPr>
              <a:t>Experiment with mutable vs immutable objects</a:t>
            </a:r>
          </a:p>
        </p:txBody>
      </p:sp>
    </p:spTree>
    <p:extLst>
      <p:ext uri="{BB962C8B-B14F-4D97-AF65-F5344CB8AC3E}">
        <p14:creationId xmlns:p14="http://schemas.microsoft.com/office/powerpoint/2010/main" val="345120580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728AEC-3BAF-B672-A60B-0B064A596C49}"/>
              </a:ext>
            </a:extLst>
          </p:cNvPr>
          <p:cNvSpPr>
            <a:spLocks noGrp="1"/>
          </p:cNvSpPr>
          <p:nvPr>
            <p:ph type="title"/>
          </p:nvPr>
        </p:nvSpPr>
        <p:spPr/>
        <p:txBody>
          <a:bodyPr/>
          <a:lstStyle/>
          <a:p>
            <a:r>
              <a:rPr lang="en-SG" dirty="0"/>
              <a:t>Exercise 1: Assign Different Types</a:t>
            </a:r>
          </a:p>
        </p:txBody>
      </p:sp>
      <p:sp>
        <p:nvSpPr>
          <p:cNvPr id="3" name="Content Placeholder 2">
            <a:extLst>
              <a:ext uri="{FF2B5EF4-FFF2-40B4-BE49-F238E27FC236}">
                <a16:creationId xmlns:a16="http://schemas.microsoft.com/office/drawing/2014/main" id="{154F78CD-4D3B-150A-7A0C-3FC73DE0B8AF}"/>
              </a:ext>
            </a:extLst>
          </p:cNvPr>
          <p:cNvSpPr>
            <a:spLocks noGrp="1"/>
          </p:cNvSpPr>
          <p:nvPr>
            <p:ph idx="1"/>
          </p:nvPr>
        </p:nvSpPr>
        <p:spPr>
          <a:xfrm>
            <a:off x="457200" y="1600200"/>
            <a:ext cx="4267200" cy="4525963"/>
          </a:xfrm>
        </p:spPr>
        <p:txBody>
          <a:bodyPr>
            <a:normAutofit fontScale="92500" lnSpcReduction="20000"/>
          </a:bodyPr>
          <a:lstStyle/>
          <a:p>
            <a:pPr marL="0" indent="0">
              <a:buNone/>
            </a:pPr>
            <a:r>
              <a:rPr lang="nb-NO" sz="2800" dirty="0"/>
              <a:t>x = 10</a:t>
            </a:r>
          </a:p>
          <a:p>
            <a:pPr marL="0" indent="0">
              <a:buNone/>
            </a:pPr>
            <a:r>
              <a:rPr lang="nb-NO" sz="2800" dirty="0"/>
              <a:t>print(x, type(x))</a:t>
            </a:r>
          </a:p>
          <a:p>
            <a:pPr marL="0" indent="0">
              <a:buNone/>
            </a:pPr>
            <a:endParaRPr lang="nb-NO" sz="2800" dirty="0"/>
          </a:p>
          <a:p>
            <a:pPr marL="0" indent="0">
              <a:buNone/>
            </a:pPr>
            <a:r>
              <a:rPr lang="nb-NO" sz="2800" dirty="0"/>
              <a:t>x = 3.14</a:t>
            </a:r>
          </a:p>
          <a:p>
            <a:pPr marL="0" indent="0">
              <a:buNone/>
            </a:pPr>
            <a:r>
              <a:rPr lang="nb-NO" sz="2800" dirty="0"/>
              <a:t>print(x, type(x))</a:t>
            </a:r>
          </a:p>
          <a:p>
            <a:pPr marL="0" indent="0">
              <a:buNone/>
            </a:pPr>
            <a:endParaRPr lang="nb-NO" sz="2800" dirty="0"/>
          </a:p>
          <a:p>
            <a:pPr marL="0" indent="0">
              <a:buNone/>
            </a:pPr>
            <a:r>
              <a:rPr lang="nb-NO" sz="2800" dirty="0"/>
              <a:t>x = "hello"</a:t>
            </a:r>
          </a:p>
          <a:p>
            <a:pPr marL="0" indent="0">
              <a:buNone/>
            </a:pPr>
            <a:r>
              <a:rPr lang="nb-NO" sz="2800" dirty="0"/>
              <a:t>print(x, type(x))</a:t>
            </a:r>
          </a:p>
          <a:p>
            <a:pPr marL="0" indent="0">
              <a:buNone/>
            </a:pPr>
            <a:endParaRPr lang="nb-NO" sz="2800" dirty="0"/>
          </a:p>
          <a:p>
            <a:pPr marL="0" indent="0">
              <a:buNone/>
            </a:pPr>
            <a:r>
              <a:rPr lang="nb-NO" sz="2800" dirty="0"/>
              <a:t>x = True</a:t>
            </a:r>
          </a:p>
          <a:p>
            <a:pPr marL="0" indent="0">
              <a:buNone/>
            </a:pPr>
            <a:r>
              <a:rPr lang="nb-NO" sz="2800" dirty="0"/>
              <a:t>print(x, type(x))</a:t>
            </a:r>
          </a:p>
          <a:p>
            <a:pPr marL="0" indent="0">
              <a:buNone/>
            </a:pPr>
            <a:endParaRPr lang="en-SG" sz="2800" dirty="0"/>
          </a:p>
        </p:txBody>
      </p:sp>
      <p:sp>
        <p:nvSpPr>
          <p:cNvPr id="4" name="Content Placeholder 2">
            <a:extLst>
              <a:ext uri="{FF2B5EF4-FFF2-40B4-BE49-F238E27FC236}">
                <a16:creationId xmlns:a16="http://schemas.microsoft.com/office/drawing/2014/main" id="{24FF7DB8-69DD-7B6F-517E-7CDB8DEE42D6}"/>
              </a:ext>
            </a:extLst>
          </p:cNvPr>
          <p:cNvSpPr txBox="1">
            <a:spLocks/>
          </p:cNvSpPr>
          <p:nvPr/>
        </p:nvSpPr>
        <p:spPr>
          <a:xfrm>
            <a:off x="6553200" y="1600199"/>
            <a:ext cx="4267200" cy="4525963"/>
          </a:xfrm>
          <a:prstGeom prst="rect">
            <a:avLst/>
          </a:prstGeom>
        </p:spPr>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dirty="0"/>
              <a:t>Same variable name holds different types</a:t>
            </a:r>
          </a:p>
          <a:p>
            <a:pPr marL="0" indent="0">
              <a:buNone/>
            </a:pPr>
            <a:endParaRPr lang="en-US" dirty="0"/>
          </a:p>
          <a:p>
            <a:r>
              <a:rPr lang="en-US" dirty="0"/>
              <a:t>No type declaration is required in Python</a:t>
            </a:r>
            <a:endParaRPr lang="en-SG" dirty="0"/>
          </a:p>
        </p:txBody>
      </p:sp>
    </p:spTree>
    <p:extLst>
      <p:ext uri="{BB962C8B-B14F-4D97-AF65-F5344CB8AC3E}">
        <p14:creationId xmlns:p14="http://schemas.microsoft.com/office/powerpoint/2010/main" val="1978159801"/>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FBFD75-7789-0547-72CB-F1417254276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F9743AE-E5EE-4CB4-BF1F-355C30013132}"/>
              </a:ext>
            </a:extLst>
          </p:cNvPr>
          <p:cNvSpPr>
            <a:spLocks noGrp="1"/>
          </p:cNvSpPr>
          <p:nvPr>
            <p:ph type="title"/>
          </p:nvPr>
        </p:nvSpPr>
        <p:spPr/>
        <p:txBody>
          <a:bodyPr>
            <a:normAutofit fontScale="90000"/>
          </a:bodyPr>
          <a:lstStyle/>
          <a:p>
            <a:r>
              <a:rPr lang="en-SG" b="1" dirty="0"/>
              <a:t>Exercise 2 — Checking Types Explicitly</a:t>
            </a:r>
          </a:p>
        </p:txBody>
      </p:sp>
      <p:sp>
        <p:nvSpPr>
          <p:cNvPr id="3" name="Content Placeholder 2">
            <a:extLst>
              <a:ext uri="{FF2B5EF4-FFF2-40B4-BE49-F238E27FC236}">
                <a16:creationId xmlns:a16="http://schemas.microsoft.com/office/drawing/2014/main" id="{D3386EE9-1178-0E04-B06F-62EB4604D9BF}"/>
              </a:ext>
            </a:extLst>
          </p:cNvPr>
          <p:cNvSpPr>
            <a:spLocks noGrp="1"/>
          </p:cNvSpPr>
          <p:nvPr>
            <p:ph idx="1"/>
          </p:nvPr>
        </p:nvSpPr>
        <p:spPr>
          <a:xfrm>
            <a:off x="457200" y="1600200"/>
            <a:ext cx="5448300" cy="4525963"/>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en-US" sz="2800" dirty="0"/>
              <a:t>value = [1, 2, 3]</a:t>
            </a:r>
          </a:p>
          <a:p>
            <a:pPr marL="0" indent="0">
              <a:buNone/>
            </a:pPr>
            <a:endParaRPr lang="en-US" sz="2800" dirty="0"/>
          </a:p>
          <a:p>
            <a:pPr marL="0" indent="0">
              <a:buNone/>
            </a:pPr>
            <a:r>
              <a:rPr lang="en-US" sz="2800" dirty="0"/>
              <a:t>print(type(value))</a:t>
            </a:r>
          </a:p>
          <a:p>
            <a:pPr marL="0" indent="0">
              <a:buNone/>
            </a:pPr>
            <a:r>
              <a:rPr lang="en-US" sz="2800" dirty="0"/>
              <a:t>print(</a:t>
            </a:r>
            <a:r>
              <a:rPr lang="en-US" sz="2800" dirty="0" err="1"/>
              <a:t>isinstance</a:t>
            </a:r>
            <a:r>
              <a:rPr lang="en-US" sz="2800" dirty="0"/>
              <a:t>(value, list))</a:t>
            </a:r>
          </a:p>
          <a:p>
            <a:pPr marL="0" indent="0">
              <a:buNone/>
            </a:pPr>
            <a:r>
              <a:rPr lang="en-US" sz="2800" dirty="0"/>
              <a:t>print(</a:t>
            </a:r>
            <a:r>
              <a:rPr lang="en-US" sz="2800" dirty="0" err="1"/>
              <a:t>isinstance</a:t>
            </a:r>
            <a:r>
              <a:rPr lang="en-US" sz="2800" dirty="0"/>
              <a:t>(value, tuple))</a:t>
            </a:r>
          </a:p>
        </p:txBody>
      </p:sp>
      <p:sp>
        <p:nvSpPr>
          <p:cNvPr id="4" name="Content Placeholder 2">
            <a:extLst>
              <a:ext uri="{FF2B5EF4-FFF2-40B4-BE49-F238E27FC236}">
                <a16:creationId xmlns:a16="http://schemas.microsoft.com/office/drawing/2014/main" id="{7EE761D7-91F4-6F93-0963-A6887EB180A0}"/>
              </a:ext>
            </a:extLst>
          </p:cNvPr>
          <p:cNvSpPr txBox="1">
            <a:spLocks/>
          </p:cNvSpPr>
          <p:nvPr/>
        </p:nvSpPr>
        <p:spPr>
          <a:xfrm>
            <a:off x="6553200" y="1600199"/>
            <a:ext cx="4267200"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dirty="0"/>
              <a:t>type() vs </a:t>
            </a:r>
            <a:r>
              <a:rPr lang="en-US" dirty="0" err="1"/>
              <a:t>isinstance</a:t>
            </a:r>
            <a:r>
              <a:rPr lang="en-US" dirty="0"/>
              <a:t>()</a:t>
            </a:r>
          </a:p>
          <a:p>
            <a:endParaRPr lang="en-US" dirty="0"/>
          </a:p>
          <a:p>
            <a:r>
              <a:rPr lang="en-US" dirty="0"/>
              <a:t>When </a:t>
            </a:r>
            <a:r>
              <a:rPr lang="en-US" dirty="0" err="1"/>
              <a:t>isinstance</a:t>
            </a:r>
            <a:r>
              <a:rPr lang="en-US" dirty="0"/>
              <a:t>() is preferred</a:t>
            </a:r>
            <a:endParaRPr lang="en-SG" dirty="0"/>
          </a:p>
        </p:txBody>
      </p:sp>
    </p:spTree>
    <p:extLst>
      <p:ext uri="{BB962C8B-B14F-4D97-AF65-F5344CB8AC3E}">
        <p14:creationId xmlns:p14="http://schemas.microsoft.com/office/powerpoint/2010/main" val="1638623167"/>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B6C518-E538-07C8-4F92-BE4E328208E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C661DA8-A744-435F-FB61-1F902C78B881}"/>
              </a:ext>
            </a:extLst>
          </p:cNvPr>
          <p:cNvSpPr>
            <a:spLocks noGrp="1"/>
          </p:cNvSpPr>
          <p:nvPr>
            <p:ph type="title"/>
          </p:nvPr>
        </p:nvSpPr>
        <p:spPr>
          <a:xfrm>
            <a:off x="457200" y="274638"/>
            <a:ext cx="11137900" cy="1143000"/>
          </a:xfrm>
        </p:spPr>
        <p:txBody>
          <a:bodyPr>
            <a:normAutofit fontScale="90000"/>
          </a:bodyPr>
          <a:lstStyle/>
          <a:p>
            <a:r>
              <a:rPr lang="en-SG" b="1" dirty="0"/>
              <a:t>Exercise 3 — Immutable Objects (Integers &amp; Strings)</a:t>
            </a:r>
          </a:p>
        </p:txBody>
      </p:sp>
      <p:sp>
        <p:nvSpPr>
          <p:cNvPr id="3" name="Content Placeholder 2">
            <a:extLst>
              <a:ext uri="{FF2B5EF4-FFF2-40B4-BE49-F238E27FC236}">
                <a16:creationId xmlns:a16="http://schemas.microsoft.com/office/drawing/2014/main" id="{4893D2CD-DAF7-A117-54D5-2F05E9D91FA7}"/>
              </a:ext>
            </a:extLst>
          </p:cNvPr>
          <p:cNvSpPr>
            <a:spLocks noGrp="1"/>
          </p:cNvSpPr>
          <p:nvPr>
            <p:ph idx="1"/>
          </p:nvPr>
        </p:nvSpPr>
        <p:spPr>
          <a:xfrm>
            <a:off x="457200" y="1600200"/>
            <a:ext cx="2298700" cy="4525963"/>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pt-BR" sz="2800" dirty="0"/>
              <a:t>a = 10</a:t>
            </a:r>
          </a:p>
          <a:p>
            <a:pPr marL="0" indent="0">
              <a:buNone/>
            </a:pPr>
            <a:r>
              <a:rPr lang="pt-BR" sz="2800" dirty="0"/>
              <a:t>b = a</a:t>
            </a:r>
          </a:p>
          <a:p>
            <a:pPr marL="0" indent="0">
              <a:buNone/>
            </a:pPr>
            <a:endParaRPr lang="pt-BR" sz="2800" dirty="0"/>
          </a:p>
          <a:p>
            <a:pPr marL="0" indent="0">
              <a:buNone/>
            </a:pPr>
            <a:r>
              <a:rPr lang="pt-BR" sz="2800" dirty="0"/>
              <a:t>a = a + 5</a:t>
            </a:r>
          </a:p>
          <a:p>
            <a:pPr marL="0" indent="0">
              <a:buNone/>
            </a:pPr>
            <a:endParaRPr lang="pt-BR" sz="2800" dirty="0"/>
          </a:p>
          <a:p>
            <a:pPr marL="0" indent="0">
              <a:buNone/>
            </a:pPr>
            <a:r>
              <a:rPr lang="pt-BR" sz="2800" dirty="0"/>
              <a:t>print(a)</a:t>
            </a:r>
          </a:p>
          <a:p>
            <a:pPr marL="0" indent="0">
              <a:buNone/>
            </a:pPr>
            <a:r>
              <a:rPr lang="pt-BR" sz="2800" dirty="0"/>
              <a:t>print(b)</a:t>
            </a:r>
          </a:p>
          <a:p>
            <a:pPr marL="0" indent="0">
              <a:buNone/>
            </a:pPr>
            <a:endParaRPr lang="pt-BR" sz="2800" b="1" dirty="0"/>
          </a:p>
        </p:txBody>
      </p:sp>
      <p:sp>
        <p:nvSpPr>
          <p:cNvPr id="4" name="Content Placeholder 2">
            <a:extLst>
              <a:ext uri="{FF2B5EF4-FFF2-40B4-BE49-F238E27FC236}">
                <a16:creationId xmlns:a16="http://schemas.microsoft.com/office/drawing/2014/main" id="{97CD2D77-283F-0905-6940-AA1776AA0D92}"/>
              </a:ext>
            </a:extLst>
          </p:cNvPr>
          <p:cNvSpPr txBox="1">
            <a:spLocks/>
          </p:cNvSpPr>
          <p:nvPr/>
        </p:nvSpPr>
        <p:spPr>
          <a:xfrm>
            <a:off x="6553199" y="1600199"/>
            <a:ext cx="5178425"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b="1" dirty="0"/>
              <a:t>Observe</a:t>
            </a:r>
            <a:endParaRPr lang="en-US" dirty="0"/>
          </a:p>
          <a:p>
            <a:pPr lvl="1"/>
            <a:r>
              <a:rPr lang="en-US" dirty="0"/>
              <a:t>Original objects are unchanged</a:t>
            </a:r>
          </a:p>
          <a:p>
            <a:pPr lvl="1"/>
            <a:r>
              <a:rPr lang="en-US" dirty="0"/>
              <a:t>New objects are created on reassignment</a:t>
            </a:r>
          </a:p>
        </p:txBody>
      </p:sp>
      <p:sp>
        <p:nvSpPr>
          <p:cNvPr id="7" name="Content Placeholder 2">
            <a:extLst>
              <a:ext uri="{FF2B5EF4-FFF2-40B4-BE49-F238E27FC236}">
                <a16:creationId xmlns:a16="http://schemas.microsoft.com/office/drawing/2014/main" id="{0E0AF157-D84B-6883-D3E2-954C7194F558}"/>
              </a:ext>
            </a:extLst>
          </p:cNvPr>
          <p:cNvSpPr txBox="1">
            <a:spLocks/>
          </p:cNvSpPr>
          <p:nvPr/>
        </p:nvSpPr>
        <p:spPr>
          <a:xfrm>
            <a:off x="3124200" y="1587499"/>
            <a:ext cx="3060700"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dk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dk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dk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dk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dk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dk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dk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dk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dk1"/>
                </a:solidFill>
                <a:latin typeface="+mn-lt"/>
                <a:ea typeface="+mn-ea"/>
                <a:cs typeface="+mn-cs"/>
              </a:defRPr>
            </a:lvl9pPr>
          </a:lstStyle>
          <a:p>
            <a:pPr marL="0" indent="0">
              <a:buNone/>
            </a:pPr>
            <a:r>
              <a:rPr lang="en-US" sz="2800" dirty="0"/>
              <a:t>s1 = "python"</a:t>
            </a:r>
          </a:p>
          <a:p>
            <a:pPr marL="0" indent="0">
              <a:buNone/>
            </a:pPr>
            <a:r>
              <a:rPr lang="en-US" sz="2800" dirty="0"/>
              <a:t>s2 = s1</a:t>
            </a:r>
          </a:p>
          <a:p>
            <a:pPr marL="0" indent="0">
              <a:buNone/>
            </a:pPr>
            <a:endParaRPr lang="en-US" sz="2800" dirty="0"/>
          </a:p>
          <a:p>
            <a:pPr marL="0" indent="0">
              <a:buNone/>
            </a:pPr>
            <a:r>
              <a:rPr lang="en-US" sz="2800" dirty="0"/>
              <a:t>s1 = s1.upper()</a:t>
            </a:r>
          </a:p>
          <a:p>
            <a:pPr marL="0" indent="0">
              <a:buNone/>
            </a:pPr>
            <a:endParaRPr lang="en-US" sz="2800" dirty="0"/>
          </a:p>
          <a:p>
            <a:pPr marL="0" indent="0">
              <a:buNone/>
            </a:pPr>
            <a:r>
              <a:rPr lang="en-US" sz="2800" dirty="0"/>
              <a:t>print(s1)</a:t>
            </a:r>
          </a:p>
          <a:p>
            <a:pPr marL="0" indent="0">
              <a:buNone/>
            </a:pPr>
            <a:r>
              <a:rPr lang="en-US" sz="2800" dirty="0"/>
              <a:t>print(s2)</a:t>
            </a:r>
          </a:p>
        </p:txBody>
      </p:sp>
    </p:spTree>
    <p:extLst>
      <p:ext uri="{BB962C8B-B14F-4D97-AF65-F5344CB8AC3E}">
        <p14:creationId xmlns:p14="http://schemas.microsoft.com/office/powerpoint/2010/main" val="2926911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6C90AC-780C-DF2F-5A91-A9BAD88F492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34C3B6F-9145-62B1-1672-4FAC042D77AD}"/>
              </a:ext>
            </a:extLst>
          </p:cNvPr>
          <p:cNvSpPr>
            <a:spLocks noGrp="1"/>
          </p:cNvSpPr>
          <p:nvPr>
            <p:ph type="title"/>
          </p:nvPr>
        </p:nvSpPr>
        <p:spPr/>
        <p:txBody>
          <a:bodyPr>
            <a:normAutofit fontScale="90000"/>
          </a:bodyPr>
          <a:lstStyle/>
          <a:p>
            <a:r>
              <a:rPr lang="en-SG" b="1" dirty="0"/>
              <a:t>Exercise 4 — Mutable Objects (Lists)</a:t>
            </a:r>
          </a:p>
        </p:txBody>
      </p:sp>
      <p:sp>
        <p:nvSpPr>
          <p:cNvPr id="3" name="Content Placeholder 2">
            <a:extLst>
              <a:ext uri="{FF2B5EF4-FFF2-40B4-BE49-F238E27FC236}">
                <a16:creationId xmlns:a16="http://schemas.microsoft.com/office/drawing/2014/main" id="{224F148C-6C48-9C19-178B-8E3BCDED8C37}"/>
              </a:ext>
            </a:extLst>
          </p:cNvPr>
          <p:cNvSpPr>
            <a:spLocks noGrp="1"/>
          </p:cNvSpPr>
          <p:nvPr>
            <p:ph idx="1"/>
          </p:nvPr>
        </p:nvSpPr>
        <p:spPr>
          <a:xfrm>
            <a:off x="457200" y="1600200"/>
            <a:ext cx="3606800" cy="4525963"/>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en-US" sz="2800" dirty="0"/>
              <a:t>list1 = [1, 2, 3]</a:t>
            </a:r>
          </a:p>
          <a:p>
            <a:pPr marL="0" indent="0">
              <a:buNone/>
            </a:pPr>
            <a:r>
              <a:rPr lang="en-US" sz="2800" dirty="0"/>
              <a:t>list2 = list1</a:t>
            </a:r>
          </a:p>
          <a:p>
            <a:pPr marL="0" indent="0">
              <a:buNone/>
            </a:pPr>
            <a:endParaRPr lang="en-US" sz="2800" dirty="0"/>
          </a:p>
          <a:p>
            <a:pPr marL="0" indent="0">
              <a:buNone/>
            </a:pPr>
            <a:r>
              <a:rPr lang="en-US" sz="2800" dirty="0"/>
              <a:t>list1.append(4)</a:t>
            </a:r>
          </a:p>
          <a:p>
            <a:pPr marL="0" indent="0">
              <a:buNone/>
            </a:pPr>
            <a:endParaRPr lang="en-US" sz="2800" dirty="0"/>
          </a:p>
          <a:p>
            <a:pPr marL="0" indent="0">
              <a:buNone/>
            </a:pPr>
            <a:r>
              <a:rPr lang="en-US" sz="2800" dirty="0"/>
              <a:t>print(list1)</a:t>
            </a:r>
          </a:p>
          <a:p>
            <a:pPr marL="0" indent="0">
              <a:buNone/>
            </a:pPr>
            <a:r>
              <a:rPr lang="en-US" sz="2800" dirty="0"/>
              <a:t>print(list2)</a:t>
            </a:r>
          </a:p>
        </p:txBody>
      </p:sp>
      <p:sp>
        <p:nvSpPr>
          <p:cNvPr id="4" name="Content Placeholder 2">
            <a:extLst>
              <a:ext uri="{FF2B5EF4-FFF2-40B4-BE49-F238E27FC236}">
                <a16:creationId xmlns:a16="http://schemas.microsoft.com/office/drawing/2014/main" id="{728F70B7-71AF-5810-A83A-C6132703DE4D}"/>
              </a:ext>
            </a:extLst>
          </p:cNvPr>
          <p:cNvSpPr txBox="1">
            <a:spLocks/>
          </p:cNvSpPr>
          <p:nvPr/>
        </p:nvSpPr>
        <p:spPr>
          <a:xfrm>
            <a:off x="4749800" y="1600199"/>
            <a:ext cx="6070600"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b="1" dirty="0"/>
              <a:t>Observe</a:t>
            </a:r>
            <a:endParaRPr lang="en-US" dirty="0"/>
          </a:p>
          <a:p>
            <a:pPr lvl="1"/>
            <a:r>
              <a:rPr lang="en-US" dirty="0"/>
              <a:t>Both variables reflect the change</a:t>
            </a:r>
          </a:p>
          <a:p>
            <a:pPr lvl="1"/>
            <a:r>
              <a:rPr lang="en-US" dirty="0"/>
              <a:t>They reference the same object</a:t>
            </a:r>
          </a:p>
          <a:p>
            <a:pPr lvl="1"/>
            <a:r>
              <a:rPr lang="en-US" dirty="0"/>
              <a:t>Python variables are </a:t>
            </a:r>
            <a:r>
              <a:rPr lang="en-US" b="1" dirty="0"/>
              <a:t>references</a:t>
            </a:r>
            <a:r>
              <a:rPr lang="en-US" dirty="0"/>
              <a:t>,</a:t>
            </a:r>
            <a:br>
              <a:rPr lang="en-US" dirty="0"/>
            </a:br>
            <a:r>
              <a:rPr lang="en-US" dirty="0"/>
              <a:t>and mutability determines whether changes are shared.</a:t>
            </a:r>
          </a:p>
        </p:txBody>
      </p:sp>
    </p:spTree>
    <p:extLst>
      <p:ext uri="{BB962C8B-B14F-4D97-AF65-F5344CB8AC3E}">
        <p14:creationId xmlns:p14="http://schemas.microsoft.com/office/powerpoint/2010/main" val="159259699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3EE9BD-D28C-3AD0-D6C9-A41E4638EA33}"/>
              </a:ext>
            </a:extLst>
          </p:cNvPr>
          <p:cNvSpPr>
            <a:spLocks noGrp="1"/>
          </p:cNvSpPr>
          <p:nvPr>
            <p:ph type="title"/>
          </p:nvPr>
        </p:nvSpPr>
        <p:spPr/>
        <p:txBody>
          <a:bodyPr/>
          <a:lstStyle/>
          <a:p>
            <a:r>
              <a:rPr lang="en-SG" dirty="0"/>
              <a:t>What Is Control Flow?</a:t>
            </a:r>
          </a:p>
        </p:txBody>
      </p:sp>
      <p:sp>
        <p:nvSpPr>
          <p:cNvPr id="6" name="Text Placeholder 5">
            <a:extLst>
              <a:ext uri="{FF2B5EF4-FFF2-40B4-BE49-F238E27FC236}">
                <a16:creationId xmlns:a16="http://schemas.microsoft.com/office/drawing/2014/main" id="{67122D64-82A1-32AB-AE5C-CF8C122AA6AF}"/>
              </a:ext>
            </a:extLst>
          </p:cNvPr>
          <p:cNvSpPr>
            <a:spLocks noGrp="1"/>
          </p:cNvSpPr>
          <p:nvPr>
            <p:ph type="body" idx="1"/>
          </p:nvPr>
        </p:nvSpPr>
        <p:spPr/>
        <p:txBody>
          <a:bodyPr/>
          <a:lstStyle/>
          <a:p>
            <a:r>
              <a:rPr lang="en-SG" dirty="0"/>
              <a:t>Key Ideas</a:t>
            </a:r>
          </a:p>
        </p:txBody>
      </p:sp>
      <p:sp>
        <p:nvSpPr>
          <p:cNvPr id="7" name="Content Placeholder 6">
            <a:extLst>
              <a:ext uri="{FF2B5EF4-FFF2-40B4-BE49-F238E27FC236}">
                <a16:creationId xmlns:a16="http://schemas.microsoft.com/office/drawing/2014/main" id="{7A939862-F84E-4C68-0708-804A1E28BE35}"/>
              </a:ext>
            </a:extLst>
          </p:cNvPr>
          <p:cNvSpPr>
            <a:spLocks noGrp="1"/>
          </p:cNvSpPr>
          <p:nvPr>
            <p:ph sz="half" idx="2"/>
          </p:nvPr>
        </p:nvSpPr>
        <p:spPr/>
        <p:txBody>
          <a:bodyPr/>
          <a:lstStyle/>
          <a:p>
            <a:r>
              <a:rPr lang="en-US" dirty="0"/>
              <a:t>Control flow determines the order in which code executes</a:t>
            </a:r>
          </a:p>
          <a:p>
            <a:endParaRPr lang="en-US" dirty="0"/>
          </a:p>
          <a:p>
            <a:r>
              <a:rPr lang="en-US" dirty="0"/>
              <a:t>Allows programs to make decisions and repeat actions</a:t>
            </a:r>
            <a:endParaRPr lang="en-SG" dirty="0"/>
          </a:p>
        </p:txBody>
      </p:sp>
      <p:sp>
        <p:nvSpPr>
          <p:cNvPr id="8" name="Text Placeholder 7">
            <a:extLst>
              <a:ext uri="{FF2B5EF4-FFF2-40B4-BE49-F238E27FC236}">
                <a16:creationId xmlns:a16="http://schemas.microsoft.com/office/drawing/2014/main" id="{4F563BE6-C236-7FB4-2B29-0D4B45E9E9D3}"/>
              </a:ext>
            </a:extLst>
          </p:cNvPr>
          <p:cNvSpPr>
            <a:spLocks noGrp="1"/>
          </p:cNvSpPr>
          <p:nvPr>
            <p:ph type="body" sz="quarter" idx="3"/>
          </p:nvPr>
        </p:nvSpPr>
        <p:spPr>
          <a:xfrm>
            <a:off x="5546725" y="1535113"/>
            <a:ext cx="4041775" cy="639762"/>
          </a:xfrm>
        </p:spPr>
        <p:txBody>
          <a:bodyPr/>
          <a:lstStyle/>
          <a:p>
            <a:r>
              <a:rPr lang="en-SG" dirty="0"/>
              <a:t>Examples</a:t>
            </a:r>
          </a:p>
        </p:txBody>
      </p:sp>
      <p:sp>
        <p:nvSpPr>
          <p:cNvPr id="9" name="Content Placeholder 8">
            <a:extLst>
              <a:ext uri="{FF2B5EF4-FFF2-40B4-BE49-F238E27FC236}">
                <a16:creationId xmlns:a16="http://schemas.microsoft.com/office/drawing/2014/main" id="{90294DEA-EA5F-948F-B16A-BC409FFE2B78}"/>
              </a:ext>
            </a:extLst>
          </p:cNvPr>
          <p:cNvSpPr>
            <a:spLocks noGrp="1"/>
          </p:cNvSpPr>
          <p:nvPr>
            <p:ph sz="quarter" idx="4"/>
          </p:nvPr>
        </p:nvSpPr>
        <p:spPr>
          <a:xfrm>
            <a:off x="5546725" y="2174875"/>
            <a:ext cx="4041775" cy="3951288"/>
          </a:xfrm>
        </p:spPr>
        <p:txBody>
          <a:bodyPr/>
          <a:lstStyle/>
          <a:p>
            <a:r>
              <a:rPr lang="en-US" dirty="0"/>
              <a:t>Making choices (if this happens </a:t>
            </a:r>
            <a:r>
              <a:rPr lang="en-US" dirty="0">
                <a:sym typeface="Wingdings" panose="05000000000000000000" pitchFamily="2" charset="2"/>
              </a:rPr>
              <a:t></a:t>
            </a:r>
            <a:r>
              <a:rPr lang="en-US" dirty="0"/>
              <a:t> do that)</a:t>
            </a:r>
          </a:p>
          <a:p>
            <a:endParaRPr lang="en-US" dirty="0"/>
          </a:p>
          <a:p>
            <a:r>
              <a:rPr lang="en-US" dirty="0"/>
              <a:t>Repeating tasks (loop until done)</a:t>
            </a:r>
            <a:endParaRPr lang="en-SG" dirty="0"/>
          </a:p>
        </p:txBody>
      </p:sp>
    </p:spTree>
    <p:extLst>
      <p:ext uri="{BB962C8B-B14F-4D97-AF65-F5344CB8AC3E}">
        <p14:creationId xmlns:p14="http://schemas.microsoft.com/office/powerpoint/2010/main" val="3978357963"/>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F55F4CC3-D0A8-F0FD-7D4D-364F7B85732D}"/>
              </a:ext>
            </a:extLst>
          </p:cNvPr>
          <p:cNvSpPr>
            <a:spLocks noGrp="1"/>
          </p:cNvSpPr>
          <p:nvPr>
            <p:ph type="title"/>
          </p:nvPr>
        </p:nvSpPr>
        <p:spPr/>
        <p:txBody>
          <a:bodyPr/>
          <a:lstStyle/>
          <a:p>
            <a:r>
              <a:rPr lang="en-SG" dirty="0"/>
              <a:t>Conditional Statements (if)</a:t>
            </a:r>
          </a:p>
        </p:txBody>
      </p:sp>
      <p:sp>
        <p:nvSpPr>
          <p:cNvPr id="8" name="Content Placeholder 7">
            <a:extLst>
              <a:ext uri="{FF2B5EF4-FFF2-40B4-BE49-F238E27FC236}">
                <a16:creationId xmlns:a16="http://schemas.microsoft.com/office/drawing/2014/main" id="{30BCBE06-C4BB-842D-E65B-ED154030397E}"/>
              </a:ext>
            </a:extLst>
          </p:cNvPr>
          <p:cNvSpPr>
            <a:spLocks noGrp="1"/>
          </p:cNvSpPr>
          <p:nvPr>
            <p:ph idx="1"/>
          </p:nvPr>
        </p:nvSpPr>
        <p:spPr>
          <a:xfrm>
            <a:off x="457200" y="1600200"/>
            <a:ext cx="4559300" cy="4525963"/>
          </a:xfrm>
        </p:spPr>
        <p:style>
          <a:lnRef idx="2">
            <a:schemeClr val="dk1"/>
          </a:lnRef>
          <a:fillRef idx="1">
            <a:schemeClr val="lt1"/>
          </a:fillRef>
          <a:effectRef idx="0">
            <a:schemeClr val="dk1"/>
          </a:effectRef>
          <a:fontRef idx="minor">
            <a:schemeClr val="dk1"/>
          </a:fontRef>
        </p:style>
        <p:txBody>
          <a:bodyPr/>
          <a:lstStyle/>
          <a:p>
            <a:pPr marL="0" indent="0">
              <a:buNone/>
            </a:pPr>
            <a:r>
              <a:rPr lang="en-US" dirty="0"/>
              <a:t>age = 18</a:t>
            </a:r>
          </a:p>
          <a:p>
            <a:pPr marL="0" indent="0">
              <a:buNone/>
            </a:pPr>
            <a:endParaRPr lang="en-US" dirty="0"/>
          </a:p>
          <a:p>
            <a:pPr marL="0" indent="0">
              <a:buNone/>
            </a:pPr>
            <a:r>
              <a:rPr lang="en-US" dirty="0"/>
              <a:t>if age &gt;= 18:</a:t>
            </a:r>
          </a:p>
          <a:p>
            <a:pPr marL="0" indent="0">
              <a:buNone/>
            </a:pPr>
            <a:r>
              <a:rPr lang="en-US" dirty="0"/>
              <a:t>    print("Adult")</a:t>
            </a:r>
          </a:p>
          <a:p>
            <a:pPr marL="0" indent="0">
              <a:buNone/>
            </a:pPr>
            <a:endParaRPr lang="en-SG" dirty="0"/>
          </a:p>
        </p:txBody>
      </p:sp>
      <p:sp>
        <p:nvSpPr>
          <p:cNvPr id="10" name="Content Placeholder 7">
            <a:extLst>
              <a:ext uri="{FF2B5EF4-FFF2-40B4-BE49-F238E27FC236}">
                <a16:creationId xmlns:a16="http://schemas.microsoft.com/office/drawing/2014/main" id="{F3580025-9EC0-BC64-3B98-AA68CBD34AB0}"/>
              </a:ext>
            </a:extLst>
          </p:cNvPr>
          <p:cNvSpPr txBox="1">
            <a:spLocks/>
          </p:cNvSpPr>
          <p:nvPr/>
        </p:nvSpPr>
        <p:spPr>
          <a:xfrm>
            <a:off x="5991225" y="1600200"/>
            <a:ext cx="5740400"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dirty="0"/>
              <a:t>Used to make decisions</a:t>
            </a:r>
          </a:p>
          <a:p>
            <a:endParaRPr lang="en-US" dirty="0"/>
          </a:p>
          <a:p>
            <a:r>
              <a:rPr lang="en-US" dirty="0"/>
              <a:t>Condition must evaluate to True or False</a:t>
            </a:r>
            <a:endParaRPr lang="en-SG" dirty="0"/>
          </a:p>
        </p:txBody>
      </p:sp>
    </p:spTree>
    <p:extLst>
      <p:ext uri="{BB962C8B-B14F-4D97-AF65-F5344CB8AC3E}">
        <p14:creationId xmlns:p14="http://schemas.microsoft.com/office/powerpoint/2010/main" val="227996142"/>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EE177C-B0BC-7326-B845-D5DF32D9CCEC}"/>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16A51632-BC44-84A5-2E53-E213A6688780}"/>
              </a:ext>
            </a:extLst>
          </p:cNvPr>
          <p:cNvSpPr>
            <a:spLocks noGrp="1"/>
          </p:cNvSpPr>
          <p:nvPr>
            <p:ph type="title"/>
          </p:nvPr>
        </p:nvSpPr>
        <p:spPr/>
        <p:txBody>
          <a:bodyPr/>
          <a:lstStyle/>
          <a:p>
            <a:r>
              <a:rPr lang="en-SG" dirty="0"/>
              <a:t>if–else Statements</a:t>
            </a:r>
          </a:p>
        </p:txBody>
      </p:sp>
      <p:sp>
        <p:nvSpPr>
          <p:cNvPr id="8" name="Content Placeholder 7">
            <a:extLst>
              <a:ext uri="{FF2B5EF4-FFF2-40B4-BE49-F238E27FC236}">
                <a16:creationId xmlns:a16="http://schemas.microsoft.com/office/drawing/2014/main" id="{1267D225-2AA0-D830-88DE-CADAE95DF074}"/>
              </a:ext>
            </a:extLst>
          </p:cNvPr>
          <p:cNvSpPr>
            <a:spLocks noGrp="1"/>
          </p:cNvSpPr>
          <p:nvPr>
            <p:ph idx="1"/>
          </p:nvPr>
        </p:nvSpPr>
        <p:spPr>
          <a:xfrm>
            <a:off x="457200" y="1600200"/>
            <a:ext cx="5637212" cy="4525963"/>
          </a:xfrm>
        </p:spPr>
        <p:style>
          <a:lnRef idx="2">
            <a:schemeClr val="dk1"/>
          </a:lnRef>
          <a:fillRef idx="1">
            <a:schemeClr val="lt1"/>
          </a:fillRef>
          <a:effectRef idx="0">
            <a:schemeClr val="dk1"/>
          </a:effectRef>
          <a:fontRef idx="minor">
            <a:schemeClr val="dk1"/>
          </a:fontRef>
        </p:style>
        <p:txBody>
          <a:bodyPr/>
          <a:lstStyle/>
          <a:p>
            <a:pPr marL="0" indent="0">
              <a:buNone/>
            </a:pPr>
            <a:r>
              <a:rPr lang="en-US" dirty="0"/>
              <a:t>age = 16</a:t>
            </a:r>
          </a:p>
          <a:p>
            <a:pPr marL="0" indent="0">
              <a:buNone/>
            </a:pPr>
            <a:endParaRPr lang="en-US" dirty="0"/>
          </a:p>
          <a:p>
            <a:pPr marL="0" indent="0">
              <a:buNone/>
            </a:pPr>
            <a:r>
              <a:rPr lang="en-US" dirty="0"/>
              <a:t>if age &gt;= 18:</a:t>
            </a:r>
          </a:p>
          <a:p>
            <a:pPr marL="0" indent="0">
              <a:buNone/>
            </a:pPr>
            <a:r>
              <a:rPr lang="en-US" dirty="0"/>
              <a:t>    print("Adult")</a:t>
            </a:r>
          </a:p>
          <a:p>
            <a:pPr marL="0" indent="0">
              <a:buNone/>
            </a:pPr>
            <a:r>
              <a:rPr lang="en-US" dirty="0"/>
              <a:t>else:</a:t>
            </a:r>
          </a:p>
          <a:p>
            <a:pPr marL="0" indent="0">
              <a:buNone/>
            </a:pPr>
            <a:r>
              <a:rPr lang="en-US" dirty="0"/>
              <a:t>    print(“Child")</a:t>
            </a:r>
          </a:p>
        </p:txBody>
      </p:sp>
      <p:sp>
        <p:nvSpPr>
          <p:cNvPr id="10" name="Content Placeholder 7">
            <a:extLst>
              <a:ext uri="{FF2B5EF4-FFF2-40B4-BE49-F238E27FC236}">
                <a16:creationId xmlns:a16="http://schemas.microsoft.com/office/drawing/2014/main" id="{013FA370-58B6-C01C-92B9-70221D1720DD}"/>
              </a:ext>
            </a:extLst>
          </p:cNvPr>
          <p:cNvSpPr txBox="1">
            <a:spLocks/>
          </p:cNvSpPr>
          <p:nvPr/>
        </p:nvSpPr>
        <p:spPr>
          <a:xfrm>
            <a:off x="6857999" y="1600200"/>
            <a:ext cx="4873625"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dirty="0"/>
              <a:t>else runs when condition is False</a:t>
            </a:r>
            <a:endParaRPr lang="en-SG" dirty="0"/>
          </a:p>
        </p:txBody>
      </p:sp>
    </p:spTree>
    <p:extLst>
      <p:ext uri="{BB962C8B-B14F-4D97-AF65-F5344CB8AC3E}">
        <p14:creationId xmlns:p14="http://schemas.microsoft.com/office/powerpoint/2010/main" val="3171608300"/>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C998AB-CEBE-DF4F-362F-3B0FB04D1AF8}"/>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D9E71A83-DC54-9097-4D86-302EF360997F}"/>
              </a:ext>
            </a:extLst>
          </p:cNvPr>
          <p:cNvSpPr>
            <a:spLocks noGrp="1"/>
          </p:cNvSpPr>
          <p:nvPr>
            <p:ph type="title"/>
          </p:nvPr>
        </p:nvSpPr>
        <p:spPr/>
        <p:txBody>
          <a:bodyPr/>
          <a:lstStyle/>
          <a:p>
            <a:r>
              <a:rPr lang="en-SG" dirty="0"/>
              <a:t>if–</a:t>
            </a:r>
            <a:r>
              <a:rPr lang="en-SG" dirty="0" err="1"/>
              <a:t>elif</a:t>
            </a:r>
            <a:r>
              <a:rPr lang="en-SG" dirty="0"/>
              <a:t>–else Chain</a:t>
            </a:r>
          </a:p>
        </p:txBody>
      </p:sp>
      <p:sp>
        <p:nvSpPr>
          <p:cNvPr id="8" name="Content Placeholder 7">
            <a:extLst>
              <a:ext uri="{FF2B5EF4-FFF2-40B4-BE49-F238E27FC236}">
                <a16:creationId xmlns:a16="http://schemas.microsoft.com/office/drawing/2014/main" id="{97570279-B9C2-666D-D2E0-78680EF38AED}"/>
              </a:ext>
            </a:extLst>
          </p:cNvPr>
          <p:cNvSpPr>
            <a:spLocks noGrp="1"/>
          </p:cNvSpPr>
          <p:nvPr>
            <p:ph idx="1"/>
          </p:nvPr>
        </p:nvSpPr>
        <p:spPr>
          <a:xfrm>
            <a:off x="457200" y="1600200"/>
            <a:ext cx="5637212" cy="4525963"/>
          </a:xfrm>
        </p:spPr>
        <p:style>
          <a:lnRef idx="2">
            <a:schemeClr val="dk1"/>
          </a:lnRef>
          <a:fillRef idx="1">
            <a:schemeClr val="lt1"/>
          </a:fillRef>
          <a:effectRef idx="0">
            <a:schemeClr val="dk1"/>
          </a:effectRef>
          <a:fontRef idx="minor">
            <a:schemeClr val="dk1"/>
          </a:fontRef>
        </p:style>
        <p:txBody>
          <a:bodyPr>
            <a:normAutofit lnSpcReduction="10000"/>
          </a:bodyPr>
          <a:lstStyle/>
          <a:p>
            <a:pPr marL="0" indent="0">
              <a:buNone/>
            </a:pPr>
            <a:r>
              <a:rPr lang="en-US" dirty="0"/>
              <a:t>score = 75</a:t>
            </a:r>
          </a:p>
          <a:p>
            <a:pPr marL="0" indent="0">
              <a:buNone/>
            </a:pPr>
            <a:endParaRPr lang="en-US" dirty="0"/>
          </a:p>
          <a:p>
            <a:pPr marL="0" indent="0">
              <a:buNone/>
            </a:pPr>
            <a:r>
              <a:rPr lang="en-US" dirty="0"/>
              <a:t>if score &gt;= 85:</a:t>
            </a:r>
          </a:p>
          <a:p>
            <a:pPr marL="0" indent="0">
              <a:buNone/>
            </a:pPr>
            <a:r>
              <a:rPr lang="en-US" dirty="0"/>
              <a:t>    print("Distinction")</a:t>
            </a:r>
          </a:p>
          <a:p>
            <a:pPr marL="0" indent="0">
              <a:buNone/>
            </a:pPr>
            <a:r>
              <a:rPr lang="en-US" dirty="0" err="1"/>
              <a:t>elif</a:t>
            </a:r>
            <a:r>
              <a:rPr lang="en-US" dirty="0"/>
              <a:t> score &gt;= 60:</a:t>
            </a:r>
          </a:p>
          <a:p>
            <a:pPr marL="0" indent="0">
              <a:buNone/>
            </a:pPr>
            <a:r>
              <a:rPr lang="en-US" dirty="0"/>
              <a:t>    print("Pass")</a:t>
            </a:r>
          </a:p>
          <a:p>
            <a:pPr marL="0" indent="0">
              <a:buNone/>
            </a:pPr>
            <a:r>
              <a:rPr lang="en-US" dirty="0"/>
              <a:t>else:</a:t>
            </a:r>
          </a:p>
          <a:p>
            <a:pPr marL="0" indent="0">
              <a:buNone/>
            </a:pPr>
            <a:r>
              <a:rPr lang="en-US" dirty="0"/>
              <a:t>    print("Fail")</a:t>
            </a:r>
          </a:p>
        </p:txBody>
      </p:sp>
      <p:sp>
        <p:nvSpPr>
          <p:cNvPr id="10" name="Content Placeholder 7">
            <a:extLst>
              <a:ext uri="{FF2B5EF4-FFF2-40B4-BE49-F238E27FC236}">
                <a16:creationId xmlns:a16="http://schemas.microsoft.com/office/drawing/2014/main" id="{F10CA6F0-3599-642C-16B7-93D93342C711}"/>
              </a:ext>
            </a:extLst>
          </p:cNvPr>
          <p:cNvSpPr txBox="1">
            <a:spLocks/>
          </p:cNvSpPr>
          <p:nvPr/>
        </p:nvSpPr>
        <p:spPr>
          <a:xfrm>
            <a:off x="6857999" y="1600200"/>
            <a:ext cx="4873625"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dirty="0"/>
              <a:t>Used for multiple conditions</a:t>
            </a:r>
          </a:p>
          <a:p>
            <a:endParaRPr lang="en-US" dirty="0"/>
          </a:p>
          <a:p>
            <a:r>
              <a:rPr lang="en-US" dirty="0"/>
              <a:t>Checked from top to bottom</a:t>
            </a:r>
            <a:endParaRPr lang="en-SG" dirty="0"/>
          </a:p>
        </p:txBody>
      </p:sp>
    </p:spTree>
    <p:extLst>
      <p:ext uri="{BB962C8B-B14F-4D97-AF65-F5344CB8AC3E}">
        <p14:creationId xmlns:p14="http://schemas.microsoft.com/office/powerpoint/2010/main" val="3757799854"/>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459556-9D07-E3F2-ED33-64D161A673ED}"/>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1CA709AF-7451-0268-925A-D6F7D55AF3F3}"/>
              </a:ext>
            </a:extLst>
          </p:cNvPr>
          <p:cNvSpPr>
            <a:spLocks noGrp="1"/>
          </p:cNvSpPr>
          <p:nvPr>
            <p:ph type="title"/>
          </p:nvPr>
        </p:nvSpPr>
        <p:spPr/>
        <p:txBody>
          <a:bodyPr/>
          <a:lstStyle/>
          <a:p>
            <a:r>
              <a:rPr lang="en-SG" dirty="0"/>
              <a:t>Comparison Operators</a:t>
            </a:r>
          </a:p>
        </p:txBody>
      </p:sp>
      <p:sp>
        <p:nvSpPr>
          <p:cNvPr id="8" name="Content Placeholder 7">
            <a:extLst>
              <a:ext uri="{FF2B5EF4-FFF2-40B4-BE49-F238E27FC236}">
                <a16:creationId xmlns:a16="http://schemas.microsoft.com/office/drawing/2014/main" id="{A3570B61-FADA-546B-7D21-C78C3283CB30}"/>
              </a:ext>
            </a:extLst>
          </p:cNvPr>
          <p:cNvSpPr>
            <a:spLocks noGrp="1"/>
          </p:cNvSpPr>
          <p:nvPr>
            <p:ph idx="1"/>
          </p:nvPr>
        </p:nvSpPr>
        <p:spPr>
          <a:xfrm>
            <a:off x="457200" y="1600200"/>
            <a:ext cx="5637212" cy="4525963"/>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en-US" dirty="0"/>
              <a:t>x = 10</a:t>
            </a:r>
          </a:p>
          <a:p>
            <a:pPr marL="0" indent="0">
              <a:buNone/>
            </a:pPr>
            <a:r>
              <a:rPr lang="en-US" dirty="0"/>
              <a:t>print(x &gt; 5)</a:t>
            </a:r>
          </a:p>
        </p:txBody>
      </p:sp>
      <p:sp>
        <p:nvSpPr>
          <p:cNvPr id="10" name="Content Placeholder 7">
            <a:extLst>
              <a:ext uri="{FF2B5EF4-FFF2-40B4-BE49-F238E27FC236}">
                <a16:creationId xmlns:a16="http://schemas.microsoft.com/office/drawing/2014/main" id="{69392F13-2BAB-24EF-4F94-9ADF87AC72A1}"/>
              </a:ext>
            </a:extLst>
          </p:cNvPr>
          <p:cNvSpPr txBox="1">
            <a:spLocks/>
          </p:cNvSpPr>
          <p:nvPr/>
        </p:nvSpPr>
        <p:spPr>
          <a:xfrm>
            <a:off x="6857999" y="1600200"/>
            <a:ext cx="4873625"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dirty="0"/>
              <a:t>== equal to</a:t>
            </a:r>
          </a:p>
          <a:p>
            <a:endParaRPr lang="en-US" dirty="0"/>
          </a:p>
          <a:p>
            <a:r>
              <a:rPr lang="en-US" dirty="0"/>
              <a:t>!= not equal to</a:t>
            </a:r>
          </a:p>
          <a:p>
            <a:endParaRPr lang="en-US" dirty="0"/>
          </a:p>
          <a:p>
            <a:r>
              <a:rPr lang="en-US" dirty="0"/>
              <a:t>&gt; &lt; &gt;= &lt;=</a:t>
            </a:r>
            <a:endParaRPr lang="en-SG" dirty="0"/>
          </a:p>
        </p:txBody>
      </p:sp>
    </p:spTree>
    <p:extLst>
      <p:ext uri="{BB962C8B-B14F-4D97-AF65-F5344CB8AC3E}">
        <p14:creationId xmlns:p14="http://schemas.microsoft.com/office/powerpoint/2010/main" val="290367474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1F7A0E-7D65-D3DF-C8BD-D8609D72A19F}"/>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4249C108-F1F7-550E-46F6-F0CD0EE42A6E}"/>
              </a:ext>
            </a:extLst>
          </p:cNvPr>
          <p:cNvSpPr>
            <a:spLocks noGrp="1"/>
          </p:cNvSpPr>
          <p:nvPr>
            <p:ph type="title"/>
          </p:nvPr>
        </p:nvSpPr>
        <p:spPr/>
        <p:txBody>
          <a:bodyPr/>
          <a:lstStyle/>
          <a:p>
            <a:r>
              <a:rPr lang="en-SG" dirty="0"/>
              <a:t>Logical Operators</a:t>
            </a:r>
          </a:p>
        </p:txBody>
      </p:sp>
      <p:sp>
        <p:nvSpPr>
          <p:cNvPr id="8" name="Content Placeholder 7">
            <a:extLst>
              <a:ext uri="{FF2B5EF4-FFF2-40B4-BE49-F238E27FC236}">
                <a16:creationId xmlns:a16="http://schemas.microsoft.com/office/drawing/2014/main" id="{5CA63C63-C860-391C-E77B-89E66D8AF696}"/>
              </a:ext>
            </a:extLst>
          </p:cNvPr>
          <p:cNvSpPr>
            <a:spLocks noGrp="1"/>
          </p:cNvSpPr>
          <p:nvPr>
            <p:ph idx="1"/>
          </p:nvPr>
        </p:nvSpPr>
        <p:spPr>
          <a:xfrm>
            <a:off x="457200" y="1600200"/>
            <a:ext cx="4851400" cy="4525963"/>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en-US" dirty="0"/>
              <a:t>age = 20</a:t>
            </a:r>
          </a:p>
          <a:p>
            <a:pPr marL="0" indent="0">
              <a:buNone/>
            </a:pPr>
            <a:r>
              <a:rPr lang="en-US" dirty="0" err="1"/>
              <a:t>is_student</a:t>
            </a:r>
            <a:r>
              <a:rPr lang="en-US" dirty="0"/>
              <a:t> = True</a:t>
            </a:r>
          </a:p>
          <a:p>
            <a:pPr marL="0" indent="0">
              <a:buNone/>
            </a:pPr>
            <a:endParaRPr lang="en-US" dirty="0"/>
          </a:p>
          <a:p>
            <a:pPr marL="0" indent="0">
              <a:buNone/>
            </a:pPr>
            <a:r>
              <a:rPr lang="en-US" dirty="0"/>
              <a:t>if age &gt;= 18 and </a:t>
            </a:r>
            <a:r>
              <a:rPr lang="en-US" dirty="0" err="1"/>
              <a:t>is_student</a:t>
            </a:r>
            <a:r>
              <a:rPr lang="en-US" dirty="0"/>
              <a:t>:</a:t>
            </a:r>
          </a:p>
          <a:p>
            <a:pPr marL="0" indent="0">
              <a:buNone/>
            </a:pPr>
            <a:r>
              <a:rPr lang="en-US" dirty="0"/>
              <a:t>    print("Eligible")</a:t>
            </a:r>
          </a:p>
        </p:txBody>
      </p:sp>
      <p:sp>
        <p:nvSpPr>
          <p:cNvPr id="10" name="Content Placeholder 7">
            <a:extLst>
              <a:ext uri="{FF2B5EF4-FFF2-40B4-BE49-F238E27FC236}">
                <a16:creationId xmlns:a16="http://schemas.microsoft.com/office/drawing/2014/main" id="{518380F3-96C4-384E-CF6B-4D37A0F584CE}"/>
              </a:ext>
            </a:extLst>
          </p:cNvPr>
          <p:cNvSpPr txBox="1">
            <a:spLocks/>
          </p:cNvSpPr>
          <p:nvPr/>
        </p:nvSpPr>
        <p:spPr>
          <a:xfrm>
            <a:off x="5600700" y="1600200"/>
            <a:ext cx="6130925"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dirty="0"/>
              <a:t>and – all conditions must be true</a:t>
            </a:r>
          </a:p>
          <a:p>
            <a:endParaRPr lang="en-US" dirty="0"/>
          </a:p>
          <a:p>
            <a:r>
              <a:rPr lang="en-US" dirty="0"/>
              <a:t>or – at least one condition is true</a:t>
            </a:r>
          </a:p>
          <a:p>
            <a:endParaRPr lang="en-US" dirty="0"/>
          </a:p>
          <a:p>
            <a:r>
              <a:rPr lang="en-US" dirty="0"/>
              <a:t>not – reverses the condition</a:t>
            </a:r>
            <a:endParaRPr lang="en-SG" dirty="0"/>
          </a:p>
        </p:txBody>
      </p:sp>
    </p:spTree>
    <p:extLst>
      <p:ext uri="{BB962C8B-B14F-4D97-AF65-F5344CB8AC3E}">
        <p14:creationId xmlns:p14="http://schemas.microsoft.com/office/powerpoint/2010/main" val="3177561915"/>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554302-D4A6-4FC0-749A-C36A7895B89B}"/>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28E68127-F042-7108-C8D9-F97F0FF6573C}"/>
              </a:ext>
            </a:extLst>
          </p:cNvPr>
          <p:cNvSpPr>
            <a:spLocks noGrp="1"/>
          </p:cNvSpPr>
          <p:nvPr>
            <p:ph type="title"/>
          </p:nvPr>
        </p:nvSpPr>
        <p:spPr/>
        <p:txBody>
          <a:bodyPr/>
          <a:lstStyle/>
          <a:p>
            <a:r>
              <a:rPr lang="en-SG" dirty="0"/>
              <a:t>Truthy and </a:t>
            </a:r>
            <a:r>
              <a:rPr lang="en-SG" dirty="0" err="1"/>
              <a:t>Falsy</a:t>
            </a:r>
            <a:r>
              <a:rPr lang="en-SG" dirty="0"/>
              <a:t> Values</a:t>
            </a:r>
          </a:p>
        </p:txBody>
      </p:sp>
      <p:sp>
        <p:nvSpPr>
          <p:cNvPr id="8" name="Content Placeholder 7">
            <a:extLst>
              <a:ext uri="{FF2B5EF4-FFF2-40B4-BE49-F238E27FC236}">
                <a16:creationId xmlns:a16="http://schemas.microsoft.com/office/drawing/2014/main" id="{C300EEA4-54BC-EB1A-AB99-ED9E5DF8A2EC}"/>
              </a:ext>
            </a:extLst>
          </p:cNvPr>
          <p:cNvSpPr>
            <a:spLocks noGrp="1"/>
          </p:cNvSpPr>
          <p:nvPr>
            <p:ph idx="1"/>
          </p:nvPr>
        </p:nvSpPr>
        <p:spPr>
          <a:xfrm>
            <a:off x="457200" y="1600200"/>
            <a:ext cx="4851400" cy="4525963"/>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en-US" dirty="0"/>
              <a:t>items = []</a:t>
            </a:r>
          </a:p>
          <a:p>
            <a:pPr marL="0" indent="0">
              <a:buNone/>
            </a:pPr>
            <a:endParaRPr lang="en-US" dirty="0"/>
          </a:p>
          <a:p>
            <a:pPr marL="0" indent="0">
              <a:buNone/>
            </a:pPr>
            <a:r>
              <a:rPr lang="en-US" dirty="0"/>
              <a:t>if items:</a:t>
            </a:r>
          </a:p>
          <a:p>
            <a:pPr marL="0" indent="0">
              <a:buNone/>
            </a:pPr>
            <a:r>
              <a:rPr lang="en-US" dirty="0"/>
              <a:t>    print("Has items")</a:t>
            </a:r>
          </a:p>
          <a:p>
            <a:pPr marL="0" indent="0">
              <a:buNone/>
            </a:pPr>
            <a:r>
              <a:rPr lang="en-US" dirty="0"/>
              <a:t>else:</a:t>
            </a:r>
          </a:p>
          <a:p>
            <a:pPr marL="0" indent="0">
              <a:buNone/>
            </a:pPr>
            <a:r>
              <a:rPr lang="en-US" dirty="0"/>
              <a:t>    print("Empty list")</a:t>
            </a:r>
          </a:p>
        </p:txBody>
      </p:sp>
      <p:sp>
        <p:nvSpPr>
          <p:cNvPr id="10" name="Content Placeholder 7">
            <a:extLst>
              <a:ext uri="{FF2B5EF4-FFF2-40B4-BE49-F238E27FC236}">
                <a16:creationId xmlns:a16="http://schemas.microsoft.com/office/drawing/2014/main" id="{87462A54-A580-ABD1-2697-157496A4EE19}"/>
              </a:ext>
            </a:extLst>
          </p:cNvPr>
          <p:cNvSpPr txBox="1">
            <a:spLocks/>
          </p:cNvSpPr>
          <p:nvPr/>
        </p:nvSpPr>
        <p:spPr>
          <a:xfrm>
            <a:off x="5600700" y="1600200"/>
            <a:ext cx="6130925"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b="1" dirty="0"/>
              <a:t>Key Ideas</a:t>
            </a:r>
          </a:p>
          <a:p>
            <a:pPr lvl="1"/>
            <a:r>
              <a:rPr lang="en-US" dirty="0"/>
              <a:t>Not all conditions are explicitly True or False</a:t>
            </a:r>
          </a:p>
          <a:p>
            <a:pPr lvl="1"/>
            <a:endParaRPr lang="en-US" dirty="0"/>
          </a:p>
          <a:p>
            <a:r>
              <a:rPr lang="en-US" b="1" dirty="0"/>
              <a:t>Common </a:t>
            </a:r>
            <a:r>
              <a:rPr lang="en-US" b="1" dirty="0" err="1"/>
              <a:t>Falsy</a:t>
            </a:r>
            <a:r>
              <a:rPr lang="en-US" b="1" dirty="0"/>
              <a:t> Values</a:t>
            </a:r>
          </a:p>
          <a:p>
            <a:pPr lvl="1"/>
            <a:r>
              <a:rPr lang="en-US" dirty="0"/>
              <a:t>False, None</a:t>
            </a:r>
          </a:p>
          <a:p>
            <a:pPr lvl="1"/>
            <a:r>
              <a:rPr lang="en-US" dirty="0"/>
              <a:t>0, 0.0</a:t>
            </a:r>
          </a:p>
          <a:p>
            <a:pPr lvl="1"/>
            <a:r>
              <a:rPr lang="en-US" dirty="0"/>
              <a:t>"", [], {}</a:t>
            </a:r>
          </a:p>
        </p:txBody>
      </p:sp>
    </p:spTree>
    <p:extLst>
      <p:ext uri="{BB962C8B-B14F-4D97-AF65-F5344CB8AC3E}">
        <p14:creationId xmlns:p14="http://schemas.microsoft.com/office/powerpoint/2010/main" val="1720229801"/>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Control Flow – if / elif / else</a:t>
            </a:r>
          </a:p>
        </p:txBody>
      </p:sp>
      <p:sp>
        <p:nvSpPr>
          <p:cNvPr id="3" name="Content Placeholder 2"/>
          <p:cNvSpPr>
            <a:spLocks noGrp="1"/>
          </p:cNvSpPr>
          <p:nvPr>
            <p:ph idx="1"/>
          </p:nvPr>
        </p:nvSpPr>
        <p:spPr>
          <a:xfrm>
            <a:off x="457200" y="1600200"/>
            <a:ext cx="11201400" cy="4525963"/>
          </a:xfrm>
        </p:spPr>
        <p:txBody>
          <a:bodyPr>
            <a:normAutofit/>
          </a:bodyPr>
          <a:lstStyle/>
          <a:p>
            <a:pPr marL="0" indent="0" algn="l">
              <a:buNone/>
              <a:defRPr sz="1500">
                <a:latin typeface="Courier New"/>
              </a:defRPr>
            </a:pPr>
            <a:r>
              <a:rPr sz="2400" dirty="0"/>
              <a:t>income = 58_000; credit = 720; </a:t>
            </a:r>
            <a:r>
              <a:rPr sz="2400" dirty="0" err="1"/>
              <a:t>debt_ratio</a:t>
            </a:r>
            <a:r>
              <a:rPr sz="2400" dirty="0"/>
              <a:t> = 0.28</a:t>
            </a:r>
            <a:br>
              <a:rPr sz="2400" dirty="0"/>
            </a:br>
            <a:br>
              <a:rPr sz="2400" dirty="0"/>
            </a:br>
            <a:r>
              <a:rPr sz="2400" dirty="0"/>
              <a:t>if income &gt; 50_000 and credit &gt; 700 and </a:t>
            </a:r>
            <a:r>
              <a:rPr sz="2400" dirty="0" err="1"/>
              <a:t>debt_ratio</a:t>
            </a:r>
            <a:r>
              <a:rPr sz="2400" dirty="0"/>
              <a:t> &lt; 0.3:</a:t>
            </a:r>
            <a:br>
              <a:rPr sz="2400" dirty="0"/>
            </a:br>
            <a:r>
              <a:rPr sz="2400" dirty="0"/>
              <a:t>    print("✅ Approved")</a:t>
            </a:r>
            <a:br>
              <a:rPr sz="2400" dirty="0"/>
            </a:br>
            <a:r>
              <a:rPr sz="2400" dirty="0"/>
              <a:t>else:</a:t>
            </a:r>
            <a:br>
              <a:rPr sz="2400" dirty="0"/>
            </a:br>
            <a:r>
              <a:rPr sz="2400" dirty="0"/>
              <a:t>    print("❌ Rejected")</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65F12FB-0B7E-2549-3A54-50AC1C73F70C}"/>
              </a:ext>
            </a:extLst>
          </p:cNvPr>
          <p:cNvSpPr>
            <a:spLocks noGrp="1"/>
          </p:cNvSpPr>
          <p:nvPr>
            <p:ph type="title"/>
          </p:nvPr>
        </p:nvSpPr>
        <p:spPr/>
        <p:txBody>
          <a:bodyPr/>
          <a:lstStyle/>
          <a:p>
            <a:r>
              <a:rPr lang="en-US" dirty="0"/>
              <a:t>What Is a Ternary Expression?</a:t>
            </a:r>
            <a:endParaRPr lang="en-SG" dirty="0"/>
          </a:p>
        </p:txBody>
      </p:sp>
      <p:sp>
        <p:nvSpPr>
          <p:cNvPr id="3" name="Content Placeholder 2">
            <a:extLst>
              <a:ext uri="{FF2B5EF4-FFF2-40B4-BE49-F238E27FC236}">
                <a16:creationId xmlns:a16="http://schemas.microsoft.com/office/drawing/2014/main" id="{F9D8C249-F1CC-39B3-82AB-D5DBEBD57A85}"/>
              </a:ext>
            </a:extLst>
          </p:cNvPr>
          <p:cNvSpPr>
            <a:spLocks noGrp="1"/>
          </p:cNvSpPr>
          <p:nvPr>
            <p:ph idx="1"/>
          </p:nvPr>
        </p:nvSpPr>
        <p:spPr/>
        <p:txBody>
          <a:bodyPr/>
          <a:lstStyle/>
          <a:p>
            <a:r>
              <a:rPr lang="en-US" b="1" dirty="0"/>
              <a:t>Key Ideas</a:t>
            </a:r>
          </a:p>
          <a:p>
            <a:pPr lvl="1"/>
            <a:r>
              <a:rPr lang="en-US" dirty="0"/>
              <a:t>A </a:t>
            </a:r>
            <a:r>
              <a:rPr lang="en-US" b="1" dirty="0"/>
              <a:t>one-line conditional expression</a:t>
            </a:r>
            <a:endParaRPr lang="en-US" dirty="0"/>
          </a:p>
          <a:p>
            <a:pPr lvl="1"/>
            <a:r>
              <a:rPr lang="en-US" dirty="0"/>
              <a:t>Returns a value based on a condition</a:t>
            </a:r>
          </a:p>
          <a:p>
            <a:pPr lvl="1"/>
            <a:r>
              <a:rPr lang="en-US" dirty="0"/>
              <a:t>Used for </a:t>
            </a:r>
            <a:r>
              <a:rPr lang="en-US" b="1" dirty="0"/>
              <a:t>simple if–else logic</a:t>
            </a:r>
          </a:p>
          <a:p>
            <a:pPr marL="457200" lvl="1" indent="0">
              <a:buNone/>
            </a:pPr>
            <a:endParaRPr lang="en-US" dirty="0"/>
          </a:p>
          <a:p>
            <a:r>
              <a:rPr lang="en-US" b="1" dirty="0"/>
              <a:t>Syntax Pattern</a:t>
            </a:r>
          </a:p>
          <a:p>
            <a:pPr marL="0" indent="0">
              <a:buNone/>
            </a:pPr>
            <a:r>
              <a:rPr lang="en-US" b="1" dirty="0" err="1">
                <a:solidFill>
                  <a:schemeClr val="tx2"/>
                </a:solidFill>
              </a:rPr>
              <a:t>value_if_true</a:t>
            </a:r>
            <a:r>
              <a:rPr lang="en-US" b="1" dirty="0">
                <a:solidFill>
                  <a:schemeClr val="tx2"/>
                </a:solidFill>
              </a:rPr>
              <a:t> if condition else </a:t>
            </a:r>
            <a:r>
              <a:rPr lang="en-US" b="1" dirty="0" err="1">
                <a:solidFill>
                  <a:schemeClr val="tx2"/>
                </a:solidFill>
              </a:rPr>
              <a:t>value_if_false</a:t>
            </a:r>
            <a:endParaRPr lang="en-US" b="1" dirty="0">
              <a:solidFill>
                <a:schemeClr val="tx2"/>
              </a:solidFill>
            </a:endParaRPr>
          </a:p>
          <a:p>
            <a:endParaRPr lang="en-US" b="1" dirty="0"/>
          </a:p>
          <a:p>
            <a:endParaRPr lang="en-SG" dirty="0"/>
          </a:p>
        </p:txBody>
      </p:sp>
    </p:spTree>
    <p:extLst>
      <p:ext uri="{BB962C8B-B14F-4D97-AF65-F5344CB8AC3E}">
        <p14:creationId xmlns:p14="http://schemas.microsoft.com/office/powerpoint/2010/main" val="1452407167"/>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765216-2F14-CEAD-248B-685C747F6660}"/>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C2F654BA-8639-A2F3-7526-E2784CF9273F}"/>
              </a:ext>
            </a:extLst>
          </p:cNvPr>
          <p:cNvSpPr>
            <a:spLocks noGrp="1"/>
          </p:cNvSpPr>
          <p:nvPr>
            <p:ph type="title"/>
          </p:nvPr>
        </p:nvSpPr>
        <p:spPr/>
        <p:txBody>
          <a:bodyPr/>
          <a:lstStyle/>
          <a:p>
            <a:r>
              <a:rPr lang="en-SG" dirty="0"/>
              <a:t>Simple Example</a:t>
            </a:r>
          </a:p>
        </p:txBody>
      </p:sp>
      <p:sp>
        <p:nvSpPr>
          <p:cNvPr id="8" name="Content Placeholder 7">
            <a:extLst>
              <a:ext uri="{FF2B5EF4-FFF2-40B4-BE49-F238E27FC236}">
                <a16:creationId xmlns:a16="http://schemas.microsoft.com/office/drawing/2014/main" id="{67C8E744-43DC-DF93-F66B-41892C7B6A93}"/>
              </a:ext>
            </a:extLst>
          </p:cNvPr>
          <p:cNvSpPr>
            <a:spLocks noGrp="1"/>
          </p:cNvSpPr>
          <p:nvPr>
            <p:ph idx="1"/>
          </p:nvPr>
        </p:nvSpPr>
        <p:spPr>
          <a:xfrm>
            <a:off x="457200" y="1600200"/>
            <a:ext cx="4203700" cy="4525963"/>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en-US" dirty="0"/>
              <a:t># Traditional if-else</a:t>
            </a:r>
          </a:p>
          <a:p>
            <a:pPr marL="0" indent="0">
              <a:buNone/>
            </a:pPr>
            <a:endParaRPr lang="en-US" dirty="0"/>
          </a:p>
          <a:p>
            <a:pPr marL="0" indent="0">
              <a:buNone/>
            </a:pPr>
            <a:r>
              <a:rPr lang="en-US" dirty="0"/>
              <a:t>if age &gt;= 18:</a:t>
            </a:r>
          </a:p>
          <a:p>
            <a:pPr marL="0" indent="0">
              <a:buNone/>
            </a:pPr>
            <a:r>
              <a:rPr lang="en-US" dirty="0"/>
              <a:t>    status = "Adult"</a:t>
            </a:r>
          </a:p>
          <a:p>
            <a:pPr marL="0" indent="0">
              <a:buNone/>
            </a:pPr>
            <a:r>
              <a:rPr lang="en-US" dirty="0"/>
              <a:t>else:</a:t>
            </a:r>
          </a:p>
          <a:p>
            <a:pPr marL="0" indent="0">
              <a:buNone/>
            </a:pPr>
            <a:r>
              <a:rPr lang="en-US" dirty="0"/>
              <a:t>    status = "Minor"</a:t>
            </a:r>
          </a:p>
        </p:txBody>
      </p:sp>
      <p:sp>
        <p:nvSpPr>
          <p:cNvPr id="10" name="Content Placeholder 7">
            <a:extLst>
              <a:ext uri="{FF2B5EF4-FFF2-40B4-BE49-F238E27FC236}">
                <a16:creationId xmlns:a16="http://schemas.microsoft.com/office/drawing/2014/main" id="{E2798688-D51B-937D-A789-5D1B1830A1B1}"/>
              </a:ext>
            </a:extLst>
          </p:cNvPr>
          <p:cNvSpPr txBox="1">
            <a:spLocks/>
          </p:cNvSpPr>
          <p:nvPr/>
        </p:nvSpPr>
        <p:spPr>
          <a:xfrm>
            <a:off x="4953000" y="1600199"/>
            <a:ext cx="6956425"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a:buNone/>
            </a:pPr>
            <a:r>
              <a:rPr lang="en-US" dirty="0"/>
              <a:t># ternary version</a:t>
            </a:r>
          </a:p>
          <a:p>
            <a:pPr marL="0" indent="0">
              <a:buNone/>
            </a:pPr>
            <a:endParaRPr lang="en-US" dirty="0"/>
          </a:p>
          <a:p>
            <a:pPr marL="0" indent="0">
              <a:buNone/>
            </a:pPr>
            <a:r>
              <a:rPr lang="en-US" dirty="0"/>
              <a:t>status = "Adult" if age &gt;= 18 else "Minor"</a:t>
            </a:r>
          </a:p>
        </p:txBody>
      </p:sp>
    </p:spTree>
    <p:extLst>
      <p:ext uri="{BB962C8B-B14F-4D97-AF65-F5344CB8AC3E}">
        <p14:creationId xmlns:p14="http://schemas.microsoft.com/office/powerpoint/2010/main" val="4230411532"/>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81C231-D19E-E3FD-1EAB-91B66BA9F704}"/>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A98FB0DA-86AA-786A-A2D8-E75017D19CB4}"/>
              </a:ext>
            </a:extLst>
          </p:cNvPr>
          <p:cNvSpPr>
            <a:spLocks noGrp="1"/>
          </p:cNvSpPr>
          <p:nvPr>
            <p:ph type="title"/>
          </p:nvPr>
        </p:nvSpPr>
        <p:spPr/>
        <p:txBody>
          <a:bodyPr/>
          <a:lstStyle/>
          <a:p>
            <a:r>
              <a:rPr lang="en-SG" dirty="0"/>
              <a:t>Ternary with Expressions</a:t>
            </a:r>
          </a:p>
        </p:txBody>
      </p:sp>
      <p:sp>
        <p:nvSpPr>
          <p:cNvPr id="10" name="Content Placeholder 7">
            <a:extLst>
              <a:ext uri="{FF2B5EF4-FFF2-40B4-BE49-F238E27FC236}">
                <a16:creationId xmlns:a16="http://schemas.microsoft.com/office/drawing/2014/main" id="{610AFE27-C404-5590-122D-E164CDD881DF}"/>
              </a:ext>
            </a:extLst>
          </p:cNvPr>
          <p:cNvSpPr txBox="1">
            <a:spLocks/>
          </p:cNvSpPr>
          <p:nvPr/>
        </p:nvSpPr>
        <p:spPr>
          <a:xfrm>
            <a:off x="1730375" y="1638298"/>
            <a:ext cx="6956425"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a:buNone/>
            </a:pPr>
            <a:r>
              <a:rPr lang="en-US" dirty="0"/>
              <a:t># </a:t>
            </a:r>
            <a:r>
              <a:rPr lang="en-SG" b="1" dirty="0"/>
              <a:t>Values Can Be Expressions</a:t>
            </a:r>
          </a:p>
          <a:p>
            <a:pPr marL="0" indent="0">
              <a:buNone/>
            </a:pPr>
            <a:endParaRPr lang="en-US" dirty="0"/>
          </a:p>
          <a:p>
            <a:pPr marL="0" indent="0">
              <a:buNone/>
            </a:pPr>
            <a:r>
              <a:rPr lang="en-US" dirty="0"/>
              <a:t>x = 10</a:t>
            </a:r>
          </a:p>
          <a:p>
            <a:pPr marL="0" indent="0">
              <a:buNone/>
            </a:pPr>
            <a:r>
              <a:rPr lang="en-US" dirty="0"/>
              <a:t>y = 20</a:t>
            </a:r>
          </a:p>
          <a:p>
            <a:pPr marL="0" indent="0">
              <a:buNone/>
            </a:pPr>
            <a:endParaRPr lang="en-US" dirty="0"/>
          </a:p>
          <a:p>
            <a:pPr marL="0" indent="0">
              <a:buNone/>
            </a:pPr>
            <a:r>
              <a:rPr lang="en-US" dirty="0" err="1">
                <a:solidFill>
                  <a:schemeClr val="tx2"/>
                </a:solidFill>
              </a:rPr>
              <a:t>max_value</a:t>
            </a:r>
            <a:r>
              <a:rPr lang="en-US" dirty="0">
                <a:solidFill>
                  <a:schemeClr val="tx2"/>
                </a:solidFill>
              </a:rPr>
              <a:t> = x if x &gt; y else y</a:t>
            </a:r>
          </a:p>
        </p:txBody>
      </p:sp>
    </p:spTree>
    <p:extLst>
      <p:ext uri="{BB962C8B-B14F-4D97-AF65-F5344CB8AC3E}">
        <p14:creationId xmlns:p14="http://schemas.microsoft.com/office/powerpoint/2010/main" val="3886906661"/>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F0380A-9E84-9DBB-DED9-AA5023423EC1}"/>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F28CB90E-11D0-2212-C986-E2BA2786D93F}"/>
              </a:ext>
            </a:extLst>
          </p:cNvPr>
          <p:cNvSpPr>
            <a:spLocks noGrp="1"/>
          </p:cNvSpPr>
          <p:nvPr>
            <p:ph type="title"/>
          </p:nvPr>
        </p:nvSpPr>
        <p:spPr/>
        <p:txBody>
          <a:bodyPr/>
          <a:lstStyle/>
          <a:p>
            <a:r>
              <a:rPr lang="en-SG" dirty="0"/>
              <a:t>Ternary with Function Calls</a:t>
            </a:r>
          </a:p>
        </p:txBody>
      </p:sp>
      <p:sp>
        <p:nvSpPr>
          <p:cNvPr id="10" name="Content Placeholder 7">
            <a:extLst>
              <a:ext uri="{FF2B5EF4-FFF2-40B4-BE49-F238E27FC236}">
                <a16:creationId xmlns:a16="http://schemas.microsoft.com/office/drawing/2014/main" id="{15C1FE96-2FD1-E3F8-F8DE-B34FC81DBAE2}"/>
              </a:ext>
            </a:extLst>
          </p:cNvPr>
          <p:cNvSpPr txBox="1">
            <a:spLocks/>
          </p:cNvSpPr>
          <p:nvPr/>
        </p:nvSpPr>
        <p:spPr>
          <a:xfrm>
            <a:off x="1730375" y="1638298"/>
            <a:ext cx="9204325"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lnSpcReduction="10000"/>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a:buNone/>
            </a:pPr>
            <a:r>
              <a:rPr lang="en-US" dirty="0"/>
              <a:t>price = int(input(‘Enter positive integer for price: ‘)) </a:t>
            </a:r>
          </a:p>
          <a:p>
            <a:pPr marL="0" indent="0">
              <a:buNone/>
            </a:pPr>
            <a:endParaRPr lang="en-US" dirty="0"/>
          </a:p>
          <a:p>
            <a:pPr marL="0" indent="0">
              <a:buNone/>
            </a:pPr>
            <a:r>
              <a:rPr lang="en-US" dirty="0"/>
              <a:t>def discount(price):</a:t>
            </a:r>
          </a:p>
          <a:p>
            <a:pPr marL="0" indent="0">
              <a:buNone/>
            </a:pPr>
            <a:r>
              <a:rPr lang="en-US" dirty="0"/>
              <a:t>    return price * 0.9</a:t>
            </a:r>
          </a:p>
          <a:p>
            <a:pPr marL="0" indent="0">
              <a:buNone/>
            </a:pPr>
            <a:endParaRPr lang="en-US" dirty="0"/>
          </a:p>
          <a:p>
            <a:pPr marL="0" indent="0">
              <a:buNone/>
            </a:pPr>
            <a:r>
              <a:rPr lang="en-US" dirty="0" err="1"/>
              <a:t>final_price</a:t>
            </a:r>
            <a:r>
              <a:rPr lang="en-US" dirty="0"/>
              <a:t> = discount(price) if price &gt; 100 else price</a:t>
            </a:r>
          </a:p>
          <a:p>
            <a:pPr marL="0" indent="0">
              <a:buNone/>
            </a:pPr>
            <a:endParaRPr lang="en-US" dirty="0"/>
          </a:p>
          <a:p>
            <a:pPr marL="0" indent="0">
              <a:buNone/>
            </a:pPr>
            <a:r>
              <a:rPr lang="en-US" dirty="0"/>
              <a:t>print(</a:t>
            </a:r>
            <a:r>
              <a:rPr lang="en-US" dirty="0" err="1"/>
              <a:t>f’Final</a:t>
            </a:r>
            <a:r>
              <a:rPr lang="en-US" dirty="0"/>
              <a:t> Price: {</a:t>
            </a:r>
            <a:r>
              <a:rPr lang="en-US" dirty="0" err="1"/>
              <a:t>final_price</a:t>
            </a:r>
            <a:r>
              <a:rPr lang="en-US" dirty="0"/>
              <a:t>}’)</a:t>
            </a:r>
          </a:p>
        </p:txBody>
      </p:sp>
    </p:spTree>
    <p:extLst>
      <p:ext uri="{BB962C8B-B14F-4D97-AF65-F5344CB8AC3E}">
        <p14:creationId xmlns:p14="http://schemas.microsoft.com/office/powerpoint/2010/main" val="2464605763"/>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8AAA0E-F969-2F07-67A9-8203C8341399}"/>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1A033F98-068F-D6BA-A6B6-262CA4E32EDD}"/>
              </a:ext>
            </a:extLst>
          </p:cNvPr>
          <p:cNvSpPr>
            <a:spLocks noGrp="1"/>
          </p:cNvSpPr>
          <p:nvPr>
            <p:ph type="title"/>
          </p:nvPr>
        </p:nvSpPr>
        <p:spPr/>
        <p:txBody>
          <a:bodyPr>
            <a:normAutofit fontScale="90000"/>
          </a:bodyPr>
          <a:lstStyle/>
          <a:p>
            <a:r>
              <a:rPr lang="en-SG" dirty="0"/>
              <a:t>Nested Ternary Expressions (Warning)</a:t>
            </a:r>
          </a:p>
        </p:txBody>
      </p:sp>
      <p:sp>
        <p:nvSpPr>
          <p:cNvPr id="8" name="Content Placeholder 7">
            <a:extLst>
              <a:ext uri="{FF2B5EF4-FFF2-40B4-BE49-F238E27FC236}">
                <a16:creationId xmlns:a16="http://schemas.microsoft.com/office/drawing/2014/main" id="{8692D6D8-AE0D-FA30-F749-3B6141DD3684}"/>
              </a:ext>
            </a:extLst>
          </p:cNvPr>
          <p:cNvSpPr>
            <a:spLocks noGrp="1"/>
          </p:cNvSpPr>
          <p:nvPr>
            <p:ph idx="1"/>
          </p:nvPr>
        </p:nvSpPr>
        <p:spPr>
          <a:xfrm>
            <a:off x="457200" y="1600200"/>
            <a:ext cx="4584700" cy="4525963"/>
          </a:xfrm>
        </p:spPr>
        <p:style>
          <a:lnRef idx="2">
            <a:schemeClr val="dk1"/>
          </a:lnRef>
          <a:fillRef idx="1">
            <a:schemeClr val="lt1"/>
          </a:fillRef>
          <a:effectRef idx="0">
            <a:schemeClr val="dk1"/>
          </a:effectRef>
          <a:fontRef idx="minor">
            <a:schemeClr val="dk1"/>
          </a:fontRef>
        </p:style>
        <p:txBody>
          <a:bodyPr>
            <a:normAutofit/>
          </a:bodyPr>
          <a:lstStyle/>
          <a:p>
            <a:r>
              <a:rPr lang="en-US" dirty="0"/>
              <a:t>Works, but harder to read</a:t>
            </a:r>
          </a:p>
          <a:p>
            <a:endParaRPr lang="en-US" dirty="0"/>
          </a:p>
          <a:p>
            <a:r>
              <a:rPr lang="en-US" dirty="0"/>
              <a:t>Prefer if–</a:t>
            </a:r>
            <a:r>
              <a:rPr lang="en-US" dirty="0" err="1"/>
              <a:t>elif</a:t>
            </a:r>
            <a:r>
              <a:rPr lang="en-US" dirty="0"/>
              <a:t>–else for clarity</a:t>
            </a:r>
          </a:p>
        </p:txBody>
      </p:sp>
      <p:sp>
        <p:nvSpPr>
          <p:cNvPr id="10" name="Content Placeholder 7">
            <a:extLst>
              <a:ext uri="{FF2B5EF4-FFF2-40B4-BE49-F238E27FC236}">
                <a16:creationId xmlns:a16="http://schemas.microsoft.com/office/drawing/2014/main" id="{0547DA62-5A0C-808F-732F-FD4D0E92C4ED}"/>
              </a:ext>
            </a:extLst>
          </p:cNvPr>
          <p:cNvSpPr txBox="1">
            <a:spLocks/>
          </p:cNvSpPr>
          <p:nvPr/>
        </p:nvSpPr>
        <p:spPr>
          <a:xfrm>
            <a:off x="5270500" y="1600199"/>
            <a:ext cx="6638925"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a:buNone/>
            </a:pPr>
            <a:r>
              <a:rPr lang="en-US" dirty="0"/>
              <a:t>result = "Positive" if x &gt; 0 else "Zero" if x == 0 else "Negative"</a:t>
            </a:r>
          </a:p>
        </p:txBody>
      </p:sp>
    </p:spTree>
    <p:extLst>
      <p:ext uri="{BB962C8B-B14F-4D97-AF65-F5344CB8AC3E}">
        <p14:creationId xmlns:p14="http://schemas.microsoft.com/office/powerpoint/2010/main" val="3128228054"/>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CC88C3-F349-54EA-910B-7DAE3215EEE9}"/>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2073911D-06AA-5E3F-A10E-3F70857A6467}"/>
              </a:ext>
            </a:extLst>
          </p:cNvPr>
          <p:cNvSpPr>
            <a:spLocks noGrp="1"/>
          </p:cNvSpPr>
          <p:nvPr>
            <p:ph type="title"/>
          </p:nvPr>
        </p:nvSpPr>
        <p:spPr/>
        <p:txBody>
          <a:bodyPr>
            <a:normAutofit/>
          </a:bodyPr>
          <a:lstStyle/>
          <a:p>
            <a:r>
              <a:rPr lang="en-SG" dirty="0"/>
              <a:t>Common Pitfall: Forgetting Else</a:t>
            </a:r>
          </a:p>
        </p:txBody>
      </p:sp>
      <p:sp>
        <p:nvSpPr>
          <p:cNvPr id="8" name="Content Placeholder 7">
            <a:extLst>
              <a:ext uri="{FF2B5EF4-FFF2-40B4-BE49-F238E27FC236}">
                <a16:creationId xmlns:a16="http://schemas.microsoft.com/office/drawing/2014/main" id="{FEF12DDA-6D0D-B944-B17A-D7DD6128BA68}"/>
              </a:ext>
            </a:extLst>
          </p:cNvPr>
          <p:cNvSpPr>
            <a:spLocks noGrp="1"/>
          </p:cNvSpPr>
          <p:nvPr>
            <p:ph idx="1"/>
          </p:nvPr>
        </p:nvSpPr>
        <p:spPr>
          <a:xfrm>
            <a:off x="457200" y="1600200"/>
            <a:ext cx="5422900" cy="4525963"/>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en-US" dirty="0"/>
              <a:t># Good</a:t>
            </a:r>
          </a:p>
          <a:p>
            <a:pPr marL="0" indent="0">
              <a:buNone/>
            </a:pPr>
            <a:endParaRPr lang="en-US" dirty="0"/>
          </a:p>
          <a:p>
            <a:pPr marL="0" indent="0">
              <a:buNone/>
            </a:pPr>
            <a:r>
              <a:rPr lang="en-US" dirty="0"/>
              <a:t>a = x if x &gt; 0 else 0</a:t>
            </a:r>
          </a:p>
        </p:txBody>
      </p:sp>
      <p:sp>
        <p:nvSpPr>
          <p:cNvPr id="10" name="Content Placeholder 7">
            <a:extLst>
              <a:ext uri="{FF2B5EF4-FFF2-40B4-BE49-F238E27FC236}">
                <a16:creationId xmlns:a16="http://schemas.microsoft.com/office/drawing/2014/main" id="{592B8421-A625-0A76-BF1F-2B1C3586DEF2}"/>
              </a:ext>
            </a:extLst>
          </p:cNvPr>
          <p:cNvSpPr txBox="1">
            <a:spLocks/>
          </p:cNvSpPr>
          <p:nvPr/>
        </p:nvSpPr>
        <p:spPr>
          <a:xfrm>
            <a:off x="6094412" y="1600199"/>
            <a:ext cx="5815013"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a:buNone/>
            </a:pPr>
            <a:r>
              <a:rPr lang="en-US" sz="3600" dirty="0"/>
              <a:t># Bad. Results in Error</a:t>
            </a:r>
          </a:p>
          <a:p>
            <a:pPr marL="0" indent="0">
              <a:buNone/>
            </a:pPr>
            <a:endParaRPr lang="en-US" sz="3600" dirty="0"/>
          </a:p>
          <a:p>
            <a:pPr marL="0" indent="0">
              <a:buNone/>
            </a:pPr>
            <a:r>
              <a:rPr lang="en-US" sz="3600" dirty="0"/>
              <a:t>a = x if x &gt; 0</a:t>
            </a:r>
          </a:p>
        </p:txBody>
      </p:sp>
    </p:spTree>
    <p:extLst>
      <p:ext uri="{BB962C8B-B14F-4D97-AF65-F5344CB8AC3E}">
        <p14:creationId xmlns:p14="http://schemas.microsoft.com/office/powerpoint/2010/main" val="2119883947"/>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46EE686-CD59-80C0-F329-620558CDA7DF}"/>
              </a:ext>
            </a:extLst>
          </p:cNvPr>
          <p:cNvSpPr>
            <a:spLocks noGrp="1"/>
          </p:cNvSpPr>
          <p:nvPr>
            <p:ph type="title"/>
          </p:nvPr>
        </p:nvSpPr>
        <p:spPr/>
        <p:txBody>
          <a:bodyPr/>
          <a:lstStyle/>
          <a:p>
            <a:r>
              <a:rPr lang="en-SG" dirty="0"/>
              <a:t>Ternary vs if–else</a:t>
            </a:r>
          </a:p>
        </p:txBody>
      </p:sp>
      <p:graphicFrame>
        <p:nvGraphicFramePr>
          <p:cNvPr id="4" name="Table 3">
            <a:extLst>
              <a:ext uri="{FF2B5EF4-FFF2-40B4-BE49-F238E27FC236}">
                <a16:creationId xmlns:a16="http://schemas.microsoft.com/office/drawing/2014/main" id="{CD29CD55-6978-7E85-E61D-1ABCE245BB2A}"/>
              </a:ext>
            </a:extLst>
          </p:cNvPr>
          <p:cNvGraphicFramePr>
            <a:graphicFrameLocks noGrp="1"/>
          </p:cNvGraphicFramePr>
          <p:nvPr>
            <p:extLst>
              <p:ext uri="{D42A27DB-BD31-4B8C-83A1-F6EECF244321}">
                <p14:modId xmlns:p14="http://schemas.microsoft.com/office/powerpoint/2010/main" val="1128563592"/>
              </p:ext>
            </p:extLst>
          </p:nvPr>
        </p:nvGraphicFramePr>
        <p:xfrm>
          <a:off x="457200" y="1536700"/>
          <a:ext cx="8229600" cy="4368800"/>
        </p:xfrm>
        <a:graphic>
          <a:graphicData uri="http://schemas.openxmlformats.org/drawingml/2006/table">
            <a:tbl>
              <a:tblPr/>
              <a:tblGrid>
                <a:gridCol w="2743200">
                  <a:extLst>
                    <a:ext uri="{9D8B030D-6E8A-4147-A177-3AD203B41FA5}">
                      <a16:colId xmlns:a16="http://schemas.microsoft.com/office/drawing/2014/main" val="2345902759"/>
                    </a:ext>
                  </a:extLst>
                </a:gridCol>
                <a:gridCol w="2743200">
                  <a:extLst>
                    <a:ext uri="{9D8B030D-6E8A-4147-A177-3AD203B41FA5}">
                      <a16:colId xmlns:a16="http://schemas.microsoft.com/office/drawing/2014/main" val="1600972764"/>
                    </a:ext>
                  </a:extLst>
                </a:gridCol>
                <a:gridCol w="2743200">
                  <a:extLst>
                    <a:ext uri="{9D8B030D-6E8A-4147-A177-3AD203B41FA5}">
                      <a16:colId xmlns:a16="http://schemas.microsoft.com/office/drawing/2014/main" val="2749064028"/>
                    </a:ext>
                  </a:extLst>
                </a:gridCol>
              </a:tblGrid>
              <a:tr h="1092200">
                <a:tc>
                  <a:txBody>
                    <a:bodyPr/>
                    <a:lstStyle/>
                    <a:p>
                      <a:pPr>
                        <a:buNone/>
                      </a:pPr>
                      <a:r>
                        <a:rPr lang="en-SG"/>
                        <a:t>Feature</a:t>
                      </a:r>
                    </a:p>
                  </a:txBody>
                  <a:tcPr anchor="ctr">
                    <a:lnL>
                      <a:noFill/>
                    </a:lnL>
                    <a:lnR>
                      <a:noFill/>
                    </a:lnR>
                    <a:lnT>
                      <a:noFill/>
                    </a:lnT>
                    <a:lnB>
                      <a:noFill/>
                    </a:lnB>
                    <a:noFill/>
                  </a:tcPr>
                </a:tc>
                <a:tc>
                  <a:txBody>
                    <a:bodyPr/>
                    <a:lstStyle/>
                    <a:p>
                      <a:pPr>
                        <a:buNone/>
                      </a:pPr>
                      <a:r>
                        <a:rPr lang="en-SG"/>
                        <a:t>if–else</a:t>
                      </a:r>
                    </a:p>
                  </a:txBody>
                  <a:tcPr anchor="ctr">
                    <a:lnL>
                      <a:noFill/>
                    </a:lnL>
                    <a:lnR>
                      <a:noFill/>
                    </a:lnR>
                    <a:lnT>
                      <a:noFill/>
                    </a:lnT>
                    <a:lnB>
                      <a:noFill/>
                    </a:lnB>
                    <a:noFill/>
                  </a:tcPr>
                </a:tc>
                <a:tc>
                  <a:txBody>
                    <a:bodyPr/>
                    <a:lstStyle/>
                    <a:p>
                      <a:pPr>
                        <a:buNone/>
                      </a:pPr>
                      <a:r>
                        <a:rPr lang="en-SG"/>
                        <a:t>Ternary</a:t>
                      </a:r>
                    </a:p>
                  </a:txBody>
                  <a:tcPr anchor="ctr">
                    <a:lnL>
                      <a:noFill/>
                    </a:lnL>
                    <a:lnR>
                      <a:noFill/>
                    </a:lnR>
                    <a:lnT>
                      <a:noFill/>
                    </a:lnT>
                    <a:lnB>
                      <a:noFill/>
                    </a:lnB>
                    <a:noFill/>
                  </a:tcPr>
                </a:tc>
                <a:extLst>
                  <a:ext uri="{0D108BD9-81ED-4DB2-BD59-A6C34878D82A}">
                    <a16:rowId xmlns:a16="http://schemas.microsoft.com/office/drawing/2014/main" val="3058437716"/>
                  </a:ext>
                </a:extLst>
              </a:tr>
              <a:tr h="1092200">
                <a:tc>
                  <a:txBody>
                    <a:bodyPr/>
                    <a:lstStyle/>
                    <a:p>
                      <a:pPr>
                        <a:buNone/>
                      </a:pPr>
                      <a:r>
                        <a:rPr lang="en-SG"/>
                        <a:t>Multiple statements</a:t>
                      </a:r>
                    </a:p>
                  </a:txBody>
                  <a:tcPr anchor="ctr">
                    <a:lnL>
                      <a:noFill/>
                    </a:lnL>
                    <a:lnR>
                      <a:noFill/>
                    </a:lnR>
                    <a:lnT>
                      <a:noFill/>
                    </a:lnT>
                    <a:lnB>
                      <a:noFill/>
                    </a:lnB>
                    <a:noFill/>
                  </a:tcPr>
                </a:tc>
                <a:tc>
                  <a:txBody>
                    <a:bodyPr/>
                    <a:lstStyle/>
                    <a:p>
                      <a:pPr>
                        <a:buNone/>
                      </a:pPr>
                      <a:r>
                        <a:rPr lang="en-SG"/>
                        <a:t>✅</a:t>
                      </a:r>
                    </a:p>
                  </a:txBody>
                  <a:tcPr anchor="ctr">
                    <a:lnL>
                      <a:noFill/>
                    </a:lnL>
                    <a:lnR>
                      <a:noFill/>
                    </a:lnR>
                    <a:lnT>
                      <a:noFill/>
                    </a:lnT>
                    <a:lnB>
                      <a:noFill/>
                    </a:lnB>
                    <a:noFill/>
                  </a:tcPr>
                </a:tc>
                <a:tc>
                  <a:txBody>
                    <a:bodyPr/>
                    <a:lstStyle/>
                    <a:p>
                      <a:pPr>
                        <a:buNone/>
                      </a:pPr>
                      <a:r>
                        <a:rPr lang="en-SG"/>
                        <a:t>❌</a:t>
                      </a:r>
                    </a:p>
                  </a:txBody>
                  <a:tcPr anchor="ctr">
                    <a:lnL>
                      <a:noFill/>
                    </a:lnL>
                    <a:lnR>
                      <a:noFill/>
                    </a:lnR>
                    <a:lnT>
                      <a:noFill/>
                    </a:lnT>
                    <a:lnB>
                      <a:noFill/>
                    </a:lnB>
                    <a:noFill/>
                  </a:tcPr>
                </a:tc>
                <a:extLst>
                  <a:ext uri="{0D108BD9-81ED-4DB2-BD59-A6C34878D82A}">
                    <a16:rowId xmlns:a16="http://schemas.microsoft.com/office/drawing/2014/main" val="1774426750"/>
                  </a:ext>
                </a:extLst>
              </a:tr>
              <a:tr h="1092200">
                <a:tc>
                  <a:txBody>
                    <a:bodyPr/>
                    <a:lstStyle/>
                    <a:p>
                      <a:pPr>
                        <a:buNone/>
                      </a:pPr>
                      <a:r>
                        <a:rPr lang="en-SG"/>
                        <a:t>One-line assignment</a:t>
                      </a:r>
                    </a:p>
                  </a:txBody>
                  <a:tcPr anchor="ctr">
                    <a:lnL>
                      <a:noFill/>
                    </a:lnL>
                    <a:lnR>
                      <a:noFill/>
                    </a:lnR>
                    <a:lnT>
                      <a:noFill/>
                    </a:lnT>
                    <a:lnB>
                      <a:noFill/>
                    </a:lnB>
                    <a:noFill/>
                  </a:tcPr>
                </a:tc>
                <a:tc>
                  <a:txBody>
                    <a:bodyPr/>
                    <a:lstStyle/>
                    <a:p>
                      <a:pPr>
                        <a:buNone/>
                      </a:pPr>
                      <a:r>
                        <a:rPr lang="en-SG"/>
                        <a:t>❌</a:t>
                      </a:r>
                    </a:p>
                  </a:txBody>
                  <a:tcPr anchor="ctr">
                    <a:lnL>
                      <a:noFill/>
                    </a:lnL>
                    <a:lnR>
                      <a:noFill/>
                    </a:lnR>
                    <a:lnT>
                      <a:noFill/>
                    </a:lnT>
                    <a:lnB>
                      <a:noFill/>
                    </a:lnB>
                    <a:noFill/>
                  </a:tcPr>
                </a:tc>
                <a:tc>
                  <a:txBody>
                    <a:bodyPr/>
                    <a:lstStyle/>
                    <a:p>
                      <a:pPr>
                        <a:buNone/>
                      </a:pPr>
                      <a:r>
                        <a:rPr lang="en-SG"/>
                        <a:t>✅</a:t>
                      </a:r>
                    </a:p>
                  </a:txBody>
                  <a:tcPr anchor="ctr">
                    <a:lnL>
                      <a:noFill/>
                    </a:lnL>
                    <a:lnR>
                      <a:noFill/>
                    </a:lnR>
                    <a:lnT>
                      <a:noFill/>
                    </a:lnT>
                    <a:lnB>
                      <a:noFill/>
                    </a:lnB>
                    <a:noFill/>
                  </a:tcPr>
                </a:tc>
                <a:extLst>
                  <a:ext uri="{0D108BD9-81ED-4DB2-BD59-A6C34878D82A}">
                    <a16:rowId xmlns:a16="http://schemas.microsoft.com/office/drawing/2014/main" val="1575761028"/>
                  </a:ext>
                </a:extLst>
              </a:tr>
              <a:tr h="1092200">
                <a:tc>
                  <a:txBody>
                    <a:bodyPr/>
                    <a:lstStyle/>
                    <a:p>
                      <a:pPr>
                        <a:buNone/>
                      </a:pPr>
                      <a:r>
                        <a:rPr lang="en-SG"/>
                        <a:t>Readability (simple)</a:t>
                      </a:r>
                    </a:p>
                  </a:txBody>
                  <a:tcPr anchor="ctr">
                    <a:lnL>
                      <a:noFill/>
                    </a:lnL>
                    <a:lnR>
                      <a:noFill/>
                    </a:lnR>
                    <a:lnT>
                      <a:noFill/>
                    </a:lnT>
                    <a:lnB>
                      <a:noFill/>
                    </a:lnB>
                    <a:noFill/>
                  </a:tcPr>
                </a:tc>
                <a:tc>
                  <a:txBody>
                    <a:bodyPr/>
                    <a:lstStyle/>
                    <a:p>
                      <a:pPr>
                        <a:buNone/>
                      </a:pPr>
                      <a:r>
                        <a:rPr lang="en-SG"/>
                        <a:t>✅</a:t>
                      </a:r>
                    </a:p>
                  </a:txBody>
                  <a:tcPr anchor="ctr">
                    <a:lnL>
                      <a:noFill/>
                    </a:lnL>
                    <a:lnR>
                      <a:noFill/>
                    </a:lnR>
                    <a:lnT>
                      <a:noFill/>
                    </a:lnT>
                    <a:lnB>
                      <a:noFill/>
                    </a:lnB>
                    <a:noFill/>
                  </a:tcPr>
                </a:tc>
                <a:tc>
                  <a:txBody>
                    <a:bodyPr/>
                    <a:lstStyle/>
                    <a:p>
                      <a:pPr>
                        <a:buNone/>
                      </a:pPr>
                      <a:r>
                        <a:rPr lang="en-SG" dirty="0"/>
                        <a:t>✅</a:t>
                      </a:r>
                    </a:p>
                  </a:txBody>
                  <a:tcPr anchor="ctr">
                    <a:lnL>
                      <a:noFill/>
                    </a:lnL>
                    <a:lnR>
                      <a:noFill/>
                    </a:lnR>
                    <a:lnT>
                      <a:noFill/>
                    </a:lnT>
                    <a:lnB>
                      <a:noFill/>
                    </a:lnB>
                    <a:noFill/>
                  </a:tcPr>
                </a:tc>
                <a:extLst>
                  <a:ext uri="{0D108BD9-81ED-4DB2-BD59-A6C34878D82A}">
                    <a16:rowId xmlns:a16="http://schemas.microsoft.com/office/drawing/2014/main" val="1540924542"/>
                  </a:ext>
                </a:extLst>
              </a:tr>
            </a:tbl>
          </a:graphicData>
        </a:graphic>
      </p:graphicFrame>
    </p:spTree>
    <p:extLst>
      <p:ext uri="{BB962C8B-B14F-4D97-AF65-F5344CB8AC3E}">
        <p14:creationId xmlns:p14="http://schemas.microsoft.com/office/powerpoint/2010/main" val="1452006680"/>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74B4603-AAEA-BD62-9242-0457BCF916C3}"/>
              </a:ext>
            </a:extLst>
          </p:cNvPr>
          <p:cNvSpPr>
            <a:spLocks noGrp="1"/>
          </p:cNvSpPr>
          <p:nvPr>
            <p:ph type="title"/>
          </p:nvPr>
        </p:nvSpPr>
        <p:spPr/>
        <p:txBody>
          <a:bodyPr/>
          <a:lstStyle/>
          <a:p>
            <a:r>
              <a:rPr lang="en-SG" dirty="0"/>
              <a:t>Hands-On Exercise</a:t>
            </a:r>
          </a:p>
        </p:txBody>
      </p:sp>
      <p:sp>
        <p:nvSpPr>
          <p:cNvPr id="3" name="Content Placeholder 2">
            <a:extLst>
              <a:ext uri="{FF2B5EF4-FFF2-40B4-BE49-F238E27FC236}">
                <a16:creationId xmlns:a16="http://schemas.microsoft.com/office/drawing/2014/main" id="{0D506E1B-BD3B-B759-56B7-32D6C0146C16}"/>
              </a:ext>
            </a:extLst>
          </p:cNvPr>
          <p:cNvSpPr>
            <a:spLocks noGrp="1"/>
          </p:cNvSpPr>
          <p:nvPr>
            <p:ph idx="1"/>
          </p:nvPr>
        </p:nvSpPr>
        <p:spPr/>
        <p:txBody>
          <a:bodyPr/>
          <a:lstStyle/>
          <a:p>
            <a:r>
              <a:rPr lang="en-US" dirty="0"/>
              <a:t>Ask the user for a number</a:t>
            </a:r>
          </a:p>
          <a:p>
            <a:endParaRPr lang="en-US" dirty="0"/>
          </a:p>
          <a:p>
            <a:r>
              <a:rPr lang="en-US" dirty="0"/>
              <a:t>Assign:</a:t>
            </a:r>
          </a:p>
          <a:p>
            <a:endParaRPr lang="en-US" dirty="0"/>
          </a:p>
          <a:p>
            <a:pPr lvl="1"/>
            <a:r>
              <a:rPr lang="en-US" dirty="0"/>
              <a:t>"Even" or "Odd" using a ternary expression</a:t>
            </a:r>
          </a:p>
          <a:p>
            <a:endParaRPr lang="en-US" dirty="0"/>
          </a:p>
          <a:p>
            <a:r>
              <a:rPr lang="en-US" dirty="0"/>
              <a:t>Print the result</a:t>
            </a:r>
            <a:endParaRPr lang="en-SG" dirty="0"/>
          </a:p>
        </p:txBody>
      </p:sp>
    </p:spTree>
    <p:extLst>
      <p:ext uri="{BB962C8B-B14F-4D97-AF65-F5344CB8AC3E}">
        <p14:creationId xmlns:p14="http://schemas.microsoft.com/office/powerpoint/2010/main" val="4120675750"/>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9260BA-8B6F-D1FE-5F7F-EB41D3860DB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835331E-7B03-034B-C2BF-68A3F57882A6}"/>
              </a:ext>
            </a:extLst>
          </p:cNvPr>
          <p:cNvSpPr>
            <a:spLocks noGrp="1"/>
          </p:cNvSpPr>
          <p:nvPr>
            <p:ph type="title"/>
          </p:nvPr>
        </p:nvSpPr>
        <p:spPr/>
        <p:txBody>
          <a:bodyPr/>
          <a:lstStyle/>
          <a:p>
            <a:r>
              <a:rPr lang="en-SG" dirty="0"/>
              <a:t>Solution</a:t>
            </a:r>
          </a:p>
        </p:txBody>
      </p:sp>
      <p:sp>
        <p:nvSpPr>
          <p:cNvPr id="3" name="Content Placeholder 2">
            <a:extLst>
              <a:ext uri="{FF2B5EF4-FFF2-40B4-BE49-F238E27FC236}">
                <a16:creationId xmlns:a16="http://schemas.microsoft.com/office/drawing/2014/main" id="{F71F8D30-ACD3-4DAE-B6CF-5353A611B053}"/>
              </a:ext>
            </a:extLst>
          </p:cNvPr>
          <p:cNvSpPr>
            <a:spLocks noGrp="1"/>
          </p:cNvSpPr>
          <p:nvPr>
            <p:ph idx="1"/>
          </p:nvPr>
        </p:nvSpPr>
        <p:spPr>
          <a:xfrm>
            <a:off x="457200" y="1600200"/>
            <a:ext cx="7912100" cy="4525963"/>
          </a:xfrm>
        </p:spPr>
        <p:txBody>
          <a:bodyPr/>
          <a:lstStyle/>
          <a:p>
            <a:pPr marL="0" indent="0">
              <a:buNone/>
            </a:pPr>
            <a:r>
              <a:rPr lang="en-US" dirty="0"/>
              <a:t>num = int(input("Enter a number: "))</a:t>
            </a:r>
          </a:p>
          <a:p>
            <a:pPr marL="0" indent="0">
              <a:buNone/>
            </a:pPr>
            <a:endParaRPr lang="en-US" dirty="0"/>
          </a:p>
          <a:p>
            <a:pPr marL="0" indent="0">
              <a:buNone/>
            </a:pPr>
            <a:r>
              <a:rPr lang="en-US" dirty="0"/>
              <a:t>result = "Even" if num % 2 == 0 else "Odd“</a:t>
            </a:r>
          </a:p>
          <a:p>
            <a:pPr marL="0" indent="0">
              <a:buNone/>
            </a:pPr>
            <a:endParaRPr lang="en-US" dirty="0"/>
          </a:p>
          <a:p>
            <a:pPr marL="0" indent="0">
              <a:buNone/>
            </a:pPr>
            <a:r>
              <a:rPr lang="en-US" dirty="0"/>
              <a:t>print(result)</a:t>
            </a:r>
          </a:p>
        </p:txBody>
      </p:sp>
    </p:spTree>
    <p:extLst>
      <p:ext uri="{BB962C8B-B14F-4D97-AF65-F5344CB8AC3E}">
        <p14:creationId xmlns:p14="http://schemas.microsoft.com/office/powerpoint/2010/main" val="3123225597"/>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713B95-3D3B-AEBD-5F6B-FAFA834B7F52}"/>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0A4686BA-2308-6AD9-9989-18A6CF2B7C76}"/>
              </a:ext>
            </a:extLst>
          </p:cNvPr>
          <p:cNvSpPr>
            <a:spLocks noGrp="1"/>
          </p:cNvSpPr>
          <p:nvPr>
            <p:ph type="title"/>
          </p:nvPr>
        </p:nvSpPr>
        <p:spPr/>
        <p:txBody>
          <a:bodyPr/>
          <a:lstStyle/>
          <a:p>
            <a:r>
              <a:rPr lang="en-SG" dirty="0"/>
              <a:t>for Loops</a:t>
            </a:r>
          </a:p>
        </p:txBody>
      </p:sp>
      <p:sp>
        <p:nvSpPr>
          <p:cNvPr id="8" name="Content Placeholder 7">
            <a:extLst>
              <a:ext uri="{FF2B5EF4-FFF2-40B4-BE49-F238E27FC236}">
                <a16:creationId xmlns:a16="http://schemas.microsoft.com/office/drawing/2014/main" id="{ABCB246E-05CD-E38E-E710-76898A4EA061}"/>
              </a:ext>
            </a:extLst>
          </p:cNvPr>
          <p:cNvSpPr>
            <a:spLocks noGrp="1"/>
          </p:cNvSpPr>
          <p:nvPr>
            <p:ph idx="1"/>
          </p:nvPr>
        </p:nvSpPr>
        <p:spPr>
          <a:xfrm>
            <a:off x="457200" y="1600200"/>
            <a:ext cx="4851400" cy="4525963"/>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en-US" dirty="0"/>
              <a:t>for </a:t>
            </a:r>
            <a:r>
              <a:rPr lang="en-US" dirty="0" err="1"/>
              <a:t>i</a:t>
            </a:r>
            <a:r>
              <a:rPr lang="en-US" dirty="0"/>
              <a:t> in range(3):</a:t>
            </a:r>
          </a:p>
          <a:p>
            <a:pPr marL="0" indent="0">
              <a:buNone/>
            </a:pPr>
            <a:r>
              <a:rPr lang="en-US" dirty="0"/>
              <a:t>    print(</a:t>
            </a:r>
            <a:r>
              <a:rPr lang="en-US" dirty="0" err="1"/>
              <a:t>i</a:t>
            </a:r>
            <a:r>
              <a:rPr lang="en-US" dirty="0"/>
              <a:t>)</a:t>
            </a:r>
          </a:p>
        </p:txBody>
      </p:sp>
      <p:sp>
        <p:nvSpPr>
          <p:cNvPr id="10" name="Content Placeholder 7">
            <a:extLst>
              <a:ext uri="{FF2B5EF4-FFF2-40B4-BE49-F238E27FC236}">
                <a16:creationId xmlns:a16="http://schemas.microsoft.com/office/drawing/2014/main" id="{6205D715-5295-1630-D89C-15A8328BA5C6}"/>
              </a:ext>
            </a:extLst>
          </p:cNvPr>
          <p:cNvSpPr txBox="1">
            <a:spLocks/>
          </p:cNvSpPr>
          <p:nvPr/>
        </p:nvSpPr>
        <p:spPr>
          <a:xfrm>
            <a:off x="5600700" y="1600200"/>
            <a:ext cx="6130925"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dirty="0"/>
              <a:t>Used to iterate over a sequence</a:t>
            </a:r>
          </a:p>
          <a:p>
            <a:endParaRPr lang="en-US" dirty="0"/>
          </a:p>
          <a:p>
            <a:r>
              <a:rPr lang="en-US" dirty="0"/>
              <a:t>Commonly used with lists, strings, ranges</a:t>
            </a:r>
          </a:p>
        </p:txBody>
      </p:sp>
    </p:spTree>
    <p:extLst>
      <p:ext uri="{BB962C8B-B14F-4D97-AF65-F5344CB8AC3E}">
        <p14:creationId xmlns:p14="http://schemas.microsoft.com/office/powerpoint/2010/main" val="1236661648"/>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F91AB5-F18E-F27F-03B5-3CCB278D5520}"/>
              </a:ext>
            </a:extLst>
          </p:cNvPr>
          <p:cNvSpPr>
            <a:spLocks noGrp="1"/>
          </p:cNvSpPr>
          <p:nvPr>
            <p:ph type="title"/>
          </p:nvPr>
        </p:nvSpPr>
        <p:spPr/>
        <p:txBody>
          <a:bodyPr/>
          <a:lstStyle/>
          <a:p>
            <a:r>
              <a:rPr lang="en-SG" dirty="0"/>
              <a:t>Looping Through Collections</a:t>
            </a:r>
          </a:p>
        </p:txBody>
      </p:sp>
      <p:sp>
        <p:nvSpPr>
          <p:cNvPr id="3" name="Content Placeholder 2">
            <a:extLst>
              <a:ext uri="{FF2B5EF4-FFF2-40B4-BE49-F238E27FC236}">
                <a16:creationId xmlns:a16="http://schemas.microsoft.com/office/drawing/2014/main" id="{87681482-5E64-509D-644D-DE4A9FBE67AD}"/>
              </a:ext>
            </a:extLst>
          </p:cNvPr>
          <p:cNvSpPr>
            <a:spLocks noGrp="1"/>
          </p:cNvSpPr>
          <p:nvPr>
            <p:ph idx="1"/>
          </p:nvPr>
        </p:nvSpPr>
        <p:spPr/>
        <p:txBody>
          <a:bodyPr/>
          <a:lstStyle/>
          <a:p>
            <a:pPr marL="0" indent="0">
              <a:buNone/>
            </a:pPr>
            <a:r>
              <a:rPr lang="en-SG" dirty="0"/>
              <a:t>fruits = ["apple", "banana", "orange"]</a:t>
            </a:r>
          </a:p>
          <a:p>
            <a:pPr marL="0" indent="0">
              <a:buNone/>
            </a:pPr>
            <a:endParaRPr lang="en-SG" dirty="0"/>
          </a:p>
          <a:p>
            <a:pPr marL="0" indent="0">
              <a:buNone/>
            </a:pPr>
            <a:r>
              <a:rPr lang="en-SG" dirty="0"/>
              <a:t>for fruit in fruits:</a:t>
            </a:r>
          </a:p>
          <a:p>
            <a:pPr marL="0" indent="0">
              <a:buNone/>
            </a:pPr>
            <a:r>
              <a:rPr lang="en-SG" dirty="0"/>
              <a:t>    print(fruit)</a:t>
            </a:r>
          </a:p>
          <a:p>
            <a:pPr marL="0" indent="0">
              <a:buNone/>
            </a:pPr>
            <a:endParaRPr lang="en-SG" dirty="0"/>
          </a:p>
        </p:txBody>
      </p:sp>
    </p:spTree>
    <p:extLst>
      <p:ext uri="{BB962C8B-B14F-4D97-AF65-F5344CB8AC3E}">
        <p14:creationId xmlns:p14="http://schemas.microsoft.com/office/powerpoint/2010/main" val="3842927915"/>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E43280-42DA-6A97-5E76-78C2C79330DF}"/>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4C44CD44-9FD5-DD79-59FF-3A49DEB7079A}"/>
              </a:ext>
            </a:extLst>
          </p:cNvPr>
          <p:cNvSpPr>
            <a:spLocks noGrp="1"/>
          </p:cNvSpPr>
          <p:nvPr>
            <p:ph type="title"/>
          </p:nvPr>
        </p:nvSpPr>
        <p:spPr/>
        <p:txBody>
          <a:bodyPr/>
          <a:lstStyle/>
          <a:p>
            <a:r>
              <a:rPr lang="en-SG" dirty="0"/>
              <a:t>while Loops</a:t>
            </a:r>
          </a:p>
        </p:txBody>
      </p:sp>
      <p:sp>
        <p:nvSpPr>
          <p:cNvPr id="8" name="Content Placeholder 7">
            <a:extLst>
              <a:ext uri="{FF2B5EF4-FFF2-40B4-BE49-F238E27FC236}">
                <a16:creationId xmlns:a16="http://schemas.microsoft.com/office/drawing/2014/main" id="{8C1D49EF-7BEA-C434-111A-DE65F2EBCBDD}"/>
              </a:ext>
            </a:extLst>
          </p:cNvPr>
          <p:cNvSpPr>
            <a:spLocks noGrp="1"/>
          </p:cNvSpPr>
          <p:nvPr>
            <p:ph idx="1"/>
          </p:nvPr>
        </p:nvSpPr>
        <p:spPr>
          <a:xfrm>
            <a:off x="457200" y="1600200"/>
            <a:ext cx="4851400" cy="4525963"/>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en-US" dirty="0"/>
              <a:t>count = 1</a:t>
            </a:r>
          </a:p>
          <a:p>
            <a:pPr marL="0" indent="0">
              <a:buNone/>
            </a:pPr>
            <a:endParaRPr lang="en-US" dirty="0"/>
          </a:p>
          <a:p>
            <a:pPr marL="0" indent="0">
              <a:buNone/>
            </a:pPr>
            <a:r>
              <a:rPr lang="en-US" dirty="0"/>
              <a:t>while count &lt;= 3:</a:t>
            </a:r>
          </a:p>
          <a:p>
            <a:pPr marL="0" indent="0">
              <a:buNone/>
            </a:pPr>
            <a:r>
              <a:rPr lang="en-US" dirty="0"/>
              <a:t>    print(count)</a:t>
            </a:r>
          </a:p>
          <a:p>
            <a:pPr marL="0" indent="0">
              <a:buNone/>
            </a:pPr>
            <a:r>
              <a:rPr lang="en-US" dirty="0"/>
              <a:t>    count += 1</a:t>
            </a:r>
          </a:p>
        </p:txBody>
      </p:sp>
      <p:sp>
        <p:nvSpPr>
          <p:cNvPr id="10" name="Content Placeholder 7">
            <a:extLst>
              <a:ext uri="{FF2B5EF4-FFF2-40B4-BE49-F238E27FC236}">
                <a16:creationId xmlns:a16="http://schemas.microsoft.com/office/drawing/2014/main" id="{74EB3B58-F560-F508-65B8-0499EA9640D8}"/>
              </a:ext>
            </a:extLst>
          </p:cNvPr>
          <p:cNvSpPr txBox="1">
            <a:spLocks/>
          </p:cNvSpPr>
          <p:nvPr/>
        </p:nvSpPr>
        <p:spPr>
          <a:xfrm>
            <a:off x="5600700" y="1600200"/>
            <a:ext cx="6130925"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dirty="0"/>
              <a:t>Repeats while a condition is True</a:t>
            </a:r>
          </a:p>
          <a:p>
            <a:endParaRPr lang="en-US" dirty="0"/>
          </a:p>
          <a:p>
            <a:r>
              <a:rPr lang="en-US" dirty="0"/>
              <a:t>Must ensure condition eventually becomes False</a:t>
            </a:r>
          </a:p>
        </p:txBody>
      </p:sp>
    </p:spTree>
    <p:extLst>
      <p:ext uri="{BB962C8B-B14F-4D97-AF65-F5344CB8AC3E}">
        <p14:creationId xmlns:p14="http://schemas.microsoft.com/office/powerpoint/2010/main" val="2820443738"/>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D79AF1-CA6C-8256-CAE1-F706419AF334}"/>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455C2D27-9D41-248A-53EC-58239238CC15}"/>
              </a:ext>
            </a:extLst>
          </p:cNvPr>
          <p:cNvSpPr>
            <a:spLocks noGrp="1"/>
          </p:cNvSpPr>
          <p:nvPr>
            <p:ph type="title"/>
          </p:nvPr>
        </p:nvSpPr>
        <p:spPr/>
        <p:txBody>
          <a:bodyPr/>
          <a:lstStyle/>
          <a:p>
            <a:r>
              <a:rPr lang="en-SG" dirty="0"/>
              <a:t>break and continue</a:t>
            </a:r>
          </a:p>
        </p:txBody>
      </p:sp>
      <p:sp>
        <p:nvSpPr>
          <p:cNvPr id="8" name="Content Placeholder 7">
            <a:extLst>
              <a:ext uri="{FF2B5EF4-FFF2-40B4-BE49-F238E27FC236}">
                <a16:creationId xmlns:a16="http://schemas.microsoft.com/office/drawing/2014/main" id="{B52CC788-C611-65EC-DF02-8F0B8D867A6B}"/>
              </a:ext>
            </a:extLst>
          </p:cNvPr>
          <p:cNvSpPr>
            <a:spLocks noGrp="1"/>
          </p:cNvSpPr>
          <p:nvPr>
            <p:ph idx="1"/>
          </p:nvPr>
        </p:nvSpPr>
        <p:spPr>
          <a:xfrm>
            <a:off x="457199" y="1600200"/>
            <a:ext cx="5092701" cy="4525963"/>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en-US" dirty="0"/>
              <a:t># Exits the loop immediately</a:t>
            </a:r>
          </a:p>
          <a:p>
            <a:pPr marL="0" indent="0">
              <a:buNone/>
            </a:pPr>
            <a:endParaRPr lang="en-US" dirty="0"/>
          </a:p>
          <a:p>
            <a:pPr marL="0" indent="0">
              <a:buNone/>
            </a:pPr>
            <a:r>
              <a:rPr lang="en-US" dirty="0"/>
              <a:t>for </a:t>
            </a:r>
            <a:r>
              <a:rPr lang="en-US" dirty="0" err="1"/>
              <a:t>i</a:t>
            </a:r>
            <a:r>
              <a:rPr lang="en-US" dirty="0"/>
              <a:t> in range(5):</a:t>
            </a:r>
          </a:p>
          <a:p>
            <a:pPr marL="0" indent="0">
              <a:buNone/>
            </a:pPr>
            <a:r>
              <a:rPr lang="en-US" dirty="0"/>
              <a:t>    if </a:t>
            </a:r>
            <a:r>
              <a:rPr lang="en-US" dirty="0" err="1"/>
              <a:t>i</a:t>
            </a:r>
            <a:r>
              <a:rPr lang="en-US" dirty="0"/>
              <a:t> == 3:</a:t>
            </a:r>
          </a:p>
          <a:p>
            <a:pPr marL="0" indent="0">
              <a:buNone/>
            </a:pPr>
            <a:r>
              <a:rPr lang="en-US" dirty="0"/>
              <a:t>        break</a:t>
            </a:r>
          </a:p>
          <a:p>
            <a:pPr marL="0" indent="0">
              <a:buNone/>
            </a:pPr>
            <a:r>
              <a:rPr lang="en-US" dirty="0"/>
              <a:t>    print(</a:t>
            </a:r>
            <a:r>
              <a:rPr lang="en-US" dirty="0" err="1"/>
              <a:t>i</a:t>
            </a:r>
            <a:r>
              <a:rPr lang="en-US" dirty="0"/>
              <a:t>)</a:t>
            </a:r>
          </a:p>
        </p:txBody>
      </p:sp>
      <p:sp>
        <p:nvSpPr>
          <p:cNvPr id="10" name="Content Placeholder 7">
            <a:extLst>
              <a:ext uri="{FF2B5EF4-FFF2-40B4-BE49-F238E27FC236}">
                <a16:creationId xmlns:a16="http://schemas.microsoft.com/office/drawing/2014/main" id="{1DF43494-D451-81BB-07A6-BF7C23065EFA}"/>
              </a:ext>
            </a:extLst>
          </p:cNvPr>
          <p:cNvSpPr txBox="1">
            <a:spLocks/>
          </p:cNvSpPr>
          <p:nvPr/>
        </p:nvSpPr>
        <p:spPr>
          <a:xfrm>
            <a:off x="5943600" y="1600200"/>
            <a:ext cx="5788025"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457200" lvl="1" indent="0">
              <a:buNone/>
            </a:pPr>
            <a:r>
              <a:rPr lang="en-US" dirty="0"/>
              <a:t># Skips to the next iteration</a:t>
            </a:r>
          </a:p>
          <a:p>
            <a:pPr marL="457200" lvl="1" indent="0">
              <a:buNone/>
            </a:pPr>
            <a:endParaRPr lang="en-US" dirty="0"/>
          </a:p>
          <a:p>
            <a:pPr marL="457200" lvl="1" indent="0">
              <a:buNone/>
            </a:pPr>
            <a:r>
              <a:rPr lang="en-US" dirty="0"/>
              <a:t>for </a:t>
            </a:r>
            <a:r>
              <a:rPr lang="en-US" dirty="0" err="1"/>
              <a:t>i</a:t>
            </a:r>
            <a:r>
              <a:rPr lang="en-US" dirty="0"/>
              <a:t> in range(5):</a:t>
            </a:r>
          </a:p>
          <a:p>
            <a:pPr marL="457200" lvl="1" indent="0">
              <a:buNone/>
            </a:pPr>
            <a:r>
              <a:rPr lang="en-US" dirty="0"/>
              <a:t>    if </a:t>
            </a:r>
            <a:r>
              <a:rPr lang="en-US" dirty="0" err="1"/>
              <a:t>i</a:t>
            </a:r>
            <a:r>
              <a:rPr lang="en-US" dirty="0"/>
              <a:t> == 2:</a:t>
            </a:r>
          </a:p>
          <a:p>
            <a:pPr marL="457200" lvl="1" indent="0">
              <a:buNone/>
            </a:pPr>
            <a:r>
              <a:rPr lang="en-US" dirty="0"/>
              <a:t>        continue</a:t>
            </a:r>
          </a:p>
          <a:p>
            <a:pPr marL="457200" lvl="1" indent="0">
              <a:buNone/>
            </a:pPr>
            <a:r>
              <a:rPr lang="en-US" dirty="0"/>
              <a:t>    print(</a:t>
            </a:r>
            <a:r>
              <a:rPr lang="en-US" dirty="0" err="1"/>
              <a:t>i</a:t>
            </a:r>
            <a:r>
              <a:rPr lang="en-US" dirty="0"/>
              <a:t>)</a:t>
            </a:r>
          </a:p>
          <a:p>
            <a:pPr marL="457200" lvl="1" indent="0">
              <a:buNone/>
            </a:pPr>
            <a:endParaRPr lang="en-US" dirty="0"/>
          </a:p>
        </p:txBody>
      </p:sp>
    </p:spTree>
    <p:extLst>
      <p:ext uri="{BB962C8B-B14F-4D97-AF65-F5344CB8AC3E}">
        <p14:creationId xmlns:p14="http://schemas.microsoft.com/office/powerpoint/2010/main" val="3483798376"/>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B75DA6-C9C0-61A5-1F3A-AD37D797BF67}"/>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78173BDA-4A95-95DE-7A4B-BE969FDE54FD}"/>
              </a:ext>
            </a:extLst>
          </p:cNvPr>
          <p:cNvSpPr>
            <a:spLocks noGrp="1"/>
          </p:cNvSpPr>
          <p:nvPr>
            <p:ph type="title"/>
          </p:nvPr>
        </p:nvSpPr>
        <p:spPr/>
        <p:txBody>
          <a:bodyPr/>
          <a:lstStyle/>
          <a:p>
            <a:r>
              <a:rPr lang="en-SG" dirty="0"/>
              <a:t>Nested Control Flow</a:t>
            </a:r>
          </a:p>
        </p:txBody>
      </p:sp>
      <p:sp>
        <p:nvSpPr>
          <p:cNvPr id="8" name="Content Placeholder 7">
            <a:extLst>
              <a:ext uri="{FF2B5EF4-FFF2-40B4-BE49-F238E27FC236}">
                <a16:creationId xmlns:a16="http://schemas.microsoft.com/office/drawing/2014/main" id="{D507A18C-C57C-495A-94AF-E11401750EBA}"/>
              </a:ext>
            </a:extLst>
          </p:cNvPr>
          <p:cNvSpPr>
            <a:spLocks noGrp="1"/>
          </p:cNvSpPr>
          <p:nvPr>
            <p:ph idx="1"/>
          </p:nvPr>
        </p:nvSpPr>
        <p:spPr>
          <a:xfrm>
            <a:off x="457199" y="1600200"/>
            <a:ext cx="4381501" cy="4525963"/>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en-US" dirty="0"/>
              <a:t>for </a:t>
            </a:r>
            <a:r>
              <a:rPr lang="en-US" dirty="0" err="1"/>
              <a:t>i</a:t>
            </a:r>
            <a:r>
              <a:rPr lang="en-US" dirty="0"/>
              <a:t> in range(3):</a:t>
            </a:r>
          </a:p>
          <a:p>
            <a:pPr marL="0" indent="0">
              <a:buNone/>
            </a:pPr>
            <a:r>
              <a:rPr lang="en-US" dirty="0"/>
              <a:t>    if </a:t>
            </a:r>
            <a:r>
              <a:rPr lang="en-US" dirty="0" err="1"/>
              <a:t>i</a:t>
            </a:r>
            <a:r>
              <a:rPr lang="en-US" dirty="0"/>
              <a:t> % 2 == 0:</a:t>
            </a:r>
          </a:p>
          <a:p>
            <a:pPr marL="0" indent="0">
              <a:buNone/>
            </a:pPr>
            <a:r>
              <a:rPr lang="en-US" dirty="0"/>
              <a:t>        print(</a:t>
            </a:r>
            <a:r>
              <a:rPr lang="en-US" dirty="0" err="1"/>
              <a:t>i</a:t>
            </a:r>
            <a:r>
              <a:rPr lang="en-US" dirty="0"/>
              <a:t>, "is even")</a:t>
            </a:r>
          </a:p>
        </p:txBody>
      </p:sp>
      <p:sp>
        <p:nvSpPr>
          <p:cNvPr id="10" name="Content Placeholder 7">
            <a:extLst>
              <a:ext uri="{FF2B5EF4-FFF2-40B4-BE49-F238E27FC236}">
                <a16:creationId xmlns:a16="http://schemas.microsoft.com/office/drawing/2014/main" id="{DBFAF15F-D2EE-0D2D-B6C1-80D6EFC6E836}"/>
              </a:ext>
            </a:extLst>
          </p:cNvPr>
          <p:cNvSpPr txBox="1">
            <a:spLocks/>
          </p:cNvSpPr>
          <p:nvPr/>
        </p:nvSpPr>
        <p:spPr>
          <a:xfrm>
            <a:off x="5334000" y="1600200"/>
            <a:ext cx="6397625"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dirty="0"/>
              <a:t>Control structures can be nested</a:t>
            </a:r>
          </a:p>
          <a:p>
            <a:endParaRPr lang="en-US" dirty="0"/>
          </a:p>
          <a:p>
            <a:r>
              <a:rPr lang="en-US" dirty="0"/>
              <a:t>Indentation is critical in Python</a:t>
            </a:r>
          </a:p>
        </p:txBody>
      </p:sp>
    </p:spTree>
    <p:extLst>
      <p:ext uri="{BB962C8B-B14F-4D97-AF65-F5344CB8AC3E}">
        <p14:creationId xmlns:p14="http://schemas.microsoft.com/office/powerpoint/2010/main" val="2129630935"/>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0C4FEE7-A98D-E344-97CF-0688120181E1}"/>
              </a:ext>
            </a:extLst>
          </p:cNvPr>
          <p:cNvSpPr>
            <a:spLocks noGrp="1"/>
          </p:cNvSpPr>
          <p:nvPr>
            <p:ph type="title"/>
          </p:nvPr>
        </p:nvSpPr>
        <p:spPr/>
        <p:txBody>
          <a:bodyPr/>
          <a:lstStyle/>
          <a:p>
            <a:r>
              <a:rPr lang="en-SG" dirty="0"/>
              <a:t>Common Mistakes</a:t>
            </a:r>
          </a:p>
        </p:txBody>
      </p:sp>
      <p:sp>
        <p:nvSpPr>
          <p:cNvPr id="3" name="Content Placeholder 2">
            <a:extLst>
              <a:ext uri="{FF2B5EF4-FFF2-40B4-BE49-F238E27FC236}">
                <a16:creationId xmlns:a16="http://schemas.microsoft.com/office/drawing/2014/main" id="{F59BD070-6517-F7E3-64AF-1F6CCD1C0134}"/>
              </a:ext>
            </a:extLst>
          </p:cNvPr>
          <p:cNvSpPr>
            <a:spLocks noGrp="1"/>
          </p:cNvSpPr>
          <p:nvPr>
            <p:ph idx="1"/>
          </p:nvPr>
        </p:nvSpPr>
        <p:spPr/>
        <p:txBody>
          <a:bodyPr/>
          <a:lstStyle/>
          <a:p>
            <a:r>
              <a:rPr lang="en-US" dirty="0"/>
              <a:t>Missing or incorrect indentation</a:t>
            </a:r>
          </a:p>
          <a:p>
            <a:endParaRPr lang="en-US" dirty="0"/>
          </a:p>
          <a:p>
            <a:r>
              <a:rPr lang="en-US" dirty="0"/>
              <a:t>Infinite while loops</a:t>
            </a:r>
          </a:p>
          <a:p>
            <a:endParaRPr lang="en-US" dirty="0"/>
          </a:p>
          <a:p>
            <a:r>
              <a:rPr lang="en-US" dirty="0"/>
              <a:t>Using = instead of ==</a:t>
            </a:r>
          </a:p>
          <a:p>
            <a:endParaRPr lang="en-US" dirty="0"/>
          </a:p>
          <a:p>
            <a:r>
              <a:rPr lang="en-US" dirty="0"/>
              <a:t>Overly complex nested logic</a:t>
            </a:r>
            <a:endParaRPr lang="en-SG" dirty="0"/>
          </a:p>
        </p:txBody>
      </p:sp>
    </p:spTree>
    <p:extLst>
      <p:ext uri="{BB962C8B-B14F-4D97-AF65-F5344CB8AC3E}">
        <p14:creationId xmlns:p14="http://schemas.microsoft.com/office/powerpoint/2010/main" val="3794879239"/>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E7E0580-8CA9-C0D1-AC08-7614AD2FE849}"/>
              </a:ext>
            </a:extLst>
          </p:cNvPr>
          <p:cNvSpPr>
            <a:spLocks noGrp="1"/>
          </p:cNvSpPr>
          <p:nvPr>
            <p:ph type="title"/>
          </p:nvPr>
        </p:nvSpPr>
        <p:spPr/>
        <p:txBody>
          <a:bodyPr/>
          <a:lstStyle/>
          <a:p>
            <a:r>
              <a:rPr lang="en-SG" dirty="0"/>
              <a:t>When to Use What</a:t>
            </a:r>
          </a:p>
        </p:txBody>
      </p:sp>
      <p:graphicFrame>
        <p:nvGraphicFramePr>
          <p:cNvPr id="4" name="Table 3">
            <a:extLst>
              <a:ext uri="{FF2B5EF4-FFF2-40B4-BE49-F238E27FC236}">
                <a16:creationId xmlns:a16="http://schemas.microsoft.com/office/drawing/2014/main" id="{80D140C0-C5D9-5D70-3F0C-2B153AB003DE}"/>
              </a:ext>
            </a:extLst>
          </p:cNvPr>
          <p:cNvGraphicFramePr>
            <a:graphicFrameLocks noGrp="1"/>
          </p:cNvGraphicFramePr>
          <p:nvPr>
            <p:extLst>
              <p:ext uri="{D42A27DB-BD31-4B8C-83A1-F6EECF244321}">
                <p14:modId xmlns:p14="http://schemas.microsoft.com/office/powerpoint/2010/main" val="1534488153"/>
              </p:ext>
            </p:extLst>
          </p:nvPr>
        </p:nvGraphicFramePr>
        <p:xfrm>
          <a:off x="939800" y="1925161"/>
          <a:ext cx="8229600" cy="3291840"/>
        </p:xfrm>
        <a:graphic>
          <a:graphicData uri="http://schemas.openxmlformats.org/drawingml/2006/table">
            <a:tbl>
              <a:tblPr/>
              <a:tblGrid>
                <a:gridCol w="4114800">
                  <a:extLst>
                    <a:ext uri="{9D8B030D-6E8A-4147-A177-3AD203B41FA5}">
                      <a16:colId xmlns:a16="http://schemas.microsoft.com/office/drawing/2014/main" val="3782213857"/>
                    </a:ext>
                  </a:extLst>
                </a:gridCol>
                <a:gridCol w="4114800">
                  <a:extLst>
                    <a:ext uri="{9D8B030D-6E8A-4147-A177-3AD203B41FA5}">
                      <a16:colId xmlns:a16="http://schemas.microsoft.com/office/drawing/2014/main" val="3006299161"/>
                    </a:ext>
                  </a:extLst>
                </a:gridCol>
              </a:tblGrid>
              <a:tr h="0">
                <a:tc>
                  <a:txBody>
                    <a:bodyPr/>
                    <a:lstStyle/>
                    <a:p>
                      <a:pPr>
                        <a:buNone/>
                      </a:pPr>
                      <a:r>
                        <a:rPr lang="en-SG" sz="3200" b="1" dirty="0">
                          <a:solidFill>
                            <a:schemeClr val="tx2"/>
                          </a:solidFill>
                        </a:rPr>
                        <a:t>Situation</a:t>
                      </a:r>
                    </a:p>
                  </a:txBody>
                  <a:tcPr anchor="ctr">
                    <a:lnL>
                      <a:noFill/>
                    </a:lnL>
                    <a:lnR>
                      <a:noFill/>
                    </a:lnR>
                    <a:lnT>
                      <a:noFill/>
                    </a:lnT>
                    <a:lnB>
                      <a:noFill/>
                    </a:lnB>
                    <a:noFill/>
                  </a:tcPr>
                </a:tc>
                <a:tc>
                  <a:txBody>
                    <a:bodyPr/>
                    <a:lstStyle/>
                    <a:p>
                      <a:pPr>
                        <a:buNone/>
                      </a:pPr>
                      <a:r>
                        <a:rPr lang="en-SG" sz="3200" b="1" dirty="0">
                          <a:solidFill>
                            <a:schemeClr val="tx2"/>
                          </a:solidFill>
                        </a:rPr>
                        <a:t>Use</a:t>
                      </a:r>
                    </a:p>
                  </a:txBody>
                  <a:tcPr anchor="ctr">
                    <a:lnL>
                      <a:noFill/>
                    </a:lnL>
                    <a:lnR>
                      <a:noFill/>
                    </a:lnR>
                    <a:lnT>
                      <a:noFill/>
                    </a:lnT>
                    <a:lnB>
                      <a:noFill/>
                    </a:lnB>
                    <a:noFill/>
                  </a:tcPr>
                </a:tc>
                <a:extLst>
                  <a:ext uri="{0D108BD9-81ED-4DB2-BD59-A6C34878D82A}">
                    <a16:rowId xmlns:a16="http://schemas.microsoft.com/office/drawing/2014/main" val="3516361683"/>
                  </a:ext>
                </a:extLst>
              </a:tr>
              <a:tr h="0">
                <a:tc>
                  <a:txBody>
                    <a:bodyPr/>
                    <a:lstStyle/>
                    <a:p>
                      <a:pPr>
                        <a:buNone/>
                      </a:pPr>
                      <a:r>
                        <a:rPr lang="en-SG" sz="3200" dirty="0"/>
                        <a:t>Decision making</a:t>
                      </a:r>
                    </a:p>
                  </a:txBody>
                  <a:tcPr anchor="ctr">
                    <a:lnL>
                      <a:noFill/>
                    </a:lnL>
                    <a:lnR>
                      <a:noFill/>
                    </a:lnR>
                    <a:lnT>
                      <a:noFill/>
                    </a:lnT>
                    <a:lnB>
                      <a:noFill/>
                    </a:lnB>
                    <a:noFill/>
                  </a:tcPr>
                </a:tc>
                <a:tc>
                  <a:txBody>
                    <a:bodyPr/>
                    <a:lstStyle/>
                    <a:p>
                      <a:pPr>
                        <a:buNone/>
                      </a:pPr>
                      <a:r>
                        <a:rPr lang="en-SG" sz="3200" dirty="0">
                          <a:latin typeface="Courier New" panose="02070309020205020404" pitchFamily="49" charset="0"/>
                        </a:rPr>
                        <a:t>if / </a:t>
                      </a:r>
                      <a:r>
                        <a:rPr lang="en-SG" sz="3200" dirty="0" err="1">
                          <a:latin typeface="Courier New" panose="02070309020205020404" pitchFamily="49" charset="0"/>
                        </a:rPr>
                        <a:t>elif</a:t>
                      </a:r>
                      <a:r>
                        <a:rPr lang="en-SG" sz="3200" dirty="0">
                          <a:latin typeface="Courier New" panose="02070309020205020404" pitchFamily="49" charset="0"/>
                        </a:rPr>
                        <a:t> / else</a:t>
                      </a:r>
                      <a:endParaRPr lang="en-SG" sz="3200" dirty="0"/>
                    </a:p>
                  </a:txBody>
                  <a:tcPr anchor="ctr">
                    <a:lnL>
                      <a:noFill/>
                    </a:lnL>
                    <a:lnR>
                      <a:noFill/>
                    </a:lnR>
                    <a:lnT>
                      <a:noFill/>
                    </a:lnT>
                    <a:lnB>
                      <a:noFill/>
                    </a:lnB>
                    <a:noFill/>
                  </a:tcPr>
                </a:tc>
                <a:extLst>
                  <a:ext uri="{0D108BD9-81ED-4DB2-BD59-A6C34878D82A}">
                    <a16:rowId xmlns:a16="http://schemas.microsoft.com/office/drawing/2014/main" val="691739763"/>
                  </a:ext>
                </a:extLst>
              </a:tr>
              <a:tr h="0">
                <a:tc>
                  <a:txBody>
                    <a:bodyPr/>
                    <a:lstStyle/>
                    <a:p>
                      <a:pPr>
                        <a:buNone/>
                      </a:pPr>
                      <a:r>
                        <a:rPr lang="en-SG" sz="3200"/>
                        <a:t>Known number of iterations</a:t>
                      </a:r>
                    </a:p>
                  </a:txBody>
                  <a:tcPr anchor="ctr">
                    <a:lnL>
                      <a:noFill/>
                    </a:lnL>
                    <a:lnR>
                      <a:noFill/>
                    </a:lnR>
                    <a:lnT>
                      <a:noFill/>
                    </a:lnT>
                    <a:lnB>
                      <a:noFill/>
                    </a:lnB>
                    <a:noFill/>
                  </a:tcPr>
                </a:tc>
                <a:tc>
                  <a:txBody>
                    <a:bodyPr/>
                    <a:lstStyle/>
                    <a:p>
                      <a:pPr>
                        <a:buNone/>
                      </a:pPr>
                      <a:r>
                        <a:rPr lang="en-SG" sz="3200">
                          <a:latin typeface="Courier New" panose="02070309020205020404" pitchFamily="49" charset="0"/>
                        </a:rPr>
                        <a:t>for</a:t>
                      </a:r>
                      <a:r>
                        <a:rPr lang="en-SG" sz="3200"/>
                        <a:t> loop</a:t>
                      </a:r>
                    </a:p>
                  </a:txBody>
                  <a:tcPr anchor="ctr">
                    <a:lnL>
                      <a:noFill/>
                    </a:lnL>
                    <a:lnR>
                      <a:noFill/>
                    </a:lnR>
                    <a:lnT>
                      <a:noFill/>
                    </a:lnT>
                    <a:lnB>
                      <a:noFill/>
                    </a:lnB>
                    <a:noFill/>
                  </a:tcPr>
                </a:tc>
                <a:extLst>
                  <a:ext uri="{0D108BD9-81ED-4DB2-BD59-A6C34878D82A}">
                    <a16:rowId xmlns:a16="http://schemas.microsoft.com/office/drawing/2014/main" val="2397128675"/>
                  </a:ext>
                </a:extLst>
              </a:tr>
              <a:tr h="0">
                <a:tc>
                  <a:txBody>
                    <a:bodyPr/>
                    <a:lstStyle/>
                    <a:p>
                      <a:pPr>
                        <a:buNone/>
                      </a:pPr>
                      <a:r>
                        <a:rPr lang="en-SG" sz="3200"/>
                        <a:t>Unknown number of iterations</a:t>
                      </a:r>
                    </a:p>
                  </a:txBody>
                  <a:tcPr anchor="ctr">
                    <a:lnL>
                      <a:noFill/>
                    </a:lnL>
                    <a:lnR>
                      <a:noFill/>
                    </a:lnR>
                    <a:lnT>
                      <a:noFill/>
                    </a:lnT>
                    <a:lnB>
                      <a:noFill/>
                    </a:lnB>
                    <a:noFill/>
                  </a:tcPr>
                </a:tc>
                <a:tc>
                  <a:txBody>
                    <a:bodyPr/>
                    <a:lstStyle/>
                    <a:p>
                      <a:pPr>
                        <a:buNone/>
                      </a:pPr>
                      <a:r>
                        <a:rPr lang="en-SG" sz="3200" dirty="0">
                          <a:latin typeface="Courier New" panose="02070309020205020404" pitchFamily="49" charset="0"/>
                        </a:rPr>
                        <a:t>while</a:t>
                      </a:r>
                      <a:r>
                        <a:rPr lang="en-SG" sz="3200" dirty="0"/>
                        <a:t> loop</a:t>
                      </a:r>
                    </a:p>
                  </a:txBody>
                  <a:tcPr anchor="ctr">
                    <a:lnL>
                      <a:noFill/>
                    </a:lnL>
                    <a:lnR>
                      <a:noFill/>
                    </a:lnR>
                    <a:lnT>
                      <a:noFill/>
                    </a:lnT>
                    <a:lnB>
                      <a:noFill/>
                    </a:lnB>
                    <a:noFill/>
                  </a:tcPr>
                </a:tc>
                <a:extLst>
                  <a:ext uri="{0D108BD9-81ED-4DB2-BD59-A6C34878D82A}">
                    <a16:rowId xmlns:a16="http://schemas.microsoft.com/office/drawing/2014/main" val="1994354377"/>
                  </a:ext>
                </a:extLst>
              </a:tr>
            </a:tbl>
          </a:graphicData>
        </a:graphic>
      </p:graphicFrame>
    </p:spTree>
    <p:extLst>
      <p:ext uri="{BB962C8B-B14F-4D97-AF65-F5344CB8AC3E}">
        <p14:creationId xmlns:p14="http://schemas.microsoft.com/office/powerpoint/2010/main" val="117912502"/>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69CEB0-9FFA-CB48-A11F-0D02671FC284}"/>
              </a:ext>
            </a:extLst>
          </p:cNvPr>
          <p:cNvSpPr>
            <a:spLocks noGrp="1"/>
          </p:cNvSpPr>
          <p:nvPr>
            <p:ph type="title"/>
          </p:nvPr>
        </p:nvSpPr>
        <p:spPr/>
        <p:txBody>
          <a:bodyPr/>
          <a:lstStyle/>
          <a:p>
            <a:r>
              <a:rPr lang="en-SG" dirty="0"/>
              <a:t>Hands-On Exercise</a:t>
            </a:r>
          </a:p>
        </p:txBody>
      </p:sp>
      <p:sp>
        <p:nvSpPr>
          <p:cNvPr id="3" name="Content Placeholder 2">
            <a:extLst>
              <a:ext uri="{FF2B5EF4-FFF2-40B4-BE49-F238E27FC236}">
                <a16:creationId xmlns:a16="http://schemas.microsoft.com/office/drawing/2014/main" id="{7E24476F-3CA3-D413-CFBC-7F476CA504A1}"/>
              </a:ext>
            </a:extLst>
          </p:cNvPr>
          <p:cNvSpPr>
            <a:spLocks noGrp="1"/>
          </p:cNvSpPr>
          <p:nvPr>
            <p:ph idx="1"/>
          </p:nvPr>
        </p:nvSpPr>
        <p:spPr/>
        <p:txBody>
          <a:bodyPr/>
          <a:lstStyle/>
          <a:p>
            <a:r>
              <a:rPr lang="en-US" dirty="0"/>
              <a:t>Ask the user for a number</a:t>
            </a:r>
          </a:p>
          <a:p>
            <a:endParaRPr lang="en-US" dirty="0"/>
          </a:p>
          <a:p>
            <a:r>
              <a:rPr lang="en-US" dirty="0"/>
              <a:t>Print whether it is:</a:t>
            </a:r>
          </a:p>
          <a:p>
            <a:endParaRPr lang="en-US" dirty="0"/>
          </a:p>
          <a:p>
            <a:pPr lvl="1"/>
            <a:r>
              <a:rPr lang="en-US" dirty="0"/>
              <a:t>Positive, negative, or zero</a:t>
            </a:r>
          </a:p>
          <a:p>
            <a:endParaRPr lang="en-US" dirty="0"/>
          </a:p>
          <a:p>
            <a:pPr lvl="1"/>
            <a:r>
              <a:rPr lang="en-US" dirty="0"/>
              <a:t>Even or odd</a:t>
            </a:r>
            <a:endParaRPr lang="en-SG" dirty="0"/>
          </a:p>
        </p:txBody>
      </p:sp>
    </p:spTree>
    <p:extLst>
      <p:ext uri="{BB962C8B-B14F-4D97-AF65-F5344CB8AC3E}">
        <p14:creationId xmlns:p14="http://schemas.microsoft.com/office/powerpoint/2010/main" val="3536882527"/>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D8EFAA0-A6D2-2BCC-DD3D-E4B40974678B}"/>
              </a:ext>
            </a:extLst>
          </p:cNvPr>
          <p:cNvSpPr>
            <a:spLocks noGrp="1"/>
          </p:cNvSpPr>
          <p:nvPr>
            <p:ph type="title"/>
          </p:nvPr>
        </p:nvSpPr>
        <p:spPr/>
        <p:txBody>
          <a:bodyPr/>
          <a:lstStyle/>
          <a:p>
            <a:r>
              <a:rPr lang="en-SG" dirty="0"/>
              <a:t>Key Takeaways</a:t>
            </a:r>
          </a:p>
        </p:txBody>
      </p:sp>
      <p:sp>
        <p:nvSpPr>
          <p:cNvPr id="3" name="Content Placeholder 2">
            <a:extLst>
              <a:ext uri="{FF2B5EF4-FFF2-40B4-BE49-F238E27FC236}">
                <a16:creationId xmlns:a16="http://schemas.microsoft.com/office/drawing/2014/main" id="{3A230ED2-C228-CD81-C2D9-F6408FD0A7CE}"/>
              </a:ext>
            </a:extLst>
          </p:cNvPr>
          <p:cNvSpPr>
            <a:spLocks noGrp="1"/>
          </p:cNvSpPr>
          <p:nvPr>
            <p:ph idx="1"/>
          </p:nvPr>
        </p:nvSpPr>
        <p:spPr/>
        <p:txBody>
          <a:bodyPr>
            <a:normAutofit lnSpcReduction="10000"/>
          </a:bodyPr>
          <a:lstStyle/>
          <a:p>
            <a:r>
              <a:rPr lang="en-US" dirty="0"/>
              <a:t>Control flow directs program execution</a:t>
            </a:r>
          </a:p>
          <a:p>
            <a:endParaRPr lang="en-US" dirty="0"/>
          </a:p>
          <a:p>
            <a:r>
              <a:rPr lang="en-US" dirty="0"/>
              <a:t>Conditions rely on Boolean expressions</a:t>
            </a:r>
          </a:p>
          <a:p>
            <a:endParaRPr lang="en-US" dirty="0"/>
          </a:p>
          <a:p>
            <a:r>
              <a:rPr lang="en-US" dirty="0"/>
              <a:t>Loops automate repetition</a:t>
            </a:r>
          </a:p>
          <a:p>
            <a:endParaRPr lang="en-US" dirty="0"/>
          </a:p>
          <a:p>
            <a:r>
              <a:rPr lang="en-US" dirty="0"/>
              <a:t>Clean logic improves readability and correctness</a:t>
            </a:r>
            <a:endParaRPr lang="en-SG" dirty="0"/>
          </a:p>
        </p:txBody>
      </p:sp>
    </p:spTree>
    <p:extLst>
      <p:ext uri="{BB962C8B-B14F-4D97-AF65-F5344CB8AC3E}">
        <p14:creationId xmlns:p14="http://schemas.microsoft.com/office/powerpoint/2010/main" val="86712297"/>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208D10-5EA7-3113-6BBD-C1367A04C167}"/>
              </a:ext>
            </a:extLst>
          </p:cNvPr>
          <p:cNvSpPr>
            <a:spLocks noGrp="1"/>
          </p:cNvSpPr>
          <p:nvPr>
            <p:ph type="title"/>
          </p:nvPr>
        </p:nvSpPr>
        <p:spPr>
          <a:xfrm>
            <a:off x="457200" y="-190500"/>
            <a:ext cx="8229600" cy="1143000"/>
          </a:xfrm>
        </p:spPr>
        <p:txBody>
          <a:bodyPr/>
          <a:lstStyle/>
          <a:p>
            <a:r>
              <a:rPr lang="en-SG" dirty="0"/>
              <a:t>Solution</a:t>
            </a:r>
          </a:p>
        </p:txBody>
      </p:sp>
      <p:sp>
        <p:nvSpPr>
          <p:cNvPr id="3" name="Content Placeholder 2">
            <a:extLst>
              <a:ext uri="{FF2B5EF4-FFF2-40B4-BE49-F238E27FC236}">
                <a16:creationId xmlns:a16="http://schemas.microsoft.com/office/drawing/2014/main" id="{948A84EA-9D26-CDF2-F7A0-1F978F447D95}"/>
              </a:ext>
            </a:extLst>
          </p:cNvPr>
          <p:cNvSpPr>
            <a:spLocks noGrp="1"/>
          </p:cNvSpPr>
          <p:nvPr>
            <p:ph idx="1"/>
          </p:nvPr>
        </p:nvSpPr>
        <p:spPr>
          <a:xfrm>
            <a:off x="457200" y="800100"/>
            <a:ext cx="8229600" cy="5842000"/>
          </a:xfrm>
        </p:spPr>
        <p:txBody>
          <a:bodyPr>
            <a:normAutofit fontScale="77500" lnSpcReduction="20000"/>
          </a:bodyPr>
          <a:lstStyle/>
          <a:p>
            <a:pPr marL="0" indent="0">
              <a:buNone/>
            </a:pPr>
            <a:r>
              <a:rPr lang="en-US" dirty="0"/>
              <a:t>number = int(input("Enter a number: "))</a:t>
            </a:r>
          </a:p>
          <a:p>
            <a:pPr marL="0" indent="0">
              <a:buNone/>
            </a:pPr>
            <a:endParaRPr lang="en-US" dirty="0"/>
          </a:p>
          <a:p>
            <a:pPr marL="0" indent="0">
              <a:buNone/>
            </a:pPr>
            <a:r>
              <a:rPr lang="en-US" dirty="0"/>
              <a:t># Check if positive, negative, or zero</a:t>
            </a:r>
          </a:p>
          <a:p>
            <a:pPr marL="0" indent="0">
              <a:buNone/>
            </a:pPr>
            <a:r>
              <a:rPr lang="en-US" dirty="0"/>
              <a:t>if number &gt; 0:</a:t>
            </a:r>
          </a:p>
          <a:p>
            <a:pPr marL="0" indent="0">
              <a:buNone/>
            </a:pPr>
            <a:r>
              <a:rPr lang="en-US" dirty="0"/>
              <a:t>    print("The number is positive.")</a:t>
            </a:r>
          </a:p>
          <a:p>
            <a:pPr marL="0" indent="0">
              <a:buNone/>
            </a:pPr>
            <a:r>
              <a:rPr lang="en-US" dirty="0" err="1"/>
              <a:t>elif</a:t>
            </a:r>
            <a:r>
              <a:rPr lang="en-US" dirty="0"/>
              <a:t> number &lt; 0:</a:t>
            </a:r>
          </a:p>
          <a:p>
            <a:pPr marL="0" indent="0">
              <a:buNone/>
            </a:pPr>
            <a:r>
              <a:rPr lang="en-US" dirty="0"/>
              <a:t>    print("The number is negative.")</a:t>
            </a:r>
          </a:p>
          <a:p>
            <a:pPr marL="0" indent="0">
              <a:buNone/>
            </a:pPr>
            <a:r>
              <a:rPr lang="en-US" dirty="0"/>
              <a:t>else:</a:t>
            </a:r>
          </a:p>
          <a:p>
            <a:pPr marL="0" indent="0">
              <a:buNone/>
            </a:pPr>
            <a:r>
              <a:rPr lang="en-US" dirty="0"/>
              <a:t>    print("The number is zero.")</a:t>
            </a:r>
          </a:p>
          <a:p>
            <a:pPr marL="0" indent="0">
              <a:buNone/>
            </a:pPr>
            <a:endParaRPr lang="en-US" dirty="0"/>
          </a:p>
          <a:p>
            <a:pPr marL="0" indent="0">
              <a:buNone/>
            </a:pPr>
            <a:r>
              <a:rPr lang="en-US" dirty="0"/>
              <a:t># Check if even or odd</a:t>
            </a:r>
          </a:p>
          <a:p>
            <a:pPr marL="0" indent="0">
              <a:buNone/>
            </a:pPr>
            <a:r>
              <a:rPr lang="en-US" dirty="0"/>
              <a:t>if number % 2 == 0:</a:t>
            </a:r>
          </a:p>
          <a:p>
            <a:pPr marL="0" indent="0">
              <a:buNone/>
            </a:pPr>
            <a:r>
              <a:rPr lang="en-US" dirty="0"/>
              <a:t>    print("The number is even.")</a:t>
            </a:r>
          </a:p>
          <a:p>
            <a:pPr marL="0" indent="0">
              <a:buNone/>
            </a:pPr>
            <a:r>
              <a:rPr lang="en-US" dirty="0"/>
              <a:t>else:</a:t>
            </a:r>
          </a:p>
          <a:p>
            <a:pPr marL="0" indent="0">
              <a:buNone/>
            </a:pPr>
            <a:r>
              <a:rPr lang="en-US" dirty="0"/>
              <a:t>    print("The number is odd.")</a:t>
            </a:r>
          </a:p>
          <a:p>
            <a:pPr marL="0" indent="0">
              <a:buNone/>
            </a:pPr>
            <a:endParaRPr lang="en-SG" dirty="0"/>
          </a:p>
        </p:txBody>
      </p:sp>
    </p:spTree>
    <p:extLst>
      <p:ext uri="{BB962C8B-B14F-4D97-AF65-F5344CB8AC3E}">
        <p14:creationId xmlns:p14="http://schemas.microsoft.com/office/powerpoint/2010/main" val="2876927479"/>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Loops – for &amp; while</a:t>
            </a:r>
          </a:p>
        </p:txBody>
      </p:sp>
      <p:sp>
        <p:nvSpPr>
          <p:cNvPr id="3" name="Content Placeholder 2"/>
          <p:cNvSpPr>
            <a:spLocks noGrp="1"/>
          </p:cNvSpPr>
          <p:nvPr>
            <p:ph idx="1"/>
          </p:nvPr>
        </p:nvSpPr>
        <p:spPr/>
        <p:txBody>
          <a:bodyPr>
            <a:normAutofit lnSpcReduction="10000"/>
          </a:bodyPr>
          <a:lstStyle/>
          <a:p>
            <a:pPr marL="0" indent="0" algn="l">
              <a:buNone/>
              <a:defRPr sz="1500">
                <a:latin typeface="Courier New"/>
              </a:defRPr>
            </a:pPr>
            <a:r>
              <a:rPr sz="2400" dirty="0"/>
              <a:t>for </a:t>
            </a:r>
            <a:r>
              <a:rPr sz="2400" dirty="0" err="1"/>
              <a:t>i</a:t>
            </a:r>
            <a:r>
              <a:rPr sz="2400" dirty="0"/>
              <a:t> in range(5):          # 0 1 2 3 4</a:t>
            </a:r>
            <a:br>
              <a:rPr sz="2400" dirty="0"/>
            </a:br>
            <a:r>
              <a:rPr sz="2400" dirty="0"/>
              <a:t>    print(</a:t>
            </a:r>
            <a:r>
              <a:rPr sz="2400" dirty="0" err="1"/>
              <a:t>i</a:t>
            </a:r>
            <a:r>
              <a:rPr sz="2400" dirty="0"/>
              <a:t>, end=" ")</a:t>
            </a:r>
            <a:br>
              <a:rPr sz="2400" dirty="0"/>
            </a:br>
            <a:br>
              <a:rPr sz="2400" dirty="0"/>
            </a:br>
            <a:r>
              <a:rPr sz="2400" dirty="0"/>
              <a:t>colors = ["red", "green", "blue"]</a:t>
            </a:r>
            <a:br>
              <a:rPr sz="2400" dirty="0"/>
            </a:br>
            <a:r>
              <a:rPr sz="2400" dirty="0"/>
              <a:t>for </a:t>
            </a:r>
            <a:r>
              <a:rPr sz="2400" dirty="0" err="1"/>
              <a:t>idx</a:t>
            </a:r>
            <a:r>
              <a:rPr sz="2400" dirty="0"/>
              <a:t>, color in enumerate(colors, start=1):</a:t>
            </a:r>
            <a:br>
              <a:rPr sz="2400" dirty="0"/>
            </a:br>
            <a:r>
              <a:rPr sz="2400" dirty="0"/>
              <a:t>    print(f"{</a:t>
            </a:r>
            <a:r>
              <a:rPr sz="2400" dirty="0" err="1"/>
              <a:t>idx</a:t>
            </a:r>
            <a:r>
              <a:rPr sz="2400" dirty="0"/>
              <a:t>}. {color}")</a:t>
            </a:r>
            <a:br>
              <a:rPr sz="2400" dirty="0"/>
            </a:br>
            <a:br>
              <a:rPr sz="2400" dirty="0"/>
            </a:br>
            <a:r>
              <a:rPr sz="2400" dirty="0"/>
              <a:t>n = 5</a:t>
            </a:r>
            <a:br>
              <a:rPr sz="2400" dirty="0"/>
            </a:br>
            <a:r>
              <a:rPr sz="2400" dirty="0"/>
              <a:t>while n &gt; 0:</a:t>
            </a:r>
            <a:br>
              <a:rPr sz="2400" dirty="0"/>
            </a:br>
            <a:r>
              <a:rPr sz="2400" dirty="0"/>
              <a:t>    print(n); n -= 1</a:t>
            </a:r>
            <a:br>
              <a:rPr sz="2400" dirty="0"/>
            </a:br>
            <a:r>
              <a:rPr sz="2400" dirty="0"/>
              <a:t>else:</a:t>
            </a:r>
            <a:br>
              <a:rPr sz="2400" dirty="0"/>
            </a:br>
            <a:r>
              <a:rPr sz="2400" dirty="0"/>
              <a:t>    print("Blast off!")</a:t>
            </a:r>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8645A1-4AF4-A0EE-E764-6A19A9164675}"/>
              </a:ext>
            </a:extLst>
          </p:cNvPr>
          <p:cNvSpPr>
            <a:spLocks noGrp="1"/>
          </p:cNvSpPr>
          <p:nvPr>
            <p:ph type="title"/>
          </p:nvPr>
        </p:nvSpPr>
        <p:spPr/>
        <p:txBody>
          <a:bodyPr/>
          <a:lstStyle/>
          <a:p>
            <a:r>
              <a:rPr lang="en-SG" dirty="0"/>
              <a:t>Discussion</a:t>
            </a:r>
          </a:p>
        </p:txBody>
      </p:sp>
      <p:sp>
        <p:nvSpPr>
          <p:cNvPr id="3" name="Content Placeholder 2">
            <a:extLst>
              <a:ext uri="{FF2B5EF4-FFF2-40B4-BE49-F238E27FC236}">
                <a16:creationId xmlns:a16="http://schemas.microsoft.com/office/drawing/2014/main" id="{3C9EEFA9-EE92-A1B7-AD1A-03D2BE4BDB4B}"/>
              </a:ext>
            </a:extLst>
          </p:cNvPr>
          <p:cNvSpPr>
            <a:spLocks noGrp="1"/>
          </p:cNvSpPr>
          <p:nvPr>
            <p:ph idx="1"/>
          </p:nvPr>
        </p:nvSpPr>
        <p:spPr/>
        <p:txBody>
          <a:bodyPr>
            <a:normAutofit fontScale="77500" lnSpcReduction="20000"/>
          </a:bodyPr>
          <a:lstStyle/>
          <a:p>
            <a:r>
              <a:rPr lang="en-US" dirty="0"/>
              <a:t>What values does range(5) produce?</a:t>
            </a:r>
          </a:p>
          <a:p>
            <a:endParaRPr lang="en-US" dirty="0"/>
          </a:p>
          <a:p>
            <a:r>
              <a:rPr lang="en-US" dirty="0"/>
              <a:t>Why does print(..., end=" ") change the output format?</a:t>
            </a:r>
          </a:p>
          <a:p>
            <a:endParaRPr lang="en-US" dirty="0"/>
          </a:p>
          <a:p>
            <a:r>
              <a:rPr lang="en-US" dirty="0"/>
              <a:t>What does enumerate() return in each iteration?</a:t>
            </a:r>
          </a:p>
          <a:p>
            <a:endParaRPr lang="en-US" dirty="0"/>
          </a:p>
          <a:p>
            <a:r>
              <a:rPr lang="en-US" dirty="0"/>
              <a:t>Why does enumerate() start at 1 instead of 0 here?</a:t>
            </a:r>
          </a:p>
          <a:p>
            <a:endParaRPr lang="en-US" dirty="0"/>
          </a:p>
          <a:p>
            <a:r>
              <a:rPr lang="en-US" dirty="0"/>
              <a:t>When does the while loop stop?</a:t>
            </a:r>
          </a:p>
          <a:p>
            <a:endParaRPr lang="en-US" dirty="0"/>
          </a:p>
          <a:p>
            <a:r>
              <a:rPr lang="en-US" dirty="0"/>
              <a:t>Under what condition does the else block execute?</a:t>
            </a:r>
            <a:endParaRPr lang="en-SG" dirty="0"/>
          </a:p>
        </p:txBody>
      </p:sp>
    </p:spTree>
    <p:extLst>
      <p:ext uri="{BB962C8B-B14F-4D97-AF65-F5344CB8AC3E}">
        <p14:creationId xmlns:p14="http://schemas.microsoft.com/office/powerpoint/2010/main" val="619597849"/>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7A1315-33B4-B527-A270-BBD2293CEDF6}"/>
              </a:ext>
            </a:extLst>
          </p:cNvPr>
          <p:cNvSpPr>
            <a:spLocks noGrp="1"/>
          </p:cNvSpPr>
          <p:nvPr>
            <p:ph type="title"/>
          </p:nvPr>
        </p:nvSpPr>
        <p:spPr>
          <a:xfrm>
            <a:off x="457200" y="0"/>
            <a:ext cx="8229600" cy="1143000"/>
          </a:xfrm>
        </p:spPr>
        <p:txBody>
          <a:bodyPr/>
          <a:lstStyle/>
          <a:p>
            <a:r>
              <a:rPr lang="en-SG" dirty="0"/>
              <a:t>Answers</a:t>
            </a:r>
          </a:p>
        </p:txBody>
      </p:sp>
      <p:sp>
        <p:nvSpPr>
          <p:cNvPr id="3" name="Content Placeholder 2">
            <a:extLst>
              <a:ext uri="{FF2B5EF4-FFF2-40B4-BE49-F238E27FC236}">
                <a16:creationId xmlns:a16="http://schemas.microsoft.com/office/drawing/2014/main" id="{29AC2B30-61CF-83A5-3AF8-3EECC8B08027}"/>
              </a:ext>
            </a:extLst>
          </p:cNvPr>
          <p:cNvSpPr>
            <a:spLocks noGrp="1"/>
          </p:cNvSpPr>
          <p:nvPr>
            <p:ph idx="1"/>
          </p:nvPr>
        </p:nvSpPr>
        <p:spPr>
          <a:xfrm>
            <a:off x="457200" y="1417638"/>
            <a:ext cx="9779000" cy="5186362"/>
          </a:xfrm>
        </p:spPr>
        <p:txBody>
          <a:bodyPr>
            <a:normAutofit fontScale="92500" lnSpcReduction="10000"/>
          </a:bodyPr>
          <a:lstStyle/>
          <a:p>
            <a:r>
              <a:rPr lang="en-US" sz="2400" dirty="0"/>
              <a:t>range(5) </a:t>
            </a:r>
            <a:r>
              <a:rPr lang="en-US" sz="2400" dirty="0">
                <a:sym typeface="Wingdings" panose="05000000000000000000" pitchFamily="2" charset="2"/>
              </a:rPr>
              <a:t></a:t>
            </a:r>
            <a:r>
              <a:rPr lang="en-US" sz="2400" dirty="0"/>
              <a:t> 0, 1, 2, 3, 4</a:t>
            </a:r>
          </a:p>
          <a:p>
            <a:endParaRPr lang="en-US" sz="2400" dirty="0"/>
          </a:p>
          <a:p>
            <a:r>
              <a:rPr lang="en-US" sz="2400" dirty="0"/>
              <a:t>end=" " </a:t>
            </a:r>
            <a:r>
              <a:rPr lang="en-US" sz="2400" dirty="0">
                <a:sym typeface="Wingdings" panose="05000000000000000000" pitchFamily="2" charset="2"/>
              </a:rPr>
              <a:t></a:t>
            </a:r>
            <a:r>
              <a:rPr lang="en-US" sz="2400" dirty="0"/>
              <a:t> prints on same line</a:t>
            </a:r>
          </a:p>
          <a:p>
            <a:endParaRPr lang="en-US" sz="2400" dirty="0"/>
          </a:p>
          <a:p>
            <a:r>
              <a:rPr lang="en-US" sz="2400" dirty="0"/>
              <a:t>enumerate() </a:t>
            </a:r>
            <a:r>
              <a:rPr lang="en-US" sz="2400" dirty="0">
                <a:sym typeface="Wingdings" panose="05000000000000000000" pitchFamily="2" charset="2"/>
              </a:rPr>
              <a:t></a:t>
            </a:r>
            <a:r>
              <a:rPr lang="en-US" sz="2400" dirty="0"/>
              <a:t> returns (index, value)</a:t>
            </a:r>
          </a:p>
          <a:p>
            <a:endParaRPr lang="en-US" sz="2400" dirty="0"/>
          </a:p>
          <a:p>
            <a:r>
              <a:rPr lang="en-US" sz="2400" dirty="0"/>
              <a:t>start=1 </a:t>
            </a:r>
            <a:r>
              <a:rPr lang="en-US" sz="2400" dirty="0">
                <a:sym typeface="Wingdings" panose="05000000000000000000" pitchFamily="2" charset="2"/>
              </a:rPr>
              <a:t></a:t>
            </a:r>
            <a:r>
              <a:rPr lang="en-US" sz="2400" dirty="0"/>
              <a:t> human-friendly numbering</a:t>
            </a:r>
          </a:p>
          <a:p>
            <a:endParaRPr lang="en-US" sz="2400" dirty="0"/>
          </a:p>
          <a:p>
            <a:r>
              <a:rPr lang="en-US" sz="2400" dirty="0"/>
              <a:t>while stops </a:t>
            </a:r>
            <a:r>
              <a:rPr lang="en-US" sz="2400" dirty="0">
                <a:sym typeface="Wingdings" panose="05000000000000000000" pitchFamily="2" charset="2"/>
              </a:rPr>
              <a:t></a:t>
            </a:r>
            <a:r>
              <a:rPr lang="en-US" sz="2400" dirty="0"/>
              <a:t> when condition becomes False</a:t>
            </a:r>
          </a:p>
          <a:p>
            <a:endParaRPr lang="en-US" sz="2400" dirty="0"/>
          </a:p>
          <a:p>
            <a:r>
              <a:rPr lang="en-US" sz="2400" dirty="0"/>
              <a:t>else runs </a:t>
            </a:r>
            <a:r>
              <a:rPr lang="en-US" sz="2400" dirty="0">
                <a:sym typeface="Wingdings" panose="05000000000000000000" pitchFamily="2" charset="2"/>
              </a:rPr>
              <a:t></a:t>
            </a:r>
            <a:r>
              <a:rPr lang="en-US" sz="2400" dirty="0"/>
              <a:t> only if no break</a:t>
            </a:r>
          </a:p>
          <a:p>
            <a:endParaRPr lang="en-US" sz="2400" dirty="0"/>
          </a:p>
          <a:p>
            <a:pPr marL="0" indent="0">
              <a:buNone/>
            </a:pPr>
            <a:r>
              <a:rPr lang="en-US" sz="2400" b="1" dirty="0">
                <a:solidFill>
                  <a:schemeClr val="tx2"/>
                </a:solidFill>
              </a:rPr>
              <a:t>Bottom line: loops control repetition; small options change behavior.</a:t>
            </a:r>
          </a:p>
          <a:p>
            <a:pPr marL="0" indent="0">
              <a:buNone/>
            </a:pPr>
            <a:endParaRPr lang="en-SG" sz="2400" dirty="0"/>
          </a:p>
        </p:txBody>
      </p:sp>
    </p:spTree>
    <p:extLst>
      <p:ext uri="{BB962C8B-B14F-4D97-AF65-F5344CB8AC3E}">
        <p14:creationId xmlns:p14="http://schemas.microsoft.com/office/powerpoint/2010/main" val="2839677175"/>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Break, Continue, Else</a:t>
            </a:r>
          </a:p>
        </p:txBody>
      </p:sp>
      <p:sp>
        <p:nvSpPr>
          <p:cNvPr id="3" name="Content Placeholder 2"/>
          <p:cNvSpPr>
            <a:spLocks noGrp="1"/>
          </p:cNvSpPr>
          <p:nvPr>
            <p:ph idx="1"/>
          </p:nvPr>
        </p:nvSpPr>
        <p:spPr/>
        <p:txBody>
          <a:bodyPr/>
          <a:lstStyle/>
          <a:p>
            <a:pPr algn="l">
              <a:defRPr sz="1500">
                <a:latin typeface="Courier New"/>
              </a:defRPr>
            </a:pPr>
            <a:r>
              <a:t>nums = [10, 15, 18, 19, 20]</a:t>
            </a:r>
            <a:br/>
            <a:r>
              <a:t>for n in nums:</a:t>
            </a:r>
            <a:br/>
            <a:r>
              <a:t>    if n % 2 == 0:</a:t>
            </a:r>
            <a:br/>
            <a:r>
              <a:t>        continue</a:t>
            </a:r>
            <a:br/>
            <a:r>
              <a:t>    for i in range(3, int(n**0.5)+1, 2):</a:t>
            </a:r>
            <a:br/>
            <a:r>
              <a:t>        if n % i == 0:</a:t>
            </a:r>
            <a:br/>
            <a:r>
              <a:t>            break</a:t>
            </a:r>
            <a:br/>
            <a:r>
              <a:t>    else:                       # no break → prime</a:t>
            </a:r>
            <a:br/>
            <a:r>
              <a:t>        print("Prime:", n)</a:t>
            </a:r>
            <a:br/>
            <a:r>
              <a:t>        break</a:t>
            </a:r>
            <a:br/>
            <a:r>
              <a:t>else:</a:t>
            </a:r>
            <a:br/>
            <a:r>
              <a:t>    print("No prime found")</a:t>
            </a:r>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Functions – the basics</a:t>
            </a:r>
          </a:p>
        </p:txBody>
      </p:sp>
      <p:sp>
        <p:nvSpPr>
          <p:cNvPr id="3" name="Content Placeholder 2"/>
          <p:cNvSpPr>
            <a:spLocks noGrp="1"/>
          </p:cNvSpPr>
          <p:nvPr>
            <p:ph idx="1"/>
          </p:nvPr>
        </p:nvSpPr>
        <p:spPr/>
        <p:txBody>
          <a:bodyPr/>
          <a:lstStyle/>
          <a:p>
            <a:pPr algn="l">
              <a:defRPr sz="1500">
                <a:latin typeface="Courier New"/>
              </a:defRPr>
            </a:pPr>
            <a:r>
              <a:t>def greet(name="stranger"):</a:t>
            </a:r>
            <a:br/>
            <a:r>
              <a:t>    """Return a greeting."""</a:t>
            </a:r>
            <a:br/>
            <a:r>
              <a:t>    return f"Hello, {name}!"</a:t>
            </a:r>
            <a:br/>
            <a:br/>
            <a:r>
              <a:t>print(greet())          # Hello, stranger!</a:t>
            </a:r>
            <a:br/>
            <a:r>
              <a:t>print(greet("Ada"))     # Hello, Ada!</a:t>
            </a:r>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Multiple Returns</a:t>
            </a:r>
          </a:p>
        </p:txBody>
      </p:sp>
      <p:sp>
        <p:nvSpPr>
          <p:cNvPr id="3" name="Content Placeholder 2"/>
          <p:cNvSpPr>
            <a:spLocks noGrp="1"/>
          </p:cNvSpPr>
          <p:nvPr>
            <p:ph idx="1"/>
          </p:nvPr>
        </p:nvSpPr>
        <p:spPr/>
        <p:txBody>
          <a:bodyPr/>
          <a:lstStyle/>
          <a:p>
            <a:pPr algn="l">
              <a:defRPr sz="1500">
                <a:latin typeface="Courier New"/>
              </a:defRPr>
            </a:pPr>
            <a:r>
              <a:t>def divide(a, b):</a:t>
            </a:r>
            <a:br/>
            <a:r>
              <a:t>    return a // b, a % b</a:t>
            </a:r>
            <a:br/>
            <a:br/>
            <a:r>
              <a:t>q, r = divide(20, 3)</a:t>
            </a:r>
            <a:br/>
            <a:r>
              <a:t>print(q, r)             # 6 2</a:t>
            </a:r>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*args  **kwargs</a:t>
            </a:r>
          </a:p>
        </p:txBody>
      </p:sp>
      <p:sp>
        <p:nvSpPr>
          <p:cNvPr id="3" name="Content Placeholder 2"/>
          <p:cNvSpPr>
            <a:spLocks noGrp="1"/>
          </p:cNvSpPr>
          <p:nvPr>
            <p:ph idx="1"/>
          </p:nvPr>
        </p:nvSpPr>
        <p:spPr/>
        <p:txBody>
          <a:bodyPr/>
          <a:lstStyle/>
          <a:p>
            <a:pPr algn="l">
              <a:defRPr sz="1500">
                <a:latin typeface="Courier New"/>
              </a:defRPr>
            </a:pPr>
            <a:r>
              <a:t>def log(message, *args, **kwargs):</a:t>
            </a:r>
            <a:br/>
            <a:r>
              <a:t>    print(f"[LOG] {message}")</a:t>
            </a:r>
            <a:br/>
            <a:r>
              <a:t>    if args: print("  Extra positional:", args)</a:t>
            </a:r>
            <a:br/>
            <a:r>
              <a:t>    if kwargs: print("  Extra keyword:", kwargs)</a:t>
            </a:r>
            <a:br/>
            <a:br/>
            <a:r>
              <a:t>log("Start", 1, 2, 3, user="Ada", code=42)</a:t>
            </a:r>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Lambda &amp; Sorted</a:t>
            </a:r>
          </a:p>
        </p:txBody>
      </p:sp>
      <p:sp>
        <p:nvSpPr>
          <p:cNvPr id="3" name="Content Placeholder 2"/>
          <p:cNvSpPr>
            <a:spLocks noGrp="1"/>
          </p:cNvSpPr>
          <p:nvPr>
            <p:ph idx="1"/>
          </p:nvPr>
        </p:nvSpPr>
        <p:spPr/>
        <p:txBody>
          <a:bodyPr/>
          <a:lstStyle/>
          <a:p>
            <a:pPr algn="l">
              <a:defRPr sz="1500">
                <a:latin typeface="Courier New"/>
              </a:defRPr>
            </a:pPr>
            <a:r>
              <a:t>pairs = [(1, "one"), (2, "two"), (3, "three")]</a:t>
            </a:r>
            <a:br/>
            <a:r>
              <a:t>pairs.sort(key=lambda x: x[1])</a:t>
            </a:r>
            <a:br/>
            <a:r>
              <a:t>print(pairs)</a:t>
            </a:r>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Mini-Project: CLI Calculator</a:t>
            </a:r>
          </a:p>
        </p:txBody>
      </p:sp>
      <p:sp>
        <p:nvSpPr>
          <p:cNvPr id="3" name="Content Placeholder 2"/>
          <p:cNvSpPr>
            <a:spLocks noGrp="1"/>
          </p:cNvSpPr>
          <p:nvPr>
            <p:ph idx="1"/>
          </p:nvPr>
        </p:nvSpPr>
        <p:spPr/>
        <p:txBody>
          <a:bodyPr/>
          <a:lstStyle/>
          <a:p>
            <a:pPr algn="l">
              <a:defRPr sz="1500">
                <a:latin typeface="Courier New"/>
              </a:defRPr>
            </a:pPr>
            <a:r>
              <a:t>ops = {"+": lambda x,y: x+y,</a:t>
            </a:r>
            <a:br/>
            <a:r>
              <a:t>      "-": lambda x,y: x-y,</a:t>
            </a:r>
            <a:br/>
            <a:r>
              <a:t>      "*": lambda x,y: x*y,</a:t>
            </a:r>
            <a:br/>
            <a:r>
              <a:t>      "/": lambda x,y: x/y}</a:t>
            </a:r>
            <a:br/>
            <a:br/>
            <a:r>
              <a:t>_, a, op, b = sys.argv</a:t>
            </a:r>
            <a:br/>
            <a:r>
              <a:t>print(ops[op](float(a), float(b)))</a:t>
            </a:r>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t>Module 2  INTERMEDIATE</a:t>
            </a:r>
          </a:p>
        </p:txBody>
      </p:sp>
      <p:sp>
        <p:nvSpPr>
          <p:cNvPr id="3" name="Subtitle 2"/>
          <p:cNvSpPr>
            <a:spLocks noGrp="1"/>
          </p:cNvSpPr>
          <p:nvPr>
            <p:ph type="subTitle" idx="1"/>
          </p:nvPr>
        </p:nvSpPr>
        <p:spPr/>
        <p:txBody>
          <a:bodyPr/>
          <a:lstStyle/>
          <a:p>
            <a:endParaRPr/>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t>Object-Oriented Programming – Classes</a:t>
            </a:r>
          </a:p>
        </p:txBody>
      </p:sp>
      <p:sp>
        <p:nvSpPr>
          <p:cNvPr id="3" name="Content Placeholder 2"/>
          <p:cNvSpPr>
            <a:spLocks noGrp="1"/>
          </p:cNvSpPr>
          <p:nvPr>
            <p:ph idx="1"/>
          </p:nvPr>
        </p:nvSpPr>
        <p:spPr/>
        <p:txBody>
          <a:bodyPr/>
          <a:lstStyle/>
          <a:p>
            <a:pPr algn="l">
              <a:defRPr sz="1500">
                <a:latin typeface="Courier New"/>
              </a:defRPr>
            </a:pPr>
            <a:r>
              <a:t>class Dog:</a:t>
            </a:r>
            <a:br/>
            <a:r>
              <a:t>    species = "Canis familiaris"</a:t>
            </a:r>
            <a:br/>
            <a:r>
              <a:t>    def __init__(self, name, age):</a:t>
            </a:r>
            <a:br/>
            <a:r>
              <a:t>        self.name, self.age = name, age</a:t>
            </a:r>
            <a:br/>
            <a:r>
              <a:t>    def __str__(self):</a:t>
            </a:r>
            <a:br/>
            <a:r>
              <a:t>        return f"{self.name} is {self.age}"</a:t>
            </a:r>
            <a:br/>
            <a:r>
              <a:t>    def speak(self, sound="Woof!"):</a:t>
            </a:r>
            <a:br/>
            <a:r>
              <a:t>        return f"{self.name} says {sound}"</a:t>
            </a:r>
            <a:br/>
            <a:br/>
            <a:r>
              <a:t>d = Dog("Buddy", 4)</a:t>
            </a:r>
            <a:br/>
            <a:r>
              <a:t>print(d)                    # Buddy is 4</a:t>
            </a:r>
            <a:br/>
            <a:r>
              <a:t>print(d.speak("Ruff"))</a:t>
            </a:r>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Encapsulation &amp; Private Attributes</a:t>
            </a:r>
          </a:p>
        </p:txBody>
      </p:sp>
      <p:sp>
        <p:nvSpPr>
          <p:cNvPr id="3" name="Content Placeholder 2"/>
          <p:cNvSpPr>
            <a:spLocks noGrp="1"/>
          </p:cNvSpPr>
          <p:nvPr>
            <p:ph idx="1"/>
          </p:nvPr>
        </p:nvSpPr>
        <p:spPr/>
        <p:txBody>
          <a:bodyPr/>
          <a:lstStyle/>
          <a:p>
            <a:pPr algn="l">
              <a:defRPr sz="1500">
                <a:latin typeface="Courier New"/>
              </a:defRPr>
            </a:pPr>
            <a:r>
              <a:t>class BankAccount:</a:t>
            </a:r>
            <a:br/>
            <a:r>
              <a:t>    def __init__(self, owner, balance=0):</a:t>
            </a:r>
            <a:br/>
            <a:r>
              <a:t>        self.owner = owner</a:t>
            </a:r>
            <a:br/>
            <a:r>
              <a:t>        self.__balance = balance      # name mangled</a:t>
            </a:r>
            <a:br/>
            <a:r>
              <a:t>    def deposit(self, amount):</a:t>
            </a:r>
            <a:br/>
            <a:r>
              <a:t>        self.__balance += amount</a:t>
            </a:r>
            <a:br/>
            <a:r>
              <a:t>    @property</a:t>
            </a:r>
            <a:br/>
            <a:r>
              <a:t>    def balance(self):</a:t>
            </a:r>
            <a:br/>
            <a:r>
              <a:t>        return self.__balance</a:t>
            </a:r>
            <a:br/>
            <a:br/>
            <a:r>
              <a:t>acct = BankAccount("Ada")</a:t>
            </a:r>
            <a:br/>
            <a:r>
              <a:t>acct.deposit(100)</a:t>
            </a:r>
            <a:br/>
            <a:r>
              <a:t>print(acct.balance)         # 100</a:t>
            </a:r>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Inheritance &amp; Polymorphism</a:t>
            </a:r>
          </a:p>
        </p:txBody>
      </p:sp>
      <p:sp>
        <p:nvSpPr>
          <p:cNvPr id="3" name="Content Placeholder 2"/>
          <p:cNvSpPr>
            <a:spLocks noGrp="1"/>
          </p:cNvSpPr>
          <p:nvPr>
            <p:ph idx="1"/>
          </p:nvPr>
        </p:nvSpPr>
        <p:spPr/>
        <p:txBody>
          <a:bodyPr/>
          <a:lstStyle/>
          <a:p>
            <a:pPr algn="l">
              <a:defRPr sz="1500">
                <a:latin typeface="Courier New"/>
              </a:defRPr>
            </a:pPr>
            <a:r>
              <a:t>class Animal:</a:t>
            </a:r>
            <a:br/>
            <a:r>
              <a:t>    def speak(self): raise NotImplementedError</a:t>
            </a:r>
            <a:br/>
            <a:r>
              <a:t>class Cat(Animal):</a:t>
            </a:r>
            <a:br/>
            <a:r>
              <a:t>    def speak(self): return "Meow"</a:t>
            </a:r>
            <a:br/>
            <a:r>
              <a:t>class Cow(Animal):</a:t>
            </a:r>
            <a:br/>
            <a:r>
              <a:t>    def speak(self): return "Moo"</a:t>
            </a:r>
            <a:br/>
            <a:br/>
            <a:r>
              <a:t>for creature in [Cat(), Cow()]:</a:t>
            </a:r>
            <a:br/>
            <a:r>
              <a:t>    print(creature.speak())</a:t>
            </a:r>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t>super() &amp; Cooperative Multiple Inheritance</a:t>
            </a:r>
          </a:p>
        </p:txBody>
      </p:sp>
      <p:sp>
        <p:nvSpPr>
          <p:cNvPr id="3" name="Content Placeholder 2"/>
          <p:cNvSpPr>
            <a:spLocks noGrp="1"/>
          </p:cNvSpPr>
          <p:nvPr>
            <p:ph idx="1"/>
          </p:nvPr>
        </p:nvSpPr>
        <p:spPr/>
        <p:txBody>
          <a:bodyPr/>
          <a:lstStyle/>
          <a:p>
            <a:pPr algn="l">
              <a:defRPr sz="1500">
                <a:latin typeface="Courier New"/>
              </a:defRPr>
            </a:pPr>
            <a:r>
              <a:t>class Person:</a:t>
            </a:r>
            <a:br/>
            <a:r>
              <a:t>    def __init__(self, name): self.name = name</a:t>
            </a:r>
            <a:br/>
            <a:r>
              <a:t>class Employee(Person):</a:t>
            </a:r>
            <a:br/>
            <a:r>
              <a:t>    def __init__(self, name, salary):</a:t>
            </a:r>
            <a:br/>
            <a:r>
              <a:t>        super().__init__(name); self.salary = salary</a:t>
            </a:r>
            <a:br/>
            <a:r>
              <a:t>class Manager(Employee):</a:t>
            </a:r>
            <a:br/>
            <a:r>
              <a:t>    def __init__(self, name, salary, level):</a:t>
            </a:r>
            <a:br/>
            <a:r>
              <a:t>        super().__init__(name, salary); self.level = level</a:t>
            </a:r>
            <a:br/>
            <a:br/>
            <a:r>
              <a:t>m = Manager("Grace", 120_000, "L3")</a:t>
            </a:r>
            <a:br/>
            <a:r>
              <a:t>print(m.name, m.salary, m.level)</a:t>
            </a:r>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Dunder (Magic) Methods</a:t>
            </a:r>
          </a:p>
        </p:txBody>
      </p:sp>
      <p:sp>
        <p:nvSpPr>
          <p:cNvPr id="3" name="Content Placeholder 2"/>
          <p:cNvSpPr>
            <a:spLocks noGrp="1"/>
          </p:cNvSpPr>
          <p:nvPr>
            <p:ph idx="1"/>
          </p:nvPr>
        </p:nvSpPr>
        <p:spPr/>
        <p:txBody>
          <a:bodyPr/>
          <a:lstStyle/>
          <a:p>
            <a:pPr algn="l">
              <a:defRPr sz="1500">
                <a:latin typeface="Courier New"/>
              </a:defRPr>
            </a:pPr>
            <a:r>
              <a:t>class Vector:</a:t>
            </a:r>
            <a:br/>
            <a:r>
              <a:t>    def __init__(self, x, y): self.x, self.y = x, y</a:t>
            </a:r>
            <a:br/>
            <a:r>
              <a:t>    def __add__(self, other):</a:t>
            </a:r>
            <a:br/>
            <a:r>
              <a:t>        return Vector(self.x + other.x, self.y + other.y)</a:t>
            </a:r>
            <a:br/>
            <a:r>
              <a:t>    def __mul__(self, scalar):</a:t>
            </a:r>
            <a:br/>
            <a:r>
              <a:t>        return Vector(self.x * scalar, self.y * scalar)</a:t>
            </a:r>
            <a:br/>
            <a:r>
              <a:t>    def __repr__(self): return f"Vector({self.x}, {self.y})"</a:t>
            </a:r>
            <a:br/>
            <a:br/>
            <a:r>
              <a:t>v1, v2 = Vector(2, 3), Vector(1, 4)</a:t>
            </a:r>
            <a:br/>
            <a:r>
              <a:t>print(v1 + v2)              # Vector(3, 7)</a:t>
            </a:r>
            <a:br/>
            <a:r>
              <a:t>print(v1 * 3)               # Vector(6, 9)</a:t>
            </a:r>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Modules – Creating &amp; Importing</a:t>
            </a:r>
          </a:p>
        </p:txBody>
      </p:sp>
      <p:sp>
        <p:nvSpPr>
          <p:cNvPr id="3" name="Content Placeholder 2"/>
          <p:cNvSpPr>
            <a:spLocks noGrp="1"/>
          </p:cNvSpPr>
          <p:nvPr>
            <p:ph idx="1"/>
          </p:nvPr>
        </p:nvSpPr>
        <p:spPr/>
        <p:txBody>
          <a:bodyPr/>
          <a:lstStyle/>
          <a:p>
            <a:pPr algn="l">
              <a:defRPr sz="1500">
                <a:latin typeface="Courier New"/>
              </a:defRPr>
            </a:pPr>
            <a:r>
              <a:t># tree</a:t>
            </a:r>
            <a:br/>
            <a:r>
              <a:t>project/</a:t>
            </a:r>
            <a:br/>
            <a:r>
              <a:t>  ├── geometry/</a:t>
            </a:r>
            <a:br/>
            <a:r>
              <a:t>  │   ├── __init__.py</a:t>
            </a:r>
            <a:br/>
            <a:r>
              <a:t>  │   └── shapes.py</a:t>
            </a:r>
            <a:br/>
            <a:r>
              <a:t>  └── app.py</a:t>
            </a:r>
            <a:br/>
            <a:br/>
            <a:r>
              <a:t># shapes.py</a:t>
            </a:r>
            <a:br/>
            <a:r>
              <a:t>def area_circle(r): from math import pi; return pi * r ** 2</a:t>
            </a:r>
            <a:br/>
            <a:br/>
            <a:r>
              <a:t># __init__.py</a:t>
            </a:r>
            <a:br/>
            <a:r>
              <a:t>from .shapes import area_circle</a:t>
            </a:r>
            <a:br/>
            <a:r>
              <a:t>__all__ = ["area_circle"]</a:t>
            </a:r>
            <a:br/>
            <a:br/>
            <a:r>
              <a:t># app.py</a:t>
            </a:r>
            <a:br/>
            <a:r>
              <a:t>from geometry import area_circle</a:t>
            </a:r>
            <a:br/>
            <a:r>
              <a:t>print(area_circle(5))</a:t>
            </a:r>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Import Patterns &amp; Aliases</a:t>
            </a:r>
          </a:p>
        </p:txBody>
      </p:sp>
      <p:sp>
        <p:nvSpPr>
          <p:cNvPr id="3" name="Content Placeholder 2"/>
          <p:cNvSpPr>
            <a:spLocks noGrp="1"/>
          </p:cNvSpPr>
          <p:nvPr>
            <p:ph idx="1"/>
          </p:nvPr>
        </p:nvSpPr>
        <p:spPr/>
        <p:txBody>
          <a:bodyPr/>
          <a:lstStyle/>
          <a:p>
            <a:pPr algn="l">
              <a:defRPr sz="1500">
                <a:latin typeface="Courier New"/>
              </a:defRPr>
            </a:pPr>
            <a:r>
              <a:t>import datetime as dt</a:t>
            </a:r>
            <a:br/>
            <a:r>
              <a:t>from pathlib import Path</a:t>
            </a:r>
            <a:br/>
            <a:r>
              <a:t>from collections import defaultdict, Counter</a:t>
            </a:r>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File I/O – Text &amp; CSV</a:t>
            </a:r>
          </a:p>
        </p:txBody>
      </p:sp>
      <p:sp>
        <p:nvSpPr>
          <p:cNvPr id="3" name="Content Placeholder 2"/>
          <p:cNvSpPr>
            <a:spLocks noGrp="1"/>
          </p:cNvSpPr>
          <p:nvPr>
            <p:ph idx="1"/>
          </p:nvPr>
        </p:nvSpPr>
        <p:spPr/>
        <p:txBody>
          <a:bodyPr/>
          <a:lstStyle/>
          <a:p>
            <a:pPr algn="l">
              <a:defRPr sz="1500">
                <a:latin typeface="Courier New"/>
              </a:defRPr>
            </a:pPr>
            <a:r>
              <a:t>with open("haiku.txt", "w") as f:</a:t>
            </a:r>
            <a:br/>
            <a:r>
              <a:t>    f.write("Ancient silent pond\n…")</a:t>
            </a:r>
            <a:br/>
            <a:br/>
            <a:r>
              <a:t>with open("haiku.txt") as f:</a:t>
            </a:r>
            <a:br/>
            <a:r>
              <a:t>    for i, line in enumerate(f, 1):</a:t>
            </a:r>
            <a:br/>
            <a:r>
              <a:t>        print(f"{i}: {line.rstrip()}")</a:t>
            </a:r>
            <a:br/>
            <a:br/>
            <a:r>
              <a:t>import csv</a:t>
            </a:r>
            <a:br/>
            <a:r>
              <a:t>rows = [{"name": "Ada", "age": 36}, {"name": "Linus", "age": 52}]</a:t>
            </a:r>
            <a:br/>
            <a:r>
              <a:t>with open("users.csv", "w", newline="") as f:</a:t>
            </a:r>
            <a:br/>
            <a:r>
              <a:t>    writer = csv.DictWriter(f, fieldnames=["name", "age"])</a:t>
            </a:r>
            <a:br/>
            <a:r>
              <a:t>    writer.writeheader(); writer.writerows(rows)</a:t>
            </a:r>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pathlib vs os.path</a:t>
            </a:r>
          </a:p>
        </p:txBody>
      </p:sp>
      <p:sp>
        <p:nvSpPr>
          <p:cNvPr id="3" name="Content Placeholder 2"/>
          <p:cNvSpPr>
            <a:spLocks noGrp="1"/>
          </p:cNvSpPr>
          <p:nvPr>
            <p:ph idx="1"/>
          </p:nvPr>
        </p:nvSpPr>
        <p:spPr/>
        <p:txBody>
          <a:bodyPr/>
          <a:lstStyle/>
          <a:p>
            <a:pPr algn="l">
              <a:defRPr sz="1500">
                <a:latin typeface="Courier New"/>
              </a:defRPr>
            </a:pPr>
            <a:r>
              <a:t>from pathlib import Path</a:t>
            </a:r>
            <a:br/>
            <a:r>
              <a:t>root = Path("docs") / "letters"</a:t>
            </a:r>
            <a:br/>
            <a:r>
              <a:t>for file in root.glob("*.txt"):</a:t>
            </a:r>
            <a:br/>
            <a:r>
              <a:t>    print(file.stem)</a:t>
            </a:r>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JSON Serialization</a:t>
            </a:r>
          </a:p>
        </p:txBody>
      </p:sp>
      <p:sp>
        <p:nvSpPr>
          <p:cNvPr id="3" name="Content Placeholder 2"/>
          <p:cNvSpPr>
            <a:spLocks noGrp="1"/>
          </p:cNvSpPr>
          <p:nvPr>
            <p:ph idx="1"/>
          </p:nvPr>
        </p:nvSpPr>
        <p:spPr/>
        <p:txBody>
          <a:bodyPr/>
          <a:lstStyle/>
          <a:p>
            <a:pPr algn="l">
              <a:defRPr sz="1500">
                <a:latin typeface="Courier New"/>
              </a:defRPr>
            </a:pPr>
            <a:r>
              <a:t>import json</a:t>
            </a:r>
            <a:br/>
            <a:r>
              <a:t>data = {"name": "Ada", "skills": ["Python", "Math"]}</a:t>
            </a:r>
            <a:br/>
            <a:r>
              <a:t>with open("ada.json", "w") as f:</a:t>
            </a:r>
            <a:br/>
            <a:r>
              <a:t>    json.dump(data, f, indent=2)</a:t>
            </a:r>
            <a:br/>
            <a:br/>
            <a:r>
              <a:t>clone = json.load(open("ada.json"))</a:t>
            </a:r>
            <a:br/>
            <a:r>
              <a:t>print(clone == data)</a:t>
            </a:r>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Mini-Project: Contact Manager</a:t>
            </a:r>
          </a:p>
        </p:txBody>
      </p:sp>
      <p:sp>
        <p:nvSpPr>
          <p:cNvPr id="3" name="Content Placeholder 2"/>
          <p:cNvSpPr>
            <a:spLocks noGrp="1"/>
          </p:cNvSpPr>
          <p:nvPr>
            <p:ph idx="1"/>
          </p:nvPr>
        </p:nvSpPr>
        <p:spPr/>
        <p:txBody>
          <a:bodyPr/>
          <a:lstStyle/>
          <a:p>
            <a:pPr algn="l">
              <a:defRPr sz="1500">
                <a:latin typeface="Courier New"/>
              </a:defRPr>
            </a:pPr>
            <a:r>
              <a:t>import json, pathlib, sys</a:t>
            </a:r>
            <a:br/>
            <a:r>
              <a:t>FILE = pathlib.Path("contacts.json")</a:t>
            </a:r>
            <a:br/>
            <a:r>
              <a:t>def load(): return json.loads(FILE.read_text()) if FILE.exists() else {}</a:t>
            </a:r>
            <a:br/>
            <a:r>
              <a:t>def save(data): FILE.write_text(json.dumps(data, indent=2))</a:t>
            </a:r>
            <a:br/>
            <a:r>
              <a:t>def add(name, phone):</a:t>
            </a:r>
            <a:br/>
            <a:r>
              <a:t>    book = load(); book[name] = phone; save(book); print(f"Added {name}")</a:t>
            </a:r>
            <a:br/>
            <a:r>
              <a:t>if sys.argv[1:2] == ["add"]: add(sys.argv[2], sys.argv[3])</a:t>
            </a:r>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t>Module 3  ADVANCED</a:t>
            </a:r>
          </a:p>
        </p:txBody>
      </p:sp>
      <p:sp>
        <p:nvSpPr>
          <p:cNvPr id="3" name="Subtitle 2"/>
          <p:cNvSpPr>
            <a:spLocks noGrp="1"/>
          </p:cNvSpPr>
          <p:nvPr>
            <p:ph type="subTitle" idx="1"/>
          </p:nvPr>
        </p:nvSpPr>
        <p:spPr/>
        <p:txBody>
          <a:bodyPr/>
          <a:lstStyle/>
          <a:p>
            <a:endParaRPr/>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Decorators – Function Wrappers</a:t>
            </a:r>
          </a:p>
        </p:txBody>
      </p:sp>
      <p:sp>
        <p:nvSpPr>
          <p:cNvPr id="3" name="Content Placeholder 2"/>
          <p:cNvSpPr>
            <a:spLocks noGrp="1"/>
          </p:cNvSpPr>
          <p:nvPr>
            <p:ph idx="1"/>
          </p:nvPr>
        </p:nvSpPr>
        <p:spPr/>
        <p:txBody>
          <a:bodyPr/>
          <a:lstStyle/>
          <a:p>
            <a:pPr algn="l">
              <a:defRPr sz="1500">
                <a:latin typeface="Courier New"/>
              </a:defRPr>
            </a:pPr>
            <a:r>
              <a:t>def debug(func):</a:t>
            </a:r>
            <a:br/>
            <a:r>
              <a:t>    import functools</a:t>
            </a:r>
            <a:br/>
            <a:r>
              <a:t>    @functools.wraps(func)</a:t>
            </a:r>
            <a:br/>
            <a:r>
              <a:t>    def wrapper(*args, **kwargs):</a:t>
            </a:r>
            <a:br/>
            <a:r>
              <a:t>        print(f"Calling {func.__name__}{args}")</a:t>
            </a:r>
            <a:br/>
            <a:r>
              <a:t>        value = func(*args, **kwargs)</a:t>
            </a:r>
            <a:br/>
            <a:r>
              <a:t>        print(f"{func.__name__} returned {value}")</a:t>
            </a:r>
            <a:br/>
            <a:r>
              <a:t>        return value</a:t>
            </a:r>
            <a:br/>
            <a:r>
              <a:t>    return wrapper</a:t>
            </a:r>
            <a:br/>
            <a:br/>
            <a:r>
              <a:t>@debug</a:t>
            </a:r>
            <a:br/>
            <a:r>
              <a:t>def gcd(a, b):</a:t>
            </a:r>
            <a:br/>
            <a:r>
              <a:t>    while b: a, b = b, a % b</a:t>
            </a:r>
            <a:br/>
            <a:r>
              <a:t>    return a</a:t>
            </a:r>
            <a:br/>
            <a:br/>
            <a:r>
              <a:t>gcd(42, 56)</a:t>
            </a:r>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Decorators with Arguments</a:t>
            </a:r>
          </a:p>
        </p:txBody>
      </p:sp>
      <p:sp>
        <p:nvSpPr>
          <p:cNvPr id="3" name="Content Placeholder 2"/>
          <p:cNvSpPr>
            <a:spLocks noGrp="1"/>
          </p:cNvSpPr>
          <p:nvPr>
            <p:ph idx="1"/>
          </p:nvPr>
        </p:nvSpPr>
        <p:spPr/>
        <p:txBody>
          <a:bodyPr/>
          <a:lstStyle/>
          <a:p>
            <a:pPr algn="l">
              <a:defRPr sz="1500">
                <a:latin typeface="Courier New"/>
              </a:defRPr>
            </a:pPr>
            <a:r>
              <a:t>def repeat(times):</a:t>
            </a:r>
            <a:br/>
            <a:r>
              <a:t>    def decorator(func):</a:t>
            </a:r>
            <a:br/>
            <a:r>
              <a:t>        import functools</a:t>
            </a:r>
            <a:br/>
            <a:r>
              <a:t>        @functools.wraps(func)</a:t>
            </a:r>
            <a:br/>
            <a:r>
              <a:t>        def wrapper(*args, **kwargs):</a:t>
            </a:r>
            <a:br/>
            <a:r>
              <a:t>            for _ in range(times): value = func(*args, **kwargs)</a:t>
            </a:r>
            <a:br/>
            <a:r>
              <a:t>            return value</a:t>
            </a:r>
            <a:br/>
            <a:r>
              <a:t>        return wrapper</a:t>
            </a:r>
            <a:br/>
            <a:r>
              <a:t>    return decorator</a:t>
            </a:r>
            <a:br/>
            <a:br/>
            <a:r>
              <a:t>@repeat(3)</a:t>
            </a:r>
            <a:br/>
            <a:r>
              <a:t>def greet(): print("Hi!")</a:t>
            </a:r>
            <a:br/>
            <a:r>
              <a:t>greet()</a:t>
            </a:r>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Timing &amp; Caching Decorators</a:t>
            </a:r>
          </a:p>
        </p:txBody>
      </p:sp>
      <p:sp>
        <p:nvSpPr>
          <p:cNvPr id="3" name="Content Placeholder 2"/>
          <p:cNvSpPr>
            <a:spLocks noGrp="1"/>
          </p:cNvSpPr>
          <p:nvPr>
            <p:ph idx="1"/>
          </p:nvPr>
        </p:nvSpPr>
        <p:spPr/>
        <p:txBody>
          <a:bodyPr/>
          <a:lstStyle/>
          <a:p>
            <a:pPr algn="l">
              <a:defRPr sz="1500">
                <a:latin typeface="Courier New"/>
              </a:defRPr>
            </a:pPr>
            <a:r>
              <a:t>import time, functools</a:t>
            </a:r>
            <a:br/>
            <a:br/>
            <a:r>
              <a:t>def timed(func):</a:t>
            </a:r>
            <a:br/>
            <a:r>
              <a:t>    @functools.wraps(func)</a:t>
            </a:r>
            <a:br/>
            <a:r>
              <a:t>    def wrapper(*args, **kwargs):</a:t>
            </a:r>
            <a:br/>
            <a:r>
              <a:t>        t0 = time.perf_counter()</a:t>
            </a:r>
            <a:br/>
            <a:r>
              <a:t>        value = func(*args, **kwargs)</a:t>
            </a:r>
            <a:br/>
            <a:r>
              <a:t>        print(f"{func.__name__} took {(time.perf_counter()-t0)*1000:.2f} ms")</a:t>
            </a:r>
            <a:br/>
            <a:r>
              <a:t>        return value</a:t>
            </a:r>
            <a:br/>
            <a:r>
              <a:t>    return wrapper</a:t>
            </a:r>
            <a:br/>
            <a:br/>
            <a:r>
              <a:t>@functools.lru_cache(maxsize=None)</a:t>
            </a:r>
            <a:br/>
            <a:r>
              <a:t>def fib(n): return n if n &lt; 2 else fib(n-1) + fib(n-2)</a:t>
            </a:r>
            <a:br/>
            <a:br/>
            <a:r>
              <a:t>timed(fib)(35)</a:t>
            </a:r>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Generators – Lazy Iteration</a:t>
            </a:r>
          </a:p>
        </p:txBody>
      </p:sp>
      <p:sp>
        <p:nvSpPr>
          <p:cNvPr id="3" name="Content Placeholder 2"/>
          <p:cNvSpPr>
            <a:spLocks noGrp="1"/>
          </p:cNvSpPr>
          <p:nvPr>
            <p:ph idx="1"/>
          </p:nvPr>
        </p:nvSpPr>
        <p:spPr/>
        <p:txBody>
          <a:bodyPr/>
          <a:lstStyle/>
          <a:p>
            <a:pPr algn="l">
              <a:defRPr sz="1500">
                <a:latin typeface="Courier New"/>
              </a:defRPr>
            </a:pPr>
            <a:r>
              <a:t>def evens(limit):</a:t>
            </a:r>
            <a:br/>
            <a:r>
              <a:t>    value = 0</a:t>
            </a:r>
            <a:br/>
            <a:r>
              <a:t>    while value &lt;= limit:</a:t>
            </a:r>
            <a:br/>
            <a:r>
              <a:t>        yield value; value += 2</a:t>
            </a:r>
            <a:br/>
            <a:br/>
            <a:r>
              <a:t>for n in evens(10): print(n, end=" ")   # 0 2 4 6 8 10</a:t>
            </a:r>
            <a:br/>
            <a:br/>
            <a:r>
              <a:t>squares = (x*x for x in range(10**6))   # ~200 B</a:t>
            </a:r>
            <a:br/>
            <a:r>
              <a:t>import sys, os</a:t>
            </a:r>
            <a:br/>
            <a:r>
              <a:t>print(sys.getsizeof(squares), "bytes")</a:t>
            </a:r>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Reading Giant Files</a:t>
            </a:r>
          </a:p>
        </p:txBody>
      </p:sp>
      <p:sp>
        <p:nvSpPr>
          <p:cNvPr id="3" name="Content Placeholder 2"/>
          <p:cNvSpPr>
            <a:spLocks noGrp="1"/>
          </p:cNvSpPr>
          <p:nvPr>
            <p:ph idx="1"/>
          </p:nvPr>
        </p:nvSpPr>
        <p:spPr/>
        <p:txBody>
          <a:bodyPr/>
          <a:lstStyle/>
          <a:p>
            <a:pPr algn="l">
              <a:defRPr sz="1500">
                <a:latin typeface="Courier New"/>
              </a:defRPr>
            </a:pPr>
            <a:r>
              <a:t>def parse_access_log(path):</a:t>
            </a:r>
            <a:br/>
            <a:r>
              <a:t>    with open(path) as f:</a:t>
            </a:r>
            <a:br/>
            <a:r>
              <a:t>        for line in f:</a:t>
            </a:r>
            <a:br/>
            <a:r>
              <a:t>            ip, _, _, dt, meth, url, st, sz = line.split()[:8]</a:t>
            </a:r>
            <a:br/>
            <a:r>
              <a:t>            yield {"ip": ip, "datetime": dt[1:],</a:t>
            </a:r>
            <a:br/>
            <a:r>
              <a:t>                   "method": meth[1:-1], "url": url,</a:t>
            </a:r>
            <a:br/>
            <a:r>
              <a:t>                   "status": int(st), "size": int(sz)}</a:t>
            </a:r>
            <a:br/>
            <a:br/>
            <a:r>
              <a:t>for entry in parse_access_log("access.log"):</a:t>
            </a:r>
            <a:br/>
            <a:r>
              <a:t>    if entry["status"] == 404:</a:t>
            </a:r>
            <a:br/>
            <a:r>
              <a:t>        print(entry["url"])</a:t>
            </a:r>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Concurrency Landscape</a:t>
            </a:r>
          </a:p>
        </p:txBody>
      </p:sp>
      <p:sp>
        <p:nvSpPr>
          <p:cNvPr id="3" name="Content Placeholder 2"/>
          <p:cNvSpPr>
            <a:spLocks noGrp="1"/>
          </p:cNvSpPr>
          <p:nvPr>
            <p:ph idx="1"/>
          </p:nvPr>
        </p:nvSpPr>
        <p:spPr/>
        <p:txBody>
          <a:bodyPr/>
          <a:lstStyle/>
          <a:p>
            <a:pPr algn="l">
              <a:defRPr sz="1500">
                <a:latin typeface="Courier New"/>
              </a:defRPr>
            </a:pPr>
            <a:r>
              <a:t>• threading        – concurrent, shared memory, I/O bound</a:t>
            </a:r>
            <a:br/>
            <a:r>
              <a:t>• multiprocessing – parallel, separate memory, CPU bound</a:t>
            </a:r>
            <a:br/>
            <a:r>
              <a:t>• asyncio         – single-threaded cooperative, I/O bound, no GIL issues</a:t>
            </a:r>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t>threading – Download Many Images</a:t>
            </a:r>
          </a:p>
        </p:txBody>
      </p:sp>
      <p:sp>
        <p:nvSpPr>
          <p:cNvPr id="3" name="Content Placeholder 2"/>
          <p:cNvSpPr>
            <a:spLocks noGrp="1"/>
          </p:cNvSpPr>
          <p:nvPr>
            <p:ph idx="1"/>
          </p:nvPr>
        </p:nvSpPr>
        <p:spPr/>
        <p:txBody>
          <a:bodyPr/>
          <a:lstStyle/>
          <a:p>
            <a:pPr algn="l">
              <a:defRPr sz="1500">
                <a:latin typeface="Courier New"/>
              </a:defRPr>
            </a:pPr>
            <a:r>
              <a:t>import threading, requests, time</a:t>
            </a:r>
            <a:br/>
            <a:r>
              <a:t>urls = [f"https://picsum.photos/400/300?random={i}" for i in range(20)]</a:t>
            </a:r>
            <a:br/>
            <a:r>
              <a:t>def download(url):</a:t>
            </a:r>
            <a:br/>
            <a:r>
              <a:t>    resp = requests.get(url, timeout=10)</a:t>
            </a:r>
            <a:br/>
            <a:r>
              <a:t>    filename = url.split("?")[-1] + ".jpg"</a:t>
            </a:r>
            <a:br/>
            <a:r>
              <a:t>    open(filename, "wb").write(resp.content)</a:t>
            </a:r>
            <a:br/>
            <a:r>
              <a:t>    print("done", filename)</a:t>
            </a:r>
            <a:br/>
            <a:r>
              <a:t>t0 = time.time()</a:t>
            </a:r>
            <a:br/>
            <a:r>
              <a:t>threads = [threading.Thread(target=download, args=(u,)) for u in urls]</a:t>
            </a:r>
            <a:br/>
            <a:r>
              <a:t>for t in threads: t.start()</a:t>
            </a:r>
            <a:br/>
            <a:r>
              <a:t>for t in threads: t.join()</a:t>
            </a:r>
            <a:br/>
            <a:r>
              <a:t>print("Total:", time.time() - t0, "s")</a:t>
            </a:r>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t>multiprocessing – CPU-bound Pi Monte-Carlo</a:t>
            </a:r>
          </a:p>
        </p:txBody>
      </p:sp>
      <p:sp>
        <p:nvSpPr>
          <p:cNvPr id="3" name="Content Placeholder 2"/>
          <p:cNvSpPr>
            <a:spLocks noGrp="1"/>
          </p:cNvSpPr>
          <p:nvPr>
            <p:ph idx="1"/>
          </p:nvPr>
        </p:nvSpPr>
        <p:spPr/>
        <p:txBody>
          <a:bodyPr/>
          <a:lstStyle/>
          <a:p>
            <a:pPr algn="l">
              <a:defRPr sz="1500">
                <a:latin typeface="Courier New"/>
              </a:defRPr>
            </a:pPr>
            <a:r>
              <a:t>import multiprocessing as mp, random</a:t>
            </a:r>
            <a:br/>
            <a:r>
              <a:t>def sample_pi(n):</a:t>
            </a:r>
            <a:br/>
            <a:r>
              <a:t>    inside = 0</a:t>
            </a:r>
            <a:br/>
            <a:r>
              <a:t>    for _ in range(n):</a:t>
            </a:r>
            <a:br/>
            <a:r>
              <a:t>        x, y = random.random(), random.random()</a:t>
            </a:r>
            <a:br/>
            <a:r>
              <a:t>        if x*x + y*y &lt;= 1: inside += 1</a:t>
            </a:r>
            <a:br/>
            <a:r>
              <a:t>    return inside</a:t>
            </a:r>
            <a:br/>
            <a:r>
              <a:t>cores = mp.cpu_count()</a:t>
            </a:r>
            <a:br/>
            <a:r>
              <a:t>total = 1_000_000</a:t>
            </a:r>
            <a:br/>
            <a:r>
              <a:t>counts = mp.Pool(cores).map(sample_pi, [total//cores]*cores)</a:t>
            </a:r>
            <a:br/>
            <a:r>
              <a:t>print("π ≈", 4 * sum(counts) / total)</a:t>
            </a:r>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t>asyncio – Concurrent HTTP with aiohttp</a:t>
            </a:r>
          </a:p>
        </p:txBody>
      </p:sp>
      <p:sp>
        <p:nvSpPr>
          <p:cNvPr id="3" name="Content Placeholder 2"/>
          <p:cNvSpPr>
            <a:spLocks noGrp="1"/>
          </p:cNvSpPr>
          <p:nvPr>
            <p:ph idx="1"/>
          </p:nvPr>
        </p:nvSpPr>
        <p:spPr/>
        <p:txBody>
          <a:bodyPr/>
          <a:lstStyle/>
          <a:p>
            <a:pPr algn="l">
              <a:defRPr sz="1500">
                <a:latin typeface="Courier New"/>
              </a:defRPr>
            </a:pPr>
            <a:r>
              <a:t>import aiohttp, asyncio, time</a:t>
            </a:r>
            <a:br/>
            <a:r>
              <a:t>async def fetch(s, url):</a:t>
            </a:r>
            <a:br/>
            <a:r>
              <a:t>    async with s.get(url) as r: return await r.text()</a:t>
            </a:r>
            <a:br/>
            <a:r>
              <a:t>async def fetch_all(urls):</a:t>
            </a:r>
            <a:br/>
            <a:r>
              <a:t>    async with aiohttp.ClientSession() as s:</a:t>
            </a:r>
            <a:br/>
            <a:r>
              <a:t>        return await asyncio.gather(*[fetch(s, u) for u in urls])</a:t>
            </a:r>
            <a:br/>
            <a:r>
              <a:t>urls = ["https://httpbin.org/delay/1"] * 50</a:t>
            </a:r>
            <a:br/>
            <a:r>
              <a:t>t0 = time.time()</a:t>
            </a:r>
            <a:br/>
            <a:r>
              <a:t>pages = asyncio.run(fetch_all(urls))</a:t>
            </a:r>
            <a:br/>
            <a:r>
              <a:t>print("Fetched", len(pages), "pages in", time.time()-t0, "s")</a:t>
            </a:r>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Mixing sync ↔ async</a:t>
            </a:r>
          </a:p>
        </p:txBody>
      </p:sp>
      <p:sp>
        <p:nvSpPr>
          <p:cNvPr id="3" name="Content Placeholder 2"/>
          <p:cNvSpPr>
            <a:spLocks noGrp="1"/>
          </p:cNvSpPr>
          <p:nvPr>
            <p:ph idx="1"/>
          </p:nvPr>
        </p:nvSpPr>
        <p:spPr/>
        <p:txBody>
          <a:bodyPr/>
          <a:lstStyle/>
          <a:p>
            <a:pPr algn="l">
              <a:defRPr sz="1500">
                <a:latin typeface="Courier New"/>
              </a:defRPr>
            </a:pPr>
            <a:r>
              <a:t>def blocking_func():</a:t>
            </a:r>
            <a:br/>
            <a:r>
              <a:t>    time.sleep(1)</a:t>
            </a:r>
            <a:br/>
            <a:r>
              <a:t>    return 42</a:t>
            </a:r>
            <a:br/>
            <a:r>
              <a:t>async def main():</a:t>
            </a:r>
            <a:br/>
            <a:r>
              <a:t>    loop = asyncio.get_running_loop()</a:t>
            </a:r>
            <a:br/>
            <a:r>
              <a:t>    result = await loop.run_in_executor(None, blocking_func)</a:t>
            </a:r>
            <a:br/>
            <a:r>
              <a:t>    print(result)</a:t>
            </a:r>
            <a:br/>
            <a:r>
              <a:t>asyncio.run(main())</a:t>
            </a:r>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Virtual Environments &amp; Packaging</a:t>
            </a:r>
          </a:p>
        </p:txBody>
      </p:sp>
      <p:sp>
        <p:nvSpPr>
          <p:cNvPr id="3" name="Content Placeholder 2"/>
          <p:cNvSpPr>
            <a:spLocks noGrp="1"/>
          </p:cNvSpPr>
          <p:nvPr>
            <p:ph idx="1"/>
          </p:nvPr>
        </p:nvSpPr>
        <p:spPr/>
        <p:txBody>
          <a:bodyPr/>
          <a:lstStyle/>
          <a:p>
            <a:pPr algn="l">
              <a:defRPr sz="1500">
                <a:latin typeface="Courier New"/>
              </a:defRPr>
            </a:pPr>
            <a:r>
              <a:t>python -m venv .venv</a:t>
            </a:r>
            <a:br/>
            <a:r>
              <a:t>source .venv/bin/activate        # Windows: .venv\Scripts\activate</a:t>
            </a:r>
            <a:br/>
            <a:r>
              <a:t>python -m pip install -U pip setuptools wheel</a:t>
            </a:r>
            <a:br/>
            <a:r>
              <a:t>pip install -e .                 # looks for pyproject.toml</a:t>
            </a:r>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pyproject.toml</a:t>
            </a:r>
          </a:p>
        </p:txBody>
      </p:sp>
      <p:sp>
        <p:nvSpPr>
          <p:cNvPr id="3" name="Content Placeholder 2"/>
          <p:cNvSpPr>
            <a:spLocks noGrp="1"/>
          </p:cNvSpPr>
          <p:nvPr>
            <p:ph idx="1"/>
          </p:nvPr>
        </p:nvSpPr>
        <p:spPr/>
        <p:txBody>
          <a:bodyPr/>
          <a:lstStyle/>
          <a:p>
            <a:pPr algn="l">
              <a:defRPr sz="1500">
                <a:latin typeface="Courier New"/>
              </a:defRPr>
            </a:pPr>
            <a:r>
              <a:t>[build-system]</a:t>
            </a:r>
            <a:br/>
            <a:r>
              <a:t>requires = ["setuptools&gt;=64", "wheel"]</a:t>
            </a:r>
            <a:br/>
            <a:r>
              <a:t>build-backend = "setuptools.build_meta"</a:t>
            </a:r>
            <a:br/>
            <a:br/>
            <a:r>
              <a:t>[project]</a:t>
            </a:r>
            <a:br/>
            <a:r>
              <a:t>name = "myutils"</a:t>
            </a:r>
            <a:br/>
            <a:r>
              <a:t>version = "0.1.0"</a:t>
            </a:r>
            <a:br/>
            <a:r>
              <a:t>dependencies = ["requests&gt;=2.28"]</a:t>
            </a:r>
            <a:br/>
            <a:br/>
            <a:r>
              <a:t>[project.optional-dependencies]</a:t>
            </a:r>
            <a:br/>
            <a:r>
              <a:t>dev = ["pytest", "black", "mypy"]</a:t>
            </a:r>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Linting &amp; Formatting</a:t>
            </a:r>
          </a:p>
        </p:txBody>
      </p:sp>
      <p:sp>
        <p:nvSpPr>
          <p:cNvPr id="3" name="Content Placeholder 2"/>
          <p:cNvSpPr>
            <a:spLocks noGrp="1"/>
          </p:cNvSpPr>
          <p:nvPr>
            <p:ph idx="1"/>
          </p:nvPr>
        </p:nvSpPr>
        <p:spPr/>
        <p:txBody>
          <a:bodyPr/>
          <a:lstStyle/>
          <a:p>
            <a:pPr algn="l">
              <a:defRPr sz="1500">
                <a:latin typeface="Courier New"/>
              </a:defRPr>
            </a:pPr>
            <a:r>
              <a:t>pip install black flake8 mypy</a:t>
            </a:r>
            <a:br/>
            <a:r>
              <a:t>black src/ tests/</a:t>
            </a:r>
            <a:br/>
            <a:r>
              <a:t>flake8 src/</a:t>
            </a:r>
            <a:br/>
            <a:r>
              <a:t>mypy src/</a:t>
            </a:r>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Testing with pytest</a:t>
            </a:r>
          </a:p>
        </p:txBody>
      </p:sp>
      <p:sp>
        <p:nvSpPr>
          <p:cNvPr id="3" name="Content Placeholder 2"/>
          <p:cNvSpPr>
            <a:spLocks noGrp="1"/>
          </p:cNvSpPr>
          <p:nvPr>
            <p:ph idx="1"/>
          </p:nvPr>
        </p:nvSpPr>
        <p:spPr/>
        <p:txBody>
          <a:bodyPr/>
          <a:lstStyle/>
          <a:p>
            <a:pPr algn="l">
              <a:defRPr sz="1500">
                <a:latin typeface="Courier New"/>
              </a:defRPr>
            </a:pPr>
            <a:r>
              <a:t># test_math_utils.py</a:t>
            </a:r>
            <a:br/>
            <a:r>
              <a:t>import pytest</a:t>
            </a:r>
            <a:br/>
            <a:r>
              <a:t>from myutils.math import clamp</a:t>
            </a:r>
            <a:br/>
            <a:r>
              <a:t>@pytest.mark.parametrize("x,lo,hi,e", [(5,0,10,5), (-5,0,10,0), (15,0,10,10)])</a:t>
            </a:r>
            <a:br/>
            <a:r>
              <a:t>def test_clamp(x, lo, hi, e): assert clamp(x, lo, hi) == e</a:t>
            </a:r>
            <a:br/>
            <a:r>
              <a:t># run</a:t>
            </a:r>
            <a:br/>
            <a:r>
              <a:t>pytest -q</a:t>
            </a:r>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Type Hints – Gradual Typing</a:t>
            </a:r>
          </a:p>
        </p:txBody>
      </p:sp>
      <p:sp>
        <p:nvSpPr>
          <p:cNvPr id="3" name="Content Placeholder 2"/>
          <p:cNvSpPr>
            <a:spLocks noGrp="1"/>
          </p:cNvSpPr>
          <p:nvPr>
            <p:ph idx="1"/>
          </p:nvPr>
        </p:nvSpPr>
        <p:spPr/>
        <p:txBody>
          <a:bodyPr/>
          <a:lstStyle/>
          <a:p>
            <a:pPr algn="l">
              <a:defRPr sz="1500">
                <a:latin typeface="Courier New"/>
              </a:defRPr>
            </a:pPr>
            <a:r>
              <a:t>from typing import List, Dict, Optional</a:t>
            </a:r>
            <a:br/>
            <a:r>
              <a:t>def freq(words: List[str]) -&gt; Dict[str, int]:</a:t>
            </a:r>
            <a:br/>
            <a:r>
              <a:t>    counts: Dict[str, int] = {}</a:t>
            </a:r>
            <a:br/>
            <a:r>
              <a:t>    for w in words: counts[w] = counts.get(w, 0) + 1</a:t>
            </a:r>
            <a:br/>
            <a:r>
              <a:t>    return counts</a:t>
            </a:r>
            <a:br/>
            <a:r>
              <a:t>def find(uid: int) -&gt; Optional[str]: ...</a:t>
            </a:r>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Rich REPL with ipython + jupyter</a:t>
            </a:r>
          </a:p>
        </p:txBody>
      </p:sp>
      <p:sp>
        <p:nvSpPr>
          <p:cNvPr id="3" name="Content Placeholder 2"/>
          <p:cNvSpPr>
            <a:spLocks noGrp="1"/>
          </p:cNvSpPr>
          <p:nvPr>
            <p:ph idx="1"/>
          </p:nvPr>
        </p:nvSpPr>
        <p:spPr/>
        <p:txBody>
          <a:bodyPr/>
          <a:lstStyle/>
          <a:p>
            <a:pPr algn="l">
              <a:defRPr sz="1500">
                <a:latin typeface="Courier New"/>
              </a:defRPr>
            </a:pPr>
            <a:r>
              <a:t>pip install ipython jupyterlab</a:t>
            </a:r>
            <a:br/>
            <a:r>
              <a:t>ipython                           # tab-completion, ? help, %magic</a:t>
            </a:r>
            <a:br/>
            <a:r>
              <a:t>jupyter lab                       # browser notebooks</a:t>
            </a:r>
            <a:br/>
            <a:r>
              <a:t># inside notebook</a:t>
            </a:r>
            <a:br/>
            <a:r>
              <a:t>%matplotlib inline</a:t>
            </a:r>
            <a:br/>
            <a:r>
              <a:t>import matplotlib.pyplot as plt</a:t>
            </a:r>
            <a:br/>
            <a:r>
              <a:t>plt.plot([1,2,3], [4,5,6])</a:t>
            </a:r>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Final Capstone Ideas</a:t>
            </a:r>
          </a:p>
        </p:txBody>
      </p:sp>
      <p:sp>
        <p:nvSpPr>
          <p:cNvPr id="3" name="Content Placeholder 2"/>
          <p:cNvSpPr>
            <a:spLocks noGrp="1"/>
          </p:cNvSpPr>
          <p:nvPr>
            <p:ph idx="1"/>
          </p:nvPr>
        </p:nvSpPr>
        <p:spPr/>
        <p:txBody>
          <a:bodyPr/>
          <a:lstStyle/>
          <a:p>
            <a:pPr algn="l">
              <a:defRPr sz="1500">
                <a:latin typeface="Courier New"/>
              </a:defRPr>
            </a:pPr>
            <a:r>
              <a:t>• Build a REST micro-service with FastAPI</a:t>
            </a:r>
            <a:br/>
            <a:r>
              <a:t>• Scrape + analyze live data with asyncio &amp; pandas</a:t>
            </a:r>
            <a:br/>
            <a:r>
              <a:t>• Automate your own boring tasks (rename photos, merge Excel)</a:t>
            </a:r>
            <a:br/>
            <a:r>
              <a:t>• Deploy a serverless function on AWS Lambda</a:t>
            </a:r>
            <a:br/>
            <a:r>
              <a:t>• Create a GUI desktop app with textual or PySide6</a:t>
            </a:r>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Keep Climbing</a:t>
            </a:r>
          </a:p>
        </p:txBody>
      </p:sp>
      <p:sp>
        <p:nvSpPr>
          <p:cNvPr id="3" name="Content Placeholder 2"/>
          <p:cNvSpPr>
            <a:spLocks noGrp="1"/>
          </p:cNvSpPr>
          <p:nvPr>
            <p:ph idx="1"/>
          </p:nvPr>
        </p:nvSpPr>
        <p:spPr/>
        <p:txBody>
          <a:bodyPr/>
          <a:lstStyle/>
          <a:p>
            <a:pPr algn="l">
              <a:defRPr sz="1500">
                <a:latin typeface="Courier New"/>
              </a:defRPr>
            </a:pPr>
            <a:r>
              <a:t>Resources</a:t>
            </a:r>
            <a:br/>
            <a:r>
              <a:t>• docs.python.org/3/tutorial/</a:t>
            </a:r>
            <a:br/>
            <a:r>
              <a:t>• realpython.com</a:t>
            </a:r>
            <a:br/>
            <a:r>
              <a:t>• pypi.org – 450 k+ packages</a:t>
            </a:r>
            <a:br/>
            <a:r>
              <a:t>• github.com/python/cpython – read the source!</a:t>
            </a:r>
            <a:br/>
            <a:r>
              <a:t>• mastodon, /r/python, discord.gg/python</a:t>
            </a:r>
            <a:br/>
            <a:br/>
            <a:r>
              <a:t>Remember:</a:t>
            </a:r>
            <a:br/>
            <a:r>
              <a:t>Read code → Run code → Break code → Fix code → Repeat.</a:t>
            </a:r>
            <a:br/>
            <a:r>
              <a:t>Happy Pythoning! 🐍</a:t>
            </a:r>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t>Appendix  Tooling &amp; Eco-system</a:t>
            </a:r>
          </a:p>
        </p:txBody>
      </p:sp>
      <p:sp>
        <p:nvSpPr>
          <p:cNvPr id="3" name="Subtitle 2"/>
          <p:cNvSpPr>
            <a:spLocks noGrp="1"/>
          </p:cNvSpPr>
          <p:nvPr>
            <p:ph type="subTitle" idx="1"/>
          </p:nvPr>
        </p:nvSpPr>
        <p:spPr/>
        <p:txBody>
          <a:bodyPr/>
          <a:lstStyle/>
          <a:p>
            <a:endParaRP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126</TotalTime>
  <Words>5818</Words>
  <Application>Microsoft Office PowerPoint</Application>
  <PresentationFormat>Custom</PresentationFormat>
  <Paragraphs>604</Paragraphs>
  <Slides>97</Slides>
  <Notes>13</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97</vt:i4>
      </vt:variant>
    </vt:vector>
  </HeadingPairs>
  <TitlesOfParts>
    <vt:vector size="103" baseType="lpstr">
      <vt:lpstr>Arial Unicode MS</vt:lpstr>
      <vt:lpstr>Arial</vt:lpstr>
      <vt:lpstr>Calibri</vt:lpstr>
      <vt:lpstr>Courier New</vt:lpstr>
      <vt:lpstr>Wingdings</vt:lpstr>
      <vt:lpstr>Office Theme</vt:lpstr>
      <vt:lpstr>PYTHON CRASH COURSE</vt:lpstr>
      <vt:lpstr>Module 1  FOUNDATION</vt:lpstr>
      <vt:lpstr>Why Python?</vt:lpstr>
      <vt:lpstr>Installing &amp; Running</vt:lpstr>
      <vt:lpstr>Progress</vt:lpstr>
      <vt:lpstr>Variables &amp; Dynamic Typing</vt:lpstr>
      <vt:lpstr>Variables Are References (Not Boxes)</vt:lpstr>
      <vt:lpstr>Changing the Object</vt:lpstr>
      <vt:lpstr>Contrast with Reassignment</vt:lpstr>
      <vt:lpstr>Dynamic Typing Explained</vt:lpstr>
      <vt:lpstr>Type Checking at Runtime</vt:lpstr>
      <vt:lpstr>Core Built-in Types</vt:lpstr>
      <vt:lpstr>Reassignment and Object Identity</vt:lpstr>
      <vt:lpstr>Numbers &amp; Operators</vt:lpstr>
      <vt:lpstr>Strings – indexing, slicing, methods</vt:lpstr>
      <vt:lpstr>Booleans &amp; Truthiness</vt:lpstr>
      <vt:lpstr>Type Casting &amp; Input</vt:lpstr>
      <vt:lpstr>Mutable vs Immutable Objects</vt:lpstr>
      <vt:lpstr>Why Dynamic Typing Is Powerful</vt:lpstr>
      <vt:lpstr>Risks of Dynamic Typing</vt:lpstr>
      <vt:lpstr>Type Hints</vt:lpstr>
      <vt:lpstr>Comparison with Static Typing</vt:lpstr>
      <vt:lpstr>Common Beginner Mistakes</vt:lpstr>
      <vt:lpstr>Key Takeaways</vt:lpstr>
      <vt:lpstr>Practice Exercise</vt:lpstr>
      <vt:lpstr>Exercise 1: Assign Different Types</vt:lpstr>
      <vt:lpstr>Exercise 2 — Checking Types Explicitly</vt:lpstr>
      <vt:lpstr>Exercise 3 — Immutable Objects (Integers &amp; Strings)</vt:lpstr>
      <vt:lpstr>Exercise 4 — Mutable Objects (Lists)</vt:lpstr>
      <vt:lpstr>What Is Control Flow?</vt:lpstr>
      <vt:lpstr>Conditional Statements (if)</vt:lpstr>
      <vt:lpstr>if–else Statements</vt:lpstr>
      <vt:lpstr>if–elif–else Chain</vt:lpstr>
      <vt:lpstr>Comparison Operators</vt:lpstr>
      <vt:lpstr>Logical Operators</vt:lpstr>
      <vt:lpstr>Truthy and Falsy Values</vt:lpstr>
      <vt:lpstr>Control Flow – if / elif / else</vt:lpstr>
      <vt:lpstr>What Is a Ternary Expression?</vt:lpstr>
      <vt:lpstr>Simple Example</vt:lpstr>
      <vt:lpstr>Ternary with Expressions</vt:lpstr>
      <vt:lpstr>Ternary with Function Calls</vt:lpstr>
      <vt:lpstr>Nested Ternary Expressions (Warning)</vt:lpstr>
      <vt:lpstr>Common Pitfall: Forgetting Else</vt:lpstr>
      <vt:lpstr>Ternary vs if–else</vt:lpstr>
      <vt:lpstr>Hands-On Exercise</vt:lpstr>
      <vt:lpstr>Solution</vt:lpstr>
      <vt:lpstr>for Loops</vt:lpstr>
      <vt:lpstr>Looping Through Collections</vt:lpstr>
      <vt:lpstr>while Loops</vt:lpstr>
      <vt:lpstr>break and continue</vt:lpstr>
      <vt:lpstr>Nested Control Flow</vt:lpstr>
      <vt:lpstr>Common Mistakes</vt:lpstr>
      <vt:lpstr>When to Use What</vt:lpstr>
      <vt:lpstr>Hands-On Exercise</vt:lpstr>
      <vt:lpstr>Key Takeaways</vt:lpstr>
      <vt:lpstr>Solution</vt:lpstr>
      <vt:lpstr>Loops – for &amp; while</vt:lpstr>
      <vt:lpstr>Discussion</vt:lpstr>
      <vt:lpstr>Answers</vt:lpstr>
      <vt:lpstr>Break, Continue, Else</vt:lpstr>
      <vt:lpstr>Functions – the basics</vt:lpstr>
      <vt:lpstr>Multiple Returns</vt:lpstr>
      <vt:lpstr>*args  **kwargs</vt:lpstr>
      <vt:lpstr>Lambda &amp; Sorted</vt:lpstr>
      <vt:lpstr>Mini-Project: CLI Calculator</vt:lpstr>
      <vt:lpstr>Module 2  INTERMEDIATE</vt:lpstr>
      <vt:lpstr>Object-Oriented Programming – Classes</vt:lpstr>
      <vt:lpstr>Encapsulation &amp; Private Attributes</vt:lpstr>
      <vt:lpstr>Inheritance &amp; Polymorphism</vt:lpstr>
      <vt:lpstr>super() &amp; Cooperative Multiple Inheritance</vt:lpstr>
      <vt:lpstr>Dunder (Magic) Methods</vt:lpstr>
      <vt:lpstr>Modules – Creating &amp; Importing</vt:lpstr>
      <vt:lpstr>Import Patterns &amp; Aliases</vt:lpstr>
      <vt:lpstr>File I/O – Text &amp; CSV</vt:lpstr>
      <vt:lpstr>pathlib vs os.path</vt:lpstr>
      <vt:lpstr>JSON Serialization</vt:lpstr>
      <vt:lpstr>Mini-Project: Contact Manager</vt:lpstr>
      <vt:lpstr>Module 3  ADVANCED</vt:lpstr>
      <vt:lpstr>Decorators – Function Wrappers</vt:lpstr>
      <vt:lpstr>Decorators with Arguments</vt:lpstr>
      <vt:lpstr>Timing &amp; Caching Decorators</vt:lpstr>
      <vt:lpstr>Generators – Lazy Iteration</vt:lpstr>
      <vt:lpstr>Reading Giant Files</vt:lpstr>
      <vt:lpstr>Concurrency Landscape</vt:lpstr>
      <vt:lpstr>threading – Download Many Images</vt:lpstr>
      <vt:lpstr>multiprocessing – CPU-bound Pi Monte-Carlo</vt:lpstr>
      <vt:lpstr>asyncio – Concurrent HTTP with aiohttp</vt:lpstr>
      <vt:lpstr>Mixing sync ↔ async</vt:lpstr>
      <vt:lpstr>Virtual Environments &amp; Packaging</vt:lpstr>
      <vt:lpstr>pyproject.toml</vt:lpstr>
      <vt:lpstr>Linting &amp; Formatting</vt:lpstr>
      <vt:lpstr>Testing with pytest</vt:lpstr>
      <vt:lpstr>Type Hints – Gradual Typing</vt:lpstr>
      <vt:lpstr>Rich REPL with ipython + jupyter</vt:lpstr>
      <vt:lpstr>Final Capstone Ideas</vt:lpstr>
      <vt:lpstr>Keep Climbing</vt:lpstr>
      <vt:lpstr>Appendix  Tooling &amp; Eco-system</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Sean</cp:lastModifiedBy>
  <cp:revision>21</cp:revision>
  <dcterms:created xsi:type="dcterms:W3CDTF">2013-01-27T09:14:16Z</dcterms:created>
  <dcterms:modified xsi:type="dcterms:W3CDTF">2025-12-17T00:59:09Z</dcterms:modified>
  <cp:category/>
</cp:coreProperties>
</file>